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58" r:id="rId2"/>
    <p:sldId id="364" r:id="rId3"/>
    <p:sldId id="369" r:id="rId4"/>
    <p:sldId id="370" r:id="rId5"/>
    <p:sldId id="371" r:id="rId6"/>
    <p:sldId id="258" r:id="rId7"/>
    <p:sldId id="256" r:id="rId8"/>
    <p:sldId id="368" r:id="rId9"/>
    <p:sldId id="359" r:id="rId10"/>
    <p:sldId id="354" r:id="rId11"/>
    <p:sldId id="355" r:id="rId12"/>
    <p:sldId id="356" r:id="rId13"/>
    <p:sldId id="362" r:id="rId14"/>
    <p:sldId id="357" r:id="rId15"/>
    <p:sldId id="372" r:id="rId16"/>
    <p:sldId id="361" r:id="rId17"/>
    <p:sldId id="363" r:id="rId18"/>
    <p:sldId id="365" r:id="rId19"/>
    <p:sldId id="366" r:id="rId20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53638"/>
    <a:srgbClr val="636852"/>
    <a:srgbClr val="EFEFEF"/>
    <a:srgbClr val="76838B"/>
    <a:srgbClr val="656A56"/>
    <a:srgbClr val="FBE0CF"/>
    <a:srgbClr val="F9EDD7"/>
    <a:srgbClr val="EABB40"/>
    <a:srgbClr val="DE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24"/>
    <p:restoredTop sz="96327"/>
  </p:normalViewPr>
  <p:slideViewPr>
    <p:cSldViewPr snapToGrid="0">
      <p:cViewPr varScale="1">
        <p:scale>
          <a:sx n="82" d="100"/>
          <a:sy n="82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ABC278-A6CF-084C-A7BF-6BD2DFF901C9}" type="doc">
      <dgm:prSet loTypeId="urn:microsoft.com/office/officeart/2008/layout/RadialCluster" loCatId="hierarchy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0B06A3BB-F910-4240-B865-FAE1668C3D02}">
      <dgm:prSet/>
      <dgm:spPr/>
      <dgm:t>
        <a:bodyPr/>
        <a:lstStyle/>
        <a:p>
          <a:r>
            <a:rPr lang="en-GB" dirty="0"/>
            <a:t>The </a:t>
          </a:r>
          <a:r>
            <a:rPr lang="en-GB" b="1" dirty="0"/>
            <a:t>unemployed</a:t>
          </a:r>
          <a:r>
            <a:rPr lang="en-GB" dirty="0"/>
            <a:t> are the people who: </a:t>
          </a:r>
          <a:endParaRPr lang="en-NZ" dirty="0"/>
        </a:p>
      </dgm:t>
    </dgm:pt>
    <dgm:pt modelId="{229BBBBB-19C7-1743-AE39-3405162E897B}" type="parTrans" cxnId="{93FF7D53-0E0A-B047-8F75-981BCC9DCD55}">
      <dgm:prSet/>
      <dgm:spPr/>
      <dgm:t>
        <a:bodyPr/>
        <a:lstStyle/>
        <a:p>
          <a:endParaRPr lang="en-GB"/>
        </a:p>
      </dgm:t>
    </dgm:pt>
    <dgm:pt modelId="{5F317591-B398-7749-A3E1-F7C83CFB5F5F}" type="sibTrans" cxnId="{93FF7D53-0E0A-B047-8F75-981BCC9DCD55}">
      <dgm:prSet/>
      <dgm:spPr/>
      <dgm:t>
        <a:bodyPr/>
        <a:lstStyle/>
        <a:p>
          <a:endParaRPr lang="en-GB"/>
        </a:p>
      </dgm:t>
    </dgm:pt>
    <dgm:pt modelId="{FF61829D-E6BB-2546-8B6B-91469B5D0399}">
      <dgm:prSet/>
      <dgm:spPr/>
      <dgm:t>
        <a:bodyPr/>
        <a:lstStyle/>
        <a:p>
          <a:r>
            <a:rPr lang="en-GB" dirty="0"/>
            <a:t>Not in paid employment or self-employment</a:t>
          </a:r>
          <a:endParaRPr lang="en-NZ" dirty="0"/>
        </a:p>
      </dgm:t>
    </dgm:pt>
    <dgm:pt modelId="{8397149A-04CC-2D44-9794-E142A648A480}" type="parTrans" cxnId="{96775654-60D7-1A47-A28C-AA969DA848CD}">
      <dgm:prSet/>
      <dgm:spPr/>
      <dgm:t>
        <a:bodyPr/>
        <a:lstStyle/>
        <a:p>
          <a:endParaRPr lang="en-GB"/>
        </a:p>
      </dgm:t>
    </dgm:pt>
    <dgm:pt modelId="{8A666913-FA32-D14D-8EAB-D9FA57411CA6}" type="sibTrans" cxnId="{96775654-60D7-1A47-A28C-AA969DA848CD}">
      <dgm:prSet/>
      <dgm:spPr/>
      <dgm:t>
        <a:bodyPr/>
        <a:lstStyle/>
        <a:p>
          <a:endParaRPr lang="en-GB"/>
        </a:p>
      </dgm:t>
    </dgm:pt>
    <dgm:pt modelId="{E536C7E4-8AF3-FD4C-98B5-46EFC6D52523}">
      <dgm:prSet/>
      <dgm:spPr/>
      <dgm:t>
        <a:bodyPr/>
        <a:lstStyle/>
        <a:p>
          <a:r>
            <a:rPr lang="en-GB" dirty="0"/>
            <a:t>Available for work </a:t>
          </a:r>
          <a:endParaRPr lang="en-NZ" dirty="0"/>
        </a:p>
      </dgm:t>
    </dgm:pt>
    <dgm:pt modelId="{A89F1061-6D43-FD4A-9717-69258C909446}" type="parTrans" cxnId="{E8D9BFB7-B462-1F4A-84ED-5FF0D24738ED}">
      <dgm:prSet/>
      <dgm:spPr/>
      <dgm:t>
        <a:bodyPr/>
        <a:lstStyle/>
        <a:p>
          <a:endParaRPr lang="en-GB"/>
        </a:p>
      </dgm:t>
    </dgm:pt>
    <dgm:pt modelId="{3AB1DA3A-388E-F946-8566-76F4F98A2B4B}" type="sibTrans" cxnId="{E8D9BFB7-B462-1F4A-84ED-5FF0D24738ED}">
      <dgm:prSet/>
      <dgm:spPr/>
      <dgm:t>
        <a:bodyPr/>
        <a:lstStyle/>
        <a:p>
          <a:endParaRPr lang="en-GB"/>
        </a:p>
      </dgm:t>
    </dgm:pt>
    <dgm:pt modelId="{94F0FA61-DACB-274C-BFAE-A19886A5A67E}">
      <dgm:prSet/>
      <dgm:spPr/>
      <dgm:t>
        <a:bodyPr/>
        <a:lstStyle/>
        <a:p>
          <a:r>
            <a:rPr lang="en-GB" dirty="0"/>
            <a:t>Actively seeking work</a:t>
          </a:r>
          <a:endParaRPr lang="en-NZ" dirty="0"/>
        </a:p>
      </dgm:t>
    </dgm:pt>
    <dgm:pt modelId="{BA71B411-9612-1948-B5CA-B536C7CA297D}" type="parTrans" cxnId="{BAC8BA24-D0BA-274F-A5EC-77EFFF264649}">
      <dgm:prSet/>
      <dgm:spPr/>
      <dgm:t>
        <a:bodyPr/>
        <a:lstStyle/>
        <a:p>
          <a:endParaRPr lang="en-GB"/>
        </a:p>
      </dgm:t>
    </dgm:pt>
    <dgm:pt modelId="{9AE46270-0AD0-5142-8AA1-C43C50ABA0D0}" type="sibTrans" cxnId="{BAC8BA24-D0BA-274F-A5EC-77EFFF264649}">
      <dgm:prSet/>
      <dgm:spPr/>
      <dgm:t>
        <a:bodyPr/>
        <a:lstStyle/>
        <a:p>
          <a:endParaRPr lang="en-GB"/>
        </a:p>
      </dgm:t>
    </dgm:pt>
    <dgm:pt modelId="{6E0474E4-F1B7-4742-B904-C216299A002F}" type="pres">
      <dgm:prSet presAssocID="{4EABC278-A6CF-084C-A7BF-6BD2DFF901C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2320CC2-CF2A-F04A-AE89-CDAD3A8E7ED1}" type="pres">
      <dgm:prSet presAssocID="{0B06A3BB-F910-4240-B865-FAE1668C3D02}" presName="singleCycle" presStyleCnt="0"/>
      <dgm:spPr/>
    </dgm:pt>
    <dgm:pt modelId="{D36E8706-2418-5644-9C83-5A8D26CDD5D5}" type="pres">
      <dgm:prSet presAssocID="{0B06A3BB-F910-4240-B865-FAE1668C3D02}" presName="singleCenter" presStyleLbl="node1" presStyleIdx="0" presStyleCnt="4">
        <dgm:presLayoutVars>
          <dgm:chMax val="7"/>
          <dgm:chPref val="7"/>
        </dgm:presLayoutVars>
      </dgm:prSet>
      <dgm:spPr/>
    </dgm:pt>
    <dgm:pt modelId="{0B0818D9-7529-8345-861D-EA664B8DA88C}" type="pres">
      <dgm:prSet presAssocID="{8397149A-04CC-2D44-9794-E142A648A480}" presName="Name56" presStyleLbl="parChTrans1D2" presStyleIdx="0" presStyleCnt="3"/>
      <dgm:spPr/>
    </dgm:pt>
    <dgm:pt modelId="{0C9AC669-F6DF-2C48-A634-ADDDF0F101FF}" type="pres">
      <dgm:prSet presAssocID="{FF61829D-E6BB-2546-8B6B-91469B5D0399}" presName="text0" presStyleLbl="node1" presStyleIdx="1" presStyleCnt="4" custScaleX="189951" custScaleY="128458">
        <dgm:presLayoutVars>
          <dgm:bulletEnabled val="1"/>
        </dgm:presLayoutVars>
      </dgm:prSet>
      <dgm:spPr/>
    </dgm:pt>
    <dgm:pt modelId="{25021BC3-4D36-814F-B251-6C002FBC148D}" type="pres">
      <dgm:prSet presAssocID="{A89F1061-6D43-FD4A-9717-69258C909446}" presName="Name56" presStyleLbl="parChTrans1D2" presStyleIdx="1" presStyleCnt="3"/>
      <dgm:spPr/>
    </dgm:pt>
    <dgm:pt modelId="{784ED41D-35F2-8A48-B879-02FEC703A3EE}" type="pres">
      <dgm:prSet presAssocID="{E536C7E4-8AF3-FD4C-98B5-46EFC6D52523}" presName="text0" presStyleLbl="node1" presStyleIdx="2" presStyleCnt="4" custScaleX="113629">
        <dgm:presLayoutVars>
          <dgm:bulletEnabled val="1"/>
        </dgm:presLayoutVars>
      </dgm:prSet>
      <dgm:spPr/>
    </dgm:pt>
    <dgm:pt modelId="{C151C413-A80C-7345-A353-CB107E366AF1}" type="pres">
      <dgm:prSet presAssocID="{BA71B411-9612-1948-B5CA-B536C7CA297D}" presName="Name56" presStyleLbl="parChTrans1D2" presStyleIdx="2" presStyleCnt="3"/>
      <dgm:spPr/>
    </dgm:pt>
    <dgm:pt modelId="{5523B35D-ECCE-1447-8311-D85B838B9336}" type="pres">
      <dgm:prSet presAssocID="{94F0FA61-DACB-274C-BFAE-A19886A5A67E}" presName="text0" presStyleLbl="node1" presStyleIdx="3" presStyleCnt="4" custScaleX="113668" custScaleY="95437">
        <dgm:presLayoutVars>
          <dgm:bulletEnabled val="1"/>
        </dgm:presLayoutVars>
      </dgm:prSet>
      <dgm:spPr/>
    </dgm:pt>
  </dgm:ptLst>
  <dgm:cxnLst>
    <dgm:cxn modelId="{DE6B9C15-5BD3-3B4F-884A-2CB29251CE3C}" type="presOf" srcId="{4EABC278-A6CF-084C-A7BF-6BD2DFF901C9}" destId="{6E0474E4-F1B7-4742-B904-C216299A002F}" srcOrd="0" destOrd="0" presId="urn:microsoft.com/office/officeart/2008/layout/RadialCluster"/>
    <dgm:cxn modelId="{F7B7C71A-0A06-1A44-B623-72BE273CE56E}" type="presOf" srcId="{A89F1061-6D43-FD4A-9717-69258C909446}" destId="{25021BC3-4D36-814F-B251-6C002FBC148D}" srcOrd="0" destOrd="0" presId="urn:microsoft.com/office/officeart/2008/layout/RadialCluster"/>
    <dgm:cxn modelId="{BAC8BA24-D0BA-274F-A5EC-77EFFF264649}" srcId="{0B06A3BB-F910-4240-B865-FAE1668C3D02}" destId="{94F0FA61-DACB-274C-BFAE-A19886A5A67E}" srcOrd="2" destOrd="0" parTransId="{BA71B411-9612-1948-B5CA-B536C7CA297D}" sibTransId="{9AE46270-0AD0-5142-8AA1-C43C50ABA0D0}"/>
    <dgm:cxn modelId="{58EE2A67-F5A0-DB4B-B6CF-43222FE4FCC2}" type="presOf" srcId="{E536C7E4-8AF3-FD4C-98B5-46EFC6D52523}" destId="{784ED41D-35F2-8A48-B879-02FEC703A3EE}" srcOrd="0" destOrd="0" presId="urn:microsoft.com/office/officeart/2008/layout/RadialCluster"/>
    <dgm:cxn modelId="{93FF7D53-0E0A-B047-8F75-981BCC9DCD55}" srcId="{4EABC278-A6CF-084C-A7BF-6BD2DFF901C9}" destId="{0B06A3BB-F910-4240-B865-FAE1668C3D02}" srcOrd="0" destOrd="0" parTransId="{229BBBBB-19C7-1743-AE39-3405162E897B}" sibTransId="{5F317591-B398-7749-A3E1-F7C83CFB5F5F}"/>
    <dgm:cxn modelId="{96775654-60D7-1A47-A28C-AA969DA848CD}" srcId="{0B06A3BB-F910-4240-B865-FAE1668C3D02}" destId="{FF61829D-E6BB-2546-8B6B-91469B5D0399}" srcOrd="0" destOrd="0" parTransId="{8397149A-04CC-2D44-9794-E142A648A480}" sibTransId="{8A666913-FA32-D14D-8EAB-D9FA57411CA6}"/>
    <dgm:cxn modelId="{49557E78-4471-A340-BACB-937B72CA671A}" type="presOf" srcId="{FF61829D-E6BB-2546-8B6B-91469B5D0399}" destId="{0C9AC669-F6DF-2C48-A634-ADDDF0F101FF}" srcOrd="0" destOrd="0" presId="urn:microsoft.com/office/officeart/2008/layout/RadialCluster"/>
    <dgm:cxn modelId="{6C28BE7A-B021-B24F-AB91-032352A6C68C}" type="presOf" srcId="{BA71B411-9612-1948-B5CA-B536C7CA297D}" destId="{C151C413-A80C-7345-A353-CB107E366AF1}" srcOrd="0" destOrd="0" presId="urn:microsoft.com/office/officeart/2008/layout/RadialCluster"/>
    <dgm:cxn modelId="{648977A0-3C22-4449-9F39-E714B4ED8954}" type="presOf" srcId="{0B06A3BB-F910-4240-B865-FAE1668C3D02}" destId="{D36E8706-2418-5644-9C83-5A8D26CDD5D5}" srcOrd="0" destOrd="0" presId="urn:microsoft.com/office/officeart/2008/layout/RadialCluster"/>
    <dgm:cxn modelId="{E8D9BFB7-B462-1F4A-84ED-5FF0D24738ED}" srcId="{0B06A3BB-F910-4240-B865-FAE1668C3D02}" destId="{E536C7E4-8AF3-FD4C-98B5-46EFC6D52523}" srcOrd="1" destOrd="0" parTransId="{A89F1061-6D43-FD4A-9717-69258C909446}" sibTransId="{3AB1DA3A-388E-F946-8566-76F4F98A2B4B}"/>
    <dgm:cxn modelId="{CDC90FC5-7D7B-0C47-8ABE-FCC2A6AE2CB4}" type="presOf" srcId="{8397149A-04CC-2D44-9794-E142A648A480}" destId="{0B0818D9-7529-8345-861D-EA664B8DA88C}" srcOrd="0" destOrd="0" presId="urn:microsoft.com/office/officeart/2008/layout/RadialCluster"/>
    <dgm:cxn modelId="{9202B9EA-8879-6D42-A136-130D7C13072E}" type="presOf" srcId="{94F0FA61-DACB-274C-BFAE-A19886A5A67E}" destId="{5523B35D-ECCE-1447-8311-D85B838B9336}" srcOrd="0" destOrd="0" presId="urn:microsoft.com/office/officeart/2008/layout/RadialCluster"/>
    <dgm:cxn modelId="{961C5D9F-8603-4645-9785-01C221B7F039}" type="presParOf" srcId="{6E0474E4-F1B7-4742-B904-C216299A002F}" destId="{22320CC2-CF2A-F04A-AE89-CDAD3A8E7ED1}" srcOrd="0" destOrd="0" presId="urn:microsoft.com/office/officeart/2008/layout/RadialCluster"/>
    <dgm:cxn modelId="{81B5F952-8E20-C54F-8172-8926FC110102}" type="presParOf" srcId="{22320CC2-CF2A-F04A-AE89-CDAD3A8E7ED1}" destId="{D36E8706-2418-5644-9C83-5A8D26CDD5D5}" srcOrd="0" destOrd="0" presId="urn:microsoft.com/office/officeart/2008/layout/RadialCluster"/>
    <dgm:cxn modelId="{BB5CC1EF-BC85-AF4C-8D6B-73224473AE09}" type="presParOf" srcId="{22320CC2-CF2A-F04A-AE89-CDAD3A8E7ED1}" destId="{0B0818D9-7529-8345-861D-EA664B8DA88C}" srcOrd="1" destOrd="0" presId="urn:microsoft.com/office/officeart/2008/layout/RadialCluster"/>
    <dgm:cxn modelId="{B3A01F72-87F9-6E4D-B764-D6A1E1206CF3}" type="presParOf" srcId="{22320CC2-CF2A-F04A-AE89-CDAD3A8E7ED1}" destId="{0C9AC669-F6DF-2C48-A634-ADDDF0F101FF}" srcOrd="2" destOrd="0" presId="urn:microsoft.com/office/officeart/2008/layout/RadialCluster"/>
    <dgm:cxn modelId="{70E91975-EB2E-BD47-95A8-90E2F76C7DA3}" type="presParOf" srcId="{22320CC2-CF2A-F04A-AE89-CDAD3A8E7ED1}" destId="{25021BC3-4D36-814F-B251-6C002FBC148D}" srcOrd="3" destOrd="0" presId="urn:microsoft.com/office/officeart/2008/layout/RadialCluster"/>
    <dgm:cxn modelId="{077F20D6-5070-E242-8BDB-661B5034E471}" type="presParOf" srcId="{22320CC2-CF2A-F04A-AE89-CDAD3A8E7ED1}" destId="{784ED41D-35F2-8A48-B879-02FEC703A3EE}" srcOrd="4" destOrd="0" presId="urn:microsoft.com/office/officeart/2008/layout/RadialCluster"/>
    <dgm:cxn modelId="{7E87B55F-A09E-8D4B-9BDF-03DDE6592935}" type="presParOf" srcId="{22320CC2-CF2A-F04A-AE89-CDAD3A8E7ED1}" destId="{C151C413-A80C-7345-A353-CB107E366AF1}" srcOrd="5" destOrd="0" presId="urn:microsoft.com/office/officeart/2008/layout/RadialCluster"/>
    <dgm:cxn modelId="{16E0BB72-3987-6F41-A9B1-1A5667478F7D}" type="presParOf" srcId="{22320CC2-CF2A-F04A-AE89-CDAD3A8E7ED1}" destId="{5523B35D-ECCE-1447-8311-D85B838B9336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E8706-2418-5644-9C83-5A8D26CDD5D5}">
      <dsp:nvSpPr>
        <dsp:cNvPr id="0" name=""/>
        <dsp:cNvSpPr/>
      </dsp:nvSpPr>
      <dsp:spPr>
        <a:xfrm>
          <a:off x="2117488" y="2409193"/>
          <a:ext cx="1507207" cy="150720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The </a:t>
          </a:r>
          <a:r>
            <a:rPr lang="en-GB" sz="1600" b="1" kern="1200" dirty="0"/>
            <a:t>unemployed</a:t>
          </a:r>
          <a:r>
            <a:rPr lang="en-GB" sz="1600" kern="1200" dirty="0"/>
            <a:t> are the people who: </a:t>
          </a:r>
          <a:endParaRPr lang="en-NZ" sz="1600" kern="1200" dirty="0"/>
        </a:p>
      </dsp:txBody>
      <dsp:txXfrm>
        <a:off x="2191064" y="2482769"/>
        <a:ext cx="1360055" cy="1360055"/>
      </dsp:txXfrm>
    </dsp:sp>
    <dsp:sp modelId="{0B0818D9-7529-8345-861D-EA664B8DA88C}">
      <dsp:nvSpPr>
        <dsp:cNvPr id="0" name=""/>
        <dsp:cNvSpPr/>
      </dsp:nvSpPr>
      <dsp:spPr>
        <a:xfrm rot="16200000">
          <a:off x="2414315" y="1952416"/>
          <a:ext cx="9135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13554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AC669-F6DF-2C48-A634-ADDDF0F101FF}">
      <dsp:nvSpPr>
        <dsp:cNvPr id="0" name=""/>
        <dsp:cNvSpPr/>
      </dsp:nvSpPr>
      <dsp:spPr>
        <a:xfrm>
          <a:off x="1912002" y="198432"/>
          <a:ext cx="1918180" cy="129720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Not in paid employment or self-employment</a:t>
          </a:r>
          <a:endParaRPr lang="en-NZ" sz="1900" kern="1200" dirty="0"/>
        </a:p>
      </dsp:txBody>
      <dsp:txXfrm>
        <a:off x="1975326" y="261756"/>
        <a:ext cx="1791532" cy="1170558"/>
      </dsp:txXfrm>
    </dsp:sp>
    <dsp:sp modelId="{25021BC3-4D36-814F-B251-6C002FBC148D}">
      <dsp:nvSpPr>
        <dsp:cNvPr id="0" name=""/>
        <dsp:cNvSpPr/>
      </dsp:nvSpPr>
      <dsp:spPr>
        <a:xfrm rot="1800000">
          <a:off x="3572239" y="3793662"/>
          <a:ext cx="7830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3089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4ED41D-35F2-8A48-B879-02FEC703A3EE}">
      <dsp:nvSpPr>
        <dsp:cNvPr id="0" name=""/>
        <dsp:cNvSpPr/>
      </dsp:nvSpPr>
      <dsp:spPr>
        <a:xfrm>
          <a:off x="4302871" y="3815763"/>
          <a:ext cx="1147458" cy="100982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Available for work </a:t>
          </a:r>
          <a:endParaRPr lang="en-NZ" sz="1700" kern="1200" dirty="0"/>
        </a:p>
      </dsp:txBody>
      <dsp:txXfrm>
        <a:off x="4352167" y="3865059"/>
        <a:ext cx="1048866" cy="911237"/>
      </dsp:txXfrm>
    </dsp:sp>
    <dsp:sp modelId="{C151C413-A80C-7345-A353-CB107E366AF1}">
      <dsp:nvSpPr>
        <dsp:cNvPr id="0" name=""/>
        <dsp:cNvSpPr/>
      </dsp:nvSpPr>
      <dsp:spPr>
        <a:xfrm rot="9000000">
          <a:off x="1387068" y="3793605"/>
          <a:ext cx="78286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2861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23B35D-ECCE-1447-8311-D85B838B9336}">
      <dsp:nvSpPr>
        <dsp:cNvPr id="0" name=""/>
        <dsp:cNvSpPr/>
      </dsp:nvSpPr>
      <dsp:spPr>
        <a:xfrm>
          <a:off x="291657" y="3838802"/>
          <a:ext cx="1147852" cy="9637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Actively seeking work</a:t>
          </a:r>
          <a:endParaRPr lang="en-NZ" sz="1900" kern="1200" dirty="0"/>
        </a:p>
      </dsp:txBody>
      <dsp:txXfrm>
        <a:off x="338703" y="3885848"/>
        <a:ext cx="1053760" cy="869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3B5F6C-7147-4370-8AA3-64F41DDFD9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0640-1F0F-4FD2-8E0F-D61F3EB9CF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76A23-F64E-410E-9933-5CF80C92A90C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83D6D-9183-40AA-8D07-E195A3312C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B6699-E673-4492-8D3D-8CF2AFF95C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317EE-0622-4866-8D18-25CE03D275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886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E8909-E5A9-4597-8B2B-4FE5570D75EB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C75A8-F08B-4865-8B51-4C323A3291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447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D71F969-6E0E-4CE4-8D83-FB7E1E36943B}"/>
              </a:ext>
            </a:extLst>
          </p:cNvPr>
          <p:cNvSpPr/>
          <p:nvPr userDrawn="1"/>
        </p:nvSpPr>
        <p:spPr>
          <a:xfrm>
            <a:off x="2986617" y="1583266"/>
            <a:ext cx="3886200" cy="4360334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A5C42-8660-4144-90F8-83E42246A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56062" y="2218764"/>
            <a:ext cx="4492788" cy="3004741"/>
          </a:xfrm>
          <a:noFill/>
          <a:ln w="76200">
            <a:noFill/>
          </a:ln>
        </p:spPr>
        <p:txBody>
          <a:bodyPr anchor="ctr">
            <a:noAutofit/>
          </a:bodyPr>
          <a:lstStyle>
            <a:lvl1pPr algn="l">
              <a:defRPr sz="7200">
                <a:solidFill>
                  <a:srgbClr val="353638"/>
                </a:solidFill>
                <a:latin typeface="+mj-lt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84757-0A31-42A4-8AF4-E9682F7256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04084" y="5490105"/>
            <a:ext cx="3549716" cy="453495"/>
          </a:xfrm>
        </p:spPr>
        <p:txBody>
          <a:bodyPr/>
          <a:lstStyle>
            <a:lvl1pPr marL="0" indent="0" algn="ctr">
              <a:buNone/>
              <a:defRPr sz="2400" i="0">
                <a:solidFill>
                  <a:schemeClr val="accent6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E704-8736-43EB-B790-0237AE0C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2D268-297F-4761-8EF4-DC6A0F98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endParaRPr lang="en-ID">
              <a:solidFill>
                <a:srgbClr val="EFEFE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180F5-C3D6-4504-BDF3-1BCE2F53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DE7881-E5A5-46DB-B675-AAD88C9EC8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3950" y="0"/>
            <a:ext cx="3514725" cy="475297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4618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70418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02065"/>
            <a:ext cx="5105927" cy="1325563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/>
              <a:t>title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33551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B455469-8D17-467F-A532-836304E7BC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075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F294ABF-07A9-44CD-AC9B-A0922AEA59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8599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33551" y="2709727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ID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4E66934-F5D3-4FDA-BA1C-45655FDDA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1075" y="2709726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ID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C5B7C1C-3DBB-4926-AA3C-772DCC1A1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8599" y="2730275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463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192156" y="248479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244" y="248479"/>
            <a:ext cx="10760765" cy="1118562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/>
              <a:t>title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1244" y="1623918"/>
            <a:ext cx="10760765" cy="4222078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21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63E014-1321-48E9-B52A-FB0C6219386D}"/>
              </a:ext>
            </a:extLst>
          </p:cNvPr>
          <p:cNvSpPr/>
          <p:nvPr userDrawn="1"/>
        </p:nvSpPr>
        <p:spPr>
          <a:xfrm>
            <a:off x="0" y="1583267"/>
            <a:ext cx="3167795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9408FB-A5AE-4EEB-950E-702672377409}"/>
              </a:ext>
            </a:extLst>
          </p:cNvPr>
          <p:cNvSpPr/>
          <p:nvPr userDrawn="1"/>
        </p:nvSpPr>
        <p:spPr>
          <a:xfrm>
            <a:off x="509900" y="3546662"/>
            <a:ext cx="3167795" cy="3015876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348D8E-0493-4EF1-B782-5EE808C27BA7}"/>
              </a:ext>
            </a:extLst>
          </p:cNvPr>
          <p:cNvSpPr/>
          <p:nvPr userDrawn="1"/>
        </p:nvSpPr>
        <p:spPr>
          <a:xfrm>
            <a:off x="10456333" y="1"/>
            <a:ext cx="1735666" cy="55352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9527124" y="1853679"/>
            <a:ext cx="3681241" cy="840691"/>
          </a:xfrm>
        </p:spPr>
        <p:txBody>
          <a:bodyPr>
            <a:noAutofit/>
          </a:bodyPr>
          <a:lstStyle>
            <a:lvl1pPr>
              <a:defRPr sz="5400">
                <a:solidFill>
                  <a:srgbClr val="EFEFEF"/>
                </a:solidFill>
              </a:defRPr>
            </a:lvl1pPr>
          </a:lstStyle>
          <a:p>
            <a:r>
              <a:rPr lang="en-US"/>
              <a:t>about us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110" y="6356350"/>
            <a:ext cx="2743200" cy="365125"/>
          </a:xfrm>
        </p:spPr>
        <p:txBody>
          <a:bodyPr/>
          <a:lstStyle/>
          <a:p>
            <a:fld id="{79AA9DB5-A1F6-4624-970D-0BADA959D4A3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7596" y="6356350"/>
            <a:ext cx="4114800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4206" y="6356350"/>
            <a:ext cx="2743200" cy="365125"/>
          </a:xfrm>
        </p:spPr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B9D8F12-25F7-426A-B193-60FF98B29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64825" y="2472112"/>
            <a:ext cx="3005939" cy="3015876"/>
          </a:xfrm>
          <a:prstGeom prst="rect">
            <a:avLst/>
          </a:prstGeom>
          <a:ln w="7620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rgbClr val="63685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ID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79000F2-C3BD-4EE0-A686-60147953B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2520" y="1193799"/>
            <a:ext cx="3876143" cy="3716867"/>
          </a:xfrm>
        </p:spPr>
        <p:txBody>
          <a:bodyPr/>
          <a:lstStyle>
            <a:lvl1pPr marL="0" indent="0" algn="just"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22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AF841DC-D574-4860-A54E-DCDF6F8E2BAC}"/>
              </a:ext>
            </a:extLst>
          </p:cNvPr>
          <p:cNvSpPr/>
          <p:nvPr userDrawn="1"/>
        </p:nvSpPr>
        <p:spPr>
          <a:xfrm>
            <a:off x="1105980" y="1389340"/>
            <a:ext cx="2376995" cy="2385080"/>
          </a:xfrm>
          <a:prstGeom prst="ellipse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88F14-0336-4CEB-B7E2-A0890AA0CF56}"/>
              </a:ext>
            </a:extLst>
          </p:cNvPr>
          <p:cNvSpPr/>
          <p:nvPr userDrawn="1"/>
        </p:nvSpPr>
        <p:spPr>
          <a:xfrm>
            <a:off x="2544233" y="873125"/>
            <a:ext cx="3886200" cy="50503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4C43F-DBE5-4AEA-9C3F-8E3539CAF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311997" y="3340966"/>
            <a:ext cx="4705205" cy="1325563"/>
          </a:xfrm>
        </p:spPr>
        <p:txBody>
          <a:bodyPr/>
          <a:lstStyle>
            <a:lvl1pPr algn="l">
              <a:defRPr sz="66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heading</a:t>
            </a:r>
            <a:endParaRPr lang="en-I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7D6B8C-279B-491D-A3BC-1A71497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55452E-2FAF-4D88-880B-0CDDE3FD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29B176-3BD8-48FB-A73F-E819CB2E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6AC282-F079-475F-BD8B-2496927CC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0363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2AC95-6CBE-4235-A692-1840BBD3E6B0}"/>
              </a:ext>
            </a:extLst>
          </p:cNvPr>
          <p:cNvSpPr/>
          <p:nvPr userDrawn="1"/>
        </p:nvSpPr>
        <p:spPr>
          <a:xfrm>
            <a:off x="6929945" y="873125"/>
            <a:ext cx="3886200" cy="50503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EFE4270-4E02-42BA-84A0-06536195F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69141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E017B-1E6F-4206-BCBD-97EAC2046E15}"/>
              </a:ext>
            </a:extLst>
          </p:cNvPr>
          <p:cNvSpPr/>
          <p:nvPr userDrawn="1"/>
        </p:nvSpPr>
        <p:spPr>
          <a:xfrm>
            <a:off x="9647767" y="4941358"/>
            <a:ext cx="2544233" cy="161925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511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9AFA-F1A4-4219-979B-6CECB1B29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3922" y="3429000"/>
            <a:ext cx="3823528" cy="1645189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section one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0B6C0-F851-4755-8DFC-C25496DDE4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523922" y="5101177"/>
            <a:ext cx="3823528" cy="548145"/>
          </a:xfrm>
        </p:spPr>
        <p:txBody>
          <a:bodyPr/>
          <a:lstStyle>
            <a:lvl1pPr marL="0" indent="0">
              <a:buNone/>
              <a:defRPr sz="2400">
                <a:solidFill>
                  <a:srgbClr val="76838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E03B-7B5E-468E-A317-7B5F0B33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3C55C-16DA-450F-AED0-FF4EEBF3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842-8D05-4CC8-A307-EDD41A3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026D4-5A09-4BF1-92DC-7B7C5907F5F4}"/>
              </a:ext>
            </a:extLst>
          </p:cNvPr>
          <p:cNvSpPr/>
          <p:nvPr userDrawn="1"/>
        </p:nvSpPr>
        <p:spPr>
          <a:xfrm>
            <a:off x="2641602" y="0"/>
            <a:ext cx="1346200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B9FB54-2CFF-4F2A-8435-00E9AC2BAB52}"/>
              </a:ext>
            </a:extLst>
          </p:cNvPr>
          <p:cNvSpPr/>
          <p:nvPr userDrawn="1"/>
        </p:nvSpPr>
        <p:spPr>
          <a:xfrm>
            <a:off x="3133142" y="1481495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891652-7A20-4E89-A6F3-F4466C0F1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9342" y="2888186"/>
            <a:ext cx="1600201" cy="1081627"/>
          </a:xfrm>
        </p:spPr>
        <p:txBody>
          <a:bodyPr/>
          <a:lstStyle>
            <a:lvl1pPr>
              <a:buNone/>
              <a:defRPr sz="8800">
                <a:latin typeface="+mj-lt"/>
              </a:defRPr>
            </a:lvl1pPr>
          </a:lstStyle>
          <a:p>
            <a:pPr lvl="0"/>
            <a:r>
              <a:rPr lang="en-US"/>
              <a:t>01.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8507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733045-AE48-4203-B7B6-A2CEF026459C}"/>
              </a:ext>
            </a:extLst>
          </p:cNvPr>
          <p:cNvSpPr/>
          <p:nvPr userDrawn="1"/>
        </p:nvSpPr>
        <p:spPr>
          <a:xfrm>
            <a:off x="9667874" y="1005191"/>
            <a:ext cx="2524125" cy="5050367"/>
          </a:xfrm>
          <a:prstGeom prst="rect">
            <a:avLst/>
          </a:prstGeom>
          <a:solidFill>
            <a:srgbClr val="656A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D448-C2E1-4A6B-A6C4-73B446CAC7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00982" y="576471"/>
            <a:ext cx="7474054" cy="505036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Pointers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416728" y="2803765"/>
            <a:ext cx="6509855" cy="1325563"/>
          </a:xfrm>
        </p:spPr>
        <p:txBody>
          <a:bodyPr/>
          <a:lstStyle>
            <a:lvl1pPr algn="ctr">
              <a:defRPr sz="660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headlines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343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078" y="604440"/>
            <a:ext cx="2856321" cy="1373447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50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EB17F-2A02-4B77-A3AA-8A73C43E030C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FA92-5BC4-4C76-AB3A-F07382CE2FE7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D047C3-3A14-48B9-97EF-583EA3664C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3E29AE-4369-4A02-9329-B575450E55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4038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7751" y="561766"/>
            <a:ext cx="4505326" cy="1325563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r"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/>
              <a:t>Caption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605E1E-A41F-4026-B324-E493E8629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>
            <a:lvl1pPr algn="r"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A69C2-8380-4B7A-AF27-D3663FC0B534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E118BF-7505-45FF-92D5-F46BE28949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1" y="561766"/>
            <a:ext cx="5741988" cy="5024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2909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7E9D182-679B-449F-AB58-AE0696AF19FC}"/>
              </a:ext>
            </a:extLst>
          </p:cNvPr>
          <p:cNvSpPr/>
          <p:nvPr userDrawn="1"/>
        </p:nvSpPr>
        <p:spPr>
          <a:xfrm>
            <a:off x="6388100" y="1019703"/>
            <a:ext cx="2582333" cy="2582333"/>
          </a:xfrm>
          <a:prstGeom prst="ellipse">
            <a:avLst/>
          </a:prstGeom>
          <a:solidFill>
            <a:srgbClr val="636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1818F-A3F6-4729-A6E3-846786BC5639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0614-111B-481D-B661-7F1BC0215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8007" y="2243084"/>
            <a:ext cx="5394193" cy="1185916"/>
          </a:xfrm>
        </p:spPr>
        <p:txBody>
          <a:bodyPr anchor="b"/>
          <a:lstStyle>
            <a:lvl1pPr>
              <a:defRPr sz="6000">
                <a:solidFill>
                  <a:srgbClr val="353638"/>
                </a:solidFill>
              </a:defRPr>
            </a:lvl1pPr>
          </a:lstStyle>
          <a:p>
            <a:r>
              <a:rPr lang="en-US"/>
              <a:t>heading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6262B-23B8-4AB8-A52A-A96F9FF6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B139A-A351-4040-A6D4-8C0AC653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endParaRPr lang="en-ID">
              <a:solidFill>
                <a:srgbClr val="35363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01873-32A3-4CC1-8939-73F0B43D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5FDF9DBB-F6E4-49E6-91A7-3787355D4A1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08103" y="3587433"/>
            <a:ext cx="5334000" cy="2582333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544C3-7AB9-446F-B7CB-6EC90ED4D621}"/>
              </a:ext>
            </a:extLst>
          </p:cNvPr>
          <p:cNvSpPr/>
          <p:nvPr userDrawn="1"/>
        </p:nvSpPr>
        <p:spPr>
          <a:xfrm>
            <a:off x="7469714" y="2175403"/>
            <a:ext cx="2142067" cy="13546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02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EE02BF-95CD-4681-9CD4-193772568AB0}"/>
              </a:ext>
            </a:extLst>
          </p:cNvPr>
          <p:cNvSpPr/>
          <p:nvPr userDrawn="1"/>
        </p:nvSpPr>
        <p:spPr>
          <a:xfrm>
            <a:off x="0" y="1977887"/>
            <a:ext cx="1346200" cy="43784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24A95-F3A6-4009-9B14-091B146F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536-94BF-4A7B-A629-1E4C5D3C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20CA9-CEDE-4609-BDD5-29AC30C2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39C5DDE-7DF8-4141-A25B-797D71AB3A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18328" y="403692"/>
            <a:ext cx="8650941" cy="5566802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N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C51530-0D98-4F9E-AD07-640FAF20AF4F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A9FDC3-F541-464C-AD32-6B0F5284A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9" y="403692"/>
            <a:ext cx="2856321" cy="1574195"/>
          </a:xfrm>
        </p:spPr>
        <p:txBody>
          <a:bodyPr>
            <a:normAutofit/>
          </a:bodyPr>
          <a:lstStyle>
            <a:lvl1pPr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/>
              <a:t>Picture Title</a:t>
            </a:r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C31BCC-2FC0-42D9-B311-222BD6C547E3}"/>
              </a:ext>
            </a:extLst>
          </p:cNvPr>
          <p:cNvSpPr/>
          <p:nvPr userDrawn="1"/>
        </p:nvSpPr>
        <p:spPr>
          <a:xfrm>
            <a:off x="232019" y="3187093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03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268817"/>
            <a:ext cx="11658600" cy="6332008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6672" y="1355179"/>
            <a:ext cx="7611034" cy="3444874"/>
          </a:xfrm>
        </p:spPr>
        <p:txBody>
          <a:bodyPr>
            <a:noAutofit/>
          </a:bodyPr>
          <a:lstStyle>
            <a:lvl1pPr algn="ctr">
              <a:defRPr sz="4800">
                <a:solidFill>
                  <a:srgbClr val="EFEFEF"/>
                </a:solidFill>
              </a:defRPr>
            </a:lvl1pPr>
          </a:lstStyle>
          <a:p>
            <a:r>
              <a:rPr lang="en-US"/>
              <a:t>quote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endParaRPr lang="en-ID">
              <a:solidFill>
                <a:srgbClr val="EFEFE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5337358"/>
            <a:ext cx="2609850" cy="463367"/>
          </a:xfrm>
        </p:spPr>
        <p:txBody>
          <a:bodyPr anchor="t">
            <a:normAutofit/>
          </a:bodyPr>
          <a:lstStyle>
            <a:lvl1pPr algn="r">
              <a:buNone/>
              <a:defRPr sz="2800">
                <a:solidFill>
                  <a:srgbClr val="76838B"/>
                </a:solidFill>
                <a:latin typeface="+mj-lt"/>
              </a:defRPr>
            </a:lvl1pPr>
          </a:lstStyle>
          <a:p>
            <a:pPr lvl="0"/>
            <a:r>
              <a:rPr lang="en-US"/>
              <a:t>- author</a:t>
            </a:r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5F29E-4C36-40B4-A4AE-4B16EEA6E266}"/>
              </a:ext>
            </a:extLst>
          </p:cNvPr>
          <p:cNvSpPr txBox="1"/>
          <p:nvPr userDrawn="1"/>
        </p:nvSpPr>
        <p:spPr>
          <a:xfrm>
            <a:off x="1409380" y="1016950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>
                <a:solidFill>
                  <a:srgbClr val="76838B"/>
                </a:solidFill>
              </a:rPr>
              <a:t>“</a:t>
            </a:r>
            <a:endParaRPr lang="en-ID" sz="14000">
              <a:solidFill>
                <a:srgbClr val="76838B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68F2E-85D4-46F6-9DAC-5164D0D5E5E4}"/>
              </a:ext>
            </a:extLst>
          </p:cNvPr>
          <p:cNvSpPr txBox="1"/>
          <p:nvPr userDrawn="1"/>
        </p:nvSpPr>
        <p:spPr>
          <a:xfrm rot="10800000">
            <a:off x="10184336" y="2923352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>
                <a:solidFill>
                  <a:srgbClr val="76838B"/>
                </a:solidFill>
              </a:rPr>
              <a:t>“</a:t>
            </a:r>
            <a:endParaRPr lang="en-ID" sz="14000">
              <a:solidFill>
                <a:srgbClr val="7683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186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3F4D9-F45E-4139-83D5-0A380321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10/07/2026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FFC3C-1755-45B8-9A15-FA947DE4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CD62-6ACA-41C3-A1AF-76FB3AAE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2377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725D9-AFE0-4689-8F07-85A97913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20733-E2AE-428B-A483-3AAA4A80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179DA-A1CF-48FB-B856-380B77F2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BEF93-8A30-499A-B059-24A39E0F09A4}"/>
              </a:ext>
            </a:extLst>
          </p:cNvPr>
          <p:cNvSpPr txBox="1">
            <a:spLocks/>
          </p:cNvSpPr>
          <p:nvPr userDrawn="1"/>
        </p:nvSpPr>
        <p:spPr>
          <a:xfrm>
            <a:off x="7153101" y="-1"/>
            <a:ext cx="5038899" cy="6857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endParaRPr lang="en-NZ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261A1DEB-1522-4F53-AC72-9882DDCA76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5018" y="1325564"/>
            <a:ext cx="6488083" cy="48942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3777D0-137E-4804-AA72-D262558C1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7153101" cy="1325563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/>
              <a:t>Caption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7175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469654" y="2386744"/>
            <a:ext cx="9252693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5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2882-D965-4A41-B18E-D33D2F61FDED}" type="datetime1">
              <a:rPr lang="en-US" altLang="en-US" smtClean="0"/>
              <a:t>7/10/2026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©2015 Cengage Learning. All Rights Reserved. May not be scanned, copied or duplicated, or posted to a publicly accessible website, in whole or in part.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7B8C-14FD-4D0D-B3AF-F9330134EF5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096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475232" y="2386744"/>
            <a:ext cx="9253728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5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CE9E-DA63-4660-B0CA-2693AFDAA429}" type="datetime1">
              <a:rPr lang="en-US" altLang="en-US" smtClean="0"/>
              <a:t>7/10/2026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©2015 Cengage Learning. All Rights Reserved. May not be scanned, copied or duplicated, or posted to a publicly accessible website, in whole or in part.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7B8C-14FD-4D0D-B3AF-F9330134EF5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604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5422-2682-43F6-8111-865E5125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79" y="301137"/>
            <a:ext cx="97536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B7A37-26A4-4CC8-8E88-52F236F8D9C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825979" y="1827701"/>
            <a:ext cx="4741333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890F4-6159-49D4-B3F1-D67A6FDD51A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838246" y="1827701"/>
            <a:ext cx="4741333" cy="20046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72683C-BE88-4B84-95FC-3F3BD4954ABE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838246" y="3937855"/>
            <a:ext cx="4741333" cy="20046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00F26C-70CA-40CF-978B-F3599423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034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ACEF44-0580-4977-A938-20B0CBFB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034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836B88-8B90-466C-94FD-FFA8F44E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034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5271E588-985D-42E5-A86E-4E2F468398B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04388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2EC2-8174-4B78-9AB4-65DEF9628343}" type="datetimeFigureOut">
              <a:rPr lang="en-NZ" smtClean="0"/>
              <a:t>10/07/2026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CF85-86E0-4DE6-8FE0-F7E48EBADF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3214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83DA2-AB58-40A9-9F27-C89AC861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80" y="365125"/>
            <a:ext cx="81199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AB1CE-4A8A-481A-9353-A480D2634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7080" y="1825625"/>
            <a:ext cx="81199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2708-E52D-4103-9A98-C480CDECD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9DB5-A1F6-4624-970D-0BADA959D4A3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8837-B0F6-4426-8862-F133D501E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32B1A-B0B9-4218-96CA-0C74E0290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176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5" r:id="rId3"/>
    <p:sldLayoutId id="2147483657" r:id="rId4"/>
    <p:sldLayoutId id="2147483661" r:id="rId5"/>
    <p:sldLayoutId id="2147483651" r:id="rId6"/>
    <p:sldLayoutId id="2147483650" r:id="rId7"/>
    <p:sldLayoutId id="2147483658" r:id="rId8"/>
    <p:sldLayoutId id="2147483659" r:id="rId9"/>
    <p:sldLayoutId id="2147483663" r:id="rId10"/>
    <p:sldLayoutId id="2147483664" r:id="rId11"/>
    <p:sldLayoutId id="2147483662" r:id="rId12"/>
    <p:sldLayoutId id="2147483655" r:id="rId13"/>
    <p:sldLayoutId id="2147483666" r:id="rId14"/>
    <p:sldLayoutId id="2147483667" r:id="rId15"/>
    <p:sldLayoutId id="2147483668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3685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>
          <a:tab pos="1885950" algn="l"/>
        </a:tabLst>
        <a:defRPr sz="2800" kern="1200">
          <a:solidFill>
            <a:srgbClr val="76838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400" kern="1200">
          <a:solidFill>
            <a:srgbClr val="76838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000" kern="1200">
          <a:solidFill>
            <a:srgbClr val="76838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  <a:cs typeface="Calibri"/>
              </a:rPr>
              <a:t>115.113 Economics for Business</a:t>
            </a:r>
            <a:br>
              <a:rPr lang="en-GB" dirty="0">
                <a:latin typeface="+mn-lt"/>
                <a:cs typeface="Calibri"/>
              </a:rPr>
            </a:br>
            <a:endParaRPr lang="en-GB" dirty="0">
              <a:latin typeface="+mn-lt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17F27-19CB-67FF-16DF-0A1F39D51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pic>
        <p:nvPicPr>
          <p:cNvPr id="6" name="Picture Placeholder 5" descr="A group of metal parts&#10;&#10;Description automatically generated">
            <a:extLst>
              <a:ext uri="{FF2B5EF4-FFF2-40B4-BE49-F238E27FC236}">
                <a16:creationId xmlns:a16="http://schemas.microsoft.com/office/drawing/2014/main" id="{01EB3BA2-CB57-0657-B364-6AFCC68B55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" r="20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4725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614F95-479E-C63C-6A01-486F94FD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98431-58F6-B1F6-BC8B-BA4D9DF509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Staff at Auckland</a:t>
            </a:r>
          </a:p>
          <a:p>
            <a:pPr marL="0" indent="0">
              <a:buNone/>
            </a:pPr>
            <a:r>
              <a:rPr lang="en-US" dirty="0"/>
              <a:t>Professor  Faruk Balli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AACDC-3DEB-5012-4F2E-8C830D0023E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Assessment</a:t>
            </a:r>
          </a:p>
          <a:p>
            <a:r>
              <a:rPr lang="en-US" dirty="0"/>
              <a:t>6 Quizzes (20%). We take the best 5 grades.</a:t>
            </a:r>
          </a:p>
          <a:p>
            <a:r>
              <a:rPr lang="en-US" dirty="0"/>
              <a:t>Mid-Semester Test (40%)</a:t>
            </a:r>
          </a:p>
          <a:p>
            <a:r>
              <a:rPr lang="en-US" dirty="0"/>
              <a:t>Final Exam (40%)</a:t>
            </a:r>
          </a:p>
          <a:p>
            <a:pPr marL="0" indent="0">
              <a:buNone/>
            </a:pPr>
            <a:r>
              <a:rPr lang="en-NZ" dirty="0"/>
              <a:t>	TEXTBOOK</a:t>
            </a:r>
          </a:p>
          <a:p>
            <a:r>
              <a:rPr lang="en-NZ" dirty="0"/>
              <a:t> The CORE Team (2017)</a:t>
            </a:r>
          </a:p>
          <a:p>
            <a:r>
              <a:rPr lang="en-NZ" i="1" dirty="0"/>
              <a:t>The Economy </a:t>
            </a:r>
            <a:r>
              <a:rPr lang="en-NZ" dirty="0"/>
              <a:t>(Version 1.0)</a:t>
            </a:r>
          </a:p>
          <a:p>
            <a:r>
              <a:rPr lang="en-US" dirty="0"/>
              <a:t> Downloadable at https://www.core-</a:t>
            </a:r>
            <a:r>
              <a:rPr lang="en-NZ" dirty="0"/>
              <a:t>econ.org/project/core-the-economy/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1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E785-3EAA-858D-CB24-E7398C41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What is 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1F5C-8586-DF77-68F5-060C97347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22" y="1586204"/>
            <a:ext cx="9443198" cy="4590759"/>
          </a:xfrm>
        </p:spPr>
        <p:txBody>
          <a:bodyPr/>
          <a:lstStyle/>
          <a:p>
            <a:endParaRPr lang="en-NZ" dirty="0"/>
          </a:p>
          <a:p>
            <a:r>
              <a:rPr lang="en-NZ" dirty="0"/>
              <a:t>There are many definitions of economics:</a:t>
            </a:r>
          </a:p>
          <a:p>
            <a:pPr marL="0" indent="0">
              <a:buNone/>
            </a:pPr>
            <a:r>
              <a:rPr lang="en-NZ" dirty="0"/>
              <a:t>•How society allocates its scarce resources to satisfy its (unlimited) wants (and/or needs)</a:t>
            </a:r>
          </a:p>
          <a:p>
            <a:pPr marL="0" indent="0">
              <a:buNone/>
            </a:pPr>
            <a:r>
              <a:rPr lang="en-NZ" dirty="0"/>
              <a:t> Key concept: Scarcity !!!!</a:t>
            </a:r>
          </a:p>
          <a:p>
            <a:pPr marL="457200" lvl="1" indent="0">
              <a:buNone/>
            </a:pPr>
            <a:r>
              <a:rPr lang="en-NZ" dirty="0"/>
              <a:t>Q: Is there any market for Air? </a:t>
            </a:r>
          </a:p>
          <a:p>
            <a:pPr marL="457200" lvl="1" indent="0">
              <a:buNone/>
            </a:pPr>
            <a:r>
              <a:rPr lang="en-NZ" dirty="0"/>
              <a:t>Not in Earth so far!!</a:t>
            </a:r>
          </a:p>
          <a:p>
            <a:pPr marL="0" indent="0">
              <a:buNone/>
            </a:pPr>
            <a:r>
              <a:rPr lang="en-NZ" dirty="0"/>
              <a:t>•The study of mankind in the ordinary business of life</a:t>
            </a:r>
          </a:p>
          <a:p>
            <a:pPr marL="0" indent="0">
              <a:buNone/>
            </a:pPr>
            <a:r>
              <a:rPr lang="en-NZ" dirty="0"/>
              <a:t>•A mechanism for interpreting human behaviour</a:t>
            </a:r>
          </a:p>
          <a:p>
            <a:pPr marL="0" indent="0">
              <a:buNone/>
            </a:pPr>
            <a:endParaRPr lang="en-NZ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8710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1A88-7405-4BCE-697C-E4434BB4F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80" y="365125"/>
            <a:ext cx="9446308" cy="1325563"/>
          </a:xfrm>
        </p:spPr>
        <p:txBody>
          <a:bodyPr/>
          <a:lstStyle/>
          <a:p>
            <a:r>
              <a:rPr lang="en-US" dirty="0"/>
              <a:t>Key fundamental principles of economics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126CB-845B-8B95-6C03-5559D8A48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84" y="1825625"/>
            <a:ext cx="10590245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Key fundamental principles of economics: </a:t>
            </a:r>
          </a:p>
          <a:p>
            <a:r>
              <a:rPr lang="en-NZ" dirty="0"/>
              <a:t> </a:t>
            </a:r>
            <a:r>
              <a:rPr lang="en-NZ" b="1" dirty="0"/>
              <a:t>Scarcity</a:t>
            </a:r>
            <a:endParaRPr lang="en-NZ" dirty="0"/>
          </a:p>
          <a:p>
            <a:r>
              <a:rPr lang="en-US" dirty="0"/>
              <a:t> When a resource is limited or restricted in supply, and</a:t>
            </a:r>
          </a:p>
          <a:p>
            <a:r>
              <a:rPr lang="en-US" dirty="0"/>
              <a:t>there’s not enough of it to meet demand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Scarcity requires decisions to be made</a:t>
            </a:r>
          </a:p>
          <a:p>
            <a:r>
              <a:rPr lang="en-US" dirty="0"/>
              <a:t> What is the best use of the resource in question? </a:t>
            </a:r>
          </a:p>
          <a:p>
            <a:r>
              <a:rPr lang="en-NZ" dirty="0"/>
              <a:t> </a:t>
            </a:r>
            <a:r>
              <a:rPr lang="en-NZ" b="1" dirty="0"/>
              <a:t>Wants </a:t>
            </a:r>
            <a:r>
              <a:rPr lang="en-NZ" dirty="0"/>
              <a:t>(goals)</a:t>
            </a:r>
          </a:p>
          <a:p>
            <a:r>
              <a:rPr lang="en-US" dirty="0"/>
              <a:t> What are wants/goals for a business?</a:t>
            </a:r>
          </a:p>
          <a:p>
            <a:r>
              <a:rPr lang="en-US" dirty="0"/>
              <a:t> What are wants/goals for an economy?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5989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22DF-51CA-F87B-99BD-FB55B122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fundamental principles of economics: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B05FE-5C77-4D90-59CA-D7C46636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080" y="1825625"/>
            <a:ext cx="8849149" cy="4351338"/>
          </a:xfrm>
        </p:spPr>
        <p:txBody>
          <a:bodyPr>
            <a:normAutofit fontScale="85000" lnSpcReduction="10000"/>
          </a:bodyPr>
          <a:lstStyle/>
          <a:p>
            <a:r>
              <a:rPr lang="en-NZ" b="1" dirty="0"/>
              <a:t>Opportunity cost</a:t>
            </a:r>
            <a:endParaRPr lang="en-NZ" dirty="0"/>
          </a:p>
          <a:p>
            <a:r>
              <a:rPr lang="en-US" dirty="0"/>
              <a:t> The value of the next best alternative foregone</a:t>
            </a:r>
          </a:p>
          <a:p>
            <a:r>
              <a:rPr lang="en-US" dirty="0"/>
              <a:t> What you give up to get something! </a:t>
            </a:r>
          </a:p>
          <a:p>
            <a:r>
              <a:rPr lang="en-US" dirty="0"/>
              <a:t>What is the opportunity cost of taking Economics Degree?</a:t>
            </a:r>
          </a:p>
          <a:p>
            <a:r>
              <a:rPr lang="en-US" dirty="0"/>
              <a:t>It is subjective/depends on your ability's skills</a:t>
            </a:r>
          </a:p>
          <a:p>
            <a:pPr lvl="1"/>
            <a:r>
              <a:rPr lang="en-US" dirty="0"/>
              <a:t>Is it feasible  for Leo Messi to study economics for 3 years in Span?</a:t>
            </a:r>
          </a:p>
          <a:p>
            <a:r>
              <a:rPr lang="en-NZ" dirty="0"/>
              <a:t> The </a:t>
            </a:r>
            <a:r>
              <a:rPr lang="en-NZ" b="1" dirty="0"/>
              <a:t>benefit-cost principle</a:t>
            </a:r>
            <a:r>
              <a:rPr lang="en-NZ" dirty="0"/>
              <a:t>:</a:t>
            </a:r>
          </a:p>
          <a:p>
            <a:pPr lvl="1"/>
            <a:r>
              <a:rPr lang="en-US" dirty="0"/>
              <a:t> Something is worth doing if the </a:t>
            </a:r>
            <a:r>
              <a:rPr lang="en-US" b="1" dirty="0"/>
              <a:t>marginal benefit </a:t>
            </a:r>
            <a:r>
              <a:rPr lang="en-US" dirty="0"/>
              <a:t>of </a:t>
            </a:r>
          </a:p>
          <a:p>
            <a:pPr lvl="1"/>
            <a:r>
              <a:rPr lang="en-US" dirty="0"/>
              <a:t>doing it exceeds (or at least equals) the </a:t>
            </a:r>
            <a:r>
              <a:rPr lang="en-US" b="1" dirty="0"/>
              <a:t>marginal cost </a:t>
            </a:r>
            <a:r>
              <a:rPr lang="en-US" dirty="0"/>
              <a:t>of</a:t>
            </a:r>
          </a:p>
          <a:p>
            <a:pPr lvl="1"/>
            <a:r>
              <a:rPr lang="en-NZ" dirty="0"/>
              <a:t>doing it</a:t>
            </a:r>
          </a:p>
          <a:p>
            <a:pPr lvl="1"/>
            <a:r>
              <a:rPr lang="en-NZ" dirty="0"/>
              <a:t> </a:t>
            </a:r>
            <a:r>
              <a:rPr lang="en-NZ" i="1" dirty="0"/>
              <a:t>Marginal </a:t>
            </a:r>
            <a:r>
              <a:rPr lang="en-NZ" dirty="0"/>
              <a:t>= additional, or incremental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8233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E1221"/>
                </a:solidFill>
              </a:rPr>
              <a:t>Microeconomics</a:t>
            </a:r>
            <a:r>
              <a:rPr lang="en-US" dirty="0"/>
              <a:t> </a:t>
            </a:r>
            <a:r>
              <a:rPr lang="en-US" dirty="0">
                <a:solidFill>
                  <a:srgbClr val="AE1221"/>
                </a:solidFill>
              </a:rPr>
              <a:t>Vs Macroeconomics</a:t>
            </a:r>
            <a:endParaRPr lang="en-NZ" dirty="0">
              <a:solidFill>
                <a:srgbClr val="AE122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Microeconomics examines the economic behavior of individual units such as businesses, households in the face of scarcity, government interactions as well as economic consequences of these actions on other actors</a:t>
            </a:r>
          </a:p>
          <a:p>
            <a:r>
              <a:rPr lang="en-US" dirty="0"/>
              <a:t>Macroeconomics examines the economy as a whole with a view to understand interaction between economic aggregates such as national income, employment and inflation.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92039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7263" y="1074303"/>
            <a:ext cx="9144000" cy="916489"/>
          </a:xfrm>
        </p:spPr>
        <p:txBody>
          <a:bodyPr>
            <a:normAutofit/>
          </a:bodyPr>
          <a:lstStyle/>
          <a:p>
            <a:r>
              <a:rPr lang="en-GB" dirty="0">
                <a:latin typeface="+mn-lt"/>
                <a:cs typeface="Calibri"/>
              </a:rPr>
              <a:t>Key Macroeconomic Indicators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7263" y="2347132"/>
            <a:ext cx="9144000" cy="3139268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cap="all" dirty="0"/>
              <a:t>GDP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cap="all" dirty="0"/>
              <a:t>Inflation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cap="all" dirty="0"/>
              <a:t>Unemployment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cap="all" dirty="0"/>
              <a:t>Trade Balance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cap="all" dirty="0"/>
              <a:t>Exchange Rate</a:t>
            </a:r>
          </a:p>
        </p:txBody>
      </p:sp>
    </p:spTree>
    <p:extLst>
      <p:ext uri="{BB962C8B-B14F-4D97-AF65-F5344CB8AC3E}">
        <p14:creationId xmlns:p14="http://schemas.microsoft.com/office/powerpoint/2010/main" val="928065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2100F1CF-DA35-B02D-074C-F4012366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/>
          <a:lstStyle/>
          <a:p>
            <a:r>
              <a:rPr lang="en-US" dirty="0"/>
              <a:t>Latest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C41B6-8541-6D3F-71F0-9C9FEAF6C6BC}"/>
              </a:ext>
            </a:extLst>
          </p:cNvPr>
          <p:cNvSpPr txBox="1"/>
          <p:nvPr/>
        </p:nvSpPr>
        <p:spPr>
          <a:xfrm>
            <a:off x="2981130" y="2828836"/>
            <a:ext cx="82715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THE NEW ZEALAND ECONOMY</a:t>
            </a:r>
          </a:p>
          <a:p>
            <a:endParaRPr lang="en-NZ" dirty="0"/>
          </a:p>
          <a:p>
            <a:r>
              <a:rPr lang="en-NZ" dirty="0"/>
              <a:t>What’s happening in the New Zealand economy?(Treasury, July , 2026)</a:t>
            </a:r>
          </a:p>
          <a:p>
            <a:r>
              <a:rPr lang="en-NZ" dirty="0"/>
              <a:t>•Slowing economic momentum(2025)</a:t>
            </a:r>
          </a:p>
          <a:p>
            <a:r>
              <a:rPr lang="en-NZ" dirty="0"/>
              <a:t>•Post-tariffs –slowing global activity(2025)</a:t>
            </a:r>
          </a:p>
          <a:p>
            <a:r>
              <a:rPr lang="en-NZ" dirty="0"/>
              <a:t>•Uncertainty around trade policy(2025)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Inflationary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Economic growth is 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RBNZ increases interest rate (expecting to increase more)</a:t>
            </a:r>
          </a:p>
          <a:p>
            <a:endParaRPr lang="en-NZ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4690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alibri"/>
              </a:rPr>
              <a:t>Unit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3200" cap="all" dirty="0"/>
              <a:t>The labour market: Wages, profits, and unemployment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888EC-3841-81B3-5146-B542FE75E0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NZ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510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9292" y="2639004"/>
            <a:ext cx="9849634" cy="1071359"/>
          </a:xfrm>
        </p:spPr>
        <p:txBody>
          <a:bodyPr>
            <a:noAutofit/>
          </a:bodyPr>
          <a:lstStyle/>
          <a:p>
            <a:r>
              <a:rPr lang="en-GB" dirty="0">
                <a:latin typeface="+mn-lt"/>
              </a:rPr>
              <a:t>9.2. Measuring unemployment</a:t>
            </a:r>
          </a:p>
        </p:txBody>
      </p:sp>
    </p:spTree>
    <p:extLst>
      <p:ext uri="{BB962C8B-B14F-4D97-AF65-F5344CB8AC3E}">
        <p14:creationId xmlns:p14="http://schemas.microsoft.com/office/powerpoint/2010/main" val="3574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anchor="b">
            <a:normAutofit/>
          </a:bodyPr>
          <a:lstStyle/>
          <a:p>
            <a:r>
              <a:rPr lang="en-GB" sz="5000"/>
              <a:t>The Unemployed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7F024E-0381-CC41-A07F-BB3480CA20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/>
          <a:lstStyle/>
          <a:p>
            <a:r>
              <a:rPr lang="en-US" dirty="0"/>
              <a:t>There are three important criteria used to define who is unemployed.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A9418C7-9B41-39EC-BC26-0A1AD12C79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548280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7387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ure-09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52" y="1863169"/>
            <a:ext cx="8939098" cy="301694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en-GB" sz="4600"/>
              <a:t>The labour market</a:t>
            </a:r>
          </a:p>
        </p:txBody>
      </p:sp>
    </p:spTree>
    <p:extLst>
      <p:ext uri="{BB962C8B-B14F-4D97-AF65-F5344CB8AC3E}">
        <p14:creationId xmlns:p14="http://schemas.microsoft.com/office/powerpoint/2010/main" val="1581454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hart of a diagram&#10;&#10;Description automatically generated">
            <a:extLst>
              <a:ext uri="{FF2B5EF4-FFF2-40B4-BE49-F238E27FC236}">
                <a16:creationId xmlns:a16="http://schemas.microsoft.com/office/drawing/2014/main" id="{278E98F9-3003-AC64-80E6-8D27668C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906" y="68263"/>
            <a:ext cx="6876189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144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sz="4800" dirty="0">
                <a:latin typeface="+mn-lt"/>
              </a:rPr>
              <a:t>Labour market statistics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98F17-997B-F30E-BF4D-9D3012D8EC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2400" dirty="0"/>
              <a:t>Two countries with the same unemployment rate can differ in their employment rates if one has a high participation rate and the other has a low one.</a:t>
            </a:r>
          </a:p>
          <a:p>
            <a:endParaRPr lang="en-US" dirty="0"/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09507" y="1651029"/>
            <a:ext cx="5514975" cy="676275"/>
          </a:xfrm>
          <a:prstGeom prst="rect">
            <a:avLst/>
          </a:prstGeom>
          <a:noFill/>
        </p:spPr>
      </p:pic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09507" y="3280272"/>
            <a:ext cx="4067175" cy="676275"/>
          </a:xfrm>
          <a:prstGeom prst="rect">
            <a:avLst/>
          </a:prstGeom>
          <a:noFill/>
        </p:spPr>
      </p:pic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09507" y="4507240"/>
            <a:ext cx="5410200" cy="676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8644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92FF2-B5E9-C1B0-40C3-336CB4F9CA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0" y="1138336"/>
            <a:ext cx="9953041" cy="4447456"/>
          </a:xfrm>
        </p:spPr>
        <p:txBody>
          <a:bodyPr/>
          <a:lstStyle/>
          <a:p>
            <a:endParaRPr lang="en-NZ" dirty="0"/>
          </a:p>
          <a:p>
            <a:pPr algn="l"/>
            <a:r>
              <a:rPr lang="en-NZ" baseline="30000" dirty="0"/>
              <a:t>LABOUR MARKET CALCULATIONS: ANEXAMPLE</a:t>
            </a:r>
          </a:p>
          <a:p>
            <a:pPr algn="l"/>
            <a:endParaRPr lang="en-NZ" baseline="30000" dirty="0"/>
          </a:p>
          <a:p>
            <a:pPr algn="l"/>
            <a:r>
              <a:rPr lang="en-US" baseline="30000" dirty="0"/>
              <a:t>If an economy has a population of 4 million people and a </a:t>
            </a:r>
            <a:r>
              <a:rPr lang="en-US" baseline="30000" dirty="0" err="1"/>
              <a:t>labour</a:t>
            </a:r>
            <a:r>
              <a:rPr lang="en-US" baseline="30000" dirty="0"/>
              <a:t> force of 3 million people, of which 100,000 of these are  unemployed, what is the unemployment rate?</a:t>
            </a:r>
          </a:p>
          <a:p>
            <a:pPr algn="l"/>
            <a:r>
              <a:rPr lang="en-NZ" baseline="30000" dirty="0"/>
              <a:t>(a) 2.5%</a:t>
            </a:r>
          </a:p>
          <a:p>
            <a:pPr algn="l"/>
            <a:r>
              <a:rPr lang="en-NZ" baseline="30000" dirty="0"/>
              <a:t>(b) 3.33%</a:t>
            </a:r>
          </a:p>
          <a:p>
            <a:pPr algn="l"/>
            <a:r>
              <a:rPr lang="en-NZ" baseline="30000" dirty="0"/>
              <a:t>(c) 1.33%</a:t>
            </a:r>
          </a:p>
          <a:p>
            <a:pPr algn="l"/>
            <a:r>
              <a:rPr lang="en-NZ" baseline="30000" dirty="0"/>
              <a:t>(d) 36.67%</a:t>
            </a:r>
          </a:p>
          <a:p>
            <a:pPr algn="l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54987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Labour market statistics differ widely across countries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76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667E06-7361-1E75-E2E9-11283C794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3100"/>
              <a:t>Spain Unemployment Rate</a:t>
            </a:r>
          </a:p>
        </p:txBody>
      </p:sp>
      <p:pic>
        <p:nvPicPr>
          <p:cNvPr id="11" name="Content Placeholder 10" descr="A graph showing the growth of the country&#10;&#10;Description automatically generated">
            <a:extLst>
              <a:ext uri="{FF2B5EF4-FFF2-40B4-BE49-F238E27FC236}">
                <a16:creationId xmlns:a16="http://schemas.microsoft.com/office/drawing/2014/main" id="{76412D82-3C14-3018-6FA0-0B4CB6E40B2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946525" y="1579801"/>
            <a:ext cx="7175500" cy="3031649"/>
          </a:xfrm>
          <a:noFill/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961564D-55CC-4052-9373-80BB1C6A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Spain’s unemployment rate in 2023 is higher than NZ.</a:t>
            </a:r>
          </a:p>
          <a:p>
            <a:r>
              <a:rPr lang="en-US" dirty="0"/>
              <a:t>Its </a:t>
            </a:r>
            <a:r>
              <a:rPr lang="en-US" dirty="0" err="1"/>
              <a:t>labour</a:t>
            </a:r>
            <a:r>
              <a:rPr lang="en-US" dirty="0"/>
              <a:t> market participation rate (58.5%) is lower than NZ.</a:t>
            </a:r>
          </a:p>
        </p:txBody>
      </p:sp>
    </p:spTree>
    <p:extLst>
      <p:ext uri="{BB962C8B-B14F-4D97-AF65-F5344CB8AC3E}">
        <p14:creationId xmlns:p14="http://schemas.microsoft.com/office/powerpoint/2010/main" val="40190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D1C8-77B4-19EB-26B3-7EEEA098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Unemployment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EB39A-9D47-3FCD-A425-4213C9239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of Unemployment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FDA38-3B45-C619-FADD-F9ADBFC99A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3174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4BA03B-B790-8E2E-ACCE-3951E53C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types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C11EB-AE37-04F8-FF5B-831D7B4410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Short Run: Cyclical</a:t>
            </a:r>
          </a:p>
          <a:p>
            <a:pPr lvl="1"/>
            <a:r>
              <a:rPr lang="en-US" dirty="0"/>
              <a:t>Relates to the business cycle. </a:t>
            </a:r>
          </a:p>
          <a:p>
            <a:pPr lvl="1"/>
            <a:r>
              <a:rPr lang="en-US" dirty="0"/>
              <a:t>Recessions cause unemployment to rise</a:t>
            </a:r>
          </a:p>
          <a:p>
            <a:pPr lvl="1"/>
            <a:r>
              <a:rPr lang="en-US" dirty="0"/>
              <a:t>Caused by sticky downward wages.</a:t>
            </a:r>
          </a:p>
          <a:p>
            <a:r>
              <a:rPr lang="en-US" dirty="0"/>
              <a:t>Long Run: Frictional and Structural</a:t>
            </a:r>
          </a:p>
          <a:p>
            <a:pPr lvl="1"/>
            <a:r>
              <a:rPr lang="en-US" dirty="0"/>
              <a:t>Frictional unemployment consists of people between jobs</a:t>
            </a:r>
          </a:p>
          <a:p>
            <a:pPr lvl="1"/>
            <a:r>
              <a:rPr lang="en-US" dirty="0"/>
              <a:t>Structural unemployment results from a mismatch in skills.</a:t>
            </a:r>
          </a:p>
          <a:p>
            <a:r>
              <a:rPr lang="en-US" dirty="0"/>
              <a:t>Seasonal</a:t>
            </a:r>
          </a:p>
          <a:p>
            <a:pPr lvl="1"/>
            <a:r>
              <a:rPr lang="en-US" dirty="0"/>
              <a:t>Many agricultural jobs are seasonal in nature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22EC0D-324D-9173-554D-87C7A81899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From Shapiro 8.3 and 8.4</a:t>
            </a:r>
          </a:p>
          <a:p>
            <a:pPr lvl="1"/>
            <a:r>
              <a:rPr lang="en-US" dirty="0"/>
              <a:t>Cyclical</a:t>
            </a:r>
          </a:p>
          <a:p>
            <a:pPr lvl="1"/>
            <a:r>
              <a:rPr lang="en-US" dirty="0"/>
              <a:t>Frictional</a:t>
            </a:r>
          </a:p>
          <a:p>
            <a:pPr lvl="1"/>
            <a:r>
              <a:rPr lang="en-US" dirty="0"/>
              <a:t>Structural </a:t>
            </a:r>
          </a:p>
          <a:p>
            <a:r>
              <a:rPr lang="en-US" dirty="0"/>
              <a:t>From </a:t>
            </a:r>
            <a:r>
              <a:rPr lang="en-US" dirty="0" err="1"/>
              <a:t>Akoranga</a:t>
            </a:r>
            <a:r>
              <a:rPr lang="en-US" dirty="0"/>
              <a:t> Book</a:t>
            </a:r>
          </a:p>
          <a:p>
            <a:pPr lvl="1"/>
            <a:r>
              <a:rPr lang="en-US" dirty="0"/>
              <a:t>Seasonal</a:t>
            </a:r>
          </a:p>
        </p:txBody>
      </p:sp>
    </p:spTree>
    <p:extLst>
      <p:ext uri="{BB962C8B-B14F-4D97-AF65-F5344CB8AC3E}">
        <p14:creationId xmlns:p14="http://schemas.microsoft.com/office/powerpoint/2010/main" val="266453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 minimalist">
      <a:dk1>
        <a:srgbClr val="353638"/>
      </a:dk1>
      <a:lt1>
        <a:srgbClr val="EFEFEF"/>
      </a:lt1>
      <a:dk2>
        <a:srgbClr val="656A56"/>
      </a:dk2>
      <a:lt2>
        <a:srgbClr val="D7DAE1"/>
      </a:lt2>
      <a:accent1>
        <a:srgbClr val="737E84"/>
      </a:accent1>
      <a:accent2>
        <a:srgbClr val="353638"/>
      </a:accent2>
      <a:accent3>
        <a:srgbClr val="BBBCB7"/>
      </a:accent3>
      <a:accent4>
        <a:srgbClr val="D7DAE1"/>
      </a:accent4>
      <a:accent5>
        <a:srgbClr val="748189"/>
      </a:accent5>
      <a:accent6>
        <a:srgbClr val="353638"/>
      </a:accent6>
      <a:hlink>
        <a:srgbClr val="EFEFEF"/>
      </a:hlink>
      <a:folHlink>
        <a:srgbClr val="656A56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 Lecture 12" id="{D29A6B36-F178-D847-A0A9-0B5F65AE7586}" vid="{963A0014-900F-AF48-B0A7-31CFDAF0B5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592</TotalTime>
  <Words>687</Words>
  <Application>Microsoft Office PowerPoint</Application>
  <PresentationFormat>Widescreen</PresentationFormat>
  <Paragraphs>108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Playfair Display</vt:lpstr>
      <vt:lpstr>Rockwell</vt:lpstr>
      <vt:lpstr>Tw Cen MT</vt:lpstr>
      <vt:lpstr>Office Theme</vt:lpstr>
      <vt:lpstr>115.113 Economics for Business </vt:lpstr>
      <vt:lpstr>Administration</vt:lpstr>
      <vt:lpstr>What is Economics?</vt:lpstr>
      <vt:lpstr>Key fundamental principles of economics</vt:lpstr>
      <vt:lpstr>Key fundamental principles of economics:</vt:lpstr>
      <vt:lpstr>Microeconomics Vs Macroeconomics</vt:lpstr>
      <vt:lpstr>Key Macroeconomic Indicators</vt:lpstr>
      <vt:lpstr>Latest Update</vt:lpstr>
      <vt:lpstr>Unit 9</vt:lpstr>
      <vt:lpstr>9.2. Measuring unemployment</vt:lpstr>
      <vt:lpstr>The Unemployed</vt:lpstr>
      <vt:lpstr>The labour market</vt:lpstr>
      <vt:lpstr>PowerPoint Presentation</vt:lpstr>
      <vt:lpstr>Labour market statistics</vt:lpstr>
      <vt:lpstr>PowerPoint Presentation</vt:lpstr>
      <vt:lpstr>Labour market statistics differ widely across countries</vt:lpstr>
      <vt:lpstr>Spain Unemployment Rate</vt:lpstr>
      <vt:lpstr>Unemployment</vt:lpstr>
      <vt:lpstr>4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115.113 Economics for Business Lecture 1</dc:title>
  <dc:creator>Brendan Moyle</dc:creator>
  <cp:lastModifiedBy>Faruk Balli</cp:lastModifiedBy>
  <cp:revision>6</cp:revision>
  <cp:lastPrinted>2023-05-31T20:53:17Z</cp:lastPrinted>
  <dcterms:created xsi:type="dcterms:W3CDTF">2023-07-11T23:55:17Z</dcterms:created>
  <dcterms:modified xsi:type="dcterms:W3CDTF">2026-07-10T05:20:28Z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2022-01-25T01:36:49Z</vt:lpwstr>
  </property>
  <property fmtid="{D5CDD505-2E9C-101B-9397-08002B2CF9AE}" pid="4" name="MSIP_Label_bd9e4d68-54d0-40a5-8c9a-85a36c87352c_Method">
    <vt:lpwstr>Privileged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33b0c11e-6a5a-4ae7-a410-e7add87a2217</vt:lpwstr>
  </property>
  <property fmtid="{D5CDD505-2E9C-101B-9397-08002B2CF9AE}" pid="8" name="MSIP_Label_bd9e4d68-54d0-40a5-8c9a-85a36c87352c_ContentBits">
    <vt:lpwstr>0</vt:lpwstr>
  </property>
</Properties>
</file>