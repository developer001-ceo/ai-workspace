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5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3"/>
  </p:notesMasterIdLst>
  <p:handoutMasterIdLst>
    <p:handoutMasterId r:id="rId74"/>
  </p:handoutMasterIdLst>
  <p:sldIdLst>
    <p:sldId id="280" r:id="rId2"/>
    <p:sldId id="363" r:id="rId3"/>
    <p:sldId id="281" r:id="rId4"/>
    <p:sldId id="374" r:id="rId5"/>
    <p:sldId id="377" r:id="rId6"/>
    <p:sldId id="378" r:id="rId7"/>
    <p:sldId id="375" r:id="rId8"/>
    <p:sldId id="284" r:id="rId9"/>
    <p:sldId id="376" r:id="rId10"/>
    <p:sldId id="285" r:id="rId11"/>
    <p:sldId id="286" r:id="rId12"/>
    <p:sldId id="343" r:id="rId13"/>
    <p:sldId id="344" r:id="rId14"/>
    <p:sldId id="318" r:id="rId15"/>
    <p:sldId id="345" r:id="rId16"/>
    <p:sldId id="346" r:id="rId17"/>
    <p:sldId id="347" r:id="rId18"/>
    <p:sldId id="299" r:id="rId19"/>
    <p:sldId id="319" r:id="rId20"/>
    <p:sldId id="320" r:id="rId21"/>
    <p:sldId id="321" r:id="rId22"/>
    <p:sldId id="348" r:id="rId23"/>
    <p:sldId id="349" r:id="rId24"/>
    <p:sldId id="350" r:id="rId25"/>
    <p:sldId id="351" r:id="rId26"/>
    <p:sldId id="322" r:id="rId27"/>
    <p:sldId id="352" r:id="rId28"/>
    <p:sldId id="323" r:id="rId29"/>
    <p:sldId id="324" r:id="rId30"/>
    <p:sldId id="326" r:id="rId31"/>
    <p:sldId id="353" r:id="rId32"/>
    <p:sldId id="354" r:id="rId33"/>
    <p:sldId id="355" r:id="rId34"/>
    <p:sldId id="356" r:id="rId35"/>
    <p:sldId id="373" r:id="rId36"/>
    <p:sldId id="325" r:id="rId37"/>
    <p:sldId id="357" r:id="rId38"/>
    <p:sldId id="327" r:id="rId39"/>
    <p:sldId id="328" r:id="rId40"/>
    <p:sldId id="358" r:id="rId41"/>
    <p:sldId id="360" r:id="rId42"/>
    <p:sldId id="329" r:id="rId43"/>
    <p:sldId id="303" r:id="rId44"/>
    <p:sldId id="359" r:id="rId45"/>
    <p:sldId id="304" r:id="rId46"/>
    <p:sldId id="330" r:id="rId47"/>
    <p:sldId id="361" r:id="rId48"/>
    <p:sldId id="364" r:id="rId49"/>
    <p:sldId id="331" r:id="rId50"/>
    <p:sldId id="362" r:id="rId51"/>
    <p:sldId id="332" r:id="rId52"/>
    <p:sldId id="333" r:id="rId53"/>
    <p:sldId id="365" r:id="rId54"/>
    <p:sldId id="334" r:id="rId55"/>
    <p:sldId id="312" r:id="rId56"/>
    <p:sldId id="336" r:id="rId57"/>
    <p:sldId id="295" r:id="rId58"/>
    <p:sldId id="337" r:id="rId59"/>
    <p:sldId id="338" r:id="rId60"/>
    <p:sldId id="339" r:id="rId61"/>
    <p:sldId id="316" r:id="rId62"/>
    <p:sldId id="282" r:id="rId63"/>
    <p:sldId id="366" r:id="rId64"/>
    <p:sldId id="367" r:id="rId65"/>
    <p:sldId id="340" r:id="rId66"/>
    <p:sldId id="370" r:id="rId67"/>
    <p:sldId id="371" r:id="rId68"/>
    <p:sldId id="341" r:id="rId69"/>
    <p:sldId id="368" r:id="rId70"/>
    <p:sldId id="369" r:id="rId71"/>
    <p:sldId id="372" r:id="rId72"/>
  </p:sldIdLst>
  <p:sldSz cx="12192000" cy="6858000"/>
  <p:notesSz cx="6805613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EDD7"/>
    <a:srgbClr val="FFFFFF"/>
    <a:srgbClr val="353638"/>
    <a:srgbClr val="636852"/>
    <a:srgbClr val="EFEFEF"/>
    <a:srgbClr val="76838B"/>
    <a:srgbClr val="656A56"/>
    <a:srgbClr val="FBE0CF"/>
    <a:srgbClr val="EABB40"/>
    <a:srgbClr val="DEE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8073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6852CD-1892-494B-B64F-BA589537897D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NZ"/>
        </a:p>
      </dgm:t>
    </dgm:pt>
    <dgm:pt modelId="{B3C57EFE-A0F0-4E69-B599-5E104896CC8D}">
      <dgm:prSet/>
      <dgm:spPr/>
      <dgm:t>
        <a:bodyPr/>
        <a:lstStyle/>
        <a:p>
          <a:r>
            <a:rPr lang="en-US" dirty="0"/>
            <a:t>Changes in the rate of GDP growth are </a:t>
          </a:r>
          <a:r>
            <a:rPr lang="en-US" dirty="0">
              <a:solidFill>
                <a:srgbClr val="FFC000"/>
              </a:solidFill>
            </a:rPr>
            <a:t>negatively correlated </a:t>
          </a:r>
          <a:r>
            <a:rPr lang="en-US" dirty="0"/>
            <a:t>with the unemployment rate.</a:t>
          </a:r>
          <a:endParaRPr lang="en-NZ" dirty="0"/>
        </a:p>
      </dgm:t>
    </dgm:pt>
    <dgm:pt modelId="{516FD688-E5C6-4036-A008-D01CF8B5B659}" type="parTrans" cxnId="{1E6CF0F3-8630-43A9-BFEC-D6AF723B0211}">
      <dgm:prSet/>
      <dgm:spPr/>
      <dgm:t>
        <a:bodyPr/>
        <a:lstStyle/>
        <a:p>
          <a:endParaRPr lang="en-NZ"/>
        </a:p>
      </dgm:t>
    </dgm:pt>
    <dgm:pt modelId="{C82E767B-161C-45D0-9727-BD791BD8A797}" type="sibTrans" cxnId="{1E6CF0F3-8630-43A9-BFEC-D6AF723B0211}">
      <dgm:prSet/>
      <dgm:spPr/>
      <dgm:t>
        <a:bodyPr/>
        <a:lstStyle/>
        <a:p>
          <a:endParaRPr lang="en-NZ"/>
        </a:p>
      </dgm:t>
    </dgm:pt>
    <dgm:pt modelId="{6FA340FB-1E8A-4779-BFD3-B0480222B60F}">
      <dgm:prSet/>
      <dgm:spPr/>
      <dgm:t>
        <a:bodyPr/>
        <a:lstStyle/>
        <a:p>
          <a:r>
            <a:rPr lang="en-US"/>
            <a:t>If output falls, unemployment rises</a:t>
          </a:r>
          <a:endParaRPr lang="en-NZ"/>
        </a:p>
      </dgm:t>
    </dgm:pt>
    <dgm:pt modelId="{BE991670-19AD-4BEB-BDEF-43AC693B7E75}" type="parTrans" cxnId="{6D3F1ECA-C8EA-4C03-9404-4E109C852103}">
      <dgm:prSet/>
      <dgm:spPr/>
      <dgm:t>
        <a:bodyPr/>
        <a:lstStyle/>
        <a:p>
          <a:endParaRPr lang="en-NZ"/>
        </a:p>
      </dgm:t>
    </dgm:pt>
    <dgm:pt modelId="{E4A43B89-3606-44EC-B70A-1B7B073BF6EE}" type="sibTrans" cxnId="{6D3F1ECA-C8EA-4C03-9404-4E109C852103}">
      <dgm:prSet/>
      <dgm:spPr/>
      <dgm:t>
        <a:bodyPr/>
        <a:lstStyle/>
        <a:p>
          <a:endParaRPr lang="en-NZ"/>
        </a:p>
      </dgm:t>
    </dgm:pt>
    <dgm:pt modelId="{2F83EC91-10E8-45CF-8A13-F6ABD5D4A2BE}">
      <dgm:prSet/>
      <dgm:spPr/>
      <dgm:t>
        <a:bodyPr/>
        <a:lstStyle/>
        <a:p>
          <a:r>
            <a:rPr lang="en-US"/>
            <a:t>If output rises, unemployment falls</a:t>
          </a:r>
          <a:endParaRPr lang="en-NZ"/>
        </a:p>
      </dgm:t>
    </dgm:pt>
    <dgm:pt modelId="{AC93787B-BEBD-4518-9528-F71FE6309A7F}" type="parTrans" cxnId="{87524BC7-A566-4FB6-861D-365F2B9C5946}">
      <dgm:prSet/>
      <dgm:spPr/>
      <dgm:t>
        <a:bodyPr/>
        <a:lstStyle/>
        <a:p>
          <a:endParaRPr lang="en-NZ"/>
        </a:p>
      </dgm:t>
    </dgm:pt>
    <dgm:pt modelId="{5B87224F-81B3-4F25-9E41-A3C77AEA5459}" type="sibTrans" cxnId="{87524BC7-A566-4FB6-861D-365F2B9C5946}">
      <dgm:prSet/>
      <dgm:spPr/>
      <dgm:t>
        <a:bodyPr/>
        <a:lstStyle/>
        <a:p>
          <a:endParaRPr lang="en-NZ"/>
        </a:p>
      </dgm:t>
    </dgm:pt>
    <dgm:pt modelId="{74CC489E-3092-47D6-A606-458C4EAD4A84}" type="pres">
      <dgm:prSet presAssocID="{5D6852CD-1892-494B-B64F-BA589537897D}" presName="linearFlow" presStyleCnt="0">
        <dgm:presLayoutVars>
          <dgm:resizeHandles val="exact"/>
        </dgm:presLayoutVars>
      </dgm:prSet>
      <dgm:spPr/>
    </dgm:pt>
    <dgm:pt modelId="{B248F268-CB49-4FC9-8422-BDBE528B7E95}" type="pres">
      <dgm:prSet presAssocID="{B3C57EFE-A0F0-4E69-B599-5E104896CC8D}" presName="node" presStyleLbl="node1" presStyleIdx="0" presStyleCnt="3">
        <dgm:presLayoutVars>
          <dgm:bulletEnabled val="1"/>
        </dgm:presLayoutVars>
      </dgm:prSet>
      <dgm:spPr/>
    </dgm:pt>
    <dgm:pt modelId="{0DD05210-4402-418F-8383-F1F3AFEA9FCF}" type="pres">
      <dgm:prSet presAssocID="{C82E767B-161C-45D0-9727-BD791BD8A797}" presName="sibTrans" presStyleLbl="sibTrans2D1" presStyleIdx="0" presStyleCnt="2"/>
      <dgm:spPr/>
    </dgm:pt>
    <dgm:pt modelId="{5ACF8687-3B55-4721-92D4-DA4DCB021A6D}" type="pres">
      <dgm:prSet presAssocID="{C82E767B-161C-45D0-9727-BD791BD8A797}" presName="connectorText" presStyleLbl="sibTrans2D1" presStyleIdx="0" presStyleCnt="2"/>
      <dgm:spPr/>
    </dgm:pt>
    <dgm:pt modelId="{5C92E71D-B040-44D5-827F-E6F5DFC2F22B}" type="pres">
      <dgm:prSet presAssocID="{6FA340FB-1E8A-4779-BFD3-B0480222B60F}" presName="node" presStyleLbl="node1" presStyleIdx="1" presStyleCnt="3">
        <dgm:presLayoutVars>
          <dgm:bulletEnabled val="1"/>
        </dgm:presLayoutVars>
      </dgm:prSet>
      <dgm:spPr/>
    </dgm:pt>
    <dgm:pt modelId="{3E4E3456-B643-4F3C-81E5-1E1381E60265}" type="pres">
      <dgm:prSet presAssocID="{E4A43B89-3606-44EC-B70A-1B7B073BF6EE}" presName="sibTrans" presStyleLbl="sibTrans2D1" presStyleIdx="1" presStyleCnt="2"/>
      <dgm:spPr/>
    </dgm:pt>
    <dgm:pt modelId="{FB3E40ED-FDA5-4574-A31A-BFEC53EEB93E}" type="pres">
      <dgm:prSet presAssocID="{E4A43B89-3606-44EC-B70A-1B7B073BF6EE}" presName="connectorText" presStyleLbl="sibTrans2D1" presStyleIdx="1" presStyleCnt="2"/>
      <dgm:spPr/>
    </dgm:pt>
    <dgm:pt modelId="{399E8AAF-6219-4AC9-B51B-E12C6A3683C6}" type="pres">
      <dgm:prSet presAssocID="{2F83EC91-10E8-45CF-8A13-F6ABD5D4A2BE}" presName="node" presStyleLbl="node1" presStyleIdx="2" presStyleCnt="3">
        <dgm:presLayoutVars>
          <dgm:bulletEnabled val="1"/>
        </dgm:presLayoutVars>
      </dgm:prSet>
      <dgm:spPr/>
    </dgm:pt>
  </dgm:ptLst>
  <dgm:cxnLst>
    <dgm:cxn modelId="{42A9940D-3722-4A64-8FE9-1003BCDAA6FA}" type="presOf" srcId="{C82E767B-161C-45D0-9727-BD791BD8A797}" destId="{5ACF8687-3B55-4721-92D4-DA4DCB021A6D}" srcOrd="1" destOrd="0" presId="urn:microsoft.com/office/officeart/2005/8/layout/process2"/>
    <dgm:cxn modelId="{34F6B111-B81D-4970-8F6D-C26592C253B3}" type="presOf" srcId="{C82E767B-161C-45D0-9727-BD791BD8A797}" destId="{0DD05210-4402-418F-8383-F1F3AFEA9FCF}" srcOrd="0" destOrd="0" presId="urn:microsoft.com/office/officeart/2005/8/layout/process2"/>
    <dgm:cxn modelId="{D6E4B046-B4FA-454B-A88E-1082053709D8}" type="presOf" srcId="{B3C57EFE-A0F0-4E69-B599-5E104896CC8D}" destId="{B248F268-CB49-4FC9-8422-BDBE528B7E95}" srcOrd="0" destOrd="0" presId="urn:microsoft.com/office/officeart/2005/8/layout/process2"/>
    <dgm:cxn modelId="{0B64368D-3C92-47D7-BC15-FA6B92B7939B}" type="presOf" srcId="{6FA340FB-1E8A-4779-BFD3-B0480222B60F}" destId="{5C92E71D-B040-44D5-827F-E6F5DFC2F22B}" srcOrd="0" destOrd="0" presId="urn:microsoft.com/office/officeart/2005/8/layout/process2"/>
    <dgm:cxn modelId="{049E2F9D-FAB2-4CCD-B8C0-DE925A0D19AC}" type="presOf" srcId="{E4A43B89-3606-44EC-B70A-1B7B073BF6EE}" destId="{FB3E40ED-FDA5-4574-A31A-BFEC53EEB93E}" srcOrd="1" destOrd="0" presId="urn:microsoft.com/office/officeart/2005/8/layout/process2"/>
    <dgm:cxn modelId="{AA7DECC2-5569-4913-B481-C17A22BD6637}" type="presOf" srcId="{E4A43B89-3606-44EC-B70A-1B7B073BF6EE}" destId="{3E4E3456-B643-4F3C-81E5-1E1381E60265}" srcOrd="0" destOrd="0" presId="urn:microsoft.com/office/officeart/2005/8/layout/process2"/>
    <dgm:cxn modelId="{87524BC7-A566-4FB6-861D-365F2B9C5946}" srcId="{5D6852CD-1892-494B-B64F-BA589537897D}" destId="{2F83EC91-10E8-45CF-8A13-F6ABD5D4A2BE}" srcOrd="2" destOrd="0" parTransId="{AC93787B-BEBD-4518-9528-F71FE6309A7F}" sibTransId="{5B87224F-81B3-4F25-9E41-A3C77AEA5459}"/>
    <dgm:cxn modelId="{6D3F1ECA-C8EA-4C03-9404-4E109C852103}" srcId="{5D6852CD-1892-494B-B64F-BA589537897D}" destId="{6FA340FB-1E8A-4779-BFD3-B0480222B60F}" srcOrd="1" destOrd="0" parTransId="{BE991670-19AD-4BEB-BDEF-43AC693B7E75}" sibTransId="{E4A43B89-3606-44EC-B70A-1B7B073BF6EE}"/>
    <dgm:cxn modelId="{1E6CF0F3-8630-43A9-BFEC-D6AF723B0211}" srcId="{5D6852CD-1892-494B-B64F-BA589537897D}" destId="{B3C57EFE-A0F0-4E69-B599-5E104896CC8D}" srcOrd="0" destOrd="0" parTransId="{516FD688-E5C6-4036-A008-D01CF8B5B659}" sibTransId="{C82E767B-161C-45D0-9727-BD791BD8A797}"/>
    <dgm:cxn modelId="{8BDFBFFD-C6C5-4E3A-AF42-51ACF502F60D}" type="presOf" srcId="{5D6852CD-1892-494B-B64F-BA589537897D}" destId="{74CC489E-3092-47D6-A606-458C4EAD4A84}" srcOrd="0" destOrd="0" presId="urn:microsoft.com/office/officeart/2005/8/layout/process2"/>
    <dgm:cxn modelId="{72D6F2FD-04F8-496A-A146-2F94DD37FA70}" type="presOf" srcId="{2F83EC91-10E8-45CF-8A13-F6ABD5D4A2BE}" destId="{399E8AAF-6219-4AC9-B51B-E12C6A3683C6}" srcOrd="0" destOrd="0" presId="urn:microsoft.com/office/officeart/2005/8/layout/process2"/>
    <dgm:cxn modelId="{51A260D9-D5A0-4FE1-85D8-AE308AC9432B}" type="presParOf" srcId="{74CC489E-3092-47D6-A606-458C4EAD4A84}" destId="{B248F268-CB49-4FC9-8422-BDBE528B7E95}" srcOrd="0" destOrd="0" presId="urn:microsoft.com/office/officeart/2005/8/layout/process2"/>
    <dgm:cxn modelId="{362A293B-4D37-4A7C-943D-868A90DCB13D}" type="presParOf" srcId="{74CC489E-3092-47D6-A606-458C4EAD4A84}" destId="{0DD05210-4402-418F-8383-F1F3AFEA9FCF}" srcOrd="1" destOrd="0" presId="urn:microsoft.com/office/officeart/2005/8/layout/process2"/>
    <dgm:cxn modelId="{994B6DFB-AF6B-484F-ABC3-69208EE13404}" type="presParOf" srcId="{0DD05210-4402-418F-8383-F1F3AFEA9FCF}" destId="{5ACF8687-3B55-4721-92D4-DA4DCB021A6D}" srcOrd="0" destOrd="0" presId="urn:microsoft.com/office/officeart/2005/8/layout/process2"/>
    <dgm:cxn modelId="{E9CC4BAD-002A-4916-9A2E-EF31FEA47689}" type="presParOf" srcId="{74CC489E-3092-47D6-A606-458C4EAD4A84}" destId="{5C92E71D-B040-44D5-827F-E6F5DFC2F22B}" srcOrd="2" destOrd="0" presId="urn:microsoft.com/office/officeart/2005/8/layout/process2"/>
    <dgm:cxn modelId="{7373F31A-7789-4873-AEBD-7C34DE7EF1E1}" type="presParOf" srcId="{74CC489E-3092-47D6-A606-458C4EAD4A84}" destId="{3E4E3456-B643-4F3C-81E5-1E1381E60265}" srcOrd="3" destOrd="0" presId="urn:microsoft.com/office/officeart/2005/8/layout/process2"/>
    <dgm:cxn modelId="{8FB43C9F-F32B-4709-AAD6-93E7DF2A4D68}" type="presParOf" srcId="{3E4E3456-B643-4F3C-81E5-1E1381E60265}" destId="{FB3E40ED-FDA5-4574-A31A-BFEC53EEB93E}" srcOrd="0" destOrd="0" presId="urn:microsoft.com/office/officeart/2005/8/layout/process2"/>
    <dgm:cxn modelId="{9BF6A116-DDEA-41D5-809E-366EA3E0C38A}" type="presParOf" srcId="{74CC489E-3092-47D6-A606-458C4EAD4A84}" destId="{399E8AAF-6219-4AC9-B51B-E12C6A3683C6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F687C6-1266-460A-8700-ADBFCB04C197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33F77D-E273-4716-AA16-81DD05C54BBD}">
      <dgm:prSet/>
      <dgm:spPr/>
      <dgm:t>
        <a:bodyPr/>
        <a:lstStyle/>
        <a:p>
          <a:r>
            <a:rPr lang="en-NZ" dirty="0"/>
            <a:t>Exports are added to our GDP</a:t>
          </a:r>
          <a:endParaRPr lang="en-US" dirty="0"/>
        </a:p>
      </dgm:t>
    </dgm:pt>
    <dgm:pt modelId="{286CE5E4-E7BF-4F4F-8154-5CF6D1145669}" type="parTrans" cxnId="{9F0B66EC-7A4C-4AE8-8414-34EF5525B3AE}">
      <dgm:prSet/>
      <dgm:spPr/>
      <dgm:t>
        <a:bodyPr/>
        <a:lstStyle/>
        <a:p>
          <a:endParaRPr lang="en-US"/>
        </a:p>
      </dgm:t>
    </dgm:pt>
    <dgm:pt modelId="{8E06FD3A-BE15-4227-B01E-A1250F517664}" type="sibTrans" cxnId="{9F0B66EC-7A4C-4AE8-8414-34EF5525B3AE}">
      <dgm:prSet/>
      <dgm:spPr/>
      <dgm:t>
        <a:bodyPr/>
        <a:lstStyle/>
        <a:p>
          <a:endParaRPr lang="en-US"/>
        </a:p>
      </dgm:t>
    </dgm:pt>
    <dgm:pt modelId="{EBB964EC-40E0-426D-AAF4-55776B265152}">
      <dgm:prSet/>
      <dgm:spPr/>
      <dgm:t>
        <a:bodyPr/>
        <a:lstStyle/>
        <a:p>
          <a:r>
            <a:rPr lang="en-NZ" dirty="0"/>
            <a:t>Imports are subtracted</a:t>
          </a:r>
          <a:endParaRPr lang="en-US" dirty="0"/>
        </a:p>
      </dgm:t>
    </dgm:pt>
    <dgm:pt modelId="{B8115CDA-0C9A-4DFF-8BAF-55EB66DFA644}" type="parTrans" cxnId="{3DB7B97C-98E5-473B-A443-EDEE4C6CB47D}">
      <dgm:prSet/>
      <dgm:spPr/>
      <dgm:t>
        <a:bodyPr/>
        <a:lstStyle/>
        <a:p>
          <a:endParaRPr lang="en-US"/>
        </a:p>
      </dgm:t>
    </dgm:pt>
    <dgm:pt modelId="{E9A90467-B9E4-425C-851F-D0834AB130CA}" type="sibTrans" cxnId="{3DB7B97C-98E5-473B-A443-EDEE4C6CB47D}">
      <dgm:prSet/>
      <dgm:spPr/>
      <dgm:t>
        <a:bodyPr/>
        <a:lstStyle/>
        <a:p>
          <a:endParaRPr lang="en-US"/>
        </a:p>
      </dgm:t>
    </dgm:pt>
    <dgm:pt modelId="{616996E7-7A7C-B341-8553-E55526FA7DA2}">
      <dgm:prSet/>
      <dgm:spPr/>
      <dgm:t>
        <a:bodyPr/>
        <a:lstStyle/>
        <a:p>
          <a:r>
            <a:rPr lang="en-US" dirty="0"/>
            <a:t>Exports are produced here but consumed by foreign households</a:t>
          </a:r>
        </a:p>
      </dgm:t>
    </dgm:pt>
    <dgm:pt modelId="{31ECB116-66FE-574A-B680-5B8968A52D39}" type="parTrans" cxnId="{4A2C7D46-9EC9-D14F-8765-92100FB01149}">
      <dgm:prSet/>
      <dgm:spPr/>
      <dgm:t>
        <a:bodyPr/>
        <a:lstStyle/>
        <a:p>
          <a:endParaRPr lang="en-GB"/>
        </a:p>
      </dgm:t>
    </dgm:pt>
    <dgm:pt modelId="{05DAD288-9077-6242-BBF2-E2652847B3B0}" type="sibTrans" cxnId="{4A2C7D46-9EC9-D14F-8765-92100FB01149}">
      <dgm:prSet/>
      <dgm:spPr/>
      <dgm:t>
        <a:bodyPr/>
        <a:lstStyle/>
        <a:p>
          <a:endParaRPr lang="en-GB"/>
        </a:p>
      </dgm:t>
    </dgm:pt>
    <dgm:pt modelId="{D69EFBE3-D0DB-3445-923F-1EC88705F6F9}">
      <dgm:prSet/>
      <dgm:spPr/>
      <dgm:t>
        <a:bodyPr/>
        <a:lstStyle/>
        <a:p>
          <a:r>
            <a:rPr lang="en-GB" dirty="0"/>
            <a:t>Imports are produced in another country but consumed here</a:t>
          </a:r>
        </a:p>
      </dgm:t>
    </dgm:pt>
    <dgm:pt modelId="{0B5F9907-F8F5-7542-A7CE-77657528F73D}" type="parTrans" cxnId="{0422F9D5-EA45-EC44-A9E2-32111A98B032}">
      <dgm:prSet/>
      <dgm:spPr/>
      <dgm:t>
        <a:bodyPr/>
        <a:lstStyle/>
        <a:p>
          <a:endParaRPr lang="en-GB"/>
        </a:p>
      </dgm:t>
    </dgm:pt>
    <dgm:pt modelId="{CA1FCA49-2A05-AB48-A743-D00C1175BC21}" type="sibTrans" cxnId="{0422F9D5-EA45-EC44-A9E2-32111A98B032}">
      <dgm:prSet/>
      <dgm:spPr/>
      <dgm:t>
        <a:bodyPr/>
        <a:lstStyle/>
        <a:p>
          <a:endParaRPr lang="en-GB"/>
        </a:p>
      </dgm:t>
    </dgm:pt>
    <dgm:pt modelId="{E9708CEC-5FCC-434B-B4E6-8E16E8CD223D}" type="pres">
      <dgm:prSet presAssocID="{B7F687C6-1266-460A-8700-ADBFCB04C197}" presName="linear" presStyleCnt="0">
        <dgm:presLayoutVars>
          <dgm:animLvl val="lvl"/>
          <dgm:resizeHandles val="exact"/>
        </dgm:presLayoutVars>
      </dgm:prSet>
      <dgm:spPr/>
    </dgm:pt>
    <dgm:pt modelId="{064A2E1F-6006-4027-BC26-612E17C6A0F2}" type="pres">
      <dgm:prSet presAssocID="{CA33F77D-E273-4716-AA16-81DD05C54BB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7956796-040A-4748-AB73-6A0C8D674C5D}" type="pres">
      <dgm:prSet presAssocID="{CA33F77D-E273-4716-AA16-81DD05C54BBD}" presName="childText" presStyleLbl="revTx" presStyleIdx="0" presStyleCnt="2">
        <dgm:presLayoutVars>
          <dgm:bulletEnabled val="1"/>
        </dgm:presLayoutVars>
      </dgm:prSet>
      <dgm:spPr/>
    </dgm:pt>
    <dgm:pt modelId="{F6ED7C43-7B10-4F0D-A1FA-868CA79523BC}" type="pres">
      <dgm:prSet presAssocID="{EBB964EC-40E0-426D-AAF4-55776B26515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F5893D9-110E-1540-99E6-2B9FE8F0B92C}" type="pres">
      <dgm:prSet presAssocID="{EBB964EC-40E0-426D-AAF4-55776B265152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EEBDA04-E824-4E0C-823E-B7A9F4E9B591}" type="presOf" srcId="{CA33F77D-E273-4716-AA16-81DD05C54BBD}" destId="{064A2E1F-6006-4027-BC26-612E17C6A0F2}" srcOrd="0" destOrd="0" presId="urn:microsoft.com/office/officeart/2005/8/layout/vList2"/>
    <dgm:cxn modelId="{3A0FB315-689B-D64C-A919-8DF5D529A505}" type="presOf" srcId="{D69EFBE3-D0DB-3445-923F-1EC88705F6F9}" destId="{6F5893D9-110E-1540-99E6-2B9FE8F0B92C}" srcOrd="0" destOrd="0" presId="urn:microsoft.com/office/officeart/2005/8/layout/vList2"/>
    <dgm:cxn modelId="{4A2C7D46-9EC9-D14F-8765-92100FB01149}" srcId="{CA33F77D-E273-4716-AA16-81DD05C54BBD}" destId="{616996E7-7A7C-B341-8553-E55526FA7DA2}" srcOrd="0" destOrd="0" parTransId="{31ECB116-66FE-574A-B680-5B8968A52D39}" sibTransId="{05DAD288-9077-6242-BBF2-E2652847B3B0}"/>
    <dgm:cxn modelId="{3DB7B97C-98E5-473B-A443-EDEE4C6CB47D}" srcId="{B7F687C6-1266-460A-8700-ADBFCB04C197}" destId="{EBB964EC-40E0-426D-AAF4-55776B265152}" srcOrd="1" destOrd="0" parTransId="{B8115CDA-0C9A-4DFF-8BAF-55EB66DFA644}" sibTransId="{E9A90467-B9E4-425C-851F-D0834AB130CA}"/>
    <dgm:cxn modelId="{E457AE80-9C53-BF46-BCF1-22F27AF606C6}" type="presOf" srcId="{616996E7-7A7C-B341-8553-E55526FA7DA2}" destId="{97956796-040A-4748-AB73-6A0C8D674C5D}" srcOrd="0" destOrd="0" presId="urn:microsoft.com/office/officeart/2005/8/layout/vList2"/>
    <dgm:cxn modelId="{593A2DD2-6389-439A-9696-D6F8A26C1AA9}" type="presOf" srcId="{B7F687C6-1266-460A-8700-ADBFCB04C197}" destId="{E9708CEC-5FCC-434B-B4E6-8E16E8CD223D}" srcOrd="0" destOrd="0" presId="urn:microsoft.com/office/officeart/2005/8/layout/vList2"/>
    <dgm:cxn modelId="{0422F9D5-EA45-EC44-A9E2-32111A98B032}" srcId="{EBB964EC-40E0-426D-AAF4-55776B265152}" destId="{D69EFBE3-D0DB-3445-923F-1EC88705F6F9}" srcOrd="0" destOrd="0" parTransId="{0B5F9907-F8F5-7542-A7CE-77657528F73D}" sibTransId="{CA1FCA49-2A05-AB48-A743-D00C1175BC21}"/>
    <dgm:cxn modelId="{8A07E3DF-270D-458A-A753-8EFDB4402543}" type="presOf" srcId="{EBB964EC-40E0-426D-AAF4-55776B265152}" destId="{F6ED7C43-7B10-4F0D-A1FA-868CA79523BC}" srcOrd="0" destOrd="0" presId="urn:microsoft.com/office/officeart/2005/8/layout/vList2"/>
    <dgm:cxn modelId="{9F0B66EC-7A4C-4AE8-8414-34EF5525B3AE}" srcId="{B7F687C6-1266-460A-8700-ADBFCB04C197}" destId="{CA33F77D-E273-4716-AA16-81DD05C54BBD}" srcOrd="0" destOrd="0" parTransId="{286CE5E4-E7BF-4F4F-8154-5CF6D1145669}" sibTransId="{8E06FD3A-BE15-4227-B01E-A1250F517664}"/>
    <dgm:cxn modelId="{FA301093-A64B-4B8F-8F04-17619A7E2ECA}" type="presParOf" srcId="{E9708CEC-5FCC-434B-B4E6-8E16E8CD223D}" destId="{064A2E1F-6006-4027-BC26-612E17C6A0F2}" srcOrd="0" destOrd="0" presId="urn:microsoft.com/office/officeart/2005/8/layout/vList2"/>
    <dgm:cxn modelId="{076417A5-D173-6E42-9842-C74369173181}" type="presParOf" srcId="{E9708CEC-5FCC-434B-B4E6-8E16E8CD223D}" destId="{97956796-040A-4748-AB73-6A0C8D674C5D}" srcOrd="1" destOrd="0" presId="urn:microsoft.com/office/officeart/2005/8/layout/vList2"/>
    <dgm:cxn modelId="{E4D46806-5944-49DA-A0C8-1481F04EF8A6}" type="presParOf" srcId="{E9708CEC-5FCC-434B-B4E6-8E16E8CD223D}" destId="{F6ED7C43-7B10-4F0D-A1FA-868CA79523BC}" srcOrd="2" destOrd="0" presId="urn:microsoft.com/office/officeart/2005/8/layout/vList2"/>
    <dgm:cxn modelId="{88EDFC5A-42D6-E44F-96AC-56966B693106}" type="presParOf" srcId="{E9708CEC-5FCC-434B-B4E6-8E16E8CD223D}" destId="{6F5893D9-110E-1540-99E6-2B9FE8F0B92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05650B5-01B5-4AE9-917D-0CDAC4CBE95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NZ"/>
        </a:p>
      </dgm:t>
    </dgm:pt>
    <dgm:pt modelId="{1FFA4EA4-1897-4582-9668-786C2AFE785D}">
      <dgm:prSet/>
      <dgm:spPr/>
      <dgm:t>
        <a:bodyPr/>
        <a:lstStyle/>
        <a:p>
          <a:r>
            <a:rPr lang="en-NZ"/>
            <a:t>Government spending on goods and services are added to GDP</a:t>
          </a:r>
        </a:p>
      </dgm:t>
    </dgm:pt>
    <dgm:pt modelId="{BD280BBF-1790-4736-821A-BF0AA5D23D55}" type="parTrans" cxnId="{E5EEC58C-DDAB-4AAA-8119-EBC1CCFD25C8}">
      <dgm:prSet/>
      <dgm:spPr/>
      <dgm:t>
        <a:bodyPr/>
        <a:lstStyle/>
        <a:p>
          <a:endParaRPr lang="en-NZ"/>
        </a:p>
      </dgm:t>
    </dgm:pt>
    <dgm:pt modelId="{A459CC95-1856-4E66-A9EE-726D2E893DDB}" type="sibTrans" cxnId="{E5EEC58C-DDAB-4AAA-8119-EBC1CCFD25C8}">
      <dgm:prSet/>
      <dgm:spPr/>
      <dgm:t>
        <a:bodyPr/>
        <a:lstStyle/>
        <a:p>
          <a:endParaRPr lang="en-NZ"/>
        </a:p>
      </dgm:t>
    </dgm:pt>
    <dgm:pt modelId="{EBDCE100-E4E2-43B7-87BE-F1E25260811A}" type="pres">
      <dgm:prSet presAssocID="{005650B5-01B5-4AE9-917D-0CDAC4CBE954}" presName="linear" presStyleCnt="0">
        <dgm:presLayoutVars>
          <dgm:animLvl val="lvl"/>
          <dgm:resizeHandles val="exact"/>
        </dgm:presLayoutVars>
      </dgm:prSet>
      <dgm:spPr/>
    </dgm:pt>
    <dgm:pt modelId="{BF38B288-B98C-43EA-B1FD-67EC21248603}" type="pres">
      <dgm:prSet presAssocID="{1FFA4EA4-1897-4582-9668-786C2AFE785D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6A37B18-D588-47CC-84C8-A711D99D85CB}" type="presOf" srcId="{1FFA4EA4-1897-4582-9668-786C2AFE785D}" destId="{BF38B288-B98C-43EA-B1FD-67EC21248603}" srcOrd="0" destOrd="0" presId="urn:microsoft.com/office/officeart/2005/8/layout/vList2"/>
    <dgm:cxn modelId="{E5EEC58C-DDAB-4AAA-8119-EBC1CCFD25C8}" srcId="{005650B5-01B5-4AE9-917D-0CDAC4CBE954}" destId="{1FFA4EA4-1897-4582-9668-786C2AFE785D}" srcOrd="0" destOrd="0" parTransId="{BD280BBF-1790-4736-821A-BF0AA5D23D55}" sibTransId="{A459CC95-1856-4E66-A9EE-726D2E893DDB}"/>
    <dgm:cxn modelId="{87A370D7-1A41-49D5-8367-2916F3B6DDE5}" type="presOf" srcId="{005650B5-01B5-4AE9-917D-0CDAC4CBE954}" destId="{EBDCE100-E4E2-43B7-87BE-F1E25260811A}" srcOrd="0" destOrd="0" presId="urn:microsoft.com/office/officeart/2005/8/layout/vList2"/>
    <dgm:cxn modelId="{1BB3C3A1-7D17-4CB7-A40C-9A1557AC08E5}" type="presParOf" srcId="{EBDCE100-E4E2-43B7-87BE-F1E25260811A}" destId="{BF38B288-B98C-43EA-B1FD-67EC2124860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CEB8682-8177-4E7B-AABB-DE4F3D3C0445}" type="doc">
      <dgm:prSet loTypeId="urn:microsoft.com/office/officeart/2008/layout/LinedList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92B1721-1867-447E-9910-2DC9A007DB80}">
      <dgm:prSet/>
      <dgm:spPr/>
      <dgm:t>
        <a:bodyPr/>
        <a:lstStyle/>
        <a:p>
          <a:r>
            <a:rPr lang="en-NZ"/>
            <a:t>GDP is a measure of overall economic activity in an economy</a:t>
          </a:r>
          <a:endParaRPr lang="en-US"/>
        </a:p>
      </dgm:t>
    </dgm:pt>
    <dgm:pt modelId="{72E3A36A-5B0A-420B-B24C-12881D7CC3EC}" type="parTrans" cxnId="{EC9FB8D3-55B2-489D-95E8-B0A7BA7E0750}">
      <dgm:prSet/>
      <dgm:spPr/>
      <dgm:t>
        <a:bodyPr/>
        <a:lstStyle/>
        <a:p>
          <a:endParaRPr lang="en-US"/>
        </a:p>
      </dgm:t>
    </dgm:pt>
    <dgm:pt modelId="{96AB80B4-0BA9-406A-992C-95F44F26D517}" type="sibTrans" cxnId="{EC9FB8D3-55B2-489D-95E8-B0A7BA7E0750}">
      <dgm:prSet/>
      <dgm:spPr/>
      <dgm:t>
        <a:bodyPr/>
        <a:lstStyle/>
        <a:p>
          <a:endParaRPr lang="en-US"/>
        </a:p>
      </dgm:t>
    </dgm:pt>
    <dgm:pt modelId="{ED199207-ED26-41FA-BEFD-37AA4E147D7A}">
      <dgm:prSet/>
      <dgm:spPr/>
      <dgm:t>
        <a:bodyPr/>
        <a:lstStyle/>
        <a:p>
          <a:r>
            <a:rPr lang="en-NZ"/>
            <a:t>It informs fiscal policy (Government) and monetary policy (Central Bank)</a:t>
          </a:r>
          <a:endParaRPr lang="en-US"/>
        </a:p>
      </dgm:t>
    </dgm:pt>
    <dgm:pt modelId="{8FD2CF19-61E9-451F-9705-2B4EF0B4DA9C}" type="parTrans" cxnId="{83FFA003-38DC-4E68-90EC-AF9E2177D7C8}">
      <dgm:prSet/>
      <dgm:spPr/>
      <dgm:t>
        <a:bodyPr/>
        <a:lstStyle/>
        <a:p>
          <a:endParaRPr lang="en-US"/>
        </a:p>
      </dgm:t>
    </dgm:pt>
    <dgm:pt modelId="{19A90FDA-A8BF-43F8-A509-89DE06430FF5}" type="sibTrans" cxnId="{83FFA003-38DC-4E68-90EC-AF9E2177D7C8}">
      <dgm:prSet/>
      <dgm:spPr/>
      <dgm:t>
        <a:bodyPr/>
        <a:lstStyle/>
        <a:p>
          <a:endParaRPr lang="en-US"/>
        </a:p>
      </dgm:t>
    </dgm:pt>
    <dgm:pt modelId="{C653BAF3-14FD-4D7E-AF46-3327A52A8FDC}">
      <dgm:prSet/>
      <dgm:spPr/>
      <dgm:t>
        <a:bodyPr/>
        <a:lstStyle/>
        <a:p>
          <a:r>
            <a:rPr lang="en-NZ" dirty="0"/>
            <a:t>It does not measure welfare or well-being in an economy. </a:t>
          </a:r>
          <a:endParaRPr lang="en-US" dirty="0"/>
        </a:p>
      </dgm:t>
    </dgm:pt>
    <dgm:pt modelId="{B688EF57-B096-4F33-9293-C54784B5AFDC}" type="parTrans" cxnId="{2B077839-5DC4-4CE8-8352-5AA05AC76D5C}">
      <dgm:prSet/>
      <dgm:spPr/>
      <dgm:t>
        <a:bodyPr/>
        <a:lstStyle/>
        <a:p>
          <a:endParaRPr lang="en-US"/>
        </a:p>
      </dgm:t>
    </dgm:pt>
    <dgm:pt modelId="{61F5A92F-1BAD-4B8C-A683-652C487CCEC9}" type="sibTrans" cxnId="{2B077839-5DC4-4CE8-8352-5AA05AC76D5C}">
      <dgm:prSet/>
      <dgm:spPr/>
      <dgm:t>
        <a:bodyPr/>
        <a:lstStyle/>
        <a:p>
          <a:endParaRPr lang="en-US"/>
        </a:p>
      </dgm:t>
    </dgm:pt>
    <dgm:pt modelId="{716FBD32-2343-43E7-8BC9-FF20BD14EF59}">
      <dgm:prSet/>
      <dgm:spPr/>
      <dgm:t>
        <a:bodyPr/>
        <a:lstStyle/>
        <a:p>
          <a:r>
            <a:rPr lang="en-NZ" dirty="0"/>
            <a:t>Other metrics, like the Human Development Index (HDI) are preferred.</a:t>
          </a:r>
          <a:endParaRPr lang="en-US" dirty="0"/>
        </a:p>
      </dgm:t>
    </dgm:pt>
    <dgm:pt modelId="{7C4F2746-BE35-4CC8-B175-1994D87FCDBD}" type="parTrans" cxnId="{A2A95BFC-4D01-4E5F-B12B-F35CB5D640B1}">
      <dgm:prSet/>
      <dgm:spPr/>
      <dgm:t>
        <a:bodyPr/>
        <a:lstStyle/>
        <a:p>
          <a:endParaRPr lang="en-US"/>
        </a:p>
      </dgm:t>
    </dgm:pt>
    <dgm:pt modelId="{D79DDC79-3B33-4DB9-BB26-BA19D645FB06}" type="sibTrans" cxnId="{A2A95BFC-4D01-4E5F-B12B-F35CB5D640B1}">
      <dgm:prSet/>
      <dgm:spPr/>
      <dgm:t>
        <a:bodyPr/>
        <a:lstStyle/>
        <a:p>
          <a:endParaRPr lang="en-US"/>
        </a:p>
      </dgm:t>
    </dgm:pt>
    <dgm:pt modelId="{A57E6EDC-C550-425B-BBCF-0DFCAEE2D865}" type="pres">
      <dgm:prSet presAssocID="{3CEB8682-8177-4E7B-AABB-DE4F3D3C0445}" presName="vert0" presStyleCnt="0">
        <dgm:presLayoutVars>
          <dgm:dir/>
          <dgm:animOne val="branch"/>
          <dgm:animLvl val="lvl"/>
        </dgm:presLayoutVars>
      </dgm:prSet>
      <dgm:spPr/>
    </dgm:pt>
    <dgm:pt modelId="{0E171E3B-0F80-4B0D-882D-93AE9E45F20D}" type="pres">
      <dgm:prSet presAssocID="{292B1721-1867-447E-9910-2DC9A007DB80}" presName="thickLine" presStyleLbl="alignNode1" presStyleIdx="0" presStyleCnt="4"/>
      <dgm:spPr/>
    </dgm:pt>
    <dgm:pt modelId="{4BD43545-DE78-4355-A921-2F99F7CEC7BE}" type="pres">
      <dgm:prSet presAssocID="{292B1721-1867-447E-9910-2DC9A007DB80}" presName="horz1" presStyleCnt="0"/>
      <dgm:spPr/>
    </dgm:pt>
    <dgm:pt modelId="{64EFFB60-F35B-4D0F-BCE4-685E27D70F3A}" type="pres">
      <dgm:prSet presAssocID="{292B1721-1867-447E-9910-2DC9A007DB80}" presName="tx1" presStyleLbl="revTx" presStyleIdx="0" presStyleCnt="4"/>
      <dgm:spPr/>
    </dgm:pt>
    <dgm:pt modelId="{79BA7BAF-D35B-4A73-87FE-DEED73EEF958}" type="pres">
      <dgm:prSet presAssocID="{292B1721-1867-447E-9910-2DC9A007DB80}" presName="vert1" presStyleCnt="0"/>
      <dgm:spPr/>
    </dgm:pt>
    <dgm:pt modelId="{D508E2DC-F0B9-48B1-B4BE-F7F6EFB9BC01}" type="pres">
      <dgm:prSet presAssocID="{ED199207-ED26-41FA-BEFD-37AA4E147D7A}" presName="thickLine" presStyleLbl="alignNode1" presStyleIdx="1" presStyleCnt="4"/>
      <dgm:spPr/>
    </dgm:pt>
    <dgm:pt modelId="{DFA173F1-A672-40D1-846E-D91DD957D6B6}" type="pres">
      <dgm:prSet presAssocID="{ED199207-ED26-41FA-BEFD-37AA4E147D7A}" presName="horz1" presStyleCnt="0"/>
      <dgm:spPr/>
    </dgm:pt>
    <dgm:pt modelId="{15419866-40CD-42BE-8F34-37F7C761A4A9}" type="pres">
      <dgm:prSet presAssocID="{ED199207-ED26-41FA-BEFD-37AA4E147D7A}" presName="tx1" presStyleLbl="revTx" presStyleIdx="1" presStyleCnt="4"/>
      <dgm:spPr/>
    </dgm:pt>
    <dgm:pt modelId="{F3467949-758C-40A8-BC1B-188240D7FF45}" type="pres">
      <dgm:prSet presAssocID="{ED199207-ED26-41FA-BEFD-37AA4E147D7A}" presName="vert1" presStyleCnt="0"/>
      <dgm:spPr/>
    </dgm:pt>
    <dgm:pt modelId="{83F62B8D-255A-425F-81AB-D93D09730B98}" type="pres">
      <dgm:prSet presAssocID="{C653BAF3-14FD-4D7E-AF46-3327A52A8FDC}" presName="thickLine" presStyleLbl="alignNode1" presStyleIdx="2" presStyleCnt="4"/>
      <dgm:spPr/>
    </dgm:pt>
    <dgm:pt modelId="{A88C9117-6F92-4D36-84CA-DBDC89B33492}" type="pres">
      <dgm:prSet presAssocID="{C653BAF3-14FD-4D7E-AF46-3327A52A8FDC}" presName="horz1" presStyleCnt="0"/>
      <dgm:spPr/>
    </dgm:pt>
    <dgm:pt modelId="{DBBA2F47-95AE-4DBA-9181-DA6CBA84A19E}" type="pres">
      <dgm:prSet presAssocID="{C653BAF3-14FD-4D7E-AF46-3327A52A8FDC}" presName="tx1" presStyleLbl="revTx" presStyleIdx="2" presStyleCnt="4"/>
      <dgm:spPr/>
    </dgm:pt>
    <dgm:pt modelId="{E34BE90A-E9AF-467B-ACA4-A8A1FE09EACA}" type="pres">
      <dgm:prSet presAssocID="{C653BAF3-14FD-4D7E-AF46-3327A52A8FDC}" presName="vert1" presStyleCnt="0"/>
      <dgm:spPr/>
    </dgm:pt>
    <dgm:pt modelId="{08C580BE-C462-4C53-87A3-56E938366B82}" type="pres">
      <dgm:prSet presAssocID="{716FBD32-2343-43E7-8BC9-FF20BD14EF59}" presName="thickLine" presStyleLbl="alignNode1" presStyleIdx="3" presStyleCnt="4"/>
      <dgm:spPr/>
    </dgm:pt>
    <dgm:pt modelId="{490C8B10-43BC-48B0-841F-A52184C6B300}" type="pres">
      <dgm:prSet presAssocID="{716FBD32-2343-43E7-8BC9-FF20BD14EF59}" presName="horz1" presStyleCnt="0"/>
      <dgm:spPr/>
    </dgm:pt>
    <dgm:pt modelId="{6D5362B9-5F19-4945-B7D4-C9DF3F0467FD}" type="pres">
      <dgm:prSet presAssocID="{716FBD32-2343-43E7-8BC9-FF20BD14EF59}" presName="tx1" presStyleLbl="revTx" presStyleIdx="3" presStyleCnt="4"/>
      <dgm:spPr/>
    </dgm:pt>
    <dgm:pt modelId="{76F15E55-3369-47F7-8D25-7C1B4B59E206}" type="pres">
      <dgm:prSet presAssocID="{716FBD32-2343-43E7-8BC9-FF20BD14EF59}" presName="vert1" presStyleCnt="0"/>
      <dgm:spPr/>
    </dgm:pt>
  </dgm:ptLst>
  <dgm:cxnLst>
    <dgm:cxn modelId="{83FFA003-38DC-4E68-90EC-AF9E2177D7C8}" srcId="{3CEB8682-8177-4E7B-AABB-DE4F3D3C0445}" destId="{ED199207-ED26-41FA-BEFD-37AA4E147D7A}" srcOrd="1" destOrd="0" parTransId="{8FD2CF19-61E9-451F-9705-2B4EF0B4DA9C}" sibTransId="{19A90FDA-A8BF-43F8-A509-89DE06430FF5}"/>
    <dgm:cxn modelId="{2B077839-5DC4-4CE8-8352-5AA05AC76D5C}" srcId="{3CEB8682-8177-4E7B-AABB-DE4F3D3C0445}" destId="{C653BAF3-14FD-4D7E-AF46-3327A52A8FDC}" srcOrd="2" destOrd="0" parTransId="{B688EF57-B096-4F33-9293-C54784B5AFDC}" sibTransId="{61F5A92F-1BAD-4B8C-A683-652C487CCEC9}"/>
    <dgm:cxn modelId="{446AFC64-0777-456A-94B3-AC0B89D1C10A}" type="presOf" srcId="{3CEB8682-8177-4E7B-AABB-DE4F3D3C0445}" destId="{A57E6EDC-C550-425B-BBCF-0DFCAEE2D865}" srcOrd="0" destOrd="0" presId="urn:microsoft.com/office/officeart/2008/layout/LinedList"/>
    <dgm:cxn modelId="{4952BB86-1FFB-47A8-A55C-B1CEE705D44A}" type="presOf" srcId="{C653BAF3-14FD-4D7E-AF46-3327A52A8FDC}" destId="{DBBA2F47-95AE-4DBA-9181-DA6CBA84A19E}" srcOrd="0" destOrd="0" presId="urn:microsoft.com/office/officeart/2008/layout/LinedList"/>
    <dgm:cxn modelId="{EC9FB8D3-55B2-489D-95E8-B0A7BA7E0750}" srcId="{3CEB8682-8177-4E7B-AABB-DE4F3D3C0445}" destId="{292B1721-1867-447E-9910-2DC9A007DB80}" srcOrd="0" destOrd="0" parTransId="{72E3A36A-5B0A-420B-B24C-12881D7CC3EC}" sibTransId="{96AB80B4-0BA9-406A-992C-95F44F26D517}"/>
    <dgm:cxn modelId="{BF56BDD7-F290-4765-93B7-6F9BCC4F7416}" type="presOf" srcId="{716FBD32-2343-43E7-8BC9-FF20BD14EF59}" destId="{6D5362B9-5F19-4945-B7D4-C9DF3F0467FD}" srcOrd="0" destOrd="0" presId="urn:microsoft.com/office/officeart/2008/layout/LinedList"/>
    <dgm:cxn modelId="{43D229E9-922A-4B8A-8657-260B36448415}" type="presOf" srcId="{292B1721-1867-447E-9910-2DC9A007DB80}" destId="{64EFFB60-F35B-4D0F-BCE4-685E27D70F3A}" srcOrd="0" destOrd="0" presId="urn:microsoft.com/office/officeart/2008/layout/LinedList"/>
    <dgm:cxn modelId="{48BA45ED-221E-4182-8CE3-A6FFB03B8955}" type="presOf" srcId="{ED199207-ED26-41FA-BEFD-37AA4E147D7A}" destId="{15419866-40CD-42BE-8F34-37F7C761A4A9}" srcOrd="0" destOrd="0" presId="urn:microsoft.com/office/officeart/2008/layout/LinedList"/>
    <dgm:cxn modelId="{A2A95BFC-4D01-4E5F-B12B-F35CB5D640B1}" srcId="{3CEB8682-8177-4E7B-AABB-DE4F3D3C0445}" destId="{716FBD32-2343-43E7-8BC9-FF20BD14EF59}" srcOrd="3" destOrd="0" parTransId="{7C4F2746-BE35-4CC8-B175-1994D87FCDBD}" sibTransId="{D79DDC79-3B33-4DB9-BB26-BA19D645FB06}"/>
    <dgm:cxn modelId="{54F414D8-CBDE-4A30-BFE0-188CE563D7A9}" type="presParOf" srcId="{A57E6EDC-C550-425B-BBCF-0DFCAEE2D865}" destId="{0E171E3B-0F80-4B0D-882D-93AE9E45F20D}" srcOrd="0" destOrd="0" presId="urn:microsoft.com/office/officeart/2008/layout/LinedList"/>
    <dgm:cxn modelId="{60BFC272-EEE4-4E85-BD23-ABF8886973E4}" type="presParOf" srcId="{A57E6EDC-C550-425B-BBCF-0DFCAEE2D865}" destId="{4BD43545-DE78-4355-A921-2F99F7CEC7BE}" srcOrd="1" destOrd="0" presId="urn:microsoft.com/office/officeart/2008/layout/LinedList"/>
    <dgm:cxn modelId="{85805674-91AC-4D4E-8FB6-DC0C84DBEE74}" type="presParOf" srcId="{4BD43545-DE78-4355-A921-2F99F7CEC7BE}" destId="{64EFFB60-F35B-4D0F-BCE4-685E27D70F3A}" srcOrd="0" destOrd="0" presId="urn:microsoft.com/office/officeart/2008/layout/LinedList"/>
    <dgm:cxn modelId="{01C7DBD4-5D5A-45CC-8723-C53D2EC0C91B}" type="presParOf" srcId="{4BD43545-DE78-4355-A921-2F99F7CEC7BE}" destId="{79BA7BAF-D35B-4A73-87FE-DEED73EEF958}" srcOrd="1" destOrd="0" presId="urn:microsoft.com/office/officeart/2008/layout/LinedList"/>
    <dgm:cxn modelId="{FE139F45-A026-4C10-8FD5-1FE151AEAD4B}" type="presParOf" srcId="{A57E6EDC-C550-425B-BBCF-0DFCAEE2D865}" destId="{D508E2DC-F0B9-48B1-B4BE-F7F6EFB9BC01}" srcOrd="2" destOrd="0" presId="urn:microsoft.com/office/officeart/2008/layout/LinedList"/>
    <dgm:cxn modelId="{F4C29BFB-BFA3-466B-897C-7E4EA9A14396}" type="presParOf" srcId="{A57E6EDC-C550-425B-BBCF-0DFCAEE2D865}" destId="{DFA173F1-A672-40D1-846E-D91DD957D6B6}" srcOrd="3" destOrd="0" presId="urn:microsoft.com/office/officeart/2008/layout/LinedList"/>
    <dgm:cxn modelId="{EAC1611A-20CE-4F56-BDBE-3E0A14D6C73A}" type="presParOf" srcId="{DFA173F1-A672-40D1-846E-D91DD957D6B6}" destId="{15419866-40CD-42BE-8F34-37F7C761A4A9}" srcOrd="0" destOrd="0" presId="urn:microsoft.com/office/officeart/2008/layout/LinedList"/>
    <dgm:cxn modelId="{79E60B78-999B-494F-8E5A-ECCBEB4A0B68}" type="presParOf" srcId="{DFA173F1-A672-40D1-846E-D91DD957D6B6}" destId="{F3467949-758C-40A8-BC1B-188240D7FF45}" srcOrd="1" destOrd="0" presId="urn:microsoft.com/office/officeart/2008/layout/LinedList"/>
    <dgm:cxn modelId="{5E531001-5298-4CA1-B803-BD4F81964112}" type="presParOf" srcId="{A57E6EDC-C550-425B-BBCF-0DFCAEE2D865}" destId="{83F62B8D-255A-425F-81AB-D93D09730B98}" srcOrd="4" destOrd="0" presId="urn:microsoft.com/office/officeart/2008/layout/LinedList"/>
    <dgm:cxn modelId="{3DD962B7-0B80-4730-B3FC-8F725E824A6A}" type="presParOf" srcId="{A57E6EDC-C550-425B-BBCF-0DFCAEE2D865}" destId="{A88C9117-6F92-4D36-84CA-DBDC89B33492}" srcOrd="5" destOrd="0" presId="urn:microsoft.com/office/officeart/2008/layout/LinedList"/>
    <dgm:cxn modelId="{E48F41F5-9B2B-44FD-95AF-147D359EAA81}" type="presParOf" srcId="{A88C9117-6F92-4D36-84CA-DBDC89B33492}" destId="{DBBA2F47-95AE-4DBA-9181-DA6CBA84A19E}" srcOrd="0" destOrd="0" presId="urn:microsoft.com/office/officeart/2008/layout/LinedList"/>
    <dgm:cxn modelId="{FA7DBB47-44D4-4ACA-8B27-12E8C6DD88A9}" type="presParOf" srcId="{A88C9117-6F92-4D36-84CA-DBDC89B33492}" destId="{E34BE90A-E9AF-467B-ACA4-A8A1FE09EACA}" srcOrd="1" destOrd="0" presId="urn:microsoft.com/office/officeart/2008/layout/LinedList"/>
    <dgm:cxn modelId="{9B6FEF50-C9BF-45AD-9A2D-E549CC96A6B4}" type="presParOf" srcId="{A57E6EDC-C550-425B-BBCF-0DFCAEE2D865}" destId="{08C580BE-C462-4C53-87A3-56E938366B82}" srcOrd="6" destOrd="0" presId="urn:microsoft.com/office/officeart/2008/layout/LinedList"/>
    <dgm:cxn modelId="{2AF1E900-027A-4F20-BBE1-1A5EE7630B2E}" type="presParOf" srcId="{A57E6EDC-C550-425B-BBCF-0DFCAEE2D865}" destId="{490C8B10-43BC-48B0-841F-A52184C6B300}" srcOrd="7" destOrd="0" presId="urn:microsoft.com/office/officeart/2008/layout/LinedList"/>
    <dgm:cxn modelId="{6A751AFE-4A87-4C2C-9A61-14472C7A15EE}" type="presParOf" srcId="{490C8B10-43BC-48B0-841F-A52184C6B300}" destId="{6D5362B9-5F19-4945-B7D4-C9DF3F0467FD}" srcOrd="0" destOrd="0" presId="urn:microsoft.com/office/officeart/2008/layout/LinedList"/>
    <dgm:cxn modelId="{0490C433-4EE5-4E38-B62C-68BD4CB76320}" type="presParOf" srcId="{490C8B10-43BC-48B0-841F-A52184C6B300}" destId="{76F15E55-3369-47F7-8D25-7C1B4B59E20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149E606-3393-1947-A9A8-DA1EE376006F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GB"/>
        </a:p>
      </dgm:t>
    </dgm:pt>
    <dgm:pt modelId="{80347C12-EF74-0446-9BB8-6E76A5F831FD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/>
            <a:t>GDP only measures recorded market activity.</a:t>
          </a:r>
          <a:endParaRPr lang="en-NZ"/>
        </a:p>
      </dgm:t>
    </dgm:pt>
    <dgm:pt modelId="{22D33FF8-790E-AD4A-9B0A-E4EA4C69CED0}" type="parTrans" cxnId="{79E7CDB9-B97F-D34D-BE73-7D6588A0B775}">
      <dgm:prSet/>
      <dgm:spPr/>
      <dgm:t>
        <a:bodyPr/>
        <a:lstStyle/>
        <a:p>
          <a:endParaRPr lang="en-GB"/>
        </a:p>
      </dgm:t>
    </dgm:pt>
    <dgm:pt modelId="{AD48894D-028F-0940-8C40-F2D4710DF6C7}" type="sibTrans" cxnId="{79E7CDB9-B97F-D34D-BE73-7D6588A0B775}">
      <dgm:prSet/>
      <dgm:spPr/>
      <dgm:t>
        <a:bodyPr/>
        <a:lstStyle/>
        <a:p>
          <a:endParaRPr lang="en-GB"/>
        </a:p>
      </dgm:t>
    </dgm:pt>
    <dgm:pt modelId="{A299729D-CB2D-154B-903A-9444A6B62080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 dirty="0"/>
            <a:t>It does not measure the value of goods and services provided voluntarily.</a:t>
          </a:r>
          <a:endParaRPr lang="en-NZ" dirty="0"/>
        </a:p>
      </dgm:t>
    </dgm:pt>
    <dgm:pt modelId="{B5B1CE74-7791-B842-A3FB-07C0B7FC7404}" type="parTrans" cxnId="{D766A09F-7172-524B-9E44-4B2D7ED3A160}">
      <dgm:prSet/>
      <dgm:spPr/>
      <dgm:t>
        <a:bodyPr/>
        <a:lstStyle/>
        <a:p>
          <a:endParaRPr lang="en-GB"/>
        </a:p>
      </dgm:t>
    </dgm:pt>
    <dgm:pt modelId="{C5242143-233D-4645-B9C2-78E8830BBE0F}" type="sibTrans" cxnId="{D766A09F-7172-524B-9E44-4B2D7ED3A160}">
      <dgm:prSet/>
      <dgm:spPr/>
      <dgm:t>
        <a:bodyPr/>
        <a:lstStyle/>
        <a:p>
          <a:endParaRPr lang="en-GB"/>
        </a:p>
      </dgm:t>
    </dgm:pt>
    <dgm:pt modelId="{33985DAA-1BF1-9B40-AA1D-8DFA7679A7C6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 dirty="0"/>
            <a:t>It does not measure the value of goods and services produced illegally.</a:t>
          </a:r>
          <a:endParaRPr lang="en-NZ" dirty="0"/>
        </a:p>
      </dgm:t>
    </dgm:pt>
    <dgm:pt modelId="{59B07759-A172-AA4A-9875-AB91346C32C4}" type="parTrans" cxnId="{F394D24C-4BF3-574D-84C2-EDEF6F28B3FB}">
      <dgm:prSet/>
      <dgm:spPr/>
      <dgm:t>
        <a:bodyPr/>
        <a:lstStyle/>
        <a:p>
          <a:endParaRPr lang="en-GB"/>
        </a:p>
      </dgm:t>
    </dgm:pt>
    <dgm:pt modelId="{378BDC61-B3FF-F943-8E1D-14BAE66DDD17}" type="sibTrans" cxnId="{F394D24C-4BF3-574D-84C2-EDEF6F28B3FB}">
      <dgm:prSet/>
      <dgm:spPr/>
      <dgm:t>
        <a:bodyPr/>
        <a:lstStyle/>
        <a:p>
          <a:endParaRPr lang="en-GB"/>
        </a:p>
      </dgm:t>
    </dgm:pt>
    <dgm:pt modelId="{23C842B1-C5AF-C243-A25E-BAF9AD364352}" type="pres">
      <dgm:prSet presAssocID="{E149E606-3393-1947-A9A8-DA1EE376006F}" presName="rootnode" presStyleCnt="0">
        <dgm:presLayoutVars>
          <dgm:chMax/>
          <dgm:chPref/>
          <dgm:dir/>
          <dgm:animLvl val="lvl"/>
        </dgm:presLayoutVars>
      </dgm:prSet>
      <dgm:spPr/>
    </dgm:pt>
    <dgm:pt modelId="{38B806AF-CEF0-B54C-9703-17B04D12F068}" type="pres">
      <dgm:prSet presAssocID="{80347C12-EF74-0446-9BB8-6E76A5F831FD}" presName="composite" presStyleCnt="0"/>
      <dgm:spPr/>
    </dgm:pt>
    <dgm:pt modelId="{EA9C066C-4AAF-0848-A03E-D6A9D3FD81DB}" type="pres">
      <dgm:prSet presAssocID="{80347C12-EF74-0446-9BB8-6E76A5F831FD}" presName="bentUpArrow1" presStyleLbl="alignImgPlace1" presStyleIdx="0" presStyleCnt="2"/>
      <dgm:spPr/>
    </dgm:pt>
    <dgm:pt modelId="{9E4842CB-4516-1F4E-B27A-E4B14CA0DC7E}" type="pres">
      <dgm:prSet presAssocID="{80347C12-EF74-0446-9BB8-6E76A5F831FD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3EDBF6F4-3E4F-2D4C-BB30-67AA7C997682}" type="pres">
      <dgm:prSet presAssocID="{80347C12-EF74-0446-9BB8-6E76A5F831FD}" presName="Child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08F86FE3-0FC3-5F4C-AE8A-2DF1571A0FA6}" type="pres">
      <dgm:prSet presAssocID="{AD48894D-028F-0940-8C40-F2D4710DF6C7}" presName="sibTrans" presStyleCnt="0"/>
      <dgm:spPr/>
    </dgm:pt>
    <dgm:pt modelId="{D72E894B-E916-9B4A-A2D2-877F91658A44}" type="pres">
      <dgm:prSet presAssocID="{A299729D-CB2D-154B-903A-9444A6B62080}" presName="composite" presStyleCnt="0"/>
      <dgm:spPr/>
    </dgm:pt>
    <dgm:pt modelId="{EF11E611-3332-4649-97E5-156103BA6227}" type="pres">
      <dgm:prSet presAssocID="{A299729D-CB2D-154B-903A-9444A6B62080}" presName="bentUpArrow1" presStyleLbl="alignImgPlace1" presStyleIdx="1" presStyleCnt="2"/>
      <dgm:spPr/>
    </dgm:pt>
    <dgm:pt modelId="{242ADD3E-B962-5044-A5AF-5C20B1A34F25}" type="pres">
      <dgm:prSet presAssocID="{A299729D-CB2D-154B-903A-9444A6B62080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0BB0D1E3-27B7-304A-BB95-C9E5E5339523}" type="pres">
      <dgm:prSet presAssocID="{A299729D-CB2D-154B-903A-9444A6B62080}" presName="ChildText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8A71CF97-EF7E-D948-8327-27B9ADAE11BF}" type="pres">
      <dgm:prSet presAssocID="{C5242143-233D-4645-B9C2-78E8830BBE0F}" presName="sibTrans" presStyleCnt="0"/>
      <dgm:spPr/>
    </dgm:pt>
    <dgm:pt modelId="{C40D5393-DE41-2E4D-B028-1A75C9C4F20D}" type="pres">
      <dgm:prSet presAssocID="{33985DAA-1BF1-9B40-AA1D-8DFA7679A7C6}" presName="composite" presStyleCnt="0"/>
      <dgm:spPr/>
    </dgm:pt>
    <dgm:pt modelId="{993C70B6-CA16-704C-BF6C-5DE69287E994}" type="pres">
      <dgm:prSet presAssocID="{33985DAA-1BF1-9B40-AA1D-8DFA7679A7C6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F394D24C-4BF3-574D-84C2-EDEF6F28B3FB}" srcId="{E149E606-3393-1947-A9A8-DA1EE376006F}" destId="{33985DAA-1BF1-9B40-AA1D-8DFA7679A7C6}" srcOrd="2" destOrd="0" parTransId="{59B07759-A172-AA4A-9875-AB91346C32C4}" sibTransId="{378BDC61-B3FF-F943-8E1D-14BAE66DDD17}"/>
    <dgm:cxn modelId="{33D75483-589B-5B42-8AF4-76DD513449AA}" type="presOf" srcId="{33985DAA-1BF1-9B40-AA1D-8DFA7679A7C6}" destId="{993C70B6-CA16-704C-BF6C-5DE69287E994}" srcOrd="0" destOrd="0" presId="urn:microsoft.com/office/officeart/2005/8/layout/StepDownProcess"/>
    <dgm:cxn modelId="{CEBA0B89-81E8-0244-B7A4-E23AB0AE0DAA}" type="presOf" srcId="{80347C12-EF74-0446-9BB8-6E76A5F831FD}" destId="{9E4842CB-4516-1F4E-B27A-E4B14CA0DC7E}" srcOrd="0" destOrd="0" presId="urn:microsoft.com/office/officeart/2005/8/layout/StepDownProcess"/>
    <dgm:cxn modelId="{3225258B-34BF-7646-B0F5-96240161D265}" type="presOf" srcId="{A299729D-CB2D-154B-903A-9444A6B62080}" destId="{242ADD3E-B962-5044-A5AF-5C20B1A34F25}" srcOrd="0" destOrd="0" presId="urn:microsoft.com/office/officeart/2005/8/layout/StepDownProcess"/>
    <dgm:cxn modelId="{D766A09F-7172-524B-9E44-4B2D7ED3A160}" srcId="{E149E606-3393-1947-A9A8-DA1EE376006F}" destId="{A299729D-CB2D-154B-903A-9444A6B62080}" srcOrd="1" destOrd="0" parTransId="{B5B1CE74-7791-B842-A3FB-07C0B7FC7404}" sibTransId="{C5242143-233D-4645-B9C2-78E8830BBE0F}"/>
    <dgm:cxn modelId="{79E7CDB9-B97F-D34D-BE73-7D6588A0B775}" srcId="{E149E606-3393-1947-A9A8-DA1EE376006F}" destId="{80347C12-EF74-0446-9BB8-6E76A5F831FD}" srcOrd="0" destOrd="0" parTransId="{22D33FF8-790E-AD4A-9B0A-E4EA4C69CED0}" sibTransId="{AD48894D-028F-0940-8C40-F2D4710DF6C7}"/>
    <dgm:cxn modelId="{774C24FF-352D-F44B-906F-2D1D86F24066}" type="presOf" srcId="{E149E606-3393-1947-A9A8-DA1EE376006F}" destId="{23C842B1-C5AF-C243-A25E-BAF9AD364352}" srcOrd="0" destOrd="0" presId="urn:microsoft.com/office/officeart/2005/8/layout/StepDownProcess"/>
    <dgm:cxn modelId="{2606899E-ADD7-6A48-B1EE-26C62ACF0A41}" type="presParOf" srcId="{23C842B1-C5AF-C243-A25E-BAF9AD364352}" destId="{38B806AF-CEF0-B54C-9703-17B04D12F068}" srcOrd="0" destOrd="0" presId="urn:microsoft.com/office/officeart/2005/8/layout/StepDownProcess"/>
    <dgm:cxn modelId="{15719F5E-DB62-4A4A-9075-E049A0D165FA}" type="presParOf" srcId="{38B806AF-CEF0-B54C-9703-17B04D12F068}" destId="{EA9C066C-4AAF-0848-A03E-D6A9D3FD81DB}" srcOrd="0" destOrd="0" presId="urn:microsoft.com/office/officeart/2005/8/layout/StepDownProcess"/>
    <dgm:cxn modelId="{9BC5F114-D9D5-0C45-90F4-1A8FCD4F0C20}" type="presParOf" srcId="{38B806AF-CEF0-B54C-9703-17B04D12F068}" destId="{9E4842CB-4516-1F4E-B27A-E4B14CA0DC7E}" srcOrd="1" destOrd="0" presId="urn:microsoft.com/office/officeart/2005/8/layout/StepDownProcess"/>
    <dgm:cxn modelId="{74C58C15-4171-714D-A973-495054F641EE}" type="presParOf" srcId="{38B806AF-CEF0-B54C-9703-17B04D12F068}" destId="{3EDBF6F4-3E4F-2D4C-BB30-67AA7C997682}" srcOrd="2" destOrd="0" presId="urn:microsoft.com/office/officeart/2005/8/layout/StepDownProcess"/>
    <dgm:cxn modelId="{9421A5F6-FC74-3A4B-AF0C-C3BAF34F0234}" type="presParOf" srcId="{23C842B1-C5AF-C243-A25E-BAF9AD364352}" destId="{08F86FE3-0FC3-5F4C-AE8A-2DF1571A0FA6}" srcOrd="1" destOrd="0" presId="urn:microsoft.com/office/officeart/2005/8/layout/StepDownProcess"/>
    <dgm:cxn modelId="{087DC307-7DF8-E246-AB9C-5E8BD31F00B9}" type="presParOf" srcId="{23C842B1-C5AF-C243-A25E-BAF9AD364352}" destId="{D72E894B-E916-9B4A-A2D2-877F91658A44}" srcOrd="2" destOrd="0" presId="urn:microsoft.com/office/officeart/2005/8/layout/StepDownProcess"/>
    <dgm:cxn modelId="{56888BCE-8F38-0944-BF0C-0EFBE75F3CDF}" type="presParOf" srcId="{D72E894B-E916-9B4A-A2D2-877F91658A44}" destId="{EF11E611-3332-4649-97E5-156103BA6227}" srcOrd="0" destOrd="0" presId="urn:microsoft.com/office/officeart/2005/8/layout/StepDownProcess"/>
    <dgm:cxn modelId="{C914FDD2-3131-D646-BBCD-304B74006BE6}" type="presParOf" srcId="{D72E894B-E916-9B4A-A2D2-877F91658A44}" destId="{242ADD3E-B962-5044-A5AF-5C20B1A34F25}" srcOrd="1" destOrd="0" presId="urn:microsoft.com/office/officeart/2005/8/layout/StepDownProcess"/>
    <dgm:cxn modelId="{B88297C6-D819-E545-B81B-6A845401B3C8}" type="presParOf" srcId="{D72E894B-E916-9B4A-A2D2-877F91658A44}" destId="{0BB0D1E3-27B7-304A-BB95-C9E5E5339523}" srcOrd="2" destOrd="0" presId="urn:microsoft.com/office/officeart/2005/8/layout/StepDownProcess"/>
    <dgm:cxn modelId="{C61403FD-8336-1943-BFA9-CDFD0E396891}" type="presParOf" srcId="{23C842B1-C5AF-C243-A25E-BAF9AD364352}" destId="{8A71CF97-EF7E-D948-8327-27B9ADAE11BF}" srcOrd="3" destOrd="0" presId="urn:microsoft.com/office/officeart/2005/8/layout/StepDownProcess"/>
    <dgm:cxn modelId="{C42AF2F5-ABDD-DD40-B412-449B4FC6E00B}" type="presParOf" srcId="{23C842B1-C5AF-C243-A25E-BAF9AD364352}" destId="{C40D5393-DE41-2E4D-B028-1A75C9C4F20D}" srcOrd="4" destOrd="0" presId="urn:microsoft.com/office/officeart/2005/8/layout/StepDownProcess"/>
    <dgm:cxn modelId="{90DC3CD5-D5F2-4F4F-A5DD-9EF59E988BC5}" type="presParOf" srcId="{C40D5393-DE41-2E4D-B028-1A75C9C4F20D}" destId="{993C70B6-CA16-704C-BF6C-5DE69287E994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9B18783-F2C7-4ABC-98AB-991822161794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NZ"/>
        </a:p>
      </dgm:t>
    </dgm:pt>
    <dgm:pt modelId="{25E73F48-493C-472C-9624-D44B842CE2BB}">
      <dgm:prSet/>
      <dgm:spPr/>
      <dgm:t>
        <a:bodyPr/>
        <a:lstStyle/>
        <a:p>
          <a:r>
            <a:rPr lang="en-NZ"/>
            <a:t>Consumption (C)</a:t>
          </a:r>
        </a:p>
      </dgm:t>
    </dgm:pt>
    <dgm:pt modelId="{DA692FE7-7E26-47A3-AC02-54B9C9CE82D2}" type="parTrans" cxnId="{573119FF-1FB2-47EB-938E-F94B614E8EDB}">
      <dgm:prSet/>
      <dgm:spPr/>
      <dgm:t>
        <a:bodyPr/>
        <a:lstStyle/>
        <a:p>
          <a:endParaRPr lang="en-NZ"/>
        </a:p>
      </dgm:t>
    </dgm:pt>
    <dgm:pt modelId="{922FC99C-59C9-4F16-A8E7-4AC314EFD1A7}" type="sibTrans" cxnId="{573119FF-1FB2-47EB-938E-F94B614E8EDB}">
      <dgm:prSet/>
      <dgm:spPr/>
      <dgm:t>
        <a:bodyPr/>
        <a:lstStyle/>
        <a:p>
          <a:endParaRPr lang="en-NZ"/>
        </a:p>
      </dgm:t>
    </dgm:pt>
    <dgm:pt modelId="{5A2B02A4-76AD-44D8-9538-B0E0C3CF2EFD}">
      <dgm:prSet/>
      <dgm:spPr/>
      <dgm:t>
        <a:bodyPr/>
        <a:lstStyle/>
        <a:p>
          <a:r>
            <a:rPr lang="en-NZ"/>
            <a:t>Goods and services purchased by households.</a:t>
          </a:r>
        </a:p>
      </dgm:t>
    </dgm:pt>
    <dgm:pt modelId="{9E225B2B-BDB0-4DE3-A1CF-5ECB5E1C21EF}" type="parTrans" cxnId="{9DF500C9-DAE0-4F4A-A1B7-B04EE904B5F9}">
      <dgm:prSet/>
      <dgm:spPr/>
      <dgm:t>
        <a:bodyPr/>
        <a:lstStyle/>
        <a:p>
          <a:endParaRPr lang="en-NZ"/>
        </a:p>
      </dgm:t>
    </dgm:pt>
    <dgm:pt modelId="{315ECCDB-8E3A-4789-A50A-F02AE52E23A5}" type="sibTrans" cxnId="{9DF500C9-DAE0-4F4A-A1B7-B04EE904B5F9}">
      <dgm:prSet/>
      <dgm:spPr/>
      <dgm:t>
        <a:bodyPr/>
        <a:lstStyle/>
        <a:p>
          <a:endParaRPr lang="en-NZ"/>
        </a:p>
      </dgm:t>
    </dgm:pt>
    <dgm:pt modelId="{6986609F-D3B2-48BB-8FEC-55FA1E5722CE}">
      <dgm:prSet/>
      <dgm:spPr/>
      <dgm:t>
        <a:bodyPr/>
        <a:lstStyle/>
        <a:p>
          <a:r>
            <a:rPr lang="en-NZ"/>
            <a:t>Includes spending on durable goods.</a:t>
          </a:r>
        </a:p>
      </dgm:t>
    </dgm:pt>
    <dgm:pt modelId="{4D4839B6-BD7B-48C1-A072-74E2F9BC654A}" type="parTrans" cxnId="{1D19BF95-7792-4C02-B559-5AE5A50D6585}">
      <dgm:prSet/>
      <dgm:spPr/>
      <dgm:t>
        <a:bodyPr/>
        <a:lstStyle/>
        <a:p>
          <a:endParaRPr lang="en-NZ"/>
        </a:p>
      </dgm:t>
    </dgm:pt>
    <dgm:pt modelId="{926CBDC0-231D-49B5-A2E4-BADEB7A47A38}" type="sibTrans" cxnId="{1D19BF95-7792-4C02-B559-5AE5A50D6585}">
      <dgm:prSet/>
      <dgm:spPr/>
      <dgm:t>
        <a:bodyPr/>
        <a:lstStyle/>
        <a:p>
          <a:endParaRPr lang="en-NZ"/>
        </a:p>
      </dgm:t>
    </dgm:pt>
    <dgm:pt modelId="{57C8D003-86F4-4B82-9FAE-1B4E77E85359}">
      <dgm:prSet/>
      <dgm:spPr/>
      <dgm:t>
        <a:bodyPr/>
        <a:lstStyle/>
        <a:p>
          <a:r>
            <a:rPr lang="en-NZ"/>
            <a:t>Investment (I)</a:t>
          </a:r>
        </a:p>
      </dgm:t>
    </dgm:pt>
    <dgm:pt modelId="{DFBF1422-9630-4442-9076-DDA785BFB210}" type="parTrans" cxnId="{79955618-2BD4-4E7D-8B42-2FB1D59515C9}">
      <dgm:prSet/>
      <dgm:spPr/>
      <dgm:t>
        <a:bodyPr/>
        <a:lstStyle/>
        <a:p>
          <a:endParaRPr lang="en-NZ"/>
        </a:p>
      </dgm:t>
    </dgm:pt>
    <dgm:pt modelId="{DCC22A48-31E2-4CC3-956B-004BAC74E7AC}" type="sibTrans" cxnId="{79955618-2BD4-4E7D-8B42-2FB1D59515C9}">
      <dgm:prSet/>
      <dgm:spPr/>
      <dgm:t>
        <a:bodyPr/>
        <a:lstStyle/>
        <a:p>
          <a:endParaRPr lang="en-NZ"/>
        </a:p>
      </dgm:t>
    </dgm:pt>
    <dgm:pt modelId="{C00A33D3-3024-45C1-B314-33039792B4FC}">
      <dgm:prSet/>
      <dgm:spPr/>
      <dgm:t>
        <a:bodyPr/>
        <a:lstStyle/>
        <a:p>
          <a:r>
            <a:rPr lang="en-NZ"/>
            <a:t>Expenditure by firms on newly produced capital goods.</a:t>
          </a:r>
        </a:p>
      </dgm:t>
    </dgm:pt>
    <dgm:pt modelId="{8249BE14-8B69-4084-B44B-9ED3D7312255}" type="parTrans" cxnId="{C9A05E8D-6B74-48CC-A215-58DCC18B1B2A}">
      <dgm:prSet/>
      <dgm:spPr/>
      <dgm:t>
        <a:bodyPr/>
        <a:lstStyle/>
        <a:p>
          <a:endParaRPr lang="en-NZ"/>
        </a:p>
      </dgm:t>
    </dgm:pt>
    <dgm:pt modelId="{DE1881F7-7559-44B7-8760-5BB020BE16F2}" type="sibTrans" cxnId="{C9A05E8D-6B74-48CC-A215-58DCC18B1B2A}">
      <dgm:prSet/>
      <dgm:spPr/>
      <dgm:t>
        <a:bodyPr/>
        <a:lstStyle/>
        <a:p>
          <a:endParaRPr lang="en-NZ"/>
        </a:p>
      </dgm:t>
    </dgm:pt>
    <dgm:pt modelId="{A083495F-F13C-4087-86F1-C5CCF41CF3F0}">
      <dgm:prSet/>
      <dgm:spPr/>
      <dgm:t>
        <a:bodyPr/>
        <a:lstStyle/>
        <a:p>
          <a:r>
            <a:rPr lang="en-NZ"/>
            <a:t>Includes buildings and new housing.</a:t>
          </a:r>
        </a:p>
      </dgm:t>
    </dgm:pt>
    <dgm:pt modelId="{F20CE2DA-350F-456C-BE69-BBCFEDC3E4B7}" type="parTrans" cxnId="{552F5CA5-E206-41D9-8254-2F0E053E986B}">
      <dgm:prSet/>
      <dgm:spPr/>
      <dgm:t>
        <a:bodyPr/>
        <a:lstStyle/>
        <a:p>
          <a:endParaRPr lang="en-NZ"/>
        </a:p>
      </dgm:t>
    </dgm:pt>
    <dgm:pt modelId="{80564633-6CB4-42C0-9517-537D510C119F}" type="sibTrans" cxnId="{552F5CA5-E206-41D9-8254-2F0E053E986B}">
      <dgm:prSet/>
      <dgm:spPr/>
      <dgm:t>
        <a:bodyPr/>
        <a:lstStyle/>
        <a:p>
          <a:endParaRPr lang="en-NZ"/>
        </a:p>
      </dgm:t>
    </dgm:pt>
    <dgm:pt modelId="{B40CD7D8-1C04-4E73-AE74-88649E7A3875}">
      <dgm:prSet/>
      <dgm:spPr/>
      <dgm:t>
        <a:bodyPr/>
        <a:lstStyle/>
        <a:p>
          <a:r>
            <a:rPr lang="en-NZ"/>
            <a:t>Includes unsold output, categorised as inventories</a:t>
          </a:r>
        </a:p>
      </dgm:t>
    </dgm:pt>
    <dgm:pt modelId="{F26B8EEC-5EA6-4AC7-A766-FDFA52F50F18}" type="parTrans" cxnId="{2BC63A4E-6089-4122-BA0B-AC3AB7BA8397}">
      <dgm:prSet/>
      <dgm:spPr/>
      <dgm:t>
        <a:bodyPr/>
        <a:lstStyle/>
        <a:p>
          <a:endParaRPr lang="en-NZ"/>
        </a:p>
      </dgm:t>
    </dgm:pt>
    <dgm:pt modelId="{6F83F5B1-027E-428D-824C-5E2A0F3CDA0D}" type="sibTrans" cxnId="{2BC63A4E-6089-4122-BA0B-AC3AB7BA8397}">
      <dgm:prSet/>
      <dgm:spPr/>
      <dgm:t>
        <a:bodyPr/>
        <a:lstStyle/>
        <a:p>
          <a:endParaRPr lang="en-NZ"/>
        </a:p>
      </dgm:t>
    </dgm:pt>
    <dgm:pt modelId="{86E53872-10A5-4405-86D2-2B4B02430D66}">
      <dgm:prSet/>
      <dgm:spPr/>
      <dgm:t>
        <a:bodyPr/>
        <a:lstStyle/>
        <a:p>
          <a:r>
            <a:rPr lang="en-NZ"/>
            <a:t>Does not include purchase of financial assets (stocks, bonds)</a:t>
          </a:r>
        </a:p>
      </dgm:t>
    </dgm:pt>
    <dgm:pt modelId="{A3BE4100-F1EE-4171-BB7D-75C68FC74973}" type="parTrans" cxnId="{217E5E0C-99D2-4B5B-A790-4A4941546ED9}">
      <dgm:prSet/>
      <dgm:spPr/>
      <dgm:t>
        <a:bodyPr/>
        <a:lstStyle/>
        <a:p>
          <a:endParaRPr lang="en-NZ"/>
        </a:p>
      </dgm:t>
    </dgm:pt>
    <dgm:pt modelId="{37893189-E40B-4FD2-95DE-146042268EC3}" type="sibTrans" cxnId="{217E5E0C-99D2-4B5B-A790-4A4941546ED9}">
      <dgm:prSet/>
      <dgm:spPr/>
      <dgm:t>
        <a:bodyPr/>
        <a:lstStyle/>
        <a:p>
          <a:endParaRPr lang="en-NZ"/>
        </a:p>
      </dgm:t>
    </dgm:pt>
    <dgm:pt modelId="{FC814B84-6C05-4E7D-9C68-8CE8CBD89C59}" type="pres">
      <dgm:prSet presAssocID="{29B18783-F2C7-4ABC-98AB-991822161794}" presName="theList" presStyleCnt="0">
        <dgm:presLayoutVars>
          <dgm:dir/>
          <dgm:animLvl val="lvl"/>
          <dgm:resizeHandles val="exact"/>
        </dgm:presLayoutVars>
      </dgm:prSet>
      <dgm:spPr/>
    </dgm:pt>
    <dgm:pt modelId="{BFBB740D-C414-4B75-9039-3D9D98C7C5FE}" type="pres">
      <dgm:prSet presAssocID="{25E73F48-493C-472C-9624-D44B842CE2BB}" presName="compNode" presStyleCnt="0"/>
      <dgm:spPr/>
    </dgm:pt>
    <dgm:pt modelId="{1F004E63-C969-4F77-A8F5-99CF840A4576}" type="pres">
      <dgm:prSet presAssocID="{25E73F48-493C-472C-9624-D44B842CE2BB}" presName="aNode" presStyleLbl="bgShp" presStyleIdx="0" presStyleCnt="2"/>
      <dgm:spPr/>
    </dgm:pt>
    <dgm:pt modelId="{FB2F0D0C-0290-41D7-B572-DC9A79D46728}" type="pres">
      <dgm:prSet presAssocID="{25E73F48-493C-472C-9624-D44B842CE2BB}" presName="textNode" presStyleLbl="bgShp" presStyleIdx="0" presStyleCnt="2"/>
      <dgm:spPr/>
    </dgm:pt>
    <dgm:pt modelId="{66AF87F6-837B-407F-AE61-909272BC3FEA}" type="pres">
      <dgm:prSet presAssocID="{25E73F48-493C-472C-9624-D44B842CE2BB}" presName="compChildNode" presStyleCnt="0"/>
      <dgm:spPr/>
    </dgm:pt>
    <dgm:pt modelId="{268677FB-0EAD-4326-B5F3-BA36753AD1D9}" type="pres">
      <dgm:prSet presAssocID="{25E73F48-493C-472C-9624-D44B842CE2BB}" presName="theInnerList" presStyleCnt="0"/>
      <dgm:spPr/>
    </dgm:pt>
    <dgm:pt modelId="{DE6AC0D9-E6B2-409D-9EC4-24DF39914904}" type="pres">
      <dgm:prSet presAssocID="{5A2B02A4-76AD-44D8-9538-B0E0C3CF2EFD}" presName="childNode" presStyleLbl="node1" presStyleIdx="0" presStyleCnt="6">
        <dgm:presLayoutVars>
          <dgm:bulletEnabled val="1"/>
        </dgm:presLayoutVars>
      </dgm:prSet>
      <dgm:spPr/>
    </dgm:pt>
    <dgm:pt modelId="{E8BB3D03-99F5-40C4-ACC1-D7BD752940A5}" type="pres">
      <dgm:prSet presAssocID="{5A2B02A4-76AD-44D8-9538-B0E0C3CF2EFD}" presName="aSpace2" presStyleCnt="0"/>
      <dgm:spPr/>
    </dgm:pt>
    <dgm:pt modelId="{A39DB415-8B39-4CB9-8C95-89BC80199A8C}" type="pres">
      <dgm:prSet presAssocID="{6986609F-D3B2-48BB-8FEC-55FA1E5722CE}" presName="childNode" presStyleLbl="node1" presStyleIdx="1" presStyleCnt="6">
        <dgm:presLayoutVars>
          <dgm:bulletEnabled val="1"/>
        </dgm:presLayoutVars>
      </dgm:prSet>
      <dgm:spPr/>
    </dgm:pt>
    <dgm:pt modelId="{30F586EC-BBA5-4F1A-8E4D-6E78556113FA}" type="pres">
      <dgm:prSet presAssocID="{25E73F48-493C-472C-9624-D44B842CE2BB}" presName="aSpace" presStyleCnt="0"/>
      <dgm:spPr/>
    </dgm:pt>
    <dgm:pt modelId="{E1C966AA-FED7-4B9F-94D8-3E29ABDBB24C}" type="pres">
      <dgm:prSet presAssocID="{57C8D003-86F4-4B82-9FAE-1B4E77E85359}" presName="compNode" presStyleCnt="0"/>
      <dgm:spPr/>
    </dgm:pt>
    <dgm:pt modelId="{4E5273FE-2514-4FE4-B9EB-798623754580}" type="pres">
      <dgm:prSet presAssocID="{57C8D003-86F4-4B82-9FAE-1B4E77E85359}" presName="aNode" presStyleLbl="bgShp" presStyleIdx="1" presStyleCnt="2"/>
      <dgm:spPr/>
    </dgm:pt>
    <dgm:pt modelId="{7B606197-B606-48FB-9B0B-F6B0DDBECA18}" type="pres">
      <dgm:prSet presAssocID="{57C8D003-86F4-4B82-9FAE-1B4E77E85359}" presName="textNode" presStyleLbl="bgShp" presStyleIdx="1" presStyleCnt="2"/>
      <dgm:spPr/>
    </dgm:pt>
    <dgm:pt modelId="{D8FED41C-1340-4164-B2C2-E6DBBFF8BF99}" type="pres">
      <dgm:prSet presAssocID="{57C8D003-86F4-4B82-9FAE-1B4E77E85359}" presName="compChildNode" presStyleCnt="0"/>
      <dgm:spPr/>
    </dgm:pt>
    <dgm:pt modelId="{E8517E2C-8FDC-445D-B9B5-EC1E61E72618}" type="pres">
      <dgm:prSet presAssocID="{57C8D003-86F4-4B82-9FAE-1B4E77E85359}" presName="theInnerList" presStyleCnt="0"/>
      <dgm:spPr/>
    </dgm:pt>
    <dgm:pt modelId="{57347B2E-74C0-4BA7-BD41-218F63EE0054}" type="pres">
      <dgm:prSet presAssocID="{C00A33D3-3024-45C1-B314-33039792B4FC}" presName="childNode" presStyleLbl="node1" presStyleIdx="2" presStyleCnt="6">
        <dgm:presLayoutVars>
          <dgm:bulletEnabled val="1"/>
        </dgm:presLayoutVars>
      </dgm:prSet>
      <dgm:spPr/>
    </dgm:pt>
    <dgm:pt modelId="{7A825E1B-91AD-4488-957A-1407480E924C}" type="pres">
      <dgm:prSet presAssocID="{C00A33D3-3024-45C1-B314-33039792B4FC}" presName="aSpace2" presStyleCnt="0"/>
      <dgm:spPr/>
    </dgm:pt>
    <dgm:pt modelId="{717F9EE9-429C-49C5-83C9-4271DDDBCDA8}" type="pres">
      <dgm:prSet presAssocID="{A083495F-F13C-4087-86F1-C5CCF41CF3F0}" presName="childNode" presStyleLbl="node1" presStyleIdx="3" presStyleCnt="6">
        <dgm:presLayoutVars>
          <dgm:bulletEnabled val="1"/>
        </dgm:presLayoutVars>
      </dgm:prSet>
      <dgm:spPr/>
    </dgm:pt>
    <dgm:pt modelId="{EFF7E8F5-73E2-433E-B3E1-176A6BF2AE33}" type="pres">
      <dgm:prSet presAssocID="{A083495F-F13C-4087-86F1-C5CCF41CF3F0}" presName="aSpace2" presStyleCnt="0"/>
      <dgm:spPr/>
    </dgm:pt>
    <dgm:pt modelId="{9B047AC8-D648-461B-AB0C-AF3224A04C90}" type="pres">
      <dgm:prSet presAssocID="{B40CD7D8-1C04-4E73-AE74-88649E7A3875}" presName="childNode" presStyleLbl="node1" presStyleIdx="4" presStyleCnt="6">
        <dgm:presLayoutVars>
          <dgm:bulletEnabled val="1"/>
        </dgm:presLayoutVars>
      </dgm:prSet>
      <dgm:spPr/>
    </dgm:pt>
    <dgm:pt modelId="{B6CD334F-5DA9-4C98-BB57-272E1A56BEE6}" type="pres">
      <dgm:prSet presAssocID="{B40CD7D8-1C04-4E73-AE74-88649E7A3875}" presName="aSpace2" presStyleCnt="0"/>
      <dgm:spPr/>
    </dgm:pt>
    <dgm:pt modelId="{B36B9933-E17B-4A24-A6B7-ED77827D5C04}" type="pres">
      <dgm:prSet presAssocID="{86E53872-10A5-4405-86D2-2B4B02430D66}" presName="childNode" presStyleLbl="node1" presStyleIdx="5" presStyleCnt="6">
        <dgm:presLayoutVars>
          <dgm:bulletEnabled val="1"/>
        </dgm:presLayoutVars>
      </dgm:prSet>
      <dgm:spPr/>
    </dgm:pt>
  </dgm:ptLst>
  <dgm:cxnLst>
    <dgm:cxn modelId="{217E5E0C-99D2-4B5B-A790-4A4941546ED9}" srcId="{57C8D003-86F4-4B82-9FAE-1B4E77E85359}" destId="{86E53872-10A5-4405-86D2-2B4B02430D66}" srcOrd="3" destOrd="0" parTransId="{A3BE4100-F1EE-4171-BB7D-75C68FC74973}" sibTransId="{37893189-E40B-4FD2-95DE-146042268EC3}"/>
    <dgm:cxn modelId="{79955618-2BD4-4E7D-8B42-2FB1D59515C9}" srcId="{29B18783-F2C7-4ABC-98AB-991822161794}" destId="{57C8D003-86F4-4B82-9FAE-1B4E77E85359}" srcOrd="1" destOrd="0" parTransId="{DFBF1422-9630-4442-9076-DDA785BFB210}" sibTransId="{DCC22A48-31E2-4CC3-956B-004BAC74E7AC}"/>
    <dgm:cxn modelId="{9EE54A22-E5CA-43E0-8DF8-30BB69923E09}" type="presOf" srcId="{29B18783-F2C7-4ABC-98AB-991822161794}" destId="{FC814B84-6C05-4E7D-9C68-8CE8CBD89C59}" srcOrd="0" destOrd="0" presId="urn:microsoft.com/office/officeart/2005/8/layout/lProcess2"/>
    <dgm:cxn modelId="{57D90825-9997-4843-AEF3-358996DCE4E2}" type="presOf" srcId="{25E73F48-493C-472C-9624-D44B842CE2BB}" destId="{FB2F0D0C-0290-41D7-B572-DC9A79D46728}" srcOrd="1" destOrd="0" presId="urn:microsoft.com/office/officeart/2005/8/layout/lProcess2"/>
    <dgm:cxn modelId="{C052A83A-203D-4C68-A0C8-1CDA8C7F281B}" type="presOf" srcId="{57C8D003-86F4-4B82-9FAE-1B4E77E85359}" destId="{7B606197-B606-48FB-9B0B-F6B0DDBECA18}" srcOrd="1" destOrd="0" presId="urn:microsoft.com/office/officeart/2005/8/layout/lProcess2"/>
    <dgm:cxn modelId="{543C3E43-3890-4A7D-A9F4-063DED7D6A86}" type="presOf" srcId="{5A2B02A4-76AD-44D8-9538-B0E0C3CF2EFD}" destId="{DE6AC0D9-E6B2-409D-9EC4-24DF39914904}" srcOrd="0" destOrd="0" presId="urn:microsoft.com/office/officeart/2005/8/layout/lProcess2"/>
    <dgm:cxn modelId="{A21ECE4A-A1A0-424F-A4A9-617057F1E1E5}" type="presOf" srcId="{25E73F48-493C-472C-9624-D44B842CE2BB}" destId="{1F004E63-C969-4F77-A8F5-99CF840A4576}" srcOrd="0" destOrd="0" presId="urn:microsoft.com/office/officeart/2005/8/layout/lProcess2"/>
    <dgm:cxn modelId="{2BC63A4E-6089-4122-BA0B-AC3AB7BA8397}" srcId="{57C8D003-86F4-4B82-9FAE-1B4E77E85359}" destId="{B40CD7D8-1C04-4E73-AE74-88649E7A3875}" srcOrd="2" destOrd="0" parTransId="{F26B8EEC-5EA6-4AC7-A766-FDFA52F50F18}" sibTransId="{6F83F5B1-027E-428D-824C-5E2A0F3CDA0D}"/>
    <dgm:cxn modelId="{ABB68860-D01B-4765-A015-12A7AFB0EA78}" type="presOf" srcId="{C00A33D3-3024-45C1-B314-33039792B4FC}" destId="{57347B2E-74C0-4BA7-BD41-218F63EE0054}" srcOrd="0" destOrd="0" presId="urn:microsoft.com/office/officeart/2005/8/layout/lProcess2"/>
    <dgm:cxn modelId="{4F30627F-B192-4DCE-A39F-C8C7E47A943B}" type="presOf" srcId="{86E53872-10A5-4405-86D2-2B4B02430D66}" destId="{B36B9933-E17B-4A24-A6B7-ED77827D5C04}" srcOrd="0" destOrd="0" presId="urn:microsoft.com/office/officeart/2005/8/layout/lProcess2"/>
    <dgm:cxn modelId="{98F59284-8743-4AE3-8C42-EBE6E3558017}" type="presOf" srcId="{57C8D003-86F4-4B82-9FAE-1B4E77E85359}" destId="{4E5273FE-2514-4FE4-B9EB-798623754580}" srcOrd="0" destOrd="0" presId="urn:microsoft.com/office/officeart/2005/8/layout/lProcess2"/>
    <dgm:cxn modelId="{C9A05E8D-6B74-48CC-A215-58DCC18B1B2A}" srcId="{57C8D003-86F4-4B82-9FAE-1B4E77E85359}" destId="{C00A33D3-3024-45C1-B314-33039792B4FC}" srcOrd="0" destOrd="0" parTransId="{8249BE14-8B69-4084-B44B-9ED3D7312255}" sibTransId="{DE1881F7-7559-44B7-8760-5BB020BE16F2}"/>
    <dgm:cxn modelId="{1D19BF95-7792-4C02-B559-5AE5A50D6585}" srcId="{25E73F48-493C-472C-9624-D44B842CE2BB}" destId="{6986609F-D3B2-48BB-8FEC-55FA1E5722CE}" srcOrd="1" destOrd="0" parTransId="{4D4839B6-BD7B-48C1-A072-74E2F9BC654A}" sibTransId="{926CBDC0-231D-49B5-A2E4-BADEB7A47A38}"/>
    <dgm:cxn modelId="{552F5CA5-E206-41D9-8254-2F0E053E986B}" srcId="{57C8D003-86F4-4B82-9FAE-1B4E77E85359}" destId="{A083495F-F13C-4087-86F1-C5CCF41CF3F0}" srcOrd="1" destOrd="0" parTransId="{F20CE2DA-350F-456C-BE69-BBCFEDC3E4B7}" sibTransId="{80564633-6CB4-42C0-9517-537D510C119F}"/>
    <dgm:cxn modelId="{1D068BAB-04B0-4F08-8E68-BB1B8988A363}" type="presOf" srcId="{6986609F-D3B2-48BB-8FEC-55FA1E5722CE}" destId="{A39DB415-8B39-4CB9-8C95-89BC80199A8C}" srcOrd="0" destOrd="0" presId="urn:microsoft.com/office/officeart/2005/8/layout/lProcess2"/>
    <dgm:cxn modelId="{2DD9D1B0-ADBF-4AF9-95A9-0C008540971A}" type="presOf" srcId="{A083495F-F13C-4087-86F1-C5CCF41CF3F0}" destId="{717F9EE9-429C-49C5-83C9-4271DDDBCDA8}" srcOrd="0" destOrd="0" presId="urn:microsoft.com/office/officeart/2005/8/layout/lProcess2"/>
    <dgm:cxn modelId="{9DF500C9-DAE0-4F4A-A1B7-B04EE904B5F9}" srcId="{25E73F48-493C-472C-9624-D44B842CE2BB}" destId="{5A2B02A4-76AD-44D8-9538-B0E0C3CF2EFD}" srcOrd="0" destOrd="0" parTransId="{9E225B2B-BDB0-4DE3-A1CF-5ECB5E1C21EF}" sibTransId="{315ECCDB-8E3A-4789-A50A-F02AE52E23A5}"/>
    <dgm:cxn modelId="{96B4FCEF-34DC-4A4C-81AC-C493BF186AD5}" type="presOf" srcId="{B40CD7D8-1C04-4E73-AE74-88649E7A3875}" destId="{9B047AC8-D648-461B-AB0C-AF3224A04C90}" srcOrd="0" destOrd="0" presId="urn:microsoft.com/office/officeart/2005/8/layout/lProcess2"/>
    <dgm:cxn modelId="{573119FF-1FB2-47EB-938E-F94B614E8EDB}" srcId="{29B18783-F2C7-4ABC-98AB-991822161794}" destId="{25E73F48-493C-472C-9624-D44B842CE2BB}" srcOrd="0" destOrd="0" parTransId="{DA692FE7-7E26-47A3-AC02-54B9C9CE82D2}" sibTransId="{922FC99C-59C9-4F16-A8E7-4AC314EFD1A7}"/>
    <dgm:cxn modelId="{E142ACD3-0F6C-4688-B49F-681D876CD639}" type="presParOf" srcId="{FC814B84-6C05-4E7D-9C68-8CE8CBD89C59}" destId="{BFBB740D-C414-4B75-9039-3D9D98C7C5FE}" srcOrd="0" destOrd="0" presId="urn:microsoft.com/office/officeart/2005/8/layout/lProcess2"/>
    <dgm:cxn modelId="{04D3DDF9-0D3E-4090-B05F-C858C4CA3F97}" type="presParOf" srcId="{BFBB740D-C414-4B75-9039-3D9D98C7C5FE}" destId="{1F004E63-C969-4F77-A8F5-99CF840A4576}" srcOrd="0" destOrd="0" presId="urn:microsoft.com/office/officeart/2005/8/layout/lProcess2"/>
    <dgm:cxn modelId="{B05B2CC9-8D02-420F-AFC7-AE498E1A33C3}" type="presParOf" srcId="{BFBB740D-C414-4B75-9039-3D9D98C7C5FE}" destId="{FB2F0D0C-0290-41D7-B572-DC9A79D46728}" srcOrd="1" destOrd="0" presId="urn:microsoft.com/office/officeart/2005/8/layout/lProcess2"/>
    <dgm:cxn modelId="{C558E126-762E-4C36-B87F-949195484F44}" type="presParOf" srcId="{BFBB740D-C414-4B75-9039-3D9D98C7C5FE}" destId="{66AF87F6-837B-407F-AE61-909272BC3FEA}" srcOrd="2" destOrd="0" presId="urn:microsoft.com/office/officeart/2005/8/layout/lProcess2"/>
    <dgm:cxn modelId="{E9FB2F55-A685-4E5D-B89A-450C3B147FF6}" type="presParOf" srcId="{66AF87F6-837B-407F-AE61-909272BC3FEA}" destId="{268677FB-0EAD-4326-B5F3-BA36753AD1D9}" srcOrd="0" destOrd="0" presId="urn:microsoft.com/office/officeart/2005/8/layout/lProcess2"/>
    <dgm:cxn modelId="{65B66C85-2BB5-431D-8738-8544A523F621}" type="presParOf" srcId="{268677FB-0EAD-4326-B5F3-BA36753AD1D9}" destId="{DE6AC0D9-E6B2-409D-9EC4-24DF39914904}" srcOrd="0" destOrd="0" presId="urn:microsoft.com/office/officeart/2005/8/layout/lProcess2"/>
    <dgm:cxn modelId="{95A2BA9F-291E-47FB-8BF2-94BDE78B4D44}" type="presParOf" srcId="{268677FB-0EAD-4326-B5F3-BA36753AD1D9}" destId="{E8BB3D03-99F5-40C4-ACC1-D7BD752940A5}" srcOrd="1" destOrd="0" presId="urn:microsoft.com/office/officeart/2005/8/layout/lProcess2"/>
    <dgm:cxn modelId="{7983FD58-5F0E-4CCC-AE9F-1645F219F71B}" type="presParOf" srcId="{268677FB-0EAD-4326-B5F3-BA36753AD1D9}" destId="{A39DB415-8B39-4CB9-8C95-89BC80199A8C}" srcOrd="2" destOrd="0" presId="urn:microsoft.com/office/officeart/2005/8/layout/lProcess2"/>
    <dgm:cxn modelId="{52C57971-AC26-489E-94FF-DCEF54455632}" type="presParOf" srcId="{FC814B84-6C05-4E7D-9C68-8CE8CBD89C59}" destId="{30F586EC-BBA5-4F1A-8E4D-6E78556113FA}" srcOrd="1" destOrd="0" presId="urn:microsoft.com/office/officeart/2005/8/layout/lProcess2"/>
    <dgm:cxn modelId="{6626EFDE-7991-40C1-B4C4-A2340EF69371}" type="presParOf" srcId="{FC814B84-6C05-4E7D-9C68-8CE8CBD89C59}" destId="{E1C966AA-FED7-4B9F-94D8-3E29ABDBB24C}" srcOrd="2" destOrd="0" presId="urn:microsoft.com/office/officeart/2005/8/layout/lProcess2"/>
    <dgm:cxn modelId="{C5A6CA21-6D7B-4FA8-870C-97E253F97EAA}" type="presParOf" srcId="{E1C966AA-FED7-4B9F-94D8-3E29ABDBB24C}" destId="{4E5273FE-2514-4FE4-B9EB-798623754580}" srcOrd="0" destOrd="0" presId="urn:microsoft.com/office/officeart/2005/8/layout/lProcess2"/>
    <dgm:cxn modelId="{0BBE57CB-3996-4AE8-B38C-14F1698B4C54}" type="presParOf" srcId="{E1C966AA-FED7-4B9F-94D8-3E29ABDBB24C}" destId="{7B606197-B606-48FB-9B0B-F6B0DDBECA18}" srcOrd="1" destOrd="0" presId="urn:microsoft.com/office/officeart/2005/8/layout/lProcess2"/>
    <dgm:cxn modelId="{E6C2BE63-C351-499B-A415-2D3D0FE672CB}" type="presParOf" srcId="{E1C966AA-FED7-4B9F-94D8-3E29ABDBB24C}" destId="{D8FED41C-1340-4164-B2C2-E6DBBFF8BF99}" srcOrd="2" destOrd="0" presId="urn:microsoft.com/office/officeart/2005/8/layout/lProcess2"/>
    <dgm:cxn modelId="{19A3397B-FB6A-4F7A-B05F-B3F212680E6F}" type="presParOf" srcId="{D8FED41C-1340-4164-B2C2-E6DBBFF8BF99}" destId="{E8517E2C-8FDC-445D-B9B5-EC1E61E72618}" srcOrd="0" destOrd="0" presId="urn:microsoft.com/office/officeart/2005/8/layout/lProcess2"/>
    <dgm:cxn modelId="{8A715E4F-7BB7-4DAC-93F3-81D25D7DC510}" type="presParOf" srcId="{E8517E2C-8FDC-445D-B9B5-EC1E61E72618}" destId="{57347B2E-74C0-4BA7-BD41-218F63EE0054}" srcOrd="0" destOrd="0" presId="urn:microsoft.com/office/officeart/2005/8/layout/lProcess2"/>
    <dgm:cxn modelId="{BE7E9C7C-3641-4F2F-8036-152468B605E8}" type="presParOf" srcId="{E8517E2C-8FDC-445D-B9B5-EC1E61E72618}" destId="{7A825E1B-91AD-4488-957A-1407480E924C}" srcOrd="1" destOrd="0" presId="urn:microsoft.com/office/officeart/2005/8/layout/lProcess2"/>
    <dgm:cxn modelId="{7B3B094D-D204-4485-BFC5-498F1CFF7554}" type="presParOf" srcId="{E8517E2C-8FDC-445D-B9B5-EC1E61E72618}" destId="{717F9EE9-429C-49C5-83C9-4271DDDBCDA8}" srcOrd="2" destOrd="0" presId="urn:microsoft.com/office/officeart/2005/8/layout/lProcess2"/>
    <dgm:cxn modelId="{C53A8899-2448-4E6E-AC63-00A12CF04D91}" type="presParOf" srcId="{E8517E2C-8FDC-445D-B9B5-EC1E61E72618}" destId="{EFF7E8F5-73E2-433E-B3E1-176A6BF2AE33}" srcOrd="3" destOrd="0" presId="urn:microsoft.com/office/officeart/2005/8/layout/lProcess2"/>
    <dgm:cxn modelId="{A97117B9-8A49-4AE2-ABB2-5BBDC497886B}" type="presParOf" srcId="{E8517E2C-8FDC-445D-B9B5-EC1E61E72618}" destId="{9B047AC8-D648-461B-AB0C-AF3224A04C90}" srcOrd="4" destOrd="0" presId="urn:microsoft.com/office/officeart/2005/8/layout/lProcess2"/>
    <dgm:cxn modelId="{56F59E55-316F-4E05-B9BA-D7EB9CFAA864}" type="presParOf" srcId="{E8517E2C-8FDC-445D-B9B5-EC1E61E72618}" destId="{B6CD334F-5DA9-4C98-BB57-272E1A56BEE6}" srcOrd="5" destOrd="0" presId="urn:microsoft.com/office/officeart/2005/8/layout/lProcess2"/>
    <dgm:cxn modelId="{A4A6CD0B-902F-4E6E-BF2A-FC8035981B48}" type="presParOf" srcId="{E8517E2C-8FDC-445D-B9B5-EC1E61E72618}" destId="{B36B9933-E17B-4A24-A6B7-ED77827D5C04}" srcOrd="6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9B18783-F2C7-4ABC-98AB-991822161794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25E73F48-493C-472C-9624-D44B842CE2BB}">
      <dgm:prSet/>
      <dgm:spPr/>
      <dgm:t>
        <a:bodyPr/>
        <a:lstStyle/>
        <a:p>
          <a:r>
            <a:rPr lang="en-NZ"/>
            <a:t>Government Spending (G)</a:t>
          </a:r>
        </a:p>
      </dgm:t>
    </dgm:pt>
    <dgm:pt modelId="{DA692FE7-7E26-47A3-AC02-54B9C9CE82D2}" type="parTrans" cxnId="{573119FF-1FB2-47EB-938E-F94B614E8EDB}">
      <dgm:prSet/>
      <dgm:spPr/>
      <dgm:t>
        <a:bodyPr/>
        <a:lstStyle/>
        <a:p>
          <a:endParaRPr lang="en-NZ"/>
        </a:p>
      </dgm:t>
    </dgm:pt>
    <dgm:pt modelId="{922FC99C-59C9-4F16-A8E7-4AC314EFD1A7}" type="sibTrans" cxnId="{573119FF-1FB2-47EB-938E-F94B614E8EDB}">
      <dgm:prSet/>
      <dgm:spPr/>
      <dgm:t>
        <a:bodyPr/>
        <a:lstStyle/>
        <a:p>
          <a:endParaRPr lang="en-NZ"/>
        </a:p>
      </dgm:t>
    </dgm:pt>
    <dgm:pt modelId="{5A2B02A4-76AD-44D8-9538-B0E0C3CF2EFD}">
      <dgm:prSet/>
      <dgm:spPr/>
      <dgm:t>
        <a:bodyPr/>
        <a:lstStyle/>
        <a:p>
          <a:r>
            <a:rPr lang="en-NZ"/>
            <a:t>Consumption and investment spending by the government.</a:t>
          </a:r>
        </a:p>
      </dgm:t>
    </dgm:pt>
    <dgm:pt modelId="{9E225B2B-BDB0-4DE3-A1CF-5ECB5E1C21EF}" type="parTrans" cxnId="{9DF500C9-DAE0-4F4A-A1B7-B04EE904B5F9}">
      <dgm:prSet/>
      <dgm:spPr/>
      <dgm:t>
        <a:bodyPr/>
        <a:lstStyle/>
        <a:p>
          <a:endParaRPr lang="en-NZ"/>
        </a:p>
      </dgm:t>
    </dgm:pt>
    <dgm:pt modelId="{315ECCDB-8E3A-4789-A50A-F02AE52E23A5}" type="sibTrans" cxnId="{9DF500C9-DAE0-4F4A-A1B7-B04EE904B5F9}">
      <dgm:prSet/>
      <dgm:spPr/>
      <dgm:t>
        <a:bodyPr/>
        <a:lstStyle/>
        <a:p>
          <a:endParaRPr lang="en-NZ"/>
        </a:p>
      </dgm:t>
    </dgm:pt>
    <dgm:pt modelId="{6986609F-D3B2-48BB-8FEC-55FA1E5722CE}">
      <dgm:prSet/>
      <dgm:spPr/>
      <dgm:t>
        <a:bodyPr/>
        <a:lstStyle/>
        <a:p>
          <a:r>
            <a:rPr lang="en-NZ"/>
            <a:t>Excludes transfers (welfare payments) to avoid double counting.</a:t>
          </a:r>
        </a:p>
      </dgm:t>
    </dgm:pt>
    <dgm:pt modelId="{4D4839B6-BD7B-48C1-A072-74E2F9BC654A}" type="parTrans" cxnId="{1D19BF95-7792-4C02-B559-5AE5A50D6585}">
      <dgm:prSet/>
      <dgm:spPr/>
      <dgm:t>
        <a:bodyPr/>
        <a:lstStyle/>
        <a:p>
          <a:endParaRPr lang="en-NZ"/>
        </a:p>
      </dgm:t>
    </dgm:pt>
    <dgm:pt modelId="{926CBDC0-231D-49B5-A2E4-BADEB7A47A38}" type="sibTrans" cxnId="{1D19BF95-7792-4C02-B559-5AE5A50D6585}">
      <dgm:prSet/>
      <dgm:spPr/>
      <dgm:t>
        <a:bodyPr/>
        <a:lstStyle/>
        <a:p>
          <a:endParaRPr lang="en-NZ"/>
        </a:p>
      </dgm:t>
    </dgm:pt>
    <dgm:pt modelId="{57C8D003-86F4-4B82-9FAE-1B4E77E85359}">
      <dgm:prSet/>
      <dgm:spPr/>
      <dgm:t>
        <a:bodyPr/>
        <a:lstStyle/>
        <a:p>
          <a:r>
            <a:rPr lang="en-NZ"/>
            <a:t>Net Exports (NX)</a:t>
          </a:r>
        </a:p>
      </dgm:t>
    </dgm:pt>
    <dgm:pt modelId="{DFBF1422-9630-4442-9076-DDA785BFB210}" type="parTrans" cxnId="{79955618-2BD4-4E7D-8B42-2FB1D59515C9}">
      <dgm:prSet/>
      <dgm:spPr/>
      <dgm:t>
        <a:bodyPr/>
        <a:lstStyle/>
        <a:p>
          <a:endParaRPr lang="en-NZ"/>
        </a:p>
      </dgm:t>
    </dgm:pt>
    <dgm:pt modelId="{DCC22A48-31E2-4CC3-956B-004BAC74E7AC}" type="sibTrans" cxnId="{79955618-2BD4-4E7D-8B42-2FB1D59515C9}">
      <dgm:prSet/>
      <dgm:spPr/>
      <dgm:t>
        <a:bodyPr/>
        <a:lstStyle/>
        <a:p>
          <a:endParaRPr lang="en-NZ"/>
        </a:p>
      </dgm:t>
    </dgm:pt>
    <dgm:pt modelId="{C00A33D3-3024-45C1-B314-33039792B4FC}">
      <dgm:prSet/>
      <dgm:spPr/>
      <dgm:t>
        <a:bodyPr/>
        <a:lstStyle/>
        <a:p>
          <a:r>
            <a:rPr lang="en-NZ"/>
            <a:t>Export less Imports.</a:t>
          </a:r>
        </a:p>
      </dgm:t>
    </dgm:pt>
    <dgm:pt modelId="{8249BE14-8B69-4084-B44B-9ED3D7312255}" type="parTrans" cxnId="{C9A05E8D-6B74-48CC-A215-58DCC18B1B2A}">
      <dgm:prSet/>
      <dgm:spPr/>
      <dgm:t>
        <a:bodyPr/>
        <a:lstStyle/>
        <a:p>
          <a:endParaRPr lang="en-NZ"/>
        </a:p>
      </dgm:t>
    </dgm:pt>
    <dgm:pt modelId="{DE1881F7-7559-44B7-8760-5BB020BE16F2}" type="sibTrans" cxnId="{C9A05E8D-6B74-48CC-A215-58DCC18B1B2A}">
      <dgm:prSet/>
      <dgm:spPr/>
      <dgm:t>
        <a:bodyPr/>
        <a:lstStyle/>
        <a:p>
          <a:endParaRPr lang="en-NZ"/>
        </a:p>
      </dgm:t>
    </dgm:pt>
    <dgm:pt modelId="{A083495F-F13C-4087-86F1-C5CCF41CF3F0}">
      <dgm:prSet/>
      <dgm:spPr/>
      <dgm:t>
        <a:bodyPr/>
        <a:lstStyle/>
        <a:p>
          <a:r>
            <a:rPr lang="en-NZ"/>
            <a:t>Also called the </a:t>
          </a:r>
          <a:r>
            <a:rPr lang="en-NZ">
              <a:solidFill>
                <a:srgbClr val="C00000"/>
              </a:solidFill>
            </a:rPr>
            <a:t>trade balance.</a:t>
          </a:r>
        </a:p>
      </dgm:t>
    </dgm:pt>
    <dgm:pt modelId="{F20CE2DA-350F-456C-BE69-BBCFEDC3E4B7}" type="parTrans" cxnId="{552F5CA5-E206-41D9-8254-2F0E053E986B}">
      <dgm:prSet/>
      <dgm:spPr/>
      <dgm:t>
        <a:bodyPr/>
        <a:lstStyle/>
        <a:p>
          <a:endParaRPr lang="en-NZ"/>
        </a:p>
      </dgm:t>
    </dgm:pt>
    <dgm:pt modelId="{80564633-6CB4-42C0-9517-537D510C119F}" type="sibTrans" cxnId="{552F5CA5-E206-41D9-8254-2F0E053E986B}">
      <dgm:prSet/>
      <dgm:spPr/>
      <dgm:t>
        <a:bodyPr/>
        <a:lstStyle/>
        <a:p>
          <a:endParaRPr lang="en-NZ"/>
        </a:p>
      </dgm:t>
    </dgm:pt>
    <dgm:pt modelId="{B40CD7D8-1C04-4E73-AE74-88649E7A3875}">
      <dgm:prSet/>
      <dgm:spPr/>
      <dgm:t>
        <a:bodyPr/>
        <a:lstStyle/>
        <a:p>
          <a:r>
            <a:rPr lang="en-NZ"/>
            <a:t>Can be a trade deficit or trade surplus</a:t>
          </a:r>
        </a:p>
      </dgm:t>
    </dgm:pt>
    <dgm:pt modelId="{F26B8EEC-5EA6-4AC7-A766-FDFA52F50F18}" type="parTrans" cxnId="{2BC63A4E-6089-4122-BA0B-AC3AB7BA8397}">
      <dgm:prSet/>
      <dgm:spPr/>
      <dgm:t>
        <a:bodyPr/>
        <a:lstStyle/>
        <a:p>
          <a:endParaRPr lang="en-NZ"/>
        </a:p>
      </dgm:t>
    </dgm:pt>
    <dgm:pt modelId="{6F83F5B1-027E-428D-824C-5E2A0F3CDA0D}" type="sibTrans" cxnId="{2BC63A4E-6089-4122-BA0B-AC3AB7BA8397}">
      <dgm:prSet/>
      <dgm:spPr/>
      <dgm:t>
        <a:bodyPr/>
        <a:lstStyle/>
        <a:p>
          <a:endParaRPr lang="en-NZ"/>
        </a:p>
      </dgm:t>
    </dgm:pt>
    <dgm:pt modelId="{FC814B84-6C05-4E7D-9C68-8CE8CBD89C59}" type="pres">
      <dgm:prSet presAssocID="{29B18783-F2C7-4ABC-98AB-991822161794}" presName="theList" presStyleCnt="0">
        <dgm:presLayoutVars>
          <dgm:dir/>
          <dgm:animLvl val="lvl"/>
          <dgm:resizeHandles val="exact"/>
        </dgm:presLayoutVars>
      </dgm:prSet>
      <dgm:spPr/>
    </dgm:pt>
    <dgm:pt modelId="{BFBB740D-C414-4B75-9039-3D9D98C7C5FE}" type="pres">
      <dgm:prSet presAssocID="{25E73F48-493C-472C-9624-D44B842CE2BB}" presName="compNode" presStyleCnt="0"/>
      <dgm:spPr/>
    </dgm:pt>
    <dgm:pt modelId="{1F004E63-C969-4F77-A8F5-99CF840A4576}" type="pres">
      <dgm:prSet presAssocID="{25E73F48-493C-472C-9624-D44B842CE2BB}" presName="aNode" presStyleLbl="bgShp" presStyleIdx="0" presStyleCnt="2"/>
      <dgm:spPr/>
    </dgm:pt>
    <dgm:pt modelId="{FB2F0D0C-0290-41D7-B572-DC9A79D46728}" type="pres">
      <dgm:prSet presAssocID="{25E73F48-493C-472C-9624-D44B842CE2BB}" presName="textNode" presStyleLbl="bgShp" presStyleIdx="0" presStyleCnt="2"/>
      <dgm:spPr/>
    </dgm:pt>
    <dgm:pt modelId="{66AF87F6-837B-407F-AE61-909272BC3FEA}" type="pres">
      <dgm:prSet presAssocID="{25E73F48-493C-472C-9624-D44B842CE2BB}" presName="compChildNode" presStyleCnt="0"/>
      <dgm:spPr/>
    </dgm:pt>
    <dgm:pt modelId="{268677FB-0EAD-4326-B5F3-BA36753AD1D9}" type="pres">
      <dgm:prSet presAssocID="{25E73F48-493C-472C-9624-D44B842CE2BB}" presName="theInnerList" presStyleCnt="0"/>
      <dgm:spPr/>
    </dgm:pt>
    <dgm:pt modelId="{DE6AC0D9-E6B2-409D-9EC4-24DF39914904}" type="pres">
      <dgm:prSet presAssocID="{5A2B02A4-76AD-44D8-9538-B0E0C3CF2EFD}" presName="childNode" presStyleLbl="node1" presStyleIdx="0" presStyleCnt="5">
        <dgm:presLayoutVars>
          <dgm:bulletEnabled val="1"/>
        </dgm:presLayoutVars>
      </dgm:prSet>
      <dgm:spPr/>
    </dgm:pt>
    <dgm:pt modelId="{E8BB3D03-99F5-40C4-ACC1-D7BD752940A5}" type="pres">
      <dgm:prSet presAssocID="{5A2B02A4-76AD-44D8-9538-B0E0C3CF2EFD}" presName="aSpace2" presStyleCnt="0"/>
      <dgm:spPr/>
    </dgm:pt>
    <dgm:pt modelId="{A39DB415-8B39-4CB9-8C95-89BC80199A8C}" type="pres">
      <dgm:prSet presAssocID="{6986609F-D3B2-48BB-8FEC-55FA1E5722CE}" presName="childNode" presStyleLbl="node1" presStyleIdx="1" presStyleCnt="5">
        <dgm:presLayoutVars>
          <dgm:bulletEnabled val="1"/>
        </dgm:presLayoutVars>
      </dgm:prSet>
      <dgm:spPr/>
    </dgm:pt>
    <dgm:pt modelId="{30F586EC-BBA5-4F1A-8E4D-6E78556113FA}" type="pres">
      <dgm:prSet presAssocID="{25E73F48-493C-472C-9624-D44B842CE2BB}" presName="aSpace" presStyleCnt="0"/>
      <dgm:spPr/>
    </dgm:pt>
    <dgm:pt modelId="{E1C966AA-FED7-4B9F-94D8-3E29ABDBB24C}" type="pres">
      <dgm:prSet presAssocID="{57C8D003-86F4-4B82-9FAE-1B4E77E85359}" presName="compNode" presStyleCnt="0"/>
      <dgm:spPr/>
    </dgm:pt>
    <dgm:pt modelId="{4E5273FE-2514-4FE4-B9EB-798623754580}" type="pres">
      <dgm:prSet presAssocID="{57C8D003-86F4-4B82-9FAE-1B4E77E85359}" presName="aNode" presStyleLbl="bgShp" presStyleIdx="1" presStyleCnt="2"/>
      <dgm:spPr/>
    </dgm:pt>
    <dgm:pt modelId="{7B606197-B606-48FB-9B0B-F6B0DDBECA18}" type="pres">
      <dgm:prSet presAssocID="{57C8D003-86F4-4B82-9FAE-1B4E77E85359}" presName="textNode" presStyleLbl="bgShp" presStyleIdx="1" presStyleCnt="2"/>
      <dgm:spPr/>
    </dgm:pt>
    <dgm:pt modelId="{D8FED41C-1340-4164-B2C2-E6DBBFF8BF99}" type="pres">
      <dgm:prSet presAssocID="{57C8D003-86F4-4B82-9FAE-1B4E77E85359}" presName="compChildNode" presStyleCnt="0"/>
      <dgm:spPr/>
    </dgm:pt>
    <dgm:pt modelId="{E8517E2C-8FDC-445D-B9B5-EC1E61E72618}" type="pres">
      <dgm:prSet presAssocID="{57C8D003-86F4-4B82-9FAE-1B4E77E85359}" presName="theInnerList" presStyleCnt="0"/>
      <dgm:spPr/>
    </dgm:pt>
    <dgm:pt modelId="{57347B2E-74C0-4BA7-BD41-218F63EE0054}" type="pres">
      <dgm:prSet presAssocID="{C00A33D3-3024-45C1-B314-33039792B4FC}" presName="childNode" presStyleLbl="node1" presStyleIdx="2" presStyleCnt="5">
        <dgm:presLayoutVars>
          <dgm:bulletEnabled val="1"/>
        </dgm:presLayoutVars>
      </dgm:prSet>
      <dgm:spPr/>
    </dgm:pt>
    <dgm:pt modelId="{7A825E1B-91AD-4488-957A-1407480E924C}" type="pres">
      <dgm:prSet presAssocID="{C00A33D3-3024-45C1-B314-33039792B4FC}" presName="aSpace2" presStyleCnt="0"/>
      <dgm:spPr/>
    </dgm:pt>
    <dgm:pt modelId="{717F9EE9-429C-49C5-83C9-4271DDDBCDA8}" type="pres">
      <dgm:prSet presAssocID="{A083495F-F13C-4087-86F1-C5CCF41CF3F0}" presName="childNode" presStyleLbl="node1" presStyleIdx="3" presStyleCnt="5">
        <dgm:presLayoutVars>
          <dgm:bulletEnabled val="1"/>
        </dgm:presLayoutVars>
      </dgm:prSet>
      <dgm:spPr/>
    </dgm:pt>
    <dgm:pt modelId="{EFF7E8F5-73E2-433E-B3E1-176A6BF2AE33}" type="pres">
      <dgm:prSet presAssocID="{A083495F-F13C-4087-86F1-C5CCF41CF3F0}" presName="aSpace2" presStyleCnt="0"/>
      <dgm:spPr/>
    </dgm:pt>
    <dgm:pt modelId="{9B047AC8-D648-461B-AB0C-AF3224A04C90}" type="pres">
      <dgm:prSet presAssocID="{B40CD7D8-1C04-4E73-AE74-88649E7A3875}" presName="childNode" presStyleLbl="node1" presStyleIdx="4" presStyleCnt="5">
        <dgm:presLayoutVars>
          <dgm:bulletEnabled val="1"/>
        </dgm:presLayoutVars>
      </dgm:prSet>
      <dgm:spPr/>
    </dgm:pt>
  </dgm:ptLst>
  <dgm:cxnLst>
    <dgm:cxn modelId="{79955618-2BD4-4E7D-8B42-2FB1D59515C9}" srcId="{29B18783-F2C7-4ABC-98AB-991822161794}" destId="{57C8D003-86F4-4B82-9FAE-1B4E77E85359}" srcOrd="1" destOrd="0" parTransId="{DFBF1422-9630-4442-9076-DDA785BFB210}" sibTransId="{DCC22A48-31E2-4CC3-956B-004BAC74E7AC}"/>
    <dgm:cxn modelId="{9EE54A22-E5CA-43E0-8DF8-30BB69923E09}" type="presOf" srcId="{29B18783-F2C7-4ABC-98AB-991822161794}" destId="{FC814B84-6C05-4E7D-9C68-8CE8CBD89C59}" srcOrd="0" destOrd="0" presId="urn:microsoft.com/office/officeart/2005/8/layout/lProcess2"/>
    <dgm:cxn modelId="{57D90825-9997-4843-AEF3-358996DCE4E2}" type="presOf" srcId="{25E73F48-493C-472C-9624-D44B842CE2BB}" destId="{FB2F0D0C-0290-41D7-B572-DC9A79D46728}" srcOrd="1" destOrd="0" presId="urn:microsoft.com/office/officeart/2005/8/layout/lProcess2"/>
    <dgm:cxn modelId="{C052A83A-203D-4C68-A0C8-1CDA8C7F281B}" type="presOf" srcId="{57C8D003-86F4-4B82-9FAE-1B4E77E85359}" destId="{7B606197-B606-48FB-9B0B-F6B0DDBECA18}" srcOrd="1" destOrd="0" presId="urn:microsoft.com/office/officeart/2005/8/layout/lProcess2"/>
    <dgm:cxn modelId="{543C3E43-3890-4A7D-A9F4-063DED7D6A86}" type="presOf" srcId="{5A2B02A4-76AD-44D8-9538-B0E0C3CF2EFD}" destId="{DE6AC0D9-E6B2-409D-9EC4-24DF39914904}" srcOrd="0" destOrd="0" presId="urn:microsoft.com/office/officeart/2005/8/layout/lProcess2"/>
    <dgm:cxn modelId="{A21ECE4A-A1A0-424F-A4A9-617057F1E1E5}" type="presOf" srcId="{25E73F48-493C-472C-9624-D44B842CE2BB}" destId="{1F004E63-C969-4F77-A8F5-99CF840A4576}" srcOrd="0" destOrd="0" presId="urn:microsoft.com/office/officeart/2005/8/layout/lProcess2"/>
    <dgm:cxn modelId="{2BC63A4E-6089-4122-BA0B-AC3AB7BA8397}" srcId="{57C8D003-86F4-4B82-9FAE-1B4E77E85359}" destId="{B40CD7D8-1C04-4E73-AE74-88649E7A3875}" srcOrd="2" destOrd="0" parTransId="{F26B8EEC-5EA6-4AC7-A766-FDFA52F50F18}" sibTransId="{6F83F5B1-027E-428D-824C-5E2A0F3CDA0D}"/>
    <dgm:cxn modelId="{ABB68860-D01B-4765-A015-12A7AFB0EA78}" type="presOf" srcId="{C00A33D3-3024-45C1-B314-33039792B4FC}" destId="{57347B2E-74C0-4BA7-BD41-218F63EE0054}" srcOrd="0" destOrd="0" presId="urn:microsoft.com/office/officeart/2005/8/layout/lProcess2"/>
    <dgm:cxn modelId="{98F59284-8743-4AE3-8C42-EBE6E3558017}" type="presOf" srcId="{57C8D003-86F4-4B82-9FAE-1B4E77E85359}" destId="{4E5273FE-2514-4FE4-B9EB-798623754580}" srcOrd="0" destOrd="0" presId="urn:microsoft.com/office/officeart/2005/8/layout/lProcess2"/>
    <dgm:cxn modelId="{C9A05E8D-6B74-48CC-A215-58DCC18B1B2A}" srcId="{57C8D003-86F4-4B82-9FAE-1B4E77E85359}" destId="{C00A33D3-3024-45C1-B314-33039792B4FC}" srcOrd="0" destOrd="0" parTransId="{8249BE14-8B69-4084-B44B-9ED3D7312255}" sibTransId="{DE1881F7-7559-44B7-8760-5BB020BE16F2}"/>
    <dgm:cxn modelId="{1D19BF95-7792-4C02-B559-5AE5A50D6585}" srcId="{25E73F48-493C-472C-9624-D44B842CE2BB}" destId="{6986609F-D3B2-48BB-8FEC-55FA1E5722CE}" srcOrd="1" destOrd="0" parTransId="{4D4839B6-BD7B-48C1-A072-74E2F9BC654A}" sibTransId="{926CBDC0-231D-49B5-A2E4-BADEB7A47A38}"/>
    <dgm:cxn modelId="{552F5CA5-E206-41D9-8254-2F0E053E986B}" srcId="{57C8D003-86F4-4B82-9FAE-1B4E77E85359}" destId="{A083495F-F13C-4087-86F1-C5CCF41CF3F0}" srcOrd="1" destOrd="0" parTransId="{F20CE2DA-350F-456C-BE69-BBCFEDC3E4B7}" sibTransId="{80564633-6CB4-42C0-9517-537D510C119F}"/>
    <dgm:cxn modelId="{1D068BAB-04B0-4F08-8E68-BB1B8988A363}" type="presOf" srcId="{6986609F-D3B2-48BB-8FEC-55FA1E5722CE}" destId="{A39DB415-8B39-4CB9-8C95-89BC80199A8C}" srcOrd="0" destOrd="0" presId="urn:microsoft.com/office/officeart/2005/8/layout/lProcess2"/>
    <dgm:cxn modelId="{2DD9D1B0-ADBF-4AF9-95A9-0C008540971A}" type="presOf" srcId="{A083495F-F13C-4087-86F1-C5CCF41CF3F0}" destId="{717F9EE9-429C-49C5-83C9-4271DDDBCDA8}" srcOrd="0" destOrd="0" presId="urn:microsoft.com/office/officeart/2005/8/layout/lProcess2"/>
    <dgm:cxn modelId="{9DF500C9-DAE0-4F4A-A1B7-B04EE904B5F9}" srcId="{25E73F48-493C-472C-9624-D44B842CE2BB}" destId="{5A2B02A4-76AD-44D8-9538-B0E0C3CF2EFD}" srcOrd="0" destOrd="0" parTransId="{9E225B2B-BDB0-4DE3-A1CF-5ECB5E1C21EF}" sibTransId="{315ECCDB-8E3A-4789-A50A-F02AE52E23A5}"/>
    <dgm:cxn modelId="{96B4FCEF-34DC-4A4C-81AC-C493BF186AD5}" type="presOf" srcId="{B40CD7D8-1C04-4E73-AE74-88649E7A3875}" destId="{9B047AC8-D648-461B-AB0C-AF3224A04C90}" srcOrd="0" destOrd="0" presId="urn:microsoft.com/office/officeart/2005/8/layout/lProcess2"/>
    <dgm:cxn modelId="{573119FF-1FB2-47EB-938E-F94B614E8EDB}" srcId="{29B18783-F2C7-4ABC-98AB-991822161794}" destId="{25E73F48-493C-472C-9624-D44B842CE2BB}" srcOrd="0" destOrd="0" parTransId="{DA692FE7-7E26-47A3-AC02-54B9C9CE82D2}" sibTransId="{922FC99C-59C9-4F16-A8E7-4AC314EFD1A7}"/>
    <dgm:cxn modelId="{E142ACD3-0F6C-4688-B49F-681D876CD639}" type="presParOf" srcId="{FC814B84-6C05-4E7D-9C68-8CE8CBD89C59}" destId="{BFBB740D-C414-4B75-9039-3D9D98C7C5FE}" srcOrd="0" destOrd="0" presId="urn:microsoft.com/office/officeart/2005/8/layout/lProcess2"/>
    <dgm:cxn modelId="{04D3DDF9-0D3E-4090-B05F-C858C4CA3F97}" type="presParOf" srcId="{BFBB740D-C414-4B75-9039-3D9D98C7C5FE}" destId="{1F004E63-C969-4F77-A8F5-99CF840A4576}" srcOrd="0" destOrd="0" presId="urn:microsoft.com/office/officeart/2005/8/layout/lProcess2"/>
    <dgm:cxn modelId="{B05B2CC9-8D02-420F-AFC7-AE498E1A33C3}" type="presParOf" srcId="{BFBB740D-C414-4B75-9039-3D9D98C7C5FE}" destId="{FB2F0D0C-0290-41D7-B572-DC9A79D46728}" srcOrd="1" destOrd="0" presId="urn:microsoft.com/office/officeart/2005/8/layout/lProcess2"/>
    <dgm:cxn modelId="{C558E126-762E-4C36-B87F-949195484F44}" type="presParOf" srcId="{BFBB740D-C414-4B75-9039-3D9D98C7C5FE}" destId="{66AF87F6-837B-407F-AE61-909272BC3FEA}" srcOrd="2" destOrd="0" presId="urn:microsoft.com/office/officeart/2005/8/layout/lProcess2"/>
    <dgm:cxn modelId="{E9FB2F55-A685-4E5D-B89A-450C3B147FF6}" type="presParOf" srcId="{66AF87F6-837B-407F-AE61-909272BC3FEA}" destId="{268677FB-0EAD-4326-B5F3-BA36753AD1D9}" srcOrd="0" destOrd="0" presId="urn:microsoft.com/office/officeart/2005/8/layout/lProcess2"/>
    <dgm:cxn modelId="{65B66C85-2BB5-431D-8738-8544A523F621}" type="presParOf" srcId="{268677FB-0EAD-4326-B5F3-BA36753AD1D9}" destId="{DE6AC0D9-E6B2-409D-9EC4-24DF39914904}" srcOrd="0" destOrd="0" presId="urn:microsoft.com/office/officeart/2005/8/layout/lProcess2"/>
    <dgm:cxn modelId="{95A2BA9F-291E-47FB-8BF2-94BDE78B4D44}" type="presParOf" srcId="{268677FB-0EAD-4326-B5F3-BA36753AD1D9}" destId="{E8BB3D03-99F5-40C4-ACC1-D7BD752940A5}" srcOrd="1" destOrd="0" presId="urn:microsoft.com/office/officeart/2005/8/layout/lProcess2"/>
    <dgm:cxn modelId="{7983FD58-5F0E-4CCC-AE9F-1645F219F71B}" type="presParOf" srcId="{268677FB-0EAD-4326-B5F3-BA36753AD1D9}" destId="{A39DB415-8B39-4CB9-8C95-89BC80199A8C}" srcOrd="2" destOrd="0" presId="urn:microsoft.com/office/officeart/2005/8/layout/lProcess2"/>
    <dgm:cxn modelId="{52C57971-AC26-489E-94FF-DCEF54455632}" type="presParOf" srcId="{FC814B84-6C05-4E7D-9C68-8CE8CBD89C59}" destId="{30F586EC-BBA5-4F1A-8E4D-6E78556113FA}" srcOrd="1" destOrd="0" presId="urn:microsoft.com/office/officeart/2005/8/layout/lProcess2"/>
    <dgm:cxn modelId="{6626EFDE-7991-40C1-B4C4-A2340EF69371}" type="presParOf" srcId="{FC814B84-6C05-4E7D-9C68-8CE8CBD89C59}" destId="{E1C966AA-FED7-4B9F-94D8-3E29ABDBB24C}" srcOrd="2" destOrd="0" presId="urn:microsoft.com/office/officeart/2005/8/layout/lProcess2"/>
    <dgm:cxn modelId="{C5A6CA21-6D7B-4FA8-870C-97E253F97EAA}" type="presParOf" srcId="{E1C966AA-FED7-4B9F-94D8-3E29ABDBB24C}" destId="{4E5273FE-2514-4FE4-B9EB-798623754580}" srcOrd="0" destOrd="0" presId="urn:microsoft.com/office/officeart/2005/8/layout/lProcess2"/>
    <dgm:cxn modelId="{0BBE57CB-3996-4AE8-B38C-14F1698B4C54}" type="presParOf" srcId="{E1C966AA-FED7-4B9F-94D8-3E29ABDBB24C}" destId="{7B606197-B606-48FB-9B0B-F6B0DDBECA18}" srcOrd="1" destOrd="0" presId="urn:microsoft.com/office/officeart/2005/8/layout/lProcess2"/>
    <dgm:cxn modelId="{E6C2BE63-C351-499B-A415-2D3D0FE672CB}" type="presParOf" srcId="{E1C966AA-FED7-4B9F-94D8-3E29ABDBB24C}" destId="{D8FED41C-1340-4164-B2C2-E6DBBFF8BF99}" srcOrd="2" destOrd="0" presId="urn:microsoft.com/office/officeart/2005/8/layout/lProcess2"/>
    <dgm:cxn modelId="{19A3397B-FB6A-4F7A-B05F-B3F212680E6F}" type="presParOf" srcId="{D8FED41C-1340-4164-B2C2-E6DBBFF8BF99}" destId="{E8517E2C-8FDC-445D-B9B5-EC1E61E72618}" srcOrd="0" destOrd="0" presId="urn:microsoft.com/office/officeart/2005/8/layout/lProcess2"/>
    <dgm:cxn modelId="{8A715E4F-7BB7-4DAC-93F3-81D25D7DC510}" type="presParOf" srcId="{E8517E2C-8FDC-445D-B9B5-EC1E61E72618}" destId="{57347B2E-74C0-4BA7-BD41-218F63EE0054}" srcOrd="0" destOrd="0" presId="urn:microsoft.com/office/officeart/2005/8/layout/lProcess2"/>
    <dgm:cxn modelId="{BE7E9C7C-3641-4F2F-8036-152468B605E8}" type="presParOf" srcId="{E8517E2C-8FDC-445D-B9B5-EC1E61E72618}" destId="{7A825E1B-91AD-4488-957A-1407480E924C}" srcOrd="1" destOrd="0" presId="urn:microsoft.com/office/officeart/2005/8/layout/lProcess2"/>
    <dgm:cxn modelId="{7B3B094D-D204-4485-BFC5-498F1CFF7554}" type="presParOf" srcId="{E8517E2C-8FDC-445D-B9B5-EC1E61E72618}" destId="{717F9EE9-429C-49C5-83C9-4271DDDBCDA8}" srcOrd="2" destOrd="0" presId="urn:microsoft.com/office/officeart/2005/8/layout/lProcess2"/>
    <dgm:cxn modelId="{C53A8899-2448-4E6E-AC63-00A12CF04D91}" type="presParOf" srcId="{E8517E2C-8FDC-445D-B9B5-EC1E61E72618}" destId="{EFF7E8F5-73E2-433E-B3E1-176A6BF2AE33}" srcOrd="3" destOrd="0" presId="urn:microsoft.com/office/officeart/2005/8/layout/lProcess2"/>
    <dgm:cxn modelId="{A97117B9-8A49-4AE2-ABB2-5BBDC497886B}" type="presParOf" srcId="{E8517E2C-8FDC-445D-B9B5-EC1E61E72618}" destId="{9B047AC8-D648-461B-AB0C-AF3224A04C90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73AC20E-E6F8-4D6A-A816-2E0223C03D4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NZ"/>
        </a:p>
      </dgm:t>
    </dgm:pt>
    <dgm:pt modelId="{0780557A-4E62-438A-ADAE-371370A8F3F4}">
      <dgm:prSet/>
      <dgm:spPr/>
      <dgm:t>
        <a:bodyPr/>
        <a:lstStyle/>
        <a:p>
          <a:r>
            <a:rPr lang="en-NZ"/>
            <a:t>Household Shocks</a:t>
          </a:r>
        </a:p>
      </dgm:t>
    </dgm:pt>
    <dgm:pt modelId="{2F2A33C6-C724-471B-8B73-E6E64A1AA7A1}" type="parTrans" cxnId="{5C5C3F57-43CC-43B7-843F-13200DF0FA75}">
      <dgm:prSet/>
      <dgm:spPr/>
      <dgm:t>
        <a:bodyPr/>
        <a:lstStyle/>
        <a:p>
          <a:endParaRPr lang="en-NZ"/>
        </a:p>
      </dgm:t>
    </dgm:pt>
    <dgm:pt modelId="{F9B31F59-DFC6-4E92-B248-C183CC362451}" type="sibTrans" cxnId="{5C5C3F57-43CC-43B7-843F-13200DF0FA75}">
      <dgm:prSet/>
      <dgm:spPr/>
      <dgm:t>
        <a:bodyPr/>
        <a:lstStyle/>
        <a:p>
          <a:endParaRPr lang="en-NZ"/>
        </a:p>
      </dgm:t>
    </dgm:pt>
    <dgm:pt modelId="{E88CF09F-5C16-4A01-BA6C-95366D88137F}">
      <dgm:prSet/>
      <dgm:spPr/>
      <dgm:t>
        <a:bodyPr/>
        <a:lstStyle/>
        <a:p>
          <a:r>
            <a:rPr lang="en-NZ"/>
            <a:t>The shock (good or bad fortune) strikes the household.</a:t>
          </a:r>
        </a:p>
      </dgm:t>
    </dgm:pt>
    <dgm:pt modelId="{B6863A7A-2B11-4E39-837D-44414CF9CA34}" type="parTrans" cxnId="{6FFFE7FC-6870-4A28-BDD0-6B5E65DCC092}">
      <dgm:prSet/>
      <dgm:spPr/>
      <dgm:t>
        <a:bodyPr/>
        <a:lstStyle/>
        <a:p>
          <a:endParaRPr lang="en-NZ"/>
        </a:p>
      </dgm:t>
    </dgm:pt>
    <dgm:pt modelId="{D610A00E-BF50-4946-8A61-62323046B502}" type="sibTrans" cxnId="{6FFFE7FC-6870-4A28-BDD0-6B5E65DCC092}">
      <dgm:prSet/>
      <dgm:spPr/>
      <dgm:t>
        <a:bodyPr/>
        <a:lstStyle/>
        <a:p>
          <a:endParaRPr lang="en-NZ"/>
        </a:p>
      </dgm:t>
    </dgm:pt>
    <dgm:pt modelId="{CC889574-8BDA-4EBA-904F-D637F935BC05}">
      <dgm:prSet/>
      <dgm:spPr/>
      <dgm:t>
        <a:bodyPr/>
        <a:lstStyle/>
        <a:p>
          <a:r>
            <a:rPr lang="en-NZ"/>
            <a:t>Economy-wide shocks</a:t>
          </a:r>
        </a:p>
      </dgm:t>
    </dgm:pt>
    <dgm:pt modelId="{70B0F06B-0AF1-4AB3-A473-EC7910AE19A3}" type="parTrans" cxnId="{6ED8BB7A-D40E-4660-874A-E0EC8B0DB226}">
      <dgm:prSet/>
      <dgm:spPr/>
      <dgm:t>
        <a:bodyPr/>
        <a:lstStyle/>
        <a:p>
          <a:endParaRPr lang="en-NZ"/>
        </a:p>
      </dgm:t>
    </dgm:pt>
    <dgm:pt modelId="{5A91BEAE-A263-4FC2-A3D5-17F1D4043323}" type="sibTrans" cxnId="{6ED8BB7A-D40E-4660-874A-E0EC8B0DB226}">
      <dgm:prSet/>
      <dgm:spPr/>
      <dgm:t>
        <a:bodyPr/>
        <a:lstStyle/>
        <a:p>
          <a:endParaRPr lang="en-NZ"/>
        </a:p>
      </dgm:t>
    </dgm:pt>
    <dgm:pt modelId="{CBF2675C-74AB-45AE-923C-C49ED92F070C}">
      <dgm:prSet/>
      <dgm:spPr/>
      <dgm:t>
        <a:bodyPr/>
        <a:lstStyle/>
        <a:p>
          <a:r>
            <a:rPr lang="en-NZ"/>
            <a:t>The shock (good or bad fortune) strikes the entire economy.</a:t>
          </a:r>
        </a:p>
      </dgm:t>
    </dgm:pt>
    <dgm:pt modelId="{EEB31B39-D2A3-4A5C-8800-D9D822A25145}" type="parTrans" cxnId="{78263127-D41A-4A94-9FC6-3B0E9DB7D4C0}">
      <dgm:prSet/>
      <dgm:spPr/>
      <dgm:t>
        <a:bodyPr/>
        <a:lstStyle/>
        <a:p>
          <a:endParaRPr lang="en-NZ"/>
        </a:p>
      </dgm:t>
    </dgm:pt>
    <dgm:pt modelId="{497511C2-74CC-4D69-8B4E-2968C1D420A0}" type="sibTrans" cxnId="{78263127-D41A-4A94-9FC6-3B0E9DB7D4C0}">
      <dgm:prSet/>
      <dgm:spPr/>
      <dgm:t>
        <a:bodyPr/>
        <a:lstStyle/>
        <a:p>
          <a:endParaRPr lang="en-NZ"/>
        </a:p>
      </dgm:t>
    </dgm:pt>
    <dgm:pt modelId="{FF7DFE09-64DD-419E-B5AB-1E0D893A6504}" type="pres">
      <dgm:prSet presAssocID="{773AC20E-E6F8-4D6A-A816-2E0223C03D4F}" presName="linear" presStyleCnt="0">
        <dgm:presLayoutVars>
          <dgm:animLvl val="lvl"/>
          <dgm:resizeHandles val="exact"/>
        </dgm:presLayoutVars>
      </dgm:prSet>
      <dgm:spPr/>
    </dgm:pt>
    <dgm:pt modelId="{D27C9F21-BF86-44C9-98FB-F2EBA9FA1D19}" type="pres">
      <dgm:prSet presAssocID="{0780557A-4E62-438A-ADAE-371370A8F3F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8046F13-EECE-48B2-BB3C-92D54679589C}" type="pres">
      <dgm:prSet presAssocID="{0780557A-4E62-438A-ADAE-371370A8F3F4}" presName="childText" presStyleLbl="revTx" presStyleIdx="0" presStyleCnt="2">
        <dgm:presLayoutVars>
          <dgm:bulletEnabled val="1"/>
        </dgm:presLayoutVars>
      </dgm:prSet>
      <dgm:spPr/>
    </dgm:pt>
    <dgm:pt modelId="{A88DF8F3-8E8C-4937-83F8-6AFB0A6E506F}" type="pres">
      <dgm:prSet presAssocID="{CC889574-8BDA-4EBA-904F-D637F935BC0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0368FF7-3C4C-489D-99C3-F9394622C8E7}" type="pres">
      <dgm:prSet presAssocID="{CC889574-8BDA-4EBA-904F-D637F935BC05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8263127-D41A-4A94-9FC6-3B0E9DB7D4C0}" srcId="{CC889574-8BDA-4EBA-904F-D637F935BC05}" destId="{CBF2675C-74AB-45AE-923C-C49ED92F070C}" srcOrd="0" destOrd="0" parTransId="{EEB31B39-D2A3-4A5C-8800-D9D822A25145}" sibTransId="{497511C2-74CC-4D69-8B4E-2968C1D420A0}"/>
    <dgm:cxn modelId="{9F084928-6EBC-4B1E-9E73-DB1C5510940D}" type="presOf" srcId="{E88CF09F-5C16-4A01-BA6C-95366D88137F}" destId="{88046F13-EECE-48B2-BB3C-92D54679589C}" srcOrd="0" destOrd="0" presId="urn:microsoft.com/office/officeart/2005/8/layout/vList2"/>
    <dgm:cxn modelId="{DF442B29-8F21-422B-9362-F8A16A819DDC}" type="presOf" srcId="{0780557A-4E62-438A-ADAE-371370A8F3F4}" destId="{D27C9F21-BF86-44C9-98FB-F2EBA9FA1D19}" srcOrd="0" destOrd="0" presId="urn:microsoft.com/office/officeart/2005/8/layout/vList2"/>
    <dgm:cxn modelId="{5C5C3F57-43CC-43B7-843F-13200DF0FA75}" srcId="{773AC20E-E6F8-4D6A-A816-2E0223C03D4F}" destId="{0780557A-4E62-438A-ADAE-371370A8F3F4}" srcOrd="0" destOrd="0" parTransId="{2F2A33C6-C724-471B-8B73-E6E64A1AA7A1}" sibTransId="{F9B31F59-DFC6-4E92-B248-C183CC362451}"/>
    <dgm:cxn modelId="{6ED8BB7A-D40E-4660-874A-E0EC8B0DB226}" srcId="{773AC20E-E6F8-4D6A-A816-2E0223C03D4F}" destId="{CC889574-8BDA-4EBA-904F-D637F935BC05}" srcOrd="1" destOrd="0" parTransId="{70B0F06B-0AF1-4AB3-A473-EC7910AE19A3}" sibTransId="{5A91BEAE-A263-4FC2-A3D5-17F1D4043323}"/>
    <dgm:cxn modelId="{612A637E-F048-4374-BE5A-1ADF708156C3}" type="presOf" srcId="{CBF2675C-74AB-45AE-923C-C49ED92F070C}" destId="{A0368FF7-3C4C-489D-99C3-F9394622C8E7}" srcOrd="0" destOrd="0" presId="urn:microsoft.com/office/officeart/2005/8/layout/vList2"/>
    <dgm:cxn modelId="{965A0AA7-6A94-49E5-B302-1DCD437BB591}" type="presOf" srcId="{CC889574-8BDA-4EBA-904F-D637F935BC05}" destId="{A88DF8F3-8E8C-4937-83F8-6AFB0A6E506F}" srcOrd="0" destOrd="0" presId="urn:microsoft.com/office/officeart/2005/8/layout/vList2"/>
    <dgm:cxn modelId="{388754EC-90B3-45D1-B7A2-C70F02638667}" type="presOf" srcId="{773AC20E-E6F8-4D6A-A816-2E0223C03D4F}" destId="{FF7DFE09-64DD-419E-B5AB-1E0D893A6504}" srcOrd="0" destOrd="0" presId="urn:microsoft.com/office/officeart/2005/8/layout/vList2"/>
    <dgm:cxn modelId="{6FFFE7FC-6870-4A28-BDD0-6B5E65DCC092}" srcId="{0780557A-4E62-438A-ADAE-371370A8F3F4}" destId="{E88CF09F-5C16-4A01-BA6C-95366D88137F}" srcOrd="0" destOrd="0" parTransId="{B6863A7A-2B11-4E39-837D-44414CF9CA34}" sibTransId="{D610A00E-BF50-4946-8A61-62323046B502}"/>
    <dgm:cxn modelId="{27A7DEC1-E82C-49B1-8DD2-BF1D9AD36680}" type="presParOf" srcId="{FF7DFE09-64DD-419E-B5AB-1E0D893A6504}" destId="{D27C9F21-BF86-44C9-98FB-F2EBA9FA1D19}" srcOrd="0" destOrd="0" presId="urn:microsoft.com/office/officeart/2005/8/layout/vList2"/>
    <dgm:cxn modelId="{B81F6DE9-8797-46CC-864A-05505D287A22}" type="presParOf" srcId="{FF7DFE09-64DD-419E-B5AB-1E0D893A6504}" destId="{88046F13-EECE-48B2-BB3C-92D54679589C}" srcOrd="1" destOrd="0" presId="urn:microsoft.com/office/officeart/2005/8/layout/vList2"/>
    <dgm:cxn modelId="{AD2CD453-2D55-4782-A62E-3F8DB79F92E3}" type="presParOf" srcId="{FF7DFE09-64DD-419E-B5AB-1E0D893A6504}" destId="{A88DF8F3-8E8C-4937-83F8-6AFB0A6E506F}" srcOrd="2" destOrd="0" presId="urn:microsoft.com/office/officeart/2005/8/layout/vList2"/>
    <dgm:cxn modelId="{7A770318-AE25-400F-AE7E-549F1886CD7E}" type="presParOf" srcId="{FF7DFE09-64DD-419E-B5AB-1E0D893A6504}" destId="{A0368FF7-3C4C-489D-99C3-F9394622C8E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5C5519E-EE12-4624-BDD8-0A9B6C16BE3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4E4C4EEB-EADB-4608-9A5F-4F96EDF44FAE}">
      <dgm:prSet/>
      <dgm:spPr/>
      <dgm:t>
        <a:bodyPr/>
        <a:lstStyle/>
        <a:p>
          <a:r>
            <a:rPr lang="en-NZ"/>
            <a:t>Self-insurance</a:t>
          </a:r>
        </a:p>
      </dgm:t>
    </dgm:pt>
    <dgm:pt modelId="{B3412BF3-E93A-4BFC-A30B-C79C201858FB}" type="parTrans" cxnId="{03336666-6A5D-4D6A-BF69-E2CDBB328769}">
      <dgm:prSet/>
      <dgm:spPr/>
      <dgm:t>
        <a:bodyPr/>
        <a:lstStyle/>
        <a:p>
          <a:endParaRPr lang="en-NZ"/>
        </a:p>
      </dgm:t>
    </dgm:pt>
    <dgm:pt modelId="{7506FC45-479B-4511-AFB9-960C3AE4551F}" type="sibTrans" cxnId="{03336666-6A5D-4D6A-BF69-E2CDBB328769}">
      <dgm:prSet/>
      <dgm:spPr/>
      <dgm:t>
        <a:bodyPr/>
        <a:lstStyle/>
        <a:p>
          <a:endParaRPr lang="en-NZ"/>
        </a:p>
      </dgm:t>
    </dgm:pt>
    <dgm:pt modelId="{91AA41CA-2FCD-4889-8D6F-A1FCC15A8545}">
      <dgm:prSet/>
      <dgm:spPr/>
      <dgm:t>
        <a:bodyPr/>
        <a:lstStyle/>
        <a:p>
          <a:r>
            <a:rPr lang="en-NZ"/>
            <a:t>Draw down savings or</a:t>
          </a:r>
        </a:p>
      </dgm:t>
    </dgm:pt>
    <dgm:pt modelId="{9352BD5F-5120-45CD-B273-50C1A8145822}" type="parTrans" cxnId="{572E2211-EA21-4A50-9930-A28E877F6AF4}">
      <dgm:prSet/>
      <dgm:spPr/>
      <dgm:t>
        <a:bodyPr/>
        <a:lstStyle/>
        <a:p>
          <a:endParaRPr lang="en-NZ"/>
        </a:p>
      </dgm:t>
    </dgm:pt>
    <dgm:pt modelId="{4C5569F1-C111-4182-83E4-7400F3DF7A43}" type="sibTrans" cxnId="{572E2211-EA21-4A50-9930-A28E877F6AF4}">
      <dgm:prSet/>
      <dgm:spPr/>
      <dgm:t>
        <a:bodyPr/>
        <a:lstStyle/>
        <a:p>
          <a:endParaRPr lang="en-NZ"/>
        </a:p>
      </dgm:t>
    </dgm:pt>
    <dgm:pt modelId="{F063D3B2-ECBE-4ED2-B483-72EDF28622B1}">
      <dgm:prSet/>
      <dgm:spPr/>
      <dgm:t>
        <a:bodyPr/>
        <a:lstStyle/>
        <a:p>
          <a:r>
            <a:rPr lang="en-NZ"/>
            <a:t>Borrow money to maintain consumption</a:t>
          </a:r>
        </a:p>
      </dgm:t>
    </dgm:pt>
    <dgm:pt modelId="{25EAA70A-4DC1-400F-A1B2-7C14224A0B11}" type="parTrans" cxnId="{738E07AB-B961-4F7E-BDB2-18E47DFD19D3}">
      <dgm:prSet/>
      <dgm:spPr/>
      <dgm:t>
        <a:bodyPr/>
        <a:lstStyle/>
        <a:p>
          <a:endParaRPr lang="en-NZ"/>
        </a:p>
      </dgm:t>
    </dgm:pt>
    <dgm:pt modelId="{63FBC49D-15A2-46F3-A6C0-9991AB389C05}" type="sibTrans" cxnId="{738E07AB-B961-4F7E-BDB2-18E47DFD19D3}">
      <dgm:prSet/>
      <dgm:spPr/>
      <dgm:t>
        <a:bodyPr/>
        <a:lstStyle/>
        <a:p>
          <a:endParaRPr lang="en-NZ"/>
        </a:p>
      </dgm:t>
    </dgm:pt>
    <dgm:pt modelId="{DAC70609-00B3-418C-A265-F7016141B220}">
      <dgm:prSet/>
      <dgm:spPr/>
      <dgm:t>
        <a:bodyPr/>
        <a:lstStyle/>
        <a:p>
          <a:r>
            <a:rPr lang="en-NZ"/>
            <a:t>Co-insurance</a:t>
          </a:r>
        </a:p>
      </dgm:t>
    </dgm:pt>
    <dgm:pt modelId="{1EB3891D-8C7B-4659-B5BE-C90A4C2DD6E8}" type="parTrans" cxnId="{BBEFF4AC-763D-4930-829B-FDFA87C2852B}">
      <dgm:prSet/>
      <dgm:spPr/>
      <dgm:t>
        <a:bodyPr/>
        <a:lstStyle/>
        <a:p>
          <a:endParaRPr lang="en-NZ"/>
        </a:p>
      </dgm:t>
    </dgm:pt>
    <dgm:pt modelId="{A02A76E5-D4C3-4D62-99FF-704160B9C2B6}" type="sibTrans" cxnId="{BBEFF4AC-763D-4930-829B-FDFA87C2852B}">
      <dgm:prSet/>
      <dgm:spPr/>
      <dgm:t>
        <a:bodyPr/>
        <a:lstStyle/>
        <a:p>
          <a:endParaRPr lang="en-NZ"/>
        </a:p>
      </dgm:t>
    </dgm:pt>
    <dgm:pt modelId="{8B2CA164-2EFA-460E-8D29-970338988931}">
      <dgm:prSet/>
      <dgm:spPr/>
      <dgm:t>
        <a:bodyPr/>
        <a:lstStyle/>
        <a:p>
          <a:r>
            <a:rPr lang="en-NZ"/>
            <a:t>More support from friends, whānau or Government.</a:t>
          </a:r>
        </a:p>
      </dgm:t>
    </dgm:pt>
    <dgm:pt modelId="{1BEAB7EE-EE3A-40AE-9BEE-1727AED4B921}" type="parTrans" cxnId="{5EBB95E8-C442-435E-B36B-4EC9E39BB097}">
      <dgm:prSet/>
      <dgm:spPr/>
      <dgm:t>
        <a:bodyPr/>
        <a:lstStyle/>
        <a:p>
          <a:endParaRPr lang="en-NZ"/>
        </a:p>
      </dgm:t>
    </dgm:pt>
    <dgm:pt modelId="{7DF8E487-0ABE-4C9B-B892-4BBF94D6254A}" type="sibTrans" cxnId="{5EBB95E8-C442-435E-B36B-4EC9E39BB097}">
      <dgm:prSet/>
      <dgm:spPr/>
      <dgm:t>
        <a:bodyPr/>
        <a:lstStyle/>
        <a:p>
          <a:endParaRPr lang="en-NZ"/>
        </a:p>
      </dgm:t>
    </dgm:pt>
    <dgm:pt modelId="{BC972ACC-E390-4583-B4AA-3122652BA3F9}">
      <dgm:prSet/>
      <dgm:spPr/>
      <dgm:t>
        <a:bodyPr/>
        <a:lstStyle/>
        <a:p>
          <a:r>
            <a:rPr lang="en-NZ"/>
            <a:t>E.g. Unemployment benefits or Earthquake Commission in NZ</a:t>
          </a:r>
        </a:p>
      </dgm:t>
    </dgm:pt>
    <dgm:pt modelId="{9203C2EE-DEC4-481C-9CE4-D8092E92CE60}" type="parTrans" cxnId="{A4175BA1-71B4-4E9E-A926-4E43366FD69E}">
      <dgm:prSet/>
      <dgm:spPr/>
      <dgm:t>
        <a:bodyPr/>
        <a:lstStyle/>
        <a:p>
          <a:endParaRPr lang="en-NZ"/>
        </a:p>
      </dgm:t>
    </dgm:pt>
    <dgm:pt modelId="{A987C059-8243-4F19-B592-5466A3B8CE99}" type="sibTrans" cxnId="{A4175BA1-71B4-4E9E-A926-4E43366FD69E}">
      <dgm:prSet/>
      <dgm:spPr/>
      <dgm:t>
        <a:bodyPr/>
        <a:lstStyle/>
        <a:p>
          <a:endParaRPr lang="en-NZ"/>
        </a:p>
      </dgm:t>
    </dgm:pt>
    <dgm:pt modelId="{EA615532-FBC8-4C08-9BE4-BCBB9F645273}" type="pres">
      <dgm:prSet presAssocID="{25C5519E-EE12-4624-BDD8-0A9B6C16BE39}" presName="vert0" presStyleCnt="0">
        <dgm:presLayoutVars>
          <dgm:dir/>
          <dgm:animOne val="branch"/>
          <dgm:animLvl val="lvl"/>
        </dgm:presLayoutVars>
      </dgm:prSet>
      <dgm:spPr/>
    </dgm:pt>
    <dgm:pt modelId="{93F071C9-A002-49BB-936B-746C3DCD725D}" type="pres">
      <dgm:prSet presAssocID="{4E4C4EEB-EADB-4608-9A5F-4F96EDF44FAE}" presName="thickLine" presStyleLbl="alignNode1" presStyleIdx="0" presStyleCnt="2"/>
      <dgm:spPr/>
    </dgm:pt>
    <dgm:pt modelId="{C263AE00-F98A-4EE4-91BB-97468752829F}" type="pres">
      <dgm:prSet presAssocID="{4E4C4EEB-EADB-4608-9A5F-4F96EDF44FAE}" presName="horz1" presStyleCnt="0"/>
      <dgm:spPr/>
    </dgm:pt>
    <dgm:pt modelId="{DC15158C-F227-429C-B980-25E1D50C41D5}" type="pres">
      <dgm:prSet presAssocID="{4E4C4EEB-EADB-4608-9A5F-4F96EDF44FAE}" presName="tx1" presStyleLbl="revTx" presStyleIdx="0" presStyleCnt="6"/>
      <dgm:spPr/>
    </dgm:pt>
    <dgm:pt modelId="{22963948-E8D0-44C2-A791-D96ADEC960DE}" type="pres">
      <dgm:prSet presAssocID="{4E4C4EEB-EADB-4608-9A5F-4F96EDF44FAE}" presName="vert1" presStyleCnt="0"/>
      <dgm:spPr/>
    </dgm:pt>
    <dgm:pt modelId="{18EFD45C-5621-4F00-B786-77D77F3BDC00}" type="pres">
      <dgm:prSet presAssocID="{91AA41CA-2FCD-4889-8D6F-A1FCC15A8545}" presName="vertSpace2a" presStyleCnt="0"/>
      <dgm:spPr/>
    </dgm:pt>
    <dgm:pt modelId="{70A1A352-95E5-4392-B578-DFA2AC619FD7}" type="pres">
      <dgm:prSet presAssocID="{91AA41CA-2FCD-4889-8D6F-A1FCC15A8545}" presName="horz2" presStyleCnt="0"/>
      <dgm:spPr/>
    </dgm:pt>
    <dgm:pt modelId="{E999F4B6-9476-4CFC-AC83-B0DB4242B2E8}" type="pres">
      <dgm:prSet presAssocID="{91AA41CA-2FCD-4889-8D6F-A1FCC15A8545}" presName="horzSpace2" presStyleCnt="0"/>
      <dgm:spPr/>
    </dgm:pt>
    <dgm:pt modelId="{D88D86BB-DE9B-4628-A15F-E08164BD9255}" type="pres">
      <dgm:prSet presAssocID="{91AA41CA-2FCD-4889-8D6F-A1FCC15A8545}" presName="tx2" presStyleLbl="revTx" presStyleIdx="1" presStyleCnt="6"/>
      <dgm:spPr/>
    </dgm:pt>
    <dgm:pt modelId="{ABC68E65-8AB9-4285-8AC6-118CED9C3249}" type="pres">
      <dgm:prSet presAssocID="{91AA41CA-2FCD-4889-8D6F-A1FCC15A8545}" presName="vert2" presStyleCnt="0"/>
      <dgm:spPr/>
    </dgm:pt>
    <dgm:pt modelId="{75917DFC-3FDE-47B3-99EB-8437D62314FD}" type="pres">
      <dgm:prSet presAssocID="{91AA41CA-2FCD-4889-8D6F-A1FCC15A8545}" presName="thinLine2b" presStyleLbl="callout" presStyleIdx="0" presStyleCnt="4"/>
      <dgm:spPr/>
    </dgm:pt>
    <dgm:pt modelId="{902D7ED0-8F08-4340-B159-A2AE6ECDD879}" type="pres">
      <dgm:prSet presAssocID="{91AA41CA-2FCD-4889-8D6F-A1FCC15A8545}" presName="vertSpace2b" presStyleCnt="0"/>
      <dgm:spPr/>
    </dgm:pt>
    <dgm:pt modelId="{F606907D-C373-4DC4-B89B-F8154E8A438A}" type="pres">
      <dgm:prSet presAssocID="{F063D3B2-ECBE-4ED2-B483-72EDF28622B1}" presName="horz2" presStyleCnt="0"/>
      <dgm:spPr/>
    </dgm:pt>
    <dgm:pt modelId="{964F501A-D602-4787-B573-EC73BDD05236}" type="pres">
      <dgm:prSet presAssocID="{F063D3B2-ECBE-4ED2-B483-72EDF28622B1}" presName="horzSpace2" presStyleCnt="0"/>
      <dgm:spPr/>
    </dgm:pt>
    <dgm:pt modelId="{C5CF29BA-B03F-4B34-A27E-A2F3C72F0489}" type="pres">
      <dgm:prSet presAssocID="{F063D3B2-ECBE-4ED2-B483-72EDF28622B1}" presName="tx2" presStyleLbl="revTx" presStyleIdx="2" presStyleCnt="6"/>
      <dgm:spPr/>
    </dgm:pt>
    <dgm:pt modelId="{E827B983-5486-4A47-A064-5B9E9005DA7A}" type="pres">
      <dgm:prSet presAssocID="{F063D3B2-ECBE-4ED2-B483-72EDF28622B1}" presName="vert2" presStyleCnt="0"/>
      <dgm:spPr/>
    </dgm:pt>
    <dgm:pt modelId="{A552D742-6F6C-4898-B7B8-693BF79238C1}" type="pres">
      <dgm:prSet presAssocID="{F063D3B2-ECBE-4ED2-B483-72EDF28622B1}" presName="thinLine2b" presStyleLbl="callout" presStyleIdx="1" presStyleCnt="4"/>
      <dgm:spPr/>
    </dgm:pt>
    <dgm:pt modelId="{76CCA950-D444-4641-BEC2-33ADFB6D27BD}" type="pres">
      <dgm:prSet presAssocID="{F063D3B2-ECBE-4ED2-B483-72EDF28622B1}" presName="vertSpace2b" presStyleCnt="0"/>
      <dgm:spPr/>
    </dgm:pt>
    <dgm:pt modelId="{05DCD978-F6BB-4EF4-BCA9-02CF64140203}" type="pres">
      <dgm:prSet presAssocID="{DAC70609-00B3-418C-A265-F7016141B220}" presName="thickLine" presStyleLbl="alignNode1" presStyleIdx="1" presStyleCnt="2"/>
      <dgm:spPr/>
    </dgm:pt>
    <dgm:pt modelId="{3C272423-E77A-4FAC-9228-C8045FABA546}" type="pres">
      <dgm:prSet presAssocID="{DAC70609-00B3-418C-A265-F7016141B220}" presName="horz1" presStyleCnt="0"/>
      <dgm:spPr/>
    </dgm:pt>
    <dgm:pt modelId="{C1BE2078-9934-4E23-9EFA-1C0425AD0959}" type="pres">
      <dgm:prSet presAssocID="{DAC70609-00B3-418C-A265-F7016141B220}" presName="tx1" presStyleLbl="revTx" presStyleIdx="3" presStyleCnt="6"/>
      <dgm:spPr/>
    </dgm:pt>
    <dgm:pt modelId="{87D90845-B870-4931-B046-D5D318835BA2}" type="pres">
      <dgm:prSet presAssocID="{DAC70609-00B3-418C-A265-F7016141B220}" presName="vert1" presStyleCnt="0"/>
      <dgm:spPr/>
    </dgm:pt>
    <dgm:pt modelId="{8C9E976E-16EE-44AD-8072-90E281DDD1BE}" type="pres">
      <dgm:prSet presAssocID="{8B2CA164-2EFA-460E-8D29-970338988931}" presName="vertSpace2a" presStyleCnt="0"/>
      <dgm:spPr/>
    </dgm:pt>
    <dgm:pt modelId="{FF9352C9-B23C-4793-A82B-FB794BF77E35}" type="pres">
      <dgm:prSet presAssocID="{8B2CA164-2EFA-460E-8D29-970338988931}" presName="horz2" presStyleCnt="0"/>
      <dgm:spPr/>
    </dgm:pt>
    <dgm:pt modelId="{59E13D43-AFE2-407C-91B2-CAD04715B771}" type="pres">
      <dgm:prSet presAssocID="{8B2CA164-2EFA-460E-8D29-970338988931}" presName="horzSpace2" presStyleCnt="0"/>
      <dgm:spPr/>
    </dgm:pt>
    <dgm:pt modelId="{2564959A-BDB7-4F9C-9C1B-E6CA5EC7E149}" type="pres">
      <dgm:prSet presAssocID="{8B2CA164-2EFA-460E-8D29-970338988931}" presName="tx2" presStyleLbl="revTx" presStyleIdx="4" presStyleCnt="6"/>
      <dgm:spPr/>
    </dgm:pt>
    <dgm:pt modelId="{4C534B0B-9669-4052-96CA-663D6863A5A1}" type="pres">
      <dgm:prSet presAssocID="{8B2CA164-2EFA-460E-8D29-970338988931}" presName="vert2" presStyleCnt="0"/>
      <dgm:spPr/>
    </dgm:pt>
    <dgm:pt modelId="{582DB8CA-8872-4A1B-BDB7-985BF21A91E6}" type="pres">
      <dgm:prSet presAssocID="{8B2CA164-2EFA-460E-8D29-970338988931}" presName="thinLine2b" presStyleLbl="callout" presStyleIdx="2" presStyleCnt="4"/>
      <dgm:spPr/>
    </dgm:pt>
    <dgm:pt modelId="{687ECF9F-B95E-4672-8834-49144B3C06E5}" type="pres">
      <dgm:prSet presAssocID="{8B2CA164-2EFA-460E-8D29-970338988931}" presName="vertSpace2b" presStyleCnt="0"/>
      <dgm:spPr/>
    </dgm:pt>
    <dgm:pt modelId="{7482104A-2C46-429A-8CDF-DE9F63AB3AFD}" type="pres">
      <dgm:prSet presAssocID="{BC972ACC-E390-4583-B4AA-3122652BA3F9}" presName="horz2" presStyleCnt="0"/>
      <dgm:spPr/>
    </dgm:pt>
    <dgm:pt modelId="{2FA9D70D-0DBA-4F91-8AFE-5CB0B4CFD30C}" type="pres">
      <dgm:prSet presAssocID="{BC972ACC-E390-4583-B4AA-3122652BA3F9}" presName="horzSpace2" presStyleCnt="0"/>
      <dgm:spPr/>
    </dgm:pt>
    <dgm:pt modelId="{85CA4D2F-0BBB-4CC2-B046-8A22033AD083}" type="pres">
      <dgm:prSet presAssocID="{BC972ACC-E390-4583-B4AA-3122652BA3F9}" presName="tx2" presStyleLbl="revTx" presStyleIdx="5" presStyleCnt="6"/>
      <dgm:spPr/>
    </dgm:pt>
    <dgm:pt modelId="{3480E7D0-4AF3-40E1-95F7-B3C600743B72}" type="pres">
      <dgm:prSet presAssocID="{BC972ACC-E390-4583-B4AA-3122652BA3F9}" presName="vert2" presStyleCnt="0"/>
      <dgm:spPr/>
    </dgm:pt>
    <dgm:pt modelId="{2FC29CA4-7A1A-4B94-AAF9-2E28A3CD7A90}" type="pres">
      <dgm:prSet presAssocID="{BC972ACC-E390-4583-B4AA-3122652BA3F9}" presName="thinLine2b" presStyleLbl="callout" presStyleIdx="3" presStyleCnt="4"/>
      <dgm:spPr/>
    </dgm:pt>
    <dgm:pt modelId="{3C2B568D-B26E-4C39-8196-F042BE16D4AF}" type="pres">
      <dgm:prSet presAssocID="{BC972ACC-E390-4583-B4AA-3122652BA3F9}" presName="vertSpace2b" presStyleCnt="0"/>
      <dgm:spPr/>
    </dgm:pt>
  </dgm:ptLst>
  <dgm:cxnLst>
    <dgm:cxn modelId="{572E2211-EA21-4A50-9930-A28E877F6AF4}" srcId="{4E4C4EEB-EADB-4608-9A5F-4F96EDF44FAE}" destId="{91AA41CA-2FCD-4889-8D6F-A1FCC15A8545}" srcOrd="0" destOrd="0" parTransId="{9352BD5F-5120-45CD-B273-50C1A8145822}" sibTransId="{4C5569F1-C111-4182-83E4-7400F3DF7A43}"/>
    <dgm:cxn modelId="{20E33337-B27F-4A00-A048-72F95F3B99C0}" type="presOf" srcId="{BC972ACC-E390-4583-B4AA-3122652BA3F9}" destId="{85CA4D2F-0BBB-4CC2-B046-8A22033AD083}" srcOrd="0" destOrd="0" presId="urn:microsoft.com/office/officeart/2008/layout/LinedList"/>
    <dgm:cxn modelId="{34789142-58FE-464B-A7AB-448FBD1DB827}" type="presOf" srcId="{4E4C4EEB-EADB-4608-9A5F-4F96EDF44FAE}" destId="{DC15158C-F227-429C-B980-25E1D50C41D5}" srcOrd="0" destOrd="0" presId="urn:microsoft.com/office/officeart/2008/layout/LinedList"/>
    <dgm:cxn modelId="{61D9BD59-0667-41C7-B9E7-3C41DB185F4B}" type="presOf" srcId="{8B2CA164-2EFA-460E-8D29-970338988931}" destId="{2564959A-BDB7-4F9C-9C1B-E6CA5EC7E149}" srcOrd="0" destOrd="0" presId="urn:microsoft.com/office/officeart/2008/layout/LinedList"/>
    <dgm:cxn modelId="{03336666-6A5D-4D6A-BF69-E2CDBB328769}" srcId="{25C5519E-EE12-4624-BDD8-0A9B6C16BE39}" destId="{4E4C4EEB-EADB-4608-9A5F-4F96EDF44FAE}" srcOrd="0" destOrd="0" parTransId="{B3412BF3-E93A-4BFC-A30B-C79C201858FB}" sibTransId="{7506FC45-479B-4511-AFB9-960C3AE4551F}"/>
    <dgm:cxn modelId="{1D1F579C-5EA2-4CF6-9ABC-FF3782E14FBC}" type="presOf" srcId="{91AA41CA-2FCD-4889-8D6F-A1FCC15A8545}" destId="{D88D86BB-DE9B-4628-A15F-E08164BD9255}" srcOrd="0" destOrd="0" presId="urn:microsoft.com/office/officeart/2008/layout/LinedList"/>
    <dgm:cxn modelId="{A4175BA1-71B4-4E9E-A926-4E43366FD69E}" srcId="{DAC70609-00B3-418C-A265-F7016141B220}" destId="{BC972ACC-E390-4583-B4AA-3122652BA3F9}" srcOrd="1" destOrd="0" parTransId="{9203C2EE-DEC4-481C-9CE4-D8092E92CE60}" sibTransId="{A987C059-8243-4F19-B592-5466A3B8CE99}"/>
    <dgm:cxn modelId="{738E07AB-B961-4F7E-BDB2-18E47DFD19D3}" srcId="{4E4C4EEB-EADB-4608-9A5F-4F96EDF44FAE}" destId="{F063D3B2-ECBE-4ED2-B483-72EDF28622B1}" srcOrd="1" destOrd="0" parTransId="{25EAA70A-4DC1-400F-A1B2-7C14224A0B11}" sibTransId="{63FBC49D-15A2-46F3-A6C0-9991AB389C05}"/>
    <dgm:cxn modelId="{BBEFF4AC-763D-4930-829B-FDFA87C2852B}" srcId="{25C5519E-EE12-4624-BDD8-0A9B6C16BE39}" destId="{DAC70609-00B3-418C-A265-F7016141B220}" srcOrd="1" destOrd="0" parTransId="{1EB3891D-8C7B-4659-B5BE-C90A4C2DD6E8}" sibTransId="{A02A76E5-D4C3-4D62-99FF-704160B9C2B6}"/>
    <dgm:cxn modelId="{03E277C1-48B6-48C0-A12E-06992BA2DE95}" type="presOf" srcId="{DAC70609-00B3-418C-A265-F7016141B220}" destId="{C1BE2078-9934-4E23-9EFA-1C0425AD0959}" srcOrd="0" destOrd="0" presId="urn:microsoft.com/office/officeart/2008/layout/LinedList"/>
    <dgm:cxn modelId="{CE59A4C2-2C78-4334-8075-B01C88DB0750}" type="presOf" srcId="{25C5519E-EE12-4624-BDD8-0A9B6C16BE39}" destId="{EA615532-FBC8-4C08-9BE4-BCBB9F645273}" srcOrd="0" destOrd="0" presId="urn:microsoft.com/office/officeart/2008/layout/LinedList"/>
    <dgm:cxn modelId="{7E801ECF-2965-4F41-8839-A2892DCFF3E6}" type="presOf" srcId="{F063D3B2-ECBE-4ED2-B483-72EDF28622B1}" destId="{C5CF29BA-B03F-4B34-A27E-A2F3C72F0489}" srcOrd="0" destOrd="0" presId="urn:microsoft.com/office/officeart/2008/layout/LinedList"/>
    <dgm:cxn modelId="{5EBB95E8-C442-435E-B36B-4EC9E39BB097}" srcId="{DAC70609-00B3-418C-A265-F7016141B220}" destId="{8B2CA164-2EFA-460E-8D29-970338988931}" srcOrd="0" destOrd="0" parTransId="{1BEAB7EE-EE3A-40AE-9BEE-1727AED4B921}" sibTransId="{7DF8E487-0ABE-4C9B-B892-4BBF94D6254A}"/>
    <dgm:cxn modelId="{F5DAB0CB-8763-4420-A95E-C013E27D38AF}" type="presParOf" srcId="{EA615532-FBC8-4C08-9BE4-BCBB9F645273}" destId="{93F071C9-A002-49BB-936B-746C3DCD725D}" srcOrd="0" destOrd="0" presId="urn:microsoft.com/office/officeart/2008/layout/LinedList"/>
    <dgm:cxn modelId="{DABADA88-F197-4B4C-B8D5-A21C66D69C82}" type="presParOf" srcId="{EA615532-FBC8-4C08-9BE4-BCBB9F645273}" destId="{C263AE00-F98A-4EE4-91BB-97468752829F}" srcOrd="1" destOrd="0" presId="urn:microsoft.com/office/officeart/2008/layout/LinedList"/>
    <dgm:cxn modelId="{596B678A-CB3C-484A-82A7-CCCC429C06E8}" type="presParOf" srcId="{C263AE00-F98A-4EE4-91BB-97468752829F}" destId="{DC15158C-F227-429C-B980-25E1D50C41D5}" srcOrd="0" destOrd="0" presId="urn:microsoft.com/office/officeart/2008/layout/LinedList"/>
    <dgm:cxn modelId="{E06D483B-9494-4825-A7D6-B6DABB29DEF8}" type="presParOf" srcId="{C263AE00-F98A-4EE4-91BB-97468752829F}" destId="{22963948-E8D0-44C2-A791-D96ADEC960DE}" srcOrd="1" destOrd="0" presId="urn:microsoft.com/office/officeart/2008/layout/LinedList"/>
    <dgm:cxn modelId="{B6384C7E-C1DA-4920-BAE0-8CE06324EBA2}" type="presParOf" srcId="{22963948-E8D0-44C2-A791-D96ADEC960DE}" destId="{18EFD45C-5621-4F00-B786-77D77F3BDC00}" srcOrd="0" destOrd="0" presId="urn:microsoft.com/office/officeart/2008/layout/LinedList"/>
    <dgm:cxn modelId="{5D60B5DE-C213-4D76-A38A-D0D880DB0801}" type="presParOf" srcId="{22963948-E8D0-44C2-A791-D96ADEC960DE}" destId="{70A1A352-95E5-4392-B578-DFA2AC619FD7}" srcOrd="1" destOrd="0" presId="urn:microsoft.com/office/officeart/2008/layout/LinedList"/>
    <dgm:cxn modelId="{03F5EEA6-4425-4B5B-A9B8-C8AED555D858}" type="presParOf" srcId="{70A1A352-95E5-4392-B578-DFA2AC619FD7}" destId="{E999F4B6-9476-4CFC-AC83-B0DB4242B2E8}" srcOrd="0" destOrd="0" presId="urn:microsoft.com/office/officeart/2008/layout/LinedList"/>
    <dgm:cxn modelId="{0A57AE9E-9F94-4942-9368-DAA1AC2C75BF}" type="presParOf" srcId="{70A1A352-95E5-4392-B578-DFA2AC619FD7}" destId="{D88D86BB-DE9B-4628-A15F-E08164BD9255}" srcOrd="1" destOrd="0" presId="urn:microsoft.com/office/officeart/2008/layout/LinedList"/>
    <dgm:cxn modelId="{5E748FE5-E835-4972-9B5C-02ECA084E0D0}" type="presParOf" srcId="{70A1A352-95E5-4392-B578-DFA2AC619FD7}" destId="{ABC68E65-8AB9-4285-8AC6-118CED9C3249}" srcOrd="2" destOrd="0" presId="urn:microsoft.com/office/officeart/2008/layout/LinedList"/>
    <dgm:cxn modelId="{52540908-D543-414A-A492-5C77982FCBFD}" type="presParOf" srcId="{22963948-E8D0-44C2-A791-D96ADEC960DE}" destId="{75917DFC-3FDE-47B3-99EB-8437D62314FD}" srcOrd="2" destOrd="0" presId="urn:microsoft.com/office/officeart/2008/layout/LinedList"/>
    <dgm:cxn modelId="{42D87E2A-90A4-496B-B350-3E059D165249}" type="presParOf" srcId="{22963948-E8D0-44C2-A791-D96ADEC960DE}" destId="{902D7ED0-8F08-4340-B159-A2AE6ECDD879}" srcOrd="3" destOrd="0" presId="urn:microsoft.com/office/officeart/2008/layout/LinedList"/>
    <dgm:cxn modelId="{13FE8C35-F925-472B-A82F-0990B06F47C6}" type="presParOf" srcId="{22963948-E8D0-44C2-A791-D96ADEC960DE}" destId="{F606907D-C373-4DC4-B89B-F8154E8A438A}" srcOrd="4" destOrd="0" presId="urn:microsoft.com/office/officeart/2008/layout/LinedList"/>
    <dgm:cxn modelId="{31EE2521-46ED-4578-A138-2DEEB45A517D}" type="presParOf" srcId="{F606907D-C373-4DC4-B89B-F8154E8A438A}" destId="{964F501A-D602-4787-B573-EC73BDD05236}" srcOrd="0" destOrd="0" presId="urn:microsoft.com/office/officeart/2008/layout/LinedList"/>
    <dgm:cxn modelId="{3CA91BEC-1554-4212-B403-9CF1C1DD7B0F}" type="presParOf" srcId="{F606907D-C373-4DC4-B89B-F8154E8A438A}" destId="{C5CF29BA-B03F-4B34-A27E-A2F3C72F0489}" srcOrd="1" destOrd="0" presId="urn:microsoft.com/office/officeart/2008/layout/LinedList"/>
    <dgm:cxn modelId="{AC7B1DDE-6E07-4D48-BDE7-A010C01BEE06}" type="presParOf" srcId="{F606907D-C373-4DC4-B89B-F8154E8A438A}" destId="{E827B983-5486-4A47-A064-5B9E9005DA7A}" srcOrd="2" destOrd="0" presId="urn:microsoft.com/office/officeart/2008/layout/LinedList"/>
    <dgm:cxn modelId="{E5A306C8-6661-4B1F-B6E3-0FD628E0E6CB}" type="presParOf" srcId="{22963948-E8D0-44C2-A791-D96ADEC960DE}" destId="{A552D742-6F6C-4898-B7B8-693BF79238C1}" srcOrd="5" destOrd="0" presId="urn:microsoft.com/office/officeart/2008/layout/LinedList"/>
    <dgm:cxn modelId="{BCFDE35B-78E9-40DF-B1D0-F28FB2FB5027}" type="presParOf" srcId="{22963948-E8D0-44C2-A791-D96ADEC960DE}" destId="{76CCA950-D444-4641-BEC2-33ADFB6D27BD}" srcOrd="6" destOrd="0" presId="urn:microsoft.com/office/officeart/2008/layout/LinedList"/>
    <dgm:cxn modelId="{F3F45267-F62A-4ECE-8D6D-A0827779F470}" type="presParOf" srcId="{EA615532-FBC8-4C08-9BE4-BCBB9F645273}" destId="{05DCD978-F6BB-4EF4-BCA9-02CF64140203}" srcOrd="2" destOrd="0" presId="urn:microsoft.com/office/officeart/2008/layout/LinedList"/>
    <dgm:cxn modelId="{DFFFFE5D-97A6-4F62-8CC1-BC28DE8902E3}" type="presParOf" srcId="{EA615532-FBC8-4C08-9BE4-BCBB9F645273}" destId="{3C272423-E77A-4FAC-9228-C8045FABA546}" srcOrd="3" destOrd="0" presId="urn:microsoft.com/office/officeart/2008/layout/LinedList"/>
    <dgm:cxn modelId="{717D499E-1CB5-4E65-A43A-5B95FD07AE2D}" type="presParOf" srcId="{3C272423-E77A-4FAC-9228-C8045FABA546}" destId="{C1BE2078-9934-4E23-9EFA-1C0425AD0959}" srcOrd="0" destOrd="0" presId="urn:microsoft.com/office/officeart/2008/layout/LinedList"/>
    <dgm:cxn modelId="{20DB5427-B446-4425-BD9A-272B762D1D99}" type="presParOf" srcId="{3C272423-E77A-4FAC-9228-C8045FABA546}" destId="{87D90845-B870-4931-B046-D5D318835BA2}" srcOrd="1" destOrd="0" presId="urn:microsoft.com/office/officeart/2008/layout/LinedList"/>
    <dgm:cxn modelId="{ACAE7DA7-35D7-4ABA-9791-FB713400EF3D}" type="presParOf" srcId="{87D90845-B870-4931-B046-D5D318835BA2}" destId="{8C9E976E-16EE-44AD-8072-90E281DDD1BE}" srcOrd="0" destOrd="0" presId="urn:microsoft.com/office/officeart/2008/layout/LinedList"/>
    <dgm:cxn modelId="{590C4A40-6108-40A3-80C1-09FE7C044E18}" type="presParOf" srcId="{87D90845-B870-4931-B046-D5D318835BA2}" destId="{FF9352C9-B23C-4793-A82B-FB794BF77E35}" srcOrd="1" destOrd="0" presId="urn:microsoft.com/office/officeart/2008/layout/LinedList"/>
    <dgm:cxn modelId="{D4D5E51A-2031-4E43-927E-B348D6EDF2D8}" type="presParOf" srcId="{FF9352C9-B23C-4793-A82B-FB794BF77E35}" destId="{59E13D43-AFE2-407C-91B2-CAD04715B771}" srcOrd="0" destOrd="0" presId="urn:microsoft.com/office/officeart/2008/layout/LinedList"/>
    <dgm:cxn modelId="{D7DF35D4-BF58-4638-B8D4-88E5DA2BEE88}" type="presParOf" srcId="{FF9352C9-B23C-4793-A82B-FB794BF77E35}" destId="{2564959A-BDB7-4F9C-9C1B-E6CA5EC7E149}" srcOrd="1" destOrd="0" presId="urn:microsoft.com/office/officeart/2008/layout/LinedList"/>
    <dgm:cxn modelId="{827A9FE6-F3E3-43AB-8F14-1D675901828E}" type="presParOf" srcId="{FF9352C9-B23C-4793-A82B-FB794BF77E35}" destId="{4C534B0B-9669-4052-96CA-663D6863A5A1}" srcOrd="2" destOrd="0" presId="urn:microsoft.com/office/officeart/2008/layout/LinedList"/>
    <dgm:cxn modelId="{C37893DB-8843-4CCE-8221-F3EB524B034A}" type="presParOf" srcId="{87D90845-B870-4931-B046-D5D318835BA2}" destId="{582DB8CA-8872-4A1B-BDB7-985BF21A91E6}" srcOrd="2" destOrd="0" presId="urn:microsoft.com/office/officeart/2008/layout/LinedList"/>
    <dgm:cxn modelId="{19C4BB19-1A47-4E5D-9B4E-A522B2660F75}" type="presParOf" srcId="{87D90845-B870-4931-B046-D5D318835BA2}" destId="{687ECF9F-B95E-4672-8834-49144B3C06E5}" srcOrd="3" destOrd="0" presId="urn:microsoft.com/office/officeart/2008/layout/LinedList"/>
    <dgm:cxn modelId="{8D22BD68-10F5-46AF-B395-FAE142B9B358}" type="presParOf" srcId="{87D90845-B870-4931-B046-D5D318835BA2}" destId="{7482104A-2C46-429A-8CDF-DE9F63AB3AFD}" srcOrd="4" destOrd="0" presId="urn:microsoft.com/office/officeart/2008/layout/LinedList"/>
    <dgm:cxn modelId="{C8193D73-16F2-4CC1-B87A-B5297950B657}" type="presParOf" srcId="{7482104A-2C46-429A-8CDF-DE9F63AB3AFD}" destId="{2FA9D70D-0DBA-4F91-8AFE-5CB0B4CFD30C}" srcOrd="0" destOrd="0" presId="urn:microsoft.com/office/officeart/2008/layout/LinedList"/>
    <dgm:cxn modelId="{0C27D26C-0B45-4363-86A8-DDDA6F0927EA}" type="presParOf" srcId="{7482104A-2C46-429A-8CDF-DE9F63AB3AFD}" destId="{85CA4D2F-0BBB-4CC2-B046-8A22033AD083}" srcOrd="1" destOrd="0" presId="urn:microsoft.com/office/officeart/2008/layout/LinedList"/>
    <dgm:cxn modelId="{72A7B8A1-8C2C-4131-9383-7EC4F4D2DD44}" type="presParOf" srcId="{7482104A-2C46-429A-8CDF-DE9F63AB3AFD}" destId="{3480E7D0-4AF3-40E1-95F7-B3C600743B72}" srcOrd="2" destOrd="0" presId="urn:microsoft.com/office/officeart/2008/layout/LinedList"/>
    <dgm:cxn modelId="{10D886AC-D4D9-40B0-A65B-5D2A6DAF824E}" type="presParOf" srcId="{87D90845-B870-4931-B046-D5D318835BA2}" destId="{2FC29CA4-7A1A-4B94-AAF9-2E28A3CD7A90}" srcOrd="5" destOrd="0" presId="urn:microsoft.com/office/officeart/2008/layout/LinedList"/>
    <dgm:cxn modelId="{62B1A719-A2E4-4079-B134-F8AD3D7AF8F9}" type="presParOf" srcId="{87D90845-B870-4931-B046-D5D318835BA2}" destId="{3C2B568D-B26E-4C39-8196-F042BE16D4AF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3F73AB2-1F49-4ECF-9AA9-391911D8867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80B3308-4F79-40FA-8EB7-2473048279B0}">
      <dgm:prSet/>
      <dgm:spPr/>
      <dgm:t>
        <a:bodyPr/>
        <a:lstStyle/>
        <a:p>
          <a:r>
            <a:rPr lang="en-US"/>
            <a:t>NZers pay a levy to the Natural Hazards Commission every year through their insurance policies.</a:t>
          </a:r>
        </a:p>
      </dgm:t>
    </dgm:pt>
    <dgm:pt modelId="{CF844931-90F1-4A4C-B692-B8E58FDEF10E}" type="parTrans" cxnId="{E10ADACF-D6C7-4DAA-8317-AD4B20C7DBAF}">
      <dgm:prSet/>
      <dgm:spPr/>
      <dgm:t>
        <a:bodyPr/>
        <a:lstStyle/>
        <a:p>
          <a:endParaRPr lang="en-US"/>
        </a:p>
      </dgm:t>
    </dgm:pt>
    <dgm:pt modelId="{AAB58298-ACEE-4AA6-BD01-E9752604589B}" type="sibTrans" cxnId="{E10ADACF-D6C7-4DAA-8317-AD4B20C7DBAF}">
      <dgm:prSet/>
      <dgm:spPr/>
      <dgm:t>
        <a:bodyPr/>
        <a:lstStyle/>
        <a:p>
          <a:endParaRPr lang="en-US"/>
        </a:p>
      </dgm:t>
    </dgm:pt>
    <dgm:pt modelId="{04F7B78C-D7E5-45CA-91DA-5AA9BA988B49}">
      <dgm:prSet/>
      <dgm:spPr/>
      <dgm:t>
        <a:bodyPr/>
        <a:lstStyle/>
        <a:p>
          <a:r>
            <a:rPr lang="en-US"/>
            <a:t>The fund pays out to households affected by natural disasters like earthquakes. </a:t>
          </a:r>
        </a:p>
      </dgm:t>
    </dgm:pt>
    <dgm:pt modelId="{4655DAC7-BC18-438E-8487-1292CF6EFA71}" type="parTrans" cxnId="{3E3211F3-F708-43C2-9371-BCD67B60FA81}">
      <dgm:prSet/>
      <dgm:spPr/>
      <dgm:t>
        <a:bodyPr/>
        <a:lstStyle/>
        <a:p>
          <a:endParaRPr lang="en-US"/>
        </a:p>
      </dgm:t>
    </dgm:pt>
    <dgm:pt modelId="{43D42EEC-F986-4FB9-BDDB-2EB58EF664EC}" type="sibTrans" cxnId="{3E3211F3-F708-43C2-9371-BCD67B60FA81}">
      <dgm:prSet/>
      <dgm:spPr/>
      <dgm:t>
        <a:bodyPr/>
        <a:lstStyle/>
        <a:p>
          <a:endParaRPr lang="en-US"/>
        </a:p>
      </dgm:t>
    </dgm:pt>
    <dgm:pt modelId="{BBCF9ECF-5EF4-4A53-8103-86A37910A955}" type="pres">
      <dgm:prSet presAssocID="{93F73AB2-1F49-4ECF-9AA9-391911D8867E}" presName="root" presStyleCnt="0">
        <dgm:presLayoutVars>
          <dgm:dir/>
          <dgm:resizeHandles val="exact"/>
        </dgm:presLayoutVars>
      </dgm:prSet>
      <dgm:spPr/>
    </dgm:pt>
    <dgm:pt modelId="{3398AB7C-666F-4461-894D-4FF9F7E5C10E}" type="pres">
      <dgm:prSet presAssocID="{280B3308-4F79-40FA-8EB7-2473048279B0}" presName="compNode" presStyleCnt="0"/>
      <dgm:spPr/>
    </dgm:pt>
    <dgm:pt modelId="{E965C4F4-422D-4778-8B76-F24A03B9AC32}" type="pres">
      <dgm:prSet presAssocID="{280B3308-4F79-40FA-8EB7-2473048279B0}" presName="bgRect" presStyleLbl="bgShp" presStyleIdx="0" presStyleCnt="2"/>
      <dgm:spPr/>
    </dgm:pt>
    <dgm:pt modelId="{8A03E8DF-F32B-4A64-A4B8-FD30E9954BE6}" type="pres">
      <dgm:prSet presAssocID="{280B3308-4F79-40FA-8EB7-2473048279B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5713C084-2845-4669-930B-D6032ABC89B1}" type="pres">
      <dgm:prSet presAssocID="{280B3308-4F79-40FA-8EB7-2473048279B0}" presName="spaceRect" presStyleCnt="0"/>
      <dgm:spPr/>
    </dgm:pt>
    <dgm:pt modelId="{44624A3E-248C-446B-BA26-B5369808130B}" type="pres">
      <dgm:prSet presAssocID="{280B3308-4F79-40FA-8EB7-2473048279B0}" presName="parTx" presStyleLbl="revTx" presStyleIdx="0" presStyleCnt="2">
        <dgm:presLayoutVars>
          <dgm:chMax val="0"/>
          <dgm:chPref val="0"/>
        </dgm:presLayoutVars>
      </dgm:prSet>
      <dgm:spPr/>
    </dgm:pt>
    <dgm:pt modelId="{9F67161C-D280-4D76-BD65-8B322CE5F23A}" type="pres">
      <dgm:prSet presAssocID="{AAB58298-ACEE-4AA6-BD01-E9752604589B}" presName="sibTrans" presStyleCnt="0"/>
      <dgm:spPr/>
    </dgm:pt>
    <dgm:pt modelId="{AF80CEB9-2009-49DF-84FF-99F0D31E81B0}" type="pres">
      <dgm:prSet presAssocID="{04F7B78C-D7E5-45CA-91DA-5AA9BA988B49}" presName="compNode" presStyleCnt="0"/>
      <dgm:spPr/>
    </dgm:pt>
    <dgm:pt modelId="{95B5AAB7-9E29-4932-852C-0B93360ACC81}" type="pres">
      <dgm:prSet presAssocID="{04F7B78C-D7E5-45CA-91DA-5AA9BA988B49}" presName="bgRect" presStyleLbl="bgShp" presStyleIdx="1" presStyleCnt="2"/>
      <dgm:spPr/>
    </dgm:pt>
    <dgm:pt modelId="{2A1470A6-AA3A-483B-8C80-A1869BF67FFE}" type="pres">
      <dgm:prSet presAssocID="{04F7B78C-D7E5-45CA-91DA-5AA9BA988B4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BE48E179-D3E5-49A9-8E4E-65105500FBA6}" type="pres">
      <dgm:prSet presAssocID="{04F7B78C-D7E5-45CA-91DA-5AA9BA988B49}" presName="spaceRect" presStyleCnt="0"/>
      <dgm:spPr/>
    </dgm:pt>
    <dgm:pt modelId="{3D59AAD5-1B05-44C5-B213-8DB7B99B83EF}" type="pres">
      <dgm:prSet presAssocID="{04F7B78C-D7E5-45CA-91DA-5AA9BA988B4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643C24D-24AA-4382-A462-48F77BCA60C6}" type="presOf" srcId="{04F7B78C-D7E5-45CA-91DA-5AA9BA988B49}" destId="{3D59AAD5-1B05-44C5-B213-8DB7B99B83EF}" srcOrd="0" destOrd="0" presId="urn:microsoft.com/office/officeart/2018/2/layout/IconVerticalSolidList"/>
    <dgm:cxn modelId="{0A01BA6F-3BC6-47D2-BED9-970E8C11CF36}" type="presOf" srcId="{93F73AB2-1F49-4ECF-9AA9-391911D8867E}" destId="{BBCF9ECF-5EF4-4A53-8103-86A37910A955}" srcOrd="0" destOrd="0" presId="urn:microsoft.com/office/officeart/2018/2/layout/IconVerticalSolidList"/>
    <dgm:cxn modelId="{703656A6-0D84-4CC9-87BA-A46C27A41BE4}" type="presOf" srcId="{280B3308-4F79-40FA-8EB7-2473048279B0}" destId="{44624A3E-248C-446B-BA26-B5369808130B}" srcOrd="0" destOrd="0" presId="urn:microsoft.com/office/officeart/2018/2/layout/IconVerticalSolidList"/>
    <dgm:cxn modelId="{E10ADACF-D6C7-4DAA-8317-AD4B20C7DBAF}" srcId="{93F73AB2-1F49-4ECF-9AA9-391911D8867E}" destId="{280B3308-4F79-40FA-8EB7-2473048279B0}" srcOrd="0" destOrd="0" parTransId="{CF844931-90F1-4A4C-B692-B8E58FDEF10E}" sibTransId="{AAB58298-ACEE-4AA6-BD01-E9752604589B}"/>
    <dgm:cxn modelId="{3E3211F3-F708-43C2-9371-BCD67B60FA81}" srcId="{93F73AB2-1F49-4ECF-9AA9-391911D8867E}" destId="{04F7B78C-D7E5-45CA-91DA-5AA9BA988B49}" srcOrd="1" destOrd="0" parTransId="{4655DAC7-BC18-438E-8487-1292CF6EFA71}" sibTransId="{43D42EEC-F986-4FB9-BDDB-2EB58EF664EC}"/>
    <dgm:cxn modelId="{AFD59E48-D47E-4E80-868D-C0E19932E885}" type="presParOf" srcId="{BBCF9ECF-5EF4-4A53-8103-86A37910A955}" destId="{3398AB7C-666F-4461-894D-4FF9F7E5C10E}" srcOrd="0" destOrd="0" presId="urn:microsoft.com/office/officeart/2018/2/layout/IconVerticalSolidList"/>
    <dgm:cxn modelId="{C21CA807-D022-47F8-9F46-E52F528C58C3}" type="presParOf" srcId="{3398AB7C-666F-4461-894D-4FF9F7E5C10E}" destId="{E965C4F4-422D-4778-8B76-F24A03B9AC32}" srcOrd="0" destOrd="0" presId="urn:microsoft.com/office/officeart/2018/2/layout/IconVerticalSolidList"/>
    <dgm:cxn modelId="{C6556398-36E6-47CC-AC60-5350371A5888}" type="presParOf" srcId="{3398AB7C-666F-4461-894D-4FF9F7E5C10E}" destId="{8A03E8DF-F32B-4A64-A4B8-FD30E9954BE6}" srcOrd="1" destOrd="0" presId="urn:microsoft.com/office/officeart/2018/2/layout/IconVerticalSolidList"/>
    <dgm:cxn modelId="{C4C655FB-979B-4016-B0AE-6504C5A1746A}" type="presParOf" srcId="{3398AB7C-666F-4461-894D-4FF9F7E5C10E}" destId="{5713C084-2845-4669-930B-D6032ABC89B1}" srcOrd="2" destOrd="0" presId="urn:microsoft.com/office/officeart/2018/2/layout/IconVerticalSolidList"/>
    <dgm:cxn modelId="{D2D94A07-19F6-42C1-983D-F0625CCD5410}" type="presParOf" srcId="{3398AB7C-666F-4461-894D-4FF9F7E5C10E}" destId="{44624A3E-248C-446B-BA26-B5369808130B}" srcOrd="3" destOrd="0" presId="urn:microsoft.com/office/officeart/2018/2/layout/IconVerticalSolidList"/>
    <dgm:cxn modelId="{F26A2F8D-BE69-4646-A6A1-B84966F1D7DD}" type="presParOf" srcId="{BBCF9ECF-5EF4-4A53-8103-86A37910A955}" destId="{9F67161C-D280-4D76-BD65-8B322CE5F23A}" srcOrd="1" destOrd="0" presId="urn:microsoft.com/office/officeart/2018/2/layout/IconVerticalSolidList"/>
    <dgm:cxn modelId="{39AAC14B-0B9C-4BEB-8B9B-F22FF2BFB335}" type="presParOf" srcId="{BBCF9ECF-5EF4-4A53-8103-86A37910A955}" destId="{AF80CEB9-2009-49DF-84FF-99F0D31E81B0}" srcOrd="2" destOrd="0" presId="urn:microsoft.com/office/officeart/2018/2/layout/IconVerticalSolidList"/>
    <dgm:cxn modelId="{44B90956-B53A-4CE0-B66C-A3FF49C89350}" type="presParOf" srcId="{AF80CEB9-2009-49DF-84FF-99F0D31E81B0}" destId="{95B5AAB7-9E29-4932-852C-0B93360ACC81}" srcOrd="0" destOrd="0" presId="urn:microsoft.com/office/officeart/2018/2/layout/IconVerticalSolidList"/>
    <dgm:cxn modelId="{D4826949-0148-4310-BAAD-6F1EBDF6D719}" type="presParOf" srcId="{AF80CEB9-2009-49DF-84FF-99F0D31E81B0}" destId="{2A1470A6-AA3A-483B-8C80-A1869BF67FFE}" srcOrd="1" destOrd="0" presId="urn:microsoft.com/office/officeart/2018/2/layout/IconVerticalSolidList"/>
    <dgm:cxn modelId="{37BD0427-3225-47F8-9502-652AE7518A79}" type="presParOf" srcId="{AF80CEB9-2009-49DF-84FF-99F0D31E81B0}" destId="{BE48E179-D3E5-49A9-8E4E-65105500FBA6}" srcOrd="2" destOrd="0" presId="urn:microsoft.com/office/officeart/2018/2/layout/IconVerticalSolidList"/>
    <dgm:cxn modelId="{AC007E97-EC87-43AD-B44D-CA2D1B1A8354}" type="presParOf" srcId="{AF80CEB9-2009-49DF-84FF-99F0D31E81B0}" destId="{3D59AAD5-1B05-44C5-B213-8DB7B99B83E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7F15E89-BC5F-44D1-BBB2-32AF8FBD33BD}" type="doc">
      <dgm:prSet loTypeId="urn:microsoft.com/office/officeart/2005/8/layout/orgChart1" loCatId="hierarchy" qsTypeId="urn:microsoft.com/office/officeart/2005/8/quickstyle/simple2" qsCatId="simple" csTypeId="urn:microsoft.com/office/officeart/2005/8/colors/accent1_1" csCatId="accent1"/>
      <dgm:spPr/>
      <dgm:t>
        <a:bodyPr/>
        <a:lstStyle/>
        <a:p>
          <a:endParaRPr lang="en-NZ"/>
        </a:p>
      </dgm:t>
    </dgm:pt>
    <dgm:pt modelId="{1AF629FF-DFBD-4C62-B9DF-95981332CFCB}">
      <dgm:prSet/>
      <dgm:spPr/>
      <dgm:t>
        <a:bodyPr/>
        <a:lstStyle/>
        <a:p>
          <a:r>
            <a:rPr lang="en-US"/>
            <a:t>Consumption smoothing is a </a:t>
          </a:r>
          <a:r>
            <a:rPr lang="en-GB"/>
            <a:t>basic source of stabilisation in an economy.</a:t>
          </a:r>
          <a:endParaRPr lang="en-NZ"/>
        </a:p>
      </dgm:t>
    </dgm:pt>
    <dgm:pt modelId="{70EFCA9C-61BA-4571-8FE0-D2AD8FA80FE2}" type="parTrans" cxnId="{4D9D9170-B163-4639-BC93-A63CA4CE403A}">
      <dgm:prSet/>
      <dgm:spPr/>
      <dgm:t>
        <a:bodyPr/>
        <a:lstStyle/>
        <a:p>
          <a:endParaRPr lang="en-NZ"/>
        </a:p>
      </dgm:t>
    </dgm:pt>
    <dgm:pt modelId="{EE7D7DCC-8B4C-4ECD-BE7E-0E1217F194FF}" type="sibTrans" cxnId="{4D9D9170-B163-4639-BC93-A63CA4CE403A}">
      <dgm:prSet/>
      <dgm:spPr/>
      <dgm:t>
        <a:bodyPr/>
        <a:lstStyle/>
        <a:p>
          <a:endParaRPr lang="en-NZ"/>
        </a:p>
      </dgm:t>
    </dgm:pt>
    <dgm:pt modelId="{A80C1192-7C22-4713-94DC-0E1EAD4E9BCF}">
      <dgm:prSet/>
      <dgm:spPr/>
      <dgm:t>
        <a:bodyPr/>
        <a:lstStyle/>
        <a:p>
          <a:r>
            <a:rPr lang="en-GB"/>
            <a:t>Limitations to consumption smoothing mean it cannot always stabilise the economy; it may amplify the initial shock.</a:t>
          </a:r>
          <a:endParaRPr lang="en-NZ"/>
        </a:p>
      </dgm:t>
    </dgm:pt>
    <dgm:pt modelId="{2D3ACC83-BCA6-4791-B881-63F1E0A4F77C}" type="parTrans" cxnId="{A7AFAA77-B183-4D11-A07D-727B8911B126}">
      <dgm:prSet/>
      <dgm:spPr/>
      <dgm:t>
        <a:bodyPr/>
        <a:lstStyle/>
        <a:p>
          <a:endParaRPr lang="en-NZ"/>
        </a:p>
      </dgm:t>
    </dgm:pt>
    <dgm:pt modelId="{2C7416B2-F6B5-4D63-A0CC-18AD931D1739}" type="sibTrans" cxnId="{A7AFAA77-B183-4D11-A07D-727B8911B126}">
      <dgm:prSet/>
      <dgm:spPr/>
      <dgm:t>
        <a:bodyPr/>
        <a:lstStyle/>
        <a:p>
          <a:endParaRPr lang="en-NZ"/>
        </a:p>
      </dgm:t>
    </dgm:pt>
    <dgm:pt modelId="{D69F321E-FDD4-4229-AACA-F719078C46B0}">
      <dgm:prSet/>
      <dgm:spPr/>
      <dgm:t>
        <a:bodyPr/>
        <a:lstStyle/>
        <a:p>
          <a:r>
            <a:rPr lang="en-GB"/>
            <a:t>e.g. credit constraints, weakness of will, limited co-insurance</a:t>
          </a:r>
          <a:endParaRPr lang="en-NZ"/>
        </a:p>
      </dgm:t>
    </dgm:pt>
    <dgm:pt modelId="{33A636CF-D9C7-41B9-B146-967CB3D91DF1}" type="parTrans" cxnId="{7F2ECE47-AD76-4D19-89E5-759B7D0DF425}">
      <dgm:prSet/>
      <dgm:spPr/>
      <dgm:t>
        <a:bodyPr/>
        <a:lstStyle/>
        <a:p>
          <a:endParaRPr lang="en-NZ"/>
        </a:p>
      </dgm:t>
    </dgm:pt>
    <dgm:pt modelId="{D3306711-DA32-4349-BD06-3EE615FC0206}" type="sibTrans" cxnId="{7F2ECE47-AD76-4D19-89E5-759B7D0DF425}">
      <dgm:prSet/>
      <dgm:spPr/>
      <dgm:t>
        <a:bodyPr/>
        <a:lstStyle/>
        <a:p>
          <a:endParaRPr lang="en-NZ"/>
        </a:p>
      </dgm:t>
    </dgm:pt>
    <dgm:pt modelId="{9A4EF40D-1096-4BAB-8D28-6AA64D8987AD}">
      <dgm:prSet/>
      <dgm:spPr/>
      <dgm:t>
        <a:bodyPr/>
        <a:lstStyle/>
        <a:p>
          <a:r>
            <a:rPr lang="en-GB"/>
            <a:t>This helps us understand the business cycle and how to manage it. </a:t>
          </a:r>
          <a:endParaRPr lang="en-NZ"/>
        </a:p>
      </dgm:t>
    </dgm:pt>
    <dgm:pt modelId="{C93B212E-C783-4ED5-920C-2C63E70F4C06}" type="parTrans" cxnId="{E6DCE524-23E9-4A89-8221-E62A62B4853D}">
      <dgm:prSet/>
      <dgm:spPr/>
      <dgm:t>
        <a:bodyPr/>
        <a:lstStyle/>
        <a:p>
          <a:endParaRPr lang="en-NZ"/>
        </a:p>
      </dgm:t>
    </dgm:pt>
    <dgm:pt modelId="{614C7FF3-1195-4377-B84E-DD5B78348A62}" type="sibTrans" cxnId="{E6DCE524-23E9-4A89-8221-E62A62B4853D}">
      <dgm:prSet/>
      <dgm:spPr/>
      <dgm:t>
        <a:bodyPr/>
        <a:lstStyle/>
        <a:p>
          <a:endParaRPr lang="en-NZ"/>
        </a:p>
      </dgm:t>
    </dgm:pt>
    <dgm:pt modelId="{761914D5-5978-4EEB-AE11-2FEBD5279587}" type="pres">
      <dgm:prSet presAssocID="{C7F15E89-BC5F-44D1-BBB2-32AF8FBD33B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4C72F86-BFC6-4FEE-9D6A-DD9AC6B439DA}" type="pres">
      <dgm:prSet presAssocID="{1AF629FF-DFBD-4C62-B9DF-95981332CFCB}" presName="hierRoot1" presStyleCnt="0">
        <dgm:presLayoutVars>
          <dgm:hierBranch val="init"/>
        </dgm:presLayoutVars>
      </dgm:prSet>
      <dgm:spPr/>
    </dgm:pt>
    <dgm:pt modelId="{51DE0F08-8837-412E-AE88-328CAB92A1B3}" type="pres">
      <dgm:prSet presAssocID="{1AF629FF-DFBD-4C62-B9DF-95981332CFCB}" presName="rootComposite1" presStyleCnt="0"/>
      <dgm:spPr/>
    </dgm:pt>
    <dgm:pt modelId="{9279675D-EDE5-4772-A3AE-1613A20F9BB5}" type="pres">
      <dgm:prSet presAssocID="{1AF629FF-DFBD-4C62-B9DF-95981332CFCB}" presName="rootText1" presStyleLbl="node0" presStyleIdx="0" presStyleCnt="1">
        <dgm:presLayoutVars>
          <dgm:chPref val="3"/>
        </dgm:presLayoutVars>
      </dgm:prSet>
      <dgm:spPr/>
    </dgm:pt>
    <dgm:pt modelId="{C08637EE-7640-4D67-B729-90FE856095B8}" type="pres">
      <dgm:prSet presAssocID="{1AF629FF-DFBD-4C62-B9DF-95981332CFCB}" presName="rootConnector1" presStyleLbl="node1" presStyleIdx="0" presStyleCnt="0"/>
      <dgm:spPr/>
    </dgm:pt>
    <dgm:pt modelId="{70E9D1BD-E555-4819-B4A4-7EA2874DFCE5}" type="pres">
      <dgm:prSet presAssocID="{1AF629FF-DFBD-4C62-B9DF-95981332CFCB}" presName="hierChild2" presStyleCnt="0"/>
      <dgm:spPr/>
    </dgm:pt>
    <dgm:pt modelId="{68D07D54-2C87-4DC5-B9E6-AA6664DD4C78}" type="pres">
      <dgm:prSet presAssocID="{2D3ACC83-BCA6-4791-B881-63F1E0A4F77C}" presName="Name37" presStyleLbl="parChTrans1D2" presStyleIdx="0" presStyleCnt="3"/>
      <dgm:spPr/>
    </dgm:pt>
    <dgm:pt modelId="{8527BA5E-CAE2-4963-BE58-3425AC343D73}" type="pres">
      <dgm:prSet presAssocID="{A80C1192-7C22-4713-94DC-0E1EAD4E9BCF}" presName="hierRoot2" presStyleCnt="0">
        <dgm:presLayoutVars>
          <dgm:hierBranch val="init"/>
        </dgm:presLayoutVars>
      </dgm:prSet>
      <dgm:spPr/>
    </dgm:pt>
    <dgm:pt modelId="{FB9CD372-60D8-4822-8646-97E4587199C6}" type="pres">
      <dgm:prSet presAssocID="{A80C1192-7C22-4713-94DC-0E1EAD4E9BCF}" presName="rootComposite" presStyleCnt="0"/>
      <dgm:spPr/>
    </dgm:pt>
    <dgm:pt modelId="{DE4499F1-75AE-452A-968D-EA7C886901AC}" type="pres">
      <dgm:prSet presAssocID="{A80C1192-7C22-4713-94DC-0E1EAD4E9BCF}" presName="rootText" presStyleLbl="node2" presStyleIdx="0" presStyleCnt="3">
        <dgm:presLayoutVars>
          <dgm:chPref val="3"/>
        </dgm:presLayoutVars>
      </dgm:prSet>
      <dgm:spPr/>
    </dgm:pt>
    <dgm:pt modelId="{DEC50EB9-F2F2-4ABE-9E06-4A160B0E7D3A}" type="pres">
      <dgm:prSet presAssocID="{A80C1192-7C22-4713-94DC-0E1EAD4E9BCF}" presName="rootConnector" presStyleLbl="node2" presStyleIdx="0" presStyleCnt="3"/>
      <dgm:spPr/>
    </dgm:pt>
    <dgm:pt modelId="{87C48C96-022F-4AA2-BB39-CDCD89360DEA}" type="pres">
      <dgm:prSet presAssocID="{A80C1192-7C22-4713-94DC-0E1EAD4E9BCF}" presName="hierChild4" presStyleCnt="0"/>
      <dgm:spPr/>
    </dgm:pt>
    <dgm:pt modelId="{9494DA98-531B-4D25-8F0D-3A892ACE45BC}" type="pres">
      <dgm:prSet presAssocID="{A80C1192-7C22-4713-94DC-0E1EAD4E9BCF}" presName="hierChild5" presStyleCnt="0"/>
      <dgm:spPr/>
    </dgm:pt>
    <dgm:pt modelId="{0A7AB5C6-841F-4E6F-8522-74EB29A0BDD4}" type="pres">
      <dgm:prSet presAssocID="{33A636CF-D9C7-41B9-B146-967CB3D91DF1}" presName="Name37" presStyleLbl="parChTrans1D2" presStyleIdx="1" presStyleCnt="3"/>
      <dgm:spPr/>
    </dgm:pt>
    <dgm:pt modelId="{08B50106-D02C-43A2-ADAA-0CF6B52D0EC2}" type="pres">
      <dgm:prSet presAssocID="{D69F321E-FDD4-4229-AACA-F719078C46B0}" presName="hierRoot2" presStyleCnt="0">
        <dgm:presLayoutVars>
          <dgm:hierBranch val="init"/>
        </dgm:presLayoutVars>
      </dgm:prSet>
      <dgm:spPr/>
    </dgm:pt>
    <dgm:pt modelId="{2599A93F-4430-4231-88E2-3AEECED4685B}" type="pres">
      <dgm:prSet presAssocID="{D69F321E-FDD4-4229-AACA-F719078C46B0}" presName="rootComposite" presStyleCnt="0"/>
      <dgm:spPr/>
    </dgm:pt>
    <dgm:pt modelId="{96F23130-34A7-4685-99D0-7BD2A13FD205}" type="pres">
      <dgm:prSet presAssocID="{D69F321E-FDD4-4229-AACA-F719078C46B0}" presName="rootText" presStyleLbl="node2" presStyleIdx="1" presStyleCnt="3">
        <dgm:presLayoutVars>
          <dgm:chPref val="3"/>
        </dgm:presLayoutVars>
      </dgm:prSet>
      <dgm:spPr/>
    </dgm:pt>
    <dgm:pt modelId="{6A86E154-5068-4668-951E-140C3A238D14}" type="pres">
      <dgm:prSet presAssocID="{D69F321E-FDD4-4229-AACA-F719078C46B0}" presName="rootConnector" presStyleLbl="node2" presStyleIdx="1" presStyleCnt="3"/>
      <dgm:spPr/>
    </dgm:pt>
    <dgm:pt modelId="{D92625BE-6CF9-45CA-9726-1EE8E43CFA68}" type="pres">
      <dgm:prSet presAssocID="{D69F321E-FDD4-4229-AACA-F719078C46B0}" presName="hierChild4" presStyleCnt="0"/>
      <dgm:spPr/>
    </dgm:pt>
    <dgm:pt modelId="{25FC5CF6-3B88-408C-98A5-EB048F6CDDDC}" type="pres">
      <dgm:prSet presAssocID="{D69F321E-FDD4-4229-AACA-F719078C46B0}" presName="hierChild5" presStyleCnt="0"/>
      <dgm:spPr/>
    </dgm:pt>
    <dgm:pt modelId="{6999F224-D22F-4CC0-A6CC-7F3708640BDA}" type="pres">
      <dgm:prSet presAssocID="{C93B212E-C783-4ED5-920C-2C63E70F4C06}" presName="Name37" presStyleLbl="parChTrans1D2" presStyleIdx="2" presStyleCnt="3"/>
      <dgm:spPr/>
    </dgm:pt>
    <dgm:pt modelId="{86D5E643-F904-4B50-9171-4E6558FCF6E2}" type="pres">
      <dgm:prSet presAssocID="{9A4EF40D-1096-4BAB-8D28-6AA64D8987AD}" presName="hierRoot2" presStyleCnt="0">
        <dgm:presLayoutVars>
          <dgm:hierBranch val="init"/>
        </dgm:presLayoutVars>
      </dgm:prSet>
      <dgm:spPr/>
    </dgm:pt>
    <dgm:pt modelId="{6838D609-40EA-4279-9041-AAF886B039F5}" type="pres">
      <dgm:prSet presAssocID="{9A4EF40D-1096-4BAB-8D28-6AA64D8987AD}" presName="rootComposite" presStyleCnt="0"/>
      <dgm:spPr/>
    </dgm:pt>
    <dgm:pt modelId="{F1B0FDE2-8CF8-4414-9EE0-43BF84BBD8F1}" type="pres">
      <dgm:prSet presAssocID="{9A4EF40D-1096-4BAB-8D28-6AA64D8987AD}" presName="rootText" presStyleLbl="node2" presStyleIdx="2" presStyleCnt="3">
        <dgm:presLayoutVars>
          <dgm:chPref val="3"/>
        </dgm:presLayoutVars>
      </dgm:prSet>
      <dgm:spPr/>
    </dgm:pt>
    <dgm:pt modelId="{7E405B18-D8F6-46EF-B1C9-4B50F2821A8A}" type="pres">
      <dgm:prSet presAssocID="{9A4EF40D-1096-4BAB-8D28-6AA64D8987AD}" presName="rootConnector" presStyleLbl="node2" presStyleIdx="2" presStyleCnt="3"/>
      <dgm:spPr/>
    </dgm:pt>
    <dgm:pt modelId="{7BF6BF98-5036-4096-87E6-216503E26DCD}" type="pres">
      <dgm:prSet presAssocID="{9A4EF40D-1096-4BAB-8D28-6AA64D8987AD}" presName="hierChild4" presStyleCnt="0"/>
      <dgm:spPr/>
    </dgm:pt>
    <dgm:pt modelId="{32C0F76B-F047-419E-840E-C7659D065067}" type="pres">
      <dgm:prSet presAssocID="{9A4EF40D-1096-4BAB-8D28-6AA64D8987AD}" presName="hierChild5" presStyleCnt="0"/>
      <dgm:spPr/>
    </dgm:pt>
    <dgm:pt modelId="{C9BB7FA2-F733-4EB7-9F1D-55B1629B5D26}" type="pres">
      <dgm:prSet presAssocID="{1AF629FF-DFBD-4C62-B9DF-95981332CFCB}" presName="hierChild3" presStyleCnt="0"/>
      <dgm:spPr/>
    </dgm:pt>
  </dgm:ptLst>
  <dgm:cxnLst>
    <dgm:cxn modelId="{2D191101-3795-4AD5-9E90-93685C0158AA}" type="presOf" srcId="{A80C1192-7C22-4713-94DC-0E1EAD4E9BCF}" destId="{DE4499F1-75AE-452A-968D-EA7C886901AC}" srcOrd="0" destOrd="0" presId="urn:microsoft.com/office/officeart/2005/8/layout/orgChart1"/>
    <dgm:cxn modelId="{E6DCE524-23E9-4A89-8221-E62A62B4853D}" srcId="{1AF629FF-DFBD-4C62-B9DF-95981332CFCB}" destId="{9A4EF40D-1096-4BAB-8D28-6AA64D8987AD}" srcOrd="2" destOrd="0" parTransId="{C93B212E-C783-4ED5-920C-2C63E70F4C06}" sibTransId="{614C7FF3-1195-4377-B84E-DD5B78348A62}"/>
    <dgm:cxn modelId="{563BE624-4DFD-437E-9B7D-712F2B4153CA}" type="presOf" srcId="{1AF629FF-DFBD-4C62-B9DF-95981332CFCB}" destId="{9279675D-EDE5-4772-A3AE-1613A20F9BB5}" srcOrd="0" destOrd="0" presId="urn:microsoft.com/office/officeart/2005/8/layout/orgChart1"/>
    <dgm:cxn modelId="{18CBC029-885A-4449-9ED2-90A523FEA1F5}" type="presOf" srcId="{33A636CF-D9C7-41B9-B146-967CB3D91DF1}" destId="{0A7AB5C6-841F-4E6F-8522-74EB29A0BDD4}" srcOrd="0" destOrd="0" presId="urn:microsoft.com/office/officeart/2005/8/layout/orgChart1"/>
    <dgm:cxn modelId="{CE78FE3C-23B1-4470-AD38-4C6C0C8A71FA}" type="presOf" srcId="{C93B212E-C783-4ED5-920C-2C63E70F4C06}" destId="{6999F224-D22F-4CC0-A6CC-7F3708640BDA}" srcOrd="0" destOrd="0" presId="urn:microsoft.com/office/officeart/2005/8/layout/orgChart1"/>
    <dgm:cxn modelId="{7F2ECE47-AD76-4D19-89E5-759B7D0DF425}" srcId="{1AF629FF-DFBD-4C62-B9DF-95981332CFCB}" destId="{D69F321E-FDD4-4229-AACA-F719078C46B0}" srcOrd="1" destOrd="0" parTransId="{33A636CF-D9C7-41B9-B146-967CB3D91DF1}" sibTransId="{D3306711-DA32-4349-BD06-3EE615FC0206}"/>
    <dgm:cxn modelId="{DD28D06B-F663-46AC-A96A-1D78AEBA5322}" type="presOf" srcId="{9A4EF40D-1096-4BAB-8D28-6AA64D8987AD}" destId="{F1B0FDE2-8CF8-4414-9EE0-43BF84BBD8F1}" srcOrd="0" destOrd="0" presId="urn:microsoft.com/office/officeart/2005/8/layout/orgChart1"/>
    <dgm:cxn modelId="{4D9D9170-B163-4639-BC93-A63CA4CE403A}" srcId="{C7F15E89-BC5F-44D1-BBB2-32AF8FBD33BD}" destId="{1AF629FF-DFBD-4C62-B9DF-95981332CFCB}" srcOrd="0" destOrd="0" parTransId="{70EFCA9C-61BA-4571-8FE0-D2AD8FA80FE2}" sibTransId="{EE7D7DCC-8B4C-4ECD-BE7E-0E1217F194FF}"/>
    <dgm:cxn modelId="{7AE86074-4262-4DC0-A8B2-ED2350A99E3B}" type="presOf" srcId="{C7F15E89-BC5F-44D1-BBB2-32AF8FBD33BD}" destId="{761914D5-5978-4EEB-AE11-2FEBD5279587}" srcOrd="0" destOrd="0" presId="urn:microsoft.com/office/officeart/2005/8/layout/orgChart1"/>
    <dgm:cxn modelId="{A7AFAA77-B183-4D11-A07D-727B8911B126}" srcId="{1AF629FF-DFBD-4C62-B9DF-95981332CFCB}" destId="{A80C1192-7C22-4713-94DC-0E1EAD4E9BCF}" srcOrd="0" destOrd="0" parTransId="{2D3ACC83-BCA6-4791-B881-63F1E0A4F77C}" sibTransId="{2C7416B2-F6B5-4D63-A0CC-18AD931D1739}"/>
    <dgm:cxn modelId="{7D09D39C-3F14-4E13-9B94-A01A03EBB5EF}" type="presOf" srcId="{D69F321E-FDD4-4229-AACA-F719078C46B0}" destId="{96F23130-34A7-4685-99D0-7BD2A13FD205}" srcOrd="0" destOrd="0" presId="urn:microsoft.com/office/officeart/2005/8/layout/orgChart1"/>
    <dgm:cxn modelId="{DE280B9D-C9C4-483C-9008-CB6FA685F06C}" type="presOf" srcId="{1AF629FF-DFBD-4C62-B9DF-95981332CFCB}" destId="{C08637EE-7640-4D67-B729-90FE856095B8}" srcOrd="1" destOrd="0" presId="urn:microsoft.com/office/officeart/2005/8/layout/orgChart1"/>
    <dgm:cxn modelId="{39B6ADA6-A4CF-47E9-B664-385653CD726F}" type="presOf" srcId="{2D3ACC83-BCA6-4791-B881-63F1E0A4F77C}" destId="{68D07D54-2C87-4DC5-B9E6-AA6664DD4C78}" srcOrd="0" destOrd="0" presId="urn:microsoft.com/office/officeart/2005/8/layout/orgChart1"/>
    <dgm:cxn modelId="{0EA789AF-15DD-409F-989A-BA3D540AD5CF}" type="presOf" srcId="{9A4EF40D-1096-4BAB-8D28-6AA64D8987AD}" destId="{7E405B18-D8F6-46EF-B1C9-4B50F2821A8A}" srcOrd="1" destOrd="0" presId="urn:microsoft.com/office/officeart/2005/8/layout/orgChart1"/>
    <dgm:cxn modelId="{2A5E91AF-4061-4FD8-9B47-0DB0D041F822}" type="presOf" srcId="{A80C1192-7C22-4713-94DC-0E1EAD4E9BCF}" destId="{DEC50EB9-F2F2-4ABE-9E06-4A160B0E7D3A}" srcOrd="1" destOrd="0" presId="urn:microsoft.com/office/officeart/2005/8/layout/orgChart1"/>
    <dgm:cxn modelId="{AA6AC0EB-D483-4A28-8274-031E03D8542D}" type="presOf" srcId="{D69F321E-FDD4-4229-AACA-F719078C46B0}" destId="{6A86E154-5068-4668-951E-140C3A238D14}" srcOrd="1" destOrd="0" presId="urn:microsoft.com/office/officeart/2005/8/layout/orgChart1"/>
    <dgm:cxn modelId="{C0218158-6A10-4BAC-9806-6F79E2CB5B56}" type="presParOf" srcId="{761914D5-5978-4EEB-AE11-2FEBD5279587}" destId="{C4C72F86-BFC6-4FEE-9D6A-DD9AC6B439DA}" srcOrd="0" destOrd="0" presId="urn:microsoft.com/office/officeart/2005/8/layout/orgChart1"/>
    <dgm:cxn modelId="{E6CD2568-F400-4D18-8A8A-7C30B69FC29B}" type="presParOf" srcId="{C4C72F86-BFC6-4FEE-9D6A-DD9AC6B439DA}" destId="{51DE0F08-8837-412E-AE88-328CAB92A1B3}" srcOrd="0" destOrd="0" presId="urn:microsoft.com/office/officeart/2005/8/layout/orgChart1"/>
    <dgm:cxn modelId="{A86FF20D-D166-44A0-B594-A5D992825C1B}" type="presParOf" srcId="{51DE0F08-8837-412E-AE88-328CAB92A1B3}" destId="{9279675D-EDE5-4772-A3AE-1613A20F9BB5}" srcOrd="0" destOrd="0" presId="urn:microsoft.com/office/officeart/2005/8/layout/orgChart1"/>
    <dgm:cxn modelId="{E75DAF15-A21F-431A-976A-ED0B7501CEDF}" type="presParOf" srcId="{51DE0F08-8837-412E-AE88-328CAB92A1B3}" destId="{C08637EE-7640-4D67-B729-90FE856095B8}" srcOrd="1" destOrd="0" presId="urn:microsoft.com/office/officeart/2005/8/layout/orgChart1"/>
    <dgm:cxn modelId="{968381C0-452A-43BF-8882-5E69DDA8B13D}" type="presParOf" srcId="{C4C72F86-BFC6-4FEE-9D6A-DD9AC6B439DA}" destId="{70E9D1BD-E555-4819-B4A4-7EA2874DFCE5}" srcOrd="1" destOrd="0" presId="urn:microsoft.com/office/officeart/2005/8/layout/orgChart1"/>
    <dgm:cxn modelId="{7A412B68-ACF8-4C53-93C4-5B4B0E2BAEE5}" type="presParOf" srcId="{70E9D1BD-E555-4819-B4A4-7EA2874DFCE5}" destId="{68D07D54-2C87-4DC5-B9E6-AA6664DD4C78}" srcOrd="0" destOrd="0" presId="urn:microsoft.com/office/officeart/2005/8/layout/orgChart1"/>
    <dgm:cxn modelId="{FB60B545-1277-47A6-9F15-FBAA75BFFAD5}" type="presParOf" srcId="{70E9D1BD-E555-4819-B4A4-7EA2874DFCE5}" destId="{8527BA5E-CAE2-4963-BE58-3425AC343D73}" srcOrd="1" destOrd="0" presId="urn:microsoft.com/office/officeart/2005/8/layout/orgChart1"/>
    <dgm:cxn modelId="{0017EC97-BBD1-4F8B-899B-581C93311F0A}" type="presParOf" srcId="{8527BA5E-CAE2-4963-BE58-3425AC343D73}" destId="{FB9CD372-60D8-4822-8646-97E4587199C6}" srcOrd="0" destOrd="0" presId="urn:microsoft.com/office/officeart/2005/8/layout/orgChart1"/>
    <dgm:cxn modelId="{293D5DAE-FF14-4FED-B831-D05FEE6AB16B}" type="presParOf" srcId="{FB9CD372-60D8-4822-8646-97E4587199C6}" destId="{DE4499F1-75AE-452A-968D-EA7C886901AC}" srcOrd="0" destOrd="0" presId="urn:microsoft.com/office/officeart/2005/8/layout/orgChart1"/>
    <dgm:cxn modelId="{A82BA55C-FC21-4FE3-B68C-9B79AD4AC0E5}" type="presParOf" srcId="{FB9CD372-60D8-4822-8646-97E4587199C6}" destId="{DEC50EB9-F2F2-4ABE-9E06-4A160B0E7D3A}" srcOrd="1" destOrd="0" presId="urn:microsoft.com/office/officeart/2005/8/layout/orgChart1"/>
    <dgm:cxn modelId="{BC18EB01-CEB6-44C4-887D-A83CBCCCD97D}" type="presParOf" srcId="{8527BA5E-CAE2-4963-BE58-3425AC343D73}" destId="{87C48C96-022F-4AA2-BB39-CDCD89360DEA}" srcOrd="1" destOrd="0" presId="urn:microsoft.com/office/officeart/2005/8/layout/orgChart1"/>
    <dgm:cxn modelId="{05AF7E41-E9E0-475F-A1BD-E5FD81BB4671}" type="presParOf" srcId="{8527BA5E-CAE2-4963-BE58-3425AC343D73}" destId="{9494DA98-531B-4D25-8F0D-3A892ACE45BC}" srcOrd="2" destOrd="0" presId="urn:microsoft.com/office/officeart/2005/8/layout/orgChart1"/>
    <dgm:cxn modelId="{B356F4B1-CA3B-4291-90FA-F5E2F1F2B924}" type="presParOf" srcId="{70E9D1BD-E555-4819-B4A4-7EA2874DFCE5}" destId="{0A7AB5C6-841F-4E6F-8522-74EB29A0BDD4}" srcOrd="2" destOrd="0" presId="urn:microsoft.com/office/officeart/2005/8/layout/orgChart1"/>
    <dgm:cxn modelId="{87D96A7D-B54F-48D3-A5BF-7A18717DF320}" type="presParOf" srcId="{70E9D1BD-E555-4819-B4A4-7EA2874DFCE5}" destId="{08B50106-D02C-43A2-ADAA-0CF6B52D0EC2}" srcOrd="3" destOrd="0" presId="urn:microsoft.com/office/officeart/2005/8/layout/orgChart1"/>
    <dgm:cxn modelId="{6C4303D5-59A2-440A-B382-FF8106BF9486}" type="presParOf" srcId="{08B50106-D02C-43A2-ADAA-0CF6B52D0EC2}" destId="{2599A93F-4430-4231-88E2-3AEECED4685B}" srcOrd="0" destOrd="0" presId="urn:microsoft.com/office/officeart/2005/8/layout/orgChart1"/>
    <dgm:cxn modelId="{57667B81-BB3E-4627-B93A-1E3E57E7BEF6}" type="presParOf" srcId="{2599A93F-4430-4231-88E2-3AEECED4685B}" destId="{96F23130-34A7-4685-99D0-7BD2A13FD205}" srcOrd="0" destOrd="0" presId="urn:microsoft.com/office/officeart/2005/8/layout/orgChart1"/>
    <dgm:cxn modelId="{6A65DED8-1377-499E-84DB-39279A6D1CB4}" type="presParOf" srcId="{2599A93F-4430-4231-88E2-3AEECED4685B}" destId="{6A86E154-5068-4668-951E-140C3A238D14}" srcOrd="1" destOrd="0" presId="urn:microsoft.com/office/officeart/2005/8/layout/orgChart1"/>
    <dgm:cxn modelId="{6579E3B0-1BEB-4A4F-B35A-FAD17B464C7B}" type="presParOf" srcId="{08B50106-D02C-43A2-ADAA-0CF6B52D0EC2}" destId="{D92625BE-6CF9-45CA-9726-1EE8E43CFA68}" srcOrd="1" destOrd="0" presId="urn:microsoft.com/office/officeart/2005/8/layout/orgChart1"/>
    <dgm:cxn modelId="{365BBCC3-64DE-4550-9608-375B5DC0B5DC}" type="presParOf" srcId="{08B50106-D02C-43A2-ADAA-0CF6B52D0EC2}" destId="{25FC5CF6-3B88-408C-98A5-EB048F6CDDDC}" srcOrd="2" destOrd="0" presId="urn:microsoft.com/office/officeart/2005/8/layout/orgChart1"/>
    <dgm:cxn modelId="{DF265172-5377-46CF-978A-EB2E7E1ADFB8}" type="presParOf" srcId="{70E9D1BD-E555-4819-B4A4-7EA2874DFCE5}" destId="{6999F224-D22F-4CC0-A6CC-7F3708640BDA}" srcOrd="4" destOrd="0" presId="urn:microsoft.com/office/officeart/2005/8/layout/orgChart1"/>
    <dgm:cxn modelId="{0DE125F2-3751-4DAA-9C14-AE5C2F3B0A14}" type="presParOf" srcId="{70E9D1BD-E555-4819-B4A4-7EA2874DFCE5}" destId="{86D5E643-F904-4B50-9171-4E6558FCF6E2}" srcOrd="5" destOrd="0" presId="urn:microsoft.com/office/officeart/2005/8/layout/orgChart1"/>
    <dgm:cxn modelId="{39336447-353A-4FD6-ACFC-EB6AD4E712F1}" type="presParOf" srcId="{86D5E643-F904-4B50-9171-4E6558FCF6E2}" destId="{6838D609-40EA-4279-9041-AAF886B039F5}" srcOrd="0" destOrd="0" presId="urn:microsoft.com/office/officeart/2005/8/layout/orgChart1"/>
    <dgm:cxn modelId="{D03CBEF3-BFED-4F11-BE6E-1B0796D93E53}" type="presParOf" srcId="{6838D609-40EA-4279-9041-AAF886B039F5}" destId="{F1B0FDE2-8CF8-4414-9EE0-43BF84BBD8F1}" srcOrd="0" destOrd="0" presId="urn:microsoft.com/office/officeart/2005/8/layout/orgChart1"/>
    <dgm:cxn modelId="{A63B4604-02AF-4DDC-BCB5-27821662DF51}" type="presParOf" srcId="{6838D609-40EA-4279-9041-AAF886B039F5}" destId="{7E405B18-D8F6-46EF-B1C9-4B50F2821A8A}" srcOrd="1" destOrd="0" presId="urn:microsoft.com/office/officeart/2005/8/layout/orgChart1"/>
    <dgm:cxn modelId="{15C1AACC-BC97-4FB2-A719-0317570AB496}" type="presParOf" srcId="{86D5E643-F904-4B50-9171-4E6558FCF6E2}" destId="{7BF6BF98-5036-4096-87E6-216503E26DCD}" srcOrd="1" destOrd="0" presId="urn:microsoft.com/office/officeart/2005/8/layout/orgChart1"/>
    <dgm:cxn modelId="{AB2D1A51-99D6-4F46-BA27-EEC3C178EEBC}" type="presParOf" srcId="{86D5E643-F904-4B50-9171-4E6558FCF6E2}" destId="{32C0F76B-F047-419E-840E-C7659D065067}" srcOrd="2" destOrd="0" presId="urn:microsoft.com/office/officeart/2005/8/layout/orgChart1"/>
    <dgm:cxn modelId="{53C45732-F65B-456A-AD29-0B26C7FD19AF}" type="presParOf" srcId="{C4C72F86-BFC6-4FEE-9D6A-DD9AC6B439DA}" destId="{C9BB7FA2-F733-4EB7-9F1D-55B1629B5D2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6D9AC42-F1B2-4BEA-950F-E3D3A80A3BB4}" type="doc">
      <dgm:prSet loTypeId="urn:microsoft.com/office/officeart/2005/8/layout/hProcess9" loCatId="process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NZ"/>
        </a:p>
      </dgm:t>
    </dgm:pt>
    <dgm:pt modelId="{8F748939-AE62-492A-B3BF-D56D4A52FCAB}">
      <dgm:prSet/>
      <dgm:spPr/>
      <dgm:t>
        <a:bodyPr/>
        <a:lstStyle/>
        <a:p>
          <a:r>
            <a:rPr lang="en-NZ"/>
            <a:t>In periods of</a:t>
          </a:r>
        </a:p>
      </dgm:t>
    </dgm:pt>
    <dgm:pt modelId="{39A72F86-9999-44AB-B69E-E6B0F1F474A7}" type="parTrans" cxnId="{A6D509B5-C62A-48C9-9D32-F1C832C7A6CE}">
      <dgm:prSet/>
      <dgm:spPr/>
      <dgm:t>
        <a:bodyPr/>
        <a:lstStyle/>
        <a:p>
          <a:endParaRPr lang="en-NZ"/>
        </a:p>
      </dgm:t>
    </dgm:pt>
    <dgm:pt modelId="{FB604B5F-E662-4636-A7C6-AA110E9EC34F}" type="sibTrans" cxnId="{A6D509B5-C62A-48C9-9D32-F1C832C7A6CE}">
      <dgm:prSet/>
      <dgm:spPr/>
      <dgm:t>
        <a:bodyPr/>
        <a:lstStyle/>
        <a:p>
          <a:endParaRPr lang="en-NZ"/>
        </a:p>
      </dgm:t>
    </dgm:pt>
    <dgm:pt modelId="{F6BFF544-6413-4CBC-B07F-6D81899309BE}">
      <dgm:prSet/>
      <dgm:spPr/>
      <dgm:t>
        <a:bodyPr/>
        <a:lstStyle/>
        <a:p>
          <a:r>
            <a:rPr lang="en-NZ"/>
            <a:t>High economic growth, unemployment tends to be low and inflation high</a:t>
          </a:r>
        </a:p>
      </dgm:t>
    </dgm:pt>
    <dgm:pt modelId="{11EA9095-EC35-4EDB-B1E4-30D311F21E39}" type="parTrans" cxnId="{E77B6161-2B9D-4DB0-8E80-6A49928CF92D}">
      <dgm:prSet/>
      <dgm:spPr/>
      <dgm:t>
        <a:bodyPr/>
        <a:lstStyle/>
        <a:p>
          <a:endParaRPr lang="en-NZ"/>
        </a:p>
      </dgm:t>
    </dgm:pt>
    <dgm:pt modelId="{DE02565B-930E-422E-AAC2-83AFE67A31BF}" type="sibTrans" cxnId="{E77B6161-2B9D-4DB0-8E80-6A49928CF92D}">
      <dgm:prSet/>
      <dgm:spPr/>
      <dgm:t>
        <a:bodyPr/>
        <a:lstStyle/>
        <a:p>
          <a:endParaRPr lang="en-NZ"/>
        </a:p>
      </dgm:t>
    </dgm:pt>
    <dgm:pt modelId="{7A8468C5-3E9E-4EBC-9830-B1084B534CAB}">
      <dgm:prSet/>
      <dgm:spPr/>
      <dgm:t>
        <a:bodyPr/>
        <a:lstStyle/>
        <a:p>
          <a:r>
            <a:rPr lang="en-NZ"/>
            <a:t>Low economic growth, unemployment tends to be high and inflation low</a:t>
          </a:r>
        </a:p>
      </dgm:t>
    </dgm:pt>
    <dgm:pt modelId="{1E4EFC50-0F8E-4BEA-8606-47F174403E4F}" type="parTrans" cxnId="{D037474B-C68A-4052-BEEC-970E531F5E8F}">
      <dgm:prSet/>
      <dgm:spPr/>
      <dgm:t>
        <a:bodyPr/>
        <a:lstStyle/>
        <a:p>
          <a:endParaRPr lang="en-NZ"/>
        </a:p>
      </dgm:t>
    </dgm:pt>
    <dgm:pt modelId="{A5817C02-22D1-43CE-BD4B-CC03626E53B9}" type="sibTrans" cxnId="{D037474B-C68A-4052-BEEC-970E531F5E8F}">
      <dgm:prSet/>
      <dgm:spPr/>
      <dgm:t>
        <a:bodyPr/>
        <a:lstStyle/>
        <a:p>
          <a:endParaRPr lang="en-NZ"/>
        </a:p>
      </dgm:t>
    </dgm:pt>
    <dgm:pt modelId="{E8435D47-6C0E-41F0-A73B-656B3F0EAA24}" type="pres">
      <dgm:prSet presAssocID="{76D9AC42-F1B2-4BEA-950F-E3D3A80A3BB4}" presName="CompostProcess" presStyleCnt="0">
        <dgm:presLayoutVars>
          <dgm:dir/>
          <dgm:resizeHandles val="exact"/>
        </dgm:presLayoutVars>
      </dgm:prSet>
      <dgm:spPr/>
    </dgm:pt>
    <dgm:pt modelId="{85F08155-F79F-4BAF-95E1-24DCC232AD33}" type="pres">
      <dgm:prSet presAssocID="{76D9AC42-F1B2-4BEA-950F-E3D3A80A3BB4}" presName="arrow" presStyleLbl="bgShp" presStyleIdx="0" presStyleCnt="1"/>
      <dgm:spPr/>
    </dgm:pt>
    <dgm:pt modelId="{E30DD88C-AD32-434A-B54E-70C5514EDB57}" type="pres">
      <dgm:prSet presAssocID="{76D9AC42-F1B2-4BEA-950F-E3D3A80A3BB4}" presName="linearProcess" presStyleCnt="0"/>
      <dgm:spPr/>
    </dgm:pt>
    <dgm:pt modelId="{F0052CB6-2485-4DD7-B7A3-8F092DE96F5F}" type="pres">
      <dgm:prSet presAssocID="{8F748939-AE62-492A-B3BF-D56D4A52FCAB}" presName="textNode" presStyleLbl="node1" presStyleIdx="0" presStyleCnt="3">
        <dgm:presLayoutVars>
          <dgm:bulletEnabled val="1"/>
        </dgm:presLayoutVars>
      </dgm:prSet>
      <dgm:spPr/>
    </dgm:pt>
    <dgm:pt modelId="{2ED4E679-09CC-4666-8928-D3A68DA93449}" type="pres">
      <dgm:prSet presAssocID="{FB604B5F-E662-4636-A7C6-AA110E9EC34F}" presName="sibTrans" presStyleCnt="0"/>
      <dgm:spPr/>
    </dgm:pt>
    <dgm:pt modelId="{AD2ADEE9-8F0C-4277-A022-AAE26018B359}" type="pres">
      <dgm:prSet presAssocID="{F6BFF544-6413-4CBC-B07F-6D81899309BE}" presName="textNode" presStyleLbl="node1" presStyleIdx="1" presStyleCnt="3">
        <dgm:presLayoutVars>
          <dgm:bulletEnabled val="1"/>
        </dgm:presLayoutVars>
      </dgm:prSet>
      <dgm:spPr/>
    </dgm:pt>
    <dgm:pt modelId="{9770F7F9-71A2-471D-862F-80DDB2F1F932}" type="pres">
      <dgm:prSet presAssocID="{DE02565B-930E-422E-AAC2-83AFE67A31BF}" presName="sibTrans" presStyleCnt="0"/>
      <dgm:spPr/>
    </dgm:pt>
    <dgm:pt modelId="{E7B2307B-9981-4C48-A1A0-C09C0CBE0261}" type="pres">
      <dgm:prSet presAssocID="{7A8468C5-3E9E-4EBC-9830-B1084B534CAB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48B5AB2B-F3AE-4E2E-970C-4B0E03B23418}" type="presOf" srcId="{76D9AC42-F1B2-4BEA-950F-E3D3A80A3BB4}" destId="{E8435D47-6C0E-41F0-A73B-656B3F0EAA24}" srcOrd="0" destOrd="0" presId="urn:microsoft.com/office/officeart/2005/8/layout/hProcess9"/>
    <dgm:cxn modelId="{89F48C37-BFE8-48FB-BAE6-6CC4417F0517}" type="presOf" srcId="{F6BFF544-6413-4CBC-B07F-6D81899309BE}" destId="{AD2ADEE9-8F0C-4277-A022-AAE26018B359}" srcOrd="0" destOrd="0" presId="urn:microsoft.com/office/officeart/2005/8/layout/hProcess9"/>
    <dgm:cxn modelId="{D037474B-C68A-4052-BEEC-970E531F5E8F}" srcId="{76D9AC42-F1B2-4BEA-950F-E3D3A80A3BB4}" destId="{7A8468C5-3E9E-4EBC-9830-B1084B534CAB}" srcOrd="2" destOrd="0" parTransId="{1E4EFC50-0F8E-4BEA-8606-47F174403E4F}" sibTransId="{A5817C02-22D1-43CE-BD4B-CC03626E53B9}"/>
    <dgm:cxn modelId="{E77B6161-2B9D-4DB0-8E80-6A49928CF92D}" srcId="{76D9AC42-F1B2-4BEA-950F-E3D3A80A3BB4}" destId="{F6BFF544-6413-4CBC-B07F-6D81899309BE}" srcOrd="1" destOrd="0" parTransId="{11EA9095-EC35-4EDB-B1E4-30D311F21E39}" sibTransId="{DE02565B-930E-422E-AAC2-83AFE67A31BF}"/>
    <dgm:cxn modelId="{A6D509B5-C62A-48C9-9D32-F1C832C7A6CE}" srcId="{76D9AC42-F1B2-4BEA-950F-E3D3A80A3BB4}" destId="{8F748939-AE62-492A-B3BF-D56D4A52FCAB}" srcOrd="0" destOrd="0" parTransId="{39A72F86-9999-44AB-B69E-E6B0F1F474A7}" sibTransId="{FB604B5F-E662-4636-A7C6-AA110E9EC34F}"/>
    <dgm:cxn modelId="{66985DC5-7D7B-4990-8D5D-8D3F96875F09}" type="presOf" srcId="{8F748939-AE62-492A-B3BF-D56D4A52FCAB}" destId="{F0052CB6-2485-4DD7-B7A3-8F092DE96F5F}" srcOrd="0" destOrd="0" presId="urn:microsoft.com/office/officeart/2005/8/layout/hProcess9"/>
    <dgm:cxn modelId="{E6E797FD-7D71-4A8E-9BAD-CD9DB5B22A9A}" type="presOf" srcId="{7A8468C5-3E9E-4EBC-9830-B1084B534CAB}" destId="{E7B2307B-9981-4C48-A1A0-C09C0CBE0261}" srcOrd="0" destOrd="0" presId="urn:microsoft.com/office/officeart/2005/8/layout/hProcess9"/>
    <dgm:cxn modelId="{2C5540DD-87A1-4393-BCC0-9D4DAF572B14}" type="presParOf" srcId="{E8435D47-6C0E-41F0-A73B-656B3F0EAA24}" destId="{85F08155-F79F-4BAF-95E1-24DCC232AD33}" srcOrd="0" destOrd="0" presId="urn:microsoft.com/office/officeart/2005/8/layout/hProcess9"/>
    <dgm:cxn modelId="{621D4283-6CB9-4D83-97CE-FEE9B51897A2}" type="presParOf" srcId="{E8435D47-6C0E-41F0-A73B-656B3F0EAA24}" destId="{E30DD88C-AD32-434A-B54E-70C5514EDB57}" srcOrd="1" destOrd="0" presId="urn:microsoft.com/office/officeart/2005/8/layout/hProcess9"/>
    <dgm:cxn modelId="{C4E21636-0E17-44D9-9DD6-A587AFF3331E}" type="presParOf" srcId="{E30DD88C-AD32-434A-B54E-70C5514EDB57}" destId="{F0052CB6-2485-4DD7-B7A3-8F092DE96F5F}" srcOrd="0" destOrd="0" presId="urn:microsoft.com/office/officeart/2005/8/layout/hProcess9"/>
    <dgm:cxn modelId="{04C667FF-BF28-4120-8CBB-B25013DDCD68}" type="presParOf" srcId="{E30DD88C-AD32-434A-B54E-70C5514EDB57}" destId="{2ED4E679-09CC-4666-8928-D3A68DA93449}" srcOrd="1" destOrd="0" presId="urn:microsoft.com/office/officeart/2005/8/layout/hProcess9"/>
    <dgm:cxn modelId="{1AAF422B-4689-4734-A844-811B7B33339C}" type="presParOf" srcId="{E30DD88C-AD32-434A-B54E-70C5514EDB57}" destId="{AD2ADEE9-8F0C-4277-A022-AAE26018B359}" srcOrd="2" destOrd="0" presId="urn:microsoft.com/office/officeart/2005/8/layout/hProcess9"/>
    <dgm:cxn modelId="{BD9DF620-FFE9-43EC-8CAB-7BDF05FEAA9D}" type="presParOf" srcId="{E30DD88C-AD32-434A-B54E-70C5514EDB57}" destId="{9770F7F9-71A2-471D-862F-80DDB2F1F932}" srcOrd="3" destOrd="0" presId="urn:microsoft.com/office/officeart/2005/8/layout/hProcess9"/>
    <dgm:cxn modelId="{09A84BC3-50EB-4D88-90A0-4DBB49ECD3B9}" type="presParOf" srcId="{E30DD88C-AD32-434A-B54E-70C5514EDB57}" destId="{E7B2307B-9981-4C48-A1A0-C09C0CBE0261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03439C7-DB51-4A41-B054-D328440B1D64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F2473EDB-B503-4DD7-A113-7F3226DB56F7}">
      <dgm:prSet/>
      <dgm:spPr/>
      <dgm:t>
        <a:bodyPr/>
        <a:lstStyle/>
        <a:p>
          <a:r>
            <a:rPr lang="en-US"/>
            <a:t>Tracks prices of components of GDP (C, I, G, NX)</a:t>
          </a:r>
        </a:p>
      </dgm:t>
    </dgm:pt>
    <dgm:pt modelId="{BFB0810A-2AC1-4166-8606-D04B1BCC2632}" type="parTrans" cxnId="{8EE1D37C-2B2B-410D-9651-EB9A3B27A803}">
      <dgm:prSet/>
      <dgm:spPr/>
      <dgm:t>
        <a:bodyPr/>
        <a:lstStyle/>
        <a:p>
          <a:endParaRPr lang="en-US"/>
        </a:p>
      </dgm:t>
    </dgm:pt>
    <dgm:pt modelId="{0181C4DD-ED52-4D4B-BA85-98E85F41BCB7}" type="sibTrans" cxnId="{8EE1D37C-2B2B-410D-9651-EB9A3B27A803}">
      <dgm:prSet/>
      <dgm:spPr/>
      <dgm:t>
        <a:bodyPr/>
        <a:lstStyle/>
        <a:p>
          <a:endParaRPr lang="en-US"/>
        </a:p>
      </dgm:t>
    </dgm:pt>
    <dgm:pt modelId="{52897640-7B8E-411B-9F5A-7D3DB96F6608}">
      <dgm:prSet/>
      <dgm:spPr/>
      <dgm:t>
        <a:bodyPr/>
        <a:lstStyle/>
        <a:p>
          <a:r>
            <a:rPr lang="en-US"/>
            <a:t>Allows GDP to be compared across countries and over time</a:t>
          </a:r>
        </a:p>
      </dgm:t>
    </dgm:pt>
    <dgm:pt modelId="{2E4CBB4A-95DC-4128-8F5B-9DD909BD5539}" type="parTrans" cxnId="{FA436FA6-9D14-471F-A266-68C4230D9327}">
      <dgm:prSet/>
      <dgm:spPr/>
      <dgm:t>
        <a:bodyPr/>
        <a:lstStyle/>
        <a:p>
          <a:endParaRPr lang="en-US"/>
        </a:p>
      </dgm:t>
    </dgm:pt>
    <dgm:pt modelId="{B701D637-4CEE-462D-9E7F-10D9FDFB37CC}" type="sibTrans" cxnId="{FA436FA6-9D14-471F-A266-68C4230D9327}">
      <dgm:prSet/>
      <dgm:spPr/>
      <dgm:t>
        <a:bodyPr/>
        <a:lstStyle/>
        <a:p>
          <a:endParaRPr lang="en-US"/>
        </a:p>
      </dgm:t>
    </dgm:pt>
    <dgm:pt modelId="{65204601-0070-C64A-8B8E-3257EE072C74}" type="pres">
      <dgm:prSet presAssocID="{903439C7-DB51-4A41-B054-D328440B1D64}" presName="vert0" presStyleCnt="0">
        <dgm:presLayoutVars>
          <dgm:dir/>
          <dgm:animOne val="branch"/>
          <dgm:animLvl val="lvl"/>
        </dgm:presLayoutVars>
      </dgm:prSet>
      <dgm:spPr/>
    </dgm:pt>
    <dgm:pt modelId="{2D31813B-FEB8-8645-9B51-049069ED0C05}" type="pres">
      <dgm:prSet presAssocID="{F2473EDB-B503-4DD7-A113-7F3226DB56F7}" presName="thickLine" presStyleLbl="alignNode1" presStyleIdx="0" presStyleCnt="2"/>
      <dgm:spPr/>
    </dgm:pt>
    <dgm:pt modelId="{8596C218-2029-8047-80D1-2AEAFCB1EFF2}" type="pres">
      <dgm:prSet presAssocID="{F2473EDB-B503-4DD7-A113-7F3226DB56F7}" presName="horz1" presStyleCnt="0"/>
      <dgm:spPr/>
    </dgm:pt>
    <dgm:pt modelId="{5BDB5B51-16A5-A948-B62C-08A697C42AF6}" type="pres">
      <dgm:prSet presAssocID="{F2473EDB-B503-4DD7-A113-7F3226DB56F7}" presName="tx1" presStyleLbl="revTx" presStyleIdx="0" presStyleCnt="2"/>
      <dgm:spPr/>
    </dgm:pt>
    <dgm:pt modelId="{EF0DC4D5-69D0-4345-AB09-45DF10297A4B}" type="pres">
      <dgm:prSet presAssocID="{F2473EDB-B503-4DD7-A113-7F3226DB56F7}" presName="vert1" presStyleCnt="0"/>
      <dgm:spPr/>
    </dgm:pt>
    <dgm:pt modelId="{A0877630-ED14-F648-ACAE-75793BD0D93D}" type="pres">
      <dgm:prSet presAssocID="{52897640-7B8E-411B-9F5A-7D3DB96F6608}" presName="thickLine" presStyleLbl="alignNode1" presStyleIdx="1" presStyleCnt="2"/>
      <dgm:spPr/>
    </dgm:pt>
    <dgm:pt modelId="{C0601B74-1D8F-A84E-AADB-2700AC74195B}" type="pres">
      <dgm:prSet presAssocID="{52897640-7B8E-411B-9F5A-7D3DB96F6608}" presName="horz1" presStyleCnt="0"/>
      <dgm:spPr/>
    </dgm:pt>
    <dgm:pt modelId="{27D9A4FA-7DD0-644D-B194-11ED09E0C399}" type="pres">
      <dgm:prSet presAssocID="{52897640-7B8E-411B-9F5A-7D3DB96F6608}" presName="tx1" presStyleLbl="revTx" presStyleIdx="1" presStyleCnt="2"/>
      <dgm:spPr/>
    </dgm:pt>
    <dgm:pt modelId="{352E7349-EBB3-D64A-9AEF-8330B8F348A5}" type="pres">
      <dgm:prSet presAssocID="{52897640-7B8E-411B-9F5A-7D3DB96F6608}" presName="vert1" presStyleCnt="0"/>
      <dgm:spPr/>
    </dgm:pt>
  </dgm:ptLst>
  <dgm:cxnLst>
    <dgm:cxn modelId="{2269EA0F-8353-DF48-9AD9-224AFBB7806D}" type="presOf" srcId="{52897640-7B8E-411B-9F5A-7D3DB96F6608}" destId="{27D9A4FA-7DD0-644D-B194-11ED09E0C399}" srcOrd="0" destOrd="0" presId="urn:microsoft.com/office/officeart/2008/layout/LinedList"/>
    <dgm:cxn modelId="{4DF40526-A318-B34D-9E9F-69ACCB96A30E}" type="presOf" srcId="{F2473EDB-B503-4DD7-A113-7F3226DB56F7}" destId="{5BDB5B51-16A5-A948-B62C-08A697C42AF6}" srcOrd="0" destOrd="0" presId="urn:microsoft.com/office/officeart/2008/layout/LinedList"/>
    <dgm:cxn modelId="{8EE1D37C-2B2B-410D-9651-EB9A3B27A803}" srcId="{903439C7-DB51-4A41-B054-D328440B1D64}" destId="{F2473EDB-B503-4DD7-A113-7F3226DB56F7}" srcOrd="0" destOrd="0" parTransId="{BFB0810A-2AC1-4166-8606-D04B1BCC2632}" sibTransId="{0181C4DD-ED52-4D4B-BA85-98E85F41BCB7}"/>
    <dgm:cxn modelId="{FA436FA6-9D14-471F-A266-68C4230D9327}" srcId="{903439C7-DB51-4A41-B054-D328440B1D64}" destId="{52897640-7B8E-411B-9F5A-7D3DB96F6608}" srcOrd="1" destOrd="0" parTransId="{2E4CBB4A-95DC-4128-8F5B-9DD909BD5539}" sibTransId="{B701D637-4CEE-462D-9E7F-10D9FDFB37CC}"/>
    <dgm:cxn modelId="{F2154AEF-07A3-E649-9C96-4DE3C40FF736}" type="presOf" srcId="{903439C7-DB51-4A41-B054-D328440B1D64}" destId="{65204601-0070-C64A-8B8E-3257EE072C74}" srcOrd="0" destOrd="0" presId="urn:microsoft.com/office/officeart/2008/layout/LinedList"/>
    <dgm:cxn modelId="{E022D464-8D68-6742-A6A7-0C3D30DF4BE3}" type="presParOf" srcId="{65204601-0070-C64A-8B8E-3257EE072C74}" destId="{2D31813B-FEB8-8645-9B51-049069ED0C05}" srcOrd="0" destOrd="0" presId="urn:microsoft.com/office/officeart/2008/layout/LinedList"/>
    <dgm:cxn modelId="{4664C369-E441-EC4B-9332-9879B055DB8F}" type="presParOf" srcId="{65204601-0070-C64A-8B8E-3257EE072C74}" destId="{8596C218-2029-8047-80D1-2AEAFCB1EFF2}" srcOrd="1" destOrd="0" presId="urn:microsoft.com/office/officeart/2008/layout/LinedList"/>
    <dgm:cxn modelId="{9A831662-8CC6-8943-86AC-29FE0E54F957}" type="presParOf" srcId="{8596C218-2029-8047-80D1-2AEAFCB1EFF2}" destId="{5BDB5B51-16A5-A948-B62C-08A697C42AF6}" srcOrd="0" destOrd="0" presId="urn:microsoft.com/office/officeart/2008/layout/LinedList"/>
    <dgm:cxn modelId="{B65CB24D-08E1-5148-9614-B6F0AD25C1C0}" type="presParOf" srcId="{8596C218-2029-8047-80D1-2AEAFCB1EFF2}" destId="{EF0DC4D5-69D0-4345-AB09-45DF10297A4B}" srcOrd="1" destOrd="0" presId="urn:microsoft.com/office/officeart/2008/layout/LinedList"/>
    <dgm:cxn modelId="{4E72EAB5-B52A-F749-B396-A11897A7CA9B}" type="presParOf" srcId="{65204601-0070-C64A-8B8E-3257EE072C74}" destId="{A0877630-ED14-F648-ACAE-75793BD0D93D}" srcOrd="2" destOrd="0" presId="urn:microsoft.com/office/officeart/2008/layout/LinedList"/>
    <dgm:cxn modelId="{4AF465A7-84E8-AA4A-A71E-69A6577CAAE8}" type="presParOf" srcId="{65204601-0070-C64A-8B8E-3257EE072C74}" destId="{C0601B74-1D8F-A84E-AADB-2700AC74195B}" srcOrd="3" destOrd="0" presId="urn:microsoft.com/office/officeart/2008/layout/LinedList"/>
    <dgm:cxn modelId="{788F69F6-0843-4E4A-B9E7-52BA7E5C8AB7}" type="presParOf" srcId="{C0601B74-1D8F-A84E-AADB-2700AC74195B}" destId="{27D9A4FA-7DD0-644D-B194-11ED09E0C399}" srcOrd="0" destOrd="0" presId="urn:microsoft.com/office/officeart/2008/layout/LinedList"/>
    <dgm:cxn modelId="{361FE50F-3047-DA41-BC6C-5D8FC2F8F925}" type="presParOf" srcId="{C0601B74-1D8F-A84E-AADB-2700AC74195B}" destId="{352E7349-EBB3-D64A-9AEF-8330B8F348A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48F268-CB49-4FC9-8422-BDBE528B7E95}">
      <dsp:nvSpPr>
        <dsp:cNvPr id="0" name=""/>
        <dsp:cNvSpPr/>
      </dsp:nvSpPr>
      <dsp:spPr>
        <a:xfrm>
          <a:off x="1352011" y="0"/>
          <a:ext cx="3037965" cy="12560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Changes in the rate of GDP growth are </a:t>
          </a:r>
          <a:r>
            <a:rPr lang="en-US" sz="1800" kern="1200" dirty="0">
              <a:solidFill>
                <a:srgbClr val="FFC000"/>
              </a:solidFill>
            </a:rPr>
            <a:t>negatively correlated </a:t>
          </a:r>
          <a:r>
            <a:rPr lang="en-US" sz="1800" kern="1200" dirty="0"/>
            <a:t>with the unemployment rate.</a:t>
          </a:r>
          <a:endParaRPr lang="en-NZ" sz="1800" kern="1200" dirty="0"/>
        </a:p>
      </dsp:txBody>
      <dsp:txXfrm>
        <a:off x="1388798" y="36787"/>
        <a:ext cx="2964391" cy="1182432"/>
      </dsp:txXfrm>
    </dsp:sp>
    <dsp:sp modelId="{0DD05210-4402-418F-8383-F1F3AFEA9FCF}">
      <dsp:nvSpPr>
        <dsp:cNvPr id="0" name=""/>
        <dsp:cNvSpPr/>
      </dsp:nvSpPr>
      <dsp:spPr>
        <a:xfrm rot="5400000">
          <a:off x="2635492" y="1287406"/>
          <a:ext cx="471002" cy="5652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1400" kern="1200"/>
        </a:p>
      </dsp:txBody>
      <dsp:txXfrm rot="-5400000">
        <a:off x="2701433" y="1334506"/>
        <a:ext cx="339122" cy="329701"/>
      </dsp:txXfrm>
    </dsp:sp>
    <dsp:sp modelId="{5C92E71D-B040-44D5-827F-E6F5DFC2F22B}">
      <dsp:nvSpPr>
        <dsp:cNvPr id="0" name=""/>
        <dsp:cNvSpPr/>
      </dsp:nvSpPr>
      <dsp:spPr>
        <a:xfrm>
          <a:off x="1352011" y="1884009"/>
          <a:ext cx="3037965" cy="12560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If output falls, unemployment rises</a:t>
          </a:r>
          <a:endParaRPr lang="en-NZ" sz="1800" kern="1200"/>
        </a:p>
      </dsp:txBody>
      <dsp:txXfrm>
        <a:off x="1388798" y="1920796"/>
        <a:ext cx="2964391" cy="1182432"/>
      </dsp:txXfrm>
    </dsp:sp>
    <dsp:sp modelId="{3E4E3456-B643-4F3C-81E5-1E1381E60265}">
      <dsp:nvSpPr>
        <dsp:cNvPr id="0" name=""/>
        <dsp:cNvSpPr/>
      </dsp:nvSpPr>
      <dsp:spPr>
        <a:xfrm rot="5400000">
          <a:off x="2635492" y="3171415"/>
          <a:ext cx="471002" cy="5652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NZ" sz="1400" kern="1200"/>
        </a:p>
      </dsp:txBody>
      <dsp:txXfrm rot="-5400000">
        <a:off x="2701433" y="3218515"/>
        <a:ext cx="339122" cy="329701"/>
      </dsp:txXfrm>
    </dsp:sp>
    <dsp:sp modelId="{399E8AAF-6219-4AC9-B51B-E12C6A3683C6}">
      <dsp:nvSpPr>
        <dsp:cNvPr id="0" name=""/>
        <dsp:cNvSpPr/>
      </dsp:nvSpPr>
      <dsp:spPr>
        <a:xfrm>
          <a:off x="1352011" y="3768018"/>
          <a:ext cx="3037965" cy="12560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If output rises, unemployment falls</a:t>
          </a:r>
          <a:endParaRPr lang="en-NZ" sz="1800" kern="1200"/>
        </a:p>
      </dsp:txBody>
      <dsp:txXfrm>
        <a:off x="1388798" y="3804805"/>
        <a:ext cx="2964391" cy="11824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4A2E1F-6006-4027-BC26-612E17C6A0F2}">
      <dsp:nvSpPr>
        <dsp:cNvPr id="0" name=""/>
        <dsp:cNvSpPr/>
      </dsp:nvSpPr>
      <dsp:spPr>
        <a:xfrm>
          <a:off x="0" y="2812"/>
          <a:ext cx="5741987" cy="13127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3400" kern="1200" dirty="0"/>
            <a:t>Exports are added to our GDP</a:t>
          </a:r>
          <a:endParaRPr lang="en-US" sz="3400" kern="1200" dirty="0"/>
        </a:p>
      </dsp:txBody>
      <dsp:txXfrm>
        <a:off x="64083" y="66895"/>
        <a:ext cx="5613821" cy="1184574"/>
      </dsp:txXfrm>
    </dsp:sp>
    <dsp:sp modelId="{97956796-040A-4748-AB73-6A0C8D674C5D}">
      <dsp:nvSpPr>
        <dsp:cNvPr id="0" name=""/>
        <dsp:cNvSpPr/>
      </dsp:nvSpPr>
      <dsp:spPr>
        <a:xfrm>
          <a:off x="0" y="1315552"/>
          <a:ext cx="5741987" cy="1196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308" tIns="43180" rIns="241808" bIns="4318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 dirty="0"/>
            <a:t>Exports are produced here but consumed by foreign households</a:t>
          </a:r>
        </a:p>
      </dsp:txBody>
      <dsp:txXfrm>
        <a:off x="0" y="1315552"/>
        <a:ext cx="5741987" cy="1196460"/>
      </dsp:txXfrm>
    </dsp:sp>
    <dsp:sp modelId="{F6ED7C43-7B10-4F0D-A1FA-868CA79523BC}">
      <dsp:nvSpPr>
        <dsp:cNvPr id="0" name=""/>
        <dsp:cNvSpPr/>
      </dsp:nvSpPr>
      <dsp:spPr>
        <a:xfrm>
          <a:off x="0" y="2512012"/>
          <a:ext cx="5741987" cy="13127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3400" kern="1200" dirty="0"/>
            <a:t>Imports are subtracted</a:t>
          </a:r>
          <a:endParaRPr lang="en-US" sz="3400" kern="1200" dirty="0"/>
        </a:p>
      </dsp:txBody>
      <dsp:txXfrm>
        <a:off x="64083" y="2576095"/>
        <a:ext cx="5613821" cy="1184574"/>
      </dsp:txXfrm>
    </dsp:sp>
    <dsp:sp modelId="{6F5893D9-110E-1540-99E6-2B9FE8F0B92C}">
      <dsp:nvSpPr>
        <dsp:cNvPr id="0" name=""/>
        <dsp:cNvSpPr/>
      </dsp:nvSpPr>
      <dsp:spPr>
        <a:xfrm>
          <a:off x="0" y="3824752"/>
          <a:ext cx="5741987" cy="1196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308" tIns="43180" rIns="241808" bIns="4318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700" kern="1200" dirty="0"/>
            <a:t>Imports are produced in another country but consumed here</a:t>
          </a:r>
        </a:p>
      </dsp:txBody>
      <dsp:txXfrm>
        <a:off x="0" y="3824752"/>
        <a:ext cx="5741987" cy="11964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38B288-B98C-43EA-B1FD-67EC21248603}">
      <dsp:nvSpPr>
        <dsp:cNvPr id="0" name=""/>
        <dsp:cNvSpPr/>
      </dsp:nvSpPr>
      <dsp:spPr>
        <a:xfrm>
          <a:off x="0" y="69052"/>
          <a:ext cx="5741987" cy="4885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5800" kern="1200"/>
            <a:t>Government spending on goods and services are added to GDP</a:t>
          </a:r>
        </a:p>
      </dsp:txBody>
      <dsp:txXfrm>
        <a:off x="238511" y="307563"/>
        <a:ext cx="5264965" cy="44088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171E3B-0F80-4B0D-882D-93AE9E45F20D}">
      <dsp:nvSpPr>
        <dsp:cNvPr id="0" name=""/>
        <dsp:cNvSpPr/>
      </dsp:nvSpPr>
      <dsp:spPr>
        <a:xfrm>
          <a:off x="0" y="0"/>
          <a:ext cx="71755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4EFFB60-F35B-4D0F-BCE4-685E27D70F3A}">
      <dsp:nvSpPr>
        <dsp:cNvPr id="0" name=""/>
        <dsp:cNvSpPr/>
      </dsp:nvSpPr>
      <dsp:spPr>
        <a:xfrm>
          <a:off x="0" y="0"/>
          <a:ext cx="7175500" cy="1245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900" kern="1200"/>
            <a:t>GDP is a measure of overall economic activity in an economy</a:t>
          </a:r>
          <a:endParaRPr lang="en-US" sz="2900" kern="1200"/>
        </a:p>
      </dsp:txBody>
      <dsp:txXfrm>
        <a:off x="0" y="0"/>
        <a:ext cx="7175500" cy="1245393"/>
      </dsp:txXfrm>
    </dsp:sp>
    <dsp:sp modelId="{D508E2DC-F0B9-48B1-B4BE-F7F6EFB9BC01}">
      <dsp:nvSpPr>
        <dsp:cNvPr id="0" name=""/>
        <dsp:cNvSpPr/>
      </dsp:nvSpPr>
      <dsp:spPr>
        <a:xfrm>
          <a:off x="0" y="1245393"/>
          <a:ext cx="71755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5419866-40CD-42BE-8F34-37F7C761A4A9}">
      <dsp:nvSpPr>
        <dsp:cNvPr id="0" name=""/>
        <dsp:cNvSpPr/>
      </dsp:nvSpPr>
      <dsp:spPr>
        <a:xfrm>
          <a:off x="0" y="1245393"/>
          <a:ext cx="7175500" cy="1245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900" kern="1200"/>
            <a:t>It informs fiscal policy (Government) and monetary policy (Central Bank)</a:t>
          </a:r>
          <a:endParaRPr lang="en-US" sz="2900" kern="1200"/>
        </a:p>
      </dsp:txBody>
      <dsp:txXfrm>
        <a:off x="0" y="1245393"/>
        <a:ext cx="7175500" cy="1245393"/>
      </dsp:txXfrm>
    </dsp:sp>
    <dsp:sp modelId="{83F62B8D-255A-425F-81AB-D93D09730B98}">
      <dsp:nvSpPr>
        <dsp:cNvPr id="0" name=""/>
        <dsp:cNvSpPr/>
      </dsp:nvSpPr>
      <dsp:spPr>
        <a:xfrm>
          <a:off x="0" y="2490787"/>
          <a:ext cx="71755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BBA2F47-95AE-4DBA-9181-DA6CBA84A19E}">
      <dsp:nvSpPr>
        <dsp:cNvPr id="0" name=""/>
        <dsp:cNvSpPr/>
      </dsp:nvSpPr>
      <dsp:spPr>
        <a:xfrm>
          <a:off x="0" y="2490787"/>
          <a:ext cx="7175500" cy="1245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900" kern="1200" dirty="0"/>
            <a:t>It does not measure welfare or well-being in an economy. </a:t>
          </a:r>
          <a:endParaRPr lang="en-US" sz="2900" kern="1200" dirty="0"/>
        </a:p>
      </dsp:txBody>
      <dsp:txXfrm>
        <a:off x="0" y="2490787"/>
        <a:ext cx="7175500" cy="1245393"/>
      </dsp:txXfrm>
    </dsp:sp>
    <dsp:sp modelId="{08C580BE-C462-4C53-87A3-56E938366B82}">
      <dsp:nvSpPr>
        <dsp:cNvPr id="0" name=""/>
        <dsp:cNvSpPr/>
      </dsp:nvSpPr>
      <dsp:spPr>
        <a:xfrm>
          <a:off x="0" y="3736181"/>
          <a:ext cx="71755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D5362B9-5F19-4945-B7D4-C9DF3F0467FD}">
      <dsp:nvSpPr>
        <dsp:cNvPr id="0" name=""/>
        <dsp:cNvSpPr/>
      </dsp:nvSpPr>
      <dsp:spPr>
        <a:xfrm>
          <a:off x="0" y="3736181"/>
          <a:ext cx="7175500" cy="1245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900" kern="1200" dirty="0"/>
            <a:t>Other metrics, like the Human Development Index (HDI) are preferred.</a:t>
          </a:r>
          <a:endParaRPr lang="en-US" sz="2900" kern="1200" dirty="0"/>
        </a:p>
      </dsp:txBody>
      <dsp:txXfrm>
        <a:off x="0" y="3736181"/>
        <a:ext cx="7175500" cy="124539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9C066C-4AAF-0848-A03E-D6A9D3FD81DB}">
      <dsp:nvSpPr>
        <dsp:cNvPr id="0" name=""/>
        <dsp:cNvSpPr/>
      </dsp:nvSpPr>
      <dsp:spPr>
        <a:xfrm rot="5400000">
          <a:off x="1162910" y="1475561"/>
          <a:ext cx="1305006" cy="148570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4842CB-4516-1F4E-B27A-E4B14CA0DC7E}">
      <dsp:nvSpPr>
        <dsp:cNvPr id="0" name=""/>
        <dsp:cNvSpPr/>
      </dsp:nvSpPr>
      <dsp:spPr>
        <a:xfrm>
          <a:off x="817162" y="28935"/>
          <a:ext cx="2196863" cy="1537732"/>
        </a:xfrm>
        <a:prstGeom prst="roundRect">
          <a:avLst>
            <a:gd name="adj" fmla="val 16670"/>
          </a:avLst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GDP only measures recorded market activity.</a:t>
          </a:r>
          <a:endParaRPr lang="en-NZ" sz="1700" kern="1200"/>
        </a:p>
      </dsp:txBody>
      <dsp:txXfrm>
        <a:off x="892241" y="104014"/>
        <a:ext cx="2046705" cy="1387574"/>
      </dsp:txXfrm>
    </dsp:sp>
    <dsp:sp modelId="{3EDBF6F4-3E4F-2D4C-BB30-67AA7C997682}">
      <dsp:nvSpPr>
        <dsp:cNvPr id="0" name=""/>
        <dsp:cNvSpPr/>
      </dsp:nvSpPr>
      <dsp:spPr>
        <a:xfrm>
          <a:off x="3014025" y="175593"/>
          <a:ext cx="1597788" cy="12428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11E611-3332-4649-97E5-156103BA6227}">
      <dsp:nvSpPr>
        <dsp:cNvPr id="0" name=""/>
        <dsp:cNvSpPr/>
      </dsp:nvSpPr>
      <dsp:spPr>
        <a:xfrm rot="5400000">
          <a:off x="2984342" y="3202942"/>
          <a:ext cx="1305006" cy="148570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2ADD3E-B962-5044-A5AF-5C20B1A34F25}">
      <dsp:nvSpPr>
        <dsp:cNvPr id="0" name=""/>
        <dsp:cNvSpPr/>
      </dsp:nvSpPr>
      <dsp:spPr>
        <a:xfrm>
          <a:off x="2638595" y="1756316"/>
          <a:ext cx="2196863" cy="1537732"/>
        </a:xfrm>
        <a:prstGeom prst="roundRect">
          <a:avLst>
            <a:gd name="adj" fmla="val 16670"/>
          </a:avLst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It does not measure the value of goods and services provided voluntarily.</a:t>
          </a:r>
          <a:endParaRPr lang="en-NZ" sz="1700" kern="1200" dirty="0"/>
        </a:p>
      </dsp:txBody>
      <dsp:txXfrm>
        <a:off x="2713674" y="1831395"/>
        <a:ext cx="2046705" cy="1387574"/>
      </dsp:txXfrm>
    </dsp:sp>
    <dsp:sp modelId="{0BB0D1E3-27B7-304A-BB95-C9E5E5339523}">
      <dsp:nvSpPr>
        <dsp:cNvPr id="0" name=""/>
        <dsp:cNvSpPr/>
      </dsp:nvSpPr>
      <dsp:spPr>
        <a:xfrm>
          <a:off x="4835458" y="1902974"/>
          <a:ext cx="1597788" cy="12428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3C70B6-CA16-704C-BF6C-5DE69287E994}">
      <dsp:nvSpPr>
        <dsp:cNvPr id="0" name=""/>
        <dsp:cNvSpPr/>
      </dsp:nvSpPr>
      <dsp:spPr>
        <a:xfrm>
          <a:off x="4460028" y="3483697"/>
          <a:ext cx="2196863" cy="1537732"/>
        </a:xfrm>
        <a:prstGeom prst="roundRect">
          <a:avLst>
            <a:gd name="adj" fmla="val 16670"/>
          </a:avLst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It does not measure the value of goods and services produced illegally.</a:t>
          </a:r>
          <a:endParaRPr lang="en-NZ" sz="1700" kern="1200" dirty="0"/>
        </a:p>
      </dsp:txBody>
      <dsp:txXfrm>
        <a:off x="4535107" y="3558776"/>
        <a:ext cx="2046705" cy="13875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004E63-C969-4F77-A8F5-99CF840A4576}">
      <dsp:nvSpPr>
        <dsp:cNvPr id="0" name=""/>
        <dsp:cNvSpPr/>
      </dsp:nvSpPr>
      <dsp:spPr>
        <a:xfrm>
          <a:off x="3591" y="0"/>
          <a:ext cx="3454610" cy="49815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4000" kern="1200"/>
            <a:t>Consumption (C)</a:t>
          </a:r>
        </a:p>
      </dsp:txBody>
      <dsp:txXfrm>
        <a:off x="3591" y="0"/>
        <a:ext cx="3454610" cy="1494472"/>
      </dsp:txXfrm>
    </dsp:sp>
    <dsp:sp modelId="{DE6AC0D9-E6B2-409D-9EC4-24DF39914904}">
      <dsp:nvSpPr>
        <dsp:cNvPr id="0" name=""/>
        <dsp:cNvSpPr/>
      </dsp:nvSpPr>
      <dsp:spPr>
        <a:xfrm>
          <a:off x="349052" y="1495931"/>
          <a:ext cx="2763688" cy="15020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Goods and services purchased by households.</a:t>
          </a:r>
        </a:p>
      </dsp:txBody>
      <dsp:txXfrm>
        <a:off x="393044" y="1539923"/>
        <a:ext cx="2675704" cy="1414028"/>
      </dsp:txXfrm>
    </dsp:sp>
    <dsp:sp modelId="{A39DB415-8B39-4CB9-8C95-89BC80199A8C}">
      <dsp:nvSpPr>
        <dsp:cNvPr id="0" name=""/>
        <dsp:cNvSpPr/>
      </dsp:nvSpPr>
      <dsp:spPr>
        <a:xfrm>
          <a:off x="349052" y="3229023"/>
          <a:ext cx="2763688" cy="15020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Includes spending on durable goods.</a:t>
          </a:r>
        </a:p>
      </dsp:txBody>
      <dsp:txXfrm>
        <a:off x="393044" y="3273015"/>
        <a:ext cx="2675704" cy="1414028"/>
      </dsp:txXfrm>
    </dsp:sp>
    <dsp:sp modelId="{4E5273FE-2514-4FE4-B9EB-798623754580}">
      <dsp:nvSpPr>
        <dsp:cNvPr id="0" name=""/>
        <dsp:cNvSpPr/>
      </dsp:nvSpPr>
      <dsp:spPr>
        <a:xfrm>
          <a:off x="3717297" y="0"/>
          <a:ext cx="3454610" cy="49815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4000" kern="1200"/>
            <a:t>Investment (I)</a:t>
          </a:r>
        </a:p>
      </dsp:txBody>
      <dsp:txXfrm>
        <a:off x="3717297" y="0"/>
        <a:ext cx="3454610" cy="1494472"/>
      </dsp:txXfrm>
    </dsp:sp>
    <dsp:sp modelId="{57347B2E-74C0-4BA7-BD41-218F63EE0054}">
      <dsp:nvSpPr>
        <dsp:cNvPr id="0" name=""/>
        <dsp:cNvSpPr/>
      </dsp:nvSpPr>
      <dsp:spPr>
        <a:xfrm>
          <a:off x="4062758" y="1494594"/>
          <a:ext cx="2763688" cy="7257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Expenditure by firms on newly produced capital goods.</a:t>
          </a:r>
        </a:p>
      </dsp:txBody>
      <dsp:txXfrm>
        <a:off x="4084013" y="1515849"/>
        <a:ext cx="2721178" cy="683199"/>
      </dsp:txXfrm>
    </dsp:sp>
    <dsp:sp modelId="{717F9EE9-429C-49C5-83C9-4271DDDBCDA8}">
      <dsp:nvSpPr>
        <dsp:cNvPr id="0" name=""/>
        <dsp:cNvSpPr/>
      </dsp:nvSpPr>
      <dsp:spPr>
        <a:xfrm>
          <a:off x="4062758" y="2331951"/>
          <a:ext cx="2763688" cy="7257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Includes buildings and new housing.</a:t>
          </a:r>
        </a:p>
      </dsp:txBody>
      <dsp:txXfrm>
        <a:off x="4084013" y="2353206"/>
        <a:ext cx="2721178" cy="683199"/>
      </dsp:txXfrm>
    </dsp:sp>
    <dsp:sp modelId="{9B047AC8-D648-461B-AB0C-AF3224A04C90}">
      <dsp:nvSpPr>
        <dsp:cNvPr id="0" name=""/>
        <dsp:cNvSpPr/>
      </dsp:nvSpPr>
      <dsp:spPr>
        <a:xfrm>
          <a:off x="4062758" y="3169308"/>
          <a:ext cx="2763688" cy="7257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Includes unsold output, categorised as inventories</a:t>
          </a:r>
        </a:p>
      </dsp:txBody>
      <dsp:txXfrm>
        <a:off x="4084013" y="3190563"/>
        <a:ext cx="2721178" cy="683199"/>
      </dsp:txXfrm>
    </dsp:sp>
    <dsp:sp modelId="{B36B9933-E17B-4A24-A6B7-ED77827D5C04}">
      <dsp:nvSpPr>
        <dsp:cNvPr id="0" name=""/>
        <dsp:cNvSpPr/>
      </dsp:nvSpPr>
      <dsp:spPr>
        <a:xfrm>
          <a:off x="4062758" y="4006665"/>
          <a:ext cx="2763688" cy="7257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1500" kern="1200"/>
            <a:t>Does not include purchase of financial assets (stocks, bonds)</a:t>
          </a:r>
        </a:p>
      </dsp:txBody>
      <dsp:txXfrm>
        <a:off x="4084013" y="4027920"/>
        <a:ext cx="2721178" cy="68319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004E63-C969-4F77-A8F5-99CF840A4576}">
      <dsp:nvSpPr>
        <dsp:cNvPr id="0" name=""/>
        <dsp:cNvSpPr/>
      </dsp:nvSpPr>
      <dsp:spPr>
        <a:xfrm>
          <a:off x="3591" y="0"/>
          <a:ext cx="3454610" cy="49815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3900" kern="1200"/>
            <a:t>Government Spending (G)</a:t>
          </a:r>
        </a:p>
      </dsp:txBody>
      <dsp:txXfrm>
        <a:off x="3591" y="0"/>
        <a:ext cx="3454610" cy="1494472"/>
      </dsp:txXfrm>
    </dsp:sp>
    <dsp:sp modelId="{DE6AC0D9-E6B2-409D-9EC4-24DF39914904}">
      <dsp:nvSpPr>
        <dsp:cNvPr id="0" name=""/>
        <dsp:cNvSpPr/>
      </dsp:nvSpPr>
      <dsp:spPr>
        <a:xfrm>
          <a:off x="349052" y="1495931"/>
          <a:ext cx="2763688" cy="15020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000" kern="1200"/>
            <a:t>Consumption and investment spending by the government.</a:t>
          </a:r>
        </a:p>
      </dsp:txBody>
      <dsp:txXfrm>
        <a:off x="393044" y="1539923"/>
        <a:ext cx="2675704" cy="1414028"/>
      </dsp:txXfrm>
    </dsp:sp>
    <dsp:sp modelId="{A39DB415-8B39-4CB9-8C95-89BC80199A8C}">
      <dsp:nvSpPr>
        <dsp:cNvPr id="0" name=""/>
        <dsp:cNvSpPr/>
      </dsp:nvSpPr>
      <dsp:spPr>
        <a:xfrm>
          <a:off x="349052" y="3229023"/>
          <a:ext cx="2763688" cy="15020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000" kern="1200"/>
            <a:t>Excludes transfers (welfare payments) to avoid double counting.</a:t>
          </a:r>
        </a:p>
      </dsp:txBody>
      <dsp:txXfrm>
        <a:off x="393044" y="3273015"/>
        <a:ext cx="2675704" cy="1414028"/>
      </dsp:txXfrm>
    </dsp:sp>
    <dsp:sp modelId="{4E5273FE-2514-4FE4-B9EB-798623754580}">
      <dsp:nvSpPr>
        <dsp:cNvPr id="0" name=""/>
        <dsp:cNvSpPr/>
      </dsp:nvSpPr>
      <dsp:spPr>
        <a:xfrm>
          <a:off x="3717297" y="0"/>
          <a:ext cx="3454610" cy="49815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3900" kern="1200"/>
            <a:t>Net Exports (NX)</a:t>
          </a:r>
        </a:p>
      </dsp:txBody>
      <dsp:txXfrm>
        <a:off x="3717297" y="0"/>
        <a:ext cx="3454610" cy="1494472"/>
      </dsp:txXfrm>
    </dsp:sp>
    <dsp:sp modelId="{57347B2E-74C0-4BA7-BD41-218F63EE0054}">
      <dsp:nvSpPr>
        <dsp:cNvPr id="0" name=""/>
        <dsp:cNvSpPr/>
      </dsp:nvSpPr>
      <dsp:spPr>
        <a:xfrm>
          <a:off x="4062758" y="1494898"/>
          <a:ext cx="2763688" cy="9786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000" kern="1200"/>
            <a:t>Export less Imports.</a:t>
          </a:r>
        </a:p>
      </dsp:txBody>
      <dsp:txXfrm>
        <a:off x="4091423" y="1523563"/>
        <a:ext cx="2706358" cy="921350"/>
      </dsp:txXfrm>
    </dsp:sp>
    <dsp:sp modelId="{717F9EE9-429C-49C5-83C9-4271DDDBCDA8}">
      <dsp:nvSpPr>
        <dsp:cNvPr id="0" name=""/>
        <dsp:cNvSpPr/>
      </dsp:nvSpPr>
      <dsp:spPr>
        <a:xfrm>
          <a:off x="4062758" y="2624144"/>
          <a:ext cx="2763688" cy="9786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000" kern="1200"/>
            <a:t>Also called the </a:t>
          </a:r>
          <a:r>
            <a:rPr lang="en-NZ" sz="2000" kern="1200">
              <a:solidFill>
                <a:srgbClr val="C00000"/>
              </a:solidFill>
            </a:rPr>
            <a:t>trade balance.</a:t>
          </a:r>
        </a:p>
      </dsp:txBody>
      <dsp:txXfrm>
        <a:off x="4091423" y="2652809"/>
        <a:ext cx="2706358" cy="921350"/>
      </dsp:txXfrm>
    </dsp:sp>
    <dsp:sp modelId="{9B047AC8-D648-461B-AB0C-AF3224A04C90}">
      <dsp:nvSpPr>
        <dsp:cNvPr id="0" name=""/>
        <dsp:cNvSpPr/>
      </dsp:nvSpPr>
      <dsp:spPr>
        <a:xfrm>
          <a:off x="4062758" y="3753390"/>
          <a:ext cx="2763688" cy="9786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000" kern="1200"/>
            <a:t>Can be a trade deficit or trade surplus</a:t>
          </a:r>
        </a:p>
      </dsp:txBody>
      <dsp:txXfrm>
        <a:off x="4091423" y="3782055"/>
        <a:ext cx="2706358" cy="92135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7C9F21-BF86-44C9-98FB-F2EBA9FA1D19}">
      <dsp:nvSpPr>
        <dsp:cNvPr id="0" name=""/>
        <dsp:cNvSpPr/>
      </dsp:nvSpPr>
      <dsp:spPr>
        <a:xfrm>
          <a:off x="0" y="209812"/>
          <a:ext cx="5741987" cy="936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4000" kern="1200"/>
            <a:t>Household Shocks</a:t>
          </a:r>
        </a:p>
      </dsp:txBody>
      <dsp:txXfrm>
        <a:off x="45692" y="255504"/>
        <a:ext cx="5650603" cy="844616"/>
      </dsp:txXfrm>
    </dsp:sp>
    <dsp:sp modelId="{88046F13-EECE-48B2-BB3C-92D54679589C}">
      <dsp:nvSpPr>
        <dsp:cNvPr id="0" name=""/>
        <dsp:cNvSpPr/>
      </dsp:nvSpPr>
      <dsp:spPr>
        <a:xfrm>
          <a:off x="0" y="1145812"/>
          <a:ext cx="5741987" cy="1366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308" tIns="50800" rIns="284480" bIns="50800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Z" sz="3100" kern="1200"/>
            <a:t>The shock (good or bad fortune) strikes the household.</a:t>
          </a:r>
        </a:p>
      </dsp:txBody>
      <dsp:txXfrm>
        <a:off x="0" y="1145812"/>
        <a:ext cx="5741987" cy="1366200"/>
      </dsp:txXfrm>
    </dsp:sp>
    <dsp:sp modelId="{A88DF8F3-8E8C-4937-83F8-6AFB0A6E506F}">
      <dsp:nvSpPr>
        <dsp:cNvPr id="0" name=""/>
        <dsp:cNvSpPr/>
      </dsp:nvSpPr>
      <dsp:spPr>
        <a:xfrm>
          <a:off x="0" y="2512012"/>
          <a:ext cx="5741987" cy="936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4000" kern="1200"/>
            <a:t>Economy-wide shocks</a:t>
          </a:r>
        </a:p>
      </dsp:txBody>
      <dsp:txXfrm>
        <a:off x="45692" y="2557704"/>
        <a:ext cx="5650603" cy="844616"/>
      </dsp:txXfrm>
    </dsp:sp>
    <dsp:sp modelId="{A0368FF7-3C4C-489D-99C3-F9394622C8E7}">
      <dsp:nvSpPr>
        <dsp:cNvPr id="0" name=""/>
        <dsp:cNvSpPr/>
      </dsp:nvSpPr>
      <dsp:spPr>
        <a:xfrm>
          <a:off x="0" y="3448012"/>
          <a:ext cx="5741987" cy="1366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308" tIns="50800" rIns="284480" bIns="50800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Z" sz="3100" kern="1200"/>
            <a:t>The shock (good or bad fortune) strikes the entire economy.</a:t>
          </a:r>
        </a:p>
      </dsp:txBody>
      <dsp:txXfrm>
        <a:off x="0" y="3448012"/>
        <a:ext cx="5741987" cy="13662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F071C9-A002-49BB-936B-746C3DCD725D}">
      <dsp:nvSpPr>
        <dsp:cNvPr id="0" name=""/>
        <dsp:cNvSpPr/>
      </dsp:nvSpPr>
      <dsp:spPr>
        <a:xfrm>
          <a:off x="0" y="0"/>
          <a:ext cx="71755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15158C-F227-429C-B980-25E1D50C41D5}">
      <dsp:nvSpPr>
        <dsp:cNvPr id="0" name=""/>
        <dsp:cNvSpPr/>
      </dsp:nvSpPr>
      <dsp:spPr>
        <a:xfrm>
          <a:off x="0" y="0"/>
          <a:ext cx="1435100" cy="249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200" kern="1200"/>
            <a:t>Self-insurance</a:t>
          </a:r>
        </a:p>
      </dsp:txBody>
      <dsp:txXfrm>
        <a:off x="0" y="0"/>
        <a:ext cx="1435100" cy="2490787"/>
      </dsp:txXfrm>
    </dsp:sp>
    <dsp:sp modelId="{D88D86BB-DE9B-4628-A15F-E08164BD9255}">
      <dsp:nvSpPr>
        <dsp:cNvPr id="0" name=""/>
        <dsp:cNvSpPr/>
      </dsp:nvSpPr>
      <dsp:spPr>
        <a:xfrm>
          <a:off x="1542732" y="57891"/>
          <a:ext cx="5632767" cy="11578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3000" kern="1200"/>
            <a:t>Draw down savings or</a:t>
          </a:r>
        </a:p>
      </dsp:txBody>
      <dsp:txXfrm>
        <a:off x="1542732" y="57891"/>
        <a:ext cx="5632767" cy="1157827"/>
      </dsp:txXfrm>
    </dsp:sp>
    <dsp:sp modelId="{75917DFC-3FDE-47B3-99EB-8437D62314FD}">
      <dsp:nvSpPr>
        <dsp:cNvPr id="0" name=""/>
        <dsp:cNvSpPr/>
      </dsp:nvSpPr>
      <dsp:spPr>
        <a:xfrm>
          <a:off x="1435100" y="1215718"/>
          <a:ext cx="57404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CF29BA-B03F-4B34-A27E-A2F3C72F0489}">
      <dsp:nvSpPr>
        <dsp:cNvPr id="0" name=""/>
        <dsp:cNvSpPr/>
      </dsp:nvSpPr>
      <dsp:spPr>
        <a:xfrm>
          <a:off x="1542732" y="1273609"/>
          <a:ext cx="5632767" cy="11578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3000" kern="1200"/>
            <a:t>Borrow money to maintain consumption</a:t>
          </a:r>
        </a:p>
      </dsp:txBody>
      <dsp:txXfrm>
        <a:off x="1542732" y="1273609"/>
        <a:ext cx="5632767" cy="1157827"/>
      </dsp:txXfrm>
    </dsp:sp>
    <dsp:sp modelId="{A552D742-6F6C-4898-B7B8-693BF79238C1}">
      <dsp:nvSpPr>
        <dsp:cNvPr id="0" name=""/>
        <dsp:cNvSpPr/>
      </dsp:nvSpPr>
      <dsp:spPr>
        <a:xfrm>
          <a:off x="1435100" y="2431436"/>
          <a:ext cx="57404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DCD978-F6BB-4EF4-BCA9-02CF64140203}">
      <dsp:nvSpPr>
        <dsp:cNvPr id="0" name=""/>
        <dsp:cNvSpPr/>
      </dsp:nvSpPr>
      <dsp:spPr>
        <a:xfrm>
          <a:off x="0" y="2490787"/>
          <a:ext cx="71755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BE2078-9934-4E23-9EFA-1C0425AD0959}">
      <dsp:nvSpPr>
        <dsp:cNvPr id="0" name=""/>
        <dsp:cNvSpPr/>
      </dsp:nvSpPr>
      <dsp:spPr>
        <a:xfrm>
          <a:off x="0" y="2490787"/>
          <a:ext cx="1435100" cy="249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200" kern="1200"/>
            <a:t>Co-insurance</a:t>
          </a:r>
        </a:p>
      </dsp:txBody>
      <dsp:txXfrm>
        <a:off x="0" y="2490787"/>
        <a:ext cx="1435100" cy="2490787"/>
      </dsp:txXfrm>
    </dsp:sp>
    <dsp:sp modelId="{2564959A-BDB7-4F9C-9C1B-E6CA5EC7E149}">
      <dsp:nvSpPr>
        <dsp:cNvPr id="0" name=""/>
        <dsp:cNvSpPr/>
      </dsp:nvSpPr>
      <dsp:spPr>
        <a:xfrm>
          <a:off x="1542732" y="2548678"/>
          <a:ext cx="5632767" cy="11578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3000" kern="1200"/>
            <a:t>More support from friends, whānau or Government.</a:t>
          </a:r>
        </a:p>
      </dsp:txBody>
      <dsp:txXfrm>
        <a:off x="1542732" y="2548678"/>
        <a:ext cx="5632767" cy="1157827"/>
      </dsp:txXfrm>
    </dsp:sp>
    <dsp:sp modelId="{582DB8CA-8872-4A1B-BDB7-985BF21A91E6}">
      <dsp:nvSpPr>
        <dsp:cNvPr id="0" name=""/>
        <dsp:cNvSpPr/>
      </dsp:nvSpPr>
      <dsp:spPr>
        <a:xfrm>
          <a:off x="1435100" y="3706505"/>
          <a:ext cx="57404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CA4D2F-0BBB-4CC2-B046-8A22033AD083}">
      <dsp:nvSpPr>
        <dsp:cNvPr id="0" name=""/>
        <dsp:cNvSpPr/>
      </dsp:nvSpPr>
      <dsp:spPr>
        <a:xfrm>
          <a:off x="1542732" y="3764397"/>
          <a:ext cx="5632767" cy="11578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3000" kern="1200"/>
            <a:t>E.g. Unemployment benefits or Earthquake Commission in NZ</a:t>
          </a:r>
        </a:p>
      </dsp:txBody>
      <dsp:txXfrm>
        <a:off x="1542732" y="3764397"/>
        <a:ext cx="5632767" cy="1157827"/>
      </dsp:txXfrm>
    </dsp:sp>
    <dsp:sp modelId="{2FC29CA4-7A1A-4B94-AAF9-2E28A3CD7A90}">
      <dsp:nvSpPr>
        <dsp:cNvPr id="0" name=""/>
        <dsp:cNvSpPr/>
      </dsp:nvSpPr>
      <dsp:spPr>
        <a:xfrm>
          <a:off x="1435100" y="4922224"/>
          <a:ext cx="57404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65C4F4-422D-4778-8B76-F24A03B9AC32}">
      <dsp:nvSpPr>
        <dsp:cNvPr id="0" name=""/>
        <dsp:cNvSpPr/>
      </dsp:nvSpPr>
      <dsp:spPr>
        <a:xfrm>
          <a:off x="0" y="809505"/>
          <a:ext cx="7175500" cy="149447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03E8DF-F32B-4A64-A4B8-FD30E9954BE6}">
      <dsp:nvSpPr>
        <dsp:cNvPr id="0" name=""/>
        <dsp:cNvSpPr/>
      </dsp:nvSpPr>
      <dsp:spPr>
        <a:xfrm>
          <a:off x="452077" y="1145762"/>
          <a:ext cx="821959" cy="8219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624A3E-248C-446B-BA26-B5369808130B}">
      <dsp:nvSpPr>
        <dsp:cNvPr id="0" name=""/>
        <dsp:cNvSpPr/>
      </dsp:nvSpPr>
      <dsp:spPr>
        <a:xfrm>
          <a:off x="1726115" y="809505"/>
          <a:ext cx="5449384" cy="1494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65" tIns="158165" rIns="158165" bIns="15816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NZers pay a levy to the Natural Hazards Commission every year through their insurance policies.</a:t>
          </a:r>
        </a:p>
      </dsp:txBody>
      <dsp:txXfrm>
        <a:off x="1726115" y="809505"/>
        <a:ext cx="5449384" cy="1494472"/>
      </dsp:txXfrm>
    </dsp:sp>
    <dsp:sp modelId="{95B5AAB7-9E29-4932-852C-0B93360ACC81}">
      <dsp:nvSpPr>
        <dsp:cNvPr id="0" name=""/>
        <dsp:cNvSpPr/>
      </dsp:nvSpPr>
      <dsp:spPr>
        <a:xfrm>
          <a:off x="0" y="2677596"/>
          <a:ext cx="7175500" cy="1494472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1470A6-AA3A-483B-8C80-A1869BF67FFE}">
      <dsp:nvSpPr>
        <dsp:cNvPr id="0" name=""/>
        <dsp:cNvSpPr/>
      </dsp:nvSpPr>
      <dsp:spPr>
        <a:xfrm>
          <a:off x="452077" y="3013852"/>
          <a:ext cx="821959" cy="8219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59AAD5-1B05-44C5-B213-8DB7B99B83EF}">
      <dsp:nvSpPr>
        <dsp:cNvPr id="0" name=""/>
        <dsp:cNvSpPr/>
      </dsp:nvSpPr>
      <dsp:spPr>
        <a:xfrm>
          <a:off x="1726115" y="2677596"/>
          <a:ext cx="5449384" cy="1494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65" tIns="158165" rIns="158165" bIns="15816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fund pays out to households affected by natural disasters like earthquakes. </a:t>
          </a:r>
        </a:p>
      </dsp:txBody>
      <dsp:txXfrm>
        <a:off x="1726115" y="2677596"/>
        <a:ext cx="5449384" cy="149447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99F224-D22F-4CC0-A6CC-7F3708640BDA}">
      <dsp:nvSpPr>
        <dsp:cNvPr id="0" name=""/>
        <dsp:cNvSpPr/>
      </dsp:nvSpPr>
      <dsp:spPr>
        <a:xfrm>
          <a:off x="3587750" y="2270516"/>
          <a:ext cx="2538359" cy="4405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0270"/>
              </a:lnTo>
              <a:lnTo>
                <a:pt x="2538359" y="220270"/>
              </a:lnTo>
              <a:lnTo>
                <a:pt x="2538359" y="44054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7AB5C6-841F-4E6F-8522-74EB29A0BDD4}">
      <dsp:nvSpPr>
        <dsp:cNvPr id="0" name=""/>
        <dsp:cNvSpPr/>
      </dsp:nvSpPr>
      <dsp:spPr>
        <a:xfrm>
          <a:off x="3542030" y="2270516"/>
          <a:ext cx="91440" cy="44054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4054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D07D54-2C87-4DC5-B9E6-AA6664DD4C78}">
      <dsp:nvSpPr>
        <dsp:cNvPr id="0" name=""/>
        <dsp:cNvSpPr/>
      </dsp:nvSpPr>
      <dsp:spPr>
        <a:xfrm>
          <a:off x="1049390" y="2270516"/>
          <a:ext cx="2538359" cy="440541"/>
        </a:xfrm>
        <a:custGeom>
          <a:avLst/>
          <a:gdLst/>
          <a:ahLst/>
          <a:cxnLst/>
          <a:rect l="0" t="0" r="0" b="0"/>
          <a:pathLst>
            <a:path>
              <a:moveTo>
                <a:pt x="2538359" y="0"/>
              </a:moveTo>
              <a:lnTo>
                <a:pt x="2538359" y="220270"/>
              </a:lnTo>
              <a:lnTo>
                <a:pt x="0" y="220270"/>
              </a:lnTo>
              <a:lnTo>
                <a:pt x="0" y="44054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79675D-EDE5-4772-A3AE-1613A20F9BB5}">
      <dsp:nvSpPr>
        <dsp:cNvPr id="0" name=""/>
        <dsp:cNvSpPr/>
      </dsp:nvSpPr>
      <dsp:spPr>
        <a:xfrm>
          <a:off x="2538841" y="1221607"/>
          <a:ext cx="2097817" cy="10489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Consumption smoothing is a </a:t>
          </a:r>
          <a:r>
            <a:rPr lang="en-GB" sz="1300" kern="1200"/>
            <a:t>basic source of stabilisation in an economy.</a:t>
          </a:r>
          <a:endParaRPr lang="en-NZ" sz="1300" kern="1200"/>
        </a:p>
      </dsp:txBody>
      <dsp:txXfrm>
        <a:off x="2538841" y="1221607"/>
        <a:ext cx="2097817" cy="1048908"/>
      </dsp:txXfrm>
    </dsp:sp>
    <dsp:sp modelId="{DE4499F1-75AE-452A-968D-EA7C886901AC}">
      <dsp:nvSpPr>
        <dsp:cNvPr id="0" name=""/>
        <dsp:cNvSpPr/>
      </dsp:nvSpPr>
      <dsp:spPr>
        <a:xfrm>
          <a:off x="481" y="2711058"/>
          <a:ext cx="2097817" cy="10489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Limitations to consumption smoothing mean it cannot always stabilise the economy; it may amplify the initial shock.</a:t>
          </a:r>
          <a:endParaRPr lang="en-NZ" sz="1300" kern="1200"/>
        </a:p>
      </dsp:txBody>
      <dsp:txXfrm>
        <a:off x="481" y="2711058"/>
        <a:ext cx="2097817" cy="1048908"/>
      </dsp:txXfrm>
    </dsp:sp>
    <dsp:sp modelId="{96F23130-34A7-4685-99D0-7BD2A13FD205}">
      <dsp:nvSpPr>
        <dsp:cNvPr id="0" name=""/>
        <dsp:cNvSpPr/>
      </dsp:nvSpPr>
      <dsp:spPr>
        <a:xfrm>
          <a:off x="2538841" y="2711058"/>
          <a:ext cx="2097817" cy="10489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e.g. credit constraints, weakness of will, limited co-insurance</a:t>
          </a:r>
          <a:endParaRPr lang="en-NZ" sz="1300" kern="1200"/>
        </a:p>
      </dsp:txBody>
      <dsp:txXfrm>
        <a:off x="2538841" y="2711058"/>
        <a:ext cx="2097817" cy="1048908"/>
      </dsp:txXfrm>
    </dsp:sp>
    <dsp:sp modelId="{F1B0FDE2-8CF8-4414-9EE0-43BF84BBD8F1}">
      <dsp:nvSpPr>
        <dsp:cNvPr id="0" name=""/>
        <dsp:cNvSpPr/>
      </dsp:nvSpPr>
      <dsp:spPr>
        <a:xfrm>
          <a:off x="5077200" y="2711058"/>
          <a:ext cx="2097817" cy="10489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This helps us understand the business cycle and how to manage it. </a:t>
          </a:r>
          <a:endParaRPr lang="en-NZ" sz="1300" kern="1200"/>
        </a:p>
      </dsp:txBody>
      <dsp:txXfrm>
        <a:off x="5077200" y="2711058"/>
        <a:ext cx="2097817" cy="104890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F08155-F79F-4BAF-95E1-24DCC232AD33}">
      <dsp:nvSpPr>
        <dsp:cNvPr id="0" name=""/>
        <dsp:cNvSpPr/>
      </dsp:nvSpPr>
      <dsp:spPr>
        <a:xfrm>
          <a:off x="807057" y="0"/>
          <a:ext cx="9146650" cy="4222078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052CB6-2485-4DD7-B7A3-8F092DE96F5F}">
      <dsp:nvSpPr>
        <dsp:cNvPr id="0" name=""/>
        <dsp:cNvSpPr/>
      </dsp:nvSpPr>
      <dsp:spPr>
        <a:xfrm>
          <a:off x="11559" y="1266623"/>
          <a:ext cx="3463621" cy="168883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300" kern="1200"/>
            <a:t>In periods of</a:t>
          </a:r>
        </a:p>
      </dsp:txBody>
      <dsp:txXfrm>
        <a:off x="94001" y="1349065"/>
        <a:ext cx="3298737" cy="1523947"/>
      </dsp:txXfrm>
    </dsp:sp>
    <dsp:sp modelId="{AD2ADEE9-8F0C-4277-A022-AAE26018B359}">
      <dsp:nvSpPr>
        <dsp:cNvPr id="0" name=""/>
        <dsp:cNvSpPr/>
      </dsp:nvSpPr>
      <dsp:spPr>
        <a:xfrm>
          <a:off x="3648571" y="1266623"/>
          <a:ext cx="3463621" cy="168883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300" kern="1200"/>
            <a:t>High economic growth, unemployment tends to be low and inflation high</a:t>
          </a:r>
        </a:p>
      </dsp:txBody>
      <dsp:txXfrm>
        <a:off x="3731013" y="1349065"/>
        <a:ext cx="3298737" cy="1523947"/>
      </dsp:txXfrm>
    </dsp:sp>
    <dsp:sp modelId="{E7B2307B-9981-4C48-A1A0-C09C0CBE0261}">
      <dsp:nvSpPr>
        <dsp:cNvPr id="0" name=""/>
        <dsp:cNvSpPr/>
      </dsp:nvSpPr>
      <dsp:spPr>
        <a:xfrm>
          <a:off x="7285584" y="1266623"/>
          <a:ext cx="3463621" cy="168883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2300" kern="1200"/>
            <a:t>Low economic growth, unemployment tends to be high and inflation low</a:t>
          </a:r>
        </a:p>
      </dsp:txBody>
      <dsp:txXfrm>
        <a:off x="7368026" y="1349065"/>
        <a:ext cx="3298737" cy="152394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31813B-FEB8-8645-9B51-049069ED0C05}">
      <dsp:nvSpPr>
        <dsp:cNvPr id="0" name=""/>
        <dsp:cNvSpPr/>
      </dsp:nvSpPr>
      <dsp:spPr>
        <a:xfrm>
          <a:off x="0" y="0"/>
          <a:ext cx="71755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DB5B51-16A5-A948-B62C-08A697C42AF6}">
      <dsp:nvSpPr>
        <dsp:cNvPr id="0" name=""/>
        <dsp:cNvSpPr/>
      </dsp:nvSpPr>
      <dsp:spPr>
        <a:xfrm>
          <a:off x="0" y="0"/>
          <a:ext cx="7175500" cy="249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t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Tracks prices of components of GDP (C, I, G, NX)</a:t>
          </a:r>
        </a:p>
      </dsp:txBody>
      <dsp:txXfrm>
        <a:off x="0" y="0"/>
        <a:ext cx="7175500" cy="2490787"/>
      </dsp:txXfrm>
    </dsp:sp>
    <dsp:sp modelId="{A0877630-ED14-F648-ACAE-75793BD0D93D}">
      <dsp:nvSpPr>
        <dsp:cNvPr id="0" name=""/>
        <dsp:cNvSpPr/>
      </dsp:nvSpPr>
      <dsp:spPr>
        <a:xfrm>
          <a:off x="0" y="2490787"/>
          <a:ext cx="71755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D9A4FA-7DD0-644D-B194-11ED09E0C399}">
      <dsp:nvSpPr>
        <dsp:cNvPr id="0" name=""/>
        <dsp:cNvSpPr/>
      </dsp:nvSpPr>
      <dsp:spPr>
        <a:xfrm>
          <a:off x="0" y="2490787"/>
          <a:ext cx="7175500" cy="249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t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Allows GDP to be compared across countries and over time</a:t>
          </a:r>
        </a:p>
      </dsp:txBody>
      <dsp:txXfrm>
        <a:off x="0" y="2490787"/>
        <a:ext cx="7175500" cy="24907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13B5F6C-7147-4370-8AA3-64F41DDFD9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330640-1F0F-4FD2-8E0F-D61F3EB9CF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E76A23-F64E-410E-9933-5CF80C92A90C}" type="datetimeFigureOut">
              <a:rPr lang="en-ID" smtClean="0"/>
              <a:t>19/07/25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F83D6D-9183-40AA-8D07-E195A3312C5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B6699-E673-4492-8D3D-8CF2AFF95C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8317EE-0622-4866-8D18-25CE03D2752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388866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E8909-E5A9-4597-8B2B-4FE5570D75EB}" type="datetimeFigureOut">
              <a:rPr lang="en-ID" smtClean="0"/>
              <a:t>19/07/25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CC75A8-F08B-4865-8B51-4C323A3291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4476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60331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9033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72661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10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3374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11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88500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14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985501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18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16094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19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108947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20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380155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21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06292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26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152448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28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807811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29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48148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30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423297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33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38603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36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265424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38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492280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39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031750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42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333328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43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666074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45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398881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46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778815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49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700567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51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893148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52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621290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54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320826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55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876437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56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95073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57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53806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58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653478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59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21072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60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719019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61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9937733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62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21197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65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7571002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C75A8-F08B-4865-8B51-4C323A3291A9}" type="slidenum">
              <a:rPr lang="en-ID" smtClean="0"/>
              <a:t>68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22292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D71F969-6E0E-4CE4-8D83-FB7E1E36943B}"/>
              </a:ext>
            </a:extLst>
          </p:cNvPr>
          <p:cNvSpPr/>
          <p:nvPr userDrawn="1"/>
        </p:nvSpPr>
        <p:spPr>
          <a:xfrm>
            <a:off x="2986617" y="1583266"/>
            <a:ext cx="3886200" cy="4360334"/>
          </a:xfrm>
          <a:prstGeom prst="rect">
            <a:avLst/>
          </a:prstGeom>
          <a:solidFill>
            <a:srgbClr val="EFEFE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CA5C42-8660-4144-90F8-83E42246A6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56062" y="2218764"/>
            <a:ext cx="4492788" cy="3004741"/>
          </a:xfrm>
          <a:noFill/>
          <a:ln w="76200">
            <a:noFill/>
          </a:ln>
        </p:spPr>
        <p:txBody>
          <a:bodyPr anchor="ctr">
            <a:noAutofit/>
          </a:bodyPr>
          <a:lstStyle>
            <a:lvl1pPr algn="l">
              <a:defRPr sz="7200">
                <a:solidFill>
                  <a:srgbClr val="353638"/>
                </a:solidFill>
                <a:latin typeface="+mj-lt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A84757-0A31-42A4-8AF4-E9682F7256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804084" y="5490105"/>
            <a:ext cx="3549716" cy="453495"/>
          </a:xfrm>
        </p:spPr>
        <p:txBody>
          <a:bodyPr/>
          <a:lstStyle>
            <a:lvl1pPr marL="0" indent="0" algn="ctr">
              <a:buNone/>
              <a:defRPr sz="2400" i="0">
                <a:solidFill>
                  <a:schemeClr val="accent6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Presentation Subtitle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AE704-8736-43EB-B790-0237AE0C5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EFEFEF"/>
                </a:solidFill>
                <a:latin typeface="Playfair Display" panose="00000500000000000000" pitchFamily="2" charset="0"/>
              </a:defRPr>
            </a:lvl1pPr>
          </a:lstStyle>
          <a:p>
            <a:fld id="{50E35A08-13B8-4595-A214-189EC16D7157}" type="datetime1">
              <a:rPr lang="en-ID" smtClean="0"/>
              <a:t>19/07/25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2D268-297F-4761-8EF4-DC6A0F988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EFEFEF"/>
                </a:solidFill>
                <a:latin typeface="Playfair Display" panose="00000500000000000000" pitchFamily="2" charset="0"/>
              </a:defRPr>
            </a:lvl1pPr>
          </a:lstStyle>
          <a:p>
            <a:endParaRPr lang="en-ID">
              <a:solidFill>
                <a:srgbClr val="EFEFE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180F5-C3D6-4504-BDF3-1BCE2F53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EFEFEF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CDE7881-E5A5-46DB-B675-AAD88C9EC8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3950" y="0"/>
            <a:ext cx="3514725" cy="47529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4618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B13F92-5DF7-41CB-BA05-FEC39036209B}"/>
              </a:ext>
            </a:extLst>
          </p:cNvPr>
          <p:cNvSpPr/>
          <p:nvPr userDrawn="1"/>
        </p:nvSpPr>
        <p:spPr>
          <a:xfrm>
            <a:off x="266700" y="70418"/>
            <a:ext cx="11658600" cy="633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7BFD46-59E1-4F55-AC46-F453E1B06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902065"/>
            <a:ext cx="5105927" cy="1325563"/>
          </a:xfrm>
        </p:spPr>
        <p:txBody>
          <a:bodyPr>
            <a:noAutofit/>
          </a:bodyPr>
          <a:lstStyle>
            <a:lvl1pPr>
              <a:defRPr sz="7200">
                <a:solidFill>
                  <a:srgbClr val="353638"/>
                </a:solidFill>
              </a:defRPr>
            </a:lvl1pPr>
          </a:lstStyle>
          <a:p>
            <a:r>
              <a:rPr lang="en-US"/>
              <a:t>title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C66221-AADF-4726-9FA1-2CB4F0C22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86110"/>
            <a:ext cx="27432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363CCD0C-C56F-49F6-91EE-9C4E26867815}" type="datetime1">
              <a:rPr lang="en-ID" smtClean="0"/>
              <a:t>19/07/25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143C5-1D4B-46C8-A783-9D7353BC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86110"/>
            <a:ext cx="41148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B84BE-8FE3-4C31-9AE1-41C645AC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086110"/>
            <a:ext cx="27432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A6F1EC-F7C2-4665-9DDF-2E52290BFA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33551" y="3622450"/>
            <a:ext cx="2609850" cy="1998685"/>
          </a:xfrm>
        </p:spPr>
        <p:txBody>
          <a:bodyPr anchor="t">
            <a:noAutofit/>
          </a:bodyPr>
          <a:lstStyle>
            <a:lvl1pPr algn="l">
              <a:defRPr sz="1800">
                <a:solidFill>
                  <a:srgbClr val="353638"/>
                </a:solidFill>
              </a:defRPr>
            </a:lvl1pPr>
            <a:lvl2pPr algn="l">
              <a:defRPr sz="1600">
                <a:solidFill>
                  <a:srgbClr val="353638"/>
                </a:solidFill>
              </a:defRPr>
            </a:lvl2pPr>
            <a:lvl3pPr algn="l">
              <a:defRPr sz="1400">
                <a:solidFill>
                  <a:srgbClr val="353638"/>
                </a:solidFill>
              </a:defRPr>
            </a:lvl3pPr>
            <a:lvl4pPr algn="l">
              <a:defRPr sz="1200">
                <a:solidFill>
                  <a:srgbClr val="353638"/>
                </a:solidFill>
              </a:defRPr>
            </a:lvl4pPr>
            <a:lvl5pPr algn="l">
              <a:defRPr sz="1200">
                <a:solidFill>
                  <a:srgbClr val="35363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B455469-8D17-467F-A532-836304E7BC3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075" y="3622450"/>
            <a:ext cx="2609850" cy="1998685"/>
          </a:xfrm>
        </p:spPr>
        <p:txBody>
          <a:bodyPr anchor="t">
            <a:noAutofit/>
          </a:bodyPr>
          <a:lstStyle>
            <a:lvl1pPr algn="l">
              <a:defRPr sz="1400">
                <a:solidFill>
                  <a:srgbClr val="353638"/>
                </a:solidFill>
              </a:defRPr>
            </a:lvl1pPr>
            <a:lvl2pPr algn="l">
              <a:defRPr sz="1200">
                <a:solidFill>
                  <a:srgbClr val="353638"/>
                </a:solidFill>
              </a:defRPr>
            </a:lvl2pPr>
            <a:lvl3pPr algn="l">
              <a:defRPr sz="1100">
                <a:solidFill>
                  <a:srgbClr val="353638"/>
                </a:solidFill>
              </a:defRPr>
            </a:lvl3pPr>
            <a:lvl4pPr algn="l">
              <a:defRPr sz="1050">
                <a:solidFill>
                  <a:srgbClr val="353638"/>
                </a:solidFill>
              </a:defRPr>
            </a:lvl4pPr>
            <a:lvl5pPr algn="l">
              <a:defRPr sz="1050">
                <a:solidFill>
                  <a:srgbClr val="35363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F294ABF-07A9-44CD-AC9B-A0922AEA59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8599" y="3622450"/>
            <a:ext cx="2609850" cy="1998685"/>
          </a:xfrm>
        </p:spPr>
        <p:txBody>
          <a:bodyPr anchor="t">
            <a:noAutofit/>
          </a:bodyPr>
          <a:lstStyle>
            <a:lvl1pPr algn="l">
              <a:defRPr sz="1400">
                <a:solidFill>
                  <a:srgbClr val="353638"/>
                </a:solidFill>
              </a:defRPr>
            </a:lvl1pPr>
            <a:lvl2pPr algn="l">
              <a:defRPr sz="1200">
                <a:solidFill>
                  <a:srgbClr val="353638"/>
                </a:solidFill>
              </a:defRPr>
            </a:lvl2pPr>
            <a:lvl3pPr algn="l">
              <a:defRPr sz="1100">
                <a:solidFill>
                  <a:srgbClr val="353638"/>
                </a:solidFill>
              </a:defRPr>
            </a:lvl3pPr>
            <a:lvl4pPr algn="l">
              <a:defRPr sz="1050">
                <a:solidFill>
                  <a:srgbClr val="353638"/>
                </a:solidFill>
              </a:defRPr>
            </a:lvl4pPr>
            <a:lvl5pPr algn="l">
              <a:defRPr sz="1050">
                <a:solidFill>
                  <a:srgbClr val="35363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9A8ED02-4B65-47C9-A125-EB2355B93A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33551" y="2709727"/>
            <a:ext cx="2609850" cy="892175"/>
          </a:xfrm>
        </p:spPr>
        <p:txBody>
          <a:bodyPr anchor="b">
            <a:normAutofit/>
          </a:bodyPr>
          <a:lstStyle>
            <a:lvl1pPr algn="r">
              <a:buNone/>
              <a:defRPr sz="4800">
                <a:solidFill>
                  <a:srgbClr val="353638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  <a:endParaRPr lang="en-ID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34E66934-F5D3-4FDA-BA1C-45655FDDAE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1075" y="2709726"/>
            <a:ext cx="2609850" cy="892175"/>
          </a:xfrm>
        </p:spPr>
        <p:txBody>
          <a:bodyPr anchor="b">
            <a:normAutofit/>
          </a:bodyPr>
          <a:lstStyle>
            <a:lvl1pPr algn="r">
              <a:buNone/>
              <a:defRPr sz="4800">
                <a:solidFill>
                  <a:srgbClr val="353638"/>
                </a:solidFill>
                <a:latin typeface="+mj-lt"/>
              </a:defRPr>
            </a:lvl1pPr>
          </a:lstStyle>
          <a:p>
            <a:pPr lvl="0"/>
            <a:r>
              <a:rPr lang="en-US"/>
              <a:t>02</a:t>
            </a:r>
            <a:endParaRPr lang="en-ID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3C5B7C1C-3DBB-4926-AA3C-772DCC1A13A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8599" y="2730275"/>
            <a:ext cx="2609850" cy="892175"/>
          </a:xfrm>
        </p:spPr>
        <p:txBody>
          <a:bodyPr anchor="b">
            <a:normAutofit/>
          </a:bodyPr>
          <a:lstStyle>
            <a:lvl1pPr algn="r">
              <a:buNone/>
              <a:defRPr sz="4800">
                <a:solidFill>
                  <a:srgbClr val="353638"/>
                </a:solidFill>
                <a:latin typeface="+mj-lt"/>
              </a:defRPr>
            </a:lvl1pPr>
          </a:lstStyle>
          <a:p>
            <a:pPr lvl="0"/>
            <a:r>
              <a:rPr lang="en-US"/>
              <a:t>03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44639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B13F92-5DF7-41CB-BA05-FEC39036209B}"/>
              </a:ext>
            </a:extLst>
          </p:cNvPr>
          <p:cNvSpPr/>
          <p:nvPr userDrawn="1"/>
        </p:nvSpPr>
        <p:spPr>
          <a:xfrm>
            <a:off x="192156" y="248479"/>
            <a:ext cx="11658600" cy="633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7BFD46-59E1-4F55-AC46-F453E1B06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244" y="248479"/>
            <a:ext cx="10760765" cy="1118562"/>
          </a:xfrm>
        </p:spPr>
        <p:txBody>
          <a:bodyPr>
            <a:noAutofit/>
          </a:bodyPr>
          <a:lstStyle>
            <a:lvl1pPr>
              <a:defRPr sz="7200">
                <a:solidFill>
                  <a:srgbClr val="353638"/>
                </a:solidFill>
              </a:defRPr>
            </a:lvl1pPr>
          </a:lstStyle>
          <a:p>
            <a:r>
              <a:rPr lang="en-US"/>
              <a:t>title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C66221-AADF-4726-9FA1-2CB4F0C22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86110"/>
            <a:ext cx="27432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11872555-0900-412A-891A-B128B744B798}" type="datetime1">
              <a:rPr lang="en-ID" smtClean="0"/>
              <a:t>19/07/25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143C5-1D4B-46C8-A783-9D7353BC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86110"/>
            <a:ext cx="41148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B84BE-8FE3-4C31-9AE1-41C645AC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086110"/>
            <a:ext cx="2743200" cy="365125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A6F1EC-F7C2-4665-9DDF-2E52290BFA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1244" y="1623918"/>
            <a:ext cx="10760765" cy="4222078"/>
          </a:xfrm>
        </p:spPr>
        <p:txBody>
          <a:bodyPr anchor="t">
            <a:noAutofit/>
          </a:bodyPr>
          <a:lstStyle>
            <a:lvl1pPr algn="l">
              <a:defRPr sz="1800">
                <a:solidFill>
                  <a:srgbClr val="353638"/>
                </a:solidFill>
              </a:defRPr>
            </a:lvl1pPr>
            <a:lvl2pPr algn="l">
              <a:defRPr sz="1600">
                <a:solidFill>
                  <a:srgbClr val="353638"/>
                </a:solidFill>
              </a:defRPr>
            </a:lvl2pPr>
            <a:lvl3pPr algn="l">
              <a:defRPr sz="1400">
                <a:solidFill>
                  <a:srgbClr val="353638"/>
                </a:solidFill>
              </a:defRPr>
            </a:lvl3pPr>
            <a:lvl4pPr algn="l">
              <a:defRPr sz="1200">
                <a:solidFill>
                  <a:srgbClr val="353638"/>
                </a:solidFill>
              </a:defRPr>
            </a:lvl4pPr>
            <a:lvl5pPr algn="l">
              <a:defRPr sz="1200">
                <a:solidFill>
                  <a:srgbClr val="35363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8219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F63E014-1321-48E9-B52A-FB0C6219386D}"/>
              </a:ext>
            </a:extLst>
          </p:cNvPr>
          <p:cNvSpPr/>
          <p:nvPr userDrawn="1"/>
        </p:nvSpPr>
        <p:spPr>
          <a:xfrm>
            <a:off x="0" y="1583267"/>
            <a:ext cx="3167795" cy="52681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E9408FB-A5AE-4EEB-950E-702672377409}"/>
              </a:ext>
            </a:extLst>
          </p:cNvPr>
          <p:cNvSpPr/>
          <p:nvPr userDrawn="1"/>
        </p:nvSpPr>
        <p:spPr>
          <a:xfrm>
            <a:off x="509900" y="3546662"/>
            <a:ext cx="3167795" cy="3015876"/>
          </a:xfrm>
          <a:prstGeom prst="ellipse">
            <a:avLst/>
          </a:prstGeom>
          <a:solidFill>
            <a:srgbClr val="35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348D8E-0493-4EF1-B782-5EE808C27BA7}"/>
              </a:ext>
            </a:extLst>
          </p:cNvPr>
          <p:cNvSpPr/>
          <p:nvPr userDrawn="1"/>
        </p:nvSpPr>
        <p:spPr>
          <a:xfrm>
            <a:off x="10456333" y="1"/>
            <a:ext cx="1735666" cy="55352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7BFD46-59E1-4F55-AC46-F453E1B06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9527124" y="1853679"/>
            <a:ext cx="3681241" cy="840691"/>
          </a:xfrm>
        </p:spPr>
        <p:txBody>
          <a:bodyPr>
            <a:noAutofit/>
          </a:bodyPr>
          <a:lstStyle>
            <a:lvl1pPr>
              <a:defRPr sz="5400">
                <a:solidFill>
                  <a:srgbClr val="EFEFEF"/>
                </a:solidFill>
              </a:defRPr>
            </a:lvl1pPr>
          </a:lstStyle>
          <a:p>
            <a:r>
              <a:rPr lang="en-US"/>
              <a:t>about us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C66221-AADF-4726-9FA1-2CB4F0C22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110" y="6356350"/>
            <a:ext cx="2743200" cy="365125"/>
          </a:xfrm>
        </p:spPr>
        <p:txBody>
          <a:bodyPr/>
          <a:lstStyle/>
          <a:p>
            <a:fld id="{4F0F1C2F-C471-4645-882E-A0ACC406DD49}" type="datetime1">
              <a:rPr lang="en-ID" smtClean="0"/>
              <a:t>19/07/25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143C5-1D4B-46C8-A783-9D7353BC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7596" y="6356350"/>
            <a:ext cx="4114800" cy="365125"/>
          </a:xfrm>
        </p:spPr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B84BE-8FE3-4C31-9AE1-41C645AC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4206" y="6356350"/>
            <a:ext cx="2743200" cy="365125"/>
          </a:xfrm>
        </p:spPr>
        <p:txBody>
          <a:bodyPr/>
          <a:lstStyle/>
          <a:p>
            <a:fld id="{356B735F-8457-406A-A744-FC5DA5F22371}" type="slidenum">
              <a:rPr lang="en-ID" smtClean="0"/>
              <a:t>‹#›</a:t>
            </a:fld>
            <a:endParaRPr lang="en-ID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DB9D8F12-25F7-426A-B193-60FF98B295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664825" y="2472112"/>
            <a:ext cx="3005939" cy="3015876"/>
          </a:xfrm>
          <a:prstGeom prst="rect">
            <a:avLst/>
          </a:prstGeom>
          <a:ln w="76200"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rgbClr val="63685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79000F2-C3BD-4EE0-A686-60147953B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42520" y="1193799"/>
            <a:ext cx="3876143" cy="3716867"/>
          </a:xfrm>
        </p:spPr>
        <p:txBody>
          <a:bodyPr/>
          <a:lstStyle>
            <a:lvl1pPr marL="0" indent="0" algn="just">
              <a:buNone/>
              <a:defRPr sz="16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9229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imon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9AF841DC-D574-4860-A54E-DCDF6F8E2BAC}"/>
              </a:ext>
            </a:extLst>
          </p:cNvPr>
          <p:cNvSpPr/>
          <p:nvPr userDrawn="1"/>
        </p:nvSpPr>
        <p:spPr>
          <a:xfrm>
            <a:off x="1105980" y="1389340"/>
            <a:ext cx="2376995" cy="2385080"/>
          </a:xfrm>
          <a:prstGeom prst="ellipse">
            <a:avLst/>
          </a:prstGeom>
          <a:solidFill>
            <a:srgbClr val="35363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488F14-0336-4CEB-B7E2-A0890AA0CF56}"/>
              </a:ext>
            </a:extLst>
          </p:cNvPr>
          <p:cNvSpPr/>
          <p:nvPr userDrawn="1"/>
        </p:nvSpPr>
        <p:spPr>
          <a:xfrm>
            <a:off x="2544233" y="873125"/>
            <a:ext cx="3886200" cy="50503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C4C43F-DBE5-4AEA-9C3F-8E3539CAF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311997" y="3340966"/>
            <a:ext cx="4705205" cy="1325563"/>
          </a:xfrm>
        </p:spPr>
        <p:txBody>
          <a:bodyPr/>
          <a:lstStyle>
            <a:lvl1pPr algn="l">
              <a:defRPr sz="66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heading</a:t>
            </a:r>
            <a:endParaRPr lang="en-ID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57D6B8C-279B-491D-A3BC-1A714971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F2587-2CD4-4208-9B98-E5ABB09ED5D8}" type="datetime1">
              <a:rPr lang="en-ID" smtClean="0"/>
              <a:t>19/07/25</a:t>
            </a:fld>
            <a:endParaRPr lang="en-ID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955452E-2FAF-4D88-880B-0CDDE3FD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29B176-3BD8-48FB-A73F-E819CB2EC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t>‹#›</a:t>
            </a:fld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6AC282-F079-475F-BD8B-2496927CC0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00363" y="1262592"/>
            <a:ext cx="3292475" cy="4296833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72AC95-6CBE-4235-A692-1840BBD3E6B0}"/>
              </a:ext>
            </a:extLst>
          </p:cNvPr>
          <p:cNvSpPr/>
          <p:nvPr userDrawn="1"/>
        </p:nvSpPr>
        <p:spPr>
          <a:xfrm>
            <a:off x="6929945" y="873125"/>
            <a:ext cx="3886200" cy="50503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4EFE4270-4E02-42BA-84A0-06536195F3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69141" y="1262592"/>
            <a:ext cx="3292475" cy="4296833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EE017B-1E6F-4206-BCBD-97EAC2046E15}"/>
              </a:ext>
            </a:extLst>
          </p:cNvPr>
          <p:cNvSpPr/>
          <p:nvPr userDrawn="1"/>
        </p:nvSpPr>
        <p:spPr>
          <a:xfrm>
            <a:off x="9647767" y="4941358"/>
            <a:ext cx="2544233" cy="161925"/>
          </a:xfrm>
          <a:prstGeom prst="rect">
            <a:avLst/>
          </a:prstGeom>
          <a:solidFill>
            <a:srgbClr val="35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15117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F9AFA-F1A4-4219-979B-6CECB1B293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23922" y="3429000"/>
            <a:ext cx="3823528" cy="1645189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section one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0B6C0-F851-4755-8DFC-C25496DDE40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523922" y="5101177"/>
            <a:ext cx="3823528" cy="548145"/>
          </a:xfrm>
        </p:spPr>
        <p:txBody>
          <a:bodyPr/>
          <a:lstStyle>
            <a:lvl1pPr marL="0" indent="0">
              <a:buNone/>
              <a:defRPr sz="2400">
                <a:solidFill>
                  <a:srgbClr val="76838B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DE03B-7B5E-468E-A317-7B5F0B33C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4FA9287F-F2CA-4B1A-B4C3-D8833CEEB3CE}" type="datetime1">
              <a:rPr lang="en-ID" smtClean="0"/>
              <a:t>19/07/25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3C55C-16DA-450F-AED0-FF4EEBF3B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endParaRPr lang="en-ID">
              <a:solidFill>
                <a:srgbClr val="63685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D4842-8D05-4CC8-A307-EDD41A318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E026D4-5A09-4BF1-92DC-7B7C5907F5F4}"/>
              </a:ext>
            </a:extLst>
          </p:cNvPr>
          <p:cNvSpPr/>
          <p:nvPr userDrawn="1"/>
        </p:nvSpPr>
        <p:spPr>
          <a:xfrm>
            <a:off x="2641602" y="0"/>
            <a:ext cx="1346200" cy="52681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FB9FB54-2CFF-4F2A-8435-00E9AC2BAB52}"/>
              </a:ext>
            </a:extLst>
          </p:cNvPr>
          <p:cNvSpPr/>
          <p:nvPr userDrawn="1"/>
        </p:nvSpPr>
        <p:spPr>
          <a:xfrm>
            <a:off x="3133142" y="1481495"/>
            <a:ext cx="2226259" cy="2119494"/>
          </a:xfrm>
          <a:prstGeom prst="ellipse">
            <a:avLst/>
          </a:prstGeom>
          <a:solidFill>
            <a:srgbClr val="35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D891652-7A20-4E89-A6F3-F4466C0F12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79342" y="2888186"/>
            <a:ext cx="1600201" cy="1081627"/>
          </a:xfrm>
        </p:spPr>
        <p:txBody>
          <a:bodyPr>
            <a:noAutofit/>
          </a:bodyPr>
          <a:lstStyle>
            <a:lvl1pPr>
              <a:buNone/>
              <a:defRPr sz="7200">
                <a:latin typeface="+mj-lt"/>
              </a:defRPr>
            </a:lvl1pPr>
          </a:lstStyle>
          <a:p>
            <a:pPr lvl="0"/>
            <a:r>
              <a:rPr lang="en-US"/>
              <a:t>01.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385071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A733045-AE48-4203-B7B6-A2CEF026459C}"/>
              </a:ext>
            </a:extLst>
          </p:cNvPr>
          <p:cNvSpPr/>
          <p:nvPr userDrawn="1"/>
        </p:nvSpPr>
        <p:spPr>
          <a:xfrm>
            <a:off x="9667874" y="1005191"/>
            <a:ext cx="2524125" cy="5050367"/>
          </a:xfrm>
          <a:prstGeom prst="rect">
            <a:avLst/>
          </a:prstGeom>
          <a:solidFill>
            <a:srgbClr val="656A5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2D448-C2E1-4A6B-A6C4-73B446CAC7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00982" y="576471"/>
            <a:ext cx="7474054" cy="505036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tx1">
                    <a:lumMod val="75000"/>
                  </a:schemeClr>
                </a:solidFill>
                <a:latin typeface="+mn-lt"/>
              </a:defRPr>
            </a:lvl2pPr>
            <a:lvl3pPr>
              <a:defRPr>
                <a:solidFill>
                  <a:schemeClr val="tx1">
                    <a:lumMod val="75000"/>
                  </a:schemeClr>
                </a:solidFill>
                <a:latin typeface="+mn-lt"/>
              </a:defRPr>
            </a:lvl3pPr>
            <a:lvl4pPr>
              <a:defRPr>
                <a:solidFill>
                  <a:schemeClr val="tx1">
                    <a:lumMod val="75000"/>
                  </a:schemeClr>
                </a:solidFill>
                <a:latin typeface="+mn-lt"/>
              </a:defRPr>
            </a:lvl4pPr>
            <a:lvl5pPr>
              <a:defRPr>
                <a:solidFill>
                  <a:schemeClr val="tx1">
                    <a:lumMod val="7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/>
              <a:t>Pointers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1C679-03E4-4643-B26D-F3D99C78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  <a:latin typeface="Playfair Display" panose="00000500000000000000" pitchFamily="2" charset="0"/>
              </a:defRPr>
            </a:lvl1pPr>
          </a:lstStyle>
          <a:p>
            <a:fld id="{58CB7240-C6D7-4341-B0A3-4240C7470F05}" type="datetime1">
              <a:rPr lang="en-ID" smtClean="0"/>
              <a:t>19/07/25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BC614-E49F-441E-974F-44884003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endParaRPr lang="en-ID">
              <a:solidFill>
                <a:srgbClr val="63685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91D14-5274-4886-B3C8-4071E75F8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971A7-BCA4-40C3-A04E-80F58FC23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2416728" y="2803765"/>
            <a:ext cx="6509855" cy="1325563"/>
          </a:xfrm>
        </p:spPr>
        <p:txBody>
          <a:bodyPr/>
          <a:lstStyle>
            <a:lvl1pPr algn="ctr">
              <a:defRPr sz="6600">
                <a:solidFill>
                  <a:schemeClr val="tx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headlines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53439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1C679-03E4-4643-B26D-F3D99C78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  <a:latin typeface="Playfair Display" panose="00000500000000000000" pitchFamily="2" charset="0"/>
              </a:defRPr>
            </a:lvl1pPr>
          </a:lstStyle>
          <a:p>
            <a:fld id="{7232A744-33B0-426B-8624-76348009DB6F}" type="datetime1">
              <a:rPr lang="en-ID" smtClean="0"/>
              <a:t>19/07/25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BC614-E49F-441E-974F-44884003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endParaRPr lang="en-ID">
              <a:solidFill>
                <a:srgbClr val="63685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91D14-5274-4886-B3C8-4071E75F8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971A7-BCA4-40C3-A04E-80F58FC23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5078" y="604440"/>
            <a:ext cx="2856321" cy="1373447"/>
          </a:xfrm>
          <a:solidFill>
            <a:schemeClr val="bg2"/>
          </a:solidFill>
        </p:spPr>
        <p:txBody>
          <a:bodyPr>
            <a:noAutofit/>
          </a:bodyPr>
          <a:lstStyle>
            <a:lvl1pPr>
              <a:defRPr sz="5000" baseline="0">
                <a:solidFill>
                  <a:schemeClr val="tx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</a:t>
            </a:r>
            <a:endParaRPr lang="en-I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EEB17F-2A02-4B77-A3AA-8A73C43E030C}"/>
              </a:ext>
            </a:extLst>
          </p:cNvPr>
          <p:cNvSpPr/>
          <p:nvPr userDrawn="1"/>
        </p:nvSpPr>
        <p:spPr>
          <a:xfrm>
            <a:off x="11857038" y="1643061"/>
            <a:ext cx="334962" cy="3571875"/>
          </a:xfrm>
          <a:prstGeom prst="rect">
            <a:avLst/>
          </a:prstGeom>
          <a:solidFill>
            <a:srgbClr val="35363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EAFA92-5BC4-4C76-AB3A-F07382CE2FE7}"/>
              </a:ext>
            </a:extLst>
          </p:cNvPr>
          <p:cNvSpPr/>
          <p:nvPr userDrawn="1"/>
        </p:nvSpPr>
        <p:spPr>
          <a:xfrm>
            <a:off x="1" y="1643061"/>
            <a:ext cx="334962" cy="3571875"/>
          </a:xfrm>
          <a:prstGeom prst="rect">
            <a:avLst/>
          </a:prstGeom>
          <a:solidFill>
            <a:srgbClr val="6368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D047C3-3A14-48B9-97EF-583EA3664C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46525" y="604838"/>
            <a:ext cx="7175500" cy="498157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A3E29AE-4369-4A02-9329-B575450E55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5488" y="2157413"/>
            <a:ext cx="2855912" cy="342900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</a:schemeClr>
                </a:solidFill>
              </a:defRPr>
            </a:lvl3pPr>
            <a:lvl4pPr>
              <a:defRPr sz="1400">
                <a:solidFill>
                  <a:schemeClr val="tx1">
                    <a:lumMod val="75000"/>
                  </a:schemeClr>
                </a:solidFill>
              </a:defRPr>
            </a:lvl4pPr>
            <a:lvl5pPr>
              <a:defRPr sz="1400">
                <a:solidFill>
                  <a:schemeClr val="tx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40387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1C679-03E4-4643-B26D-F3D99C78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  <a:latin typeface="Playfair Display" panose="00000500000000000000" pitchFamily="2" charset="0"/>
              </a:defRPr>
            </a:lvl1pPr>
          </a:lstStyle>
          <a:p>
            <a:fld id="{F2B543FF-6C9F-43DB-92CA-73B55328780C}" type="datetime1">
              <a:rPr lang="en-ID" smtClean="0"/>
              <a:t>19/07/25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BC614-E49F-441E-974F-44884003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endParaRPr lang="en-ID">
              <a:solidFill>
                <a:srgbClr val="636852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91D14-5274-4886-B3C8-4071E75F8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B971A7-BCA4-40C3-A04E-80F58FC23A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7751" y="561766"/>
            <a:ext cx="4505326" cy="1325563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r">
              <a:defRPr sz="5400">
                <a:solidFill>
                  <a:srgbClr val="636852"/>
                </a:solidFill>
                <a:latin typeface="+mj-lt"/>
              </a:defRPr>
            </a:lvl1pPr>
          </a:lstStyle>
          <a:p>
            <a:r>
              <a:rPr lang="en-US"/>
              <a:t>Caption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605E1E-A41F-4026-B324-E493E86298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7751" y="2013916"/>
            <a:ext cx="4505326" cy="3571875"/>
          </a:xfrm>
        </p:spPr>
        <p:txBody>
          <a:bodyPr anchor="t">
            <a:normAutofit/>
          </a:bodyPr>
          <a:lstStyle>
            <a:lvl1pPr algn="r">
              <a:defRPr sz="2400"/>
            </a:lvl1pPr>
            <a:lvl2pPr algn="r">
              <a:defRPr sz="2000"/>
            </a:lvl2pPr>
            <a:lvl3pPr algn="r">
              <a:defRPr sz="1800"/>
            </a:lvl3pPr>
            <a:lvl4pPr algn="r">
              <a:defRPr sz="1600"/>
            </a:lvl4pPr>
            <a:lvl5pPr algn="r"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5A69C2-8380-4B7A-AF27-D3663FC0B534}"/>
              </a:ext>
            </a:extLst>
          </p:cNvPr>
          <p:cNvSpPr/>
          <p:nvPr userDrawn="1"/>
        </p:nvSpPr>
        <p:spPr>
          <a:xfrm>
            <a:off x="1" y="1643061"/>
            <a:ext cx="334962" cy="3571875"/>
          </a:xfrm>
          <a:prstGeom prst="rect">
            <a:avLst/>
          </a:prstGeom>
          <a:solidFill>
            <a:srgbClr val="63685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9E118BF-7505-45FF-92D5-F46BE289494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1" y="561766"/>
            <a:ext cx="5741988" cy="5024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29098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17E9D182-679B-449F-AB58-AE0696AF19FC}"/>
              </a:ext>
            </a:extLst>
          </p:cNvPr>
          <p:cNvSpPr/>
          <p:nvPr userDrawn="1"/>
        </p:nvSpPr>
        <p:spPr>
          <a:xfrm>
            <a:off x="6388100" y="1019703"/>
            <a:ext cx="2582333" cy="2582333"/>
          </a:xfrm>
          <a:prstGeom prst="ellipse">
            <a:avLst/>
          </a:prstGeom>
          <a:solidFill>
            <a:srgbClr val="6368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91818F-A3F6-4729-A6E3-846786BC5639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prstGeom prst="rect">
            <a:avLst/>
          </a:prstGeom>
          <a:solidFill>
            <a:srgbClr val="35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50614-111B-481D-B661-7F1BC02152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103" y="223091"/>
            <a:ext cx="5394193" cy="1185916"/>
          </a:xfrm>
        </p:spPr>
        <p:txBody>
          <a:bodyPr anchor="b"/>
          <a:lstStyle>
            <a:lvl1pPr>
              <a:defRPr sz="6000">
                <a:solidFill>
                  <a:srgbClr val="353638"/>
                </a:solidFill>
              </a:defRPr>
            </a:lvl1pPr>
          </a:lstStyle>
          <a:p>
            <a:r>
              <a:rPr lang="en-US"/>
              <a:t>heading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6262B-23B8-4AB8-A52A-A96F9FF6F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353638"/>
                </a:solidFill>
              </a:defRPr>
            </a:lvl1pPr>
          </a:lstStyle>
          <a:p>
            <a:fld id="{05DC2824-2D94-43B2-B55B-343F00AE5323}" type="datetime1">
              <a:rPr lang="en-ID" smtClean="0"/>
              <a:t>19/07/25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B139A-A351-4040-A6D4-8C0AC653C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53638"/>
                </a:solidFill>
              </a:defRPr>
            </a:lvl1pPr>
          </a:lstStyle>
          <a:p>
            <a:endParaRPr lang="en-ID">
              <a:solidFill>
                <a:srgbClr val="353638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01873-32A3-4CC1-8939-73F0B43D5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353638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5FDF9DBB-F6E4-49E6-91A7-3787355D4A1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08102" y="1554481"/>
            <a:ext cx="5394193" cy="4615286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ID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2544C3-7AB9-446F-B7CB-6EC90ED4D621}"/>
              </a:ext>
            </a:extLst>
          </p:cNvPr>
          <p:cNvSpPr/>
          <p:nvPr userDrawn="1"/>
        </p:nvSpPr>
        <p:spPr>
          <a:xfrm>
            <a:off x="7469714" y="2175403"/>
            <a:ext cx="2142067" cy="135467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90203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CEE02BF-95CD-4681-9CD4-193772568AB0}"/>
              </a:ext>
            </a:extLst>
          </p:cNvPr>
          <p:cNvSpPr/>
          <p:nvPr userDrawn="1"/>
        </p:nvSpPr>
        <p:spPr>
          <a:xfrm>
            <a:off x="0" y="1977887"/>
            <a:ext cx="1346200" cy="43784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C24A95-F3A6-4009-9B14-091B146F5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B0383-8B20-4A0B-9C9B-2D786341C22A}" type="datetime1">
              <a:rPr lang="en-ID" smtClean="0"/>
              <a:t>19/07/25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536-94BF-4A7B-A629-1E4C5D3C9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E20CA9-CEDE-4609-BDD5-29AC30C26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t>‹#›</a:t>
            </a:fld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39C5DDE-7DF8-4141-A25B-797D71AB3A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18328" y="403692"/>
            <a:ext cx="8650941" cy="556680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NZ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C51530-0D98-4F9E-AD07-640FAF20AF4F}"/>
              </a:ext>
            </a:extLst>
          </p:cNvPr>
          <p:cNvSpPr/>
          <p:nvPr userDrawn="1"/>
        </p:nvSpPr>
        <p:spPr>
          <a:xfrm>
            <a:off x="11857038" y="1643061"/>
            <a:ext cx="334962" cy="3571875"/>
          </a:xfrm>
          <a:prstGeom prst="rect">
            <a:avLst/>
          </a:prstGeom>
          <a:solidFill>
            <a:srgbClr val="35363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A9FDC3-F541-464C-AD32-6B0F5284AF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2019" y="403692"/>
            <a:ext cx="2856321" cy="1574195"/>
          </a:xfrm>
        </p:spPr>
        <p:txBody>
          <a:bodyPr>
            <a:normAutofit/>
          </a:bodyPr>
          <a:lstStyle>
            <a:lvl1pPr>
              <a:defRPr sz="5400">
                <a:solidFill>
                  <a:srgbClr val="636852"/>
                </a:solidFill>
                <a:latin typeface="+mj-lt"/>
              </a:defRPr>
            </a:lvl1pPr>
          </a:lstStyle>
          <a:p>
            <a:r>
              <a:rPr lang="en-US"/>
              <a:t>Picture Title</a:t>
            </a:r>
            <a:endParaRPr lang="en-ID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5C31BCC-2FC0-42D9-B311-222BD6C547E3}"/>
              </a:ext>
            </a:extLst>
          </p:cNvPr>
          <p:cNvSpPr/>
          <p:nvPr userDrawn="1"/>
        </p:nvSpPr>
        <p:spPr>
          <a:xfrm>
            <a:off x="232019" y="3187093"/>
            <a:ext cx="2226259" cy="2119494"/>
          </a:xfrm>
          <a:prstGeom prst="ellipse">
            <a:avLst/>
          </a:prstGeom>
          <a:solidFill>
            <a:srgbClr val="35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8033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5B13F92-5DF7-41CB-BA05-FEC39036209B}"/>
              </a:ext>
            </a:extLst>
          </p:cNvPr>
          <p:cNvSpPr/>
          <p:nvPr userDrawn="1"/>
        </p:nvSpPr>
        <p:spPr>
          <a:xfrm>
            <a:off x="266700" y="268817"/>
            <a:ext cx="11658600" cy="6332008"/>
          </a:xfrm>
          <a:prstGeom prst="rect">
            <a:avLst/>
          </a:prstGeom>
          <a:solidFill>
            <a:srgbClr val="353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7BFD46-59E1-4F55-AC46-F453E1B06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96672" y="1355179"/>
            <a:ext cx="7611034" cy="3444874"/>
          </a:xfrm>
        </p:spPr>
        <p:txBody>
          <a:bodyPr>
            <a:noAutofit/>
          </a:bodyPr>
          <a:lstStyle>
            <a:lvl1pPr algn="ctr">
              <a:defRPr sz="4800">
                <a:solidFill>
                  <a:srgbClr val="EFEFEF"/>
                </a:solidFill>
              </a:defRPr>
            </a:lvl1pPr>
          </a:lstStyle>
          <a:p>
            <a:r>
              <a:rPr lang="en-US"/>
              <a:t>quote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C66221-AADF-4726-9FA1-2CB4F0C22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86110"/>
            <a:ext cx="2743200" cy="365125"/>
          </a:xfrm>
        </p:spPr>
        <p:txBody>
          <a:bodyPr/>
          <a:lstStyle>
            <a:lvl1pPr>
              <a:defRPr>
                <a:solidFill>
                  <a:srgbClr val="EFEFEF"/>
                </a:solidFill>
              </a:defRPr>
            </a:lvl1pPr>
          </a:lstStyle>
          <a:p>
            <a:fld id="{B4187C07-518A-48AB-AA7F-02DB12FBF1AB}" type="datetime1">
              <a:rPr lang="en-ID" smtClean="0"/>
              <a:t>19/07/25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143C5-1D4B-46C8-A783-9D7353BC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86110"/>
            <a:ext cx="4114800" cy="365125"/>
          </a:xfrm>
        </p:spPr>
        <p:txBody>
          <a:bodyPr/>
          <a:lstStyle>
            <a:lvl1pPr>
              <a:defRPr>
                <a:solidFill>
                  <a:srgbClr val="EFEFEF"/>
                </a:solidFill>
              </a:defRPr>
            </a:lvl1pPr>
          </a:lstStyle>
          <a:p>
            <a:endParaRPr lang="en-ID">
              <a:solidFill>
                <a:srgbClr val="EFEFE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B84BE-8FE3-4C31-9AE1-41C645AC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086110"/>
            <a:ext cx="2743200" cy="365125"/>
          </a:xfrm>
        </p:spPr>
        <p:txBody>
          <a:bodyPr/>
          <a:lstStyle>
            <a:lvl1pPr>
              <a:defRPr>
                <a:solidFill>
                  <a:srgbClr val="EFEFEF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9A8ED02-4B65-47C9-A125-EB2355B93A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999" y="5337358"/>
            <a:ext cx="2609850" cy="463367"/>
          </a:xfrm>
        </p:spPr>
        <p:txBody>
          <a:bodyPr anchor="t">
            <a:normAutofit/>
          </a:bodyPr>
          <a:lstStyle>
            <a:lvl1pPr algn="r">
              <a:buNone/>
              <a:defRPr sz="2800">
                <a:solidFill>
                  <a:srgbClr val="76838B"/>
                </a:solidFill>
                <a:latin typeface="+mj-lt"/>
              </a:defRPr>
            </a:lvl1pPr>
          </a:lstStyle>
          <a:p>
            <a:pPr lvl="0"/>
            <a:r>
              <a:rPr lang="en-US"/>
              <a:t>- author</a:t>
            </a:r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75F29E-4C36-40B4-A4AE-4B16EEA6E266}"/>
              </a:ext>
            </a:extLst>
          </p:cNvPr>
          <p:cNvSpPr txBox="1"/>
          <p:nvPr userDrawn="1"/>
        </p:nvSpPr>
        <p:spPr>
          <a:xfrm>
            <a:off x="1409380" y="1016950"/>
            <a:ext cx="99097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0">
                <a:solidFill>
                  <a:srgbClr val="76838B"/>
                </a:solidFill>
              </a:rPr>
              <a:t>“</a:t>
            </a:r>
            <a:endParaRPr lang="en-ID" sz="14000">
              <a:solidFill>
                <a:srgbClr val="76838B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668F2E-85D4-46F6-9DAC-5164D0D5E5E4}"/>
              </a:ext>
            </a:extLst>
          </p:cNvPr>
          <p:cNvSpPr txBox="1"/>
          <p:nvPr userDrawn="1"/>
        </p:nvSpPr>
        <p:spPr>
          <a:xfrm rot="10800000">
            <a:off x="10184336" y="2923352"/>
            <a:ext cx="99097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0">
                <a:solidFill>
                  <a:srgbClr val="76838B"/>
                </a:solidFill>
              </a:rPr>
              <a:t>“</a:t>
            </a:r>
            <a:endParaRPr lang="en-ID" sz="14000">
              <a:solidFill>
                <a:srgbClr val="7683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0186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3F4D9-F45E-4139-83D5-0A3803216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237BDEB0-2A55-417C-A01B-9597251A25B9}" type="datetime1">
              <a:rPr lang="en-ID" smtClean="0"/>
              <a:t>19/07/25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6FFC3C-1755-45B8-9A15-FA947DE49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endParaRPr lang="en-ID">
              <a:solidFill>
                <a:srgbClr val="63685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7CD62-6ACA-41C3-A1AF-76FB3AAEF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36852"/>
                </a:solidFill>
              </a:defRPr>
            </a:lvl1pPr>
          </a:lstStyle>
          <a:p>
            <a:fld id="{356B735F-8457-406A-A744-FC5DA5F22371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52377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183DA2-AB58-40A9-9F27-C89AC8614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080" y="365125"/>
            <a:ext cx="811991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AB1CE-4A8A-481A-9353-A480D2634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7080" y="1825625"/>
            <a:ext cx="811991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92708-E52D-4103-9A98-C480CDECD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2456C-BC94-46E7-85F4-D1297FFB30A7}" type="datetime1">
              <a:rPr lang="en-ID" smtClean="0"/>
              <a:t>19/07/25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B8837-B0F6-4426-8862-F133D501E4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32B1A-B0B9-4218-96CA-0C74E0290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B735F-8457-406A-A744-FC5DA5F2237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0176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5" r:id="rId3"/>
    <p:sldLayoutId id="2147483657" r:id="rId4"/>
    <p:sldLayoutId id="2147483661" r:id="rId5"/>
    <p:sldLayoutId id="2147483651" r:id="rId6"/>
    <p:sldLayoutId id="2147483650" r:id="rId7"/>
    <p:sldLayoutId id="2147483658" r:id="rId8"/>
    <p:sldLayoutId id="2147483659" r:id="rId9"/>
    <p:sldLayoutId id="2147483663" r:id="rId10"/>
    <p:sldLayoutId id="2147483664" r:id="rId11"/>
    <p:sldLayoutId id="2147483662" r:id="rId12"/>
    <p:sldLayoutId id="214748365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3685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tabLst>
          <a:tab pos="1885950" algn="l"/>
        </a:tabLst>
        <a:defRPr sz="2800" kern="1200">
          <a:solidFill>
            <a:srgbClr val="76838B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1885950" algn="l"/>
        </a:tabLst>
        <a:defRPr sz="2400" kern="1200">
          <a:solidFill>
            <a:srgbClr val="76838B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1885950" algn="l"/>
        </a:tabLst>
        <a:defRPr sz="2000" kern="1200">
          <a:solidFill>
            <a:srgbClr val="76838B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1885950" algn="l"/>
        </a:tabLst>
        <a:defRPr sz="1800" kern="1200">
          <a:solidFill>
            <a:srgbClr val="76838B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1885950" algn="l"/>
        </a:tabLst>
        <a:defRPr sz="1800" kern="1200">
          <a:solidFill>
            <a:srgbClr val="76838B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fred.stlouisfed.org/graph/?g=Dr8P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www.pexels.com/photo/domestic-helper-housework-ironing-2408577/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>
                <a:latin typeface="+mn-lt"/>
                <a:cs typeface="Calibri"/>
              </a:rPr>
              <a:t>115.113 Lecture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2400"/>
              <a:t>Economics For Business</a:t>
            </a:r>
          </a:p>
        </p:txBody>
      </p:sp>
      <p:pic>
        <p:nvPicPr>
          <p:cNvPr id="7" name="Picture Placeholder 6" descr="A picture containing window, person, clothing, indoor&#10;&#10;Description automatically generated">
            <a:extLst>
              <a:ext uri="{FF2B5EF4-FFF2-40B4-BE49-F238E27FC236}">
                <a16:creationId xmlns:a16="http://schemas.microsoft.com/office/drawing/2014/main" id="{FABB80B4-791C-D382-8391-A344AF25877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38" r="25338"/>
          <a:stretch>
            <a:fillRect/>
          </a:stretch>
        </p:blipFill>
        <p:spPr/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A48D4F-C05A-4A7B-4948-7CEAB5710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83026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17BB076-B931-3102-F58B-2AF925642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Administration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BDCC18E-9F5E-B155-32EF-46AA85937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Checklist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Sign up for workshops if you haven’t already.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Attend 1 Workshop each week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Quiz 1 is open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Closes 28 July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Covers Unit 9 and 13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1CC5FD-5D71-66B1-1233-A4E1B23F9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37730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4031F-4D84-4650-7355-189041E31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sz="6600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DC114-845E-38EE-CFCB-078897ECD3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NZ" dirty="0"/>
              <a:t>13.1 to 13.5</a:t>
            </a:r>
          </a:p>
          <a:p>
            <a:r>
              <a:rPr lang="en-NZ" dirty="0"/>
              <a:t>13.8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037798-22FA-B6FF-8CD0-80BB8F3E90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NZ"/>
              <a:t>GDP</a:t>
            </a:r>
          </a:p>
          <a:p>
            <a:r>
              <a:rPr lang="en-NZ"/>
              <a:t>Business Cycle</a:t>
            </a:r>
          </a:p>
          <a:p>
            <a:r>
              <a:rPr lang="en-NZ"/>
              <a:t>Inflation</a:t>
            </a:r>
          </a:p>
          <a:p>
            <a:r>
              <a:rPr lang="en-NZ"/>
              <a:t>Okun’s Law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9485A0-5AB4-17A3-A931-55B47252D9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NZ" dirty="0"/>
              <a:t>Readings</a:t>
            </a:r>
          </a:p>
          <a:p>
            <a:r>
              <a:rPr lang="en-NZ" dirty="0"/>
              <a:t>Attend lecture</a:t>
            </a:r>
          </a:p>
          <a:p>
            <a:r>
              <a:rPr lang="en-NZ" dirty="0"/>
              <a:t>Attend workshops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4E2A2F-BDFE-7F0C-F05D-C6D24E5A7F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NZ"/>
              <a:t>Readings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42C87E-BD1E-572D-A191-0F2E353F8A5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NZ"/>
              <a:t>Key Ideas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DECA0C-0096-C449-BBDD-59BFA1F62D0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48599" y="2730275"/>
            <a:ext cx="1469572" cy="892175"/>
          </a:xfrm>
        </p:spPr>
        <p:txBody>
          <a:bodyPr/>
          <a:lstStyle/>
          <a:p>
            <a:r>
              <a:rPr lang="en-NZ" dirty="0"/>
              <a:t>Tasks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9E09E2-35E2-1277-6537-5B58D1B84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24404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B13E92E-BDE2-274E-4407-C1FC6E934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Maths</a:t>
            </a:r>
            <a:r>
              <a:rPr lang="en-US" dirty="0"/>
              <a:t> Revision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7F3A4D9-1C7E-10A1-5C6D-3B0407333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708B15-8E53-5DAB-816D-D1F24E583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4</a:t>
            </a:fld>
            <a:endParaRPr lang="en-ID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297882A-102B-1CB1-8F77-27E6D67545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260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74F0F-9FA6-CDE1-77AF-1D8AB1C34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5</a:t>
            </a:fld>
            <a:endParaRPr lang="en-ID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290B1E5-F824-B4AE-53BB-5E567F52E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Equation</a:t>
            </a:r>
          </a:p>
        </p:txBody>
      </p:sp>
      <p:pic>
        <p:nvPicPr>
          <p:cNvPr id="9" name="Linear Equation.mp4">
            <a:hlinkClick r:id="" action="ppaction://media"/>
            <a:extLst>
              <a:ext uri="{FF2B5EF4-FFF2-40B4-BE49-F238E27FC236}">
                <a16:creationId xmlns:a16="http://schemas.microsoft.com/office/drawing/2014/main" id="{4AE0F384-850E-9AC9-E64A-E8DB83AD3C15}"/>
              </a:ext>
            </a:extLst>
          </p:cNvPr>
          <p:cNvPicPr>
            <a:picLocks noGrp="1" noChangeAspect="1"/>
          </p:cNvPicPr>
          <p:nvPr>
            <p:ph sz="quarter" idx="13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17988" y="604838"/>
            <a:ext cx="6632575" cy="4981575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Placeholder 7">
                <a:extLst>
                  <a:ext uri="{FF2B5EF4-FFF2-40B4-BE49-F238E27FC236}">
                    <a16:creationId xmlns:a16="http://schemas.microsoft.com/office/drawing/2014/main" id="{F9E9CEAB-08EE-6225-9A8F-2955A675A541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/>
            <p:txBody>
              <a:bodyPr/>
              <a:lstStyle/>
              <a:p>
                <a:r>
                  <a:rPr lang="en-NZ" dirty="0"/>
                  <a:t>All straight lines have the general formula</a:t>
                </a:r>
              </a:p>
              <a:p>
                <a:pPr lvl="1"/>
                <a:r>
                  <a:rPr lang="en-NZ" dirty="0"/>
                  <a:t>Y = a +</a:t>
                </a:r>
                <a:r>
                  <a:rPr lang="en-NZ" dirty="0" err="1"/>
                  <a:t>bX</a:t>
                </a:r>
                <a:endParaRPr lang="en-NZ" dirty="0"/>
              </a:p>
              <a:p>
                <a:pPr lvl="1"/>
                <a:r>
                  <a:rPr lang="en-NZ" dirty="0"/>
                  <a:t>The coefficient </a:t>
                </a:r>
                <a:r>
                  <a:rPr lang="en-NZ" dirty="0">
                    <a:solidFill>
                      <a:srgbClr val="FF0000"/>
                    </a:solidFill>
                  </a:rPr>
                  <a:t>a</a:t>
                </a:r>
                <a:r>
                  <a:rPr lang="en-NZ" dirty="0"/>
                  <a:t> is where the line crosses the vertical line.</a:t>
                </a:r>
              </a:p>
              <a:p>
                <a:pPr lvl="1"/>
                <a:r>
                  <a:rPr lang="en-NZ" dirty="0"/>
                  <a:t>The coefficient </a:t>
                </a:r>
                <a:r>
                  <a:rPr lang="en-NZ" dirty="0">
                    <a:solidFill>
                      <a:srgbClr val="FF0000"/>
                    </a:solidFill>
                  </a:rPr>
                  <a:t>b</a:t>
                </a:r>
                <a:r>
                  <a:rPr lang="en-NZ" dirty="0"/>
                  <a:t> is the slope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NZ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NZ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NZ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NZ" dirty="0"/>
                  <a:t> of the line.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8" name="Text Placeholder 7">
                <a:extLst>
                  <a:ext uri="{FF2B5EF4-FFF2-40B4-BE49-F238E27FC236}">
                    <a16:creationId xmlns:a16="http://schemas.microsoft.com/office/drawing/2014/main" id="{F9E9CEAB-08EE-6225-9A8F-2955A675A5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blipFill>
                <a:blip r:embed="rId5"/>
                <a:stretch>
                  <a:fillRect l="-1770" t="-1476" r="-2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391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74F0F-9FA6-CDE1-77AF-1D8AB1C34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6</a:t>
            </a:fld>
            <a:endParaRPr lang="en-ID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290B1E5-F824-B4AE-53BB-5E567F52E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E9CEAB-08EE-6225-9A8F-2955A675A5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y = 3 + 2x</a:t>
            </a:r>
          </a:p>
          <a:p>
            <a:r>
              <a:rPr lang="en-US" dirty="0"/>
              <a:t>y = 5 + 0.1x </a:t>
            </a:r>
          </a:p>
        </p:txBody>
      </p:sp>
      <p:pic>
        <p:nvPicPr>
          <p:cNvPr id="7" name="Content Placeholder 6" descr="A graph of x and y on graph paper&#10;&#10;AI-generated content may be incorrect.">
            <a:extLst>
              <a:ext uri="{FF2B5EF4-FFF2-40B4-BE49-F238E27FC236}">
                <a16:creationId xmlns:a16="http://schemas.microsoft.com/office/drawing/2014/main" id="{748036F9-39B5-68E7-FEAE-8B7876257CD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4178" y="604838"/>
            <a:ext cx="6640193" cy="4981575"/>
          </a:xfrm>
        </p:spPr>
      </p:pic>
    </p:spTree>
    <p:extLst>
      <p:ext uri="{BB962C8B-B14F-4D97-AF65-F5344CB8AC3E}">
        <p14:creationId xmlns:p14="http://schemas.microsoft.com/office/powerpoint/2010/main" val="81521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D6862-12CF-39CF-8FFB-32C00A5B6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GDP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5F7DD-24C5-9A72-4FE7-2FE525B020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7D528-8714-E8C7-7143-D1AEAE3EF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7</a:t>
            </a:fld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E9A3F9-7FED-E67C-F48C-E7FF11A868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049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99292F88-A5CD-96A1-B8DF-47AA490563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147" y="1622559"/>
            <a:ext cx="11290257" cy="3612881"/>
          </a:xfrm>
          <a:prstGeom prst="rect">
            <a:avLst/>
          </a:prstGeo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AFB9D37-13B1-7B2C-271D-2F488A0AC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19" y="403692"/>
            <a:ext cx="2856321" cy="1574195"/>
          </a:xfrm>
        </p:spPr>
        <p:txBody>
          <a:bodyPr anchor="ctr">
            <a:normAutofit/>
          </a:bodyPr>
          <a:lstStyle/>
          <a:p>
            <a:r>
              <a:rPr lang="en-NZ"/>
              <a:t>NZ GDP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D656A5-704C-47E1-90FD-1391BFBCA17E}"/>
              </a:ext>
            </a:extLst>
          </p:cNvPr>
          <p:cNvSpPr txBox="1"/>
          <p:nvPr/>
        </p:nvSpPr>
        <p:spPr>
          <a:xfrm>
            <a:off x="2088472" y="5597345"/>
            <a:ext cx="9721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dirty="0"/>
              <a:t>Like all economies NZ economic growth fluctuates- some shocks cause it to be negative.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0A2A80-A26B-8E40-788C-E8F58D2D4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97709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3CFFB13C-7FB5-A390-8C28-ADA05BAE1EA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13" y="1243350"/>
            <a:ext cx="11280775" cy="4371301"/>
          </a:xfrm>
          <a:noFill/>
        </p:spPr>
      </p:pic>
      <p:sp>
        <p:nvSpPr>
          <p:cNvPr id="2" name="Slide Number Placeholder 1" hidden="1">
            <a:extLst>
              <a:ext uri="{FF2B5EF4-FFF2-40B4-BE49-F238E27FC236}">
                <a16:creationId xmlns:a16="http://schemas.microsoft.com/office/drawing/2014/main" id="{8DC29F23-29EE-0D5C-98B3-E3CDD8F48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356B735F-8457-406A-A744-FC5DA5F22371}" type="slidenum">
              <a:rPr lang="en-ID" smtClean="0"/>
              <a:pPr>
                <a:spcAft>
                  <a:spcPts val="600"/>
                </a:spcAft>
              </a:pPr>
              <a:t>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22430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766FE-9337-21A4-DAB7-CC40CB6A380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NZ"/>
              <a:t>Two Key Ideas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C12433-35B0-8D2E-6387-43CD91ADDE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NZ">
                <a:solidFill>
                  <a:srgbClr val="C00000"/>
                </a:solidFill>
              </a:rPr>
              <a:t>GDP</a:t>
            </a:r>
          </a:p>
          <a:p>
            <a:endParaRPr lang="en-NZ"/>
          </a:p>
          <a:p>
            <a:r>
              <a:rPr lang="en-NZ"/>
              <a:t>This measures economic activity in a country</a:t>
            </a:r>
          </a:p>
          <a:p>
            <a:endParaRPr lang="en-NZ"/>
          </a:p>
          <a:p>
            <a:r>
              <a:rPr lang="en-NZ"/>
              <a:t>It is the market value of the output of the economy in a given period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61E4BC-0417-B828-80AC-FDB0A07580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NZ">
                <a:solidFill>
                  <a:srgbClr val="C00000"/>
                </a:solidFill>
              </a:rPr>
              <a:t>Business Cycle</a:t>
            </a:r>
          </a:p>
          <a:p>
            <a:endParaRPr lang="en-NZ"/>
          </a:p>
          <a:p>
            <a:r>
              <a:rPr lang="en-NZ"/>
              <a:t>Alternating periods of faster or slower growth.</a:t>
            </a:r>
          </a:p>
          <a:p>
            <a:endParaRPr lang="en-NZ"/>
          </a:p>
          <a:p>
            <a:r>
              <a:rPr lang="en-NZ">
                <a:solidFill>
                  <a:srgbClr val="C00000"/>
                </a:solidFill>
              </a:rPr>
              <a:t>Recessions</a:t>
            </a:r>
            <a:r>
              <a:rPr lang="en-NZ"/>
              <a:t> occur when growth is negative (or below normal level)</a:t>
            </a:r>
          </a:p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B893F6-890A-017E-8288-748BE21AB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t>10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9422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2A1D73-4B87-789A-6F6D-001B62DD8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anchor="ctr">
            <a:normAutofit/>
          </a:bodyPr>
          <a:lstStyle/>
          <a:p>
            <a:r>
              <a:rPr lang="en-NZ" sz="3100"/>
              <a:t>Why Recessions matter</a:t>
            </a:r>
          </a:p>
        </p:txBody>
      </p:sp>
      <p:pic>
        <p:nvPicPr>
          <p:cNvPr id="8" name="FRED Graph Chart" descr="FRED Graph">
            <a:hlinkClick r:id="rId3" tooltip="View this chart in your browser. "/>
            <a:extLst>
              <a:ext uri="{FF2B5EF4-FFF2-40B4-BE49-F238E27FC236}">
                <a16:creationId xmlns:a16="http://schemas.microsoft.com/office/drawing/2014/main" id="{0D5BB376-1799-FBCB-F281-8C6B2254BC7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4"/>
          <a:stretch>
            <a:fillRect/>
          </a:stretch>
        </p:blipFill>
        <p:spPr>
          <a:xfrm>
            <a:off x="3963253" y="604838"/>
            <a:ext cx="7142044" cy="4981575"/>
          </a:xfrm>
          <a:prstGeom prst="roundRect">
            <a:avLst>
              <a:gd name="adj" fmla="val 4380"/>
            </a:avLst>
          </a:prstGeom>
          <a:noFill/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68AE1D3-665F-3422-BC59-98EBB51D2C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>
            <a:normAutofit lnSpcReduction="10000"/>
          </a:bodyPr>
          <a:lstStyle/>
          <a:p>
            <a:r>
              <a:rPr lang="en-US"/>
              <a:t>The business cycle affects labour markets.</a:t>
            </a:r>
          </a:p>
          <a:p>
            <a:endParaRPr lang="en-US"/>
          </a:p>
          <a:p>
            <a:r>
              <a:rPr lang="en-US"/>
              <a:t>Unemployment rises during recessions and falls during booms.</a:t>
            </a:r>
          </a:p>
          <a:p>
            <a:endParaRPr lang="en-US"/>
          </a:p>
          <a:p>
            <a:r>
              <a:rPr lang="en-US"/>
              <a:t>Unemployment is costly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8DE379-EEC7-F5EE-A377-456C1DE09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11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96211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2B8CE8-AAAE-F0AC-62CD-A9A6822E7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mi-NZ" dirty="0" err="1"/>
              <a:t>Households</a:t>
            </a:r>
            <a:r>
              <a:rPr lang="mi-NZ" dirty="0"/>
              <a:t> </a:t>
            </a:r>
            <a:r>
              <a:rPr lang="mi-NZ" dirty="0" err="1"/>
              <a:t>face</a:t>
            </a:r>
            <a:r>
              <a:rPr lang="mi-NZ" dirty="0"/>
              <a:t> </a:t>
            </a:r>
            <a:r>
              <a:rPr lang="mi-NZ" dirty="0" err="1"/>
              <a:t>an</a:t>
            </a:r>
            <a:r>
              <a:rPr lang="mi-NZ" dirty="0"/>
              <a:t> </a:t>
            </a:r>
            <a:r>
              <a:rPr lang="mi-NZ" dirty="0" err="1"/>
              <a:t>income</a:t>
            </a:r>
            <a:r>
              <a:rPr lang="mi-NZ" dirty="0"/>
              <a:t> </a:t>
            </a:r>
            <a:r>
              <a:rPr lang="mi-NZ" dirty="0" err="1"/>
              <a:t>shock</a:t>
            </a:r>
            <a:r>
              <a:rPr lang="mi-NZ" dirty="0"/>
              <a:t>. </a:t>
            </a:r>
            <a:endParaRPr lang="en-US" dirty="0"/>
          </a:p>
          <a:p>
            <a:r>
              <a:rPr lang="en-NZ" dirty="0"/>
              <a:t>Unemployed also face higher levels</a:t>
            </a:r>
          </a:p>
          <a:p>
            <a:pPr lvl="1"/>
            <a:r>
              <a:rPr lang="en-NZ" dirty="0"/>
              <a:t>of stress </a:t>
            </a:r>
          </a:p>
          <a:p>
            <a:pPr lvl="1"/>
            <a:r>
              <a:rPr lang="en-NZ" dirty="0"/>
              <a:t>Unhappiness, loss of self-esteem</a:t>
            </a:r>
          </a:p>
          <a:p>
            <a:r>
              <a:rPr lang="en-NZ" dirty="0"/>
              <a:t>Clark and Oswald showed average unemployed person would </a:t>
            </a:r>
          </a:p>
          <a:p>
            <a:pPr lvl="1"/>
            <a:r>
              <a:rPr lang="en-NZ" dirty="0"/>
              <a:t>need £15,000 per month to restore welfare to employed-level. </a:t>
            </a:r>
          </a:p>
          <a:p>
            <a:pPr lvl="1"/>
            <a:r>
              <a:rPr lang="en-NZ" dirty="0"/>
              <a:t>Average wages were £2,000 per month.</a:t>
            </a:r>
          </a:p>
          <a:p>
            <a:r>
              <a:rPr lang="en-NZ" dirty="0"/>
              <a:t>Cost to society greater than loss of wages or salary.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9AA952-B969-A76F-45B5-E70A27923F8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4"/>
          </a:solidFill>
        </p:spPr>
        <p:txBody>
          <a:bodyPr>
            <a:noAutofit/>
          </a:bodyPr>
          <a:lstStyle/>
          <a:p>
            <a:r>
              <a:rPr lang="mi-NZ" sz="5400" dirty="0" err="1"/>
              <a:t>Why</a:t>
            </a:r>
            <a:r>
              <a:rPr lang="mi-NZ" sz="5400" dirty="0"/>
              <a:t> </a:t>
            </a:r>
            <a:r>
              <a:rPr lang="mi-NZ" sz="5400" dirty="0" err="1"/>
              <a:t>is</a:t>
            </a:r>
            <a:r>
              <a:rPr lang="mi-NZ" sz="5400" dirty="0"/>
              <a:t> </a:t>
            </a:r>
            <a:r>
              <a:rPr lang="mi-NZ" sz="5400" dirty="0" err="1"/>
              <a:t>Unemployment</a:t>
            </a:r>
            <a:r>
              <a:rPr lang="mi-NZ" sz="5400" dirty="0"/>
              <a:t> </a:t>
            </a:r>
            <a:r>
              <a:rPr lang="mi-NZ" sz="5400" dirty="0" err="1"/>
              <a:t>Costly</a:t>
            </a:r>
            <a:r>
              <a:rPr lang="mi-NZ" sz="5400" dirty="0"/>
              <a:t>?</a:t>
            </a:r>
            <a:endParaRPr lang="en-NZ" sz="5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78B13-C8CD-928C-FA43-A75FCD448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12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66793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3BC1A-2097-29A1-60C2-9EE3BD011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anchor="ctr">
            <a:normAutofit/>
          </a:bodyPr>
          <a:lstStyle/>
          <a:p>
            <a:r>
              <a:rPr lang="en-US" sz="4600"/>
              <a:t>Great Depression</a:t>
            </a:r>
            <a:endParaRPr lang="en-NZ" sz="4600"/>
          </a:p>
        </p:txBody>
      </p:sp>
      <p:pic>
        <p:nvPicPr>
          <p:cNvPr id="6" name="Content Placeholder 5" descr="A crowd of people in a street&#10;&#10;Description automatically generated with medium confidence">
            <a:extLst>
              <a:ext uri="{FF2B5EF4-FFF2-40B4-BE49-F238E27FC236}">
                <a16:creationId xmlns:a16="http://schemas.microsoft.com/office/drawing/2014/main" id="{27272A9B-A973-D0A7-A1E3-985568B6E8A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79" r="1" b="2300"/>
          <a:stretch/>
        </p:blipFill>
        <p:spPr>
          <a:xfrm>
            <a:off x="3946525" y="604838"/>
            <a:ext cx="7175500" cy="4981575"/>
          </a:xfrm>
          <a:noFill/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75CD92B-C2F1-366D-645D-7F07660F93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During Great Depression high unemployment led to civil unrest, protests and riots. 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243D64-5B2A-D90E-9AC2-BFC2AE631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13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43854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1AE4-288D-CF18-1424-67B88F548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NZ" sz="4800"/>
              <a:t>Output and Unemployment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1F92E-E7BF-D766-AAC2-4C85B4362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/>
              <a:t>Okun’s Law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7A324-010D-A594-E807-749486CDB3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NZ"/>
              <a:t>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BC7385-23CA-317A-C542-440B69C26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14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0438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0CB34D-B22A-E635-A80D-595CF05BC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anchor="ctr">
            <a:normAutofit fontScale="90000"/>
          </a:bodyPr>
          <a:lstStyle/>
          <a:p>
            <a:r>
              <a:rPr lang="en-US" sz="4600" dirty="0"/>
              <a:t>Scatter Plots: Revision</a:t>
            </a:r>
            <a:endParaRPr lang="en-NZ" sz="4600" dirty="0"/>
          </a:p>
        </p:txBody>
      </p:sp>
      <p:pic>
        <p:nvPicPr>
          <p:cNvPr id="6" name="Picture Placeholder 5" descr="Chart, scatter chart&#10;&#10;Description automatically generated">
            <a:extLst>
              <a:ext uri="{FF2B5EF4-FFF2-40B4-BE49-F238E27FC236}">
                <a16:creationId xmlns:a16="http://schemas.microsoft.com/office/drawing/2014/main" id="{07C5B339-DACA-CA75-7351-63E9831B289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525" y="916067"/>
            <a:ext cx="7175500" cy="4359116"/>
          </a:xfrm>
          <a:noFill/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28BAF57-9D95-A573-314D-5FA07F8341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Economic data can be graphed as a scatter-plot.</a:t>
            </a:r>
          </a:p>
          <a:p>
            <a:r>
              <a:rPr lang="en-US" dirty="0"/>
              <a:t>We can add a line of ‘best-fit’ to the data.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E5C6CC-2056-2622-C75D-B48C42A61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15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18345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5FA6C-EFD3-52CD-8ADD-AAA262F05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Line of Best 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C91E5-761C-D120-6235-72447E6CBDB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mi-NZ" dirty="0"/>
              <a:t>The line of best fit is a linear line</a:t>
            </a:r>
            <a:r>
              <a:rPr lang="en-NZ" dirty="0"/>
              <a:t>.</a:t>
            </a:r>
          </a:p>
          <a:p>
            <a:pPr lvl="1"/>
            <a:r>
              <a:rPr lang="en-NZ" dirty="0"/>
              <a:t>It can be defined in terms of the intercept and slope</a:t>
            </a:r>
          </a:p>
          <a:p>
            <a:pPr lvl="2"/>
            <a:r>
              <a:rPr lang="en-NZ" dirty="0"/>
              <a:t>y = </a:t>
            </a:r>
            <a:r>
              <a:rPr lang="en-NZ" dirty="0" err="1"/>
              <a:t>ax</a:t>
            </a:r>
            <a:r>
              <a:rPr lang="en-NZ" dirty="0"/>
              <a:t> + b </a:t>
            </a:r>
          </a:p>
          <a:p>
            <a:pPr lvl="1"/>
            <a:r>
              <a:rPr lang="en-NZ" dirty="0"/>
              <a:t>Or because of commutative rule</a:t>
            </a:r>
          </a:p>
          <a:p>
            <a:pPr lvl="2"/>
            <a:r>
              <a:rPr lang="en-NZ" dirty="0"/>
              <a:t>y = b + </a:t>
            </a:r>
            <a:r>
              <a:rPr lang="en-NZ" dirty="0" err="1"/>
              <a:t>ax</a:t>
            </a:r>
            <a:endParaRPr lang="en-NZ" dirty="0"/>
          </a:p>
          <a:p>
            <a:r>
              <a:rPr lang="en-NZ" dirty="0"/>
              <a:t>The line’s fit is measured as the R</a:t>
            </a:r>
            <a:r>
              <a:rPr lang="en-NZ" baseline="30000" dirty="0"/>
              <a:t>2 </a:t>
            </a:r>
            <a:r>
              <a:rPr lang="en-NZ" dirty="0"/>
              <a:t>value</a:t>
            </a:r>
          </a:p>
          <a:p>
            <a:pPr lvl="1"/>
            <a:r>
              <a:rPr lang="en-NZ" dirty="0"/>
              <a:t>0 implies no statistical fit</a:t>
            </a:r>
          </a:p>
          <a:p>
            <a:pPr lvl="1"/>
            <a:r>
              <a:rPr lang="en-NZ" dirty="0"/>
              <a:t>1 implies a perfect statistical fit.</a:t>
            </a:r>
          </a:p>
          <a:p>
            <a:pPr marL="457200" lvl="1" indent="0">
              <a:buNone/>
            </a:pPr>
            <a:endParaRPr lang="en-NZ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207551-EE2C-99D7-CA72-3823654052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NZ" dirty="0"/>
              <a:t>If the best fit is a straight-line, it is (usually) estimated by a least-squares technique.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630C9-75EF-1AD2-435A-CD8DEBC2F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16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91071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02077-E377-1F2F-AB4A-60B56A215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The slope of the line for an equation relating the change in unemployment to the change in GDP</a:t>
            </a:r>
            <a:br>
              <a:rPr lang="en-US" sz="4800" dirty="0">
                <a:solidFill>
                  <a:srgbClr val="76838B"/>
                </a:solidFill>
              </a:rPr>
            </a:br>
            <a:endParaRPr lang="en-N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E8BEC-4F99-5C16-9EDC-13062C61DC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92500"/>
          </a:bodyPr>
          <a:lstStyle/>
          <a:p>
            <a:r>
              <a:rPr lang="en-NZ" dirty="0"/>
              <a:t>Okun’s Coefficient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B29E3-5CD0-C721-D3E5-822A77382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17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7981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7751" y="561766"/>
            <a:ext cx="4505326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Okun’s Law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1047751" y="2013916"/>
            <a:ext cx="4505326" cy="35718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US" sz="2400" dirty="0">
                <a:solidFill>
                  <a:srgbClr val="76838B"/>
                </a:solidFill>
              </a:rPr>
              <a:t>Okun coefficient is the </a:t>
            </a:r>
            <a:r>
              <a:rPr lang="en-US" sz="2400" dirty="0">
                <a:solidFill>
                  <a:srgbClr val="FF0000"/>
                </a:solidFill>
              </a:rPr>
              <a:t>slope 𝚫y/𝚫x</a:t>
            </a:r>
            <a:r>
              <a:rPr lang="en-US" sz="2400" dirty="0">
                <a:solidFill>
                  <a:srgbClr val="76838B"/>
                </a:solidFill>
              </a:rPr>
              <a:t> of the lines.</a:t>
            </a:r>
          </a:p>
          <a:p>
            <a:pPr indent="-228600" algn="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US" sz="2400" dirty="0">
                <a:solidFill>
                  <a:srgbClr val="76838B"/>
                </a:solidFill>
              </a:rPr>
              <a:t>Okun’s law states it will be </a:t>
            </a:r>
            <a:r>
              <a:rPr lang="en-US" sz="2400" dirty="0">
                <a:solidFill>
                  <a:srgbClr val="FF0000"/>
                </a:solidFill>
              </a:rPr>
              <a:t>negative</a:t>
            </a:r>
            <a:r>
              <a:rPr lang="en-US" sz="2400" dirty="0">
                <a:solidFill>
                  <a:srgbClr val="76838B"/>
                </a:solidFill>
              </a:rPr>
              <a:t>.</a:t>
            </a:r>
          </a:p>
          <a:p>
            <a:pPr indent="-228600" algn="r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endParaRPr lang="en-US" sz="2400" dirty="0">
              <a:solidFill>
                <a:srgbClr val="76838B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US" sz="2400" dirty="0">
                <a:solidFill>
                  <a:srgbClr val="76838B"/>
                </a:solidFill>
              </a:rPr>
              <a:t>Example: Germany is -0.2048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US" sz="2400" dirty="0">
                <a:solidFill>
                  <a:srgbClr val="76838B"/>
                </a:solidFill>
              </a:rPr>
              <a:t>Thus a 1% increase in GDP will change unemployment by -0.2048% </a:t>
            </a:r>
          </a:p>
        </p:txBody>
      </p:sp>
      <p:pic>
        <p:nvPicPr>
          <p:cNvPr id="9" name="Picture 8" descr="figure-13-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615" y="561766"/>
            <a:ext cx="5260759" cy="5024025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F983F8-E9D9-F62F-D0FC-450A19FCB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18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33247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7751" y="561766"/>
            <a:ext cx="4505326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 sz="4200"/>
              <a:t>			     Okun’s Law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1CD298B-D304-431B-E433-0F2B8DB512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7751" y="2013916"/>
            <a:ext cx="4505326" cy="3571875"/>
          </a:xfrm>
        </p:spPr>
        <p:txBody>
          <a:bodyPr/>
          <a:lstStyle/>
          <a:p>
            <a:r>
              <a:rPr lang="en-US" sz="2400" b="1" dirty="0">
                <a:solidFill>
                  <a:srgbClr val="76838B"/>
                </a:solidFill>
              </a:rPr>
              <a:t>Okun’s Law </a:t>
            </a:r>
            <a:r>
              <a:rPr lang="en-US" dirty="0"/>
              <a:t>is the </a:t>
            </a:r>
            <a:r>
              <a:rPr lang="en-US" sz="2400" dirty="0">
                <a:solidFill>
                  <a:srgbClr val="76838B"/>
                </a:solidFill>
              </a:rPr>
              <a:t>strong and stable relationship between unemployment and GDP growth</a:t>
            </a:r>
            <a:endParaRPr lang="en-US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2F59FAA-8A8D-961A-11CE-3F2D558BEB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9401616"/>
              </p:ext>
            </p:extLst>
          </p:nvPr>
        </p:nvGraphicFramePr>
        <p:xfrm>
          <a:off x="6096001" y="561766"/>
          <a:ext cx="5741988" cy="5024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1F1A9-7E27-D30D-7720-51A4A7A3E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19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08048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800">
                <a:latin typeface="+mn-lt"/>
              </a:rPr>
              <a:t>			     Okun’s Law – New Zealand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3259" y="1195076"/>
            <a:ext cx="378036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What is the vertical intercept?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What is Okun’s coefficient?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/>
              <a:t>If GDP falls by 4.8%, what is the predicted change in unemployment?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C46A2D-9801-4B5A-BE04-73014D251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3623" y="1195076"/>
            <a:ext cx="7752628" cy="38678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B8A57E-F22C-43B1-BB29-EF059F398856}"/>
              </a:ext>
            </a:extLst>
          </p:cNvPr>
          <p:cNvSpPr txBox="1"/>
          <p:nvPr/>
        </p:nvSpPr>
        <p:spPr>
          <a:xfrm>
            <a:off x="1917272" y="5062889"/>
            <a:ext cx="87099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C00000"/>
                </a:solidFill>
              </a:rPr>
              <a:t>Predicted change in unemployment = 0.6414 + (-0.2489 x -4.8) </a:t>
            </a:r>
            <a:br>
              <a:rPr lang="en-US" sz="2400">
                <a:solidFill>
                  <a:srgbClr val="C00000"/>
                </a:solidFill>
              </a:rPr>
            </a:br>
            <a:r>
              <a:rPr lang="en-US" sz="2400">
                <a:solidFill>
                  <a:srgbClr val="C00000"/>
                </a:solidFill>
              </a:rPr>
              <a:t>= 1.84 percentage points (increase)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CA648-8914-0518-5E1A-843638D86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20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28015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6CDD8-4415-528F-8A56-35310B76A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NZ" sz="4000"/>
              <a:t>Measuring the Aggregate Economy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0CA6F-C489-6DBD-F70C-19F6086CB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NZ"/>
              <a:t>Gross Domestic Product (GDP)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BFFE49-85A7-BC4A-0909-CC6472A077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NZ"/>
              <a:t>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3E0E3A-8DCC-462D-DAE1-741C4CDD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21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839115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DA941F8-6612-42D5-92CE-2AA25EABD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Before World War 2 (1939-1945) Governments could not measure the aggregate economy.</a:t>
            </a:r>
          </a:p>
          <a:p>
            <a:r>
              <a:rPr lang="en-US" dirty="0"/>
              <a:t>Hence could not</a:t>
            </a:r>
          </a:p>
          <a:p>
            <a:pPr lvl="1"/>
            <a:r>
              <a:rPr lang="en-US" dirty="0"/>
              <a:t>Identify easily when economy was in recession</a:t>
            </a:r>
          </a:p>
          <a:p>
            <a:pPr lvl="1"/>
            <a:r>
              <a:rPr lang="en-US" dirty="0"/>
              <a:t>Know what policies to implement</a:t>
            </a:r>
          </a:p>
          <a:p>
            <a:pPr lvl="1"/>
            <a:r>
              <a:rPr lang="en-US" dirty="0"/>
              <a:t>Know when to implement these policies</a:t>
            </a:r>
          </a:p>
          <a:p>
            <a:pPr lvl="1"/>
            <a:r>
              <a:rPr lang="en-US" dirty="0"/>
              <a:t>Know how much money they should borrow or spend.</a:t>
            </a:r>
          </a:p>
          <a:p>
            <a:r>
              <a:rPr lang="en-US" dirty="0"/>
              <a:t>This was a major problem in Great Depression (1929-1933)</a:t>
            </a:r>
          </a:p>
          <a:p>
            <a:pPr lvl="1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AB2F882-447E-47C7-A23B-4D5F6296B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Origin of GDP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B3B913-AAEB-B949-8B2A-F4E89901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22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80338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9FFF1-61FE-755A-113E-D45CC8E5F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51" y="561766"/>
            <a:ext cx="4505326" cy="1325563"/>
          </a:xfrm>
        </p:spPr>
        <p:txBody>
          <a:bodyPr anchor="b">
            <a:normAutofit/>
          </a:bodyPr>
          <a:lstStyle/>
          <a:p>
            <a:r>
              <a:rPr lang="en-NZ" dirty="0"/>
              <a:t>Simon Kuznets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4B17903-DCFD-D13F-81BB-0739DEF5A6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7751" y="2013916"/>
            <a:ext cx="4505326" cy="3571875"/>
          </a:xfrm>
        </p:spPr>
        <p:txBody>
          <a:bodyPr/>
          <a:lstStyle/>
          <a:p>
            <a:r>
              <a:rPr lang="en-US" dirty="0"/>
              <a:t>Simon Kuznets (Nobel Laureate) helped devise system of national accounts to measure aggregate economy.</a:t>
            </a:r>
          </a:p>
          <a:p>
            <a:r>
              <a:rPr lang="en-US" dirty="0"/>
              <a:t>Widely adopted as standard across all countries soon after.</a:t>
            </a:r>
          </a:p>
        </p:txBody>
      </p:sp>
      <p:pic>
        <p:nvPicPr>
          <p:cNvPr id="6" name="Content Placeholder 5" descr="A picture containing person, person, necktie, suit&#10;&#10;Description automatically generated">
            <a:extLst>
              <a:ext uri="{FF2B5EF4-FFF2-40B4-BE49-F238E27FC236}">
                <a16:creationId xmlns:a16="http://schemas.microsoft.com/office/drawing/2014/main" id="{E1672DD1-CDFD-CED3-B140-82A462512A29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73" r="2" b="18925"/>
          <a:stretch/>
        </p:blipFill>
        <p:spPr>
          <a:xfrm>
            <a:off x="6096001" y="561766"/>
            <a:ext cx="5741988" cy="5024025"/>
          </a:xfr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8B1579-7F55-683D-9978-488438E97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23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152489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FA0AD-9CB1-BBCA-05E0-77150FC40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FFFFFF"/>
                </a:solidFill>
              </a:rPr>
              <a:t>While the GDP and the rest of the national income accounts may seem to be arcane concepts, they are truly among the great inventions of the twentieth century</a:t>
            </a:r>
            <a:endParaRPr lang="en-NZ" sz="4000" dirty="0">
              <a:solidFill>
                <a:srgbClr val="FFFFFF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7F99F-B816-9FED-25F5-53EAB44524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NZ" dirty="0">
                <a:solidFill>
                  <a:srgbClr val="FFFFFF"/>
                </a:solidFill>
              </a:rPr>
              <a:t>Paul A. Samuelson and William D. Nordhaus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23F78-D9E0-16D0-D64C-097CD4DCE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24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600537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95FFDA-38BC-97FE-D3DC-3ECDDB136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Concept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0E39CE-7403-E5E9-8906-5153A14989C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Suppose Mei pays </a:t>
            </a:r>
            <a:r>
              <a:rPr lang="en-US" dirty="0" err="1"/>
              <a:t>Sione</a:t>
            </a:r>
            <a:r>
              <a:rPr lang="en-US" dirty="0"/>
              <a:t> $100 to paint her kitchen.</a:t>
            </a:r>
          </a:p>
          <a:p>
            <a:pPr lvl="1"/>
            <a:r>
              <a:rPr lang="en-US" dirty="0"/>
              <a:t>Mei’s expenditure is $100</a:t>
            </a:r>
          </a:p>
          <a:p>
            <a:pPr lvl="1"/>
            <a:r>
              <a:rPr lang="en-US" dirty="0" err="1"/>
              <a:t>Sione’s</a:t>
            </a:r>
            <a:r>
              <a:rPr lang="en-US" dirty="0"/>
              <a:t> income is $100</a:t>
            </a:r>
          </a:p>
          <a:p>
            <a:r>
              <a:rPr lang="en-US" dirty="0"/>
              <a:t>In an economy, all expenditure ends up being someone else’s income.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8D0A94F-47D3-89F8-CE25-E052BB3C08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In an economy, income and expenditure must equal.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8E30C4-892B-E80E-F311-6A9DA41FC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25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130458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F09A8-3B5B-0477-943E-1A2BBFD17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/>
              <a:t>National Accounts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84102-F079-7EFB-6FD5-7D24E772F0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NZ" dirty="0"/>
              <a:t>A system to measure overall output and expenditure in an economy.</a:t>
            </a:r>
          </a:p>
          <a:p>
            <a:r>
              <a:rPr lang="en-NZ" dirty="0"/>
              <a:t>It can be based on spending, production or income (see diagram). </a:t>
            </a:r>
          </a:p>
          <a:p>
            <a:r>
              <a:rPr lang="en-NZ" dirty="0"/>
              <a:t>In practice the expenditure approach is most widely used. 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131724-ACD3-DA1D-E9D3-85D862F03479}"/>
              </a:ext>
            </a:extLst>
          </p:cNvPr>
          <p:cNvPicPr>
            <a:picLocks noGrp="1"/>
          </p:cNvPicPr>
          <p:nvPr>
            <p:ph sz="quarter" idx="15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6096000" y="1019291"/>
            <a:ext cx="5741988" cy="4109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D14F9-F913-334D-CC68-A6571336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26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654638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E995C-2792-5BC9-E2A2-F2B598D8B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GDP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0D318-757F-6BDC-391E-30A69783F9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Gross Domestic Product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12C9F-784D-2FE9-19BE-D0E0FEB984FF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This measures the market value of all the goods and services produced in an economy over a set period.</a:t>
            </a:r>
          </a:p>
          <a:p>
            <a:r>
              <a:rPr lang="en-US" dirty="0"/>
              <a:t>Production can be done by either domestic or foreign nationals.</a:t>
            </a:r>
          </a:p>
          <a:p>
            <a:pPr lvl="1"/>
            <a:r>
              <a:rPr lang="en-US" dirty="0"/>
              <a:t>E.g. a dairy factory operated by an NZ company in Australia counts toward Australia's GDP</a:t>
            </a:r>
          </a:p>
          <a:p>
            <a:pPr lvl="1"/>
            <a:r>
              <a:rPr lang="en-US" dirty="0"/>
              <a:t>An Apple factory in China counts toward China’s GDP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33F211-9EC9-CBAB-C37C-880311776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27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303485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E4539-729A-8096-1A82-B12BD348C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51" y="561766"/>
            <a:ext cx="4505326" cy="1325563"/>
          </a:xfrm>
        </p:spPr>
        <p:txBody>
          <a:bodyPr anchor="b">
            <a:normAutofit/>
          </a:bodyPr>
          <a:lstStyle/>
          <a:p>
            <a:r>
              <a:rPr lang="en-NZ" sz="4200"/>
              <a:t>International Transaction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7BF47A-64EE-48FF-4978-BFD97615F3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7751" y="2013916"/>
            <a:ext cx="4505326" cy="3571875"/>
          </a:xfrm>
        </p:spPr>
        <p:txBody>
          <a:bodyPr anchor="t">
            <a:normAutofit/>
          </a:bodyPr>
          <a:lstStyle/>
          <a:p>
            <a:r>
              <a:rPr lang="en-NZ"/>
              <a:t>These are goods </a:t>
            </a:r>
          </a:p>
          <a:p>
            <a:pPr lvl="1"/>
            <a:r>
              <a:rPr lang="en-NZ" sz="2400"/>
              <a:t>either produced domestically (in NZ) but sold elsewhere </a:t>
            </a:r>
          </a:p>
          <a:p>
            <a:pPr lvl="1"/>
            <a:r>
              <a:rPr lang="en-NZ" sz="2400"/>
              <a:t>Or</a:t>
            </a:r>
          </a:p>
          <a:p>
            <a:pPr lvl="1"/>
            <a:r>
              <a:rPr lang="en-NZ" sz="2400"/>
              <a:t>Produced elsewhere but sold domestically (in NZ)</a:t>
            </a:r>
          </a:p>
          <a:p>
            <a:endParaRPr lang="en-NZ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9CA4822-71C9-A230-5165-7504564F2613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3329331008"/>
              </p:ext>
            </p:extLst>
          </p:nvPr>
        </p:nvGraphicFramePr>
        <p:xfrm>
          <a:off x="6096001" y="561766"/>
          <a:ext cx="5741988" cy="5024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206177-552B-2988-1046-7ECA7C581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28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041103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0016-60E0-0CB3-73EF-18175A99E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/>
              <a:t>Government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219FD-BCC7-96FE-BAE7-19A3CC5D5D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NZ" dirty="0"/>
              <a:t>Governments are like another producer of goods and services.</a:t>
            </a:r>
          </a:p>
          <a:p>
            <a:r>
              <a:rPr lang="en-NZ" dirty="0"/>
              <a:t>These are paid through taxes, not markets, at point of consumption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CDED5FF-BBB6-E09F-3B22-3C6131F91BBF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1111004182"/>
              </p:ext>
            </p:extLst>
          </p:nvPr>
        </p:nvGraphicFramePr>
        <p:xfrm>
          <a:off x="6096001" y="561766"/>
          <a:ext cx="5741988" cy="5024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87062-9244-EB53-F605-1F7B9AB5A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29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74775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CFF387-979E-B771-74E2-525438A0B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anchor="ctr">
            <a:normAutofit/>
          </a:bodyPr>
          <a:lstStyle/>
          <a:p>
            <a:r>
              <a:rPr lang="en-NZ"/>
              <a:t>GDP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4054E5-124A-2FDC-B423-A83023E614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>
            <a:normAutofit/>
          </a:bodyPr>
          <a:lstStyle/>
          <a:p>
            <a:r>
              <a:rPr lang="en-NZ"/>
              <a:t>What does GDP measure and not measure?</a:t>
            </a:r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09F68D0F-8710-B0F3-EAE6-0BF44831A9B4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577468970"/>
              </p:ext>
            </p:extLst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27796B3-46AA-A727-1604-B934A923599B}"/>
              </a:ext>
            </a:extLst>
          </p:cNvPr>
          <p:cNvSpPr txBox="1"/>
          <p:nvPr/>
        </p:nvSpPr>
        <p:spPr>
          <a:xfrm>
            <a:off x="979055" y="5586413"/>
            <a:ext cx="1066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Find latest HDI data on web. Which country is ranked first? Where are NZ and the US ranked?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6575D5-F6E9-8467-FD72-4AF2DFD37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30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68875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E61FBFD-CED2-3415-9614-7088DD721E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7893008"/>
              </p:ext>
            </p:extLst>
          </p:nvPr>
        </p:nvGraphicFramePr>
        <p:xfrm>
          <a:off x="1500982" y="576471"/>
          <a:ext cx="7474054" cy="5050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F4B7DB9-04F2-98C6-F960-6D5C1A99D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GDP problems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4F23DF-6AE7-6239-5F62-64B16983E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31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910484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B7DB9-04F2-98C6-F960-6D5C1A99D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GDP problems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C75D19-8837-AF0F-8915-5C2879A637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  <a:p>
            <a:pPr lvl="1"/>
            <a:r>
              <a:rPr lang="en-US" dirty="0"/>
              <a:t>Walter harvests some </a:t>
            </a:r>
            <a:r>
              <a:rPr lang="en-US" dirty="0" err="1"/>
              <a:t>paua</a:t>
            </a:r>
            <a:r>
              <a:rPr lang="en-US" dirty="0"/>
              <a:t> illegally and sells them to Jesse for $100. </a:t>
            </a:r>
          </a:p>
          <a:p>
            <a:pPr lvl="1"/>
            <a:r>
              <a:rPr lang="en-US" dirty="0"/>
              <a:t>Goods are still produced.</a:t>
            </a:r>
          </a:p>
          <a:p>
            <a:pPr lvl="1"/>
            <a:r>
              <a:rPr lang="en-US" dirty="0"/>
              <a:t>Walter receives income</a:t>
            </a:r>
          </a:p>
          <a:p>
            <a:pPr lvl="1"/>
            <a:r>
              <a:rPr lang="en-US" dirty="0"/>
              <a:t>Jesse spends money</a:t>
            </a:r>
          </a:p>
          <a:p>
            <a:pPr lvl="1"/>
            <a:r>
              <a:rPr lang="en-US" dirty="0"/>
              <a:t>Transaction is not recorded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95658-C293-B954-F273-E4B48F525F54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53E80E-A8F3-6813-99F7-5543927C4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421" y="561766"/>
            <a:ext cx="5627255" cy="422044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8383F-6FA1-FCB5-EAF8-C3F34EF5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32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16480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B7DB9-04F2-98C6-F960-6D5C1A99D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GDP problems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C75D19-8837-AF0F-8915-5C2879A637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  <a:p>
            <a:pPr lvl="1"/>
            <a:r>
              <a:rPr lang="en-US" dirty="0"/>
              <a:t>Jenny spends an hour each week ironing clothes. </a:t>
            </a:r>
          </a:p>
          <a:p>
            <a:pPr lvl="1"/>
            <a:r>
              <a:rPr lang="en-US" dirty="0"/>
              <a:t>She then decides to pay someone else to iron them for her for $50</a:t>
            </a:r>
          </a:p>
          <a:p>
            <a:pPr lvl="1"/>
            <a:r>
              <a:rPr lang="en-US" dirty="0"/>
              <a:t>GDP will rise by $50</a:t>
            </a:r>
          </a:p>
          <a:p>
            <a:pPr lvl="1"/>
            <a:r>
              <a:rPr lang="en-US" dirty="0"/>
              <a:t>But the same quantity of clothes is being ironed. There has not been an increase in the production of goods.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95658-C293-B954-F273-E4B48F525F54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3870AD-D653-F3B1-1944-C231F30C48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684733" y="1272209"/>
            <a:ext cx="6350748" cy="357187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C6D6C8-DE6E-06F2-C967-DD3097466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33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101973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6779A-57E2-9CF5-3904-DA8D269B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GDP Problems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52885-8180-7ADF-0A98-10E36F664C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GDP does not distinguish between spending on ‘goods’ and spending on ‘</a:t>
            </a:r>
            <a:r>
              <a:rPr lang="en-US" dirty="0" err="1"/>
              <a:t>bads</a:t>
            </a:r>
            <a:r>
              <a:rPr lang="en-US" dirty="0"/>
              <a:t>’.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AB7CD6-6935-DA7E-F55E-00C25A8E0D7F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  <a:p>
            <a:pPr lvl="1"/>
            <a:r>
              <a:rPr lang="en-US" dirty="0"/>
              <a:t>Spending $100,000 to clean up an oil spill in a </a:t>
            </a:r>
            <a:r>
              <a:rPr lang="en-US" dirty="0" err="1"/>
              <a:t>harbour</a:t>
            </a:r>
            <a:r>
              <a:rPr lang="en-US" dirty="0"/>
              <a:t> has same effect on GDP as </a:t>
            </a:r>
          </a:p>
          <a:p>
            <a:pPr lvl="1"/>
            <a:r>
              <a:rPr lang="en-US" dirty="0"/>
              <a:t>Spending $100,000 on tractors for a farm</a:t>
            </a:r>
          </a:p>
          <a:p>
            <a:r>
              <a:rPr lang="en-US" dirty="0"/>
              <a:t>Example 2</a:t>
            </a:r>
          </a:p>
          <a:p>
            <a:pPr lvl="1"/>
            <a:r>
              <a:rPr lang="en-US" dirty="0"/>
              <a:t>Spending $50.00 on cigarettes has same effect on GDP as</a:t>
            </a:r>
          </a:p>
          <a:p>
            <a:pPr lvl="1"/>
            <a:r>
              <a:rPr lang="en-US" dirty="0"/>
              <a:t>Spending $50.00 to join a gym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4C07E-4038-55C4-6670-13A8CF1FE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34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399318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6779A-57E2-9CF5-3904-DA8D269B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GDP Problems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52885-8180-7ADF-0A98-10E36F664C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Distribution of income</a:t>
            </a:r>
          </a:p>
          <a:p>
            <a:r>
              <a:rPr lang="en-US" dirty="0"/>
              <a:t>GDP does not penalize high inequality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AB7CD6-6935-DA7E-F55E-00C25A8E0D7F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Compare these two economies.</a:t>
            </a:r>
          </a:p>
          <a:p>
            <a:r>
              <a:rPr lang="en-US" dirty="0"/>
              <a:t>A) 10 millionaires whose income $1m each and 90 poor people whose income is $1000 each.</a:t>
            </a:r>
          </a:p>
          <a:p>
            <a:pPr lvl="1"/>
            <a:r>
              <a:rPr lang="en-US" dirty="0"/>
              <a:t>GDP is $10,090,000</a:t>
            </a:r>
          </a:p>
          <a:p>
            <a:r>
              <a:rPr lang="en-US" dirty="0"/>
              <a:t>B) 100 people whose income is $100,000 each.</a:t>
            </a:r>
          </a:p>
          <a:p>
            <a:pPr lvl="1"/>
            <a:r>
              <a:rPr lang="en-US" dirty="0"/>
              <a:t>GDP is $10,000,000</a:t>
            </a:r>
          </a:p>
          <a:p>
            <a:r>
              <a:rPr lang="en-US" dirty="0"/>
              <a:t>Is country B really worse than country A?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E0EE73-52A8-4277-2F6D-9C6888CD6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35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019651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BF266-78C5-BAD3-DB7D-D38FB4B5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/>
              <a:t>Components of GDP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346AF-4487-826E-55BA-EA5B5F4BE5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/>
              <a:t>Expenditure Approach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3917E9-A426-FC2F-AF9F-F8A76889DF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NZ"/>
              <a:t>03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72ED89-0F59-DE72-B815-572A0DD76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36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732818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6E2F7-FB83-4403-593C-F02DEDF0E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8D0FC-FE31-7D13-EAC1-2E76B6F7416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GDP refers to goods and services produced over a year or a quarter (3 months)</a:t>
            </a:r>
          </a:p>
          <a:p>
            <a:r>
              <a:rPr lang="en-US" dirty="0"/>
              <a:t>Land is produced, by nature, many years before this period.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A59FEB-6C13-3A47-3EC2-66195E2FCE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Why is spending on land not included?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41F80C-2F84-B44E-FED4-9955B5761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37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733055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C61D1-7D82-747B-5656-169FEB2BC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/>
              <a:t>GDP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775A6C4-569B-A2EC-5965-FC8092275A6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1140121"/>
              </p:ext>
            </p:extLst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18F79-26F2-CBF4-3A55-3C7493D7F8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NZ"/>
              <a:t>In the expenditure approach GDP has 4 main components.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BBA935-C16E-106F-F3AA-15D0A278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38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581489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C61D1-7D82-747B-5656-169FEB2BC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/>
              <a:t>GDP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775A6C4-569B-A2EC-5965-FC8092275A6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028718393"/>
              </p:ext>
            </p:extLst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18F79-26F2-CBF4-3A55-3C7493D7F8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NZ"/>
              <a:t>In the expenditure approach GDP has 4 main components.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0EB3A1-B518-06AC-CEFA-C05A78795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39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46297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DFC10-914C-D41D-3F9B-D0112F900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GDP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6C960-12AC-7300-1A65-0E142535AD1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2020 a Firm produces goods worth $50,000.</a:t>
            </a:r>
          </a:p>
          <a:p>
            <a:pPr lvl="1"/>
            <a:r>
              <a:rPr lang="en-US" dirty="0"/>
              <a:t>It sells $40,000 of these goods in 2020.</a:t>
            </a:r>
          </a:p>
          <a:p>
            <a:r>
              <a:rPr lang="en-US" dirty="0"/>
              <a:t>In 2021 it sells the remainder of the goods</a:t>
            </a:r>
          </a:p>
          <a:p>
            <a:pPr lvl="1"/>
            <a:r>
              <a:rPr lang="en-US" dirty="0"/>
              <a:t>It sells $10,000 of these goods in 2021.</a:t>
            </a:r>
          </a:p>
          <a:p>
            <a:r>
              <a:rPr lang="en-US" dirty="0"/>
              <a:t>In 2020 C increases by $40,000 and I (inventories) increases by $10,000. GDP rises by $50,000</a:t>
            </a:r>
          </a:p>
          <a:p>
            <a:r>
              <a:rPr lang="en-US" dirty="0"/>
              <a:t>In 2021 C increases by $10,000 and I (inventories) decreases by $10,000. GDP has no change.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F1AB2A-F13E-F658-B3FB-646A91D1DC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How would GDP change in 2020 and 2021?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B1A005-5DA2-47B9-574C-D7BB96181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40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58871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DFC10-914C-D41D-3F9B-D0112F900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GDP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6C960-12AC-7300-1A65-0E142535AD1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An Australian firm cancels an order for timber products from Russia worth $200,000.</a:t>
            </a:r>
          </a:p>
          <a:p>
            <a:r>
              <a:rPr lang="en-US" dirty="0"/>
              <a:t>Australian imports would fall by $200,000</a:t>
            </a:r>
          </a:p>
          <a:p>
            <a:r>
              <a:rPr lang="en-US" dirty="0"/>
              <a:t>Australian inventories (I) and household consumption (C) would also fall by $200,000</a:t>
            </a:r>
          </a:p>
          <a:p>
            <a:r>
              <a:rPr lang="en-US" dirty="0"/>
              <a:t>GDP would be unchanged</a:t>
            </a:r>
          </a:p>
          <a:p>
            <a:r>
              <a:rPr lang="en-US" dirty="0"/>
              <a:t>Lesson: You can’t increase GDP by reducing imports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F1AB2A-F13E-F658-B3FB-646A91D1DC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How would Australian GDP change in this example?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E4AB4F-6A8F-25EE-DA03-8C7D3ED2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41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31336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58CF8-595A-0468-E9C1-6377168DD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/>
              <a:t>GDP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973D7-0AD1-0202-BCB3-AB54E5BBAB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NZ"/>
              <a:t>GDP = C + I + G + X – M</a:t>
            </a:r>
          </a:p>
          <a:p>
            <a:r>
              <a:rPr lang="en-NZ"/>
              <a:t>Or C + I + G + NX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4F9654-84C3-874F-709D-02E93053BF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NZ"/>
              <a:t>GDP is also known as Y</a:t>
            </a:r>
          </a:p>
          <a:p>
            <a:r>
              <a:rPr lang="en-NZ"/>
              <a:t>Or Aggregate Demand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1FE383-47B9-2D3E-F56E-5EF7F7040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t>42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724586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300"/>
              <a:t>Components of GDP</a:t>
            </a:r>
          </a:p>
        </p:txBody>
      </p:sp>
      <p:sp>
        <p:nvSpPr>
          <p:cNvPr id="4" name="TextBox 5"/>
          <p:cNvSpPr txBox="1"/>
          <p:nvPr/>
        </p:nvSpPr>
        <p:spPr>
          <a:xfrm>
            <a:off x="725488" y="2157413"/>
            <a:ext cx="2855912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indent="-2286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US" sz="2000">
                <a:solidFill>
                  <a:schemeClr val="tx1">
                    <a:lumMod val="75000"/>
                  </a:schemeClr>
                </a:solidFill>
              </a:rPr>
              <a:t>In most countries, private consumption makes up the largest share of GDP</a:t>
            </a:r>
            <a:endParaRPr lang="en-US" sz="2000" b="1">
              <a:solidFill>
                <a:schemeClr val="tx1">
                  <a:lumMod val="75000"/>
                </a:schemeClr>
              </a:solidFill>
            </a:endParaRPr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110531"/>
              </p:ext>
            </p:extLst>
          </p:nvPr>
        </p:nvGraphicFramePr>
        <p:xfrm>
          <a:off x="4195275" y="604838"/>
          <a:ext cx="6678001" cy="4981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7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9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22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34198">
                <a:tc>
                  <a:txBody>
                    <a:bodyPr/>
                    <a:lstStyle/>
                    <a:p>
                      <a:endParaRPr lang="en-GB" sz="2200"/>
                    </a:p>
                  </a:txBody>
                  <a:tcPr marL="108824" marR="108824" marT="54412" marB="544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/>
                        <a:t>US</a:t>
                      </a:r>
                    </a:p>
                  </a:txBody>
                  <a:tcPr marL="108824" marR="108824" marT="54412" marB="544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/>
                        <a:t>Euro</a:t>
                      </a:r>
                      <a:r>
                        <a:rPr lang="en-GB" sz="2200" baseline="0"/>
                        <a:t>zone (19 countries)</a:t>
                      </a:r>
                      <a:endParaRPr lang="en-GB" sz="2200"/>
                    </a:p>
                  </a:txBody>
                  <a:tcPr marL="108824" marR="108824" marT="54412" marB="544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/>
                        <a:t>China</a:t>
                      </a:r>
                    </a:p>
                  </a:txBody>
                  <a:tcPr marL="108824" marR="108824" marT="54412" marB="5441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5553">
                <a:tc>
                  <a:txBody>
                    <a:bodyPr/>
                    <a:lstStyle/>
                    <a:p>
                      <a:r>
                        <a:rPr lang="en-GB" sz="2200"/>
                        <a:t>Consumption (C)</a:t>
                      </a:r>
                    </a:p>
                  </a:txBody>
                  <a:tcPr marL="108824" marR="108824" marT="54412" marB="54412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68.4%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55.9%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37.3%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5553">
                <a:tc>
                  <a:txBody>
                    <a:bodyPr/>
                    <a:lstStyle/>
                    <a:p>
                      <a:r>
                        <a:rPr lang="en-GB" sz="2200"/>
                        <a:t>Government spending (G)</a:t>
                      </a:r>
                    </a:p>
                  </a:txBody>
                  <a:tcPr marL="108824" marR="108824" marT="54412" marB="54412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15.1%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21.1%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14.1%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907">
                <a:tc>
                  <a:txBody>
                    <a:bodyPr/>
                    <a:lstStyle/>
                    <a:p>
                      <a:r>
                        <a:rPr lang="en-GB" sz="2200"/>
                        <a:t>Investment</a:t>
                      </a:r>
                      <a:r>
                        <a:rPr lang="en-GB" sz="2200" baseline="0"/>
                        <a:t> (I)</a:t>
                      </a:r>
                      <a:endParaRPr lang="en-GB" sz="2200"/>
                    </a:p>
                  </a:txBody>
                  <a:tcPr marL="108824" marR="108824" marT="54412" marB="54412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19.1%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19.5%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47.3%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5553">
                <a:tc>
                  <a:txBody>
                    <a:bodyPr/>
                    <a:lstStyle/>
                    <a:p>
                      <a:r>
                        <a:rPr lang="en-GB" sz="2200"/>
                        <a:t>Change in inventories</a:t>
                      </a:r>
                    </a:p>
                  </a:txBody>
                  <a:tcPr marL="108824" marR="108824" marT="54412" marB="54412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0.4%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2.0%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907">
                <a:tc>
                  <a:txBody>
                    <a:bodyPr/>
                    <a:lstStyle/>
                    <a:p>
                      <a:r>
                        <a:rPr lang="en-GB" sz="2200"/>
                        <a:t>Exports (X)</a:t>
                      </a:r>
                    </a:p>
                  </a:txBody>
                  <a:tcPr marL="108824" marR="108824" marT="54412" marB="54412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13.6%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43.9%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26.2%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907">
                <a:tc>
                  <a:txBody>
                    <a:bodyPr/>
                    <a:lstStyle/>
                    <a:p>
                      <a:r>
                        <a:rPr lang="en-GB" sz="2200"/>
                        <a:t>Imports (M)</a:t>
                      </a:r>
                    </a:p>
                  </a:txBody>
                  <a:tcPr marL="108824" marR="108824" marT="54412" marB="54412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16.6%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40.5%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23.8%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F540B3-2A22-8802-3125-B370D9FDA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43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922740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124A5-F4CA-44A2-6896-11D9AFB19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NZ GDP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D0E00BF-3A89-A32C-27BD-2C624C26D2D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363967692"/>
              </p:ext>
            </p:extLst>
          </p:nvPr>
        </p:nvGraphicFramePr>
        <p:xfrm>
          <a:off x="3946525" y="604838"/>
          <a:ext cx="7175499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1833">
                  <a:extLst>
                    <a:ext uri="{9D8B030D-6E8A-4147-A177-3AD203B41FA5}">
                      <a16:colId xmlns:a16="http://schemas.microsoft.com/office/drawing/2014/main" val="356696868"/>
                    </a:ext>
                  </a:extLst>
                </a:gridCol>
                <a:gridCol w="2391833">
                  <a:extLst>
                    <a:ext uri="{9D8B030D-6E8A-4147-A177-3AD203B41FA5}">
                      <a16:colId xmlns:a16="http://schemas.microsoft.com/office/drawing/2014/main" val="1912287799"/>
                    </a:ext>
                  </a:extLst>
                </a:gridCol>
                <a:gridCol w="2391833">
                  <a:extLst>
                    <a:ext uri="{9D8B030D-6E8A-4147-A177-3AD203B41FA5}">
                      <a16:colId xmlns:a16="http://schemas.microsoft.com/office/drawing/2014/main" val="23345580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$NZ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of GDP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4068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111,517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885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GFCF-Fixed 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30,732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022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GFCF- Residential Buildings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8,892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860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Inventories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-2,048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469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Government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494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56,438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129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Imports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52,004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868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191,866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468465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FE856F-08EB-5EFA-59F1-4640EEC24F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For 2009 what is the value of Investment?</a:t>
            </a:r>
          </a:p>
          <a:p>
            <a:r>
              <a:rPr lang="en-US" dirty="0"/>
              <a:t>What percentage is Consumption?</a:t>
            </a:r>
          </a:p>
          <a:p>
            <a:r>
              <a:rPr lang="en-US" dirty="0"/>
              <a:t>What percentage is Exports?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73A06E-FD5B-C290-156A-387F13894CD6}"/>
              </a:ext>
            </a:extLst>
          </p:cNvPr>
          <p:cNvSpPr txBox="1"/>
          <p:nvPr/>
        </p:nvSpPr>
        <p:spPr>
          <a:xfrm>
            <a:off x="1797269" y="4708634"/>
            <a:ext cx="9144000" cy="9233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Investment= $37,576m (Gross-Fixed Capital Formation + inventories)</a:t>
            </a:r>
          </a:p>
          <a:p>
            <a:r>
              <a:rPr lang="en-US" dirty="0"/>
              <a:t>C/GDP = 58.1%</a:t>
            </a:r>
          </a:p>
          <a:p>
            <a:r>
              <a:rPr lang="en-US" dirty="0"/>
              <a:t>X/GDP = 29.4%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01C227-ABFE-46B3-FF1C-EE08693EF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44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6613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500"/>
              <a:t>Components of GDP growth</a:t>
            </a:r>
          </a:p>
        </p:txBody>
      </p:sp>
      <p:pic>
        <p:nvPicPr>
          <p:cNvPr id="5" name="Picture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46525" y="1212057"/>
            <a:ext cx="7175500" cy="3767136"/>
          </a:xfrm>
          <a:prstGeom prst="rect">
            <a:avLst/>
          </a:prstGeom>
          <a:noFill/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53114FA-1478-A9BA-2800-45228B5502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Each component’s contribution to GDP growth is </a:t>
            </a:r>
          </a:p>
          <a:p>
            <a:r>
              <a:rPr lang="en-US" dirty="0"/>
              <a:t>a function of its size, and </a:t>
            </a:r>
          </a:p>
          <a:p>
            <a:r>
              <a:rPr lang="en-US" dirty="0"/>
              <a:t>its own growth.</a:t>
            </a:r>
          </a:p>
        </p:txBody>
      </p:sp>
      <p:sp>
        <p:nvSpPr>
          <p:cNvPr id="4" name="TextBox 5"/>
          <p:cNvSpPr txBox="1"/>
          <p:nvPr/>
        </p:nvSpPr>
        <p:spPr>
          <a:xfrm>
            <a:off x="1327255" y="2142067"/>
            <a:ext cx="4099947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1000"/>
              </a:spcAft>
              <a:buClr>
                <a:schemeClr val="tx1"/>
              </a:buClr>
              <a:buSzPct val="100000"/>
            </a:pPr>
            <a:endParaRPr lang="en-US" b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332C31-C3D9-9B5D-8EA0-A8BB1ABEB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45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569018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Components of GDP growth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52DC8B5-D312-868C-DED0-466E2D1163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NZ"/>
              <a:t>During the GFC, US growth was much more influenced by the decline in investment.</a:t>
            </a:r>
          </a:p>
        </p:txBody>
      </p:sp>
      <p:sp>
        <p:nvSpPr>
          <p:cNvPr id="4" name="TextBox 5"/>
          <p:cNvSpPr txBox="1"/>
          <p:nvPr/>
        </p:nvSpPr>
        <p:spPr>
          <a:xfrm>
            <a:off x="1327255" y="2142067"/>
            <a:ext cx="4099947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57200" indent="-457200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</a:pPr>
            <a:endParaRPr lang="en-US" b="1"/>
          </a:p>
        </p:txBody>
      </p:sp>
      <p:pic>
        <p:nvPicPr>
          <p:cNvPr id="12" name="Picture 3" descr="Screen Shot 2015-01-05 at 10.55.08.png">
            <a:extLst>
              <a:ext uri="{FF2B5EF4-FFF2-40B4-BE49-F238E27FC236}">
                <a16:creationId xmlns:a16="http://schemas.microsoft.com/office/drawing/2014/main" id="{72F115AB-3C93-1F72-E248-916325A5B22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6237" y="2386013"/>
            <a:ext cx="6696075" cy="1419225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5A7BA2-BD6A-2A81-5484-AC613B3AD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46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683455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B000A-C161-6AD2-14D7-5AB6227F1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NZ Recession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663FBE2-6E0C-F4B5-492B-74F4F5EA48AF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273484075"/>
              </p:ext>
            </p:extLst>
          </p:nvPr>
        </p:nvGraphicFramePr>
        <p:xfrm>
          <a:off x="3946525" y="604837"/>
          <a:ext cx="7175500" cy="3767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3875">
                  <a:extLst>
                    <a:ext uri="{9D8B030D-6E8A-4147-A177-3AD203B41FA5}">
                      <a16:colId xmlns:a16="http://schemas.microsoft.com/office/drawing/2014/main" val="3042847097"/>
                    </a:ext>
                  </a:extLst>
                </a:gridCol>
                <a:gridCol w="1793875">
                  <a:extLst>
                    <a:ext uri="{9D8B030D-6E8A-4147-A177-3AD203B41FA5}">
                      <a16:colId xmlns:a16="http://schemas.microsoft.com/office/drawing/2014/main" val="3303220777"/>
                    </a:ext>
                  </a:extLst>
                </a:gridCol>
                <a:gridCol w="1793875">
                  <a:extLst>
                    <a:ext uri="{9D8B030D-6E8A-4147-A177-3AD203B41FA5}">
                      <a16:colId xmlns:a16="http://schemas.microsoft.com/office/drawing/2014/main" val="661037459"/>
                    </a:ext>
                  </a:extLst>
                </a:gridCol>
                <a:gridCol w="1793875">
                  <a:extLst>
                    <a:ext uri="{9D8B030D-6E8A-4147-A177-3AD203B41FA5}">
                      <a16:colId xmlns:a16="http://schemas.microsoft.com/office/drawing/2014/main" val="3181982302"/>
                    </a:ext>
                  </a:extLst>
                </a:gridCol>
              </a:tblGrid>
              <a:tr h="966804">
                <a:tc>
                  <a:txBody>
                    <a:bodyPr/>
                    <a:lstStyle/>
                    <a:p>
                      <a:r>
                        <a:rPr lang="en-US" dirty="0"/>
                        <a:t>Expenditure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 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778308"/>
                  </a:ext>
                </a:extLst>
              </a:tr>
              <a:tr h="560132">
                <a:tc>
                  <a:txBody>
                    <a:bodyPr/>
                    <a:lstStyle/>
                    <a:p>
                      <a:r>
                        <a:rPr lang="en-US" dirty="0"/>
                        <a:t>GDP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$76,679m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$75,523m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-1.89%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268931"/>
                  </a:ext>
                </a:extLst>
              </a:tr>
              <a:tr h="560132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$45,548m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$45,543m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504484"/>
                  </a:ext>
                </a:extLst>
              </a:tr>
              <a:tr h="560132"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$16,403m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$12,872m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-21.53%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121633"/>
                  </a:ext>
                </a:extLst>
              </a:tr>
              <a:tr h="560132"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$14,040m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$14,071m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2492735"/>
                  </a:ext>
                </a:extLst>
              </a:tr>
              <a:tr h="560132">
                <a:tc>
                  <a:txBody>
                    <a:bodyPr/>
                    <a:lstStyle/>
                    <a:p>
                      <a:r>
                        <a:rPr lang="en-US" dirty="0"/>
                        <a:t>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$648m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$2,747m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+299.27%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308413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1BC56-3D60-F02E-D324-4CD2DEFE45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In 1990-91 NZ went into a recession.</a:t>
            </a:r>
          </a:p>
          <a:p>
            <a:r>
              <a:rPr lang="en-US" dirty="0"/>
              <a:t>The largest influence was the drop in Investment.</a:t>
            </a:r>
          </a:p>
          <a:p>
            <a:r>
              <a:rPr lang="en-US" dirty="0"/>
              <a:t>A significant increase in exports stopped the recession from getting worse.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7B25FD-8277-88F4-83E0-16BDE2EFD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47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236517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DFC10-914C-D41D-3F9B-D0112F900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GDP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6C960-12AC-7300-1A65-0E142535AD1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NZ Government increases the unemployment benefit by $20 per week, and spends an extra $10m on this benefit in 2020.</a:t>
            </a:r>
          </a:p>
          <a:p>
            <a:pPr lvl="1"/>
            <a:r>
              <a:rPr lang="en-US" dirty="0"/>
              <a:t>No change- this is a transfer payment from some households to another.</a:t>
            </a:r>
          </a:p>
          <a:p>
            <a:r>
              <a:rPr lang="en-US" dirty="0"/>
              <a:t>A young family builds a house worth $300,000. </a:t>
            </a:r>
          </a:p>
          <a:p>
            <a:pPr lvl="1"/>
            <a:r>
              <a:rPr lang="en-US" dirty="0"/>
              <a:t>Investment, thus GDP, increases by $300,000</a:t>
            </a:r>
          </a:p>
          <a:p>
            <a:r>
              <a:rPr lang="en-US" dirty="0"/>
              <a:t>A person purchases $50,000 worth of shares from an NZ company</a:t>
            </a:r>
          </a:p>
          <a:p>
            <a:pPr lvl="1"/>
            <a:r>
              <a:rPr lang="en-US" dirty="0"/>
              <a:t>No change. Financial assets are not an investment.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F1AB2A-F13E-F658-B3FB-646A91D1DC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How would NZ GDP change in these examples?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9AB812-FF9F-7B74-86A9-79F72E4D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48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79554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1CD6B-A67B-7311-6B79-E1701B344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/>
              <a:t>Shocks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F6340-66FE-A4E4-2D1F-62100A9EB1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NZ"/>
              <a:t>How households cope with fluctuations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95B64-5300-7481-E112-3FEBD0ECE1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NZ"/>
              <a:t>04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C40F14-99D3-70A5-EF32-69DCCFC7C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49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246243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67BA8-71AB-29DD-EDDF-C2E225CD6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Shocks</a:t>
            </a:r>
          </a:p>
        </p:txBody>
      </p:sp>
      <p:pic>
        <p:nvPicPr>
          <p:cNvPr id="6" name="Content Placeholder 5" descr="A person walking in front of a destroyed building&#10;&#10;Description automatically generated with low confidence">
            <a:extLst>
              <a:ext uri="{FF2B5EF4-FFF2-40B4-BE49-F238E27FC236}">
                <a16:creationId xmlns:a16="http://schemas.microsoft.com/office/drawing/2014/main" id="{FDA1C63C-3971-03EE-D6DA-6203048324A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525" y="705287"/>
            <a:ext cx="7175500" cy="478067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5B503A-C648-62F3-5181-182B1BC93C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Households and economies are subject to shocks.</a:t>
            </a:r>
          </a:p>
          <a:p>
            <a:r>
              <a:rPr lang="en-US" dirty="0"/>
              <a:t>In NZ two important internal shocks are earthquakes and droughts.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D2EE44-6AB4-CAA9-64A7-6FB21FE88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50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86410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90D82-3A79-2E83-A2FA-1CCACEC0B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/>
              <a:t>Shocks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117EF-AD6C-F11B-9D17-4E52B392FE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NZ"/>
              <a:t>Shocks are unexpected (exogenous) events which cause GDP to fluctuate.</a:t>
            </a:r>
          </a:p>
          <a:p>
            <a:r>
              <a:rPr lang="en-NZ"/>
              <a:t>There are two types of shocks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9DA56BB-AFC6-296E-2491-E90F2DCB2342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3144497102"/>
              </p:ext>
            </p:extLst>
          </p:nvPr>
        </p:nvGraphicFramePr>
        <p:xfrm>
          <a:off x="6096001" y="561766"/>
          <a:ext cx="5741988" cy="5024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A67EA-0669-FA9E-8113-D80C63EB0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51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65843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BFF5-976F-3955-D7E6-6144EF563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/>
              <a:t>Household Shocks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D559D3C-250F-574C-4D4B-8B416E0059A5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825989955"/>
              </p:ext>
            </p:extLst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858842-D207-C102-3536-3C11EFFC97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NZ"/>
              <a:t>People use two strategies to deal with shocks.</a:t>
            </a:r>
          </a:p>
          <a:p>
            <a:r>
              <a:rPr lang="en-NZ"/>
              <a:t>These draw on evidence that households prefer to smooth their consumption, and are (to a degree) altruistic.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B328DC-ED4D-6581-9BA9-673066D10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52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980026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CD01C1-FF73-B076-EBB2-4F965BD2A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56B735F-8457-406A-A744-FC5DA5F22371}" type="slidenum">
              <a:rPr lang="en-ID" smtClean="0"/>
              <a:pPr>
                <a:spcAft>
                  <a:spcPts val="600"/>
                </a:spcAft>
              </a:pPr>
              <a:t>53</a:t>
            </a:fld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4D240B-D836-7FD6-E516-6BAE51883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anchor="ctr">
            <a:normAutofit/>
          </a:bodyPr>
          <a:lstStyle/>
          <a:p>
            <a:r>
              <a:rPr lang="en-NZ" sz="2400"/>
              <a:t>The Natural Hazards Commission – Toka </a:t>
            </a:r>
            <a:r>
              <a:rPr lang="en-NZ" sz="2400" err="1"/>
              <a:t>Tū</a:t>
            </a:r>
            <a:r>
              <a:rPr lang="en-NZ" sz="2400"/>
              <a:t> Ake</a:t>
            </a:r>
            <a:endParaRPr lang="en-US" sz="240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D6E889E-247E-1AEE-EBAE-8CABE9935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13" name="Text Placeholder 3">
            <a:extLst>
              <a:ext uri="{FF2B5EF4-FFF2-40B4-BE49-F238E27FC236}">
                <a16:creationId xmlns:a16="http://schemas.microsoft.com/office/drawing/2014/main" id="{8F31AD6D-3126-A1FD-AF0B-E47BCC5E1C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9353688"/>
              </p:ext>
            </p:extLst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36554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FDA93-665F-9714-C6E2-6E6962F31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sz="4400"/>
              <a:t>Economy-wide shocks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0BBC93-4DB7-6E15-CE95-82329F4C0A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NZ"/>
              <a:t>Co-insurance is less effective.</a:t>
            </a:r>
          </a:p>
          <a:p>
            <a:r>
              <a:rPr lang="en-NZ"/>
              <a:t>The shock tends to hit everyone at same time.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AC5072-A5B3-53DE-393A-B077002901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NZ"/>
              <a:t>Conversely Co-insurance is even more important.</a:t>
            </a:r>
          </a:p>
          <a:p>
            <a:r>
              <a:rPr lang="en-NZ"/>
              <a:t>E.g. wage-subsidies during Covid19 lockdown in NZ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121172-8BEA-A685-BAAF-050669B47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t>54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960432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anchor="ctr">
            <a:normAutofit/>
          </a:bodyPr>
          <a:lstStyle/>
          <a:p>
            <a:r>
              <a:rPr lang="en-GB" sz="2400"/>
              <a:t>Consumption smoothing and the aggregate economy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21FBED3-B60F-F38B-E3C5-E13928DCC6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/>
              <a:t>Consumption smoothing is an important part of response to shocks.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51EFB1A-EF87-4126-8750-841F399C48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0255616"/>
              </p:ext>
            </p:extLst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F87D9-3721-D43C-4BB3-0E3854403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55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12088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600"/>
              <a:t>Business confidence</a:t>
            </a:r>
          </a:p>
        </p:txBody>
      </p:sp>
      <p:pic>
        <p:nvPicPr>
          <p:cNvPr id="5" name="Picture 4" descr="figure-13-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25" y="1068547"/>
            <a:ext cx="7175500" cy="4054157"/>
          </a:xfrm>
          <a:prstGeom prst="rect">
            <a:avLst/>
          </a:prstGeom>
          <a:noFill/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725488" y="2157413"/>
            <a:ext cx="2855912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US" sz="2000" b="1" dirty="0">
                <a:solidFill>
                  <a:schemeClr val="tx1">
                    <a:lumMod val="75000"/>
                  </a:schemeClr>
                </a:solidFill>
              </a:rPr>
              <a:t>Business confidence </a:t>
            </a:r>
            <a:r>
              <a:rPr lang="en-US" sz="2000" dirty="0">
                <a:solidFill>
                  <a:schemeClr val="tx1">
                    <a:lumMod val="75000"/>
                  </a:schemeClr>
                </a:solidFill>
              </a:rPr>
              <a:t>coordinates firms to invest at the same time. </a:t>
            </a:r>
          </a:p>
          <a:p>
            <a:pPr indent="-2286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US" sz="2000" dirty="0">
                <a:solidFill>
                  <a:schemeClr val="tx1">
                    <a:lumMod val="75000"/>
                  </a:schemeClr>
                </a:solidFill>
              </a:rPr>
              <a:t>Investment is much more volatile than consumption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1BD0A7-86A1-055D-F7CB-2752C6B9B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56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832329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/>
              <a:t>Other components of GDP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46525" y="604838"/>
            <a:ext cx="7175500" cy="4981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indent="-2286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US" sz="2800">
                <a:solidFill>
                  <a:schemeClr val="tx1">
                    <a:lumMod val="75000"/>
                  </a:schemeClr>
                </a:solidFill>
              </a:rPr>
              <a:t>Government spending is less volatile than investment</a:t>
            </a:r>
          </a:p>
          <a:p>
            <a:pPr marL="914400" lvl="1" indent="-2286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US" sz="2800">
                <a:solidFill>
                  <a:schemeClr val="tx1">
                    <a:lumMod val="75000"/>
                  </a:schemeClr>
                </a:solidFill>
              </a:rPr>
              <a:t>(does not depend on business confidence)</a:t>
            </a:r>
          </a:p>
          <a:p>
            <a:pPr marL="457200" indent="-2286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1885950" algn="l"/>
              </a:tabLst>
            </a:pPr>
            <a:endParaRPr lang="en-US" sz="2800">
              <a:solidFill>
                <a:schemeClr val="tx1">
                  <a:lumMod val="75000"/>
                </a:schemeClr>
              </a:solidFill>
            </a:endParaRPr>
          </a:p>
          <a:p>
            <a:pPr marL="457200" indent="-2286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US" sz="2800">
                <a:solidFill>
                  <a:schemeClr val="tx1">
                    <a:lumMod val="75000"/>
                  </a:schemeClr>
                </a:solidFill>
              </a:rPr>
              <a:t>Exports depend on demand from other countries, </a:t>
            </a:r>
          </a:p>
          <a:p>
            <a:pPr marL="914400" lvl="1" indent="-2286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US" sz="2800">
                <a:solidFill>
                  <a:schemeClr val="tx1">
                    <a:lumMod val="75000"/>
                  </a:schemeClr>
                </a:solidFill>
              </a:rPr>
              <a:t>so will fluctuate according to the business cycles of major export markets.  </a:t>
            </a:r>
            <a:endParaRPr lang="en-US" sz="2800" b="1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44F055C-A8D0-4B07-D868-6805063264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/>
              <a:t>Government spending and exports respond differently to shocks.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9E4FE7-E5CA-A234-7A89-DB07158F6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57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01761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34EFB-AFDE-1971-C3E5-63B99798D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/>
              <a:t>Measuring the economy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28676-4AF9-9BC4-0A67-A022674C55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/>
              <a:t>Inflation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881973-A800-4A59-CA19-4235CDF71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NZ"/>
              <a:t>05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0F1A63-3FFE-9979-D0C8-1C73023B3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58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714361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4927B-7C01-368B-1DB2-DAB8C846D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/>
              <a:t>Inflation: an increase in the general price level in the economy. Usually measured over a year.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9E96BD-3C10-45CF-E1DC-599C0B584F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lnSpcReduction="10000"/>
          </a:bodyPr>
          <a:lstStyle/>
          <a:p>
            <a:r>
              <a:rPr lang="en-NZ"/>
              <a:t>Definition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634D1-C96A-09DA-00A8-C7D5D4528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59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45221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919EA-1197-3D4E-3E86-4F095282B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NZ" sz="4400"/>
              <a:t>GDP, inflation and unemployment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713ACF0-9123-F400-2133-306AAFE89C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9639657"/>
              </p:ext>
            </p:extLst>
          </p:nvPr>
        </p:nvGraphicFramePr>
        <p:xfrm>
          <a:off x="341244" y="1623918"/>
          <a:ext cx="10760765" cy="42220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3D19E8-7187-7D58-1270-50882EC91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60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493742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600"/>
              <a:t>Trends in inflation</a:t>
            </a:r>
          </a:p>
        </p:txBody>
      </p:sp>
      <p:pic>
        <p:nvPicPr>
          <p:cNvPr id="7" name="Picture 6" descr="figure-13-2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25" y="1265873"/>
            <a:ext cx="7175500" cy="3659505"/>
          </a:xfrm>
          <a:prstGeom prst="rect">
            <a:avLst/>
          </a:prstGeom>
          <a:noFill/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725488" y="2157413"/>
            <a:ext cx="2855912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US" sz="2000">
                <a:solidFill>
                  <a:schemeClr val="tx1">
                    <a:lumMod val="75000"/>
                  </a:schemeClr>
                </a:solidFill>
              </a:rPr>
              <a:t> Upward spikes in inflation during economic crises</a:t>
            </a:r>
          </a:p>
          <a:p>
            <a:pPr indent="-2286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US" sz="2000">
                <a:solidFill>
                  <a:schemeClr val="tx1">
                    <a:lumMod val="75000"/>
                  </a:schemeClr>
                </a:solidFill>
              </a:rPr>
              <a:t> general downward trend since 1970s</a:t>
            </a:r>
          </a:p>
          <a:p>
            <a:pPr indent="-2286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US" sz="2000">
                <a:solidFill>
                  <a:schemeClr val="tx1">
                    <a:lumMod val="75000"/>
                  </a:schemeClr>
                </a:solidFill>
              </a:rPr>
              <a:t> inflation tends to be higher in poor than in rich countries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FAC54C-E749-4262-5F4B-CD5DF2818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61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3802877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600"/>
              <a:t>Measuring inflation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46525" y="604838"/>
            <a:ext cx="7175500" cy="4981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US" sz="2800">
                <a:solidFill>
                  <a:schemeClr val="tx1">
                    <a:lumMod val="75000"/>
                  </a:schemeClr>
                </a:solidFill>
              </a:rPr>
              <a:t>The </a:t>
            </a:r>
            <a:r>
              <a:rPr lang="en-US" sz="2800" b="1">
                <a:solidFill>
                  <a:schemeClr val="tx1">
                    <a:lumMod val="75000"/>
                  </a:schemeClr>
                </a:solidFill>
              </a:rPr>
              <a:t>Consumer Price Index</a:t>
            </a:r>
            <a:r>
              <a:rPr lang="en-US" sz="2800">
                <a:solidFill>
                  <a:schemeClr val="tx1">
                    <a:lumMod val="75000"/>
                  </a:schemeClr>
                </a:solidFill>
              </a:rPr>
              <a:t> (</a:t>
            </a:r>
            <a:r>
              <a:rPr lang="en-US" sz="2800" b="1">
                <a:solidFill>
                  <a:schemeClr val="tx1">
                    <a:lumMod val="75000"/>
                  </a:schemeClr>
                </a:solidFill>
              </a:rPr>
              <a:t>CPI</a:t>
            </a:r>
            <a:r>
              <a:rPr lang="en-US" sz="2800">
                <a:solidFill>
                  <a:schemeClr val="tx1">
                    <a:lumMod val="75000"/>
                  </a:schemeClr>
                </a:solidFill>
              </a:rPr>
              <a:t>) measures the general level of prices that consumers have to pay for goods and services, including consumption taxes</a:t>
            </a:r>
          </a:p>
          <a:p>
            <a:pPr marL="457200" indent="-2286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US" sz="2800">
                <a:solidFill>
                  <a:schemeClr val="tx1">
                    <a:lumMod val="75000"/>
                  </a:schemeClr>
                </a:solidFill>
              </a:rPr>
              <a:t>Based on a representative bundle of consumer goods – “</a:t>
            </a:r>
            <a:r>
              <a:rPr lang="en-US" sz="2800" u="sng">
                <a:solidFill>
                  <a:schemeClr val="tx1">
                    <a:lumMod val="75000"/>
                  </a:schemeClr>
                </a:solidFill>
              </a:rPr>
              <a:t>cost of living</a:t>
            </a:r>
            <a:r>
              <a:rPr lang="en-US" sz="2800">
                <a:solidFill>
                  <a:schemeClr val="tx1">
                    <a:lumMod val="75000"/>
                  </a:schemeClr>
                </a:solidFill>
              </a:rPr>
              <a:t>”</a:t>
            </a:r>
          </a:p>
          <a:p>
            <a:pPr marL="457200" indent="-2286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US" sz="2800">
                <a:solidFill>
                  <a:schemeClr val="tx1">
                    <a:lumMod val="75000"/>
                  </a:schemeClr>
                </a:solidFill>
              </a:rPr>
              <a:t>Common measure of inflation = change in CPI </a:t>
            </a:r>
          </a:p>
          <a:p>
            <a:pPr indent="-2286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1885950" algn="l"/>
              </a:tabLst>
            </a:pPr>
            <a:endParaRPr lang="en-US" sz="2800" b="1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335B80B-D6DC-99DC-E6D9-1386E95CC3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/>
              <a:t>There are two main ways to measure inflation.</a:t>
            </a:r>
          </a:p>
          <a:p>
            <a:r>
              <a:rPr lang="en-US"/>
              <a:t>The Consumer Price Index</a:t>
            </a:r>
          </a:p>
          <a:p>
            <a:r>
              <a:rPr lang="en-US"/>
              <a:t>The GDP Deflator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37A15B-8CEC-CA99-B2F3-D7CA24BBA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62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35999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67A7854-E403-216C-1F9F-0E5E1E6D9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Representative Bundles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4F839A0-9D2F-3E3F-C5BA-69E8DE6A5C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Items in the CPI are weighted toward average household.</a:t>
            </a:r>
          </a:p>
          <a:p>
            <a:r>
              <a:rPr lang="en-US" dirty="0"/>
              <a:t>Households will experience different inflation rates.</a:t>
            </a:r>
          </a:p>
          <a:p>
            <a:r>
              <a:rPr lang="en-US" dirty="0"/>
              <a:t>E.g. vegetarians or vegans will not be affected by increase in price of beef.  </a:t>
            </a:r>
          </a:p>
        </p:txBody>
      </p:sp>
      <p:pic>
        <p:nvPicPr>
          <p:cNvPr id="9" name="Content Placeholder 8" descr="A picture containing wooden, board, vegetable, fruit&#10;&#10;Description automatically generated">
            <a:extLst>
              <a:ext uri="{FF2B5EF4-FFF2-40B4-BE49-F238E27FC236}">
                <a16:creationId xmlns:a16="http://schemas.microsoft.com/office/drawing/2014/main" id="{D5C43C5B-06F7-A98C-1275-77D69E74988C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57875"/>
            <a:ext cx="5741988" cy="3832637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170B20-8500-65F8-A2EC-85B3990A7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63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2275588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67A7854-E403-216C-1F9F-0E5E1E6D9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51" y="561766"/>
            <a:ext cx="4505326" cy="1325563"/>
          </a:xfrm>
        </p:spPr>
        <p:txBody>
          <a:bodyPr anchor="b">
            <a:normAutofit/>
          </a:bodyPr>
          <a:lstStyle/>
          <a:p>
            <a:r>
              <a:rPr lang="en-US" dirty="0"/>
              <a:t>CPI Issues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4F839A0-9D2F-3E3F-C5BA-69E8DE6A5C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7751" y="2013916"/>
            <a:ext cx="4505326" cy="3571875"/>
          </a:xfrm>
        </p:spPr>
        <p:txBody>
          <a:bodyPr anchor="t">
            <a:normAutofit/>
          </a:bodyPr>
          <a:lstStyle/>
          <a:p>
            <a:r>
              <a:rPr lang="en-US" dirty="0"/>
              <a:t>Quality improvements are hard to measure.</a:t>
            </a:r>
          </a:p>
          <a:p>
            <a:r>
              <a:rPr lang="en-US" dirty="0"/>
              <a:t>Original iPhone (4.7”) cost $US499 and had 4GB of memory and 2 MP camera.</a:t>
            </a:r>
          </a:p>
          <a:p>
            <a:r>
              <a:rPr lang="en-US" dirty="0"/>
              <a:t>iPhone 15 (6.1”) costs $NZ1449 with 128 GB of memory, dual SIM and 1 12MP and 1 48MP camera.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Content Placeholder 6" descr="A hand holding a cell phone&#10;&#10;Description automatically generated with medium confidence">
            <a:extLst>
              <a:ext uri="{FF2B5EF4-FFF2-40B4-BE49-F238E27FC236}">
                <a16:creationId xmlns:a16="http://schemas.microsoft.com/office/drawing/2014/main" id="{CA1A12F0-CD4E-3D58-3964-B0CEB90310D5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14" r="2196"/>
          <a:stretch/>
        </p:blipFill>
        <p:spPr>
          <a:xfrm>
            <a:off x="6096001" y="561766"/>
            <a:ext cx="5741988" cy="5024025"/>
          </a:xfr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56A779-7384-BDF2-5B14-D2E89752D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64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9685199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0DFBDB7-0A77-49E0-BF8D-1235105FEFAD}"/>
              </a:ext>
            </a:extLst>
          </p:cNvPr>
          <p:cNvSpPr txBox="1"/>
          <p:nvPr/>
        </p:nvSpPr>
        <p:spPr>
          <a:xfrm>
            <a:off x="897769" y="1909192"/>
            <a:ext cx="4586513" cy="3647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Changes to the goods included in the NZ CPI</a:t>
            </a:r>
          </a:p>
          <a:p>
            <a:pPr lvl="1" indent="-2286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New items have to be added as they become common</a:t>
            </a:r>
          </a:p>
          <a:p>
            <a:pPr lvl="1" indent="-228600">
              <a:lnSpc>
                <a:spcPct val="90000"/>
              </a:lnSpc>
              <a:spcAft>
                <a:spcPts val="10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</a:rPr>
              <a:t>Some items have to be removed when they become insignificant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Company name&#10;&#10;Description automatically generated">
            <a:extLst>
              <a:ext uri="{FF2B5EF4-FFF2-40B4-BE49-F238E27FC236}">
                <a16:creationId xmlns:a16="http://schemas.microsoft.com/office/drawing/2014/main" id="{EE4705B1-5DB2-4087-93AD-AC2FE5B4A8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453" y="0"/>
            <a:ext cx="4852034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D7BE0F-D87D-AADE-A154-061295F6A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65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7715473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Chart&#10;&#10;Description automatically generated">
            <a:extLst>
              <a:ext uri="{FF2B5EF4-FFF2-40B4-BE49-F238E27FC236}">
                <a16:creationId xmlns:a16="http://schemas.microsoft.com/office/drawing/2014/main" id="{EE7FD210-57DB-5A42-914D-557FE9950FA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2745362" y="1506120"/>
            <a:ext cx="8650941" cy="3698276"/>
          </a:xfrm>
          <a:noFill/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B8DF5D56-B4F8-1AAE-E144-C9F7739D2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19" y="403692"/>
            <a:ext cx="2856321" cy="1574195"/>
          </a:xfrm>
        </p:spPr>
        <p:txBody>
          <a:bodyPr>
            <a:noAutofit/>
          </a:bodyPr>
          <a:lstStyle/>
          <a:p>
            <a:r>
              <a:rPr lang="en-US" sz="4000" dirty="0"/>
              <a:t>NZ Quarterly CPI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BBE509-B07D-6103-3B1C-4ED15F5DC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t>66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236851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B8DF5D56-B4F8-1AAE-E144-C9F7739D2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anchor="ctr">
            <a:normAutofit/>
          </a:bodyPr>
          <a:lstStyle/>
          <a:p>
            <a:r>
              <a:rPr lang="en-US" sz="4600"/>
              <a:t>NZ Annual CPI</a:t>
            </a:r>
          </a:p>
        </p:txBody>
      </p:sp>
      <p:pic>
        <p:nvPicPr>
          <p:cNvPr id="6" name="Picture Placeholder 5" descr="Chart, bar chart&#10;&#10;Description automatically generated">
            <a:extLst>
              <a:ext uri="{FF2B5EF4-FFF2-40B4-BE49-F238E27FC236}">
                <a16:creationId xmlns:a16="http://schemas.microsoft.com/office/drawing/2014/main" id="{856E315F-A71A-8C08-6A4B-A939BE0FABB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1125" y="1714500"/>
            <a:ext cx="8021056" cy="3429000"/>
          </a:xfrm>
          <a:noFill/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26B492A-783F-E10A-7491-DA9C5E7A1D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5488" y="2157413"/>
            <a:ext cx="2855912" cy="3429000"/>
          </a:xfrm>
        </p:spPr>
        <p:txBody>
          <a:bodyPr/>
          <a:lstStyle/>
          <a:p>
            <a:r>
              <a:rPr lang="en-US" dirty="0"/>
              <a:t>After many years of low inflation, the CPI is increasing.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EAE7F0-6E72-3E57-2A35-B76D5BB1D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67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2454693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078" y="604440"/>
            <a:ext cx="2856321" cy="13734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4600"/>
              <a:t>Measuring inflation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5488" y="2157413"/>
            <a:ext cx="2855912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1885950" algn="l"/>
              </a:tabLst>
            </a:pPr>
            <a:r>
              <a:rPr lang="en-US" sz="2000" b="1">
                <a:solidFill>
                  <a:schemeClr val="tx1">
                    <a:lumMod val="75000"/>
                  </a:schemeClr>
                </a:solidFill>
              </a:rPr>
              <a:t>GDP deflator </a:t>
            </a:r>
            <a:r>
              <a:rPr lang="en-US" sz="2000">
                <a:solidFill>
                  <a:schemeClr val="tx1">
                    <a:lumMod val="75000"/>
                  </a:schemeClr>
                </a:solidFill>
              </a:rPr>
              <a:t>= A measure of the level of prices for domestically produced output (ratio of </a:t>
            </a:r>
            <a:r>
              <a:rPr lang="en-US" sz="2000" b="1">
                <a:solidFill>
                  <a:schemeClr val="tx1">
                    <a:lumMod val="75000"/>
                  </a:schemeClr>
                </a:solidFill>
              </a:rPr>
              <a:t>nominal</a:t>
            </a:r>
            <a:r>
              <a:rPr lang="en-US" sz="2000">
                <a:solidFill>
                  <a:schemeClr val="tx1">
                    <a:lumMod val="75000"/>
                  </a:schemeClr>
                </a:solidFill>
              </a:rPr>
              <a:t> to </a:t>
            </a:r>
            <a:r>
              <a:rPr lang="en-US" sz="2000" b="1">
                <a:solidFill>
                  <a:schemeClr val="tx1">
                    <a:lumMod val="75000"/>
                  </a:schemeClr>
                </a:solidFill>
              </a:rPr>
              <a:t>real GDP</a:t>
            </a:r>
            <a:r>
              <a:rPr lang="en-US" sz="2000">
                <a:solidFill>
                  <a:schemeClr val="tx1">
                    <a:lumMod val="75000"/>
                  </a:schemeClr>
                </a:solidFill>
              </a:rPr>
              <a:t>) </a:t>
            </a:r>
          </a:p>
        </p:txBody>
      </p:sp>
      <p:graphicFrame>
        <p:nvGraphicFramePr>
          <p:cNvPr id="13" name="Content Placeholder 3">
            <a:extLst>
              <a:ext uri="{FF2B5EF4-FFF2-40B4-BE49-F238E27FC236}">
                <a16:creationId xmlns:a16="http://schemas.microsoft.com/office/drawing/2014/main" id="{109BD4C3-B239-A0D1-AA44-F9D68B2F15B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317898794"/>
              </p:ext>
            </p:extLst>
          </p:nvPr>
        </p:nvGraphicFramePr>
        <p:xfrm>
          <a:off x="3946525" y="604838"/>
          <a:ext cx="7175500" cy="4981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F58C3E-C5DC-E4C7-E029-7E747EE2A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68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285234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35399-3580-775C-9976-852B811C1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Price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28CE0-FD27-6976-0C1D-289B15F2DA4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Suppose a typical basket of goods cost a household $120 in 2005</a:t>
            </a:r>
          </a:p>
          <a:p>
            <a:r>
              <a:rPr lang="en-US" dirty="0"/>
              <a:t>In 2015 the same bundle cost $150.</a:t>
            </a:r>
          </a:p>
          <a:p>
            <a:r>
              <a:rPr lang="en-US" dirty="0"/>
              <a:t>Let us make the 2005 our base year.</a:t>
            </a:r>
          </a:p>
          <a:p>
            <a:r>
              <a:rPr lang="en-US" dirty="0"/>
              <a:t>The base index value will be 1000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FA42E-5949-6AD2-3D08-98E2E3E3A0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Price Indices set a fixed base year to compare prices to.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415090-4E34-1F20-02B5-FFDFDFDA8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69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212311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35399-3580-775C-9976-852B811C1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Price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28CE0-FD27-6976-0C1D-289B15F2DA4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The CPI for 2005 (base year) will be</a:t>
            </a:r>
          </a:p>
          <a:p>
            <a:r>
              <a:rPr lang="en-US" dirty="0"/>
              <a:t>($120/$120)x1000</a:t>
            </a:r>
          </a:p>
          <a:p>
            <a:r>
              <a:rPr lang="en-US" dirty="0"/>
              <a:t>=1000</a:t>
            </a:r>
          </a:p>
          <a:p>
            <a:r>
              <a:rPr lang="en-US" dirty="0"/>
              <a:t>The CPI for 2015 will be</a:t>
            </a:r>
          </a:p>
          <a:p>
            <a:r>
              <a:rPr lang="en-US" dirty="0"/>
              <a:t>($150/$120)x1000</a:t>
            </a:r>
          </a:p>
          <a:p>
            <a:r>
              <a:rPr lang="en-US" dirty="0"/>
              <a:t>=1250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FA42E-5949-6AD2-3D08-98E2E3E3A0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Divide the cost of the market basket in the year you are interested in</a:t>
            </a:r>
          </a:p>
          <a:p>
            <a:r>
              <a:rPr lang="en-US" dirty="0"/>
              <a:t>With the cost in the base year.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BB47B8-3E57-DB36-E9A2-6309E4F5F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pPr/>
              <a:t>70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72056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Yellow question mark">
            <a:extLst>
              <a:ext uri="{FF2B5EF4-FFF2-40B4-BE49-F238E27FC236}">
                <a16:creationId xmlns:a16="http://schemas.microsoft.com/office/drawing/2014/main" id="{95D941E8-C5AA-C375-82AE-CBAC02320D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59"/>
          <a:stretch/>
        </p:blipFill>
        <p:spPr>
          <a:xfrm>
            <a:off x="3218328" y="403692"/>
            <a:ext cx="8650941" cy="5566802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5498DC-A2B5-79F9-65B2-874DFB346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19" y="403692"/>
            <a:ext cx="2856321" cy="1574195"/>
          </a:xfrm>
        </p:spPr>
        <p:txBody>
          <a:bodyPr anchor="ctr">
            <a:normAutofit/>
          </a:bodyPr>
          <a:lstStyle/>
          <a:p>
            <a:r>
              <a:rPr lang="en-US" sz="5000" dirty="0"/>
              <a:t>Any questions?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D86E82-43A7-7160-DA90-EBD35C9C8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B735F-8457-406A-A744-FC5DA5F22371}" type="slidenum">
              <a:rPr lang="en-ID" smtClean="0"/>
              <a:t>71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29310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ight minimalist">
      <a:dk1>
        <a:srgbClr val="353638"/>
      </a:dk1>
      <a:lt1>
        <a:srgbClr val="EFEFEF"/>
      </a:lt1>
      <a:dk2>
        <a:srgbClr val="656A56"/>
      </a:dk2>
      <a:lt2>
        <a:srgbClr val="D7DAE1"/>
      </a:lt2>
      <a:accent1>
        <a:srgbClr val="737E84"/>
      </a:accent1>
      <a:accent2>
        <a:srgbClr val="353638"/>
      </a:accent2>
      <a:accent3>
        <a:srgbClr val="BBBCB7"/>
      </a:accent3>
      <a:accent4>
        <a:srgbClr val="D7DAE1"/>
      </a:accent4>
      <a:accent5>
        <a:srgbClr val="748189"/>
      </a:accent5>
      <a:accent6>
        <a:srgbClr val="353638"/>
      </a:accent6>
      <a:hlink>
        <a:srgbClr val="EFEFEF"/>
      </a:hlink>
      <a:folHlink>
        <a:srgbClr val="656A56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15113 Lecture 11 Game Theory" id="{6A3A2FF9-C1F2-4C6B-81AA-36D5BAC0ECEB}" vid="{C2B1A1D8-4DC2-49F2-B7FA-19257A7DCF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2117</TotalTime>
  <Words>2886</Words>
  <Application>Microsoft Macintosh PowerPoint</Application>
  <PresentationFormat>Widescreen</PresentationFormat>
  <Paragraphs>538</Paragraphs>
  <Slides>71</Slides>
  <Notes>36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8" baseType="lpstr">
      <vt:lpstr>Arial</vt:lpstr>
      <vt:lpstr>Calibri</vt:lpstr>
      <vt:lpstr>Cambria Math</vt:lpstr>
      <vt:lpstr>Playfair Display</vt:lpstr>
      <vt:lpstr>Rockwell</vt:lpstr>
      <vt:lpstr>Tw Cen MT</vt:lpstr>
      <vt:lpstr>Office Theme</vt:lpstr>
      <vt:lpstr>115.113 Lecture 1</vt:lpstr>
      <vt:lpstr>Administration</vt:lpstr>
      <vt:lpstr>Outline</vt:lpstr>
      <vt:lpstr>Maths Revision</vt:lpstr>
      <vt:lpstr>Linear Equation</vt:lpstr>
      <vt:lpstr>Examples</vt:lpstr>
      <vt:lpstr>GDP</vt:lpstr>
      <vt:lpstr>NZ GDP</vt:lpstr>
      <vt:lpstr>PowerPoint Presentation</vt:lpstr>
      <vt:lpstr>Two Key Ideas</vt:lpstr>
      <vt:lpstr>Why Recessions matter</vt:lpstr>
      <vt:lpstr>Why is Unemployment Costly?</vt:lpstr>
      <vt:lpstr>Great Depression</vt:lpstr>
      <vt:lpstr>Output and Unemployment</vt:lpstr>
      <vt:lpstr>Scatter Plots: Revision</vt:lpstr>
      <vt:lpstr>Line of Best fit</vt:lpstr>
      <vt:lpstr>The slope of the line for an equation relating the change in unemployment to the change in GDP </vt:lpstr>
      <vt:lpstr>Okun’s Law</vt:lpstr>
      <vt:lpstr>        Okun’s Law</vt:lpstr>
      <vt:lpstr>        Okun’s Law – New Zealand</vt:lpstr>
      <vt:lpstr>Measuring the Aggregate Economy</vt:lpstr>
      <vt:lpstr>Origin of GDP</vt:lpstr>
      <vt:lpstr>Simon Kuznets</vt:lpstr>
      <vt:lpstr>While the GDP and the rest of the national income accounts may seem to be arcane concepts, they are truly among the great inventions of the twentieth century</vt:lpstr>
      <vt:lpstr>Basic Concept</vt:lpstr>
      <vt:lpstr>National Accounts</vt:lpstr>
      <vt:lpstr>GDP</vt:lpstr>
      <vt:lpstr>International Transaction</vt:lpstr>
      <vt:lpstr>Government</vt:lpstr>
      <vt:lpstr>GDP</vt:lpstr>
      <vt:lpstr>GDP problems</vt:lpstr>
      <vt:lpstr>GDP problems</vt:lpstr>
      <vt:lpstr>GDP problems</vt:lpstr>
      <vt:lpstr>GDP Problems</vt:lpstr>
      <vt:lpstr>GDP Problems</vt:lpstr>
      <vt:lpstr>Components of GDP</vt:lpstr>
      <vt:lpstr>Land</vt:lpstr>
      <vt:lpstr>GDP</vt:lpstr>
      <vt:lpstr>GDP</vt:lpstr>
      <vt:lpstr>GDP changes</vt:lpstr>
      <vt:lpstr>GDP changes</vt:lpstr>
      <vt:lpstr>GDP</vt:lpstr>
      <vt:lpstr>Components of GDP</vt:lpstr>
      <vt:lpstr>NZ GDP</vt:lpstr>
      <vt:lpstr>Components of GDP growth</vt:lpstr>
      <vt:lpstr>Components of GDP growth</vt:lpstr>
      <vt:lpstr>NZ Recession</vt:lpstr>
      <vt:lpstr>GDP changes</vt:lpstr>
      <vt:lpstr>Shocks</vt:lpstr>
      <vt:lpstr>Shocks</vt:lpstr>
      <vt:lpstr>Shocks</vt:lpstr>
      <vt:lpstr>Household Shocks</vt:lpstr>
      <vt:lpstr>The Natural Hazards Commission – Toka Tū Ake</vt:lpstr>
      <vt:lpstr>Economy-wide shocks</vt:lpstr>
      <vt:lpstr>Consumption smoothing and the aggregate economy</vt:lpstr>
      <vt:lpstr>Business confidence</vt:lpstr>
      <vt:lpstr>Other components of GDP</vt:lpstr>
      <vt:lpstr>Measuring the economy</vt:lpstr>
      <vt:lpstr>Inflation: an increase in the general price level in the economy. Usually measured over a year.</vt:lpstr>
      <vt:lpstr>GDP, inflation and unemployment</vt:lpstr>
      <vt:lpstr>Trends in inflation</vt:lpstr>
      <vt:lpstr>Measuring inflation</vt:lpstr>
      <vt:lpstr>Representative Bundles</vt:lpstr>
      <vt:lpstr>CPI Issues</vt:lpstr>
      <vt:lpstr>PowerPoint Presentation</vt:lpstr>
      <vt:lpstr>NZ Quarterly CPI</vt:lpstr>
      <vt:lpstr>NZ Annual CPI</vt:lpstr>
      <vt:lpstr>Measuring inflation</vt:lpstr>
      <vt:lpstr>Price Index</vt:lpstr>
      <vt:lpstr>Price Index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115.113 Lecture 11</dc:title>
  <dc:creator>Brendan Moyle</dc:creator>
  <cp:lastModifiedBy>Brendan Moyle</cp:lastModifiedBy>
  <cp:revision>7</cp:revision>
  <cp:lastPrinted>2022-08-22T04:10:30Z</cp:lastPrinted>
  <dcterms:created xsi:type="dcterms:W3CDTF">2021-09-30T01:10:51Z</dcterms:created>
  <dcterms:modified xsi:type="dcterms:W3CDTF">2025-07-19T22:52:48Z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d9e4d68-54d0-40a5-8c9a-85a36c87352c_Enabled">
    <vt:lpwstr>true</vt:lpwstr>
  </property>
  <property fmtid="{D5CDD505-2E9C-101B-9397-08002B2CF9AE}" pid="3" name="MSIP_Label_bd9e4d68-54d0-40a5-8c9a-85a36c87352c_SetDate">
    <vt:lpwstr>2022-01-25T01:36:49Z</vt:lpwstr>
  </property>
  <property fmtid="{D5CDD505-2E9C-101B-9397-08002B2CF9AE}" pid="4" name="MSIP_Label_bd9e4d68-54d0-40a5-8c9a-85a36c87352c_Method">
    <vt:lpwstr>Privileged</vt:lpwstr>
  </property>
  <property fmtid="{D5CDD505-2E9C-101B-9397-08002B2CF9AE}" pid="5" name="MSIP_Label_bd9e4d68-54d0-40a5-8c9a-85a36c87352c_Name">
    <vt:lpwstr>Unclassified</vt:lpwstr>
  </property>
  <property fmtid="{D5CDD505-2E9C-101B-9397-08002B2CF9AE}" pid="6" name="MSIP_Label_bd9e4d68-54d0-40a5-8c9a-85a36c87352c_SiteId">
    <vt:lpwstr>388728e1-bbd0-4378-98dc-f8682e644300</vt:lpwstr>
  </property>
  <property fmtid="{D5CDD505-2E9C-101B-9397-08002B2CF9AE}" pid="7" name="MSIP_Label_bd9e4d68-54d0-40a5-8c9a-85a36c87352c_ActionId">
    <vt:lpwstr>33b0c11e-6a5a-4ae7-a410-e7add87a2217</vt:lpwstr>
  </property>
  <property fmtid="{D5CDD505-2E9C-101B-9397-08002B2CF9AE}" pid="8" name="MSIP_Label_bd9e4d68-54d0-40a5-8c9a-85a36c87352c_ContentBits">
    <vt:lpwstr>0</vt:lpwstr>
  </property>
</Properties>
</file>