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80" r:id="rId2"/>
    <p:sldId id="348" r:id="rId3"/>
    <p:sldId id="349" r:id="rId4"/>
    <p:sldId id="262" r:id="rId5"/>
    <p:sldId id="257" r:id="rId6"/>
    <p:sldId id="350" r:id="rId7"/>
    <p:sldId id="351" r:id="rId8"/>
    <p:sldId id="338" r:id="rId9"/>
    <p:sldId id="302" r:id="rId10"/>
    <p:sldId id="303" r:id="rId11"/>
    <p:sldId id="380" r:id="rId12"/>
    <p:sldId id="352" r:id="rId13"/>
    <p:sldId id="353" r:id="rId14"/>
    <p:sldId id="367" r:id="rId15"/>
    <p:sldId id="354" r:id="rId16"/>
    <p:sldId id="363" r:id="rId17"/>
    <p:sldId id="355" r:id="rId18"/>
    <p:sldId id="306" r:id="rId19"/>
    <p:sldId id="357" r:id="rId20"/>
    <p:sldId id="307" r:id="rId21"/>
    <p:sldId id="311" r:id="rId22"/>
    <p:sldId id="309" r:id="rId23"/>
    <p:sldId id="358" r:id="rId24"/>
    <p:sldId id="359" r:id="rId25"/>
    <p:sldId id="291" r:id="rId26"/>
    <p:sldId id="364" r:id="rId27"/>
    <p:sldId id="360" r:id="rId28"/>
    <p:sldId id="372" r:id="rId29"/>
    <p:sldId id="373" r:id="rId30"/>
    <p:sldId id="374" r:id="rId31"/>
    <p:sldId id="375" r:id="rId32"/>
    <p:sldId id="361" r:id="rId33"/>
    <p:sldId id="324" r:id="rId34"/>
    <p:sldId id="342" r:id="rId35"/>
    <p:sldId id="325" r:id="rId36"/>
    <p:sldId id="376" r:id="rId37"/>
    <p:sldId id="326" r:id="rId38"/>
    <p:sldId id="343" r:id="rId39"/>
    <p:sldId id="327" r:id="rId40"/>
    <p:sldId id="377" r:id="rId41"/>
    <p:sldId id="329" r:id="rId42"/>
    <p:sldId id="370" r:id="rId43"/>
    <p:sldId id="381" r:id="rId44"/>
    <p:sldId id="330" r:id="rId45"/>
    <p:sldId id="331" r:id="rId46"/>
    <p:sldId id="362" r:id="rId47"/>
    <p:sldId id="387" r:id="rId48"/>
    <p:sldId id="386" r:id="rId49"/>
    <p:sldId id="344" r:id="rId50"/>
    <p:sldId id="369" r:id="rId51"/>
    <p:sldId id="379" r:id="rId52"/>
    <p:sldId id="332" r:id="rId53"/>
    <p:sldId id="378" r:id="rId54"/>
    <p:sldId id="365" r:id="rId55"/>
    <p:sldId id="388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53638"/>
    <a:srgbClr val="636852"/>
    <a:srgbClr val="EFEFEF"/>
    <a:srgbClr val="76838B"/>
    <a:srgbClr val="656A56"/>
    <a:srgbClr val="FBE0CF"/>
    <a:srgbClr val="F9EDD7"/>
    <a:srgbClr val="EABB40"/>
    <a:srgbClr val="DE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88" autoAdjust="0"/>
    <p:restoredTop sz="92313" autoAdjust="0"/>
  </p:normalViewPr>
  <p:slideViewPr>
    <p:cSldViewPr snapToGrid="0">
      <p:cViewPr varScale="1">
        <p:scale>
          <a:sx n="102" d="100"/>
          <a:sy n="102" d="100"/>
        </p:scale>
        <p:origin x="224" y="5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95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oyle" userId="9db00287-5c56-4665-94af-5607db0aa80e" providerId="ADAL" clId="{92494E46-C3FE-4C55-ACBB-52F339C10D8F}"/>
    <pc:docChg chg="delSld modSld">
      <pc:chgData name="Brendan Moyle" userId="9db00287-5c56-4665-94af-5607db0aa80e" providerId="ADAL" clId="{92494E46-C3FE-4C55-ACBB-52F339C10D8F}" dt="2023-07-30T22:58:33.557" v="8" actId="47"/>
      <pc:docMkLst>
        <pc:docMk/>
      </pc:docMkLst>
      <pc:sldChg chg="del">
        <pc:chgData name="Brendan Moyle" userId="9db00287-5c56-4665-94af-5607db0aa80e" providerId="ADAL" clId="{92494E46-C3FE-4C55-ACBB-52F339C10D8F}" dt="2023-07-30T22:57:04.514" v="0" actId="47"/>
        <pc:sldMkLst>
          <pc:docMk/>
          <pc:sldMk cId="417902244" sldId="366"/>
        </pc:sldMkLst>
      </pc:sldChg>
      <pc:sldChg chg="del">
        <pc:chgData name="Brendan Moyle" userId="9db00287-5c56-4665-94af-5607db0aa80e" providerId="ADAL" clId="{92494E46-C3FE-4C55-ACBB-52F339C10D8F}" dt="2023-07-30T22:57:09.676" v="1" actId="47"/>
        <pc:sldMkLst>
          <pc:docMk/>
          <pc:sldMk cId="2209799004" sldId="368"/>
        </pc:sldMkLst>
      </pc:sldChg>
      <pc:sldChg chg="del">
        <pc:chgData name="Brendan Moyle" userId="9db00287-5c56-4665-94af-5607db0aa80e" providerId="ADAL" clId="{92494E46-C3FE-4C55-ACBB-52F339C10D8F}" dt="2023-07-30T22:58:32.251" v="7" actId="47"/>
        <pc:sldMkLst>
          <pc:docMk/>
          <pc:sldMk cId="514451535" sldId="371"/>
        </pc:sldMkLst>
      </pc:sldChg>
      <pc:sldChg chg="modSp mod">
        <pc:chgData name="Brendan Moyle" userId="9db00287-5c56-4665-94af-5607db0aa80e" providerId="ADAL" clId="{92494E46-C3FE-4C55-ACBB-52F339C10D8F}" dt="2023-07-30T22:57:20.781" v="3" actId="20577"/>
        <pc:sldMkLst>
          <pc:docMk/>
          <pc:sldMk cId="611902290" sldId="372"/>
        </pc:sldMkLst>
        <pc:spChg chg="mod">
          <ac:chgData name="Brendan Moyle" userId="9db00287-5c56-4665-94af-5607db0aa80e" providerId="ADAL" clId="{92494E46-C3FE-4C55-ACBB-52F339C10D8F}" dt="2023-07-30T22:57:20.781" v="3" actId="20577"/>
          <ac:spMkLst>
            <pc:docMk/>
            <pc:sldMk cId="611902290" sldId="372"/>
            <ac:spMk id="10" creationId="{6B22AE28-E28E-703B-0B22-702B6730EF5E}"/>
          </ac:spMkLst>
        </pc:spChg>
      </pc:sldChg>
      <pc:sldChg chg="del">
        <pc:chgData name="Brendan Moyle" userId="9db00287-5c56-4665-94af-5607db0aa80e" providerId="ADAL" clId="{92494E46-C3FE-4C55-ACBB-52F339C10D8F}" dt="2023-07-30T22:58:22.758" v="4" actId="47"/>
        <pc:sldMkLst>
          <pc:docMk/>
          <pc:sldMk cId="1890829607" sldId="382"/>
        </pc:sldMkLst>
      </pc:sldChg>
      <pc:sldChg chg="del">
        <pc:chgData name="Brendan Moyle" userId="9db00287-5c56-4665-94af-5607db0aa80e" providerId="ADAL" clId="{92494E46-C3FE-4C55-ACBB-52F339C10D8F}" dt="2023-07-30T22:58:27.149" v="5" actId="47"/>
        <pc:sldMkLst>
          <pc:docMk/>
          <pc:sldMk cId="4022525038" sldId="383"/>
        </pc:sldMkLst>
      </pc:sldChg>
      <pc:sldChg chg="del">
        <pc:chgData name="Brendan Moyle" userId="9db00287-5c56-4665-94af-5607db0aa80e" providerId="ADAL" clId="{92494E46-C3FE-4C55-ACBB-52F339C10D8F}" dt="2023-07-30T22:58:30.185" v="6" actId="47"/>
        <pc:sldMkLst>
          <pc:docMk/>
          <pc:sldMk cId="2466693817" sldId="384"/>
        </pc:sldMkLst>
      </pc:sldChg>
      <pc:sldChg chg="del">
        <pc:chgData name="Brendan Moyle" userId="9db00287-5c56-4665-94af-5607db0aa80e" providerId="ADAL" clId="{92494E46-C3FE-4C55-ACBB-52F339C10D8F}" dt="2023-07-30T22:58:33.557" v="8" actId="47"/>
        <pc:sldMkLst>
          <pc:docMk/>
          <pc:sldMk cId="333007343" sldId="38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FF03F3-B828-4327-BC3E-97C040FD6B5C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1B2F5E59-2CDE-429E-BC6F-721C4CB1040C}">
      <dgm:prSet/>
      <dgm:spPr/>
      <dgm:t>
        <a:bodyPr/>
        <a:lstStyle/>
        <a:p>
          <a:r>
            <a:rPr lang="en-US"/>
            <a:t>Sometimes the aggregate decisions of households and firms can destabilize the economy.</a:t>
          </a:r>
          <a:endParaRPr lang="en-NZ"/>
        </a:p>
      </dgm:t>
    </dgm:pt>
    <dgm:pt modelId="{FE5BCCF0-6699-425F-9269-BBD8165380E0}" type="parTrans" cxnId="{9FF28C20-38DE-40F8-B88E-47F3680868F7}">
      <dgm:prSet/>
      <dgm:spPr/>
      <dgm:t>
        <a:bodyPr/>
        <a:lstStyle/>
        <a:p>
          <a:endParaRPr lang="en-NZ"/>
        </a:p>
      </dgm:t>
    </dgm:pt>
    <dgm:pt modelId="{BF9E53D6-CB0F-442A-B288-AD786B1AC09C}" type="sibTrans" cxnId="{9FF28C20-38DE-40F8-B88E-47F3680868F7}">
      <dgm:prSet/>
      <dgm:spPr/>
      <dgm:t>
        <a:bodyPr/>
        <a:lstStyle/>
        <a:p>
          <a:endParaRPr lang="en-NZ"/>
        </a:p>
      </dgm:t>
    </dgm:pt>
    <dgm:pt modelId="{B0C0C43A-9D73-48E7-A418-29EBC40422F5}">
      <dgm:prSet/>
      <dgm:spPr/>
      <dgm:t>
        <a:bodyPr/>
        <a:lstStyle/>
        <a:p>
          <a:r>
            <a:rPr lang="en-US"/>
            <a:t>How can the government stabilize the economy?</a:t>
          </a:r>
          <a:endParaRPr lang="en-NZ"/>
        </a:p>
      </dgm:t>
    </dgm:pt>
    <dgm:pt modelId="{A10ACC4A-7D24-4A47-92C3-E672674F6F63}" type="parTrans" cxnId="{6CCD8AC0-C8B0-41B5-B562-FAAA76703FC9}">
      <dgm:prSet/>
      <dgm:spPr/>
      <dgm:t>
        <a:bodyPr/>
        <a:lstStyle/>
        <a:p>
          <a:endParaRPr lang="en-NZ"/>
        </a:p>
      </dgm:t>
    </dgm:pt>
    <dgm:pt modelId="{AD21084D-18E9-4AA5-A58D-86EDF9F0E2F4}" type="sibTrans" cxnId="{6CCD8AC0-C8B0-41B5-B562-FAAA76703FC9}">
      <dgm:prSet/>
      <dgm:spPr/>
      <dgm:t>
        <a:bodyPr/>
        <a:lstStyle/>
        <a:p>
          <a:endParaRPr lang="en-NZ"/>
        </a:p>
      </dgm:t>
    </dgm:pt>
    <dgm:pt modelId="{0AFBA5D7-78E5-49DD-9DDF-C6DF3C78157A}">
      <dgm:prSet/>
      <dgm:spPr/>
      <dgm:t>
        <a:bodyPr/>
        <a:lstStyle/>
        <a:p>
          <a:r>
            <a:rPr lang="en-US"/>
            <a:t>Why might government policies be ineffective? </a:t>
          </a:r>
          <a:endParaRPr lang="en-NZ"/>
        </a:p>
      </dgm:t>
    </dgm:pt>
    <dgm:pt modelId="{AA1D135D-98AE-41E3-B5D6-85D597B2490F}" type="parTrans" cxnId="{20B08008-CD90-46B6-B260-99713EF18FBA}">
      <dgm:prSet/>
      <dgm:spPr/>
      <dgm:t>
        <a:bodyPr/>
        <a:lstStyle/>
        <a:p>
          <a:endParaRPr lang="en-NZ"/>
        </a:p>
      </dgm:t>
    </dgm:pt>
    <dgm:pt modelId="{569AC71D-C002-47B4-AF0F-4CE807EF3E39}" type="sibTrans" cxnId="{20B08008-CD90-46B6-B260-99713EF18FBA}">
      <dgm:prSet/>
      <dgm:spPr/>
      <dgm:t>
        <a:bodyPr/>
        <a:lstStyle/>
        <a:p>
          <a:endParaRPr lang="en-NZ"/>
        </a:p>
      </dgm:t>
    </dgm:pt>
    <dgm:pt modelId="{FC843589-40A8-47A6-B897-26209CB8169F}">
      <dgm:prSet/>
      <dgm:spPr/>
      <dgm:t>
        <a:bodyPr/>
        <a:lstStyle/>
        <a:p>
          <a:r>
            <a:rPr lang="en-US"/>
            <a:t>How can we model the link between output and unemployment?</a:t>
          </a:r>
          <a:endParaRPr lang="en-NZ"/>
        </a:p>
      </dgm:t>
    </dgm:pt>
    <dgm:pt modelId="{697C5C99-8B1B-47E8-9DE0-D7A1CAB4221D}" type="parTrans" cxnId="{6A2DA133-D6A4-4AF9-A7C4-30D717BC0905}">
      <dgm:prSet/>
      <dgm:spPr/>
      <dgm:t>
        <a:bodyPr/>
        <a:lstStyle/>
        <a:p>
          <a:endParaRPr lang="en-NZ"/>
        </a:p>
      </dgm:t>
    </dgm:pt>
    <dgm:pt modelId="{14C93976-64D3-4EF7-A255-1231D79A6689}" type="sibTrans" cxnId="{6A2DA133-D6A4-4AF9-A7C4-30D717BC0905}">
      <dgm:prSet/>
      <dgm:spPr/>
      <dgm:t>
        <a:bodyPr/>
        <a:lstStyle/>
        <a:p>
          <a:endParaRPr lang="en-NZ"/>
        </a:p>
      </dgm:t>
    </dgm:pt>
    <dgm:pt modelId="{49760596-B119-4957-9650-6EFC90754B80}" type="pres">
      <dgm:prSet presAssocID="{03FF03F3-B828-4327-BC3E-97C040FD6B5C}" presName="Name0" presStyleCnt="0">
        <dgm:presLayoutVars>
          <dgm:dir/>
          <dgm:animLvl val="lvl"/>
          <dgm:resizeHandles val="exact"/>
        </dgm:presLayoutVars>
      </dgm:prSet>
      <dgm:spPr/>
    </dgm:pt>
    <dgm:pt modelId="{AFF4E736-F197-4C79-A4A9-E028476F216D}" type="pres">
      <dgm:prSet presAssocID="{1B2F5E59-2CDE-429E-BC6F-721C4CB1040C}" presName="vertFlow" presStyleCnt="0"/>
      <dgm:spPr/>
    </dgm:pt>
    <dgm:pt modelId="{B86FE9DA-1AAC-42BF-9A61-12BD9807EA45}" type="pres">
      <dgm:prSet presAssocID="{1B2F5E59-2CDE-429E-BC6F-721C4CB1040C}" presName="header" presStyleLbl="node1" presStyleIdx="0" presStyleCnt="1"/>
      <dgm:spPr/>
    </dgm:pt>
    <dgm:pt modelId="{B3BDA7DA-8F45-4FD0-9139-E7934C71AE0C}" type="pres">
      <dgm:prSet presAssocID="{A10ACC4A-7D24-4A47-92C3-E672674F6F63}" presName="parTrans" presStyleLbl="sibTrans2D1" presStyleIdx="0" presStyleCnt="3"/>
      <dgm:spPr/>
    </dgm:pt>
    <dgm:pt modelId="{AAB71EDD-E335-4D0E-8FF2-78B2995E456D}" type="pres">
      <dgm:prSet presAssocID="{B0C0C43A-9D73-48E7-A418-29EBC40422F5}" presName="child" presStyleLbl="alignAccFollowNode1" presStyleIdx="0" presStyleCnt="3">
        <dgm:presLayoutVars>
          <dgm:chMax val="0"/>
          <dgm:bulletEnabled val="1"/>
        </dgm:presLayoutVars>
      </dgm:prSet>
      <dgm:spPr/>
    </dgm:pt>
    <dgm:pt modelId="{A36527BC-5593-4EAE-ADA9-6BC51E383987}" type="pres">
      <dgm:prSet presAssocID="{AD21084D-18E9-4AA5-A58D-86EDF9F0E2F4}" presName="sibTrans" presStyleLbl="sibTrans2D1" presStyleIdx="1" presStyleCnt="3"/>
      <dgm:spPr/>
    </dgm:pt>
    <dgm:pt modelId="{9DA49AB9-920E-45AA-833E-A995EF94174F}" type="pres">
      <dgm:prSet presAssocID="{0AFBA5D7-78E5-49DD-9DDF-C6DF3C78157A}" presName="child" presStyleLbl="alignAccFollowNode1" presStyleIdx="1" presStyleCnt="3">
        <dgm:presLayoutVars>
          <dgm:chMax val="0"/>
          <dgm:bulletEnabled val="1"/>
        </dgm:presLayoutVars>
      </dgm:prSet>
      <dgm:spPr/>
    </dgm:pt>
    <dgm:pt modelId="{2574C658-7036-46D5-A913-F49EE37C43C6}" type="pres">
      <dgm:prSet presAssocID="{569AC71D-C002-47B4-AF0F-4CE807EF3E39}" presName="sibTrans" presStyleLbl="sibTrans2D1" presStyleIdx="2" presStyleCnt="3"/>
      <dgm:spPr/>
    </dgm:pt>
    <dgm:pt modelId="{A1B750EE-0FF5-4B0D-9BE6-68310D66198B}" type="pres">
      <dgm:prSet presAssocID="{FC843589-40A8-47A6-B897-26209CB8169F}" presName="child" presStyleLbl="alignAccFollowNode1" presStyleIdx="2" presStyleCnt="3">
        <dgm:presLayoutVars>
          <dgm:chMax val="0"/>
          <dgm:bulletEnabled val="1"/>
        </dgm:presLayoutVars>
      </dgm:prSet>
      <dgm:spPr/>
    </dgm:pt>
  </dgm:ptLst>
  <dgm:cxnLst>
    <dgm:cxn modelId="{20B08008-CD90-46B6-B260-99713EF18FBA}" srcId="{1B2F5E59-2CDE-429E-BC6F-721C4CB1040C}" destId="{0AFBA5D7-78E5-49DD-9DDF-C6DF3C78157A}" srcOrd="1" destOrd="0" parTransId="{AA1D135D-98AE-41E3-B5D6-85D597B2490F}" sibTransId="{569AC71D-C002-47B4-AF0F-4CE807EF3E39}"/>
    <dgm:cxn modelId="{9FF28C20-38DE-40F8-B88E-47F3680868F7}" srcId="{03FF03F3-B828-4327-BC3E-97C040FD6B5C}" destId="{1B2F5E59-2CDE-429E-BC6F-721C4CB1040C}" srcOrd="0" destOrd="0" parTransId="{FE5BCCF0-6699-425F-9269-BBD8165380E0}" sibTransId="{BF9E53D6-CB0F-442A-B288-AD786B1AC09C}"/>
    <dgm:cxn modelId="{6A2DA133-D6A4-4AF9-A7C4-30D717BC0905}" srcId="{1B2F5E59-2CDE-429E-BC6F-721C4CB1040C}" destId="{FC843589-40A8-47A6-B897-26209CB8169F}" srcOrd="2" destOrd="0" parTransId="{697C5C99-8B1B-47E8-9DE0-D7A1CAB4221D}" sibTransId="{14C93976-64D3-4EF7-A255-1231D79A6689}"/>
    <dgm:cxn modelId="{E0A98744-C849-455E-B9A7-325E84DC43BD}" type="presOf" srcId="{569AC71D-C002-47B4-AF0F-4CE807EF3E39}" destId="{2574C658-7036-46D5-A913-F49EE37C43C6}" srcOrd="0" destOrd="0" presId="urn:microsoft.com/office/officeart/2005/8/layout/lProcess1"/>
    <dgm:cxn modelId="{17948398-D229-4736-BE8E-AD2BF45559A2}" type="presOf" srcId="{0AFBA5D7-78E5-49DD-9DDF-C6DF3C78157A}" destId="{9DA49AB9-920E-45AA-833E-A995EF94174F}" srcOrd="0" destOrd="0" presId="urn:microsoft.com/office/officeart/2005/8/layout/lProcess1"/>
    <dgm:cxn modelId="{CB9C9DA2-0FD3-4E3A-96D0-92DA0D1A3AF7}" type="presOf" srcId="{03FF03F3-B828-4327-BC3E-97C040FD6B5C}" destId="{49760596-B119-4957-9650-6EFC90754B80}" srcOrd="0" destOrd="0" presId="urn:microsoft.com/office/officeart/2005/8/layout/lProcess1"/>
    <dgm:cxn modelId="{2AAC3EA8-6F28-48BA-95F0-A6E4A466CCE3}" type="presOf" srcId="{1B2F5E59-2CDE-429E-BC6F-721C4CB1040C}" destId="{B86FE9DA-1AAC-42BF-9A61-12BD9807EA45}" srcOrd="0" destOrd="0" presId="urn:microsoft.com/office/officeart/2005/8/layout/lProcess1"/>
    <dgm:cxn modelId="{134262B7-F42D-433B-9349-E60387439D41}" type="presOf" srcId="{B0C0C43A-9D73-48E7-A418-29EBC40422F5}" destId="{AAB71EDD-E335-4D0E-8FF2-78B2995E456D}" srcOrd="0" destOrd="0" presId="urn:microsoft.com/office/officeart/2005/8/layout/lProcess1"/>
    <dgm:cxn modelId="{476B25BF-738D-4A85-A1A5-75CB12EF5509}" type="presOf" srcId="{FC843589-40A8-47A6-B897-26209CB8169F}" destId="{A1B750EE-0FF5-4B0D-9BE6-68310D66198B}" srcOrd="0" destOrd="0" presId="urn:microsoft.com/office/officeart/2005/8/layout/lProcess1"/>
    <dgm:cxn modelId="{36C2A4BF-DE50-4069-AF4E-5D7C42850EB6}" type="presOf" srcId="{AD21084D-18E9-4AA5-A58D-86EDF9F0E2F4}" destId="{A36527BC-5593-4EAE-ADA9-6BC51E383987}" srcOrd="0" destOrd="0" presId="urn:microsoft.com/office/officeart/2005/8/layout/lProcess1"/>
    <dgm:cxn modelId="{6CCD8AC0-C8B0-41B5-B562-FAAA76703FC9}" srcId="{1B2F5E59-2CDE-429E-BC6F-721C4CB1040C}" destId="{B0C0C43A-9D73-48E7-A418-29EBC40422F5}" srcOrd="0" destOrd="0" parTransId="{A10ACC4A-7D24-4A47-92C3-E672674F6F63}" sibTransId="{AD21084D-18E9-4AA5-A58D-86EDF9F0E2F4}"/>
    <dgm:cxn modelId="{EE08C3C9-B0A8-4230-8A83-C055E30FD879}" type="presOf" srcId="{A10ACC4A-7D24-4A47-92C3-E672674F6F63}" destId="{B3BDA7DA-8F45-4FD0-9139-E7934C71AE0C}" srcOrd="0" destOrd="0" presId="urn:microsoft.com/office/officeart/2005/8/layout/lProcess1"/>
    <dgm:cxn modelId="{92316404-C3A3-4A6C-B7AB-6F3783A0913F}" type="presParOf" srcId="{49760596-B119-4957-9650-6EFC90754B80}" destId="{AFF4E736-F197-4C79-A4A9-E028476F216D}" srcOrd="0" destOrd="0" presId="urn:microsoft.com/office/officeart/2005/8/layout/lProcess1"/>
    <dgm:cxn modelId="{E96CC9B3-0454-4D7A-B551-27D087D0C502}" type="presParOf" srcId="{AFF4E736-F197-4C79-A4A9-E028476F216D}" destId="{B86FE9DA-1AAC-42BF-9A61-12BD9807EA45}" srcOrd="0" destOrd="0" presId="urn:microsoft.com/office/officeart/2005/8/layout/lProcess1"/>
    <dgm:cxn modelId="{C3137083-5096-4F07-9C96-C6F69B6C470B}" type="presParOf" srcId="{AFF4E736-F197-4C79-A4A9-E028476F216D}" destId="{B3BDA7DA-8F45-4FD0-9139-E7934C71AE0C}" srcOrd="1" destOrd="0" presId="urn:microsoft.com/office/officeart/2005/8/layout/lProcess1"/>
    <dgm:cxn modelId="{77376541-74E3-42FA-8E45-87544583A36F}" type="presParOf" srcId="{AFF4E736-F197-4C79-A4A9-E028476F216D}" destId="{AAB71EDD-E335-4D0E-8FF2-78B2995E456D}" srcOrd="2" destOrd="0" presId="urn:microsoft.com/office/officeart/2005/8/layout/lProcess1"/>
    <dgm:cxn modelId="{4EAB4F6F-8428-4FF0-B39D-FB5725554C0F}" type="presParOf" srcId="{AFF4E736-F197-4C79-A4A9-E028476F216D}" destId="{A36527BC-5593-4EAE-ADA9-6BC51E383987}" srcOrd="3" destOrd="0" presId="urn:microsoft.com/office/officeart/2005/8/layout/lProcess1"/>
    <dgm:cxn modelId="{119B5155-A6AD-4BB2-8B24-0D8521DFC4EF}" type="presParOf" srcId="{AFF4E736-F197-4C79-A4A9-E028476F216D}" destId="{9DA49AB9-920E-45AA-833E-A995EF94174F}" srcOrd="4" destOrd="0" presId="urn:microsoft.com/office/officeart/2005/8/layout/lProcess1"/>
    <dgm:cxn modelId="{32D79559-7B97-4C64-8B70-18A99F0074C5}" type="presParOf" srcId="{AFF4E736-F197-4C79-A4A9-E028476F216D}" destId="{2574C658-7036-46D5-A913-F49EE37C43C6}" srcOrd="5" destOrd="0" presId="urn:microsoft.com/office/officeart/2005/8/layout/lProcess1"/>
    <dgm:cxn modelId="{7CCFEC0D-3FE2-476A-8D5D-CD1BEDB27D88}" type="presParOf" srcId="{AFF4E736-F197-4C79-A4A9-E028476F216D}" destId="{A1B750EE-0FF5-4B0D-9BE6-68310D66198B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38D622-DC1A-474E-89A1-8455A70C2BC7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04805C81-0EA5-4454-A216-2D3CB1E0E00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b="1" dirty="0"/>
            <a:t>Autonomous consumption</a:t>
          </a:r>
          <a:r>
            <a:rPr lang="en-US" dirty="0"/>
            <a:t> = the fixed amount one will spend, independent of income </a:t>
          </a:r>
          <a:br>
            <a:rPr lang="en-US" dirty="0"/>
          </a:br>
          <a:endParaRPr lang="en-NZ" dirty="0"/>
        </a:p>
      </dgm:t>
    </dgm:pt>
    <dgm:pt modelId="{9FA18633-8232-43A6-8887-3E2F33B07BA6}" type="parTrans" cxnId="{DAE102A6-2CBB-4F52-BBCC-8B91BEF019E5}">
      <dgm:prSet/>
      <dgm:spPr/>
      <dgm:t>
        <a:bodyPr/>
        <a:lstStyle/>
        <a:p>
          <a:endParaRPr lang="en-NZ"/>
        </a:p>
      </dgm:t>
    </dgm:pt>
    <dgm:pt modelId="{46D47F53-8E5B-40F8-82A8-48384A33E446}" type="sibTrans" cxnId="{DAE102A6-2CBB-4F52-BBCC-8B91BEF019E5}">
      <dgm:prSet/>
      <dgm:spPr/>
      <dgm:t>
        <a:bodyPr/>
        <a:lstStyle/>
        <a:p>
          <a:endParaRPr lang="en-NZ"/>
        </a:p>
      </dgm:t>
    </dgm:pt>
    <dgm:pt modelId="{04DA107D-760D-49B6-BE44-A438C590230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Consumption that is dependent on income</a:t>
          </a:r>
          <a:endParaRPr lang="en-NZ" dirty="0"/>
        </a:p>
      </dgm:t>
    </dgm:pt>
    <dgm:pt modelId="{394700C7-5BC3-4582-B51D-7CB3DB972C4B}" type="parTrans" cxnId="{5CF057AE-24D3-40D0-B397-D990C4F53A2D}">
      <dgm:prSet/>
      <dgm:spPr/>
      <dgm:t>
        <a:bodyPr/>
        <a:lstStyle/>
        <a:p>
          <a:endParaRPr lang="en-NZ"/>
        </a:p>
      </dgm:t>
    </dgm:pt>
    <dgm:pt modelId="{D764A337-D1F7-4C2B-A0C0-27B892697A66}" type="sibTrans" cxnId="{5CF057AE-24D3-40D0-B397-D990C4F53A2D}">
      <dgm:prSet/>
      <dgm:spPr/>
      <dgm:t>
        <a:bodyPr/>
        <a:lstStyle/>
        <a:p>
          <a:endParaRPr lang="en-NZ"/>
        </a:p>
      </dgm:t>
    </dgm:pt>
    <dgm:pt modelId="{5D53CEFF-4A44-4138-AC06-E3F672F908E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/>
            <a:t>Slope of consumption function = </a:t>
          </a:r>
          <a:r>
            <a:rPr lang="en-US" b="1"/>
            <a:t>marginal propensity to consume</a:t>
          </a:r>
          <a:endParaRPr lang="en-NZ"/>
        </a:p>
      </dgm:t>
    </dgm:pt>
    <dgm:pt modelId="{36560D9F-36FF-488D-9BF7-989F6991888A}" type="parTrans" cxnId="{89830702-6950-46FE-8075-750719E50295}">
      <dgm:prSet/>
      <dgm:spPr/>
      <dgm:t>
        <a:bodyPr/>
        <a:lstStyle/>
        <a:p>
          <a:endParaRPr lang="en-NZ"/>
        </a:p>
      </dgm:t>
    </dgm:pt>
    <dgm:pt modelId="{D5104160-C47A-4CC4-A557-D9F5BC55EC5A}" type="sibTrans" cxnId="{89830702-6950-46FE-8075-750719E50295}">
      <dgm:prSet/>
      <dgm:spPr/>
      <dgm:t>
        <a:bodyPr/>
        <a:lstStyle/>
        <a:p>
          <a:endParaRPr lang="en-NZ"/>
        </a:p>
      </dgm:t>
    </dgm:pt>
    <dgm:pt modelId="{0B81218F-F6FF-4A3E-907C-50F4520D2CEA}" type="pres">
      <dgm:prSet presAssocID="{DF38D622-DC1A-474E-89A1-8455A70C2BC7}" presName="diagram" presStyleCnt="0">
        <dgm:presLayoutVars>
          <dgm:dir/>
          <dgm:resizeHandles val="exact"/>
        </dgm:presLayoutVars>
      </dgm:prSet>
      <dgm:spPr/>
    </dgm:pt>
    <dgm:pt modelId="{D61D2E79-1C01-4006-A277-2C5D3307948C}" type="pres">
      <dgm:prSet presAssocID="{04805C81-0EA5-4454-A216-2D3CB1E0E00C}" presName="node" presStyleLbl="node1" presStyleIdx="0" presStyleCnt="2">
        <dgm:presLayoutVars>
          <dgm:bulletEnabled val="1"/>
        </dgm:presLayoutVars>
      </dgm:prSet>
      <dgm:spPr/>
    </dgm:pt>
    <dgm:pt modelId="{91F3F5F4-B391-453C-8152-0C3D03EA21E5}" type="pres">
      <dgm:prSet presAssocID="{46D47F53-8E5B-40F8-82A8-48384A33E446}" presName="sibTrans" presStyleCnt="0"/>
      <dgm:spPr/>
    </dgm:pt>
    <dgm:pt modelId="{2FB6A593-BBDE-4829-A780-3D2AD497520A}" type="pres">
      <dgm:prSet presAssocID="{04DA107D-760D-49B6-BE44-A438C5902302}" presName="node" presStyleLbl="node1" presStyleIdx="1" presStyleCnt="2">
        <dgm:presLayoutVars>
          <dgm:bulletEnabled val="1"/>
        </dgm:presLayoutVars>
      </dgm:prSet>
      <dgm:spPr/>
    </dgm:pt>
  </dgm:ptLst>
  <dgm:cxnLst>
    <dgm:cxn modelId="{89830702-6950-46FE-8075-750719E50295}" srcId="{04DA107D-760D-49B6-BE44-A438C5902302}" destId="{5D53CEFF-4A44-4138-AC06-E3F672F908E5}" srcOrd="0" destOrd="0" parTransId="{36560D9F-36FF-488D-9BF7-989F6991888A}" sibTransId="{D5104160-C47A-4CC4-A557-D9F5BC55EC5A}"/>
    <dgm:cxn modelId="{D8462665-83FB-4AA0-882C-14A3FD942BBF}" type="presOf" srcId="{04805C81-0EA5-4454-A216-2D3CB1E0E00C}" destId="{D61D2E79-1C01-4006-A277-2C5D3307948C}" srcOrd="0" destOrd="0" presId="urn:microsoft.com/office/officeart/2005/8/layout/default"/>
    <dgm:cxn modelId="{7D4D1A8A-40AE-4978-9542-ED253BBA2727}" type="presOf" srcId="{DF38D622-DC1A-474E-89A1-8455A70C2BC7}" destId="{0B81218F-F6FF-4A3E-907C-50F4520D2CEA}" srcOrd="0" destOrd="0" presId="urn:microsoft.com/office/officeart/2005/8/layout/default"/>
    <dgm:cxn modelId="{DAE102A6-2CBB-4F52-BBCC-8B91BEF019E5}" srcId="{DF38D622-DC1A-474E-89A1-8455A70C2BC7}" destId="{04805C81-0EA5-4454-A216-2D3CB1E0E00C}" srcOrd="0" destOrd="0" parTransId="{9FA18633-8232-43A6-8887-3E2F33B07BA6}" sibTransId="{46D47F53-8E5B-40F8-82A8-48384A33E446}"/>
    <dgm:cxn modelId="{5CF057AE-24D3-40D0-B397-D990C4F53A2D}" srcId="{DF38D622-DC1A-474E-89A1-8455A70C2BC7}" destId="{04DA107D-760D-49B6-BE44-A438C5902302}" srcOrd="1" destOrd="0" parTransId="{394700C7-5BC3-4582-B51D-7CB3DB972C4B}" sibTransId="{D764A337-D1F7-4C2B-A0C0-27B892697A66}"/>
    <dgm:cxn modelId="{B48543E6-DE5D-49AC-9567-2F31C37B2EB1}" type="presOf" srcId="{5D53CEFF-4A44-4138-AC06-E3F672F908E5}" destId="{2FB6A593-BBDE-4829-A780-3D2AD497520A}" srcOrd="0" destOrd="1" presId="urn:microsoft.com/office/officeart/2005/8/layout/default"/>
    <dgm:cxn modelId="{2F7E9CF4-AB4E-4C99-B213-66EDFF68E895}" type="presOf" srcId="{04DA107D-760D-49B6-BE44-A438C5902302}" destId="{2FB6A593-BBDE-4829-A780-3D2AD497520A}" srcOrd="0" destOrd="0" presId="urn:microsoft.com/office/officeart/2005/8/layout/default"/>
    <dgm:cxn modelId="{8E6B6526-1A4D-4D6D-A19D-1B5A4E5C543D}" type="presParOf" srcId="{0B81218F-F6FF-4A3E-907C-50F4520D2CEA}" destId="{D61D2E79-1C01-4006-A277-2C5D3307948C}" srcOrd="0" destOrd="0" presId="urn:microsoft.com/office/officeart/2005/8/layout/default"/>
    <dgm:cxn modelId="{CA50B874-6EE1-4DCB-A90F-E0295290E2F7}" type="presParOf" srcId="{0B81218F-F6FF-4A3E-907C-50F4520D2CEA}" destId="{91F3F5F4-B391-453C-8152-0C3D03EA21E5}" srcOrd="1" destOrd="0" presId="urn:microsoft.com/office/officeart/2005/8/layout/default"/>
    <dgm:cxn modelId="{99A09ECA-4D5C-405B-9789-C9E83E9B9570}" type="presParOf" srcId="{0B81218F-F6FF-4A3E-907C-50F4520D2CEA}" destId="{2FB6A593-BBDE-4829-A780-3D2AD497520A}" srcOrd="2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4E7337-1A49-4D7F-BF16-21893FAD8FDF}" type="doc">
      <dgm:prSet loTypeId="urn:microsoft.com/office/officeart/2005/8/layout/process4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339433AD-6A31-484D-A516-2F460E592B8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Poor households with credit constraints react a lot to variation in current income, so their MPC is large</a:t>
          </a:r>
          <a:endParaRPr lang="en-NZ" dirty="0"/>
        </a:p>
      </dgm:t>
    </dgm:pt>
    <dgm:pt modelId="{1EC0ECA5-4DEB-49B6-B4D6-C35A7BE8ED45}" type="parTrans" cxnId="{9518E639-7D66-46FA-BEFA-FA3C000E04CF}">
      <dgm:prSet/>
      <dgm:spPr/>
      <dgm:t>
        <a:bodyPr/>
        <a:lstStyle/>
        <a:p>
          <a:endParaRPr lang="en-NZ"/>
        </a:p>
      </dgm:t>
    </dgm:pt>
    <dgm:pt modelId="{D22C86AE-BC79-41B0-BEDE-50B62F4F8A6E}" type="sibTrans" cxnId="{9518E639-7D66-46FA-BEFA-FA3C000E04CF}">
      <dgm:prSet/>
      <dgm:spPr/>
      <dgm:t>
        <a:bodyPr/>
        <a:lstStyle/>
        <a:p>
          <a:endParaRPr lang="en-NZ"/>
        </a:p>
      </dgm:t>
    </dgm:pt>
    <dgm:pt modelId="{B1AA47E4-701D-4B23-BC8D-74598432394B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US"/>
            <a:t>Wealthy households, current income matters little for current consumption, so their MPC is small</a:t>
          </a:r>
          <a:endParaRPr lang="en-NZ"/>
        </a:p>
      </dgm:t>
    </dgm:pt>
    <dgm:pt modelId="{4FB727D4-D001-4413-827B-88DFC47F1D65}" type="parTrans" cxnId="{59B97885-75F0-463D-BB3D-CAF692E679DF}">
      <dgm:prSet/>
      <dgm:spPr/>
      <dgm:t>
        <a:bodyPr/>
        <a:lstStyle/>
        <a:p>
          <a:endParaRPr lang="en-NZ"/>
        </a:p>
      </dgm:t>
    </dgm:pt>
    <dgm:pt modelId="{082951DE-AEDE-4B2F-B4F5-3B3442CA08C7}" type="sibTrans" cxnId="{59B97885-75F0-463D-BB3D-CAF692E679DF}">
      <dgm:prSet/>
      <dgm:spPr/>
      <dgm:t>
        <a:bodyPr/>
        <a:lstStyle/>
        <a:p>
          <a:endParaRPr lang="en-NZ"/>
        </a:p>
      </dgm:t>
    </dgm:pt>
    <dgm:pt modelId="{67A28167-99D9-49CF-920E-2AE952345D0A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/>
            <a:t>Expectations about future income are reflected in </a:t>
          </a:r>
          <a:r>
            <a:rPr lang="en-US" b="1"/>
            <a:t>autonomous consumption</a:t>
          </a:r>
          <a:r>
            <a:rPr lang="en-US"/>
            <a:t>.</a:t>
          </a:r>
          <a:endParaRPr lang="en-NZ"/>
        </a:p>
      </dgm:t>
    </dgm:pt>
    <dgm:pt modelId="{C69CA78E-0294-455B-A8B5-8FC06F043D02}" type="parTrans" cxnId="{F2FE3082-1739-4EB8-A73F-94167BB78C9B}">
      <dgm:prSet/>
      <dgm:spPr/>
      <dgm:t>
        <a:bodyPr/>
        <a:lstStyle/>
        <a:p>
          <a:endParaRPr lang="en-NZ"/>
        </a:p>
      </dgm:t>
    </dgm:pt>
    <dgm:pt modelId="{FBA2DEED-CEBB-47DE-8611-88DF5B242AEC}" type="sibTrans" cxnId="{F2FE3082-1739-4EB8-A73F-94167BB78C9B}">
      <dgm:prSet/>
      <dgm:spPr/>
      <dgm:t>
        <a:bodyPr/>
        <a:lstStyle/>
        <a:p>
          <a:endParaRPr lang="en-NZ"/>
        </a:p>
      </dgm:t>
    </dgm:pt>
    <dgm:pt modelId="{46EA73FC-C15F-4F37-A099-85978FA5BEB5}" type="pres">
      <dgm:prSet presAssocID="{C34E7337-1A49-4D7F-BF16-21893FAD8FDF}" presName="Name0" presStyleCnt="0">
        <dgm:presLayoutVars>
          <dgm:dir/>
          <dgm:animLvl val="lvl"/>
          <dgm:resizeHandles val="exact"/>
        </dgm:presLayoutVars>
      </dgm:prSet>
      <dgm:spPr/>
    </dgm:pt>
    <dgm:pt modelId="{2B2C27B6-9520-46E1-8B31-6E72836C117F}" type="pres">
      <dgm:prSet presAssocID="{67A28167-99D9-49CF-920E-2AE952345D0A}" presName="boxAndChildren" presStyleCnt="0"/>
      <dgm:spPr/>
    </dgm:pt>
    <dgm:pt modelId="{65C12662-483A-485B-B9A3-BDCCB2CE8C94}" type="pres">
      <dgm:prSet presAssocID="{67A28167-99D9-49CF-920E-2AE952345D0A}" presName="parentTextBox" presStyleLbl="node1" presStyleIdx="0" presStyleCnt="3"/>
      <dgm:spPr/>
    </dgm:pt>
    <dgm:pt modelId="{223FBC4E-DF8D-4056-8985-D3593940692C}" type="pres">
      <dgm:prSet presAssocID="{082951DE-AEDE-4B2F-B4F5-3B3442CA08C7}" presName="sp" presStyleCnt="0"/>
      <dgm:spPr/>
    </dgm:pt>
    <dgm:pt modelId="{855D31A7-880C-4596-A915-4373CB6B35B1}" type="pres">
      <dgm:prSet presAssocID="{B1AA47E4-701D-4B23-BC8D-74598432394B}" presName="arrowAndChildren" presStyleCnt="0"/>
      <dgm:spPr/>
    </dgm:pt>
    <dgm:pt modelId="{12A643CF-798D-4667-B54B-F8B0631543F8}" type="pres">
      <dgm:prSet presAssocID="{B1AA47E4-701D-4B23-BC8D-74598432394B}" presName="parentTextArrow" presStyleLbl="node1" presStyleIdx="1" presStyleCnt="3"/>
      <dgm:spPr/>
    </dgm:pt>
    <dgm:pt modelId="{87556B99-A4F4-46F1-B198-3C696A47DCF5}" type="pres">
      <dgm:prSet presAssocID="{D22C86AE-BC79-41B0-BEDE-50B62F4F8A6E}" presName="sp" presStyleCnt="0"/>
      <dgm:spPr/>
    </dgm:pt>
    <dgm:pt modelId="{AFD4FA23-B25D-4C19-B976-FF3CF2D182AC}" type="pres">
      <dgm:prSet presAssocID="{339433AD-6A31-484D-A516-2F460E592B85}" presName="arrowAndChildren" presStyleCnt="0"/>
      <dgm:spPr/>
    </dgm:pt>
    <dgm:pt modelId="{307850E8-6B05-4EA4-B06C-4A1153D5DDC2}" type="pres">
      <dgm:prSet presAssocID="{339433AD-6A31-484D-A516-2F460E592B85}" presName="parentTextArrow" presStyleLbl="node1" presStyleIdx="2" presStyleCnt="3"/>
      <dgm:spPr/>
    </dgm:pt>
  </dgm:ptLst>
  <dgm:cxnLst>
    <dgm:cxn modelId="{9518E639-7D66-46FA-BEFA-FA3C000E04CF}" srcId="{C34E7337-1A49-4D7F-BF16-21893FAD8FDF}" destId="{339433AD-6A31-484D-A516-2F460E592B85}" srcOrd="0" destOrd="0" parTransId="{1EC0ECA5-4DEB-49B6-B4D6-C35A7BE8ED45}" sibTransId="{D22C86AE-BC79-41B0-BEDE-50B62F4F8A6E}"/>
    <dgm:cxn modelId="{74150956-04F5-45BF-A553-46B2463F2396}" type="presOf" srcId="{67A28167-99D9-49CF-920E-2AE952345D0A}" destId="{65C12662-483A-485B-B9A3-BDCCB2CE8C94}" srcOrd="0" destOrd="0" presId="urn:microsoft.com/office/officeart/2005/8/layout/process4"/>
    <dgm:cxn modelId="{F2FE3082-1739-4EB8-A73F-94167BB78C9B}" srcId="{C34E7337-1A49-4D7F-BF16-21893FAD8FDF}" destId="{67A28167-99D9-49CF-920E-2AE952345D0A}" srcOrd="2" destOrd="0" parTransId="{C69CA78E-0294-455B-A8B5-8FC06F043D02}" sibTransId="{FBA2DEED-CEBB-47DE-8611-88DF5B242AEC}"/>
    <dgm:cxn modelId="{59B97885-75F0-463D-BB3D-CAF692E679DF}" srcId="{C34E7337-1A49-4D7F-BF16-21893FAD8FDF}" destId="{B1AA47E4-701D-4B23-BC8D-74598432394B}" srcOrd="1" destOrd="0" parTransId="{4FB727D4-D001-4413-827B-88DFC47F1D65}" sibTransId="{082951DE-AEDE-4B2F-B4F5-3B3442CA08C7}"/>
    <dgm:cxn modelId="{35FECD86-3ED4-42ED-A0D0-C387EACFF4BE}" type="presOf" srcId="{B1AA47E4-701D-4B23-BC8D-74598432394B}" destId="{12A643CF-798D-4667-B54B-F8B0631543F8}" srcOrd="0" destOrd="0" presId="urn:microsoft.com/office/officeart/2005/8/layout/process4"/>
    <dgm:cxn modelId="{366D1F8D-8B24-4629-A435-5BB27A5E3F6F}" type="presOf" srcId="{C34E7337-1A49-4D7F-BF16-21893FAD8FDF}" destId="{46EA73FC-C15F-4F37-A099-85978FA5BEB5}" srcOrd="0" destOrd="0" presId="urn:microsoft.com/office/officeart/2005/8/layout/process4"/>
    <dgm:cxn modelId="{C122F3DD-D4AF-45F5-91BD-85778745DA01}" type="presOf" srcId="{339433AD-6A31-484D-A516-2F460E592B85}" destId="{307850E8-6B05-4EA4-B06C-4A1153D5DDC2}" srcOrd="0" destOrd="0" presId="urn:microsoft.com/office/officeart/2005/8/layout/process4"/>
    <dgm:cxn modelId="{5283212A-9FFF-453C-BB82-EE123A36C1E8}" type="presParOf" srcId="{46EA73FC-C15F-4F37-A099-85978FA5BEB5}" destId="{2B2C27B6-9520-46E1-8B31-6E72836C117F}" srcOrd="0" destOrd="0" presId="urn:microsoft.com/office/officeart/2005/8/layout/process4"/>
    <dgm:cxn modelId="{5D602484-C6BA-4FF0-AB62-496FF046EEE8}" type="presParOf" srcId="{2B2C27B6-9520-46E1-8B31-6E72836C117F}" destId="{65C12662-483A-485B-B9A3-BDCCB2CE8C94}" srcOrd="0" destOrd="0" presId="urn:microsoft.com/office/officeart/2005/8/layout/process4"/>
    <dgm:cxn modelId="{8888C0A8-17E1-47CF-8373-1F900C0CF56F}" type="presParOf" srcId="{46EA73FC-C15F-4F37-A099-85978FA5BEB5}" destId="{223FBC4E-DF8D-4056-8985-D3593940692C}" srcOrd="1" destOrd="0" presId="urn:microsoft.com/office/officeart/2005/8/layout/process4"/>
    <dgm:cxn modelId="{284782C9-B448-49B4-B075-A4D13A9D7BA0}" type="presParOf" srcId="{46EA73FC-C15F-4F37-A099-85978FA5BEB5}" destId="{855D31A7-880C-4596-A915-4373CB6B35B1}" srcOrd="2" destOrd="0" presId="urn:microsoft.com/office/officeart/2005/8/layout/process4"/>
    <dgm:cxn modelId="{7C4E2F82-47B0-4351-9296-F9DCBB025C55}" type="presParOf" srcId="{855D31A7-880C-4596-A915-4373CB6B35B1}" destId="{12A643CF-798D-4667-B54B-F8B0631543F8}" srcOrd="0" destOrd="0" presId="urn:microsoft.com/office/officeart/2005/8/layout/process4"/>
    <dgm:cxn modelId="{41B233F9-8B1D-4651-8F57-46B1111831C8}" type="presParOf" srcId="{46EA73FC-C15F-4F37-A099-85978FA5BEB5}" destId="{87556B99-A4F4-46F1-B198-3C696A47DCF5}" srcOrd="3" destOrd="0" presId="urn:microsoft.com/office/officeart/2005/8/layout/process4"/>
    <dgm:cxn modelId="{19752AC0-653F-4E8D-AEB5-453F89DD0EDA}" type="presParOf" srcId="{46EA73FC-C15F-4F37-A099-85978FA5BEB5}" destId="{AFD4FA23-B25D-4C19-B976-FF3CF2D182AC}" srcOrd="4" destOrd="0" presId="urn:microsoft.com/office/officeart/2005/8/layout/process4"/>
    <dgm:cxn modelId="{776B4A3B-1B02-4F01-87EA-12F91CB52948}" type="presParOf" srcId="{AFD4FA23-B25D-4C19-B976-FF3CF2D182AC}" destId="{307850E8-6B05-4EA4-B06C-4A1153D5DDC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137B65-F8F5-4853-910D-CA2F6611461E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BCDE268C-2E2F-4D9D-B0A9-354034B509DB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If you expect your income or wealth to increase in future you</a:t>
          </a:r>
          <a:endParaRPr lang="en-NZ" dirty="0"/>
        </a:p>
      </dgm:t>
    </dgm:pt>
    <dgm:pt modelId="{9149ACBB-11E7-4CEE-9715-844232B456CC}" type="parTrans" cxnId="{DD6D2C68-FDA5-4AB6-ABB0-8246E5A039AC}">
      <dgm:prSet/>
      <dgm:spPr/>
      <dgm:t>
        <a:bodyPr/>
        <a:lstStyle/>
        <a:p>
          <a:endParaRPr lang="en-NZ"/>
        </a:p>
      </dgm:t>
    </dgm:pt>
    <dgm:pt modelId="{2BE95C62-9304-49C6-B4A7-3E3FF9703376}" type="sibTrans" cxnId="{DD6D2C68-FDA5-4AB6-ABB0-8246E5A039AC}">
      <dgm:prSet/>
      <dgm:spPr/>
      <dgm:t>
        <a:bodyPr/>
        <a:lstStyle/>
        <a:p>
          <a:endParaRPr lang="en-NZ"/>
        </a:p>
      </dgm:t>
    </dgm:pt>
    <dgm:pt modelId="{6D3F36CA-D2B8-4CC9-A666-E0E4B7773DB9}">
      <dgm:prSet/>
      <dgm:spPr/>
      <dgm:t>
        <a:bodyPr/>
        <a:lstStyle/>
        <a:p>
          <a:r>
            <a:rPr lang="en-US"/>
            <a:t>are willing to consume at a higher level now.</a:t>
          </a:r>
          <a:endParaRPr lang="en-NZ"/>
        </a:p>
      </dgm:t>
    </dgm:pt>
    <dgm:pt modelId="{8AD09FFA-DBB7-42F9-8ACF-8244E9D8F3D4}" type="parTrans" cxnId="{D504F49A-2170-4CD3-AFFB-2F985AC698BE}">
      <dgm:prSet/>
      <dgm:spPr/>
      <dgm:t>
        <a:bodyPr/>
        <a:lstStyle/>
        <a:p>
          <a:endParaRPr lang="en-NZ"/>
        </a:p>
      </dgm:t>
    </dgm:pt>
    <dgm:pt modelId="{EBAA485E-906A-4BD3-A66A-66AF12CC392C}" type="sibTrans" cxnId="{D504F49A-2170-4CD3-AFFB-2F985AC698BE}">
      <dgm:prSet/>
      <dgm:spPr/>
      <dgm:t>
        <a:bodyPr/>
        <a:lstStyle/>
        <a:p>
          <a:endParaRPr lang="en-NZ"/>
        </a:p>
      </dgm:t>
    </dgm:pt>
    <dgm:pt modelId="{7F206491-3BFD-47B6-ADDE-3DD75547D5B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E.g. In housing booms people’s wealth can rise rapidly and they lift spending. </a:t>
          </a:r>
          <a:endParaRPr lang="en-NZ" dirty="0"/>
        </a:p>
      </dgm:t>
    </dgm:pt>
    <dgm:pt modelId="{FC199237-8772-42BC-AC40-4CC2B055E531}" type="parTrans" cxnId="{D6C6CCF8-5645-461A-8090-BAFDB4927BE5}">
      <dgm:prSet/>
      <dgm:spPr/>
      <dgm:t>
        <a:bodyPr/>
        <a:lstStyle/>
        <a:p>
          <a:endParaRPr lang="en-NZ"/>
        </a:p>
      </dgm:t>
    </dgm:pt>
    <dgm:pt modelId="{D3F806D9-27FC-45F3-86D2-600B15E2C994}" type="sibTrans" cxnId="{D6C6CCF8-5645-461A-8090-BAFDB4927BE5}">
      <dgm:prSet/>
      <dgm:spPr/>
      <dgm:t>
        <a:bodyPr/>
        <a:lstStyle/>
        <a:p>
          <a:endParaRPr lang="en-NZ"/>
        </a:p>
      </dgm:t>
    </dgm:pt>
    <dgm:pt modelId="{4B196422-89D8-48FA-BC35-7E706D3213BD}">
      <dgm:prSet/>
      <dgm:spPr/>
      <dgm:t>
        <a:bodyPr/>
        <a:lstStyle/>
        <a:p>
          <a:r>
            <a:rPr lang="en-US"/>
            <a:t>Durables or travel often popular</a:t>
          </a:r>
          <a:endParaRPr lang="en-NZ"/>
        </a:p>
      </dgm:t>
    </dgm:pt>
    <dgm:pt modelId="{D548FBF8-824F-4287-B4F4-B22C63BF2B9B}" type="parTrans" cxnId="{D087745C-2B91-488A-AD7A-4D13DF9F0607}">
      <dgm:prSet/>
      <dgm:spPr/>
      <dgm:t>
        <a:bodyPr/>
        <a:lstStyle/>
        <a:p>
          <a:endParaRPr lang="en-NZ"/>
        </a:p>
      </dgm:t>
    </dgm:pt>
    <dgm:pt modelId="{16847C92-C30B-4F75-BAE3-0B169EA30679}" type="sibTrans" cxnId="{D087745C-2B91-488A-AD7A-4D13DF9F0607}">
      <dgm:prSet/>
      <dgm:spPr/>
      <dgm:t>
        <a:bodyPr/>
        <a:lstStyle/>
        <a:p>
          <a:endParaRPr lang="en-NZ"/>
        </a:p>
      </dgm:t>
    </dgm:pt>
    <dgm:pt modelId="{9E2BB526-D367-4357-A0CB-CA0C6728C640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/>
            <a:t>If you expect income to decrease in future you </a:t>
          </a:r>
          <a:endParaRPr lang="en-NZ"/>
        </a:p>
      </dgm:t>
    </dgm:pt>
    <dgm:pt modelId="{EDE589C8-15FA-4C0B-8E1F-B6B33C65480B}" type="parTrans" cxnId="{12F17692-00AE-4CE8-907E-1FAC04055B11}">
      <dgm:prSet/>
      <dgm:spPr/>
      <dgm:t>
        <a:bodyPr/>
        <a:lstStyle/>
        <a:p>
          <a:endParaRPr lang="en-NZ"/>
        </a:p>
      </dgm:t>
    </dgm:pt>
    <dgm:pt modelId="{5F56EB97-9938-4D4A-9744-AC8D3FFB0A45}" type="sibTrans" cxnId="{12F17692-00AE-4CE8-907E-1FAC04055B11}">
      <dgm:prSet/>
      <dgm:spPr/>
      <dgm:t>
        <a:bodyPr/>
        <a:lstStyle/>
        <a:p>
          <a:endParaRPr lang="en-NZ"/>
        </a:p>
      </dgm:t>
    </dgm:pt>
    <dgm:pt modelId="{F8FB2BA9-AC2C-4FCF-9E28-11F62B2B76CA}">
      <dgm:prSet/>
      <dgm:spPr/>
      <dgm:t>
        <a:bodyPr/>
        <a:lstStyle/>
        <a:p>
          <a:r>
            <a:rPr lang="en-US"/>
            <a:t>Are willing to consume at a lower level</a:t>
          </a:r>
          <a:endParaRPr lang="en-NZ"/>
        </a:p>
      </dgm:t>
    </dgm:pt>
    <dgm:pt modelId="{EF980021-80C7-4435-9C14-CC1C47206E52}" type="parTrans" cxnId="{80DD19C0-F900-4487-B4A5-66DD78E4E124}">
      <dgm:prSet/>
      <dgm:spPr/>
      <dgm:t>
        <a:bodyPr/>
        <a:lstStyle/>
        <a:p>
          <a:endParaRPr lang="en-NZ"/>
        </a:p>
      </dgm:t>
    </dgm:pt>
    <dgm:pt modelId="{F789D447-D237-48ED-97E4-138A42441085}" type="sibTrans" cxnId="{80DD19C0-F900-4487-B4A5-66DD78E4E124}">
      <dgm:prSet/>
      <dgm:spPr/>
      <dgm:t>
        <a:bodyPr/>
        <a:lstStyle/>
        <a:p>
          <a:endParaRPr lang="en-NZ"/>
        </a:p>
      </dgm:t>
    </dgm:pt>
    <dgm:pt modelId="{34A58B09-3DAA-4617-A268-8A955FD038B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E.g. people who fear they will lose their jobs. They increase their savings. </a:t>
          </a:r>
          <a:endParaRPr lang="en-NZ" dirty="0"/>
        </a:p>
      </dgm:t>
    </dgm:pt>
    <dgm:pt modelId="{8AC80F65-1025-4612-B30C-BE7C3E2FAE8E}" type="parTrans" cxnId="{5276D5F6-A0A6-4976-AB4A-E7298AFCA89D}">
      <dgm:prSet/>
      <dgm:spPr/>
      <dgm:t>
        <a:bodyPr/>
        <a:lstStyle/>
        <a:p>
          <a:endParaRPr lang="en-NZ"/>
        </a:p>
      </dgm:t>
    </dgm:pt>
    <dgm:pt modelId="{71C18B4F-0259-4881-93E6-E683592D2A70}" type="sibTrans" cxnId="{5276D5F6-A0A6-4976-AB4A-E7298AFCA89D}">
      <dgm:prSet/>
      <dgm:spPr/>
      <dgm:t>
        <a:bodyPr/>
        <a:lstStyle/>
        <a:p>
          <a:endParaRPr lang="en-NZ"/>
        </a:p>
      </dgm:t>
    </dgm:pt>
    <dgm:pt modelId="{72651D68-FB6E-4704-9618-4D96DD7815C6}" type="pres">
      <dgm:prSet presAssocID="{6D137B65-F8F5-4853-910D-CA2F6611461E}" presName="linear" presStyleCnt="0">
        <dgm:presLayoutVars>
          <dgm:animLvl val="lvl"/>
          <dgm:resizeHandles val="exact"/>
        </dgm:presLayoutVars>
      </dgm:prSet>
      <dgm:spPr/>
    </dgm:pt>
    <dgm:pt modelId="{B5011457-754D-42CD-AE85-F4D2374C6622}" type="pres">
      <dgm:prSet presAssocID="{BCDE268C-2E2F-4D9D-B0A9-354034B509D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8EDC62D-0FB6-48B1-AFBD-3DC91688A7C2}" type="pres">
      <dgm:prSet presAssocID="{BCDE268C-2E2F-4D9D-B0A9-354034B509DB}" presName="childText" presStyleLbl="revTx" presStyleIdx="0" presStyleCnt="3">
        <dgm:presLayoutVars>
          <dgm:bulletEnabled val="1"/>
        </dgm:presLayoutVars>
      </dgm:prSet>
      <dgm:spPr/>
    </dgm:pt>
    <dgm:pt modelId="{7C4EBC90-ED77-4E9A-8CC4-AE30915BAF1C}" type="pres">
      <dgm:prSet presAssocID="{7F206491-3BFD-47B6-ADDE-3DD75547D5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5EC8E9-B138-4730-A1E4-63BE9D258F02}" type="pres">
      <dgm:prSet presAssocID="{7F206491-3BFD-47B6-ADDE-3DD75547D5B4}" presName="childText" presStyleLbl="revTx" presStyleIdx="1" presStyleCnt="3">
        <dgm:presLayoutVars>
          <dgm:bulletEnabled val="1"/>
        </dgm:presLayoutVars>
      </dgm:prSet>
      <dgm:spPr/>
    </dgm:pt>
    <dgm:pt modelId="{2F0FE078-0037-4643-A319-01F1B29EDDA0}" type="pres">
      <dgm:prSet presAssocID="{9E2BB526-D367-4357-A0CB-CA0C6728C64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9DF5B6-EFA7-4318-913C-8CE8121038CA}" type="pres">
      <dgm:prSet presAssocID="{9E2BB526-D367-4357-A0CB-CA0C6728C640}" presName="childText" presStyleLbl="revTx" presStyleIdx="2" presStyleCnt="3">
        <dgm:presLayoutVars>
          <dgm:bulletEnabled val="1"/>
        </dgm:presLayoutVars>
      </dgm:prSet>
      <dgm:spPr/>
    </dgm:pt>
    <dgm:pt modelId="{FF97405F-C23E-44CA-B2F6-E8CEC7A86ECA}" type="pres">
      <dgm:prSet presAssocID="{34A58B09-3DAA-4617-A268-8A955FD038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4782C02-6D19-410A-BE83-BC99C905AEA4}" type="presOf" srcId="{BCDE268C-2E2F-4D9D-B0A9-354034B509DB}" destId="{B5011457-754D-42CD-AE85-F4D2374C6622}" srcOrd="0" destOrd="0" presId="urn:microsoft.com/office/officeart/2005/8/layout/vList2"/>
    <dgm:cxn modelId="{1A394220-EC97-451B-B84B-DB0F2848B936}" type="presOf" srcId="{7F206491-3BFD-47B6-ADDE-3DD75547D5B4}" destId="{7C4EBC90-ED77-4E9A-8CC4-AE30915BAF1C}" srcOrd="0" destOrd="0" presId="urn:microsoft.com/office/officeart/2005/8/layout/vList2"/>
    <dgm:cxn modelId="{4EABE34D-B449-48CA-A5F9-24242FD7853D}" type="presOf" srcId="{F8FB2BA9-AC2C-4FCF-9E28-11F62B2B76CA}" destId="{C29DF5B6-EFA7-4318-913C-8CE8121038CA}" srcOrd="0" destOrd="0" presId="urn:microsoft.com/office/officeart/2005/8/layout/vList2"/>
    <dgm:cxn modelId="{D087745C-2B91-488A-AD7A-4D13DF9F0607}" srcId="{7F206491-3BFD-47B6-ADDE-3DD75547D5B4}" destId="{4B196422-89D8-48FA-BC35-7E706D3213BD}" srcOrd="0" destOrd="0" parTransId="{D548FBF8-824F-4287-B4F4-B22C63BF2B9B}" sibTransId="{16847C92-C30B-4F75-BAE3-0B169EA30679}"/>
    <dgm:cxn modelId="{DD6D2C68-FDA5-4AB6-ABB0-8246E5A039AC}" srcId="{6D137B65-F8F5-4853-910D-CA2F6611461E}" destId="{BCDE268C-2E2F-4D9D-B0A9-354034B509DB}" srcOrd="0" destOrd="0" parTransId="{9149ACBB-11E7-4CEE-9715-844232B456CC}" sibTransId="{2BE95C62-9304-49C6-B4A7-3E3FF9703376}"/>
    <dgm:cxn modelId="{7190186B-3FBC-4C49-95FC-3381EEC59B3C}" type="presOf" srcId="{6D137B65-F8F5-4853-910D-CA2F6611461E}" destId="{72651D68-FB6E-4704-9618-4D96DD7815C6}" srcOrd="0" destOrd="0" presId="urn:microsoft.com/office/officeart/2005/8/layout/vList2"/>
    <dgm:cxn modelId="{061DBC83-5272-4098-A397-499EC9264997}" type="presOf" srcId="{34A58B09-3DAA-4617-A268-8A955FD038BD}" destId="{FF97405F-C23E-44CA-B2F6-E8CEC7A86ECA}" srcOrd="0" destOrd="0" presId="urn:microsoft.com/office/officeart/2005/8/layout/vList2"/>
    <dgm:cxn modelId="{EF453687-AD1E-4551-8B1C-07D7CDBBB4A7}" type="presOf" srcId="{4B196422-89D8-48FA-BC35-7E706D3213BD}" destId="{E85EC8E9-B138-4730-A1E4-63BE9D258F02}" srcOrd="0" destOrd="0" presId="urn:microsoft.com/office/officeart/2005/8/layout/vList2"/>
    <dgm:cxn modelId="{12F17692-00AE-4CE8-907E-1FAC04055B11}" srcId="{6D137B65-F8F5-4853-910D-CA2F6611461E}" destId="{9E2BB526-D367-4357-A0CB-CA0C6728C640}" srcOrd="2" destOrd="0" parTransId="{EDE589C8-15FA-4C0B-8E1F-B6B33C65480B}" sibTransId="{5F56EB97-9938-4D4A-9744-AC8D3FFB0A45}"/>
    <dgm:cxn modelId="{68F4FA99-1670-4A1C-80E6-1948BDC8DAA9}" type="presOf" srcId="{6D3F36CA-D2B8-4CC9-A666-E0E4B7773DB9}" destId="{D8EDC62D-0FB6-48B1-AFBD-3DC91688A7C2}" srcOrd="0" destOrd="0" presId="urn:microsoft.com/office/officeart/2005/8/layout/vList2"/>
    <dgm:cxn modelId="{D504F49A-2170-4CD3-AFFB-2F985AC698BE}" srcId="{BCDE268C-2E2F-4D9D-B0A9-354034B509DB}" destId="{6D3F36CA-D2B8-4CC9-A666-E0E4B7773DB9}" srcOrd="0" destOrd="0" parTransId="{8AD09FFA-DBB7-42F9-8ACF-8244E9D8F3D4}" sibTransId="{EBAA485E-906A-4BD3-A66A-66AF12CC392C}"/>
    <dgm:cxn modelId="{80DD19C0-F900-4487-B4A5-66DD78E4E124}" srcId="{9E2BB526-D367-4357-A0CB-CA0C6728C640}" destId="{F8FB2BA9-AC2C-4FCF-9E28-11F62B2B76CA}" srcOrd="0" destOrd="0" parTransId="{EF980021-80C7-4435-9C14-CC1C47206E52}" sibTransId="{F789D447-D237-48ED-97E4-138A42441085}"/>
    <dgm:cxn modelId="{A394E0D8-C414-4B5F-9BF4-10E1C8DB5F03}" type="presOf" srcId="{9E2BB526-D367-4357-A0CB-CA0C6728C640}" destId="{2F0FE078-0037-4643-A319-01F1B29EDDA0}" srcOrd="0" destOrd="0" presId="urn:microsoft.com/office/officeart/2005/8/layout/vList2"/>
    <dgm:cxn modelId="{5276D5F6-A0A6-4976-AB4A-E7298AFCA89D}" srcId="{6D137B65-F8F5-4853-910D-CA2F6611461E}" destId="{34A58B09-3DAA-4617-A268-8A955FD038BD}" srcOrd="3" destOrd="0" parTransId="{8AC80F65-1025-4612-B30C-BE7C3E2FAE8E}" sibTransId="{71C18B4F-0259-4881-93E6-E683592D2A70}"/>
    <dgm:cxn modelId="{D6C6CCF8-5645-461A-8090-BAFDB4927BE5}" srcId="{6D137B65-F8F5-4853-910D-CA2F6611461E}" destId="{7F206491-3BFD-47B6-ADDE-3DD75547D5B4}" srcOrd="1" destOrd="0" parTransId="{FC199237-8772-42BC-AC40-4CC2B055E531}" sibTransId="{D3F806D9-27FC-45F3-86D2-600B15E2C994}"/>
    <dgm:cxn modelId="{D59A5218-74BA-4975-9072-8CD6E02121D8}" type="presParOf" srcId="{72651D68-FB6E-4704-9618-4D96DD7815C6}" destId="{B5011457-754D-42CD-AE85-F4D2374C6622}" srcOrd="0" destOrd="0" presId="urn:microsoft.com/office/officeart/2005/8/layout/vList2"/>
    <dgm:cxn modelId="{D1B5573C-12A1-4987-908F-DFF17FEF2DD9}" type="presParOf" srcId="{72651D68-FB6E-4704-9618-4D96DD7815C6}" destId="{D8EDC62D-0FB6-48B1-AFBD-3DC91688A7C2}" srcOrd="1" destOrd="0" presId="urn:microsoft.com/office/officeart/2005/8/layout/vList2"/>
    <dgm:cxn modelId="{6E3C0530-5FDD-41AF-BC91-9559C1E5F92B}" type="presParOf" srcId="{72651D68-FB6E-4704-9618-4D96DD7815C6}" destId="{7C4EBC90-ED77-4E9A-8CC4-AE30915BAF1C}" srcOrd="2" destOrd="0" presId="urn:microsoft.com/office/officeart/2005/8/layout/vList2"/>
    <dgm:cxn modelId="{518484A8-A114-445C-9ABD-BAFDB0808342}" type="presParOf" srcId="{72651D68-FB6E-4704-9618-4D96DD7815C6}" destId="{E85EC8E9-B138-4730-A1E4-63BE9D258F02}" srcOrd="3" destOrd="0" presId="urn:microsoft.com/office/officeart/2005/8/layout/vList2"/>
    <dgm:cxn modelId="{393316D5-DB6C-4774-AF0F-C3974F120769}" type="presParOf" srcId="{72651D68-FB6E-4704-9618-4D96DD7815C6}" destId="{2F0FE078-0037-4643-A319-01F1B29EDDA0}" srcOrd="4" destOrd="0" presId="urn:microsoft.com/office/officeart/2005/8/layout/vList2"/>
    <dgm:cxn modelId="{84529688-6670-486D-BF04-2CC4ED3D6141}" type="presParOf" srcId="{72651D68-FB6E-4704-9618-4D96DD7815C6}" destId="{C29DF5B6-EFA7-4318-913C-8CE8121038CA}" srcOrd="5" destOrd="0" presId="urn:microsoft.com/office/officeart/2005/8/layout/vList2"/>
    <dgm:cxn modelId="{975A1953-16EC-46AD-9B52-7E5F54585AD8}" type="presParOf" srcId="{72651D68-FB6E-4704-9618-4D96DD7815C6}" destId="{FF97405F-C23E-44CA-B2F6-E8CEC7A86E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93E35A-412C-4CCE-97F5-AEFBF8EF44E7}" type="doc">
      <dgm:prSet loTypeId="urn:microsoft.com/office/officeart/2005/8/layout/process5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75BE6033-D256-4063-AA1F-FF9A6B3553E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What happens if economy is not in equilibrium?</a:t>
          </a:r>
        </a:p>
      </dgm:t>
    </dgm:pt>
    <dgm:pt modelId="{79534AEB-7993-46EB-84B0-422D4F0A0A77}" type="parTrans" cxnId="{AD8B2E3F-ADF7-4085-9822-BC83DD772C30}">
      <dgm:prSet/>
      <dgm:spPr/>
      <dgm:t>
        <a:bodyPr/>
        <a:lstStyle/>
        <a:p>
          <a:endParaRPr lang="en-NZ"/>
        </a:p>
      </dgm:t>
    </dgm:pt>
    <dgm:pt modelId="{774721C4-D5E1-460E-8668-1140091F5543}" type="sibTrans" cxnId="{AD8B2E3F-ADF7-4085-9822-BC83DD772C30}">
      <dgm:prSet/>
      <dgm:spPr/>
      <dgm:t>
        <a:bodyPr/>
        <a:lstStyle/>
        <a:p>
          <a:endParaRPr lang="en-NZ"/>
        </a:p>
      </dgm:t>
    </dgm:pt>
    <dgm:pt modelId="{7E3F10A4-2806-4784-9797-52B12DA16C33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Below 45</a:t>
          </a:r>
          <a:r>
            <a:rPr lang="en-NZ">
              <a:sym typeface="Symbol" panose="05050102010706020507" pitchFamily="18" charset="2"/>
            </a:rPr>
            <a:t></a:t>
          </a:r>
          <a:r>
            <a:rPr lang="en-NZ"/>
            <a:t> line AD &lt; Y</a:t>
          </a:r>
        </a:p>
      </dgm:t>
    </dgm:pt>
    <dgm:pt modelId="{1682B41E-C136-42EC-ADA8-B32A62C6A9AD}" type="parTrans" cxnId="{4D86BEBE-C89C-4B07-BE24-C6B3B533E580}">
      <dgm:prSet/>
      <dgm:spPr/>
      <dgm:t>
        <a:bodyPr/>
        <a:lstStyle/>
        <a:p>
          <a:endParaRPr lang="en-NZ"/>
        </a:p>
      </dgm:t>
    </dgm:pt>
    <dgm:pt modelId="{82238684-B665-404C-BA16-118C18C8406E}" type="sibTrans" cxnId="{4D86BEBE-C89C-4B07-BE24-C6B3B533E580}">
      <dgm:prSet/>
      <dgm:spPr/>
      <dgm:t>
        <a:bodyPr/>
        <a:lstStyle/>
        <a:p>
          <a:endParaRPr lang="en-NZ"/>
        </a:p>
      </dgm:t>
    </dgm:pt>
    <dgm:pt modelId="{6BFBF032-5E99-4084-866B-02EE6B367BA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Above 45</a:t>
          </a:r>
          <a:r>
            <a:rPr lang="en-NZ">
              <a:sym typeface="Symbol" panose="05050102010706020507" pitchFamily="18" charset="2"/>
            </a:rPr>
            <a:t></a:t>
          </a:r>
          <a:r>
            <a:rPr lang="en-NZ"/>
            <a:t> line AD &gt; Y</a:t>
          </a:r>
        </a:p>
      </dgm:t>
    </dgm:pt>
    <dgm:pt modelId="{B614E565-FFCE-4239-BC3A-3D5EFF63930E}" type="parTrans" cxnId="{2C26BA9F-1B3C-4513-9D00-765732A317B8}">
      <dgm:prSet/>
      <dgm:spPr/>
      <dgm:t>
        <a:bodyPr/>
        <a:lstStyle/>
        <a:p>
          <a:endParaRPr lang="en-NZ"/>
        </a:p>
      </dgm:t>
    </dgm:pt>
    <dgm:pt modelId="{E631EF44-83B5-4C5B-B9DD-10F356B89399}" type="sibTrans" cxnId="{2C26BA9F-1B3C-4513-9D00-765732A317B8}">
      <dgm:prSet/>
      <dgm:spPr/>
      <dgm:t>
        <a:bodyPr/>
        <a:lstStyle/>
        <a:p>
          <a:endParaRPr lang="en-NZ"/>
        </a:p>
      </dgm:t>
    </dgm:pt>
    <dgm:pt modelId="{F40AF067-02FD-48D9-BA7F-39EA3149C0DD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NZ"/>
            <a:t>If output &gt; spending, firms notice inventories increasing. They reduce output.</a:t>
          </a:r>
        </a:p>
      </dgm:t>
    </dgm:pt>
    <dgm:pt modelId="{CC68911E-66D4-4A77-A5CB-9D2B6854F436}" type="parTrans" cxnId="{C049A483-8419-4068-B2AF-7412A9136CD5}">
      <dgm:prSet/>
      <dgm:spPr/>
      <dgm:t>
        <a:bodyPr/>
        <a:lstStyle/>
        <a:p>
          <a:endParaRPr lang="en-NZ"/>
        </a:p>
      </dgm:t>
    </dgm:pt>
    <dgm:pt modelId="{E84F503B-DAAF-4796-AF4C-9E842A758CAD}" type="sibTrans" cxnId="{C049A483-8419-4068-B2AF-7412A9136CD5}">
      <dgm:prSet/>
      <dgm:spPr/>
      <dgm:t>
        <a:bodyPr/>
        <a:lstStyle/>
        <a:p>
          <a:endParaRPr lang="en-NZ"/>
        </a:p>
      </dgm:t>
    </dgm:pt>
    <dgm:pt modelId="{0D1D4586-E4E9-455D-929B-55CBEE236F68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NZ"/>
            <a:t>If output &lt; spending, firms notice their inventories are decreasing. They increase output. </a:t>
          </a:r>
        </a:p>
      </dgm:t>
    </dgm:pt>
    <dgm:pt modelId="{C6FDC417-61B7-4D93-B58A-EB3103EB6E6D}" type="parTrans" cxnId="{133EE542-A945-43CD-BA76-6055B1D05486}">
      <dgm:prSet/>
      <dgm:spPr/>
      <dgm:t>
        <a:bodyPr/>
        <a:lstStyle/>
        <a:p>
          <a:endParaRPr lang="en-NZ"/>
        </a:p>
      </dgm:t>
    </dgm:pt>
    <dgm:pt modelId="{B8DB35DB-0FAB-44DB-9CB1-AE298C471490}" type="sibTrans" cxnId="{133EE542-A945-43CD-BA76-6055B1D05486}">
      <dgm:prSet/>
      <dgm:spPr/>
      <dgm:t>
        <a:bodyPr/>
        <a:lstStyle/>
        <a:p>
          <a:endParaRPr lang="en-NZ"/>
        </a:p>
      </dgm:t>
    </dgm:pt>
    <dgm:pt modelId="{0327ACDB-3E64-4E93-BEA1-FD43D732C128}" type="pres">
      <dgm:prSet presAssocID="{9B93E35A-412C-4CCE-97F5-AEFBF8EF44E7}" presName="diagram" presStyleCnt="0">
        <dgm:presLayoutVars>
          <dgm:dir/>
          <dgm:resizeHandles val="exact"/>
        </dgm:presLayoutVars>
      </dgm:prSet>
      <dgm:spPr/>
    </dgm:pt>
    <dgm:pt modelId="{47932213-4E6D-4066-A8CE-039E2069B6B2}" type="pres">
      <dgm:prSet presAssocID="{75BE6033-D256-4063-AA1F-FF9A6B3553ED}" presName="node" presStyleLbl="node1" presStyleIdx="0" presStyleCnt="3">
        <dgm:presLayoutVars>
          <dgm:bulletEnabled val="1"/>
        </dgm:presLayoutVars>
      </dgm:prSet>
      <dgm:spPr/>
    </dgm:pt>
    <dgm:pt modelId="{4D309A3F-1EF6-4AA3-91E7-15907F3152CD}" type="pres">
      <dgm:prSet presAssocID="{774721C4-D5E1-460E-8668-1140091F5543}" presName="sibTrans" presStyleLbl="sibTrans2D1" presStyleIdx="0" presStyleCnt="2"/>
      <dgm:spPr/>
    </dgm:pt>
    <dgm:pt modelId="{0ECB1BDC-BB34-4230-8F35-C886542FDCD6}" type="pres">
      <dgm:prSet presAssocID="{774721C4-D5E1-460E-8668-1140091F5543}" presName="connectorText" presStyleLbl="sibTrans2D1" presStyleIdx="0" presStyleCnt="2"/>
      <dgm:spPr/>
    </dgm:pt>
    <dgm:pt modelId="{565A41AC-E884-402E-BB52-6F84041F4E21}" type="pres">
      <dgm:prSet presAssocID="{F40AF067-02FD-48D9-BA7F-39EA3149C0DD}" presName="node" presStyleLbl="node1" presStyleIdx="1" presStyleCnt="3">
        <dgm:presLayoutVars>
          <dgm:bulletEnabled val="1"/>
        </dgm:presLayoutVars>
      </dgm:prSet>
      <dgm:spPr/>
    </dgm:pt>
    <dgm:pt modelId="{68FAC814-CB50-44AF-AEFB-6A3366935B3B}" type="pres">
      <dgm:prSet presAssocID="{E84F503B-DAAF-4796-AF4C-9E842A758CAD}" presName="sibTrans" presStyleLbl="sibTrans2D1" presStyleIdx="1" presStyleCnt="2"/>
      <dgm:spPr/>
    </dgm:pt>
    <dgm:pt modelId="{1E651D18-443D-43A6-8B7E-F5591E6DA26B}" type="pres">
      <dgm:prSet presAssocID="{E84F503B-DAAF-4796-AF4C-9E842A758CAD}" presName="connectorText" presStyleLbl="sibTrans2D1" presStyleIdx="1" presStyleCnt="2"/>
      <dgm:spPr/>
    </dgm:pt>
    <dgm:pt modelId="{9AEF2163-6300-442C-B5AC-741013987FFB}" type="pres">
      <dgm:prSet presAssocID="{0D1D4586-E4E9-455D-929B-55CBEE236F68}" presName="node" presStyleLbl="node1" presStyleIdx="2" presStyleCnt="3">
        <dgm:presLayoutVars>
          <dgm:bulletEnabled val="1"/>
        </dgm:presLayoutVars>
      </dgm:prSet>
      <dgm:spPr/>
    </dgm:pt>
  </dgm:ptLst>
  <dgm:cxnLst>
    <dgm:cxn modelId="{00164909-3FF6-4B55-B849-E12B4C3E3443}" type="presOf" srcId="{7E3F10A4-2806-4784-9797-52B12DA16C33}" destId="{47932213-4E6D-4066-A8CE-039E2069B6B2}" srcOrd="0" destOrd="1" presId="urn:microsoft.com/office/officeart/2005/8/layout/process5"/>
    <dgm:cxn modelId="{3E54AB1E-506A-43D3-84CE-6C7F48AF7710}" type="presOf" srcId="{E84F503B-DAAF-4796-AF4C-9E842A758CAD}" destId="{1E651D18-443D-43A6-8B7E-F5591E6DA26B}" srcOrd="1" destOrd="0" presId="urn:microsoft.com/office/officeart/2005/8/layout/process5"/>
    <dgm:cxn modelId="{AD8B2E3F-ADF7-4085-9822-BC83DD772C30}" srcId="{9B93E35A-412C-4CCE-97F5-AEFBF8EF44E7}" destId="{75BE6033-D256-4063-AA1F-FF9A6B3553ED}" srcOrd="0" destOrd="0" parTransId="{79534AEB-7993-46EB-84B0-422D4F0A0A77}" sibTransId="{774721C4-D5E1-460E-8668-1140091F5543}"/>
    <dgm:cxn modelId="{345EFF40-A554-4656-AA96-0B0DD392DD0D}" type="presOf" srcId="{75BE6033-D256-4063-AA1F-FF9A6B3553ED}" destId="{47932213-4E6D-4066-A8CE-039E2069B6B2}" srcOrd="0" destOrd="0" presId="urn:microsoft.com/office/officeart/2005/8/layout/process5"/>
    <dgm:cxn modelId="{133EE542-A945-43CD-BA76-6055B1D05486}" srcId="{9B93E35A-412C-4CCE-97F5-AEFBF8EF44E7}" destId="{0D1D4586-E4E9-455D-929B-55CBEE236F68}" srcOrd="2" destOrd="0" parTransId="{C6FDC417-61B7-4D93-B58A-EB3103EB6E6D}" sibTransId="{B8DB35DB-0FAB-44DB-9CB1-AE298C471490}"/>
    <dgm:cxn modelId="{220DFA47-4A72-46EC-9608-DF640671670C}" type="presOf" srcId="{774721C4-D5E1-460E-8668-1140091F5543}" destId="{0ECB1BDC-BB34-4230-8F35-C886542FDCD6}" srcOrd="1" destOrd="0" presId="urn:microsoft.com/office/officeart/2005/8/layout/process5"/>
    <dgm:cxn modelId="{C049A483-8419-4068-B2AF-7412A9136CD5}" srcId="{9B93E35A-412C-4CCE-97F5-AEFBF8EF44E7}" destId="{F40AF067-02FD-48D9-BA7F-39EA3149C0DD}" srcOrd="1" destOrd="0" parTransId="{CC68911E-66D4-4A77-A5CB-9D2B6854F436}" sibTransId="{E84F503B-DAAF-4796-AF4C-9E842A758CAD}"/>
    <dgm:cxn modelId="{B2A50897-1D76-4A6F-B71D-CCC8F49EFDDB}" type="presOf" srcId="{F40AF067-02FD-48D9-BA7F-39EA3149C0DD}" destId="{565A41AC-E884-402E-BB52-6F84041F4E21}" srcOrd="0" destOrd="0" presId="urn:microsoft.com/office/officeart/2005/8/layout/process5"/>
    <dgm:cxn modelId="{2C26BA9F-1B3C-4513-9D00-765732A317B8}" srcId="{75BE6033-D256-4063-AA1F-FF9A6B3553ED}" destId="{6BFBF032-5E99-4084-866B-02EE6B367BAD}" srcOrd="1" destOrd="0" parTransId="{B614E565-FFCE-4239-BC3A-3D5EFF63930E}" sibTransId="{E631EF44-83B5-4C5B-B9DD-10F356B89399}"/>
    <dgm:cxn modelId="{4D86BEBE-C89C-4B07-BE24-C6B3B533E580}" srcId="{75BE6033-D256-4063-AA1F-FF9A6B3553ED}" destId="{7E3F10A4-2806-4784-9797-52B12DA16C33}" srcOrd="0" destOrd="0" parTransId="{1682B41E-C136-42EC-ADA8-B32A62C6A9AD}" sibTransId="{82238684-B665-404C-BA16-118C18C8406E}"/>
    <dgm:cxn modelId="{A3B553D7-3C2F-45CA-9900-FA7C59C7EA51}" type="presOf" srcId="{0D1D4586-E4E9-455D-929B-55CBEE236F68}" destId="{9AEF2163-6300-442C-B5AC-741013987FFB}" srcOrd="0" destOrd="0" presId="urn:microsoft.com/office/officeart/2005/8/layout/process5"/>
    <dgm:cxn modelId="{5604BADF-2A1F-4DE3-BBF5-005EFBBE5DDE}" type="presOf" srcId="{9B93E35A-412C-4CCE-97F5-AEFBF8EF44E7}" destId="{0327ACDB-3E64-4E93-BEA1-FD43D732C128}" srcOrd="0" destOrd="0" presId="urn:microsoft.com/office/officeart/2005/8/layout/process5"/>
    <dgm:cxn modelId="{7CBB27E6-46AF-4A2C-8044-0416CBC6B784}" type="presOf" srcId="{774721C4-D5E1-460E-8668-1140091F5543}" destId="{4D309A3F-1EF6-4AA3-91E7-15907F3152CD}" srcOrd="0" destOrd="0" presId="urn:microsoft.com/office/officeart/2005/8/layout/process5"/>
    <dgm:cxn modelId="{D13D34EE-1A30-4E50-83AC-7AA2A4E6F8BD}" type="presOf" srcId="{6BFBF032-5E99-4084-866B-02EE6B367BAD}" destId="{47932213-4E6D-4066-A8CE-039E2069B6B2}" srcOrd="0" destOrd="2" presId="urn:microsoft.com/office/officeart/2005/8/layout/process5"/>
    <dgm:cxn modelId="{76461DF2-5F78-4D0E-A3A7-24B5B65E432A}" type="presOf" srcId="{E84F503B-DAAF-4796-AF4C-9E842A758CAD}" destId="{68FAC814-CB50-44AF-AEFB-6A3366935B3B}" srcOrd="0" destOrd="0" presId="urn:microsoft.com/office/officeart/2005/8/layout/process5"/>
    <dgm:cxn modelId="{74DC3A36-4FC8-41AB-85BA-4DC53A61A941}" type="presParOf" srcId="{0327ACDB-3E64-4E93-BEA1-FD43D732C128}" destId="{47932213-4E6D-4066-A8CE-039E2069B6B2}" srcOrd="0" destOrd="0" presId="urn:microsoft.com/office/officeart/2005/8/layout/process5"/>
    <dgm:cxn modelId="{9C367742-44D1-4332-AA2D-51EC3DB70466}" type="presParOf" srcId="{0327ACDB-3E64-4E93-BEA1-FD43D732C128}" destId="{4D309A3F-1EF6-4AA3-91E7-15907F3152CD}" srcOrd="1" destOrd="0" presId="urn:microsoft.com/office/officeart/2005/8/layout/process5"/>
    <dgm:cxn modelId="{3E569454-D716-4930-BE46-C8910F67DD70}" type="presParOf" srcId="{4D309A3F-1EF6-4AA3-91E7-15907F3152CD}" destId="{0ECB1BDC-BB34-4230-8F35-C886542FDCD6}" srcOrd="0" destOrd="0" presId="urn:microsoft.com/office/officeart/2005/8/layout/process5"/>
    <dgm:cxn modelId="{CF910411-DE73-4EA3-A718-2919DECECCED}" type="presParOf" srcId="{0327ACDB-3E64-4E93-BEA1-FD43D732C128}" destId="{565A41AC-E884-402E-BB52-6F84041F4E21}" srcOrd="2" destOrd="0" presId="urn:microsoft.com/office/officeart/2005/8/layout/process5"/>
    <dgm:cxn modelId="{1787FAB0-18CB-4CA2-8142-CF1E0DB795C2}" type="presParOf" srcId="{0327ACDB-3E64-4E93-BEA1-FD43D732C128}" destId="{68FAC814-CB50-44AF-AEFB-6A3366935B3B}" srcOrd="3" destOrd="0" presId="urn:microsoft.com/office/officeart/2005/8/layout/process5"/>
    <dgm:cxn modelId="{E5F26298-3910-431A-8A9D-E628D788CB58}" type="presParOf" srcId="{68FAC814-CB50-44AF-AEFB-6A3366935B3B}" destId="{1E651D18-443D-43A6-8B7E-F5591E6DA26B}" srcOrd="0" destOrd="0" presId="urn:microsoft.com/office/officeart/2005/8/layout/process5"/>
    <dgm:cxn modelId="{989562D7-754C-4182-939A-635E89A17DB3}" type="presParOf" srcId="{0327ACDB-3E64-4E93-BEA1-FD43D732C128}" destId="{9AEF2163-6300-442C-B5AC-741013987FFB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305AA0-91C3-40CE-B876-C3A2701C8455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D04D5930-9369-45D4-8B01-9E8D84E72977}">
      <dgm:prSet/>
      <dgm:spPr/>
      <dgm:t>
        <a:bodyPr/>
        <a:lstStyle/>
        <a:p>
          <a:r>
            <a:rPr lang="en-GB"/>
            <a:t>Expenditure, income, and output are in a circular flow</a:t>
          </a:r>
          <a:endParaRPr lang="en-NZ" dirty="0"/>
        </a:p>
      </dgm:t>
    </dgm:pt>
    <dgm:pt modelId="{E8D5565D-D2B7-4F15-9B02-3B5B8FA273F3}" type="parTrans" cxnId="{3C5D9775-BFC4-49E7-BD12-1D0C36A8D1F4}">
      <dgm:prSet/>
      <dgm:spPr/>
      <dgm:t>
        <a:bodyPr/>
        <a:lstStyle/>
        <a:p>
          <a:endParaRPr lang="en-NZ"/>
        </a:p>
      </dgm:t>
    </dgm:pt>
    <dgm:pt modelId="{7F6972D9-8BD9-41E4-BB43-3248D46BFFEF}" type="sibTrans" cxnId="{3C5D9775-BFC4-49E7-BD12-1D0C36A8D1F4}">
      <dgm:prSet/>
      <dgm:spPr/>
      <dgm:t>
        <a:bodyPr/>
        <a:lstStyle/>
        <a:p>
          <a:endParaRPr lang="en-NZ"/>
        </a:p>
      </dgm:t>
    </dgm:pt>
    <dgm:pt modelId="{6DF7D79A-E606-4E39-9B9E-7C47AE825641}">
      <dgm:prSet/>
      <dgm:spPr/>
      <dgm:t>
        <a:bodyPr/>
        <a:lstStyle/>
        <a:p>
          <a:r>
            <a:rPr lang="en-US" dirty="0"/>
            <a:t>The </a:t>
          </a:r>
          <a:r>
            <a:rPr lang="en-US" b="1" dirty="0"/>
            <a:t>multiplier</a:t>
          </a:r>
          <a:r>
            <a:rPr lang="en-US" dirty="0"/>
            <a:t> represents the relative magnitude of this change.</a:t>
          </a:r>
          <a:endParaRPr lang="en-NZ" dirty="0"/>
        </a:p>
      </dgm:t>
    </dgm:pt>
    <dgm:pt modelId="{A2E09B46-DEFC-4070-ABCD-449CA5AA8EBF}" type="parTrans" cxnId="{19FA35B8-1C4C-464C-9FA2-658577BC649C}">
      <dgm:prSet/>
      <dgm:spPr/>
      <dgm:t>
        <a:bodyPr/>
        <a:lstStyle/>
        <a:p>
          <a:endParaRPr lang="en-NZ"/>
        </a:p>
      </dgm:t>
    </dgm:pt>
    <dgm:pt modelId="{F25BF1E9-7D62-416C-8D03-613271795194}" type="sibTrans" cxnId="{19FA35B8-1C4C-464C-9FA2-658577BC649C}">
      <dgm:prSet/>
      <dgm:spPr/>
      <dgm:t>
        <a:bodyPr/>
        <a:lstStyle/>
        <a:p>
          <a:endParaRPr lang="en-NZ"/>
        </a:p>
      </dgm:t>
    </dgm:pt>
    <dgm:pt modelId="{96BB71D6-3D94-4054-8538-F505B3955651}">
      <dgm:prSet/>
      <dgm:spPr/>
      <dgm:t>
        <a:bodyPr/>
        <a:lstStyle/>
        <a:p>
          <a:r>
            <a:rPr lang="en-GB"/>
            <a:t>multiplier = 1: the increase in GDP = the initial increase in spending</a:t>
          </a:r>
          <a:endParaRPr lang="en-NZ"/>
        </a:p>
      </dgm:t>
    </dgm:pt>
    <dgm:pt modelId="{CDD88A0C-791B-47AC-BA49-CF5E806DD881}" type="parTrans" cxnId="{7BE3349E-F31A-4B41-A1E5-A00CEB8AAC28}">
      <dgm:prSet/>
      <dgm:spPr/>
      <dgm:t>
        <a:bodyPr/>
        <a:lstStyle/>
        <a:p>
          <a:endParaRPr lang="en-NZ"/>
        </a:p>
      </dgm:t>
    </dgm:pt>
    <dgm:pt modelId="{B64D8129-2730-427D-81FE-68F81B97AA93}" type="sibTrans" cxnId="{7BE3349E-F31A-4B41-A1E5-A00CEB8AAC28}">
      <dgm:prSet/>
      <dgm:spPr/>
      <dgm:t>
        <a:bodyPr/>
        <a:lstStyle/>
        <a:p>
          <a:endParaRPr lang="en-NZ"/>
        </a:p>
      </dgm:t>
    </dgm:pt>
    <dgm:pt modelId="{F8815F3A-9BAD-4C20-A014-4AEF58DA7DBA}">
      <dgm:prSet/>
      <dgm:spPr/>
      <dgm:t>
        <a:bodyPr/>
        <a:lstStyle/>
        <a:p>
          <a:r>
            <a:rPr lang="en-GB" dirty="0"/>
            <a:t>multiplier  &lt; 1: the total increase in GDP &gt; the initial increase in spending</a:t>
          </a:r>
          <a:endParaRPr lang="en-NZ" dirty="0"/>
        </a:p>
      </dgm:t>
    </dgm:pt>
    <dgm:pt modelId="{0B213E57-A379-4ECD-AF32-0FD7A3428187}" type="parTrans" cxnId="{4F06B45B-2237-4CF7-906F-863CDFBF4D39}">
      <dgm:prSet/>
      <dgm:spPr/>
      <dgm:t>
        <a:bodyPr/>
        <a:lstStyle/>
        <a:p>
          <a:endParaRPr lang="en-NZ"/>
        </a:p>
      </dgm:t>
    </dgm:pt>
    <dgm:pt modelId="{805A876D-B08B-4744-8154-2A07955EBC6D}" type="sibTrans" cxnId="{4F06B45B-2237-4CF7-906F-863CDFBF4D39}">
      <dgm:prSet/>
      <dgm:spPr/>
      <dgm:t>
        <a:bodyPr/>
        <a:lstStyle/>
        <a:p>
          <a:endParaRPr lang="en-NZ"/>
        </a:p>
      </dgm:t>
    </dgm:pt>
    <dgm:pt modelId="{67C48090-C0A5-4DF9-A138-DBC9306CCD51}" type="pres">
      <dgm:prSet presAssocID="{DA305AA0-91C3-40CE-B876-C3A2701C8455}" presName="Name0" presStyleCnt="0">
        <dgm:presLayoutVars>
          <dgm:dir/>
          <dgm:resizeHandles val="exact"/>
        </dgm:presLayoutVars>
      </dgm:prSet>
      <dgm:spPr/>
    </dgm:pt>
    <dgm:pt modelId="{6EDF3B09-0852-44A1-B5E3-2EE85A2C0225}" type="pres">
      <dgm:prSet presAssocID="{DA305AA0-91C3-40CE-B876-C3A2701C8455}" presName="arrow" presStyleLbl="bgShp" presStyleIdx="0" presStyleCnt="1"/>
      <dgm:spPr/>
    </dgm:pt>
    <dgm:pt modelId="{630280F2-E716-4BFF-9DCF-F0379060446C}" type="pres">
      <dgm:prSet presAssocID="{DA305AA0-91C3-40CE-B876-C3A2701C8455}" presName="points" presStyleCnt="0"/>
      <dgm:spPr/>
    </dgm:pt>
    <dgm:pt modelId="{0EBEB62D-7593-40B1-99EC-B85FA748C660}" type="pres">
      <dgm:prSet presAssocID="{D04D5930-9369-45D4-8B01-9E8D84E72977}" presName="compositeA" presStyleCnt="0"/>
      <dgm:spPr/>
    </dgm:pt>
    <dgm:pt modelId="{BFFE49D3-D54A-4C4A-9A4F-6A7776A23B67}" type="pres">
      <dgm:prSet presAssocID="{D04D5930-9369-45D4-8B01-9E8D84E72977}" presName="textA" presStyleLbl="revTx" presStyleIdx="0" presStyleCnt="4">
        <dgm:presLayoutVars>
          <dgm:bulletEnabled val="1"/>
        </dgm:presLayoutVars>
      </dgm:prSet>
      <dgm:spPr/>
    </dgm:pt>
    <dgm:pt modelId="{3D36035C-5C34-455C-A832-9246E01B4A25}" type="pres">
      <dgm:prSet presAssocID="{D04D5930-9369-45D4-8B01-9E8D84E72977}" presName="circleA" presStyleLbl="node1" presStyleIdx="0" presStyleCnt="4"/>
      <dgm:spPr/>
    </dgm:pt>
    <dgm:pt modelId="{66064D4A-B822-4FBB-8179-74468E4BF96D}" type="pres">
      <dgm:prSet presAssocID="{D04D5930-9369-45D4-8B01-9E8D84E72977}" presName="spaceA" presStyleCnt="0"/>
      <dgm:spPr/>
    </dgm:pt>
    <dgm:pt modelId="{7A6652F5-87E5-4AC9-B64A-C379A90B86BB}" type="pres">
      <dgm:prSet presAssocID="{7F6972D9-8BD9-41E4-BB43-3248D46BFFEF}" presName="space" presStyleCnt="0"/>
      <dgm:spPr/>
    </dgm:pt>
    <dgm:pt modelId="{B421944B-0006-4234-BDF8-4CAD05018408}" type="pres">
      <dgm:prSet presAssocID="{6DF7D79A-E606-4E39-9B9E-7C47AE825641}" presName="compositeB" presStyleCnt="0"/>
      <dgm:spPr/>
    </dgm:pt>
    <dgm:pt modelId="{27907894-3D09-483F-A82E-2F55EC93B5A2}" type="pres">
      <dgm:prSet presAssocID="{6DF7D79A-E606-4E39-9B9E-7C47AE825641}" presName="textB" presStyleLbl="revTx" presStyleIdx="1" presStyleCnt="4">
        <dgm:presLayoutVars>
          <dgm:bulletEnabled val="1"/>
        </dgm:presLayoutVars>
      </dgm:prSet>
      <dgm:spPr/>
    </dgm:pt>
    <dgm:pt modelId="{0C2930BF-21FE-4C99-8472-635236614EB3}" type="pres">
      <dgm:prSet presAssocID="{6DF7D79A-E606-4E39-9B9E-7C47AE825641}" presName="circleB" presStyleLbl="node1" presStyleIdx="1" presStyleCnt="4"/>
      <dgm:spPr/>
    </dgm:pt>
    <dgm:pt modelId="{17B2F02F-C3BD-4B14-A918-6849673E3C62}" type="pres">
      <dgm:prSet presAssocID="{6DF7D79A-E606-4E39-9B9E-7C47AE825641}" presName="spaceB" presStyleCnt="0"/>
      <dgm:spPr/>
    </dgm:pt>
    <dgm:pt modelId="{270B5479-B4C3-4A4B-9789-19A0D8836346}" type="pres">
      <dgm:prSet presAssocID="{F25BF1E9-7D62-416C-8D03-613271795194}" presName="space" presStyleCnt="0"/>
      <dgm:spPr/>
    </dgm:pt>
    <dgm:pt modelId="{5152F9D0-9860-48FA-95E1-16A90A45DE30}" type="pres">
      <dgm:prSet presAssocID="{96BB71D6-3D94-4054-8538-F505B3955651}" presName="compositeA" presStyleCnt="0"/>
      <dgm:spPr/>
    </dgm:pt>
    <dgm:pt modelId="{86F914EA-F48D-4A69-844F-4F99B88903EA}" type="pres">
      <dgm:prSet presAssocID="{96BB71D6-3D94-4054-8538-F505B3955651}" presName="textA" presStyleLbl="revTx" presStyleIdx="2" presStyleCnt="4">
        <dgm:presLayoutVars>
          <dgm:bulletEnabled val="1"/>
        </dgm:presLayoutVars>
      </dgm:prSet>
      <dgm:spPr/>
    </dgm:pt>
    <dgm:pt modelId="{4D5A8DDC-7247-4C6B-A3A8-28658CE1B4F0}" type="pres">
      <dgm:prSet presAssocID="{96BB71D6-3D94-4054-8538-F505B3955651}" presName="circleA" presStyleLbl="node1" presStyleIdx="2" presStyleCnt="4"/>
      <dgm:spPr/>
    </dgm:pt>
    <dgm:pt modelId="{3912A930-D36B-47C5-859A-6FC4C38D5509}" type="pres">
      <dgm:prSet presAssocID="{96BB71D6-3D94-4054-8538-F505B3955651}" presName="spaceA" presStyleCnt="0"/>
      <dgm:spPr/>
    </dgm:pt>
    <dgm:pt modelId="{074AD913-8B15-4084-9C31-130D93EE3B69}" type="pres">
      <dgm:prSet presAssocID="{B64D8129-2730-427D-81FE-68F81B97AA93}" presName="space" presStyleCnt="0"/>
      <dgm:spPr/>
    </dgm:pt>
    <dgm:pt modelId="{BC8E1389-D705-4262-AD58-343CB90AA7A1}" type="pres">
      <dgm:prSet presAssocID="{F8815F3A-9BAD-4C20-A014-4AEF58DA7DBA}" presName="compositeB" presStyleCnt="0"/>
      <dgm:spPr/>
    </dgm:pt>
    <dgm:pt modelId="{07A55F53-1892-43B8-B42B-02DD89684FD1}" type="pres">
      <dgm:prSet presAssocID="{F8815F3A-9BAD-4C20-A014-4AEF58DA7DBA}" presName="textB" presStyleLbl="revTx" presStyleIdx="3" presStyleCnt="4">
        <dgm:presLayoutVars>
          <dgm:bulletEnabled val="1"/>
        </dgm:presLayoutVars>
      </dgm:prSet>
      <dgm:spPr/>
    </dgm:pt>
    <dgm:pt modelId="{40BB606B-7057-4AE2-AA4F-ACE856C640F6}" type="pres">
      <dgm:prSet presAssocID="{F8815F3A-9BAD-4C20-A014-4AEF58DA7DBA}" presName="circleB" presStyleLbl="node1" presStyleIdx="3" presStyleCnt="4"/>
      <dgm:spPr/>
    </dgm:pt>
    <dgm:pt modelId="{5996C756-F61B-46BF-9394-09AFBA2D2A2D}" type="pres">
      <dgm:prSet presAssocID="{F8815F3A-9BAD-4C20-A014-4AEF58DA7DBA}" presName="spaceB" presStyleCnt="0"/>
      <dgm:spPr/>
    </dgm:pt>
  </dgm:ptLst>
  <dgm:cxnLst>
    <dgm:cxn modelId="{BAA5EF4D-C250-4089-8D13-20451575F12C}" type="presOf" srcId="{6DF7D79A-E606-4E39-9B9E-7C47AE825641}" destId="{27907894-3D09-483F-A82E-2F55EC93B5A2}" srcOrd="0" destOrd="0" presId="urn:microsoft.com/office/officeart/2005/8/layout/hProcess11"/>
    <dgm:cxn modelId="{4F06B45B-2237-4CF7-906F-863CDFBF4D39}" srcId="{DA305AA0-91C3-40CE-B876-C3A2701C8455}" destId="{F8815F3A-9BAD-4C20-A014-4AEF58DA7DBA}" srcOrd="3" destOrd="0" parTransId="{0B213E57-A379-4ECD-AF32-0FD7A3428187}" sibTransId="{805A876D-B08B-4744-8154-2A07955EBC6D}"/>
    <dgm:cxn modelId="{282A7B67-8191-48CC-B7D4-C665C28D6E82}" type="presOf" srcId="{96BB71D6-3D94-4054-8538-F505B3955651}" destId="{86F914EA-F48D-4A69-844F-4F99B88903EA}" srcOrd="0" destOrd="0" presId="urn:microsoft.com/office/officeart/2005/8/layout/hProcess11"/>
    <dgm:cxn modelId="{3C5D9775-BFC4-49E7-BD12-1D0C36A8D1F4}" srcId="{DA305AA0-91C3-40CE-B876-C3A2701C8455}" destId="{D04D5930-9369-45D4-8B01-9E8D84E72977}" srcOrd="0" destOrd="0" parTransId="{E8D5565D-D2B7-4F15-9B02-3B5B8FA273F3}" sibTransId="{7F6972D9-8BD9-41E4-BB43-3248D46BFFEF}"/>
    <dgm:cxn modelId="{B0EDFD91-FDE6-49A8-8036-7B2C68FB6640}" type="presOf" srcId="{F8815F3A-9BAD-4C20-A014-4AEF58DA7DBA}" destId="{07A55F53-1892-43B8-B42B-02DD89684FD1}" srcOrd="0" destOrd="0" presId="urn:microsoft.com/office/officeart/2005/8/layout/hProcess11"/>
    <dgm:cxn modelId="{7BE3349E-F31A-4B41-A1E5-A00CEB8AAC28}" srcId="{DA305AA0-91C3-40CE-B876-C3A2701C8455}" destId="{96BB71D6-3D94-4054-8538-F505B3955651}" srcOrd="2" destOrd="0" parTransId="{CDD88A0C-791B-47AC-BA49-CF5E806DD881}" sibTransId="{B64D8129-2730-427D-81FE-68F81B97AA93}"/>
    <dgm:cxn modelId="{19FA35B8-1C4C-464C-9FA2-658577BC649C}" srcId="{DA305AA0-91C3-40CE-B876-C3A2701C8455}" destId="{6DF7D79A-E606-4E39-9B9E-7C47AE825641}" srcOrd="1" destOrd="0" parTransId="{A2E09B46-DEFC-4070-ABCD-449CA5AA8EBF}" sibTransId="{F25BF1E9-7D62-416C-8D03-613271795194}"/>
    <dgm:cxn modelId="{4664E6C6-409B-44A2-A8C3-3712ECB222F7}" type="presOf" srcId="{D04D5930-9369-45D4-8B01-9E8D84E72977}" destId="{BFFE49D3-D54A-4C4A-9A4F-6A7776A23B67}" srcOrd="0" destOrd="0" presId="urn:microsoft.com/office/officeart/2005/8/layout/hProcess11"/>
    <dgm:cxn modelId="{D03631EB-E3D9-4459-BC74-118A9C3AF718}" type="presOf" srcId="{DA305AA0-91C3-40CE-B876-C3A2701C8455}" destId="{67C48090-C0A5-4DF9-A138-DBC9306CCD51}" srcOrd="0" destOrd="0" presId="urn:microsoft.com/office/officeart/2005/8/layout/hProcess11"/>
    <dgm:cxn modelId="{11474168-E047-4A47-873F-E957F331660C}" type="presParOf" srcId="{67C48090-C0A5-4DF9-A138-DBC9306CCD51}" destId="{6EDF3B09-0852-44A1-B5E3-2EE85A2C0225}" srcOrd="0" destOrd="0" presId="urn:microsoft.com/office/officeart/2005/8/layout/hProcess11"/>
    <dgm:cxn modelId="{597E8C51-226F-4E75-8307-4941261FE423}" type="presParOf" srcId="{67C48090-C0A5-4DF9-A138-DBC9306CCD51}" destId="{630280F2-E716-4BFF-9DCF-F0379060446C}" srcOrd="1" destOrd="0" presId="urn:microsoft.com/office/officeart/2005/8/layout/hProcess11"/>
    <dgm:cxn modelId="{9496DABE-7308-4B80-93B1-39D5D35BAA7B}" type="presParOf" srcId="{630280F2-E716-4BFF-9DCF-F0379060446C}" destId="{0EBEB62D-7593-40B1-99EC-B85FA748C660}" srcOrd="0" destOrd="0" presId="urn:microsoft.com/office/officeart/2005/8/layout/hProcess11"/>
    <dgm:cxn modelId="{5ED251B1-E3A4-447D-9509-94715E7DB17F}" type="presParOf" srcId="{0EBEB62D-7593-40B1-99EC-B85FA748C660}" destId="{BFFE49D3-D54A-4C4A-9A4F-6A7776A23B67}" srcOrd="0" destOrd="0" presId="urn:microsoft.com/office/officeart/2005/8/layout/hProcess11"/>
    <dgm:cxn modelId="{62451F7D-54A7-42EF-AAA8-582377286DFD}" type="presParOf" srcId="{0EBEB62D-7593-40B1-99EC-B85FA748C660}" destId="{3D36035C-5C34-455C-A832-9246E01B4A25}" srcOrd="1" destOrd="0" presId="urn:microsoft.com/office/officeart/2005/8/layout/hProcess11"/>
    <dgm:cxn modelId="{24975AE9-3261-4F2B-ACB8-3BE5CE177984}" type="presParOf" srcId="{0EBEB62D-7593-40B1-99EC-B85FA748C660}" destId="{66064D4A-B822-4FBB-8179-74468E4BF96D}" srcOrd="2" destOrd="0" presId="urn:microsoft.com/office/officeart/2005/8/layout/hProcess11"/>
    <dgm:cxn modelId="{97055741-B5AD-4F64-9FDE-F2D941A47587}" type="presParOf" srcId="{630280F2-E716-4BFF-9DCF-F0379060446C}" destId="{7A6652F5-87E5-4AC9-B64A-C379A90B86BB}" srcOrd="1" destOrd="0" presId="urn:microsoft.com/office/officeart/2005/8/layout/hProcess11"/>
    <dgm:cxn modelId="{3E42AC1D-7B74-4B1E-8DAB-58B10A42A512}" type="presParOf" srcId="{630280F2-E716-4BFF-9DCF-F0379060446C}" destId="{B421944B-0006-4234-BDF8-4CAD05018408}" srcOrd="2" destOrd="0" presId="urn:microsoft.com/office/officeart/2005/8/layout/hProcess11"/>
    <dgm:cxn modelId="{0E530A05-53E3-4B46-BE13-3B5746E83ACD}" type="presParOf" srcId="{B421944B-0006-4234-BDF8-4CAD05018408}" destId="{27907894-3D09-483F-A82E-2F55EC93B5A2}" srcOrd="0" destOrd="0" presId="urn:microsoft.com/office/officeart/2005/8/layout/hProcess11"/>
    <dgm:cxn modelId="{A72C1CF3-251D-4ABA-BE32-B417C31C9A47}" type="presParOf" srcId="{B421944B-0006-4234-BDF8-4CAD05018408}" destId="{0C2930BF-21FE-4C99-8472-635236614EB3}" srcOrd="1" destOrd="0" presId="urn:microsoft.com/office/officeart/2005/8/layout/hProcess11"/>
    <dgm:cxn modelId="{629DEFBF-FDE5-4714-AB1E-9ED197D47EB9}" type="presParOf" srcId="{B421944B-0006-4234-BDF8-4CAD05018408}" destId="{17B2F02F-C3BD-4B14-A918-6849673E3C62}" srcOrd="2" destOrd="0" presId="urn:microsoft.com/office/officeart/2005/8/layout/hProcess11"/>
    <dgm:cxn modelId="{2D44570C-7109-4A76-B39F-7BC556E17373}" type="presParOf" srcId="{630280F2-E716-4BFF-9DCF-F0379060446C}" destId="{270B5479-B4C3-4A4B-9789-19A0D8836346}" srcOrd="3" destOrd="0" presId="urn:microsoft.com/office/officeart/2005/8/layout/hProcess11"/>
    <dgm:cxn modelId="{E3B549A9-9584-4F29-851E-EF51A365BFE3}" type="presParOf" srcId="{630280F2-E716-4BFF-9DCF-F0379060446C}" destId="{5152F9D0-9860-48FA-95E1-16A90A45DE30}" srcOrd="4" destOrd="0" presId="urn:microsoft.com/office/officeart/2005/8/layout/hProcess11"/>
    <dgm:cxn modelId="{828DD875-7925-432D-A44B-E8F026A562DB}" type="presParOf" srcId="{5152F9D0-9860-48FA-95E1-16A90A45DE30}" destId="{86F914EA-F48D-4A69-844F-4F99B88903EA}" srcOrd="0" destOrd="0" presId="urn:microsoft.com/office/officeart/2005/8/layout/hProcess11"/>
    <dgm:cxn modelId="{BB18C798-4F14-4C6B-B8FD-85E1F549038A}" type="presParOf" srcId="{5152F9D0-9860-48FA-95E1-16A90A45DE30}" destId="{4D5A8DDC-7247-4C6B-A3A8-28658CE1B4F0}" srcOrd="1" destOrd="0" presId="urn:microsoft.com/office/officeart/2005/8/layout/hProcess11"/>
    <dgm:cxn modelId="{994A869E-B7E6-4F4F-847A-83EAFF74EF36}" type="presParOf" srcId="{5152F9D0-9860-48FA-95E1-16A90A45DE30}" destId="{3912A930-D36B-47C5-859A-6FC4C38D5509}" srcOrd="2" destOrd="0" presId="urn:microsoft.com/office/officeart/2005/8/layout/hProcess11"/>
    <dgm:cxn modelId="{B0D80545-11B4-4E23-90F2-F747E7301EDC}" type="presParOf" srcId="{630280F2-E716-4BFF-9DCF-F0379060446C}" destId="{074AD913-8B15-4084-9C31-130D93EE3B69}" srcOrd="5" destOrd="0" presId="urn:microsoft.com/office/officeart/2005/8/layout/hProcess11"/>
    <dgm:cxn modelId="{D37F09D0-7D3A-447B-A45E-5490F24375C8}" type="presParOf" srcId="{630280F2-E716-4BFF-9DCF-F0379060446C}" destId="{BC8E1389-D705-4262-AD58-343CB90AA7A1}" srcOrd="6" destOrd="0" presId="urn:microsoft.com/office/officeart/2005/8/layout/hProcess11"/>
    <dgm:cxn modelId="{B28D90A6-6271-48C5-BE60-B00037CC4292}" type="presParOf" srcId="{BC8E1389-D705-4262-AD58-343CB90AA7A1}" destId="{07A55F53-1892-43B8-B42B-02DD89684FD1}" srcOrd="0" destOrd="0" presId="urn:microsoft.com/office/officeart/2005/8/layout/hProcess11"/>
    <dgm:cxn modelId="{C5155848-49C7-498F-A4F1-98E6E36C6E92}" type="presParOf" srcId="{BC8E1389-D705-4262-AD58-343CB90AA7A1}" destId="{40BB606B-7057-4AE2-AA4F-ACE856C640F6}" srcOrd="1" destOrd="0" presId="urn:microsoft.com/office/officeart/2005/8/layout/hProcess11"/>
    <dgm:cxn modelId="{AA7E9D7A-3F08-4A56-BF29-EA32916844C8}" type="presParOf" srcId="{BC8E1389-D705-4262-AD58-343CB90AA7A1}" destId="{5996C756-F61B-46BF-9394-09AFBA2D2A2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F8818E2-98FD-4F2C-9499-D60A3ED7BD03}" type="doc">
      <dgm:prSet loTypeId="urn:microsoft.com/office/officeart/2005/8/layout/vList2" loCatId="list" qsTypeId="urn:microsoft.com/office/officeart/2005/8/quickstyle/simple4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8FB0DE41-49AC-46C8-AF87-619C2CB3AF38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Consumption decisions can also </a:t>
          </a:r>
          <a:r>
            <a:rPr lang="en-GB" u="sng" dirty="0"/>
            <a:t>shift the AD curve</a:t>
          </a:r>
          <a:r>
            <a:rPr lang="en-GB" dirty="0"/>
            <a:t>.</a:t>
          </a:r>
          <a:endParaRPr lang="en-US" dirty="0"/>
        </a:p>
      </dgm:t>
    </dgm:pt>
    <dgm:pt modelId="{2C04366E-1CCE-4D8B-90BB-0BB9069B87C6}" type="parTrans" cxnId="{7A67D372-70B8-4C80-BA6E-73D9A42D479A}">
      <dgm:prSet/>
      <dgm:spPr/>
      <dgm:t>
        <a:bodyPr/>
        <a:lstStyle/>
        <a:p>
          <a:endParaRPr lang="en-US"/>
        </a:p>
      </dgm:t>
    </dgm:pt>
    <dgm:pt modelId="{BA213AC4-716A-4D1E-967D-B33EE4BEFD57}" type="sibTrans" cxnId="{7A67D372-70B8-4C80-BA6E-73D9A42D479A}">
      <dgm:prSet/>
      <dgm:spPr/>
      <dgm:t>
        <a:bodyPr/>
        <a:lstStyle/>
        <a:p>
          <a:endParaRPr lang="en-US"/>
        </a:p>
      </dgm:t>
    </dgm:pt>
    <dgm:pt modelId="{D4643638-77FD-4E2C-8014-D45CA0607DCD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GB" dirty="0"/>
            <a:t>E.g. fall in house prices will be bad news for a household with a mortgage. </a:t>
          </a:r>
          <a:endParaRPr lang="en-US" dirty="0"/>
        </a:p>
      </dgm:t>
    </dgm:pt>
    <dgm:pt modelId="{32608BA8-85CF-46E2-8AA3-D5F0224E4B1D}" type="parTrans" cxnId="{054A8878-53CF-457C-A816-B45AAAA35F66}">
      <dgm:prSet/>
      <dgm:spPr/>
      <dgm:t>
        <a:bodyPr/>
        <a:lstStyle/>
        <a:p>
          <a:endParaRPr lang="en-US"/>
        </a:p>
      </dgm:t>
    </dgm:pt>
    <dgm:pt modelId="{89E76AD3-2C82-4647-8FC6-F3662D3BDF5B}" type="sibTrans" cxnId="{054A8878-53CF-457C-A816-B45AAAA35F66}">
      <dgm:prSet/>
      <dgm:spPr/>
      <dgm:t>
        <a:bodyPr/>
        <a:lstStyle/>
        <a:p>
          <a:endParaRPr lang="en-US"/>
        </a:p>
      </dgm:t>
    </dgm:pt>
    <dgm:pt modelId="{33CE7470-8B68-430D-AC15-6E070693F6DC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GB" dirty="0"/>
            <a:t> hence their autonomous consumption would fall.</a:t>
          </a:r>
          <a:endParaRPr lang="en-US" dirty="0"/>
        </a:p>
      </dgm:t>
    </dgm:pt>
    <dgm:pt modelId="{D4D05DB1-26B0-45DE-9533-BCF734C3B714}" type="parTrans" cxnId="{0D89F1D8-2070-435A-9A4B-A93C84E93705}">
      <dgm:prSet/>
      <dgm:spPr/>
      <dgm:t>
        <a:bodyPr/>
        <a:lstStyle/>
        <a:p>
          <a:endParaRPr lang="en-NZ"/>
        </a:p>
      </dgm:t>
    </dgm:pt>
    <dgm:pt modelId="{CE0E0AE5-DD0C-4397-9E3B-0DECBEBAB2CB}" type="sibTrans" cxnId="{0D89F1D8-2070-435A-9A4B-A93C84E93705}">
      <dgm:prSet/>
      <dgm:spPr/>
      <dgm:t>
        <a:bodyPr/>
        <a:lstStyle/>
        <a:p>
          <a:endParaRPr lang="en-NZ"/>
        </a:p>
      </dgm:t>
    </dgm:pt>
    <dgm:pt modelId="{13E02603-88DF-4455-A736-81CCDB57EE68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GB" dirty="0"/>
            <a:t>They may choose to save more (</a:t>
          </a:r>
          <a:r>
            <a:rPr lang="en-GB" b="1" dirty="0"/>
            <a:t>precautionary saving</a:t>
          </a:r>
          <a:r>
            <a:rPr lang="en-GB" dirty="0"/>
            <a:t>)</a:t>
          </a:r>
          <a:endParaRPr lang="en-US" dirty="0"/>
        </a:p>
      </dgm:t>
    </dgm:pt>
    <dgm:pt modelId="{7B827996-8BE5-40C2-8DC9-8B88888BDE7B}" type="parTrans" cxnId="{5225D3A7-F616-4432-B4B1-64113F1FC609}">
      <dgm:prSet/>
      <dgm:spPr/>
      <dgm:t>
        <a:bodyPr/>
        <a:lstStyle/>
        <a:p>
          <a:endParaRPr lang="en-NZ"/>
        </a:p>
      </dgm:t>
    </dgm:pt>
    <dgm:pt modelId="{048E361F-CF3B-47E4-931E-379000D9DD34}" type="sibTrans" cxnId="{5225D3A7-F616-4432-B4B1-64113F1FC609}">
      <dgm:prSet/>
      <dgm:spPr/>
      <dgm:t>
        <a:bodyPr/>
        <a:lstStyle/>
        <a:p>
          <a:endParaRPr lang="en-NZ"/>
        </a:p>
      </dgm:t>
    </dgm:pt>
    <dgm:pt modelId="{898E9B3F-E4BB-45F6-A7C6-F282A6907410}" type="pres">
      <dgm:prSet presAssocID="{FF8818E2-98FD-4F2C-9499-D60A3ED7BD03}" presName="linear" presStyleCnt="0">
        <dgm:presLayoutVars>
          <dgm:animLvl val="lvl"/>
          <dgm:resizeHandles val="exact"/>
        </dgm:presLayoutVars>
      </dgm:prSet>
      <dgm:spPr/>
    </dgm:pt>
    <dgm:pt modelId="{A426F1E2-27B1-4B53-8905-F5B4FD5372EC}" type="pres">
      <dgm:prSet presAssocID="{8FB0DE41-49AC-46C8-AF87-619C2CB3AF3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FCADEE7-36DC-41D4-A525-7FC6095421B1}" type="pres">
      <dgm:prSet presAssocID="{8FB0DE41-49AC-46C8-AF87-619C2CB3AF3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3BFD516-62B9-46B3-B5F0-9AE925E66898}" type="presOf" srcId="{D4643638-77FD-4E2C-8014-D45CA0607DCD}" destId="{0FCADEE7-36DC-41D4-A525-7FC6095421B1}" srcOrd="0" destOrd="0" presId="urn:microsoft.com/office/officeart/2005/8/layout/vList2"/>
    <dgm:cxn modelId="{43DEFA50-5F8D-4BB7-B3A1-88F8AC110866}" type="presOf" srcId="{33CE7470-8B68-430D-AC15-6E070693F6DC}" destId="{0FCADEE7-36DC-41D4-A525-7FC6095421B1}" srcOrd="0" destOrd="2" presId="urn:microsoft.com/office/officeart/2005/8/layout/vList2"/>
    <dgm:cxn modelId="{7A67D372-70B8-4C80-BA6E-73D9A42D479A}" srcId="{FF8818E2-98FD-4F2C-9499-D60A3ED7BD03}" destId="{8FB0DE41-49AC-46C8-AF87-619C2CB3AF38}" srcOrd="0" destOrd="0" parTransId="{2C04366E-1CCE-4D8B-90BB-0BB9069B87C6}" sibTransId="{BA213AC4-716A-4D1E-967D-B33EE4BEFD57}"/>
    <dgm:cxn modelId="{054A8878-53CF-457C-A816-B45AAAA35F66}" srcId="{8FB0DE41-49AC-46C8-AF87-619C2CB3AF38}" destId="{D4643638-77FD-4E2C-8014-D45CA0607DCD}" srcOrd="0" destOrd="0" parTransId="{32608BA8-85CF-46E2-8AA3-D5F0224E4B1D}" sibTransId="{89E76AD3-2C82-4647-8FC6-F3662D3BDF5B}"/>
    <dgm:cxn modelId="{D48559A5-188E-40F6-A74F-71FF2BCEE3A5}" type="presOf" srcId="{8FB0DE41-49AC-46C8-AF87-619C2CB3AF38}" destId="{A426F1E2-27B1-4B53-8905-F5B4FD5372EC}" srcOrd="0" destOrd="0" presId="urn:microsoft.com/office/officeart/2005/8/layout/vList2"/>
    <dgm:cxn modelId="{5225D3A7-F616-4432-B4B1-64113F1FC609}" srcId="{8FB0DE41-49AC-46C8-AF87-619C2CB3AF38}" destId="{13E02603-88DF-4455-A736-81CCDB57EE68}" srcOrd="1" destOrd="0" parTransId="{7B827996-8BE5-40C2-8DC9-8B88888BDE7B}" sibTransId="{048E361F-CF3B-47E4-931E-379000D9DD34}"/>
    <dgm:cxn modelId="{9079CBB8-FB2E-4E13-ACE3-49D74F662E87}" type="presOf" srcId="{FF8818E2-98FD-4F2C-9499-D60A3ED7BD03}" destId="{898E9B3F-E4BB-45F6-A7C6-F282A6907410}" srcOrd="0" destOrd="0" presId="urn:microsoft.com/office/officeart/2005/8/layout/vList2"/>
    <dgm:cxn modelId="{1247B7CC-2DD2-4E44-A369-CDB86E7C8F6D}" type="presOf" srcId="{13E02603-88DF-4455-A736-81CCDB57EE68}" destId="{0FCADEE7-36DC-41D4-A525-7FC6095421B1}" srcOrd="0" destOrd="1" presId="urn:microsoft.com/office/officeart/2005/8/layout/vList2"/>
    <dgm:cxn modelId="{0D89F1D8-2070-435A-9A4B-A93C84E93705}" srcId="{8FB0DE41-49AC-46C8-AF87-619C2CB3AF38}" destId="{33CE7470-8B68-430D-AC15-6E070693F6DC}" srcOrd="2" destOrd="0" parTransId="{D4D05DB1-26B0-45DE-9533-BCF734C3B714}" sibTransId="{CE0E0AE5-DD0C-4397-9E3B-0DECBEBAB2CB}"/>
    <dgm:cxn modelId="{98E17179-F71A-4909-9C52-30ABF1E756FA}" type="presParOf" srcId="{898E9B3F-E4BB-45F6-A7C6-F282A6907410}" destId="{A426F1E2-27B1-4B53-8905-F5B4FD5372EC}" srcOrd="0" destOrd="0" presId="urn:microsoft.com/office/officeart/2005/8/layout/vList2"/>
    <dgm:cxn modelId="{3699B212-2D88-4D50-80F0-557EF5089F75}" type="presParOf" srcId="{898E9B3F-E4BB-45F6-A7C6-F282A6907410}" destId="{0FCADEE7-36DC-41D4-A525-7FC6095421B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DFFA20C-F4B4-4D1C-A110-51303D678060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FF7CC5A2-2DEF-426D-A48C-95F7265771BA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NZ" dirty="0"/>
            <a:t>Model 2a. </a:t>
          </a:r>
        </a:p>
      </dgm:t>
    </dgm:pt>
    <dgm:pt modelId="{42DFD74F-6658-4A3A-A1BC-CAD0E56E3BA5}" type="parTrans" cxnId="{2272A745-FC05-4A7F-8B4D-A757B10A6C8F}">
      <dgm:prSet/>
      <dgm:spPr/>
      <dgm:t>
        <a:bodyPr/>
        <a:lstStyle/>
        <a:p>
          <a:endParaRPr lang="en-NZ"/>
        </a:p>
      </dgm:t>
    </dgm:pt>
    <dgm:pt modelId="{A011F84C-418C-48A3-80AE-4E58703ACFDC}" type="sibTrans" cxnId="{2272A745-FC05-4A7F-8B4D-A757B10A6C8F}">
      <dgm:prSet/>
      <dgm:spPr/>
      <dgm:t>
        <a:bodyPr/>
        <a:lstStyle/>
        <a:p>
          <a:endParaRPr lang="en-NZ"/>
        </a:p>
      </dgm:t>
    </dgm:pt>
    <dgm:pt modelId="{627156DE-E2AF-44E5-8553-E383C7B5C10E}">
      <dgm:prSet/>
      <dgm:spPr/>
      <dgm:t>
        <a:bodyPr/>
        <a:lstStyle/>
        <a:p>
          <a:r>
            <a:rPr lang="en-NZ"/>
            <a:t>Aggregate Demand = C + I + G</a:t>
          </a:r>
        </a:p>
      </dgm:t>
    </dgm:pt>
    <dgm:pt modelId="{1A3CC20E-3A04-4C34-9A45-CD0D32887EDD}" type="parTrans" cxnId="{74423A3E-0568-4AB9-BE72-D168368CA74F}">
      <dgm:prSet/>
      <dgm:spPr/>
      <dgm:t>
        <a:bodyPr/>
        <a:lstStyle/>
        <a:p>
          <a:endParaRPr lang="en-NZ"/>
        </a:p>
      </dgm:t>
    </dgm:pt>
    <dgm:pt modelId="{FCE0BF67-DAC5-42B6-9C50-D1A2A66BA397}" type="sibTrans" cxnId="{74423A3E-0568-4AB9-BE72-D168368CA74F}">
      <dgm:prSet/>
      <dgm:spPr/>
      <dgm:t>
        <a:bodyPr/>
        <a:lstStyle/>
        <a:p>
          <a:endParaRPr lang="en-NZ"/>
        </a:p>
      </dgm:t>
    </dgm:pt>
    <dgm:pt modelId="{2ADD8B5B-400D-472A-B792-00D0CDF141C0}">
      <dgm:prSet/>
      <dgm:spPr/>
      <dgm:t>
        <a:bodyPr/>
        <a:lstStyle/>
        <a:p>
          <a:r>
            <a:rPr lang="en-NZ"/>
            <a:t>Government Spending is exogenous</a:t>
          </a:r>
        </a:p>
      </dgm:t>
    </dgm:pt>
    <dgm:pt modelId="{5BA5D00A-73BB-4EC5-8303-4DA8559FBA67}" type="parTrans" cxnId="{5DE5EAF1-663B-48F5-99BF-2E688ED20EA9}">
      <dgm:prSet/>
      <dgm:spPr/>
      <dgm:t>
        <a:bodyPr/>
        <a:lstStyle/>
        <a:p>
          <a:endParaRPr lang="en-NZ"/>
        </a:p>
      </dgm:t>
    </dgm:pt>
    <dgm:pt modelId="{0E0DCFA1-B777-43C5-9C5A-C62EFE710360}" type="sibTrans" cxnId="{5DE5EAF1-663B-48F5-99BF-2E688ED20EA9}">
      <dgm:prSet/>
      <dgm:spPr/>
      <dgm:t>
        <a:bodyPr/>
        <a:lstStyle/>
        <a:p>
          <a:endParaRPr lang="en-NZ"/>
        </a:p>
      </dgm:t>
    </dgm:pt>
    <dgm:pt modelId="{326B9DB9-92F4-46F8-9C0F-F8C5C02F5744}">
      <dgm:prSet/>
      <dgm:spPr/>
      <dgm:t>
        <a:bodyPr/>
        <a:lstStyle/>
        <a:p>
          <a:r>
            <a:rPr lang="en-NZ"/>
            <a:t>Also affects C via taxes.</a:t>
          </a:r>
        </a:p>
      </dgm:t>
    </dgm:pt>
    <dgm:pt modelId="{E0581FC1-FE96-44E2-B206-AB709D4CC176}" type="parTrans" cxnId="{06C492E5-3378-49DC-871A-CCD03844021C}">
      <dgm:prSet/>
      <dgm:spPr/>
      <dgm:t>
        <a:bodyPr/>
        <a:lstStyle/>
        <a:p>
          <a:endParaRPr lang="en-NZ"/>
        </a:p>
      </dgm:t>
    </dgm:pt>
    <dgm:pt modelId="{CE2BB090-CAE1-4B8F-A540-622452CD0118}" type="sibTrans" cxnId="{06C492E5-3378-49DC-871A-CCD03844021C}">
      <dgm:prSet/>
      <dgm:spPr/>
      <dgm:t>
        <a:bodyPr/>
        <a:lstStyle/>
        <a:p>
          <a:endParaRPr lang="en-NZ"/>
        </a:p>
      </dgm:t>
    </dgm:pt>
    <dgm:pt modelId="{F787A948-7755-4C3A-8BE6-487F3FF38D50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NZ" dirty="0"/>
            <a:t>Model 2</a:t>
          </a:r>
        </a:p>
      </dgm:t>
    </dgm:pt>
    <dgm:pt modelId="{31E70ED5-066F-4F3D-8743-C7BCECAAA344}" type="parTrans" cxnId="{7A62F12C-3918-4409-9A20-6F5176861BB3}">
      <dgm:prSet/>
      <dgm:spPr/>
      <dgm:t>
        <a:bodyPr/>
        <a:lstStyle/>
        <a:p>
          <a:endParaRPr lang="en-NZ"/>
        </a:p>
      </dgm:t>
    </dgm:pt>
    <dgm:pt modelId="{506E95FB-04D3-40DA-B739-394C3405BFEF}" type="sibTrans" cxnId="{7A62F12C-3918-4409-9A20-6F5176861BB3}">
      <dgm:prSet/>
      <dgm:spPr/>
      <dgm:t>
        <a:bodyPr/>
        <a:lstStyle/>
        <a:p>
          <a:endParaRPr lang="en-NZ"/>
        </a:p>
      </dgm:t>
    </dgm:pt>
    <dgm:pt modelId="{3613A637-6A26-4EA5-BFBF-B8B984B85D10}">
      <dgm:prSet/>
      <dgm:spPr/>
      <dgm:t>
        <a:bodyPr/>
        <a:lstStyle/>
        <a:p>
          <a:r>
            <a:rPr lang="en-NZ"/>
            <a:t>AD = C + I + G + X – M</a:t>
          </a:r>
        </a:p>
      </dgm:t>
    </dgm:pt>
    <dgm:pt modelId="{AD6CA3A9-8F8D-4931-92AD-98220C6EF019}" type="parTrans" cxnId="{1815C2DF-6AD5-4F77-ADE2-A355A97FAA47}">
      <dgm:prSet/>
      <dgm:spPr/>
      <dgm:t>
        <a:bodyPr/>
        <a:lstStyle/>
        <a:p>
          <a:endParaRPr lang="en-NZ"/>
        </a:p>
      </dgm:t>
    </dgm:pt>
    <dgm:pt modelId="{7BDCF5A1-4F1A-405F-9F62-026DC79EE81F}" type="sibTrans" cxnId="{1815C2DF-6AD5-4F77-ADE2-A355A97FAA47}">
      <dgm:prSet/>
      <dgm:spPr/>
      <dgm:t>
        <a:bodyPr/>
        <a:lstStyle/>
        <a:p>
          <a:endParaRPr lang="en-NZ"/>
        </a:p>
      </dgm:t>
    </dgm:pt>
    <dgm:pt modelId="{D55C43B9-9703-4E7E-9FEA-7EF77B8F15F3}">
      <dgm:prSet/>
      <dgm:spPr/>
      <dgm:t>
        <a:bodyPr/>
        <a:lstStyle/>
        <a:p>
          <a:r>
            <a:rPr lang="en-NZ"/>
            <a:t>Exports (X) is exogenous to model</a:t>
          </a:r>
        </a:p>
      </dgm:t>
    </dgm:pt>
    <dgm:pt modelId="{E1C2CD0B-675B-49BB-8C0D-2E14860A7840}" type="parTrans" cxnId="{C0A10FF1-0476-4717-82FF-5FA46B4D3F6B}">
      <dgm:prSet/>
      <dgm:spPr/>
      <dgm:t>
        <a:bodyPr/>
        <a:lstStyle/>
        <a:p>
          <a:endParaRPr lang="en-NZ"/>
        </a:p>
      </dgm:t>
    </dgm:pt>
    <dgm:pt modelId="{DCE77892-0165-4D3A-BAFD-8CBAE6ED1F29}" type="sibTrans" cxnId="{C0A10FF1-0476-4717-82FF-5FA46B4D3F6B}">
      <dgm:prSet/>
      <dgm:spPr/>
      <dgm:t>
        <a:bodyPr/>
        <a:lstStyle/>
        <a:p>
          <a:endParaRPr lang="en-NZ"/>
        </a:p>
      </dgm:t>
    </dgm:pt>
    <dgm:pt modelId="{F60875F9-AD50-4C1F-8C2D-98850CCB5A8C}">
      <dgm:prSet/>
      <dgm:spPr/>
      <dgm:t>
        <a:bodyPr/>
        <a:lstStyle/>
        <a:p>
          <a:r>
            <a:rPr lang="en-NZ"/>
            <a:t>Imports (M) depend on domestic market</a:t>
          </a:r>
        </a:p>
      </dgm:t>
    </dgm:pt>
    <dgm:pt modelId="{62574963-D086-42AD-B0AF-B2017567D0D3}" type="parTrans" cxnId="{A3D09DA5-64FD-4C41-AB07-4FF3052FCF94}">
      <dgm:prSet/>
      <dgm:spPr/>
      <dgm:t>
        <a:bodyPr/>
        <a:lstStyle/>
        <a:p>
          <a:endParaRPr lang="en-NZ"/>
        </a:p>
      </dgm:t>
    </dgm:pt>
    <dgm:pt modelId="{22AC932E-0995-4FFD-B875-A1FD0AEA72F8}" type="sibTrans" cxnId="{A3D09DA5-64FD-4C41-AB07-4FF3052FCF94}">
      <dgm:prSet/>
      <dgm:spPr/>
      <dgm:t>
        <a:bodyPr/>
        <a:lstStyle/>
        <a:p>
          <a:endParaRPr lang="en-NZ"/>
        </a:p>
      </dgm:t>
    </dgm:pt>
    <dgm:pt modelId="{9A08C59B-904F-4B15-81C8-CEE68BB0574D}" type="pres">
      <dgm:prSet presAssocID="{5DFFA20C-F4B4-4D1C-A110-51303D678060}" presName="Name0" presStyleCnt="0">
        <dgm:presLayoutVars>
          <dgm:dir/>
          <dgm:animLvl val="lvl"/>
          <dgm:resizeHandles val="exact"/>
        </dgm:presLayoutVars>
      </dgm:prSet>
      <dgm:spPr/>
    </dgm:pt>
    <dgm:pt modelId="{69232A0C-7F09-4342-9B73-409AD3FCB703}" type="pres">
      <dgm:prSet presAssocID="{FF7CC5A2-2DEF-426D-A48C-95F7265771BA}" presName="linNode" presStyleCnt="0"/>
      <dgm:spPr/>
    </dgm:pt>
    <dgm:pt modelId="{3868C649-D728-4BCB-A3F4-6FE89D592F83}" type="pres">
      <dgm:prSet presAssocID="{FF7CC5A2-2DEF-426D-A48C-95F7265771BA}" presName="parTx" presStyleLbl="revTx" presStyleIdx="0" presStyleCnt="4">
        <dgm:presLayoutVars>
          <dgm:chMax val="1"/>
          <dgm:bulletEnabled val="1"/>
        </dgm:presLayoutVars>
      </dgm:prSet>
      <dgm:spPr/>
    </dgm:pt>
    <dgm:pt modelId="{97DE9B40-5AC3-45C6-9498-D364B00E37C6}" type="pres">
      <dgm:prSet presAssocID="{FF7CC5A2-2DEF-426D-A48C-95F7265771BA}" presName="bracket" presStyleLbl="parChTrans1D1" presStyleIdx="0" presStyleCnt="4"/>
      <dgm:spPr/>
    </dgm:pt>
    <dgm:pt modelId="{DE4E8316-90FC-43CB-9317-C2D3358812B9}" type="pres">
      <dgm:prSet presAssocID="{FF7CC5A2-2DEF-426D-A48C-95F7265771BA}" presName="spH" presStyleCnt="0"/>
      <dgm:spPr/>
    </dgm:pt>
    <dgm:pt modelId="{CF2C2D84-E25F-4AD6-9C30-51FD6A4FB500}" type="pres">
      <dgm:prSet presAssocID="{A011F84C-418C-48A3-80AE-4E58703ACFDC}" presName="spV" presStyleCnt="0"/>
      <dgm:spPr/>
    </dgm:pt>
    <dgm:pt modelId="{A7B7D6A1-FAEC-4B59-B873-00903DEF2B34}" type="pres">
      <dgm:prSet presAssocID="{627156DE-E2AF-44E5-8553-E383C7B5C10E}" presName="linNode" presStyleCnt="0"/>
      <dgm:spPr/>
    </dgm:pt>
    <dgm:pt modelId="{CEDC7D0B-21A5-4AE8-A480-F6C52B71CA52}" type="pres">
      <dgm:prSet presAssocID="{627156DE-E2AF-44E5-8553-E383C7B5C10E}" presName="parTx" presStyleLbl="revTx" presStyleIdx="1" presStyleCnt="4">
        <dgm:presLayoutVars>
          <dgm:chMax val="1"/>
          <dgm:bulletEnabled val="1"/>
        </dgm:presLayoutVars>
      </dgm:prSet>
      <dgm:spPr/>
    </dgm:pt>
    <dgm:pt modelId="{B234573A-625B-468A-B0A6-555057667A71}" type="pres">
      <dgm:prSet presAssocID="{627156DE-E2AF-44E5-8553-E383C7B5C10E}" presName="bracket" presStyleLbl="parChTrans1D1" presStyleIdx="1" presStyleCnt="4"/>
      <dgm:spPr/>
    </dgm:pt>
    <dgm:pt modelId="{D76E9F86-2B8B-411D-89AE-DAD2C7B5F6BD}" type="pres">
      <dgm:prSet presAssocID="{627156DE-E2AF-44E5-8553-E383C7B5C10E}" presName="spH" presStyleCnt="0"/>
      <dgm:spPr/>
    </dgm:pt>
    <dgm:pt modelId="{C2972548-224A-4664-9C43-BE0405486F12}" type="pres">
      <dgm:prSet presAssocID="{627156DE-E2AF-44E5-8553-E383C7B5C10E}" presName="desTx" presStyleLbl="node1" presStyleIdx="0" presStyleCnt="2">
        <dgm:presLayoutVars>
          <dgm:bulletEnabled val="1"/>
        </dgm:presLayoutVars>
      </dgm:prSet>
      <dgm:spPr/>
    </dgm:pt>
    <dgm:pt modelId="{1257EEF0-6850-402D-BD87-C5D9CF37198C}" type="pres">
      <dgm:prSet presAssocID="{FCE0BF67-DAC5-42B6-9C50-D1A2A66BA397}" presName="spV" presStyleCnt="0"/>
      <dgm:spPr/>
    </dgm:pt>
    <dgm:pt modelId="{7DAECFE6-C16C-4637-822D-F8BBF4E54BFE}" type="pres">
      <dgm:prSet presAssocID="{F787A948-7755-4C3A-8BE6-487F3FF38D50}" presName="linNode" presStyleCnt="0"/>
      <dgm:spPr/>
    </dgm:pt>
    <dgm:pt modelId="{C8359F19-7A81-4A59-8161-37E8D2CB0A6B}" type="pres">
      <dgm:prSet presAssocID="{F787A948-7755-4C3A-8BE6-487F3FF38D50}" presName="parTx" presStyleLbl="revTx" presStyleIdx="2" presStyleCnt="4">
        <dgm:presLayoutVars>
          <dgm:chMax val="1"/>
          <dgm:bulletEnabled val="1"/>
        </dgm:presLayoutVars>
      </dgm:prSet>
      <dgm:spPr/>
    </dgm:pt>
    <dgm:pt modelId="{AFCEA98F-57C5-4079-91F4-9E580A0A7AB3}" type="pres">
      <dgm:prSet presAssocID="{F787A948-7755-4C3A-8BE6-487F3FF38D50}" presName="bracket" presStyleLbl="parChTrans1D1" presStyleIdx="2" presStyleCnt="4"/>
      <dgm:spPr/>
    </dgm:pt>
    <dgm:pt modelId="{DF944A77-09E6-451E-BCD4-0DA44E4BB252}" type="pres">
      <dgm:prSet presAssocID="{F787A948-7755-4C3A-8BE6-487F3FF38D50}" presName="spH" presStyleCnt="0"/>
      <dgm:spPr/>
    </dgm:pt>
    <dgm:pt modelId="{58CE8DED-F6C6-473A-95FE-F1515D6F3F29}" type="pres">
      <dgm:prSet presAssocID="{506E95FB-04D3-40DA-B739-394C3405BFEF}" presName="spV" presStyleCnt="0"/>
      <dgm:spPr/>
    </dgm:pt>
    <dgm:pt modelId="{BC4D4922-61B1-4A6A-844F-BC4E034F24F7}" type="pres">
      <dgm:prSet presAssocID="{3613A637-6A26-4EA5-BFBF-B8B984B85D10}" presName="linNode" presStyleCnt="0"/>
      <dgm:spPr/>
    </dgm:pt>
    <dgm:pt modelId="{65597E62-72CD-47D9-B799-CAFE545682BB}" type="pres">
      <dgm:prSet presAssocID="{3613A637-6A26-4EA5-BFBF-B8B984B85D10}" presName="parTx" presStyleLbl="revTx" presStyleIdx="3" presStyleCnt="4">
        <dgm:presLayoutVars>
          <dgm:chMax val="1"/>
          <dgm:bulletEnabled val="1"/>
        </dgm:presLayoutVars>
      </dgm:prSet>
      <dgm:spPr/>
    </dgm:pt>
    <dgm:pt modelId="{67A58C11-8C7A-4455-A4AE-33E5CA074045}" type="pres">
      <dgm:prSet presAssocID="{3613A637-6A26-4EA5-BFBF-B8B984B85D10}" presName="bracket" presStyleLbl="parChTrans1D1" presStyleIdx="3" presStyleCnt="4"/>
      <dgm:spPr/>
    </dgm:pt>
    <dgm:pt modelId="{5A3240A5-3A8F-423A-8F90-0A7F14EDAD9C}" type="pres">
      <dgm:prSet presAssocID="{3613A637-6A26-4EA5-BFBF-B8B984B85D10}" presName="spH" presStyleCnt="0"/>
      <dgm:spPr/>
    </dgm:pt>
    <dgm:pt modelId="{B1561755-1014-41BF-B88A-A905579DC375}" type="pres">
      <dgm:prSet presAssocID="{3613A637-6A26-4EA5-BFBF-B8B984B85D10}" presName="desTx" presStyleLbl="node1" presStyleIdx="1" presStyleCnt="2">
        <dgm:presLayoutVars>
          <dgm:bulletEnabled val="1"/>
        </dgm:presLayoutVars>
      </dgm:prSet>
      <dgm:spPr/>
    </dgm:pt>
  </dgm:ptLst>
  <dgm:cxnLst>
    <dgm:cxn modelId="{3C93AE0E-4F8E-4C82-BFD3-3D8D0C6D6751}" type="presOf" srcId="{FF7CC5A2-2DEF-426D-A48C-95F7265771BA}" destId="{3868C649-D728-4BCB-A3F4-6FE89D592F83}" srcOrd="0" destOrd="0" presId="urn:diagrams.loki3.com/BracketList"/>
    <dgm:cxn modelId="{7A62F12C-3918-4409-9A20-6F5176861BB3}" srcId="{5DFFA20C-F4B4-4D1C-A110-51303D678060}" destId="{F787A948-7755-4C3A-8BE6-487F3FF38D50}" srcOrd="2" destOrd="0" parTransId="{31E70ED5-066F-4F3D-8743-C7BCECAAA344}" sibTransId="{506E95FB-04D3-40DA-B739-394C3405BFEF}"/>
    <dgm:cxn modelId="{74423A3E-0568-4AB9-BE72-D168368CA74F}" srcId="{5DFFA20C-F4B4-4D1C-A110-51303D678060}" destId="{627156DE-E2AF-44E5-8553-E383C7B5C10E}" srcOrd="1" destOrd="0" parTransId="{1A3CC20E-3A04-4C34-9A45-CD0D32887EDD}" sibTransId="{FCE0BF67-DAC5-42B6-9C50-D1A2A66BA397}"/>
    <dgm:cxn modelId="{7B097B3E-2DD2-4964-97F5-63AEEB8388FE}" type="presOf" srcId="{627156DE-E2AF-44E5-8553-E383C7B5C10E}" destId="{CEDC7D0B-21A5-4AE8-A480-F6C52B71CA52}" srcOrd="0" destOrd="0" presId="urn:diagrams.loki3.com/BracketList"/>
    <dgm:cxn modelId="{815E1442-0841-42C5-9471-1204B829FE70}" type="presOf" srcId="{2ADD8B5B-400D-472A-B792-00D0CDF141C0}" destId="{C2972548-224A-4664-9C43-BE0405486F12}" srcOrd="0" destOrd="0" presId="urn:diagrams.loki3.com/BracketList"/>
    <dgm:cxn modelId="{80D40A45-D111-426E-8A7B-38A5C0C0F738}" type="presOf" srcId="{F787A948-7755-4C3A-8BE6-487F3FF38D50}" destId="{C8359F19-7A81-4A59-8161-37E8D2CB0A6B}" srcOrd="0" destOrd="0" presId="urn:diagrams.loki3.com/BracketList"/>
    <dgm:cxn modelId="{2272A745-FC05-4A7F-8B4D-A757B10A6C8F}" srcId="{5DFFA20C-F4B4-4D1C-A110-51303D678060}" destId="{FF7CC5A2-2DEF-426D-A48C-95F7265771BA}" srcOrd="0" destOrd="0" parTransId="{42DFD74F-6658-4A3A-A1BC-CAD0E56E3BA5}" sibTransId="{A011F84C-418C-48A3-80AE-4E58703ACFDC}"/>
    <dgm:cxn modelId="{28D54B51-9062-4E0B-A3FB-B42F44AB0D06}" type="presOf" srcId="{D55C43B9-9703-4E7E-9FEA-7EF77B8F15F3}" destId="{B1561755-1014-41BF-B88A-A905579DC375}" srcOrd="0" destOrd="0" presId="urn:diagrams.loki3.com/BracketList"/>
    <dgm:cxn modelId="{099E1860-5EEE-4FBB-8217-6EDF512E03DE}" type="presOf" srcId="{326B9DB9-92F4-46F8-9C0F-F8C5C02F5744}" destId="{C2972548-224A-4664-9C43-BE0405486F12}" srcOrd="0" destOrd="1" presId="urn:diagrams.loki3.com/BracketList"/>
    <dgm:cxn modelId="{8B5E0E92-7D88-45B9-9551-43DD1801EADA}" type="presOf" srcId="{5DFFA20C-F4B4-4D1C-A110-51303D678060}" destId="{9A08C59B-904F-4B15-81C8-CEE68BB0574D}" srcOrd="0" destOrd="0" presId="urn:diagrams.loki3.com/BracketList"/>
    <dgm:cxn modelId="{B111E7A4-EC42-4F8A-A4D4-BAA379C213E5}" type="presOf" srcId="{F60875F9-AD50-4C1F-8C2D-98850CCB5A8C}" destId="{B1561755-1014-41BF-B88A-A905579DC375}" srcOrd="0" destOrd="1" presId="urn:diagrams.loki3.com/BracketList"/>
    <dgm:cxn modelId="{A3D09DA5-64FD-4C41-AB07-4FF3052FCF94}" srcId="{3613A637-6A26-4EA5-BFBF-B8B984B85D10}" destId="{F60875F9-AD50-4C1F-8C2D-98850CCB5A8C}" srcOrd="1" destOrd="0" parTransId="{62574963-D086-42AD-B0AF-B2017567D0D3}" sibTransId="{22AC932E-0995-4FFD-B875-A1FD0AEA72F8}"/>
    <dgm:cxn modelId="{1815C2DF-6AD5-4F77-ADE2-A355A97FAA47}" srcId="{5DFFA20C-F4B4-4D1C-A110-51303D678060}" destId="{3613A637-6A26-4EA5-BFBF-B8B984B85D10}" srcOrd="3" destOrd="0" parTransId="{AD6CA3A9-8F8D-4931-92AD-98220C6EF019}" sibTransId="{7BDCF5A1-4F1A-405F-9F62-026DC79EE81F}"/>
    <dgm:cxn modelId="{06C492E5-3378-49DC-871A-CCD03844021C}" srcId="{627156DE-E2AF-44E5-8553-E383C7B5C10E}" destId="{326B9DB9-92F4-46F8-9C0F-F8C5C02F5744}" srcOrd="1" destOrd="0" parTransId="{E0581FC1-FE96-44E2-B206-AB709D4CC176}" sibTransId="{CE2BB090-CAE1-4B8F-A540-622452CD0118}"/>
    <dgm:cxn modelId="{C0A10FF1-0476-4717-82FF-5FA46B4D3F6B}" srcId="{3613A637-6A26-4EA5-BFBF-B8B984B85D10}" destId="{D55C43B9-9703-4E7E-9FEA-7EF77B8F15F3}" srcOrd="0" destOrd="0" parTransId="{E1C2CD0B-675B-49BB-8C0D-2E14860A7840}" sibTransId="{DCE77892-0165-4D3A-BAFD-8CBAE6ED1F29}"/>
    <dgm:cxn modelId="{5DE5EAF1-663B-48F5-99BF-2E688ED20EA9}" srcId="{627156DE-E2AF-44E5-8553-E383C7B5C10E}" destId="{2ADD8B5B-400D-472A-B792-00D0CDF141C0}" srcOrd="0" destOrd="0" parTransId="{5BA5D00A-73BB-4EC5-8303-4DA8559FBA67}" sibTransId="{0E0DCFA1-B777-43C5-9C5A-C62EFE710360}"/>
    <dgm:cxn modelId="{266315FB-BC1F-49CD-B734-4409F04442CE}" type="presOf" srcId="{3613A637-6A26-4EA5-BFBF-B8B984B85D10}" destId="{65597E62-72CD-47D9-B799-CAFE545682BB}" srcOrd="0" destOrd="0" presId="urn:diagrams.loki3.com/BracketList"/>
    <dgm:cxn modelId="{DA33814A-5FF5-43B5-82D1-7B1F72AC36E2}" type="presParOf" srcId="{9A08C59B-904F-4B15-81C8-CEE68BB0574D}" destId="{69232A0C-7F09-4342-9B73-409AD3FCB703}" srcOrd="0" destOrd="0" presId="urn:diagrams.loki3.com/BracketList"/>
    <dgm:cxn modelId="{C5AFC665-D941-4103-B74A-B5526888C581}" type="presParOf" srcId="{69232A0C-7F09-4342-9B73-409AD3FCB703}" destId="{3868C649-D728-4BCB-A3F4-6FE89D592F83}" srcOrd="0" destOrd="0" presId="urn:diagrams.loki3.com/BracketList"/>
    <dgm:cxn modelId="{5E329158-F541-4EB4-A195-91A87EDB6295}" type="presParOf" srcId="{69232A0C-7F09-4342-9B73-409AD3FCB703}" destId="{97DE9B40-5AC3-45C6-9498-D364B00E37C6}" srcOrd="1" destOrd="0" presId="urn:diagrams.loki3.com/BracketList"/>
    <dgm:cxn modelId="{0A2DDF3C-6668-46FD-ABDC-EC05445608D9}" type="presParOf" srcId="{69232A0C-7F09-4342-9B73-409AD3FCB703}" destId="{DE4E8316-90FC-43CB-9317-C2D3358812B9}" srcOrd="2" destOrd="0" presId="urn:diagrams.loki3.com/BracketList"/>
    <dgm:cxn modelId="{A1F6CAC0-5A43-43AC-AB3E-05D4A003F2BD}" type="presParOf" srcId="{9A08C59B-904F-4B15-81C8-CEE68BB0574D}" destId="{CF2C2D84-E25F-4AD6-9C30-51FD6A4FB500}" srcOrd="1" destOrd="0" presId="urn:diagrams.loki3.com/BracketList"/>
    <dgm:cxn modelId="{6FC6CF83-C334-4659-9B66-86B14C5D39EF}" type="presParOf" srcId="{9A08C59B-904F-4B15-81C8-CEE68BB0574D}" destId="{A7B7D6A1-FAEC-4B59-B873-00903DEF2B34}" srcOrd="2" destOrd="0" presId="urn:diagrams.loki3.com/BracketList"/>
    <dgm:cxn modelId="{71CD6843-0110-4F58-98BD-E487FDEA0C9C}" type="presParOf" srcId="{A7B7D6A1-FAEC-4B59-B873-00903DEF2B34}" destId="{CEDC7D0B-21A5-4AE8-A480-F6C52B71CA52}" srcOrd="0" destOrd="0" presId="urn:diagrams.loki3.com/BracketList"/>
    <dgm:cxn modelId="{BD0E5A64-2237-48D8-941D-3D53FD70B2B5}" type="presParOf" srcId="{A7B7D6A1-FAEC-4B59-B873-00903DEF2B34}" destId="{B234573A-625B-468A-B0A6-555057667A71}" srcOrd="1" destOrd="0" presId="urn:diagrams.loki3.com/BracketList"/>
    <dgm:cxn modelId="{65449CF4-7E2B-463E-B9ED-67ADC232ED12}" type="presParOf" srcId="{A7B7D6A1-FAEC-4B59-B873-00903DEF2B34}" destId="{D76E9F86-2B8B-411D-89AE-DAD2C7B5F6BD}" srcOrd="2" destOrd="0" presId="urn:diagrams.loki3.com/BracketList"/>
    <dgm:cxn modelId="{CF7638D4-C337-4BBF-A3DE-FDF9D44659BB}" type="presParOf" srcId="{A7B7D6A1-FAEC-4B59-B873-00903DEF2B34}" destId="{C2972548-224A-4664-9C43-BE0405486F12}" srcOrd="3" destOrd="0" presId="urn:diagrams.loki3.com/BracketList"/>
    <dgm:cxn modelId="{7F90630F-F191-46F7-B6F7-D9CC83E6700A}" type="presParOf" srcId="{9A08C59B-904F-4B15-81C8-CEE68BB0574D}" destId="{1257EEF0-6850-402D-BD87-C5D9CF37198C}" srcOrd="3" destOrd="0" presId="urn:diagrams.loki3.com/BracketList"/>
    <dgm:cxn modelId="{2423D3B7-DD29-4365-8BE9-0BD96C4A4FD6}" type="presParOf" srcId="{9A08C59B-904F-4B15-81C8-CEE68BB0574D}" destId="{7DAECFE6-C16C-4637-822D-F8BBF4E54BFE}" srcOrd="4" destOrd="0" presId="urn:diagrams.loki3.com/BracketList"/>
    <dgm:cxn modelId="{F243C4CD-8A14-439E-8456-6E21E62BB7CC}" type="presParOf" srcId="{7DAECFE6-C16C-4637-822D-F8BBF4E54BFE}" destId="{C8359F19-7A81-4A59-8161-37E8D2CB0A6B}" srcOrd="0" destOrd="0" presId="urn:diagrams.loki3.com/BracketList"/>
    <dgm:cxn modelId="{C4824142-5CD6-42B9-947C-F4828149A781}" type="presParOf" srcId="{7DAECFE6-C16C-4637-822D-F8BBF4E54BFE}" destId="{AFCEA98F-57C5-4079-91F4-9E580A0A7AB3}" srcOrd="1" destOrd="0" presId="urn:diagrams.loki3.com/BracketList"/>
    <dgm:cxn modelId="{C5FCF445-C1E1-4B3B-8E46-6966FC8AFBEE}" type="presParOf" srcId="{7DAECFE6-C16C-4637-822D-F8BBF4E54BFE}" destId="{DF944A77-09E6-451E-BCD4-0DA44E4BB252}" srcOrd="2" destOrd="0" presId="urn:diagrams.loki3.com/BracketList"/>
    <dgm:cxn modelId="{EDA570C1-79AD-460F-A8B6-E12C2A3F6B04}" type="presParOf" srcId="{9A08C59B-904F-4B15-81C8-CEE68BB0574D}" destId="{58CE8DED-F6C6-473A-95FE-F1515D6F3F29}" srcOrd="5" destOrd="0" presId="urn:diagrams.loki3.com/BracketList"/>
    <dgm:cxn modelId="{A8D12C96-435C-46D2-A580-FBF2D214A5EE}" type="presParOf" srcId="{9A08C59B-904F-4B15-81C8-CEE68BB0574D}" destId="{BC4D4922-61B1-4A6A-844F-BC4E034F24F7}" srcOrd="6" destOrd="0" presId="urn:diagrams.loki3.com/BracketList"/>
    <dgm:cxn modelId="{B62FB53E-D90C-48C3-B80F-22FC2A2637DF}" type="presParOf" srcId="{BC4D4922-61B1-4A6A-844F-BC4E034F24F7}" destId="{65597E62-72CD-47D9-B799-CAFE545682BB}" srcOrd="0" destOrd="0" presId="urn:diagrams.loki3.com/BracketList"/>
    <dgm:cxn modelId="{7F843A85-6891-46C4-B620-31FD108EAEE2}" type="presParOf" srcId="{BC4D4922-61B1-4A6A-844F-BC4E034F24F7}" destId="{67A58C11-8C7A-4455-A4AE-33E5CA074045}" srcOrd="1" destOrd="0" presId="urn:diagrams.loki3.com/BracketList"/>
    <dgm:cxn modelId="{AB8BF789-5B28-4FE8-B08F-5ACB5E8A0841}" type="presParOf" srcId="{BC4D4922-61B1-4A6A-844F-BC4E034F24F7}" destId="{5A3240A5-3A8F-423A-8F90-0A7F14EDAD9C}" srcOrd="2" destOrd="0" presId="urn:diagrams.loki3.com/BracketList"/>
    <dgm:cxn modelId="{8B29CB13-CB7D-4CB4-9618-B3693E5D04B9}" type="presParOf" srcId="{BC4D4922-61B1-4A6A-844F-BC4E034F24F7}" destId="{B1561755-1014-41BF-B88A-A905579DC375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5DD36C-EEC3-4E18-A869-73629DC53B81}" type="doc">
      <dgm:prSet loTypeId="urn:microsoft.com/office/officeart/2005/8/layout/orgChart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B50C5717-BB20-4045-9585-E5A971038FBB}">
      <dgm:prSet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sz="4000" b="0" dirty="0"/>
            <a:t>AD = c</a:t>
          </a:r>
          <a:r>
            <a:rPr lang="en-US" sz="4000" b="0" baseline="-25000" dirty="0"/>
            <a:t>0</a:t>
          </a:r>
          <a:r>
            <a:rPr lang="en-US" sz="4000" b="0" dirty="0"/>
            <a:t> + c</a:t>
          </a:r>
          <a:r>
            <a:rPr lang="en-US" sz="4000" b="0" baseline="-25000" dirty="0"/>
            <a:t>1</a:t>
          </a:r>
          <a:r>
            <a:rPr lang="en-US" sz="4000" b="0" dirty="0"/>
            <a:t>(1 - t)Y + I + G + X - </a:t>
          </a:r>
          <a:r>
            <a:rPr lang="en-US" sz="4000" b="0" dirty="0" err="1"/>
            <a:t>mY</a:t>
          </a:r>
          <a:endParaRPr lang="en-NZ" sz="4000" b="0" dirty="0"/>
        </a:p>
      </dgm:t>
    </dgm:pt>
    <dgm:pt modelId="{4A83094D-B738-47CA-A20E-7888BD31D8A0}" type="parTrans" cxnId="{26AE3594-43D6-4D7D-9B14-B7B2BF416D09}">
      <dgm:prSet/>
      <dgm:spPr/>
      <dgm:t>
        <a:bodyPr/>
        <a:lstStyle/>
        <a:p>
          <a:endParaRPr lang="en-NZ"/>
        </a:p>
      </dgm:t>
    </dgm:pt>
    <dgm:pt modelId="{C1B5C754-2DCB-4097-BEDD-C93738FD6608}" type="sibTrans" cxnId="{26AE3594-43D6-4D7D-9B14-B7B2BF416D09}">
      <dgm:prSet/>
      <dgm:spPr/>
      <dgm:t>
        <a:bodyPr/>
        <a:lstStyle/>
        <a:p>
          <a:endParaRPr lang="en-NZ"/>
        </a:p>
      </dgm:t>
    </dgm:pt>
    <dgm:pt modelId="{870E8D32-7A96-4626-9A9F-74E65E5D3782}" type="pres">
      <dgm:prSet presAssocID="{CF5DD36C-EEC3-4E18-A869-73629DC53B8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A6FBA33-7370-4F2F-8256-62209508D99B}" type="pres">
      <dgm:prSet presAssocID="{B50C5717-BB20-4045-9585-E5A971038FBB}" presName="hierRoot1" presStyleCnt="0">
        <dgm:presLayoutVars>
          <dgm:hierBranch val="init"/>
        </dgm:presLayoutVars>
      </dgm:prSet>
      <dgm:spPr/>
    </dgm:pt>
    <dgm:pt modelId="{43294004-F1E6-40B6-9D94-0CC2449821D0}" type="pres">
      <dgm:prSet presAssocID="{B50C5717-BB20-4045-9585-E5A971038FBB}" presName="rootComposite1" presStyleCnt="0"/>
      <dgm:spPr/>
    </dgm:pt>
    <dgm:pt modelId="{F315CF34-7C81-421E-998A-C433BB56CC63}" type="pres">
      <dgm:prSet presAssocID="{B50C5717-BB20-4045-9585-E5A971038FBB}" presName="rootText1" presStyleLbl="node0" presStyleIdx="0" presStyleCnt="1">
        <dgm:presLayoutVars>
          <dgm:chPref val="3"/>
        </dgm:presLayoutVars>
      </dgm:prSet>
      <dgm:spPr/>
    </dgm:pt>
    <dgm:pt modelId="{75C417EB-199B-464D-AFE9-60B71EEA0B89}" type="pres">
      <dgm:prSet presAssocID="{B50C5717-BB20-4045-9585-E5A971038FBB}" presName="rootConnector1" presStyleLbl="node1" presStyleIdx="0" presStyleCnt="0"/>
      <dgm:spPr/>
    </dgm:pt>
    <dgm:pt modelId="{D016EC44-FFA4-4947-BF49-F052919708F5}" type="pres">
      <dgm:prSet presAssocID="{B50C5717-BB20-4045-9585-E5A971038FBB}" presName="hierChild2" presStyleCnt="0"/>
      <dgm:spPr/>
    </dgm:pt>
    <dgm:pt modelId="{9B2630E5-0824-46FE-B124-5D3BA901FE0A}" type="pres">
      <dgm:prSet presAssocID="{B50C5717-BB20-4045-9585-E5A971038FBB}" presName="hierChild3" presStyleCnt="0"/>
      <dgm:spPr/>
    </dgm:pt>
  </dgm:ptLst>
  <dgm:cxnLst>
    <dgm:cxn modelId="{A4909629-8244-4549-84EF-A5E8BE5A65B5}" type="presOf" srcId="{B50C5717-BB20-4045-9585-E5A971038FBB}" destId="{75C417EB-199B-464D-AFE9-60B71EEA0B89}" srcOrd="1" destOrd="0" presId="urn:microsoft.com/office/officeart/2005/8/layout/orgChart1"/>
    <dgm:cxn modelId="{EC6B4193-68A3-4374-9B0B-99A9F96652BB}" type="presOf" srcId="{CF5DD36C-EEC3-4E18-A869-73629DC53B81}" destId="{870E8D32-7A96-4626-9A9F-74E65E5D3782}" srcOrd="0" destOrd="0" presId="urn:microsoft.com/office/officeart/2005/8/layout/orgChart1"/>
    <dgm:cxn modelId="{26AE3594-43D6-4D7D-9B14-B7B2BF416D09}" srcId="{CF5DD36C-EEC3-4E18-A869-73629DC53B81}" destId="{B50C5717-BB20-4045-9585-E5A971038FBB}" srcOrd="0" destOrd="0" parTransId="{4A83094D-B738-47CA-A20E-7888BD31D8A0}" sibTransId="{C1B5C754-2DCB-4097-BEDD-C93738FD6608}"/>
    <dgm:cxn modelId="{35D69FE4-E8D0-49D4-87A0-9A5833E0344D}" type="presOf" srcId="{B50C5717-BB20-4045-9585-E5A971038FBB}" destId="{F315CF34-7C81-421E-998A-C433BB56CC63}" srcOrd="0" destOrd="0" presId="urn:microsoft.com/office/officeart/2005/8/layout/orgChart1"/>
    <dgm:cxn modelId="{4BD943C3-97E5-440D-8BE4-DC58F43AB985}" type="presParOf" srcId="{870E8D32-7A96-4626-9A9F-74E65E5D3782}" destId="{6A6FBA33-7370-4F2F-8256-62209508D99B}" srcOrd="0" destOrd="0" presId="urn:microsoft.com/office/officeart/2005/8/layout/orgChart1"/>
    <dgm:cxn modelId="{7B708585-6BD9-438B-AB61-41513E902D0C}" type="presParOf" srcId="{6A6FBA33-7370-4F2F-8256-62209508D99B}" destId="{43294004-F1E6-40B6-9D94-0CC2449821D0}" srcOrd="0" destOrd="0" presId="urn:microsoft.com/office/officeart/2005/8/layout/orgChart1"/>
    <dgm:cxn modelId="{29486A75-68A9-4867-9B0E-DD7139DBDA9E}" type="presParOf" srcId="{43294004-F1E6-40B6-9D94-0CC2449821D0}" destId="{F315CF34-7C81-421E-998A-C433BB56CC63}" srcOrd="0" destOrd="0" presId="urn:microsoft.com/office/officeart/2005/8/layout/orgChart1"/>
    <dgm:cxn modelId="{0269C0DD-718B-464A-BEFA-6126BDE9A869}" type="presParOf" srcId="{43294004-F1E6-40B6-9D94-0CC2449821D0}" destId="{75C417EB-199B-464D-AFE9-60B71EEA0B89}" srcOrd="1" destOrd="0" presId="urn:microsoft.com/office/officeart/2005/8/layout/orgChart1"/>
    <dgm:cxn modelId="{8271A8AE-DAD0-4D77-AB5C-6851914584B9}" type="presParOf" srcId="{6A6FBA33-7370-4F2F-8256-62209508D99B}" destId="{D016EC44-FFA4-4947-BF49-F052919708F5}" srcOrd="1" destOrd="0" presId="urn:microsoft.com/office/officeart/2005/8/layout/orgChart1"/>
    <dgm:cxn modelId="{D8CD2694-62F4-420A-8331-14F3450E6BC3}" type="presParOf" srcId="{6A6FBA33-7370-4F2F-8256-62209508D99B}" destId="{9B2630E5-0824-46FE-B124-5D3BA901FE0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CB2A2CF-9289-4AB8-9594-8F6A8C5E304B}" type="doc">
      <dgm:prSet loTypeId="urn:microsoft.com/office/officeart/2005/8/layout/process4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9F1D745F-E6F2-44B6-9101-76DFAC3ADCA8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Saving, taxation and imports are referred to as </a:t>
          </a:r>
          <a:r>
            <a:rPr lang="en-GB" u="sng" dirty="0"/>
            <a:t>leakages from the circular flow of income</a:t>
          </a:r>
          <a:r>
            <a:rPr lang="en-GB" dirty="0"/>
            <a:t>. They reduce the size of the multiplier.</a:t>
          </a:r>
          <a:endParaRPr lang="en-NZ" dirty="0"/>
        </a:p>
      </dgm:t>
    </dgm:pt>
    <dgm:pt modelId="{F6BFFFDD-F054-40EA-A828-8995F391D9A7}" type="parTrans" cxnId="{204441AF-4A1E-45CB-9A78-7E9D387401F0}">
      <dgm:prSet/>
      <dgm:spPr/>
      <dgm:t>
        <a:bodyPr/>
        <a:lstStyle/>
        <a:p>
          <a:endParaRPr lang="en-NZ"/>
        </a:p>
      </dgm:t>
    </dgm:pt>
    <dgm:pt modelId="{309EAF9B-383C-4E1F-8BE6-B7CF48B7DD2F}" type="sibTrans" cxnId="{204441AF-4A1E-45CB-9A78-7E9D387401F0}">
      <dgm:prSet/>
      <dgm:spPr/>
      <dgm:t>
        <a:bodyPr/>
        <a:lstStyle/>
        <a:p>
          <a:endParaRPr lang="en-NZ"/>
        </a:p>
      </dgm:t>
    </dgm:pt>
    <dgm:pt modelId="{B00E0738-E5F9-4D9F-8C54-BF0693686421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/>
            <a:t>some household income goes directly to the government as taxes</a:t>
          </a:r>
          <a:endParaRPr lang="en-NZ"/>
        </a:p>
      </dgm:t>
    </dgm:pt>
    <dgm:pt modelId="{ADD8101D-52F5-42B9-B7A2-8317584D202E}" type="parTrans" cxnId="{4FAAE3A1-A34C-4EE7-AFF5-CFE38850FB9D}">
      <dgm:prSet/>
      <dgm:spPr/>
      <dgm:t>
        <a:bodyPr/>
        <a:lstStyle/>
        <a:p>
          <a:endParaRPr lang="en-NZ"/>
        </a:p>
      </dgm:t>
    </dgm:pt>
    <dgm:pt modelId="{625702A9-E14A-48FD-8C02-5CA7186FA594}" type="sibTrans" cxnId="{4FAAE3A1-A34C-4EE7-AFF5-CFE38850FB9D}">
      <dgm:prSet/>
      <dgm:spPr/>
      <dgm:t>
        <a:bodyPr/>
        <a:lstStyle/>
        <a:p>
          <a:endParaRPr lang="en-NZ"/>
        </a:p>
      </dgm:t>
    </dgm:pt>
    <dgm:pt modelId="{804B9FEC-1DC9-427D-880F-E89605E1A78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/>
            <a:t>… and some income is used to buy goods abroad</a:t>
          </a:r>
          <a:endParaRPr lang="en-NZ"/>
        </a:p>
      </dgm:t>
    </dgm:pt>
    <dgm:pt modelId="{33877718-BB9B-4A2A-823B-9AB42B672A35}" type="parTrans" cxnId="{01B481C1-42DC-4D26-B213-404DBC71A55E}">
      <dgm:prSet/>
      <dgm:spPr/>
      <dgm:t>
        <a:bodyPr/>
        <a:lstStyle/>
        <a:p>
          <a:endParaRPr lang="en-NZ"/>
        </a:p>
      </dgm:t>
    </dgm:pt>
    <dgm:pt modelId="{2A9B35FC-458F-4D21-9B0C-BF88136ADB8C}" type="sibTrans" cxnId="{01B481C1-42DC-4D26-B213-404DBC71A55E}">
      <dgm:prSet/>
      <dgm:spPr/>
      <dgm:t>
        <a:bodyPr/>
        <a:lstStyle/>
        <a:p>
          <a:endParaRPr lang="en-NZ"/>
        </a:p>
      </dgm:t>
    </dgm:pt>
    <dgm:pt modelId="{AF281CBB-BFDE-412B-B7C6-A8E3AC403CE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Smaller multiplier implies a flatter AD curve. </a:t>
          </a:r>
          <a:endParaRPr lang="en-NZ" dirty="0"/>
        </a:p>
      </dgm:t>
    </dgm:pt>
    <dgm:pt modelId="{D3CADD16-712C-461D-A6FC-BBE08E3923A3}" type="parTrans" cxnId="{E3CDBD79-F416-4314-9695-EE12DDE59121}">
      <dgm:prSet/>
      <dgm:spPr/>
      <dgm:t>
        <a:bodyPr/>
        <a:lstStyle/>
        <a:p>
          <a:endParaRPr lang="en-NZ"/>
        </a:p>
      </dgm:t>
    </dgm:pt>
    <dgm:pt modelId="{06FF772E-7012-4973-87F5-0A3DB8603533}" type="sibTrans" cxnId="{E3CDBD79-F416-4314-9695-EE12DDE59121}">
      <dgm:prSet/>
      <dgm:spPr/>
      <dgm:t>
        <a:bodyPr/>
        <a:lstStyle/>
        <a:p>
          <a:endParaRPr lang="en-NZ"/>
        </a:p>
      </dgm:t>
    </dgm:pt>
    <dgm:pt modelId="{CF23D5AE-6DCB-4CBE-B289-D0665C120C89}" type="pres">
      <dgm:prSet presAssocID="{6CB2A2CF-9289-4AB8-9594-8F6A8C5E304B}" presName="Name0" presStyleCnt="0">
        <dgm:presLayoutVars>
          <dgm:dir/>
          <dgm:animLvl val="lvl"/>
          <dgm:resizeHandles val="exact"/>
        </dgm:presLayoutVars>
      </dgm:prSet>
      <dgm:spPr/>
    </dgm:pt>
    <dgm:pt modelId="{FF41A5E1-2967-452E-AB3C-9DB9220C424A}" type="pres">
      <dgm:prSet presAssocID="{AF281CBB-BFDE-412B-B7C6-A8E3AC403CED}" presName="boxAndChildren" presStyleCnt="0"/>
      <dgm:spPr/>
    </dgm:pt>
    <dgm:pt modelId="{62195DCA-582F-46F9-8AEC-6CB2B5BADE4B}" type="pres">
      <dgm:prSet presAssocID="{AF281CBB-BFDE-412B-B7C6-A8E3AC403CED}" presName="parentTextBox" presStyleLbl="node1" presStyleIdx="0" presStyleCnt="4"/>
      <dgm:spPr/>
    </dgm:pt>
    <dgm:pt modelId="{77FDB075-ED21-49EC-9596-4E37DD649467}" type="pres">
      <dgm:prSet presAssocID="{2A9B35FC-458F-4D21-9B0C-BF88136ADB8C}" presName="sp" presStyleCnt="0"/>
      <dgm:spPr/>
    </dgm:pt>
    <dgm:pt modelId="{3391D1D1-4B4E-4FFC-A885-03E5BAEF4CFA}" type="pres">
      <dgm:prSet presAssocID="{804B9FEC-1DC9-427D-880F-E89605E1A78C}" presName="arrowAndChildren" presStyleCnt="0"/>
      <dgm:spPr/>
    </dgm:pt>
    <dgm:pt modelId="{FE0C73E0-218E-447A-91CD-E47EB57E846B}" type="pres">
      <dgm:prSet presAssocID="{804B9FEC-1DC9-427D-880F-E89605E1A78C}" presName="parentTextArrow" presStyleLbl="node1" presStyleIdx="1" presStyleCnt="4"/>
      <dgm:spPr/>
    </dgm:pt>
    <dgm:pt modelId="{11DFEFAF-75A5-41D4-BB0F-29609C9F1A46}" type="pres">
      <dgm:prSet presAssocID="{625702A9-E14A-48FD-8C02-5CA7186FA594}" presName="sp" presStyleCnt="0"/>
      <dgm:spPr/>
    </dgm:pt>
    <dgm:pt modelId="{B8E38367-B6B6-4F85-AB37-635CE0885E05}" type="pres">
      <dgm:prSet presAssocID="{B00E0738-E5F9-4D9F-8C54-BF0693686421}" presName="arrowAndChildren" presStyleCnt="0"/>
      <dgm:spPr/>
    </dgm:pt>
    <dgm:pt modelId="{CCBBF8F3-C2A0-4CC3-862D-9EF20CEB0D60}" type="pres">
      <dgm:prSet presAssocID="{B00E0738-E5F9-4D9F-8C54-BF0693686421}" presName="parentTextArrow" presStyleLbl="node1" presStyleIdx="2" presStyleCnt="4"/>
      <dgm:spPr/>
    </dgm:pt>
    <dgm:pt modelId="{310C6FD4-8F12-40FA-B3FC-65196C67F97B}" type="pres">
      <dgm:prSet presAssocID="{309EAF9B-383C-4E1F-8BE6-B7CF48B7DD2F}" presName="sp" presStyleCnt="0"/>
      <dgm:spPr/>
    </dgm:pt>
    <dgm:pt modelId="{9472E9F7-92DE-4373-AB0C-20F3E2996409}" type="pres">
      <dgm:prSet presAssocID="{9F1D745F-E6F2-44B6-9101-76DFAC3ADCA8}" presName="arrowAndChildren" presStyleCnt="0"/>
      <dgm:spPr/>
    </dgm:pt>
    <dgm:pt modelId="{7A943B34-A12E-49A7-BBC3-FB7E25F7C7F9}" type="pres">
      <dgm:prSet presAssocID="{9F1D745F-E6F2-44B6-9101-76DFAC3ADCA8}" presName="parentTextArrow" presStyleLbl="node1" presStyleIdx="3" presStyleCnt="4"/>
      <dgm:spPr/>
    </dgm:pt>
  </dgm:ptLst>
  <dgm:cxnLst>
    <dgm:cxn modelId="{ACC5DB16-5107-443D-BEDE-FFA3FD124DE7}" type="presOf" srcId="{AF281CBB-BFDE-412B-B7C6-A8E3AC403CED}" destId="{62195DCA-582F-46F9-8AEC-6CB2B5BADE4B}" srcOrd="0" destOrd="0" presId="urn:microsoft.com/office/officeart/2005/8/layout/process4"/>
    <dgm:cxn modelId="{FDC5E82E-41B3-47D2-913D-E16A86AC601D}" type="presOf" srcId="{804B9FEC-1DC9-427D-880F-E89605E1A78C}" destId="{FE0C73E0-218E-447A-91CD-E47EB57E846B}" srcOrd="0" destOrd="0" presId="urn:microsoft.com/office/officeart/2005/8/layout/process4"/>
    <dgm:cxn modelId="{565A5B2F-566E-4543-A9B4-F41D9D2E5ABF}" type="presOf" srcId="{6CB2A2CF-9289-4AB8-9594-8F6A8C5E304B}" destId="{CF23D5AE-6DCB-4CBE-B289-D0665C120C89}" srcOrd="0" destOrd="0" presId="urn:microsoft.com/office/officeart/2005/8/layout/process4"/>
    <dgm:cxn modelId="{FA875558-660C-4FD3-BA42-8A4D1E987856}" type="presOf" srcId="{9F1D745F-E6F2-44B6-9101-76DFAC3ADCA8}" destId="{7A943B34-A12E-49A7-BBC3-FB7E25F7C7F9}" srcOrd="0" destOrd="0" presId="urn:microsoft.com/office/officeart/2005/8/layout/process4"/>
    <dgm:cxn modelId="{E3CDBD79-F416-4314-9695-EE12DDE59121}" srcId="{6CB2A2CF-9289-4AB8-9594-8F6A8C5E304B}" destId="{AF281CBB-BFDE-412B-B7C6-A8E3AC403CED}" srcOrd="3" destOrd="0" parTransId="{D3CADD16-712C-461D-A6FC-BBE08E3923A3}" sibTransId="{06FF772E-7012-4973-87F5-0A3DB8603533}"/>
    <dgm:cxn modelId="{4FAAE3A1-A34C-4EE7-AFF5-CFE38850FB9D}" srcId="{6CB2A2CF-9289-4AB8-9594-8F6A8C5E304B}" destId="{B00E0738-E5F9-4D9F-8C54-BF0693686421}" srcOrd="1" destOrd="0" parTransId="{ADD8101D-52F5-42B9-B7A2-8317584D202E}" sibTransId="{625702A9-E14A-48FD-8C02-5CA7186FA594}"/>
    <dgm:cxn modelId="{204441AF-4A1E-45CB-9A78-7E9D387401F0}" srcId="{6CB2A2CF-9289-4AB8-9594-8F6A8C5E304B}" destId="{9F1D745F-E6F2-44B6-9101-76DFAC3ADCA8}" srcOrd="0" destOrd="0" parTransId="{F6BFFFDD-F054-40EA-A828-8995F391D9A7}" sibTransId="{309EAF9B-383C-4E1F-8BE6-B7CF48B7DD2F}"/>
    <dgm:cxn modelId="{01B481C1-42DC-4D26-B213-404DBC71A55E}" srcId="{6CB2A2CF-9289-4AB8-9594-8F6A8C5E304B}" destId="{804B9FEC-1DC9-427D-880F-E89605E1A78C}" srcOrd="2" destOrd="0" parTransId="{33877718-BB9B-4A2A-823B-9AB42B672A35}" sibTransId="{2A9B35FC-458F-4D21-9B0C-BF88136ADB8C}"/>
    <dgm:cxn modelId="{E53F81F7-EA29-4832-8677-D0BA0773CE95}" type="presOf" srcId="{B00E0738-E5F9-4D9F-8C54-BF0693686421}" destId="{CCBBF8F3-C2A0-4CC3-862D-9EF20CEB0D60}" srcOrd="0" destOrd="0" presId="urn:microsoft.com/office/officeart/2005/8/layout/process4"/>
    <dgm:cxn modelId="{1FE89933-FDFB-4143-8BF3-F95CAA82FF32}" type="presParOf" srcId="{CF23D5AE-6DCB-4CBE-B289-D0665C120C89}" destId="{FF41A5E1-2967-452E-AB3C-9DB9220C424A}" srcOrd="0" destOrd="0" presId="urn:microsoft.com/office/officeart/2005/8/layout/process4"/>
    <dgm:cxn modelId="{EB6E16FB-B9CD-4092-B70C-9AB1147CE48D}" type="presParOf" srcId="{FF41A5E1-2967-452E-AB3C-9DB9220C424A}" destId="{62195DCA-582F-46F9-8AEC-6CB2B5BADE4B}" srcOrd="0" destOrd="0" presId="urn:microsoft.com/office/officeart/2005/8/layout/process4"/>
    <dgm:cxn modelId="{D73EA420-FF05-4306-84D5-0B81626175F1}" type="presParOf" srcId="{CF23D5AE-6DCB-4CBE-B289-D0665C120C89}" destId="{77FDB075-ED21-49EC-9596-4E37DD649467}" srcOrd="1" destOrd="0" presId="urn:microsoft.com/office/officeart/2005/8/layout/process4"/>
    <dgm:cxn modelId="{9A23F815-2F96-44A8-AE28-C189C0D32480}" type="presParOf" srcId="{CF23D5AE-6DCB-4CBE-B289-D0665C120C89}" destId="{3391D1D1-4B4E-4FFC-A885-03E5BAEF4CFA}" srcOrd="2" destOrd="0" presId="urn:microsoft.com/office/officeart/2005/8/layout/process4"/>
    <dgm:cxn modelId="{AA1BF8AE-F50D-49E6-AF80-3FCEDF370F5C}" type="presParOf" srcId="{3391D1D1-4B4E-4FFC-A885-03E5BAEF4CFA}" destId="{FE0C73E0-218E-447A-91CD-E47EB57E846B}" srcOrd="0" destOrd="0" presId="urn:microsoft.com/office/officeart/2005/8/layout/process4"/>
    <dgm:cxn modelId="{BF22958B-9A84-4E43-9AEC-AF6A836B91B1}" type="presParOf" srcId="{CF23D5AE-6DCB-4CBE-B289-D0665C120C89}" destId="{11DFEFAF-75A5-41D4-BB0F-29609C9F1A46}" srcOrd="3" destOrd="0" presId="urn:microsoft.com/office/officeart/2005/8/layout/process4"/>
    <dgm:cxn modelId="{0CCDF951-B7E9-4230-9F49-A9C536DAA087}" type="presParOf" srcId="{CF23D5AE-6DCB-4CBE-B289-D0665C120C89}" destId="{B8E38367-B6B6-4F85-AB37-635CE0885E05}" srcOrd="4" destOrd="0" presId="urn:microsoft.com/office/officeart/2005/8/layout/process4"/>
    <dgm:cxn modelId="{04636E2B-9AD6-4ED8-A913-59D75BD90400}" type="presParOf" srcId="{B8E38367-B6B6-4F85-AB37-635CE0885E05}" destId="{CCBBF8F3-C2A0-4CC3-862D-9EF20CEB0D60}" srcOrd="0" destOrd="0" presId="urn:microsoft.com/office/officeart/2005/8/layout/process4"/>
    <dgm:cxn modelId="{0101C481-C923-420C-819D-8897AD02B36E}" type="presParOf" srcId="{CF23D5AE-6DCB-4CBE-B289-D0665C120C89}" destId="{310C6FD4-8F12-40FA-B3FC-65196C67F97B}" srcOrd="5" destOrd="0" presId="urn:microsoft.com/office/officeart/2005/8/layout/process4"/>
    <dgm:cxn modelId="{17310AD8-4AF1-42B9-9403-87B9B5A16003}" type="presParOf" srcId="{CF23D5AE-6DCB-4CBE-B289-D0665C120C89}" destId="{9472E9F7-92DE-4373-AB0C-20F3E2996409}" srcOrd="6" destOrd="0" presId="urn:microsoft.com/office/officeart/2005/8/layout/process4"/>
    <dgm:cxn modelId="{299B309B-0FD3-45A8-8185-031D6B30B9C8}" type="presParOf" srcId="{9472E9F7-92DE-4373-AB0C-20F3E2996409}" destId="{7A943B34-A12E-49A7-BBC3-FB7E25F7C7F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E7FDE00-41A5-471E-8A8B-795D082D975E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5D846EAF-5DE0-469B-B6D8-62C3ABABFDB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Government spending is large and exogenous</a:t>
          </a:r>
        </a:p>
      </dgm:t>
    </dgm:pt>
    <dgm:pt modelId="{D8FF42D9-B45B-40C0-A24F-5423E648F0C3}" type="parTrans" cxnId="{2D931CD5-3563-4864-88B6-A31175742728}">
      <dgm:prSet/>
      <dgm:spPr/>
      <dgm:t>
        <a:bodyPr/>
        <a:lstStyle/>
        <a:p>
          <a:endParaRPr lang="en-NZ"/>
        </a:p>
      </dgm:t>
    </dgm:pt>
    <dgm:pt modelId="{DF6B2765-6BCE-4D6D-9DDC-EAB368B617C1}" type="sibTrans" cxnId="{2D931CD5-3563-4864-88B6-A31175742728}">
      <dgm:prSet/>
      <dgm:spPr/>
      <dgm:t>
        <a:bodyPr/>
        <a:lstStyle/>
        <a:p>
          <a:endParaRPr lang="en-NZ"/>
        </a:p>
      </dgm:t>
    </dgm:pt>
    <dgm:pt modelId="{59E41870-1179-46F5-9793-F1F97C60ABA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Higher tax rates lower the multiplier</a:t>
          </a:r>
        </a:p>
      </dgm:t>
    </dgm:pt>
    <dgm:pt modelId="{732960FD-DA04-41D2-96D1-9174566C5B97}" type="parTrans" cxnId="{AC1C9040-5D18-4829-83C7-DD80F7AB4314}">
      <dgm:prSet/>
      <dgm:spPr/>
      <dgm:t>
        <a:bodyPr/>
        <a:lstStyle/>
        <a:p>
          <a:endParaRPr lang="en-NZ"/>
        </a:p>
      </dgm:t>
    </dgm:pt>
    <dgm:pt modelId="{2EA095B4-40DF-4B54-BA95-504F1EAC1938}" type="sibTrans" cxnId="{AC1C9040-5D18-4829-83C7-DD80F7AB4314}">
      <dgm:prSet/>
      <dgm:spPr/>
      <dgm:t>
        <a:bodyPr/>
        <a:lstStyle/>
        <a:p>
          <a:endParaRPr lang="en-NZ"/>
        </a:p>
      </dgm:t>
    </dgm:pt>
    <dgm:pt modelId="{1076D581-3F36-4D13-8271-76422D9A2370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Unemployment benefits helps household consumption smoothing</a:t>
          </a:r>
        </a:p>
      </dgm:t>
    </dgm:pt>
    <dgm:pt modelId="{B8B8B8F4-6963-42D6-A271-7654B3D274E6}" type="parTrans" cxnId="{290EA9A5-007C-4E99-87A6-94017247EDF2}">
      <dgm:prSet/>
      <dgm:spPr/>
      <dgm:t>
        <a:bodyPr/>
        <a:lstStyle/>
        <a:p>
          <a:endParaRPr lang="en-NZ"/>
        </a:p>
      </dgm:t>
    </dgm:pt>
    <dgm:pt modelId="{154D5F33-A50C-46C0-8810-D1C755E83452}" type="sibTrans" cxnId="{290EA9A5-007C-4E99-87A6-94017247EDF2}">
      <dgm:prSet/>
      <dgm:spPr/>
      <dgm:t>
        <a:bodyPr/>
        <a:lstStyle/>
        <a:p>
          <a:endParaRPr lang="en-NZ"/>
        </a:p>
      </dgm:t>
    </dgm:pt>
    <dgm:pt modelId="{80BEA7F7-A4B9-43B3-8F17-6EF86285955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Deliberate interventions via fiscal policy.</a:t>
          </a:r>
        </a:p>
      </dgm:t>
    </dgm:pt>
    <dgm:pt modelId="{7656E4B8-EFC4-4494-87BD-66442DE96D59}" type="parTrans" cxnId="{A13767A7-5A6C-4E4F-93E1-906F604E1A43}">
      <dgm:prSet/>
      <dgm:spPr/>
      <dgm:t>
        <a:bodyPr/>
        <a:lstStyle/>
        <a:p>
          <a:endParaRPr lang="en-NZ"/>
        </a:p>
      </dgm:t>
    </dgm:pt>
    <dgm:pt modelId="{02828BDC-BA7B-43C8-ADA0-CABC89A2C907}" type="sibTrans" cxnId="{A13767A7-5A6C-4E4F-93E1-906F604E1A43}">
      <dgm:prSet/>
      <dgm:spPr/>
      <dgm:t>
        <a:bodyPr/>
        <a:lstStyle/>
        <a:p>
          <a:endParaRPr lang="en-NZ"/>
        </a:p>
      </dgm:t>
    </dgm:pt>
    <dgm:pt modelId="{AE03C312-FE06-4EA3-AEA6-6B4D212037F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E.g. NZ ‘Shovel Ready’ projects as part of Covid19 recovery.</a:t>
          </a:r>
        </a:p>
      </dgm:t>
    </dgm:pt>
    <dgm:pt modelId="{9ECAF86D-5BA5-43AB-A1FE-CB0F8A04E23C}" type="parTrans" cxnId="{D7E6E984-CC20-42AF-833A-65FFACB5C092}">
      <dgm:prSet/>
      <dgm:spPr/>
      <dgm:t>
        <a:bodyPr/>
        <a:lstStyle/>
        <a:p>
          <a:endParaRPr lang="en-NZ"/>
        </a:p>
      </dgm:t>
    </dgm:pt>
    <dgm:pt modelId="{AC9A6AF0-FFA2-4D56-97C5-51905EAE31D9}" type="sibTrans" cxnId="{D7E6E984-CC20-42AF-833A-65FFACB5C092}">
      <dgm:prSet/>
      <dgm:spPr/>
      <dgm:t>
        <a:bodyPr/>
        <a:lstStyle/>
        <a:p>
          <a:endParaRPr lang="en-NZ"/>
        </a:p>
      </dgm:t>
    </dgm:pt>
    <dgm:pt modelId="{6E2114EC-F041-4F44-82ED-9FBD94D36649}" type="pres">
      <dgm:prSet presAssocID="{BE7FDE00-41A5-471E-8A8B-795D082D975E}" presName="diagram" presStyleCnt="0">
        <dgm:presLayoutVars>
          <dgm:dir/>
          <dgm:resizeHandles val="exact"/>
        </dgm:presLayoutVars>
      </dgm:prSet>
      <dgm:spPr/>
    </dgm:pt>
    <dgm:pt modelId="{D02D40B4-5603-4692-907A-3AD29D4E2358}" type="pres">
      <dgm:prSet presAssocID="{5D846EAF-5DE0-469B-B6D8-62C3ABABFDBC}" presName="node" presStyleLbl="node1" presStyleIdx="0" presStyleCnt="4">
        <dgm:presLayoutVars>
          <dgm:bulletEnabled val="1"/>
        </dgm:presLayoutVars>
      </dgm:prSet>
      <dgm:spPr/>
    </dgm:pt>
    <dgm:pt modelId="{B8ECC383-3CDE-4262-BE2F-9B76995CC15A}" type="pres">
      <dgm:prSet presAssocID="{DF6B2765-6BCE-4D6D-9DDC-EAB368B617C1}" presName="sibTrans" presStyleCnt="0"/>
      <dgm:spPr/>
    </dgm:pt>
    <dgm:pt modelId="{55E6672C-96F7-42AB-A11E-F0414F67B861}" type="pres">
      <dgm:prSet presAssocID="{59E41870-1179-46F5-9793-F1F97C60ABA2}" presName="node" presStyleLbl="node1" presStyleIdx="1" presStyleCnt="4">
        <dgm:presLayoutVars>
          <dgm:bulletEnabled val="1"/>
        </dgm:presLayoutVars>
      </dgm:prSet>
      <dgm:spPr/>
    </dgm:pt>
    <dgm:pt modelId="{42A35D81-412D-4EFE-8C23-6AAFE6B32570}" type="pres">
      <dgm:prSet presAssocID="{2EA095B4-40DF-4B54-BA95-504F1EAC1938}" presName="sibTrans" presStyleCnt="0"/>
      <dgm:spPr/>
    </dgm:pt>
    <dgm:pt modelId="{E65C0397-3264-4C1A-9C97-C113955F6ECD}" type="pres">
      <dgm:prSet presAssocID="{1076D581-3F36-4D13-8271-76422D9A2370}" presName="node" presStyleLbl="node1" presStyleIdx="2" presStyleCnt="4">
        <dgm:presLayoutVars>
          <dgm:bulletEnabled val="1"/>
        </dgm:presLayoutVars>
      </dgm:prSet>
      <dgm:spPr/>
    </dgm:pt>
    <dgm:pt modelId="{D4BF9039-6809-401A-AD56-4805F630B69A}" type="pres">
      <dgm:prSet presAssocID="{154D5F33-A50C-46C0-8810-D1C755E83452}" presName="sibTrans" presStyleCnt="0"/>
      <dgm:spPr/>
    </dgm:pt>
    <dgm:pt modelId="{6902E8A9-953A-4D76-A567-11ABBCED5B4C}" type="pres">
      <dgm:prSet presAssocID="{80BEA7F7-A4B9-43B3-8F17-6EF862859556}" presName="node" presStyleLbl="node1" presStyleIdx="3" presStyleCnt="4">
        <dgm:presLayoutVars>
          <dgm:bulletEnabled val="1"/>
        </dgm:presLayoutVars>
      </dgm:prSet>
      <dgm:spPr/>
    </dgm:pt>
  </dgm:ptLst>
  <dgm:cxnLst>
    <dgm:cxn modelId="{E6E73B31-0579-44DD-A832-CCFB4A041BEE}" type="presOf" srcId="{1076D581-3F36-4D13-8271-76422D9A2370}" destId="{E65C0397-3264-4C1A-9C97-C113955F6ECD}" srcOrd="0" destOrd="0" presId="urn:microsoft.com/office/officeart/2005/8/layout/default"/>
    <dgm:cxn modelId="{AC1C9040-5D18-4829-83C7-DD80F7AB4314}" srcId="{BE7FDE00-41A5-471E-8A8B-795D082D975E}" destId="{59E41870-1179-46F5-9793-F1F97C60ABA2}" srcOrd="1" destOrd="0" parTransId="{732960FD-DA04-41D2-96D1-9174566C5B97}" sibTransId="{2EA095B4-40DF-4B54-BA95-504F1EAC1938}"/>
    <dgm:cxn modelId="{4934E242-B967-48F6-A98B-996AE2207A26}" type="presOf" srcId="{80BEA7F7-A4B9-43B3-8F17-6EF862859556}" destId="{6902E8A9-953A-4D76-A567-11ABBCED5B4C}" srcOrd="0" destOrd="0" presId="urn:microsoft.com/office/officeart/2005/8/layout/default"/>
    <dgm:cxn modelId="{D7E6E984-CC20-42AF-833A-65FFACB5C092}" srcId="{80BEA7F7-A4B9-43B3-8F17-6EF862859556}" destId="{AE03C312-FE06-4EA3-AEA6-6B4D212037FE}" srcOrd="0" destOrd="0" parTransId="{9ECAF86D-5BA5-43AB-A1FE-CB0F8A04E23C}" sibTransId="{AC9A6AF0-FFA2-4D56-97C5-51905EAE31D9}"/>
    <dgm:cxn modelId="{290EA9A5-007C-4E99-87A6-94017247EDF2}" srcId="{BE7FDE00-41A5-471E-8A8B-795D082D975E}" destId="{1076D581-3F36-4D13-8271-76422D9A2370}" srcOrd="2" destOrd="0" parTransId="{B8B8B8F4-6963-42D6-A271-7654B3D274E6}" sibTransId="{154D5F33-A50C-46C0-8810-D1C755E83452}"/>
    <dgm:cxn modelId="{A13767A7-5A6C-4E4F-93E1-906F604E1A43}" srcId="{BE7FDE00-41A5-471E-8A8B-795D082D975E}" destId="{80BEA7F7-A4B9-43B3-8F17-6EF862859556}" srcOrd="3" destOrd="0" parTransId="{7656E4B8-EFC4-4494-87BD-66442DE96D59}" sibTransId="{02828BDC-BA7B-43C8-ADA0-CABC89A2C907}"/>
    <dgm:cxn modelId="{980CC6A7-D09F-4F52-AEF2-D2CD9DDF06E3}" type="presOf" srcId="{5D846EAF-5DE0-469B-B6D8-62C3ABABFDBC}" destId="{D02D40B4-5603-4692-907A-3AD29D4E2358}" srcOrd="0" destOrd="0" presId="urn:microsoft.com/office/officeart/2005/8/layout/default"/>
    <dgm:cxn modelId="{79B844BE-925D-4BBE-8D69-F2763BD8D112}" type="presOf" srcId="{AE03C312-FE06-4EA3-AEA6-6B4D212037FE}" destId="{6902E8A9-953A-4D76-A567-11ABBCED5B4C}" srcOrd="0" destOrd="1" presId="urn:microsoft.com/office/officeart/2005/8/layout/default"/>
    <dgm:cxn modelId="{515D2CBF-B450-428A-99F8-562A2FADFF1C}" type="presOf" srcId="{59E41870-1179-46F5-9793-F1F97C60ABA2}" destId="{55E6672C-96F7-42AB-A11E-F0414F67B861}" srcOrd="0" destOrd="0" presId="urn:microsoft.com/office/officeart/2005/8/layout/default"/>
    <dgm:cxn modelId="{2D931CD5-3563-4864-88B6-A31175742728}" srcId="{BE7FDE00-41A5-471E-8A8B-795D082D975E}" destId="{5D846EAF-5DE0-469B-B6D8-62C3ABABFDBC}" srcOrd="0" destOrd="0" parTransId="{D8FF42D9-B45B-40C0-A24F-5423E648F0C3}" sibTransId="{DF6B2765-6BCE-4D6D-9DDC-EAB368B617C1}"/>
    <dgm:cxn modelId="{F59FBEE7-FE8D-47F8-8ACA-AF0EF76440A2}" type="presOf" srcId="{BE7FDE00-41A5-471E-8A8B-795D082D975E}" destId="{6E2114EC-F041-4F44-82ED-9FBD94D36649}" srcOrd="0" destOrd="0" presId="urn:microsoft.com/office/officeart/2005/8/layout/default"/>
    <dgm:cxn modelId="{3F99EABA-9758-4F1B-A149-AED9F35028E2}" type="presParOf" srcId="{6E2114EC-F041-4F44-82ED-9FBD94D36649}" destId="{D02D40B4-5603-4692-907A-3AD29D4E2358}" srcOrd="0" destOrd="0" presId="urn:microsoft.com/office/officeart/2005/8/layout/default"/>
    <dgm:cxn modelId="{5C595810-C1D5-459C-BC85-819F0C0D3AB6}" type="presParOf" srcId="{6E2114EC-F041-4F44-82ED-9FBD94D36649}" destId="{B8ECC383-3CDE-4262-BE2F-9B76995CC15A}" srcOrd="1" destOrd="0" presId="urn:microsoft.com/office/officeart/2005/8/layout/default"/>
    <dgm:cxn modelId="{3F8A5B32-1415-4CB3-9BC7-3793D1D5208A}" type="presParOf" srcId="{6E2114EC-F041-4F44-82ED-9FBD94D36649}" destId="{55E6672C-96F7-42AB-A11E-F0414F67B861}" srcOrd="2" destOrd="0" presId="urn:microsoft.com/office/officeart/2005/8/layout/default"/>
    <dgm:cxn modelId="{2E071AE4-75AD-41DF-B12A-2ED56DB16791}" type="presParOf" srcId="{6E2114EC-F041-4F44-82ED-9FBD94D36649}" destId="{42A35D81-412D-4EFE-8C23-6AAFE6B32570}" srcOrd="3" destOrd="0" presId="urn:microsoft.com/office/officeart/2005/8/layout/default"/>
    <dgm:cxn modelId="{118314EA-A702-4299-BB74-C26CB1B79D08}" type="presParOf" srcId="{6E2114EC-F041-4F44-82ED-9FBD94D36649}" destId="{E65C0397-3264-4C1A-9C97-C113955F6ECD}" srcOrd="4" destOrd="0" presId="urn:microsoft.com/office/officeart/2005/8/layout/default"/>
    <dgm:cxn modelId="{B3A4343B-882F-4350-A260-A619E7F719EA}" type="presParOf" srcId="{6E2114EC-F041-4F44-82ED-9FBD94D36649}" destId="{D4BF9039-6809-401A-AD56-4805F630B69A}" srcOrd="5" destOrd="0" presId="urn:microsoft.com/office/officeart/2005/8/layout/default"/>
    <dgm:cxn modelId="{5CFD5B94-CCDA-4EC8-B59F-012832939AB8}" type="presParOf" srcId="{6E2114EC-F041-4F44-82ED-9FBD94D36649}" destId="{6902E8A9-953A-4D76-A567-11ABBCED5B4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5DA187D-DB31-49E5-8F34-D58D3E0F0123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A02A3D5D-53FF-4EDB-AC51-F870CA5EB7F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/>
            <a:t>Consumer spending on travel and durables dropped because of lockdown.</a:t>
          </a:r>
          <a:endParaRPr lang="en-NZ"/>
        </a:p>
      </dgm:t>
    </dgm:pt>
    <dgm:pt modelId="{6C8375E9-E037-4B04-9DEA-258ED03EB3A8}" type="parTrans" cxnId="{A025666C-B9BD-48B5-BA17-1D8F52BF60C6}">
      <dgm:prSet/>
      <dgm:spPr/>
      <dgm:t>
        <a:bodyPr/>
        <a:lstStyle/>
        <a:p>
          <a:endParaRPr lang="en-NZ"/>
        </a:p>
      </dgm:t>
    </dgm:pt>
    <dgm:pt modelId="{DF09C5FC-6932-4B15-A313-9C66A4D16C9E}" type="sibTrans" cxnId="{A025666C-B9BD-48B5-BA17-1D8F52BF60C6}">
      <dgm:prSet/>
      <dgm:spPr/>
      <dgm:t>
        <a:bodyPr/>
        <a:lstStyle/>
        <a:p>
          <a:endParaRPr lang="en-NZ"/>
        </a:p>
      </dgm:t>
    </dgm:pt>
    <dgm:pt modelId="{3E285601-79C7-4212-8ED2-E7C9D9ADF018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/>
            <a:t>Exports fell because overseas tourists could not visit.</a:t>
          </a:r>
          <a:endParaRPr lang="en-NZ"/>
        </a:p>
      </dgm:t>
    </dgm:pt>
    <dgm:pt modelId="{0EE8E4B7-A7CF-4729-A23E-A3C10542E2D5}" type="parTrans" cxnId="{9C6AE2F0-56F0-440C-901D-0C61847042B9}">
      <dgm:prSet/>
      <dgm:spPr/>
      <dgm:t>
        <a:bodyPr/>
        <a:lstStyle/>
        <a:p>
          <a:endParaRPr lang="en-NZ"/>
        </a:p>
      </dgm:t>
    </dgm:pt>
    <dgm:pt modelId="{DEC8A037-515A-40FA-93FF-2A6E84FB25B8}" type="sibTrans" cxnId="{9C6AE2F0-56F0-440C-901D-0C61847042B9}">
      <dgm:prSet/>
      <dgm:spPr/>
      <dgm:t>
        <a:bodyPr/>
        <a:lstStyle/>
        <a:p>
          <a:endParaRPr lang="en-NZ"/>
        </a:p>
      </dgm:t>
    </dgm:pt>
    <dgm:pt modelId="{FF3DBF19-CB14-4ABB-BEB9-B4DAAB73EB7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Imports fell by more (durables like cars and oil imports dropped)</a:t>
          </a:r>
          <a:endParaRPr lang="en-NZ" dirty="0"/>
        </a:p>
      </dgm:t>
    </dgm:pt>
    <dgm:pt modelId="{47E47DEC-01B8-46CB-8103-B149453B3320}" type="parTrans" cxnId="{7042900A-C6CF-49C7-B5F5-F3C1960A5E7C}">
      <dgm:prSet/>
      <dgm:spPr/>
      <dgm:t>
        <a:bodyPr/>
        <a:lstStyle/>
        <a:p>
          <a:endParaRPr lang="en-NZ"/>
        </a:p>
      </dgm:t>
    </dgm:pt>
    <dgm:pt modelId="{C5DCE82D-89A5-4066-9117-63A65FC14382}" type="sibTrans" cxnId="{7042900A-C6CF-49C7-B5F5-F3C1960A5E7C}">
      <dgm:prSet/>
      <dgm:spPr/>
      <dgm:t>
        <a:bodyPr/>
        <a:lstStyle/>
        <a:p>
          <a:endParaRPr lang="en-NZ"/>
        </a:p>
      </dgm:t>
    </dgm:pt>
    <dgm:pt modelId="{C3DC98CB-806F-4947-976D-A1E501A6450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Government increased spending on:</a:t>
          </a:r>
          <a:endParaRPr lang="en-NZ" dirty="0"/>
        </a:p>
      </dgm:t>
    </dgm:pt>
    <dgm:pt modelId="{D2D334F7-404D-451D-96CE-31BC3B056753}" type="parTrans" cxnId="{35BB5E06-AF01-45E2-BB86-C330BB166169}">
      <dgm:prSet/>
      <dgm:spPr/>
      <dgm:t>
        <a:bodyPr/>
        <a:lstStyle/>
        <a:p>
          <a:endParaRPr lang="en-NZ"/>
        </a:p>
      </dgm:t>
    </dgm:pt>
    <dgm:pt modelId="{18137301-B3AD-4B79-912C-AF9B7B6CCD03}" type="sibTrans" cxnId="{35BB5E06-AF01-45E2-BB86-C330BB166169}">
      <dgm:prSet/>
      <dgm:spPr/>
      <dgm:t>
        <a:bodyPr/>
        <a:lstStyle/>
        <a:p>
          <a:endParaRPr lang="en-NZ"/>
        </a:p>
      </dgm:t>
    </dgm:pt>
    <dgm:pt modelId="{11AC2D93-656A-4FBB-B5F9-C900E3E61970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/>
            <a:t>Medical goods and services</a:t>
          </a:r>
          <a:r>
            <a:rPr lang="en-NZ"/>
            <a:t> (tests)</a:t>
          </a:r>
        </a:p>
      </dgm:t>
    </dgm:pt>
    <dgm:pt modelId="{B84EE86F-9295-49F2-A83E-EB6A7F5D3490}" type="parTrans" cxnId="{F45FE0C2-E21E-4150-8C4A-9C19D9891341}">
      <dgm:prSet/>
      <dgm:spPr/>
      <dgm:t>
        <a:bodyPr/>
        <a:lstStyle/>
        <a:p>
          <a:endParaRPr lang="en-NZ"/>
        </a:p>
      </dgm:t>
    </dgm:pt>
    <dgm:pt modelId="{4C06BDEA-CEAD-4E41-812B-183DA41C8A88}" type="sibTrans" cxnId="{F45FE0C2-E21E-4150-8C4A-9C19D9891341}">
      <dgm:prSet/>
      <dgm:spPr/>
      <dgm:t>
        <a:bodyPr/>
        <a:lstStyle/>
        <a:p>
          <a:endParaRPr lang="en-NZ"/>
        </a:p>
      </dgm:t>
    </dgm:pt>
    <dgm:pt modelId="{37BEBB6F-15CB-4BD3-9247-107FF42BF81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Quarantine facilities (booked and converted Hotels)</a:t>
          </a:r>
        </a:p>
      </dgm:t>
    </dgm:pt>
    <dgm:pt modelId="{23DDDF9D-CDC5-4FA6-9B7C-A5A1D7A047E3}" type="parTrans" cxnId="{2C7373C5-829F-491B-835C-596FF19EE825}">
      <dgm:prSet/>
      <dgm:spPr/>
      <dgm:t>
        <a:bodyPr/>
        <a:lstStyle/>
        <a:p>
          <a:endParaRPr lang="en-NZ"/>
        </a:p>
      </dgm:t>
    </dgm:pt>
    <dgm:pt modelId="{5D8435DA-738B-4337-B2BC-FFD320771379}" type="sibTrans" cxnId="{2C7373C5-829F-491B-835C-596FF19EE825}">
      <dgm:prSet/>
      <dgm:spPr/>
      <dgm:t>
        <a:bodyPr/>
        <a:lstStyle/>
        <a:p>
          <a:endParaRPr lang="en-NZ"/>
        </a:p>
      </dgm:t>
    </dgm:pt>
    <dgm:pt modelId="{2712CDA7-BA42-41DC-9AAE-2C2A6BFE81F0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Computers for children in low-income households</a:t>
          </a:r>
        </a:p>
      </dgm:t>
    </dgm:pt>
    <dgm:pt modelId="{607AB8F5-7BD7-4021-A09A-ABB2A5D5F986}" type="parTrans" cxnId="{AC65D344-0880-486A-951F-B22910DA1EF8}">
      <dgm:prSet/>
      <dgm:spPr/>
      <dgm:t>
        <a:bodyPr/>
        <a:lstStyle/>
        <a:p>
          <a:endParaRPr lang="en-NZ"/>
        </a:p>
      </dgm:t>
    </dgm:pt>
    <dgm:pt modelId="{490A68D2-DCA8-410F-935E-65B95E1D363A}" type="sibTrans" cxnId="{AC65D344-0880-486A-951F-B22910DA1EF8}">
      <dgm:prSet/>
      <dgm:spPr/>
      <dgm:t>
        <a:bodyPr/>
        <a:lstStyle/>
        <a:p>
          <a:endParaRPr lang="en-NZ"/>
        </a:p>
      </dgm:t>
    </dgm:pt>
    <dgm:pt modelId="{B5E6B901-E8A2-4671-AFA8-9F34B1252C86}" type="pres">
      <dgm:prSet presAssocID="{05DA187D-DB31-49E5-8F34-D58D3E0F0123}" presName="diagram" presStyleCnt="0">
        <dgm:presLayoutVars>
          <dgm:dir/>
          <dgm:resizeHandles val="exact"/>
        </dgm:presLayoutVars>
      </dgm:prSet>
      <dgm:spPr/>
    </dgm:pt>
    <dgm:pt modelId="{8CA5F10D-B0B2-433A-9D95-0DD8F6A450BE}" type="pres">
      <dgm:prSet presAssocID="{A02A3D5D-53FF-4EDB-AC51-F870CA5EB7FD}" presName="node" presStyleLbl="node1" presStyleIdx="0" presStyleCnt="4">
        <dgm:presLayoutVars>
          <dgm:bulletEnabled val="1"/>
        </dgm:presLayoutVars>
      </dgm:prSet>
      <dgm:spPr/>
    </dgm:pt>
    <dgm:pt modelId="{D658D1EA-9566-49C1-846A-4B1272D0D0ED}" type="pres">
      <dgm:prSet presAssocID="{DF09C5FC-6932-4B15-A313-9C66A4D16C9E}" presName="sibTrans" presStyleCnt="0"/>
      <dgm:spPr/>
    </dgm:pt>
    <dgm:pt modelId="{3509FED9-4A5B-4830-AD9E-B99590FEC642}" type="pres">
      <dgm:prSet presAssocID="{3E285601-79C7-4212-8ED2-E7C9D9ADF018}" presName="node" presStyleLbl="node1" presStyleIdx="1" presStyleCnt="4">
        <dgm:presLayoutVars>
          <dgm:bulletEnabled val="1"/>
        </dgm:presLayoutVars>
      </dgm:prSet>
      <dgm:spPr/>
    </dgm:pt>
    <dgm:pt modelId="{6D3D7EF7-64C4-4AEB-8291-6D51813D6004}" type="pres">
      <dgm:prSet presAssocID="{DEC8A037-515A-40FA-93FF-2A6E84FB25B8}" presName="sibTrans" presStyleCnt="0"/>
      <dgm:spPr/>
    </dgm:pt>
    <dgm:pt modelId="{83E0B2E7-DF9A-4EEA-BB9B-569B4CDBB271}" type="pres">
      <dgm:prSet presAssocID="{FF3DBF19-CB14-4ABB-BEB9-B4DAAB73EB74}" presName="node" presStyleLbl="node1" presStyleIdx="2" presStyleCnt="4">
        <dgm:presLayoutVars>
          <dgm:bulletEnabled val="1"/>
        </dgm:presLayoutVars>
      </dgm:prSet>
      <dgm:spPr/>
    </dgm:pt>
    <dgm:pt modelId="{1B98E813-490B-47D0-85C5-051DCEE04C4E}" type="pres">
      <dgm:prSet presAssocID="{C5DCE82D-89A5-4066-9117-63A65FC14382}" presName="sibTrans" presStyleCnt="0"/>
      <dgm:spPr/>
    </dgm:pt>
    <dgm:pt modelId="{C6EC8C1E-4DA4-4AAE-B9B7-924D6E82C12F}" type="pres">
      <dgm:prSet presAssocID="{C3DC98CB-806F-4947-976D-A1E501A64509}" presName="node" presStyleLbl="node1" presStyleIdx="3" presStyleCnt="4">
        <dgm:presLayoutVars>
          <dgm:bulletEnabled val="1"/>
        </dgm:presLayoutVars>
      </dgm:prSet>
      <dgm:spPr/>
    </dgm:pt>
  </dgm:ptLst>
  <dgm:cxnLst>
    <dgm:cxn modelId="{35BB5E06-AF01-45E2-BB86-C330BB166169}" srcId="{05DA187D-DB31-49E5-8F34-D58D3E0F0123}" destId="{C3DC98CB-806F-4947-976D-A1E501A64509}" srcOrd="3" destOrd="0" parTransId="{D2D334F7-404D-451D-96CE-31BC3B056753}" sibTransId="{18137301-B3AD-4B79-912C-AF9B7B6CCD03}"/>
    <dgm:cxn modelId="{99605C0A-94F3-4B60-BAD0-D52AB274A47F}" type="presOf" srcId="{11AC2D93-656A-4FBB-B5F9-C900E3E61970}" destId="{C6EC8C1E-4DA4-4AAE-B9B7-924D6E82C12F}" srcOrd="0" destOrd="1" presId="urn:microsoft.com/office/officeart/2005/8/layout/default"/>
    <dgm:cxn modelId="{7042900A-C6CF-49C7-B5F5-F3C1960A5E7C}" srcId="{05DA187D-DB31-49E5-8F34-D58D3E0F0123}" destId="{FF3DBF19-CB14-4ABB-BEB9-B4DAAB73EB74}" srcOrd="2" destOrd="0" parTransId="{47E47DEC-01B8-46CB-8103-B149453B3320}" sibTransId="{C5DCE82D-89A5-4066-9117-63A65FC14382}"/>
    <dgm:cxn modelId="{0C768D25-9232-4D09-8B7F-8D9027D5AFF2}" type="presOf" srcId="{FF3DBF19-CB14-4ABB-BEB9-B4DAAB73EB74}" destId="{83E0B2E7-DF9A-4EEA-BB9B-569B4CDBB271}" srcOrd="0" destOrd="0" presId="urn:microsoft.com/office/officeart/2005/8/layout/default"/>
    <dgm:cxn modelId="{AC65D344-0880-486A-951F-B22910DA1EF8}" srcId="{C3DC98CB-806F-4947-976D-A1E501A64509}" destId="{2712CDA7-BA42-41DC-9AAE-2C2A6BFE81F0}" srcOrd="2" destOrd="0" parTransId="{607AB8F5-7BD7-4021-A09A-ABB2A5D5F986}" sibTransId="{490A68D2-DCA8-410F-935E-65B95E1D363A}"/>
    <dgm:cxn modelId="{6C1BEF6B-A8BF-42BF-B03F-5F4C9DABDA63}" type="presOf" srcId="{3E285601-79C7-4212-8ED2-E7C9D9ADF018}" destId="{3509FED9-4A5B-4830-AD9E-B99590FEC642}" srcOrd="0" destOrd="0" presId="urn:microsoft.com/office/officeart/2005/8/layout/default"/>
    <dgm:cxn modelId="{A025666C-B9BD-48B5-BA17-1D8F52BF60C6}" srcId="{05DA187D-DB31-49E5-8F34-D58D3E0F0123}" destId="{A02A3D5D-53FF-4EDB-AC51-F870CA5EB7FD}" srcOrd="0" destOrd="0" parTransId="{6C8375E9-E037-4B04-9DEA-258ED03EB3A8}" sibTransId="{DF09C5FC-6932-4B15-A313-9C66A4D16C9E}"/>
    <dgm:cxn modelId="{87EAD275-33B2-47A8-86CE-0EBBB7825104}" type="presOf" srcId="{C3DC98CB-806F-4947-976D-A1E501A64509}" destId="{C6EC8C1E-4DA4-4AAE-B9B7-924D6E82C12F}" srcOrd="0" destOrd="0" presId="urn:microsoft.com/office/officeart/2005/8/layout/default"/>
    <dgm:cxn modelId="{82755998-32C3-4F0B-94C3-8121068F8B0C}" type="presOf" srcId="{A02A3D5D-53FF-4EDB-AC51-F870CA5EB7FD}" destId="{8CA5F10D-B0B2-433A-9D95-0DD8F6A450BE}" srcOrd="0" destOrd="0" presId="urn:microsoft.com/office/officeart/2005/8/layout/default"/>
    <dgm:cxn modelId="{C996E2AB-0537-487C-B8A2-8B75551B75A6}" type="presOf" srcId="{37BEBB6F-15CB-4BD3-9247-107FF42BF81D}" destId="{C6EC8C1E-4DA4-4AAE-B9B7-924D6E82C12F}" srcOrd="0" destOrd="2" presId="urn:microsoft.com/office/officeart/2005/8/layout/default"/>
    <dgm:cxn modelId="{F45FE0C2-E21E-4150-8C4A-9C19D9891341}" srcId="{C3DC98CB-806F-4947-976D-A1E501A64509}" destId="{11AC2D93-656A-4FBB-B5F9-C900E3E61970}" srcOrd="0" destOrd="0" parTransId="{B84EE86F-9295-49F2-A83E-EB6A7F5D3490}" sibTransId="{4C06BDEA-CEAD-4E41-812B-183DA41C8A88}"/>
    <dgm:cxn modelId="{2C7373C5-829F-491B-835C-596FF19EE825}" srcId="{C3DC98CB-806F-4947-976D-A1E501A64509}" destId="{37BEBB6F-15CB-4BD3-9247-107FF42BF81D}" srcOrd="1" destOrd="0" parTransId="{23DDDF9D-CDC5-4FA6-9B7C-A5A1D7A047E3}" sibTransId="{5D8435DA-738B-4337-B2BC-FFD320771379}"/>
    <dgm:cxn modelId="{F96FD7D0-2472-4C35-BFA5-ED699669EE34}" type="presOf" srcId="{05DA187D-DB31-49E5-8F34-D58D3E0F0123}" destId="{B5E6B901-E8A2-4671-AFA8-9F34B1252C86}" srcOrd="0" destOrd="0" presId="urn:microsoft.com/office/officeart/2005/8/layout/default"/>
    <dgm:cxn modelId="{9C6AE2F0-56F0-440C-901D-0C61847042B9}" srcId="{05DA187D-DB31-49E5-8F34-D58D3E0F0123}" destId="{3E285601-79C7-4212-8ED2-E7C9D9ADF018}" srcOrd="1" destOrd="0" parTransId="{0EE8E4B7-A7CF-4729-A23E-A3C10542E2D5}" sibTransId="{DEC8A037-515A-40FA-93FF-2A6E84FB25B8}"/>
    <dgm:cxn modelId="{692FCFF2-10BC-4156-A1A6-9B0F798EE775}" type="presOf" srcId="{2712CDA7-BA42-41DC-9AAE-2C2A6BFE81F0}" destId="{C6EC8C1E-4DA4-4AAE-B9B7-924D6E82C12F}" srcOrd="0" destOrd="3" presId="urn:microsoft.com/office/officeart/2005/8/layout/default"/>
    <dgm:cxn modelId="{90866D0A-5546-4B77-9759-4AFDEA9FE8CF}" type="presParOf" srcId="{B5E6B901-E8A2-4671-AFA8-9F34B1252C86}" destId="{8CA5F10D-B0B2-433A-9D95-0DD8F6A450BE}" srcOrd="0" destOrd="0" presId="urn:microsoft.com/office/officeart/2005/8/layout/default"/>
    <dgm:cxn modelId="{4C8129C3-D254-42F6-BA85-66EC52C0AC6D}" type="presParOf" srcId="{B5E6B901-E8A2-4671-AFA8-9F34B1252C86}" destId="{D658D1EA-9566-49C1-846A-4B1272D0D0ED}" srcOrd="1" destOrd="0" presId="urn:microsoft.com/office/officeart/2005/8/layout/default"/>
    <dgm:cxn modelId="{880E78B7-671F-45D7-862C-5F1FA4FC8C70}" type="presParOf" srcId="{B5E6B901-E8A2-4671-AFA8-9F34B1252C86}" destId="{3509FED9-4A5B-4830-AD9E-B99590FEC642}" srcOrd="2" destOrd="0" presId="urn:microsoft.com/office/officeart/2005/8/layout/default"/>
    <dgm:cxn modelId="{F9CF0C7C-3B2D-484C-9D93-EE013CD90B58}" type="presParOf" srcId="{B5E6B901-E8A2-4671-AFA8-9F34B1252C86}" destId="{6D3D7EF7-64C4-4AEB-8291-6D51813D6004}" srcOrd="3" destOrd="0" presId="urn:microsoft.com/office/officeart/2005/8/layout/default"/>
    <dgm:cxn modelId="{4F67DD38-A9EA-4561-9ADD-45CD48CBBE2D}" type="presParOf" srcId="{B5E6B901-E8A2-4671-AFA8-9F34B1252C86}" destId="{83E0B2E7-DF9A-4EEA-BB9B-569B4CDBB271}" srcOrd="4" destOrd="0" presId="urn:microsoft.com/office/officeart/2005/8/layout/default"/>
    <dgm:cxn modelId="{00341238-224E-47DF-8080-6E3EB42F4217}" type="presParOf" srcId="{B5E6B901-E8A2-4671-AFA8-9F34B1252C86}" destId="{1B98E813-490B-47D0-85C5-051DCEE04C4E}" srcOrd="5" destOrd="0" presId="urn:microsoft.com/office/officeart/2005/8/layout/default"/>
    <dgm:cxn modelId="{6CE9A03A-0B33-4984-AC40-A5DEC3C4B6B0}" type="presParOf" srcId="{B5E6B901-E8A2-4671-AFA8-9F34B1252C86}" destId="{C6EC8C1E-4DA4-4AAE-B9B7-924D6E82C12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FE592BF-CDF2-43DC-A2EC-77F521773C9F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7FA1CD51-2D27-4681-A11B-95106A030DB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Unemployment benefits offset a contraction in the economy</a:t>
          </a:r>
        </a:p>
      </dgm:t>
    </dgm:pt>
    <dgm:pt modelId="{B44DBA69-7EDD-4DB9-9D43-16FE06861A17}" type="parTrans" cxnId="{7E6F5EBF-B7BA-4B81-B156-D63C0118A646}">
      <dgm:prSet/>
      <dgm:spPr/>
      <dgm:t>
        <a:bodyPr/>
        <a:lstStyle/>
        <a:p>
          <a:endParaRPr lang="en-NZ"/>
        </a:p>
      </dgm:t>
    </dgm:pt>
    <dgm:pt modelId="{C83335A2-0D32-4381-8DA2-6EFA98C5D1F5}" type="sibTrans" cxnId="{7E6F5EBF-B7BA-4B81-B156-D63C0118A646}">
      <dgm:prSet/>
      <dgm:spPr/>
      <dgm:t>
        <a:bodyPr/>
        <a:lstStyle/>
        <a:p>
          <a:endParaRPr lang="en-NZ"/>
        </a:p>
      </dgm:t>
    </dgm:pt>
    <dgm:pt modelId="{746C9BF0-BFB6-4A64-B6EC-2A58D189F9B3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/>
            <a:t>Progressive (proportional) tax rates offset an expansion in the economy</a:t>
          </a:r>
        </a:p>
      </dgm:t>
    </dgm:pt>
    <dgm:pt modelId="{F2F5A31E-DF1E-48AF-9463-16676DF82084}" type="parTrans" cxnId="{3DC56075-DD7A-4301-99DC-59FF5B7E16CA}">
      <dgm:prSet/>
      <dgm:spPr/>
      <dgm:t>
        <a:bodyPr/>
        <a:lstStyle/>
        <a:p>
          <a:endParaRPr lang="en-NZ"/>
        </a:p>
      </dgm:t>
    </dgm:pt>
    <dgm:pt modelId="{FED0D302-5774-4076-9D6B-944C48EDCCCA}" type="sibTrans" cxnId="{3DC56075-DD7A-4301-99DC-59FF5B7E16CA}">
      <dgm:prSet/>
      <dgm:spPr/>
      <dgm:t>
        <a:bodyPr/>
        <a:lstStyle/>
        <a:p>
          <a:endParaRPr lang="en-NZ"/>
        </a:p>
      </dgm:t>
    </dgm:pt>
    <dgm:pt modelId="{8F53F49C-4E21-4652-BDCA-2CEFD5BF0035}" type="pres">
      <dgm:prSet presAssocID="{7FE592BF-CDF2-43DC-A2EC-77F521773C9F}" presName="Name0" presStyleCnt="0">
        <dgm:presLayoutVars>
          <dgm:dir/>
          <dgm:resizeHandles val="exact"/>
        </dgm:presLayoutVars>
      </dgm:prSet>
      <dgm:spPr/>
    </dgm:pt>
    <dgm:pt modelId="{F55FF4CE-8DFC-4B49-8FD9-02D67CE6D712}" type="pres">
      <dgm:prSet presAssocID="{7FA1CD51-2D27-4681-A11B-95106A030DBD}" presName="node" presStyleLbl="node1" presStyleIdx="0" presStyleCnt="2">
        <dgm:presLayoutVars>
          <dgm:bulletEnabled val="1"/>
        </dgm:presLayoutVars>
      </dgm:prSet>
      <dgm:spPr/>
    </dgm:pt>
    <dgm:pt modelId="{1C0F14AF-4613-4975-8514-0BDD3CE1E231}" type="pres">
      <dgm:prSet presAssocID="{C83335A2-0D32-4381-8DA2-6EFA98C5D1F5}" presName="sibTrans" presStyleLbl="sibTrans1D1" presStyleIdx="0" presStyleCnt="1"/>
      <dgm:spPr/>
    </dgm:pt>
    <dgm:pt modelId="{0A90DD45-E7EE-4097-83DA-42B16CE0342D}" type="pres">
      <dgm:prSet presAssocID="{C83335A2-0D32-4381-8DA2-6EFA98C5D1F5}" presName="connectorText" presStyleLbl="sibTrans1D1" presStyleIdx="0" presStyleCnt="1"/>
      <dgm:spPr/>
    </dgm:pt>
    <dgm:pt modelId="{47F37342-DACC-45EA-BABA-BE20A0598ACD}" type="pres">
      <dgm:prSet presAssocID="{746C9BF0-BFB6-4A64-B6EC-2A58D189F9B3}" presName="node" presStyleLbl="node1" presStyleIdx="1" presStyleCnt="2">
        <dgm:presLayoutVars>
          <dgm:bulletEnabled val="1"/>
        </dgm:presLayoutVars>
      </dgm:prSet>
      <dgm:spPr/>
    </dgm:pt>
  </dgm:ptLst>
  <dgm:cxnLst>
    <dgm:cxn modelId="{A1F1BE05-1235-4D9F-B912-BB6565186CC5}" type="presOf" srcId="{7FA1CD51-2D27-4681-A11B-95106A030DBD}" destId="{F55FF4CE-8DFC-4B49-8FD9-02D67CE6D712}" srcOrd="0" destOrd="0" presId="urn:microsoft.com/office/officeart/2005/8/layout/bProcess3"/>
    <dgm:cxn modelId="{A8A2B11C-D9E7-4A32-883B-3E2594A5F672}" type="presOf" srcId="{C83335A2-0D32-4381-8DA2-6EFA98C5D1F5}" destId="{0A90DD45-E7EE-4097-83DA-42B16CE0342D}" srcOrd="1" destOrd="0" presId="urn:microsoft.com/office/officeart/2005/8/layout/bProcess3"/>
    <dgm:cxn modelId="{72A35F1F-63EB-421A-91E1-336C7BCA0313}" type="presOf" srcId="{746C9BF0-BFB6-4A64-B6EC-2A58D189F9B3}" destId="{47F37342-DACC-45EA-BABA-BE20A0598ACD}" srcOrd="0" destOrd="0" presId="urn:microsoft.com/office/officeart/2005/8/layout/bProcess3"/>
    <dgm:cxn modelId="{E4C0543B-D59D-4C99-8F90-DFF105D368C8}" type="presOf" srcId="{7FE592BF-CDF2-43DC-A2EC-77F521773C9F}" destId="{8F53F49C-4E21-4652-BDCA-2CEFD5BF0035}" srcOrd="0" destOrd="0" presId="urn:microsoft.com/office/officeart/2005/8/layout/bProcess3"/>
    <dgm:cxn modelId="{3DC56075-DD7A-4301-99DC-59FF5B7E16CA}" srcId="{7FE592BF-CDF2-43DC-A2EC-77F521773C9F}" destId="{746C9BF0-BFB6-4A64-B6EC-2A58D189F9B3}" srcOrd="1" destOrd="0" parTransId="{F2F5A31E-DF1E-48AF-9463-16676DF82084}" sibTransId="{FED0D302-5774-4076-9D6B-944C48EDCCCA}"/>
    <dgm:cxn modelId="{7E6F5EBF-B7BA-4B81-B156-D63C0118A646}" srcId="{7FE592BF-CDF2-43DC-A2EC-77F521773C9F}" destId="{7FA1CD51-2D27-4681-A11B-95106A030DBD}" srcOrd="0" destOrd="0" parTransId="{B44DBA69-7EDD-4DB9-9D43-16FE06861A17}" sibTransId="{C83335A2-0D32-4381-8DA2-6EFA98C5D1F5}"/>
    <dgm:cxn modelId="{CA68C1D8-8F96-4360-9F8B-C10B23962B7D}" type="presOf" srcId="{C83335A2-0D32-4381-8DA2-6EFA98C5D1F5}" destId="{1C0F14AF-4613-4975-8514-0BDD3CE1E231}" srcOrd="0" destOrd="0" presId="urn:microsoft.com/office/officeart/2005/8/layout/bProcess3"/>
    <dgm:cxn modelId="{2837EE9B-343A-49E5-A48B-ECDED2278C7E}" type="presParOf" srcId="{8F53F49C-4E21-4652-BDCA-2CEFD5BF0035}" destId="{F55FF4CE-8DFC-4B49-8FD9-02D67CE6D712}" srcOrd="0" destOrd="0" presId="urn:microsoft.com/office/officeart/2005/8/layout/bProcess3"/>
    <dgm:cxn modelId="{B275C2DB-FBBD-4607-B60B-19E0DAD46444}" type="presParOf" srcId="{8F53F49C-4E21-4652-BDCA-2CEFD5BF0035}" destId="{1C0F14AF-4613-4975-8514-0BDD3CE1E231}" srcOrd="1" destOrd="0" presId="urn:microsoft.com/office/officeart/2005/8/layout/bProcess3"/>
    <dgm:cxn modelId="{73F361E4-2181-4EF4-8006-ECE761ADB6CC}" type="presParOf" srcId="{1C0F14AF-4613-4975-8514-0BDD3CE1E231}" destId="{0A90DD45-E7EE-4097-83DA-42B16CE0342D}" srcOrd="0" destOrd="0" presId="urn:microsoft.com/office/officeart/2005/8/layout/bProcess3"/>
    <dgm:cxn modelId="{A92C42B5-5C29-48F8-9AB7-B3396B3FA31C}" type="presParOf" srcId="{8F53F49C-4E21-4652-BDCA-2CEFD5BF0035}" destId="{47F37342-DACC-45EA-BABA-BE20A0598ACD}" srcOrd="2" destOrd="0" presId="urn:microsoft.com/office/officeart/2005/8/layout/bProcess3"/>
  </dgm:cxnLst>
  <dgm:bg>
    <a:solidFill>
      <a:schemeClr val="tx2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5B92047-C8B2-4F91-93DF-AB4476DFC162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8D76A13E-BFF1-42CB-8356-8F50F9E95529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In a recession, many households face a budget deficit </a:t>
          </a:r>
          <a:endParaRPr lang="en-NZ" dirty="0"/>
        </a:p>
      </dgm:t>
    </dgm:pt>
    <dgm:pt modelId="{B5A5BD53-4202-4177-8ACF-D26DB5237EEC}" type="parTrans" cxnId="{6B99E937-FC8F-4EFB-8200-C04B1E43E048}">
      <dgm:prSet/>
      <dgm:spPr/>
      <dgm:t>
        <a:bodyPr/>
        <a:lstStyle/>
        <a:p>
          <a:endParaRPr lang="en-NZ"/>
        </a:p>
      </dgm:t>
    </dgm:pt>
    <dgm:pt modelId="{E6C5F17F-5602-4A97-90E9-49FB7ABA112F}" type="sibTrans" cxnId="{6B99E937-FC8F-4EFB-8200-C04B1E43E048}">
      <dgm:prSet/>
      <dgm:spPr/>
      <dgm:t>
        <a:bodyPr/>
        <a:lstStyle/>
        <a:p>
          <a:endParaRPr lang="en-NZ"/>
        </a:p>
      </dgm:t>
    </dgm:pt>
    <dgm:pt modelId="{0621B805-28CC-48B5-8F10-8CE823C85C4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In the economy as a whole, spending and earning go together.</a:t>
          </a:r>
          <a:endParaRPr lang="en-NZ" dirty="0"/>
        </a:p>
      </dgm:t>
    </dgm:pt>
    <dgm:pt modelId="{A56E49BC-4780-4693-B4D2-C0E2A35A3CDE}" type="parTrans" cxnId="{494F5BF2-7609-4A43-ACBF-36F444CF0113}">
      <dgm:prSet/>
      <dgm:spPr/>
      <dgm:t>
        <a:bodyPr/>
        <a:lstStyle/>
        <a:p>
          <a:endParaRPr lang="en-NZ"/>
        </a:p>
      </dgm:t>
    </dgm:pt>
    <dgm:pt modelId="{0EB5F965-5090-4FBC-A8DC-77A6E1D04BAA}" type="sibTrans" cxnId="{494F5BF2-7609-4A43-ACBF-36F444CF0113}">
      <dgm:prSet/>
      <dgm:spPr/>
      <dgm:t>
        <a:bodyPr/>
        <a:lstStyle/>
        <a:p>
          <a:endParaRPr lang="en-NZ"/>
        </a:p>
      </dgm:t>
    </dgm:pt>
    <dgm:pt modelId="{91F69FDB-DFF7-45BA-8405-161C95F473D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b="1" dirty="0"/>
            <a:t>The paradox of thrift: </a:t>
          </a:r>
          <a:r>
            <a:rPr lang="en-GB" dirty="0"/>
            <a:t> the aggregate attempt to increase savings leads to a fall in aggregate income.</a:t>
          </a:r>
          <a:endParaRPr lang="en-NZ" dirty="0"/>
        </a:p>
      </dgm:t>
    </dgm:pt>
    <dgm:pt modelId="{A176C4DF-8C4B-4083-B8F4-95D3CA1543AB}" type="parTrans" cxnId="{D028FDE3-E88D-452D-A5B9-D58D404042D2}">
      <dgm:prSet/>
      <dgm:spPr/>
      <dgm:t>
        <a:bodyPr/>
        <a:lstStyle/>
        <a:p>
          <a:endParaRPr lang="en-NZ"/>
        </a:p>
      </dgm:t>
    </dgm:pt>
    <dgm:pt modelId="{588D5FBC-3E06-4CEE-BCB5-E7A46C6139CE}" type="sibTrans" cxnId="{D028FDE3-E88D-452D-A5B9-D58D404042D2}">
      <dgm:prSet/>
      <dgm:spPr/>
      <dgm:t>
        <a:bodyPr/>
        <a:lstStyle/>
        <a:p>
          <a:endParaRPr lang="en-NZ"/>
        </a:p>
      </dgm:t>
    </dgm:pt>
    <dgm:pt modelId="{7A3CF9A8-6787-4814-8094-569E887A829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Worries about their falling wealth leads to spending cuts and more savings</a:t>
          </a:r>
          <a:endParaRPr lang="en-NZ" dirty="0"/>
        </a:p>
      </dgm:t>
    </dgm:pt>
    <dgm:pt modelId="{2992B00F-4F31-4C7B-BD6B-D30FD5C18733}" type="parTrans" cxnId="{27DC290E-E379-4B4D-B5BF-1A6D84034D03}">
      <dgm:prSet/>
      <dgm:spPr/>
      <dgm:t>
        <a:bodyPr/>
        <a:lstStyle/>
        <a:p>
          <a:endParaRPr lang="en-NZ"/>
        </a:p>
      </dgm:t>
    </dgm:pt>
    <dgm:pt modelId="{5B7EA238-85F7-4919-81CA-FAE89C036134}" type="sibTrans" cxnId="{27DC290E-E379-4B4D-B5BF-1A6D84034D03}">
      <dgm:prSet/>
      <dgm:spPr/>
      <dgm:t>
        <a:bodyPr/>
        <a:lstStyle/>
        <a:p>
          <a:endParaRPr lang="en-NZ"/>
        </a:p>
      </dgm:t>
    </dgm:pt>
    <dgm:pt modelId="{7C6DED28-DC19-4004-B191-882CD62C4597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NZ" dirty="0"/>
            <a:t>Spending less leads to a worsening recession</a:t>
          </a:r>
        </a:p>
      </dgm:t>
    </dgm:pt>
    <dgm:pt modelId="{42BD49CE-0C27-43BF-A8EB-0E285DEC8524}" type="parTrans" cxnId="{8FF3D6D6-5E36-48E9-8AAB-9D043D29E359}">
      <dgm:prSet/>
      <dgm:spPr/>
      <dgm:t>
        <a:bodyPr/>
        <a:lstStyle/>
        <a:p>
          <a:endParaRPr lang="en-NZ"/>
        </a:p>
      </dgm:t>
    </dgm:pt>
    <dgm:pt modelId="{939D5DCF-63F1-4681-AE0F-9C96AAB5FC1C}" type="sibTrans" cxnId="{8FF3D6D6-5E36-48E9-8AAB-9D043D29E359}">
      <dgm:prSet/>
      <dgm:spPr/>
      <dgm:t>
        <a:bodyPr/>
        <a:lstStyle/>
        <a:p>
          <a:endParaRPr lang="en-NZ"/>
        </a:p>
      </dgm:t>
    </dgm:pt>
    <dgm:pt modelId="{4ADA7B89-C623-44D3-BB85-ADE28AD52447}" type="pres">
      <dgm:prSet presAssocID="{15B92047-C8B2-4F91-93DF-AB4476DFC162}" presName="Name0" presStyleCnt="0">
        <dgm:presLayoutVars>
          <dgm:dir/>
          <dgm:resizeHandles val="exact"/>
        </dgm:presLayoutVars>
      </dgm:prSet>
      <dgm:spPr/>
    </dgm:pt>
    <dgm:pt modelId="{ECA4AB3F-F7EC-4AA7-B5B6-1CCCA5A2513C}" type="pres">
      <dgm:prSet presAssocID="{8D76A13E-BFF1-42CB-8356-8F50F9E95529}" presName="node" presStyleLbl="node1" presStyleIdx="0" presStyleCnt="5">
        <dgm:presLayoutVars>
          <dgm:bulletEnabled val="1"/>
        </dgm:presLayoutVars>
      </dgm:prSet>
      <dgm:spPr/>
    </dgm:pt>
    <dgm:pt modelId="{667C6575-C32D-49F5-B488-1911BF2E3C0B}" type="pres">
      <dgm:prSet presAssocID="{E6C5F17F-5602-4A97-90E9-49FB7ABA112F}" presName="sibTrans" presStyleLbl="sibTrans1D1" presStyleIdx="0" presStyleCnt="4"/>
      <dgm:spPr/>
    </dgm:pt>
    <dgm:pt modelId="{EBD6196F-58CC-476F-9F01-C95E92DFE0C2}" type="pres">
      <dgm:prSet presAssocID="{E6C5F17F-5602-4A97-90E9-49FB7ABA112F}" presName="connectorText" presStyleLbl="sibTrans1D1" presStyleIdx="0" presStyleCnt="4"/>
      <dgm:spPr/>
    </dgm:pt>
    <dgm:pt modelId="{D2F849FD-BCAE-4AB3-830D-434B2D91CAA5}" type="pres">
      <dgm:prSet presAssocID="{7A3CF9A8-6787-4814-8094-569E887A829D}" presName="node" presStyleLbl="node1" presStyleIdx="1" presStyleCnt="5">
        <dgm:presLayoutVars>
          <dgm:bulletEnabled val="1"/>
        </dgm:presLayoutVars>
      </dgm:prSet>
      <dgm:spPr/>
    </dgm:pt>
    <dgm:pt modelId="{B775EABB-A05C-4C8B-8100-5019E9533743}" type="pres">
      <dgm:prSet presAssocID="{5B7EA238-85F7-4919-81CA-FAE89C036134}" presName="sibTrans" presStyleLbl="sibTrans1D1" presStyleIdx="1" presStyleCnt="4"/>
      <dgm:spPr/>
    </dgm:pt>
    <dgm:pt modelId="{FB4403B5-E44C-4738-BC81-55DDD8E35F67}" type="pres">
      <dgm:prSet presAssocID="{5B7EA238-85F7-4919-81CA-FAE89C036134}" presName="connectorText" presStyleLbl="sibTrans1D1" presStyleIdx="1" presStyleCnt="4"/>
      <dgm:spPr/>
    </dgm:pt>
    <dgm:pt modelId="{7B00D40D-DCF0-44CF-8D83-203DE91DAF45}" type="pres">
      <dgm:prSet presAssocID="{0621B805-28CC-48B5-8F10-8CE823C85C46}" presName="node" presStyleLbl="node1" presStyleIdx="2" presStyleCnt="5">
        <dgm:presLayoutVars>
          <dgm:bulletEnabled val="1"/>
        </dgm:presLayoutVars>
      </dgm:prSet>
      <dgm:spPr/>
    </dgm:pt>
    <dgm:pt modelId="{4F0B0F48-8206-4F13-BB7F-E1729C2CCEFC}" type="pres">
      <dgm:prSet presAssocID="{0EB5F965-5090-4FBC-A8DC-77A6E1D04BAA}" presName="sibTrans" presStyleLbl="sibTrans1D1" presStyleIdx="2" presStyleCnt="4"/>
      <dgm:spPr/>
    </dgm:pt>
    <dgm:pt modelId="{6174A34E-4E80-467B-8EE6-BB9E94E0792C}" type="pres">
      <dgm:prSet presAssocID="{0EB5F965-5090-4FBC-A8DC-77A6E1D04BAA}" presName="connectorText" presStyleLbl="sibTrans1D1" presStyleIdx="2" presStyleCnt="4"/>
      <dgm:spPr/>
    </dgm:pt>
    <dgm:pt modelId="{82A03AC4-4B29-49D4-A8F0-2474478626EE}" type="pres">
      <dgm:prSet presAssocID="{7C6DED28-DC19-4004-B191-882CD62C4597}" presName="node" presStyleLbl="node1" presStyleIdx="3" presStyleCnt="5">
        <dgm:presLayoutVars>
          <dgm:bulletEnabled val="1"/>
        </dgm:presLayoutVars>
      </dgm:prSet>
      <dgm:spPr/>
    </dgm:pt>
    <dgm:pt modelId="{0B5FE56C-CDF0-410D-A17B-3FAF853E5725}" type="pres">
      <dgm:prSet presAssocID="{939D5DCF-63F1-4681-AE0F-9C96AAB5FC1C}" presName="sibTrans" presStyleLbl="sibTrans1D1" presStyleIdx="3" presStyleCnt="4"/>
      <dgm:spPr/>
    </dgm:pt>
    <dgm:pt modelId="{910853C7-FC3A-4C39-8DA2-EB49F02D6529}" type="pres">
      <dgm:prSet presAssocID="{939D5DCF-63F1-4681-AE0F-9C96AAB5FC1C}" presName="connectorText" presStyleLbl="sibTrans1D1" presStyleIdx="3" presStyleCnt="4"/>
      <dgm:spPr/>
    </dgm:pt>
    <dgm:pt modelId="{69EB4679-5010-486A-9BB7-BA67B53E64EE}" type="pres">
      <dgm:prSet presAssocID="{91F69FDB-DFF7-45BA-8405-161C95F473DE}" presName="node" presStyleLbl="node1" presStyleIdx="4" presStyleCnt="5">
        <dgm:presLayoutVars>
          <dgm:bulletEnabled val="1"/>
        </dgm:presLayoutVars>
      </dgm:prSet>
      <dgm:spPr/>
    </dgm:pt>
  </dgm:ptLst>
  <dgm:cxnLst>
    <dgm:cxn modelId="{9F21DD05-600A-4961-B1A4-066E2BD65BE6}" type="presOf" srcId="{0621B805-28CC-48B5-8F10-8CE823C85C46}" destId="{7B00D40D-DCF0-44CF-8D83-203DE91DAF45}" srcOrd="0" destOrd="0" presId="urn:microsoft.com/office/officeart/2005/8/layout/bProcess3"/>
    <dgm:cxn modelId="{E7A4E40A-0B4B-484D-9BB6-9342C226E342}" type="presOf" srcId="{5B7EA238-85F7-4919-81CA-FAE89C036134}" destId="{B775EABB-A05C-4C8B-8100-5019E9533743}" srcOrd="0" destOrd="0" presId="urn:microsoft.com/office/officeart/2005/8/layout/bProcess3"/>
    <dgm:cxn modelId="{27DC290E-E379-4B4D-B5BF-1A6D84034D03}" srcId="{15B92047-C8B2-4F91-93DF-AB4476DFC162}" destId="{7A3CF9A8-6787-4814-8094-569E887A829D}" srcOrd="1" destOrd="0" parTransId="{2992B00F-4F31-4C7B-BD6B-D30FD5C18733}" sibTransId="{5B7EA238-85F7-4919-81CA-FAE89C036134}"/>
    <dgm:cxn modelId="{6B99E937-FC8F-4EFB-8200-C04B1E43E048}" srcId="{15B92047-C8B2-4F91-93DF-AB4476DFC162}" destId="{8D76A13E-BFF1-42CB-8356-8F50F9E95529}" srcOrd="0" destOrd="0" parTransId="{B5A5BD53-4202-4177-8ACF-D26DB5237EEC}" sibTransId="{E6C5F17F-5602-4A97-90E9-49FB7ABA112F}"/>
    <dgm:cxn modelId="{EC043B73-0C7A-433B-9D13-6248782B62F4}" type="presOf" srcId="{E6C5F17F-5602-4A97-90E9-49FB7ABA112F}" destId="{EBD6196F-58CC-476F-9F01-C95E92DFE0C2}" srcOrd="1" destOrd="0" presId="urn:microsoft.com/office/officeart/2005/8/layout/bProcess3"/>
    <dgm:cxn modelId="{BDA5278B-883F-4300-A406-71A6E2461D0F}" type="presOf" srcId="{0EB5F965-5090-4FBC-A8DC-77A6E1D04BAA}" destId="{6174A34E-4E80-467B-8EE6-BB9E94E0792C}" srcOrd="1" destOrd="0" presId="urn:microsoft.com/office/officeart/2005/8/layout/bProcess3"/>
    <dgm:cxn modelId="{81B16D92-149C-4B43-A098-74B6BB9A911B}" type="presOf" srcId="{E6C5F17F-5602-4A97-90E9-49FB7ABA112F}" destId="{667C6575-C32D-49F5-B488-1911BF2E3C0B}" srcOrd="0" destOrd="0" presId="urn:microsoft.com/office/officeart/2005/8/layout/bProcess3"/>
    <dgm:cxn modelId="{9961E992-1A97-445C-8DE6-E2DE9A65CDBB}" type="presOf" srcId="{8D76A13E-BFF1-42CB-8356-8F50F9E95529}" destId="{ECA4AB3F-F7EC-4AA7-B5B6-1CCCA5A2513C}" srcOrd="0" destOrd="0" presId="urn:microsoft.com/office/officeart/2005/8/layout/bProcess3"/>
    <dgm:cxn modelId="{C7DA6B9C-474F-4DC5-A9B7-975B958AA547}" type="presOf" srcId="{7A3CF9A8-6787-4814-8094-569E887A829D}" destId="{D2F849FD-BCAE-4AB3-830D-434B2D91CAA5}" srcOrd="0" destOrd="0" presId="urn:microsoft.com/office/officeart/2005/8/layout/bProcess3"/>
    <dgm:cxn modelId="{77E529A8-09C4-48FE-A6FF-5DBB0EB8D537}" type="presOf" srcId="{91F69FDB-DFF7-45BA-8405-161C95F473DE}" destId="{69EB4679-5010-486A-9BB7-BA67B53E64EE}" srcOrd="0" destOrd="0" presId="urn:microsoft.com/office/officeart/2005/8/layout/bProcess3"/>
    <dgm:cxn modelId="{C88731AE-E56F-44BA-8080-0B807F64F97A}" type="presOf" srcId="{939D5DCF-63F1-4681-AE0F-9C96AAB5FC1C}" destId="{910853C7-FC3A-4C39-8DA2-EB49F02D6529}" srcOrd="1" destOrd="0" presId="urn:microsoft.com/office/officeart/2005/8/layout/bProcess3"/>
    <dgm:cxn modelId="{FABA01B4-1EC6-43D5-B098-18D904B8B08B}" type="presOf" srcId="{7C6DED28-DC19-4004-B191-882CD62C4597}" destId="{82A03AC4-4B29-49D4-A8F0-2474478626EE}" srcOrd="0" destOrd="0" presId="urn:microsoft.com/office/officeart/2005/8/layout/bProcess3"/>
    <dgm:cxn modelId="{26031BD6-E6C4-4EC2-81EF-AC4728AFC105}" type="presOf" srcId="{15B92047-C8B2-4F91-93DF-AB4476DFC162}" destId="{4ADA7B89-C623-44D3-BB85-ADE28AD52447}" srcOrd="0" destOrd="0" presId="urn:microsoft.com/office/officeart/2005/8/layout/bProcess3"/>
    <dgm:cxn modelId="{8FF3D6D6-5E36-48E9-8AAB-9D043D29E359}" srcId="{15B92047-C8B2-4F91-93DF-AB4476DFC162}" destId="{7C6DED28-DC19-4004-B191-882CD62C4597}" srcOrd="3" destOrd="0" parTransId="{42BD49CE-0C27-43BF-A8EB-0E285DEC8524}" sibTransId="{939D5DCF-63F1-4681-AE0F-9C96AAB5FC1C}"/>
    <dgm:cxn modelId="{D028FDE3-E88D-452D-A5B9-D58D404042D2}" srcId="{15B92047-C8B2-4F91-93DF-AB4476DFC162}" destId="{91F69FDB-DFF7-45BA-8405-161C95F473DE}" srcOrd="4" destOrd="0" parTransId="{A176C4DF-8C4B-4083-B8F4-95D3CA1543AB}" sibTransId="{588D5FBC-3E06-4CEE-BCB5-E7A46C6139CE}"/>
    <dgm:cxn modelId="{37FE30EF-3C81-4071-957D-397D5B018022}" type="presOf" srcId="{0EB5F965-5090-4FBC-A8DC-77A6E1D04BAA}" destId="{4F0B0F48-8206-4F13-BB7F-E1729C2CCEFC}" srcOrd="0" destOrd="0" presId="urn:microsoft.com/office/officeart/2005/8/layout/bProcess3"/>
    <dgm:cxn modelId="{494F5BF2-7609-4A43-ACBF-36F444CF0113}" srcId="{15B92047-C8B2-4F91-93DF-AB4476DFC162}" destId="{0621B805-28CC-48B5-8F10-8CE823C85C46}" srcOrd="2" destOrd="0" parTransId="{A56E49BC-4780-4693-B4D2-C0E2A35A3CDE}" sibTransId="{0EB5F965-5090-4FBC-A8DC-77A6E1D04BAA}"/>
    <dgm:cxn modelId="{F25826F5-615B-4805-B4D2-5E67DB6D0E03}" type="presOf" srcId="{5B7EA238-85F7-4919-81CA-FAE89C036134}" destId="{FB4403B5-E44C-4738-BC81-55DDD8E35F67}" srcOrd="1" destOrd="0" presId="urn:microsoft.com/office/officeart/2005/8/layout/bProcess3"/>
    <dgm:cxn modelId="{B96D12F8-8968-45C2-9E16-23E5B92F683D}" type="presOf" srcId="{939D5DCF-63F1-4681-AE0F-9C96AAB5FC1C}" destId="{0B5FE56C-CDF0-410D-A17B-3FAF853E5725}" srcOrd="0" destOrd="0" presId="urn:microsoft.com/office/officeart/2005/8/layout/bProcess3"/>
    <dgm:cxn modelId="{CBD1E1A2-ACBF-44CD-BE18-922F38E87712}" type="presParOf" srcId="{4ADA7B89-C623-44D3-BB85-ADE28AD52447}" destId="{ECA4AB3F-F7EC-4AA7-B5B6-1CCCA5A2513C}" srcOrd="0" destOrd="0" presId="urn:microsoft.com/office/officeart/2005/8/layout/bProcess3"/>
    <dgm:cxn modelId="{3D8A447B-5079-4658-BF1B-60BB5A25AFC7}" type="presParOf" srcId="{4ADA7B89-C623-44D3-BB85-ADE28AD52447}" destId="{667C6575-C32D-49F5-B488-1911BF2E3C0B}" srcOrd="1" destOrd="0" presId="urn:microsoft.com/office/officeart/2005/8/layout/bProcess3"/>
    <dgm:cxn modelId="{55FC0BF8-436A-4528-B889-3D5E9F921C43}" type="presParOf" srcId="{667C6575-C32D-49F5-B488-1911BF2E3C0B}" destId="{EBD6196F-58CC-476F-9F01-C95E92DFE0C2}" srcOrd="0" destOrd="0" presId="urn:microsoft.com/office/officeart/2005/8/layout/bProcess3"/>
    <dgm:cxn modelId="{01702CF7-E559-4247-BA0A-8E1A877D9ECE}" type="presParOf" srcId="{4ADA7B89-C623-44D3-BB85-ADE28AD52447}" destId="{D2F849FD-BCAE-4AB3-830D-434B2D91CAA5}" srcOrd="2" destOrd="0" presId="urn:microsoft.com/office/officeart/2005/8/layout/bProcess3"/>
    <dgm:cxn modelId="{8E685DAA-9DF2-4B00-BB9C-0DF93AB77E54}" type="presParOf" srcId="{4ADA7B89-C623-44D3-BB85-ADE28AD52447}" destId="{B775EABB-A05C-4C8B-8100-5019E9533743}" srcOrd="3" destOrd="0" presId="urn:microsoft.com/office/officeart/2005/8/layout/bProcess3"/>
    <dgm:cxn modelId="{57F0F45B-C145-4F9B-A3FE-B8C88C09CD20}" type="presParOf" srcId="{B775EABB-A05C-4C8B-8100-5019E9533743}" destId="{FB4403B5-E44C-4738-BC81-55DDD8E35F67}" srcOrd="0" destOrd="0" presId="urn:microsoft.com/office/officeart/2005/8/layout/bProcess3"/>
    <dgm:cxn modelId="{D087A218-9411-45B0-8FC8-CC6116B6A8EA}" type="presParOf" srcId="{4ADA7B89-C623-44D3-BB85-ADE28AD52447}" destId="{7B00D40D-DCF0-44CF-8D83-203DE91DAF45}" srcOrd="4" destOrd="0" presId="urn:microsoft.com/office/officeart/2005/8/layout/bProcess3"/>
    <dgm:cxn modelId="{D3D2406C-063C-46F7-A17E-64BA126A8346}" type="presParOf" srcId="{4ADA7B89-C623-44D3-BB85-ADE28AD52447}" destId="{4F0B0F48-8206-4F13-BB7F-E1729C2CCEFC}" srcOrd="5" destOrd="0" presId="urn:microsoft.com/office/officeart/2005/8/layout/bProcess3"/>
    <dgm:cxn modelId="{082B6667-2BBA-4C14-80C2-B703C66885EB}" type="presParOf" srcId="{4F0B0F48-8206-4F13-BB7F-E1729C2CCEFC}" destId="{6174A34E-4E80-467B-8EE6-BB9E94E0792C}" srcOrd="0" destOrd="0" presId="urn:microsoft.com/office/officeart/2005/8/layout/bProcess3"/>
    <dgm:cxn modelId="{9E00E71A-AAA8-4801-9167-AF2604430C17}" type="presParOf" srcId="{4ADA7B89-C623-44D3-BB85-ADE28AD52447}" destId="{82A03AC4-4B29-49D4-A8F0-2474478626EE}" srcOrd="6" destOrd="0" presId="urn:microsoft.com/office/officeart/2005/8/layout/bProcess3"/>
    <dgm:cxn modelId="{0092D917-E03F-41CF-BB48-6052B37A8567}" type="presParOf" srcId="{4ADA7B89-C623-44D3-BB85-ADE28AD52447}" destId="{0B5FE56C-CDF0-410D-A17B-3FAF853E5725}" srcOrd="7" destOrd="0" presId="urn:microsoft.com/office/officeart/2005/8/layout/bProcess3"/>
    <dgm:cxn modelId="{9256BED7-016F-482D-B67D-D983E0788C5C}" type="presParOf" srcId="{0B5FE56C-CDF0-410D-A17B-3FAF853E5725}" destId="{910853C7-FC3A-4C39-8DA2-EB49F02D6529}" srcOrd="0" destOrd="0" presId="urn:microsoft.com/office/officeart/2005/8/layout/bProcess3"/>
    <dgm:cxn modelId="{2EFC12D2-57DC-4A19-98BD-FA1C49521DCA}" type="presParOf" srcId="{4ADA7B89-C623-44D3-BB85-ADE28AD52447}" destId="{69EB4679-5010-486A-9BB7-BA67B53E64EE}" srcOrd="8" destOrd="0" presId="urn:microsoft.com/office/officeart/2005/8/layout/bProcess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B819BC1-9F17-4479-9F9D-D862A2901D64}" type="doc">
      <dgm:prSet loTypeId="urn:microsoft.com/office/officeart/2005/8/layout/vProcess5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2BFC3AA5-7459-4074-A799-4454881FE913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b="1"/>
            <a:t>Fiscal stimulus:</a:t>
          </a:r>
          <a:endParaRPr lang="en-NZ"/>
        </a:p>
      </dgm:t>
    </dgm:pt>
    <dgm:pt modelId="{36C5658B-E116-4B02-BC89-F7D6FD1931D3}" type="parTrans" cxnId="{46677790-4B03-46F3-89D0-EC7957FC7176}">
      <dgm:prSet/>
      <dgm:spPr/>
      <dgm:t>
        <a:bodyPr/>
        <a:lstStyle/>
        <a:p>
          <a:endParaRPr lang="en-NZ"/>
        </a:p>
      </dgm:t>
    </dgm:pt>
    <dgm:pt modelId="{4F19928D-F044-45CA-8E42-77DCE22B8684}" type="sibTrans" cxnId="{46677790-4B03-46F3-89D0-EC7957FC7176}">
      <dgm:prSet/>
      <dgm:spPr/>
      <dgm:t>
        <a:bodyPr/>
        <a:lstStyle/>
        <a:p>
          <a:endParaRPr lang="en-NZ"/>
        </a:p>
      </dgm:t>
    </dgm:pt>
    <dgm:pt modelId="{AE6E7CC0-F938-4413-A070-79CB45195F9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u="sng" dirty="0"/>
            <a:t>Tax cuts </a:t>
          </a:r>
          <a:r>
            <a:rPr lang="en-US" dirty="0"/>
            <a:t>to encourage the private sector to spend more, and/or</a:t>
          </a:r>
          <a:endParaRPr lang="en-NZ" dirty="0"/>
        </a:p>
      </dgm:t>
    </dgm:pt>
    <dgm:pt modelId="{C68F0DD5-1BE7-407B-BD0C-F9B47C8D0841}" type="parTrans" cxnId="{4785EFC3-1595-47EF-99CE-CA4825751232}">
      <dgm:prSet/>
      <dgm:spPr/>
      <dgm:t>
        <a:bodyPr/>
        <a:lstStyle/>
        <a:p>
          <a:endParaRPr lang="en-NZ"/>
        </a:p>
      </dgm:t>
    </dgm:pt>
    <dgm:pt modelId="{980B615B-59C1-4A26-9E4C-36F7FC75CE16}" type="sibTrans" cxnId="{4785EFC3-1595-47EF-99CE-CA4825751232}">
      <dgm:prSet/>
      <dgm:spPr/>
      <dgm:t>
        <a:bodyPr/>
        <a:lstStyle/>
        <a:p>
          <a:endParaRPr lang="en-NZ"/>
        </a:p>
      </dgm:t>
    </dgm:pt>
    <dgm:pt modelId="{951A39F5-544C-4663-BFE3-B83FB5F43693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u="sng" dirty="0"/>
            <a:t>Spending increases </a:t>
          </a:r>
          <a:r>
            <a:rPr lang="en-US" dirty="0"/>
            <a:t>(G), which directly increases AD </a:t>
          </a:r>
          <a:endParaRPr lang="en-NZ" dirty="0"/>
        </a:p>
      </dgm:t>
    </dgm:pt>
    <dgm:pt modelId="{A0120D73-919F-466E-8630-415FEE2ACD1F}" type="parTrans" cxnId="{4C65CA72-CF9C-4EC2-AE6D-29C1EB0B3AF7}">
      <dgm:prSet/>
      <dgm:spPr/>
      <dgm:t>
        <a:bodyPr/>
        <a:lstStyle/>
        <a:p>
          <a:endParaRPr lang="en-NZ"/>
        </a:p>
      </dgm:t>
    </dgm:pt>
    <dgm:pt modelId="{0F52EDA9-D3DB-4B11-939B-41CAE8CB80C3}" type="sibTrans" cxnId="{4C65CA72-CF9C-4EC2-AE6D-29C1EB0B3AF7}">
      <dgm:prSet/>
      <dgm:spPr/>
      <dgm:t>
        <a:bodyPr/>
        <a:lstStyle/>
        <a:p>
          <a:endParaRPr lang="en-NZ"/>
        </a:p>
      </dgm:t>
    </dgm:pt>
    <dgm:pt modelId="{BCB159F3-9A44-425B-B794-0A386786458E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/>
            <a:t>The rise in G operates via the multiplier, so the increase in Y will typically be greater than the increase in G.</a:t>
          </a:r>
          <a:endParaRPr lang="en-NZ"/>
        </a:p>
      </dgm:t>
    </dgm:pt>
    <dgm:pt modelId="{9B5E6363-45DD-4C9F-9890-5F8340A5CB9B}" type="parTrans" cxnId="{353E99D6-F7FB-4D2F-BE4C-1F223ABA6F88}">
      <dgm:prSet/>
      <dgm:spPr/>
      <dgm:t>
        <a:bodyPr/>
        <a:lstStyle/>
        <a:p>
          <a:endParaRPr lang="en-NZ"/>
        </a:p>
      </dgm:t>
    </dgm:pt>
    <dgm:pt modelId="{63C6C6C2-3DAF-4CBF-8314-0FE2EA056BB1}" type="sibTrans" cxnId="{353E99D6-F7FB-4D2F-BE4C-1F223ABA6F88}">
      <dgm:prSet/>
      <dgm:spPr/>
      <dgm:t>
        <a:bodyPr/>
        <a:lstStyle/>
        <a:p>
          <a:endParaRPr lang="en-NZ"/>
        </a:p>
      </dgm:t>
    </dgm:pt>
    <dgm:pt modelId="{C15AA97B-4A63-47A5-BD8C-47611FACE9BB}" type="pres">
      <dgm:prSet presAssocID="{0B819BC1-9F17-4479-9F9D-D862A2901D64}" presName="outerComposite" presStyleCnt="0">
        <dgm:presLayoutVars>
          <dgm:chMax val="5"/>
          <dgm:dir/>
          <dgm:resizeHandles val="exact"/>
        </dgm:presLayoutVars>
      </dgm:prSet>
      <dgm:spPr/>
    </dgm:pt>
    <dgm:pt modelId="{418ABADC-459A-4C60-A7DC-12D6EA8B5D5F}" type="pres">
      <dgm:prSet presAssocID="{0B819BC1-9F17-4479-9F9D-D862A2901D64}" presName="dummyMaxCanvas" presStyleCnt="0">
        <dgm:presLayoutVars/>
      </dgm:prSet>
      <dgm:spPr/>
    </dgm:pt>
    <dgm:pt modelId="{5D8FF55D-DA9A-4FAD-8833-7C10F5EDED0C}" type="pres">
      <dgm:prSet presAssocID="{0B819BC1-9F17-4479-9F9D-D862A2901D64}" presName="FourNodes_1" presStyleLbl="node1" presStyleIdx="0" presStyleCnt="4">
        <dgm:presLayoutVars>
          <dgm:bulletEnabled val="1"/>
        </dgm:presLayoutVars>
      </dgm:prSet>
      <dgm:spPr/>
    </dgm:pt>
    <dgm:pt modelId="{96F16FDE-D794-4E68-B9E9-10CA18331E9F}" type="pres">
      <dgm:prSet presAssocID="{0B819BC1-9F17-4479-9F9D-D862A2901D64}" presName="FourNodes_2" presStyleLbl="node1" presStyleIdx="1" presStyleCnt="4">
        <dgm:presLayoutVars>
          <dgm:bulletEnabled val="1"/>
        </dgm:presLayoutVars>
      </dgm:prSet>
      <dgm:spPr/>
    </dgm:pt>
    <dgm:pt modelId="{1F9F318F-347D-475D-AE3A-DB0A219A47A6}" type="pres">
      <dgm:prSet presAssocID="{0B819BC1-9F17-4479-9F9D-D862A2901D64}" presName="FourNodes_3" presStyleLbl="node1" presStyleIdx="2" presStyleCnt="4">
        <dgm:presLayoutVars>
          <dgm:bulletEnabled val="1"/>
        </dgm:presLayoutVars>
      </dgm:prSet>
      <dgm:spPr/>
    </dgm:pt>
    <dgm:pt modelId="{F94BA7ED-1DC3-43AD-A860-AC454F662743}" type="pres">
      <dgm:prSet presAssocID="{0B819BC1-9F17-4479-9F9D-D862A2901D64}" presName="FourNodes_4" presStyleLbl="node1" presStyleIdx="3" presStyleCnt="4">
        <dgm:presLayoutVars>
          <dgm:bulletEnabled val="1"/>
        </dgm:presLayoutVars>
      </dgm:prSet>
      <dgm:spPr/>
    </dgm:pt>
    <dgm:pt modelId="{1F1527B3-C566-4097-BA9A-CEF07C0953E3}" type="pres">
      <dgm:prSet presAssocID="{0B819BC1-9F17-4479-9F9D-D862A2901D64}" presName="FourConn_1-2" presStyleLbl="fgAccFollowNode1" presStyleIdx="0" presStyleCnt="3">
        <dgm:presLayoutVars>
          <dgm:bulletEnabled val="1"/>
        </dgm:presLayoutVars>
      </dgm:prSet>
      <dgm:spPr/>
    </dgm:pt>
    <dgm:pt modelId="{C84C9AD0-620D-4918-BE11-ED8404CF9FDD}" type="pres">
      <dgm:prSet presAssocID="{0B819BC1-9F17-4479-9F9D-D862A2901D64}" presName="FourConn_2-3" presStyleLbl="fgAccFollowNode1" presStyleIdx="1" presStyleCnt="3">
        <dgm:presLayoutVars>
          <dgm:bulletEnabled val="1"/>
        </dgm:presLayoutVars>
      </dgm:prSet>
      <dgm:spPr/>
    </dgm:pt>
    <dgm:pt modelId="{7ADD737D-D0CD-402E-A643-F683968AB337}" type="pres">
      <dgm:prSet presAssocID="{0B819BC1-9F17-4479-9F9D-D862A2901D64}" presName="FourConn_3-4" presStyleLbl="fgAccFollowNode1" presStyleIdx="2" presStyleCnt="3">
        <dgm:presLayoutVars>
          <dgm:bulletEnabled val="1"/>
        </dgm:presLayoutVars>
      </dgm:prSet>
      <dgm:spPr/>
    </dgm:pt>
    <dgm:pt modelId="{046C44F7-E066-4F34-9C3F-7F8D99BCE3C7}" type="pres">
      <dgm:prSet presAssocID="{0B819BC1-9F17-4479-9F9D-D862A2901D64}" presName="FourNodes_1_text" presStyleLbl="node1" presStyleIdx="3" presStyleCnt="4">
        <dgm:presLayoutVars>
          <dgm:bulletEnabled val="1"/>
        </dgm:presLayoutVars>
      </dgm:prSet>
      <dgm:spPr/>
    </dgm:pt>
    <dgm:pt modelId="{E5D5B724-74F9-48A1-8547-859F44F81264}" type="pres">
      <dgm:prSet presAssocID="{0B819BC1-9F17-4479-9F9D-D862A2901D64}" presName="FourNodes_2_text" presStyleLbl="node1" presStyleIdx="3" presStyleCnt="4">
        <dgm:presLayoutVars>
          <dgm:bulletEnabled val="1"/>
        </dgm:presLayoutVars>
      </dgm:prSet>
      <dgm:spPr/>
    </dgm:pt>
    <dgm:pt modelId="{F207C55D-6FCF-47D6-B4A5-5E854AE7B5AA}" type="pres">
      <dgm:prSet presAssocID="{0B819BC1-9F17-4479-9F9D-D862A2901D64}" presName="FourNodes_3_text" presStyleLbl="node1" presStyleIdx="3" presStyleCnt="4">
        <dgm:presLayoutVars>
          <dgm:bulletEnabled val="1"/>
        </dgm:presLayoutVars>
      </dgm:prSet>
      <dgm:spPr/>
    </dgm:pt>
    <dgm:pt modelId="{72CC93BE-97CB-4159-9FAB-E0DEA067BC4F}" type="pres">
      <dgm:prSet presAssocID="{0B819BC1-9F17-4479-9F9D-D862A2901D6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1429B0A-50DC-41D7-884C-EDEE4EF2E67B}" type="presOf" srcId="{AE6E7CC0-F938-4413-A070-79CB45195F9C}" destId="{E5D5B724-74F9-48A1-8547-859F44F81264}" srcOrd="1" destOrd="0" presId="urn:microsoft.com/office/officeart/2005/8/layout/vProcess5"/>
    <dgm:cxn modelId="{C6D44B38-0405-40A0-9531-9F2D4D15CCF2}" type="presOf" srcId="{AE6E7CC0-F938-4413-A070-79CB45195F9C}" destId="{96F16FDE-D794-4E68-B9E9-10CA18331E9F}" srcOrd="0" destOrd="0" presId="urn:microsoft.com/office/officeart/2005/8/layout/vProcess5"/>
    <dgm:cxn modelId="{92FAA240-E266-4E93-8628-2480E8726499}" type="presOf" srcId="{0B819BC1-9F17-4479-9F9D-D862A2901D64}" destId="{C15AA97B-4A63-47A5-BD8C-47611FACE9BB}" srcOrd="0" destOrd="0" presId="urn:microsoft.com/office/officeart/2005/8/layout/vProcess5"/>
    <dgm:cxn modelId="{AE323C51-6DF8-4900-B4F9-38DE758EDCD1}" type="presOf" srcId="{951A39F5-544C-4663-BFE3-B83FB5F43693}" destId="{1F9F318F-347D-475D-AE3A-DB0A219A47A6}" srcOrd="0" destOrd="0" presId="urn:microsoft.com/office/officeart/2005/8/layout/vProcess5"/>
    <dgm:cxn modelId="{23536A56-BF03-4ADD-A46C-14659BC3C384}" type="presOf" srcId="{2BFC3AA5-7459-4074-A799-4454881FE913}" destId="{5D8FF55D-DA9A-4FAD-8833-7C10F5EDED0C}" srcOrd="0" destOrd="0" presId="urn:microsoft.com/office/officeart/2005/8/layout/vProcess5"/>
    <dgm:cxn modelId="{4C65CA72-CF9C-4EC2-AE6D-29C1EB0B3AF7}" srcId="{0B819BC1-9F17-4479-9F9D-D862A2901D64}" destId="{951A39F5-544C-4663-BFE3-B83FB5F43693}" srcOrd="2" destOrd="0" parTransId="{A0120D73-919F-466E-8630-415FEE2ACD1F}" sibTransId="{0F52EDA9-D3DB-4B11-939B-41CAE8CB80C3}"/>
    <dgm:cxn modelId="{46677790-4B03-46F3-89D0-EC7957FC7176}" srcId="{0B819BC1-9F17-4479-9F9D-D862A2901D64}" destId="{2BFC3AA5-7459-4074-A799-4454881FE913}" srcOrd="0" destOrd="0" parTransId="{36C5658B-E116-4B02-BC89-F7D6FD1931D3}" sibTransId="{4F19928D-F044-45CA-8E42-77DCE22B8684}"/>
    <dgm:cxn modelId="{4B7286A1-F577-4A2E-8BB6-019CF8DF9725}" type="presOf" srcId="{980B615B-59C1-4A26-9E4C-36F7FC75CE16}" destId="{C84C9AD0-620D-4918-BE11-ED8404CF9FDD}" srcOrd="0" destOrd="0" presId="urn:microsoft.com/office/officeart/2005/8/layout/vProcess5"/>
    <dgm:cxn modelId="{468EDAA2-57C5-4647-A605-B5C39A5C7014}" type="presOf" srcId="{2BFC3AA5-7459-4074-A799-4454881FE913}" destId="{046C44F7-E066-4F34-9C3F-7F8D99BCE3C7}" srcOrd="1" destOrd="0" presId="urn:microsoft.com/office/officeart/2005/8/layout/vProcess5"/>
    <dgm:cxn modelId="{4785EFC3-1595-47EF-99CE-CA4825751232}" srcId="{0B819BC1-9F17-4479-9F9D-D862A2901D64}" destId="{AE6E7CC0-F938-4413-A070-79CB45195F9C}" srcOrd="1" destOrd="0" parTransId="{C68F0DD5-1BE7-407B-BD0C-F9B47C8D0841}" sibTransId="{980B615B-59C1-4A26-9E4C-36F7FC75CE16}"/>
    <dgm:cxn modelId="{EE9355CF-342D-4306-8D2E-95987F0CEFED}" type="presOf" srcId="{BCB159F3-9A44-425B-B794-0A386786458E}" destId="{72CC93BE-97CB-4159-9FAB-E0DEA067BC4F}" srcOrd="1" destOrd="0" presId="urn:microsoft.com/office/officeart/2005/8/layout/vProcess5"/>
    <dgm:cxn modelId="{353E99D6-F7FB-4D2F-BE4C-1F223ABA6F88}" srcId="{0B819BC1-9F17-4479-9F9D-D862A2901D64}" destId="{BCB159F3-9A44-425B-B794-0A386786458E}" srcOrd="3" destOrd="0" parTransId="{9B5E6363-45DD-4C9F-9890-5F8340A5CB9B}" sibTransId="{63C6C6C2-3DAF-4CBF-8314-0FE2EA056BB1}"/>
    <dgm:cxn modelId="{49BA2EEC-D3DE-4408-BD0F-DF9937BC61E9}" type="presOf" srcId="{951A39F5-544C-4663-BFE3-B83FB5F43693}" destId="{F207C55D-6FCF-47D6-B4A5-5E854AE7B5AA}" srcOrd="1" destOrd="0" presId="urn:microsoft.com/office/officeart/2005/8/layout/vProcess5"/>
    <dgm:cxn modelId="{6487A2F7-3930-47CD-A2CD-89E20AAAAA53}" type="presOf" srcId="{0F52EDA9-D3DB-4B11-939B-41CAE8CB80C3}" destId="{7ADD737D-D0CD-402E-A643-F683968AB337}" srcOrd="0" destOrd="0" presId="urn:microsoft.com/office/officeart/2005/8/layout/vProcess5"/>
    <dgm:cxn modelId="{C32F1CFC-E1AD-40D8-94E2-5D4656992B38}" type="presOf" srcId="{BCB159F3-9A44-425B-B794-0A386786458E}" destId="{F94BA7ED-1DC3-43AD-A860-AC454F662743}" srcOrd="0" destOrd="0" presId="urn:microsoft.com/office/officeart/2005/8/layout/vProcess5"/>
    <dgm:cxn modelId="{591686FE-685C-426B-922E-50EA7E866593}" type="presOf" srcId="{4F19928D-F044-45CA-8E42-77DCE22B8684}" destId="{1F1527B3-C566-4097-BA9A-CEF07C0953E3}" srcOrd="0" destOrd="0" presId="urn:microsoft.com/office/officeart/2005/8/layout/vProcess5"/>
    <dgm:cxn modelId="{ADB2F46B-6706-45F1-B0D8-99847677D15A}" type="presParOf" srcId="{C15AA97B-4A63-47A5-BD8C-47611FACE9BB}" destId="{418ABADC-459A-4C60-A7DC-12D6EA8B5D5F}" srcOrd="0" destOrd="0" presId="urn:microsoft.com/office/officeart/2005/8/layout/vProcess5"/>
    <dgm:cxn modelId="{F29DA1F6-9692-465A-826A-07C14714ABEE}" type="presParOf" srcId="{C15AA97B-4A63-47A5-BD8C-47611FACE9BB}" destId="{5D8FF55D-DA9A-4FAD-8833-7C10F5EDED0C}" srcOrd="1" destOrd="0" presId="urn:microsoft.com/office/officeart/2005/8/layout/vProcess5"/>
    <dgm:cxn modelId="{D133183A-03FA-4647-BB47-BE4B9FB9248B}" type="presParOf" srcId="{C15AA97B-4A63-47A5-BD8C-47611FACE9BB}" destId="{96F16FDE-D794-4E68-B9E9-10CA18331E9F}" srcOrd="2" destOrd="0" presId="urn:microsoft.com/office/officeart/2005/8/layout/vProcess5"/>
    <dgm:cxn modelId="{E91F9328-6904-44AD-B6E6-DF740740E2FD}" type="presParOf" srcId="{C15AA97B-4A63-47A5-BD8C-47611FACE9BB}" destId="{1F9F318F-347D-475D-AE3A-DB0A219A47A6}" srcOrd="3" destOrd="0" presId="urn:microsoft.com/office/officeart/2005/8/layout/vProcess5"/>
    <dgm:cxn modelId="{D0F523A3-AB57-4140-B70C-4200F1E5CA08}" type="presParOf" srcId="{C15AA97B-4A63-47A5-BD8C-47611FACE9BB}" destId="{F94BA7ED-1DC3-43AD-A860-AC454F662743}" srcOrd="4" destOrd="0" presId="urn:microsoft.com/office/officeart/2005/8/layout/vProcess5"/>
    <dgm:cxn modelId="{82DF020A-BEE5-4CEC-A4F3-ED7D3744336E}" type="presParOf" srcId="{C15AA97B-4A63-47A5-BD8C-47611FACE9BB}" destId="{1F1527B3-C566-4097-BA9A-CEF07C0953E3}" srcOrd="5" destOrd="0" presId="urn:microsoft.com/office/officeart/2005/8/layout/vProcess5"/>
    <dgm:cxn modelId="{7701060D-35BC-442B-B98E-0945A1AED9B9}" type="presParOf" srcId="{C15AA97B-4A63-47A5-BD8C-47611FACE9BB}" destId="{C84C9AD0-620D-4918-BE11-ED8404CF9FDD}" srcOrd="6" destOrd="0" presId="urn:microsoft.com/office/officeart/2005/8/layout/vProcess5"/>
    <dgm:cxn modelId="{2BF199B9-F695-43D4-B6AA-CAB103D73F9E}" type="presParOf" srcId="{C15AA97B-4A63-47A5-BD8C-47611FACE9BB}" destId="{7ADD737D-D0CD-402E-A643-F683968AB337}" srcOrd="7" destOrd="0" presId="urn:microsoft.com/office/officeart/2005/8/layout/vProcess5"/>
    <dgm:cxn modelId="{5CA5BB36-AC47-4FE3-9828-865364291BBA}" type="presParOf" srcId="{C15AA97B-4A63-47A5-BD8C-47611FACE9BB}" destId="{046C44F7-E066-4F34-9C3F-7F8D99BCE3C7}" srcOrd="8" destOrd="0" presId="urn:microsoft.com/office/officeart/2005/8/layout/vProcess5"/>
    <dgm:cxn modelId="{5F8363A4-4BE6-46B1-BB40-9DDC52807085}" type="presParOf" srcId="{C15AA97B-4A63-47A5-BD8C-47611FACE9BB}" destId="{E5D5B724-74F9-48A1-8547-859F44F81264}" srcOrd="9" destOrd="0" presId="urn:microsoft.com/office/officeart/2005/8/layout/vProcess5"/>
    <dgm:cxn modelId="{561B091D-8CB5-42FE-85FB-03347475FE85}" type="presParOf" srcId="{C15AA97B-4A63-47A5-BD8C-47611FACE9BB}" destId="{F207C55D-6FCF-47D6-B4A5-5E854AE7B5AA}" srcOrd="10" destOrd="0" presId="urn:microsoft.com/office/officeart/2005/8/layout/vProcess5"/>
    <dgm:cxn modelId="{B375646B-0448-4BEF-A966-8D2A19CE5264}" type="presParOf" srcId="{C15AA97B-4A63-47A5-BD8C-47611FACE9BB}" destId="{72CC93BE-97CB-4159-9FAB-E0DEA067BC4F}" srcOrd="11" destOrd="0" presId="urn:microsoft.com/office/officeart/2005/8/layout/vProcess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BC1E07E-3DF9-448B-AEE3-D12C1B1B5D1F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FF9FDFBF-B3D5-44B8-B614-A0A163E0B35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/>
            <a:t>Fiscal stimulus (↑G or ↓T) will result in a negative budget balance (</a:t>
          </a:r>
          <a:r>
            <a:rPr lang="en-GB" b="1"/>
            <a:t>government budget deficit</a:t>
          </a:r>
          <a:r>
            <a:rPr lang="en-GB"/>
            <a:t>). </a:t>
          </a:r>
          <a:endParaRPr lang="en-NZ"/>
        </a:p>
      </dgm:t>
    </dgm:pt>
    <dgm:pt modelId="{7772F7C0-7495-4A8C-A6DE-7296F4529D5B}" type="parTrans" cxnId="{99FAEFC6-A644-4FA4-9E5B-A9B04838D0AD}">
      <dgm:prSet/>
      <dgm:spPr/>
      <dgm:t>
        <a:bodyPr/>
        <a:lstStyle/>
        <a:p>
          <a:endParaRPr lang="en-NZ"/>
        </a:p>
      </dgm:t>
    </dgm:pt>
    <dgm:pt modelId="{6F888BF7-BB4A-4D39-8B41-54BBD66733FA}" type="sibTrans" cxnId="{99FAEFC6-A644-4FA4-9E5B-A9B04838D0AD}">
      <dgm:prSet/>
      <dgm:spPr/>
      <dgm:t>
        <a:bodyPr/>
        <a:lstStyle/>
        <a:p>
          <a:endParaRPr lang="en-NZ"/>
        </a:p>
      </dgm:t>
    </dgm:pt>
    <dgm:pt modelId="{7F8CAD7A-F51E-4EB9-BD63-5C4355941745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If it is not reversed after the recession, it will increase </a:t>
          </a:r>
          <a:r>
            <a:rPr lang="en-GB" b="1" dirty="0"/>
            <a:t>government debt</a:t>
          </a:r>
          <a:r>
            <a:rPr lang="en-GB" dirty="0"/>
            <a:t>.</a:t>
          </a:r>
          <a:endParaRPr lang="en-NZ" dirty="0"/>
        </a:p>
      </dgm:t>
    </dgm:pt>
    <dgm:pt modelId="{6B8568EF-8404-4CD0-ABB7-0927BD48ED5D}" type="parTrans" cxnId="{E621034F-B58D-461D-B3A9-61C65FE71BC2}">
      <dgm:prSet/>
      <dgm:spPr/>
      <dgm:t>
        <a:bodyPr/>
        <a:lstStyle/>
        <a:p>
          <a:endParaRPr lang="en-NZ"/>
        </a:p>
      </dgm:t>
    </dgm:pt>
    <dgm:pt modelId="{6D699A18-0C98-43EC-94C8-6E14206F68E8}" type="sibTrans" cxnId="{E621034F-B58D-461D-B3A9-61C65FE71BC2}">
      <dgm:prSet/>
      <dgm:spPr/>
      <dgm:t>
        <a:bodyPr/>
        <a:lstStyle/>
        <a:p>
          <a:endParaRPr lang="en-NZ"/>
        </a:p>
      </dgm:t>
    </dgm:pt>
    <dgm:pt modelId="{F68CB3FE-64C6-463F-9B08-B12F3F1FD9E7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/>
            <a:t>A </a:t>
          </a:r>
          <a:r>
            <a:rPr lang="en-GB" b="1"/>
            <a:t>government budget surplus </a:t>
          </a:r>
          <a:r>
            <a:rPr lang="en-GB"/>
            <a:t>is when tax revenue is greater than government spending.</a:t>
          </a:r>
          <a:endParaRPr lang="en-NZ"/>
        </a:p>
      </dgm:t>
    </dgm:pt>
    <dgm:pt modelId="{B83FA2FA-C04B-42C8-B2EF-60E0E6F435B3}" type="parTrans" cxnId="{8C562E11-9FF1-49D6-BACD-41010750F117}">
      <dgm:prSet/>
      <dgm:spPr/>
      <dgm:t>
        <a:bodyPr/>
        <a:lstStyle/>
        <a:p>
          <a:endParaRPr lang="en-NZ"/>
        </a:p>
      </dgm:t>
    </dgm:pt>
    <dgm:pt modelId="{33FC68F4-B66B-46E4-B9EF-1FD272532430}" type="sibTrans" cxnId="{8C562E11-9FF1-49D6-BACD-41010750F117}">
      <dgm:prSet/>
      <dgm:spPr/>
      <dgm:t>
        <a:bodyPr/>
        <a:lstStyle/>
        <a:p>
          <a:endParaRPr lang="en-NZ"/>
        </a:p>
      </dgm:t>
    </dgm:pt>
    <dgm:pt modelId="{65A810D0-B031-48C4-BCCA-C1C6DBE828BF}" type="pres">
      <dgm:prSet presAssocID="{EBC1E07E-3DF9-448B-AEE3-D12C1B1B5D1F}" presName="Name0" presStyleCnt="0">
        <dgm:presLayoutVars>
          <dgm:dir/>
          <dgm:resizeHandles val="exact"/>
        </dgm:presLayoutVars>
      </dgm:prSet>
      <dgm:spPr/>
    </dgm:pt>
    <dgm:pt modelId="{FEF7A9E6-031C-4C3F-99A0-E5185DC6BB0A}" type="pres">
      <dgm:prSet presAssocID="{FF9FDFBF-B3D5-44B8-B614-A0A163E0B355}" presName="node" presStyleLbl="node1" presStyleIdx="0" presStyleCnt="3">
        <dgm:presLayoutVars>
          <dgm:bulletEnabled val="1"/>
        </dgm:presLayoutVars>
      </dgm:prSet>
      <dgm:spPr/>
    </dgm:pt>
    <dgm:pt modelId="{CD95A87D-4E34-4985-B278-CC3EE9A4F7A1}" type="pres">
      <dgm:prSet presAssocID="{6F888BF7-BB4A-4D39-8B41-54BBD66733FA}" presName="sibTrans" presStyleLbl="sibTrans1D1" presStyleIdx="0" presStyleCnt="2"/>
      <dgm:spPr/>
    </dgm:pt>
    <dgm:pt modelId="{8827847F-5036-44BC-8CC5-1858CB0C454D}" type="pres">
      <dgm:prSet presAssocID="{6F888BF7-BB4A-4D39-8B41-54BBD66733FA}" presName="connectorText" presStyleLbl="sibTrans1D1" presStyleIdx="0" presStyleCnt="2"/>
      <dgm:spPr/>
    </dgm:pt>
    <dgm:pt modelId="{DDB63FB8-F7D6-4DEE-9512-F5DCA2C984FD}" type="pres">
      <dgm:prSet presAssocID="{7F8CAD7A-F51E-4EB9-BD63-5C4355941745}" presName="node" presStyleLbl="node1" presStyleIdx="1" presStyleCnt="3">
        <dgm:presLayoutVars>
          <dgm:bulletEnabled val="1"/>
        </dgm:presLayoutVars>
      </dgm:prSet>
      <dgm:spPr/>
    </dgm:pt>
    <dgm:pt modelId="{302B44C1-69E0-4099-999B-7FF3A9164619}" type="pres">
      <dgm:prSet presAssocID="{6D699A18-0C98-43EC-94C8-6E14206F68E8}" presName="sibTrans" presStyleLbl="sibTrans1D1" presStyleIdx="1" presStyleCnt="2"/>
      <dgm:spPr/>
    </dgm:pt>
    <dgm:pt modelId="{DBACA87C-742A-4B17-9E21-2476068C108F}" type="pres">
      <dgm:prSet presAssocID="{6D699A18-0C98-43EC-94C8-6E14206F68E8}" presName="connectorText" presStyleLbl="sibTrans1D1" presStyleIdx="1" presStyleCnt="2"/>
      <dgm:spPr/>
    </dgm:pt>
    <dgm:pt modelId="{37BDB81E-D1F1-40FC-8387-841FE7181F5F}" type="pres">
      <dgm:prSet presAssocID="{F68CB3FE-64C6-463F-9B08-B12F3F1FD9E7}" presName="node" presStyleLbl="node1" presStyleIdx="2" presStyleCnt="3">
        <dgm:presLayoutVars>
          <dgm:bulletEnabled val="1"/>
        </dgm:presLayoutVars>
      </dgm:prSet>
      <dgm:spPr/>
    </dgm:pt>
  </dgm:ptLst>
  <dgm:cxnLst>
    <dgm:cxn modelId="{7BEED00E-A32D-45FF-9A9E-A2EB9DED263B}" type="presOf" srcId="{6F888BF7-BB4A-4D39-8B41-54BBD66733FA}" destId="{8827847F-5036-44BC-8CC5-1858CB0C454D}" srcOrd="1" destOrd="0" presId="urn:microsoft.com/office/officeart/2005/8/layout/bProcess3"/>
    <dgm:cxn modelId="{8C562E11-9FF1-49D6-BACD-41010750F117}" srcId="{EBC1E07E-3DF9-448B-AEE3-D12C1B1B5D1F}" destId="{F68CB3FE-64C6-463F-9B08-B12F3F1FD9E7}" srcOrd="2" destOrd="0" parTransId="{B83FA2FA-C04B-42C8-B2EF-60E0E6F435B3}" sibTransId="{33FC68F4-B66B-46E4-B9EF-1FD272532430}"/>
    <dgm:cxn modelId="{6971EE19-C438-4A62-A51F-7CC05E1C4AEC}" type="presOf" srcId="{7F8CAD7A-F51E-4EB9-BD63-5C4355941745}" destId="{DDB63FB8-F7D6-4DEE-9512-F5DCA2C984FD}" srcOrd="0" destOrd="0" presId="urn:microsoft.com/office/officeart/2005/8/layout/bProcess3"/>
    <dgm:cxn modelId="{ADA0C236-6D88-41A6-B88B-080ADAD8940E}" type="presOf" srcId="{EBC1E07E-3DF9-448B-AEE3-D12C1B1B5D1F}" destId="{65A810D0-B031-48C4-BCCA-C1C6DBE828BF}" srcOrd="0" destOrd="0" presId="urn:microsoft.com/office/officeart/2005/8/layout/bProcess3"/>
    <dgm:cxn modelId="{55560A44-6625-413D-9133-C53497973BCF}" type="presOf" srcId="{F68CB3FE-64C6-463F-9B08-B12F3F1FD9E7}" destId="{37BDB81E-D1F1-40FC-8387-841FE7181F5F}" srcOrd="0" destOrd="0" presId="urn:microsoft.com/office/officeart/2005/8/layout/bProcess3"/>
    <dgm:cxn modelId="{E621034F-B58D-461D-B3A9-61C65FE71BC2}" srcId="{EBC1E07E-3DF9-448B-AEE3-D12C1B1B5D1F}" destId="{7F8CAD7A-F51E-4EB9-BD63-5C4355941745}" srcOrd="1" destOrd="0" parTransId="{6B8568EF-8404-4CD0-ABB7-0927BD48ED5D}" sibTransId="{6D699A18-0C98-43EC-94C8-6E14206F68E8}"/>
    <dgm:cxn modelId="{DECAF47E-2400-4A65-B250-C15822527793}" type="presOf" srcId="{FF9FDFBF-B3D5-44B8-B614-A0A163E0B355}" destId="{FEF7A9E6-031C-4C3F-99A0-E5185DC6BB0A}" srcOrd="0" destOrd="0" presId="urn:microsoft.com/office/officeart/2005/8/layout/bProcess3"/>
    <dgm:cxn modelId="{8AFF83B0-112E-436C-B25D-77ACC875A4C2}" type="presOf" srcId="{6D699A18-0C98-43EC-94C8-6E14206F68E8}" destId="{302B44C1-69E0-4099-999B-7FF3A9164619}" srcOrd="0" destOrd="0" presId="urn:microsoft.com/office/officeart/2005/8/layout/bProcess3"/>
    <dgm:cxn modelId="{99FAEFC6-A644-4FA4-9E5B-A9B04838D0AD}" srcId="{EBC1E07E-3DF9-448B-AEE3-D12C1B1B5D1F}" destId="{FF9FDFBF-B3D5-44B8-B614-A0A163E0B355}" srcOrd="0" destOrd="0" parTransId="{7772F7C0-7495-4A8C-A6DE-7296F4529D5B}" sibTransId="{6F888BF7-BB4A-4D39-8B41-54BBD66733FA}"/>
    <dgm:cxn modelId="{50BB53DD-B598-415B-8F92-8221BD37E5A2}" type="presOf" srcId="{6F888BF7-BB4A-4D39-8B41-54BBD66733FA}" destId="{CD95A87D-4E34-4985-B278-CC3EE9A4F7A1}" srcOrd="0" destOrd="0" presId="urn:microsoft.com/office/officeart/2005/8/layout/bProcess3"/>
    <dgm:cxn modelId="{CE2A9DEF-195B-4465-BE81-79E4211AE62F}" type="presOf" srcId="{6D699A18-0C98-43EC-94C8-6E14206F68E8}" destId="{DBACA87C-742A-4B17-9E21-2476068C108F}" srcOrd="1" destOrd="0" presId="urn:microsoft.com/office/officeart/2005/8/layout/bProcess3"/>
    <dgm:cxn modelId="{11B4D1CB-018C-4AEE-97E9-9CB2A322A186}" type="presParOf" srcId="{65A810D0-B031-48C4-BCCA-C1C6DBE828BF}" destId="{FEF7A9E6-031C-4C3F-99A0-E5185DC6BB0A}" srcOrd="0" destOrd="0" presId="urn:microsoft.com/office/officeart/2005/8/layout/bProcess3"/>
    <dgm:cxn modelId="{92B98F2B-EABA-4951-99BF-57435BAC825A}" type="presParOf" srcId="{65A810D0-B031-48C4-BCCA-C1C6DBE828BF}" destId="{CD95A87D-4E34-4985-B278-CC3EE9A4F7A1}" srcOrd="1" destOrd="0" presId="urn:microsoft.com/office/officeart/2005/8/layout/bProcess3"/>
    <dgm:cxn modelId="{A4DC70A8-85D9-453E-823B-2FF2F3390813}" type="presParOf" srcId="{CD95A87D-4E34-4985-B278-CC3EE9A4F7A1}" destId="{8827847F-5036-44BC-8CC5-1858CB0C454D}" srcOrd="0" destOrd="0" presId="urn:microsoft.com/office/officeart/2005/8/layout/bProcess3"/>
    <dgm:cxn modelId="{3785F858-933A-4906-919E-CBBB903DBA35}" type="presParOf" srcId="{65A810D0-B031-48C4-BCCA-C1C6DBE828BF}" destId="{DDB63FB8-F7D6-4DEE-9512-F5DCA2C984FD}" srcOrd="2" destOrd="0" presId="urn:microsoft.com/office/officeart/2005/8/layout/bProcess3"/>
    <dgm:cxn modelId="{DAFB85F0-2DDE-41EA-83FB-91E60FB88D45}" type="presParOf" srcId="{65A810D0-B031-48C4-BCCA-C1C6DBE828BF}" destId="{302B44C1-69E0-4099-999B-7FF3A9164619}" srcOrd="3" destOrd="0" presId="urn:microsoft.com/office/officeart/2005/8/layout/bProcess3"/>
    <dgm:cxn modelId="{C42F36AF-EC8C-41B5-B702-64B3CBBFFE34}" type="presParOf" srcId="{302B44C1-69E0-4099-999B-7FF3A9164619}" destId="{DBACA87C-742A-4B17-9E21-2476068C108F}" srcOrd="0" destOrd="0" presId="urn:microsoft.com/office/officeart/2005/8/layout/bProcess3"/>
    <dgm:cxn modelId="{787D5AF6-EFF6-402D-897E-2A14072C741B}" type="presParOf" srcId="{65A810D0-B031-48C4-BCCA-C1C6DBE828BF}" destId="{37BDB81E-D1F1-40FC-8387-841FE7181F5F}" srcOrd="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B79ABEE-B7FA-4F45-850E-1B1150A998D7}" type="doc">
      <dgm:prSet loTypeId="urn:microsoft.com/office/officeart/2005/8/layout/process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07E4DCD3-EB0F-4403-8528-F9477836E104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b="1"/>
            <a:t>Austerity policy </a:t>
          </a:r>
          <a:r>
            <a:rPr lang="en-GB"/>
            <a:t>can reinforce (or worsen) rather than remedy a recession by further reducing aggregate demand.</a:t>
          </a:r>
          <a:endParaRPr lang="en-NZ"/>
        </a:p>
      </dgm:t>
    </dgm:pt>
    <dgm:pt modelId="{E7DD7966-1DA8-4644-95B1-79FA9421FB2D}" type="parTrans" cxnId="{5B5E37AD-0062-4766-9EAF-A51E0C42AB32}">
      <dgm:prSet/>
      <dgm:spPr/>
      <dgm:t>
        <a:bodyPr/>
        <a:lstStyle/>
        <a:p>
          <a:endParaRPr lang="en-NZ"/>
        </a:p>
      </dgm:t>
    </dgm:pt>
    <dgm:pt modelId="{C6C7A0D4-CA67-44F8-8988-BE99E6D16430}" type="sibTrans" cxnId="{5B5E37AD-0062-4766-9EAF-A51E0C42AB32}">
      <dgm:prSet/>
      <dgm:spPr/>
      <dgm:t>
        <a:bodyPr/>
        <a:lstStyle/>
        <a:p>
          <a:endParaRPr lang="en-NZ"/>
        </a:p>
      </dgm:t>
    </dgm:pt>
    <dgm:pt modelId="{5F0C1F51-2D8D-4CBB-A93C-4A795A1D71C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/>
            <a:t>Governments may be forced into this policy if they are unable to borrow to finance their deficits.</a:t>
          </a:r>
          <a:endParaRPr lang="en-NZ"/>
        </a:p>
      </dgm:t>
    </dgm:pt>
    <dgm:pt modelId="{6D9A0F3F-87E4-4A16-A3B0-B321278EA39D}" type="parTrans" cxnId="{5138FAB0-A9CA-42FB-BF0B-2B5DA31C715A}">
      <dgm:prSet/>
      <dgm:spPr/>
      <dgm:t>
        <a:bodyPr/>
        <a:lstStyle/>
        <a:p>
          <a:endParaRPr lang="en-NZ"/>
        </a:p>
      </dgm:t>
    </dgm:pt>
    <dgm:pt modelId="{ECD0B1BF-BB65-4B3E-B4AD-FA789CA1AD0A}" type="sibTrans" cxnId="{5138FAB0-A9CA-42FB-BF0B-2B5DA31C715A}">
      <dgm:prSet/>
      <dgm:spPr/>
      <dgm:t>
        <a:bodyPr/>
        <a:lstStyle/>
        <a:p>
          <a:endParaRPr lang="en-NZ"/>
        </a:p>
      </dgm:t>
    </dgm:pt>
    <dgm:pt modelId="{CADFA4F7-41D3-4F77-B744-A0C6FC8AD372}" type="pres">
      <dgm:prSet presAssocID="{2B79ABEE-B7FA-4F45-850E-1B1150A998D7}" presName="Name0" presStyleCnt="0">
        <dgm:presLayoutVars>
          <dgm:dir/>
          <dgm:resizeHandles val="exact"/>
        </dgm:presLayoutVars>
      </dgm:prSet>
      <dgm:spPr/>
    </dgm:pt>
    <dgm:pt modelId="{7FEEDA73-B3F7-47D7-9287-D4D9693FBD48}" type="pres">
      <dgm:prSet presAssocID="{07E4DCD3-EB0F-4403-8528-F9477836E104}" presName="node" presStyleLbl="node1" presStyleIdx="0" presStyleCnt="2">
        <dgm:presLayoutVars>
          <dgm:bulletEnabled val="1"/>
        </dgm:presLayoutVars>
      </dgm:prSet>
      <dgm:spPr/>
    </dgm:pt>
    <dgm:pt modelId="{E55A4FAB-E80B-4116-86F1-66A2A5A739C5}" type="pres">
      <dgm:prSet presAssocID="{C6C7A0D4-CA67-44F8-8988-BE99E6D16430}" presName="sibTrans" presStyleLbl="sibTrans2D1" presStyleIdx="0" presStyleCnt="1"/>
      <dgm:spPr/>
    </dgm:pt>
    <dgm:pt modelId="{22BB6878-FFD4-4C40-8985-F7E9A06B362E}" type="pres">
      <dgm:prSet presAssocID="{C6C7A0D4-CA67-44F8-8988-BE99E6D16430}" presName="connectorText" presStyleLbl="sibTrans2D1" presStyleIdx="0" presStyleCnt="1"/>
      <dgm:spPr/>
    </dgm:pt>
    <dgm:pt modelId="{D5A781EC-A73A-47F2-A916-720E73D52351}" type="pres">
      <dgm:prSet presAssocID="{5F0C1F51-2D8D-4CBB-A93C-4A795A1D71C2}" presName="node" presStyleLbl="node1" presStyleIdx="1" presStyleCnt="2">
        <dgm:presLayoutVars>
          <dgm:bulletEnabled val="1"/>
        </dgm:presLayoutVars>
      </dgm:prSet>
      <dgm:spPr/>
    </dgm:pt>
  </dgm:ptLst>
  <dgm:cxnLst>
    <dgm:cxn modelId="{BA5C7B05-74FD-4453-B635-610AC9E50FB4}" type="presOf" srcId="{07E4DCD3-EB0F-4403-8528-F9477836E104}" destId="{7FEEDA73-B3F7-47D7-9287-D4D9693FBD48}" srcOrd="0" destOrd="0" presId="urn:microsoft.com/office/officeart/2005/8/layout/process1"/>
    <dgm:cxn modelId="{28FF4B30-C8FE-4763-95B4-5ED196E0FCC5}" type="presOf" srcId="{C6C7A0D4-CA67-44F8-8988-BE99E6D16430}" destId="{22BB6878-FFD4-4C40-8985-F7E9A06B362E}" srcOrd="1" destOrd="0" presId="urn:microsoft.com/office/officeart/2005/8/layout/process1"/>
    <dgm:cxn modelId="{5B5E37AD-0062-4766-9EAF-A51E0C42AB32}" srcId="{2B79ABEE-B7FA-4F45-850E-1B1150A998D7}" destId="{07E4DCD3-EB0F-4403-8528-F9477836E104}" srcOrd="0" destOrd="0" parTransId="{E7DD7966-1DA8-4644-95B1-79FA9421FB2D}" sibTransId="{C6C7A0D4-CA67-44F8-8988-BE99E6D16430}"/>
    <dgm:cxn modelId="{5138FAB0-A9CA-42FB-BF0B-2B5DA31C715A}" srcId="{2B79ABEE-B7FA-4F45-850E-1B1150A998D7}" destId="{5F0C1F51-2D8D-4CBB-A93C-4A795A1D71C2}" srcOrd="1" destOrd="0" parTransId="{6D9A0F3F-87E4-4A16-A3B0-B321278EA39D}" sibTransId="{ECD0B1BF-BB65-4B3E-B4AD-FA789CA1AD0A}"/>
    <dgm:cxn modelId="{49DB24DD-0C3A-4727-A25B-F2DEDC904BB6}" type="presOf" srcId="{5F0C1F51-2D8D-4CBB-A93C-4A795A1D71C2}" destId="{D5A781EC-A73A-47F2-A916-720E73D52351}" srcOrd="0" destOrd="0" presId="urn:microsoft.com/office/officeart/2005/8/layout/process1"/>
    <dgm:cxn modelId="{0B44EFE0-E114-4CAF-870B-30AE454ABF04}" type="presOf" srcId="{C6C7A0D4-CA67-44F8-8988-BE99E6D16430}" destId="{E55A4FAB-E80B-4116-86F1-66A2A5A739C5}" srcOrd="0" destOrd="0" presId="urn:microsoft.com/office/officeart/2005/8/layout/process1"/>
    <dgm:cxn modelId="{D78199E1-57FD-4AF2-A95B-AF43CD6BA9CD}" type="presOf" srcId="{2B79ABEE-B7FA-4F45-850E-1B1150A998D7}" destId="{CADFA4F7-41D3-4F77-B744-A0C6FC8AD372}" srcOrd="0" destOrd="0" presId="urn:microsoft.com/office/officeart/2005/8/layout/process1"/>
    <dgm:cxn modelId="{B1A15A6A-E705-4B41-9224-37A874C4057C}" type="presParOf" srcId="{CADFA4F7-41D3-4F77-B744-A0C6FC8AD372}" destId="{7FEEDA73-B3F7-47D7-9287-D4D9693FBD48}" srcOrd="0" destOrd="0" presId="urn:microsoft.com/office/officeart/2005/8/layout/process1"/>
    <dgm:cxn modelId="{DB2F0F63-FB62-43DE-8BCC-59D53B9BE7C1}" type="presParOf" srcId="{CADFA4F7-41D3-4F77-B744-A0C6FC8AD372}" destId="{E55A4FAB-E80B-4116-86F1-66A2A5A739C5}" srcOrd="1" destOrd="0" presId="urn:microsoft.com/office/officeart/2005/8/layout/process1"/>
    <dgm:cxn modelId="{0DDC8D7B-2365-40C1-8D96-194A09EFAAAB}" type="presParOf" srcId="{E55A4FAB-E80B-4116-86F1-66A2A5A739C5}" destId="{22BB6878-FFD4-4C40-8985-F7E9A06B362E}" srcOrd="0" destOrd="0" presId="urn:microsoft.com/office/officeart/2005/8/layout/process1"/>
    <dgm:cxn modelId="{8C024C7E-7FCF-46C5-8011-8D27467F35AE}" type="presParOf" srcId="{CADFA4F7-41D3-4F77-B744-A0C6FC8AD372}" destId="{D5A781EC-A73A-47F2-A916-720E73D5235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D01B073-9ACA-4E8D-8E5C-443AF63C68BA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NZ"/>
        </a:p>
      </dgm:t>
    </dgm:pt>
    <dgm:pt modelId="{4CC85A72-CB4B-4C19-96E0-50B7B59493B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/>
            <a:t>In reality, it also depends on:</a:t>
          </a:r>
          <a:endParaRPr lang="en-NZ"/>
        </a:p>
      </dgm:t>
    </dgm:pt>
    <dgm:pt modelId="{33A63CCB-A4E0-4679-9067-6B7E916B7EB5}" type="parTrans" cxnId="{3688F91D-CFD9-43AA-B3EF-0F18AF2C2693}">
      <dgm:prSet/>
      <dgm:spPr/>
      <dgm:t>
        <a:bodyPr/>
        <a:lstStyle/>
        <a:p>
          <a:endParaRPr lang="en-NZ"/>
        </a:p>
      </dgm:t>
    </dgm:pt>
    <dgm:pt modelId="{814355B3-D93D-4674-9E57-2164AF204F82}" type="sibTrans" cxnId="{3688F91D-CFD9-43AA-B3EF-0F18AF2C2693}">
      <dgm:prSet/>
      <dgm:spPr/>
      <dgm:t>
        <a:bodyPr/>
        <a:lstStyle/>
        <a:p>
          <a:endParaRPr lang="en-NZ"/>
        </a:p>
      </dgm:t>
    </dgm:pt>
    <dgm:pt modelId="{D3490C77-4268-44AF-AFB4-907C72F7D8A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u="sng"/>
            <a:t>Rate of capacity utilisation (the phase of the business cycle)</a:t>
          </a:r>
          <a:r>
            <a:rPr lang="en-GB"/>
            <a:t>: </a:t>
          </a:r>
          <a:endParaRPr lang="en-NZ"/>
        </a:p>
      </dgm:t>
    </dgm:pt>
    <dgm:pt modelId="{F0D06F7C-5363-4EB8-A21D-30C5F8AAC822}" type="parTrans" cxnId="{ACA3B2F2-0209-44F1-A3A5-3355B9A4305C}">
      <dgm:prSet/>
      <dgm:spPr/>
      <dgm:t>
        <a:bodyPr/>
        <a:lstStyle/>
        <a:p>
          <a:endParaRPr lang="en-NZ"/>
        </a:p>
      </dgm:t>
    </dgm:pt>
    <dgm:pt modelId="{72503B73-1D8B-483B-91B7-2D448CBCCB4F}" type="sibTrans" cxnId="{ACA3B2F2-0209-44F1-A3A5-3355B9A4305C}">
      <dgm:prSet/>
      <dgm:spPr/>
      <dgm:t>
        <a:bodyPr/>
        <a:lstStyle/>
        <a:p>
          <a:endParaRPr lang="en-NZ"/>
        </a:p>
      </dgm:t>
    </dgm:pt>
    <dgm:pt modelId="{E87056DD-E15D-4623-8419-209FF9F6F977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with fully employed resources, an increase in government spending would </a:t>
          </a:r>
          <a:r>
            <a:rPr lang="en-GB" b="1" dirty="0"/>
            <a:t>crowd out </a:t>
          </a:r>
          <a:r>
            <a:rPr lang="en-GB" dirty="0"/>
            <a:t>private spending </a:t>
          </a:r>
          <a:endParaRPr lang="en-NZ" dirty="0"/>
        </a:p>
      </dgm:t>
    </dgm:pt>
    <dgm:pt modelId="{B0F2E222-3594-44ED-B0A4-5994314CA1F6}" type="parTrans" cxnId="{9441D0EC-AC59-4C9D-94E2-D69945B617FB}">
      <dgm:prSet/>
      <dgm:spPr/>
      <dgm:t>
        <a:bodyPr/>
        <a:lstStyle/>
        <a:p>
          <a:endParaRPr lang="en-NZ"/>
        </a:p>
      </dgm:t>
    </dgm:pt>
    <dgm:pt modelId="{3C45112E-7A51-4711-B16C-9CADD11D108E}" type="sibTrans" cxnId="{9441D0EC-AC59-4C9D-94E2-D69945B617FB}">
      <dgm:prSet/>
      <dgm:spPr/>
      <dgm:t>
        <a:bodyPr/>
        <a:lstStyle/>
        <a:p>
          <a:endParaRPr lang="en-NZ"/>
        </a:p>
      </dgm:t>
    </dgm:pt>
    <dgm:pt modelId="{EDC8486F-0854-42A8-BD90-F61BECB3263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Leading to a smaller multiplier effect</a:t>
          </a:r>
          <a:endParaRPr lang="en-NZ" dirty="0"/>
        </a:p>
      </dgm:t>
    </dgm:pt>
    <dgm:pt modelId="{A2C9E15D-52D4-47CC-AC56-B9BBFDB344F2}" type="parTrans" cxnId="{93C9FFB2-6BCD-406F-8FE7-40C703DA9FBB}">
      <dgm:prSet/>
      <dgm:spPr/>
      <dgm:t>
        <a:bodyPr/>
        <a:lstStyle/>
        <a:p>
          <a:endParaRPr lang="en-NZ"/>
        </a:p>
      </dgm:t>
    </dgm:pt>
    <dgm:pt modelId="{38801CFA-C2F9-4005-94CD-3E59C7A99049}" type="sibTrans" cxnId="{93C9FFB2-6BCD-406F-8FE7-40C703DA9FBB}">
      <dgm:prSet/>
      <dgm:spPr/>
      <dgm:t>
        <a:bodyPr/>
        <a:lstStyle/>
        <a:p>
          <a:endParaRPr lang="en-NZ"/>
        </a:p>
      </dgm:t>
    </dgm:pt>
    <dgm:pt modelId="{23B94ACB-C625-445D-9763-045B276B4CCF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GB" u="sng"/>
            <a:t>Expectations</a:t>
          </a:r>
          <a:r>
            <a:rPr lang="en-GB"/>
            <a:t> of the private sector</a:t>
          </a:r>
          <a:r>
            <a:rPr lang="en-US"/>
            <a:t>: </a:t>
          </a:r>
          <a:endParaRPr lang="en-NZ"/>
        </a:p>
      </dgm:t>
    </dgm:pt>
    <dgm:pt modelId="{29EEF69F-FD0A-4E1E-AA1B-5FF4AC35B55D}" type="parTrans" cxnId="{E5EA5886-4646-4DD1-9614-83AADAE92404}">
      <dgm:prSet/>
      <dgm:spPr/>
      <dgm:t>
        <a:bodyPr/>
        <a:lstStyle/>
        <a:p>
          <a:endParaRPr lang="en-NZ"/>
        </a:p>
      </dgm:t>
    </dgm:pt>
    <dgm:pt modelId="{E405BF46-53EF-4C6B-8CA5-F63C06CB3C46}" type="sibTrans" cxnId="{E5EA5886-4646-4DD1-9614-83AADAE92404}">
      <dgm:prSet/>
      <dgm:spPr/>
      <dgm:t>
        <a:bodyPr/>
        <a:lstStyle/>
        <a:p>
          <a:endParaRPr lang="en-NZ"/>
        </a:p>
      </dgm:t>
    </dgm:pt>
    <dgm:pt modelId="{2F1DFC99-02E5-49E4-9C37-0E0C4F6CABBB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the multiplier could be negative if rising fiscal deficit erodes consumer confidence</a:t>
          </a:r>
          <a:endParaRPr lang="en-NZ" dirty="0"/>
        </a:p>
      </dgm:t>
    </dgm:pt>
    <dgm:pt modelId="{43F19C5F-D43C-4B04-8DF4-E1D611DA4A10}" type="parTrans" cxnId="{1EACBC03-5ECC-4FB3-9822-D0AB2F06CB5A}">
      <dgm:prSet/>
      <dgm:spPr/>
      <dgm:t>
        <a:bodyPr/>
        <a:lstStyle/>
        <a:p>
          <a:endParaRPr lang="en-NZ"/>
        </a:p>
      </dgm:t>
    </dgm:pt>
    <dgm:pt modelId="{8BA0C83A-1A65-41EE-A9CF-B88D23828111}" type="sibTrans" cxnId="{1EACBC03-5ECC-4FB3-9822-D0AB2F06CB5A}">
      <dgm:prSet/>
      <dgm:spPr/>
      <dgm:t>
        <a:bodyPr/>
        <a:lstStyle/>
        <a:p>
          <a:endParaRPr lang="en-NZ"/>
        </a:p>
      </dgm:t>
    </dgm:pt>
    <dgm:pt modelId="{903E8178-6987-40D6-9742-53B78F7A4F73}" type="pres">
      <dgm:prSet presAssocID="{4D01B073-9ACA-4E8D-8E5C-443AF63C68BA}" presName="Name0" presStyleCnt="0">
        <dgm:presLayoutVars>
          <dgm:dir/>
          <dgm:resizeHandles val="exact"/>
        </dgm:presLayoutVars>
      </dgm:prSet>
      <dgm:spPr/>
    </dgm:pt>
    <dgm:pt modelId="{1726463D-E796-4901-A733-AF14D3DD55FC}" type="pres">
      <dgm:prSet presAssocID="{4CC85A72-CB4B-4C19-96E0-50B7B59493B6}" presName="node" presStyleLbl="node1" presStyleIdx="0" presStyleCnt="6">
        <dgm:presLayoutVars>
          <dgm:bulletEnabled val="1"/>
        </dgm:presLayoutVars>
      </dgm:prSet>
      <dgm:spPr/>
    </dgm:pt>
    <dgm:pt modelId="{6F52A341-F7E7-4268-A719-829378F01F06}" type="pres">
      <dgm:prSet presAssocID="{814355B3-D93D-4674-9E57-2164AF204F82}" presName="sibTrans" presStyleLbl="sibTrans1D1" presStyleIdx="0" presStyleCnt="5"/>
      <dgm:spPr/>
    </dgm:pt>
    <dgm:pt modelId="{BFE6AE9D-A248-4CF7-867E-5ECE84D01A5E}" type="pres">
      <dgm:prSet presAssocID="{814355B3-D93D-4674-9E57-2164AF204F82}" presName="connectorText" presStyleLbl="sibTrans1D1" presStyleIdx="0" presStyleCnt="5"/>
      <dgm:spPr/>
    </dgm:pt>
    <dgm:pt modelId="{C15B312D-D6FA-434B-A1FD-25CF0B84EB7D}" type="pres">
      <dgm:prSet presAssocID="{D3490C77-4268-44AF-AFB4-907C72F7D8AC}" presName="node" presStyleLbl="node1" presStyleIdx="1" presStyleCnt="6">
        <dgm:presLayoutVars>
          <dgm:bulletEnabled val="1"/>
        </dgm:presLayoutVars>
      </dgm:prSet>
      <dgm:spPr/>
    </dgm:pt>
    <dgm:pt modelId="{8C9452BE-9493-4DCA-A650-57D29B636B3F}" type="pres">
      <dgm:prSet presAssocID="{72503B73-1D8B-483B-91B7-2D448CBCCB4F}" presName="sibTrans" presStyleLbl="sibTrans1D1" presStyleIdx="1" presStyleCnt="5"/>
      <dgm:spPr/>
    </dgm:pt>
    <dgm:pt modelId="{86A71901-2BA0-4F6E-995D-69DC2F0DDAD7}" type="pres">
      <dgm:prSet presAssocID="{72503B73-1D8B-483B-91B7-2D448CBCCB4F}" presName="connectorText" presStyleLbl="sibTrans1D1" presStyleIdx="1" presStyleCnt="5"/>
      <dgm:spPr/>
    </dgm:pt>
    <dgm:pt modelId="{11C4F072-3FEA-40DD-AEEE-0C13D46F7E14}" type="pres">
      <dgm:prSet presAssocID="{E87056DD-E15D-4623-8419-209FF9F6F977}" presName="node" presStyleLbl="node1" presStyleIdx="2" presStyleCnt="6">
        <dgm:presLayoutVars>
          <dgm:bulletEnabled val="1"/>
        </dgm:presLayoutVars>
      </dgm:prSet>
      <dgm:spPr/>
    </dgm:pt>
    <dgm:pt modelId="{AC49CD66-205D-426E-A3C2-FC68266F26E8}" type="pres">
      <dgm:prSet presAssocID="{3C45112E-7A51-4711-B16C-9CADD11D108E}" presName="sibTrans" presStyleLbl="sibTrans1D1" presStyleIdx="2" presStyleCnt="5"/>
      <dgm:spPr/>
    </dgm:pt>
    <dgm:pt modelId="{A933E278-E5CF-4072-91CF-3BEF98996907}" type="pres">
      <dgm:prSet presAssocID="{3C45112E-7A51-4711-B16C-9CADD11D108E}" presName="connectorText" presStyleLbl="sibTrans1D1" presStyleIdx="2" presStyleCnt="5"/>
      <dgm:spPr/>
    </dgm:pt>
    <dgm:pt modelId="{07699F2D-D77B-4058-974A-96FA639DD537}" type="pres">
      <dgm:prSet presAssocID="{EDC8486F-0854-42A8-BD90-F61BECB3263C}" presName="node" presStyleLbl="node1" presStyleIdx="3" presStyleCnt="6">
        <dgm:presLayoutVars>
          <dgm:bulletEnabled val="1"/>
        </dgm:presLayoutVars>
      </dgm:prSet>
      <dgm:spPr/>
    </dgm:pt>
    <dgm:pt modelId="{AD7342D6-6546-4FBF-A7DA-75D9D7C12163}" type="pres">
      <dgm:prSet presAssocID="{38801CFA-C2F9-4005-94CD-3E59C7A99049}" presName="sibTrans" presStyleLbl="sibTrans1D1" presStyleIdx="3" presStyleCnt="5"/>
      <dgm:spPr/>
    </dgm:pt>
    <dgm:pt modelId="{F2B3DA9B-98FB-4CCC-AB47-69184F091AE5}" type="pres">
      <dgm:prSet presAssocID="{38801CFA-C2F9-4005-94CD-3E59C7A99049}" presName="connectorText" presStyleLbl="sibTrans1D1" presStyleIdx="3" presStyleCnt="5"/>
      <dgm:spPr/>
    </dgm:pt>
    <dgm:pt modelId="{2ED0115D-AFBE-4503-8611-896551A26A85}" type="pres">
      <dgm:prSet presAssocID="{23B94ACB-C625-445D-9763-045B276B4CCF}" presName="node" presStyleLbl="node1" presStyleIdx="4" presStyleCnt="6">
        <dgm:presLayoutVars>
          <dgm:bulletEnabled val="1"/>
        </dgm:presLayoutVars>
      </dgm:prSet>
      <dgm:spPr/>
    </dgm:pt>
    <dgm:pt modelId="{5C46FADB-611E-4E8A-9D08-7F95B6D9BC56}" type="pres">
      <dgm:prSet presAssocID="{E405BF46-53EF-4C6B-8CA5-F63C06CB3C46}" presName="sibTrans" presStyleLbl="sibTrans1D1" presStyleIdx="4" presStyleCnt="5"/>
      <dgm:spPr/>
    </dgm:pt>
    <dgm:pt modelId="{7636C632-6011-44AA-8C6B-BC5D8B662496}" type="pres">
      <dgm:prSet presAssocID="{E405BF46-53EF-4C6B-8CA5-F63C06CB3C46}" presName="connectorText" presStyleLbl="sibTrans1D1" presStyleIdx="4" presStyleCnt="5"/>
      <dgm:spPr/>
    </dgm:pt>
    <dgm:pt modelId="{158F5814-2DB0-4209-8D9F-84CE5EF4AE24}" type="pres">
      <dgm:prSet presAssocID="{2F1DFC99-02E5-49E4-9C37-0E0C4F6CABBB}" presName="node" presStyleLbl="node1" presStyleIdx="5" presStyleCnt="6">
        <dgm:presLayoutVars>
          <dgm:bulletEnabled val="1"/>
        </dgm:presLayoutVars>
      </dgm:prSet>
      <dgm:spPr/>
    </dgm:pt>
  </dgm:ptLst>
  <dgm:cxnLst>
    <dgm:cxn modelId="{1EACBC03-5ECC-4FB3-9822-D0AB2F06CB5A}" srcId="{4D01B073-9ACA-4E8D-8E5C-443AF63C68BA}" destId="{2F1DFC99-02E5-49E4-9C37-0E0C4F6CABBB}" srcOrd="5" destOrd="0" parTransId="{43F19C5F-D43C-4B04-8DF4-E1D611DA4A10}" sibTransId="{8BA0C83A-1A65-41EE-A9CF-B88D23828111}"/>
    <dgm:cxn modelId="{837F7F08-F978-4D83-B518-4CF1880EA97F}" type="presOf" srcId="{23B94ACB-C625-445D-9763-045B276B4CCF}" destId="{2ED0115D-AFBE-4503-8611-896551A26A85}" srcOrd="0" destOrd="0" presId="urn:microsoft.com/office/officeart/2005/8/layout/bProcess3"/>
    <dgm:cxn modelId="{3688F91D-CFD9-43AA-B3EF-0F18AF2C2693}" srcId="{4D01B073-9ACA-4E8D-8E5C-443AF63C68BA}" destId="{4CC85A72-CB4B-4C19-96E0-50B7B59493B6}" srcOrd="0" destOrd="0" parTransId="{33A63CCB-A4E0-4679-9067-6B7E916B7EB5}" sibTransId="{814355B3-D93D-4674-9E57-2164AF204F82}"/>
    <dgm:cxn modelId="{BD388020-AEF7-4922-92C8-15ED15B123D4}" type="presOf" srcId="{4CC85A72-CB4B-4C19-96E0-50B7B59493B6}" destId="{1726463D-E796-4901-A733-AF14D3DD55FC}" srcOrd="0" destOrd="0" presId="urn:microsoft.com/office/officeart/2005/8/layout/bProcess3"/>
    <dgm:cxn modelId="{2D2A5253-9464-4D67-ABE6-160BF7AF799F}" type="presOf" srcId="{E405BF46-53EF-4C6B-8CA5-F63C06CB3C46}" destId="{5C46FADB-611E-4E8A-9D08-7F95B6D9BC56}" srcOrd="0" destOrd="0" presId="urn:microsoft.com/office/officeart/2005/8/layout/bProcess3"/>
    <dgm:cxn modelId="{05A5FC6A-BF38-41F4-AB69-C6EF21E34903}" type="presOf" srcId="{72503B73-1D8B-483B-91B7-2D448CBCCB4F}" destId="{8C9452BE-9493-4DCA-A650-57D29B636B3F}" srcOrd="0" destOrd="0" presId="urn:microsoft.com/office/officeart/2005/8/layout/bProcess3"/>
    <dgm:cxn modelId="{5A73F272-939A-4E06-9EF1-94A223400B30}" type="presOf" srcId="{72503B73-1D8B-483B-91B7-2D448CBCCB4F}" destId="{86A71901-2BA0-4F6E-995D-69DC2F0DDAD7}" srcOrd="1" destOrd="0" presId="urn:microsoft.com/office/officeart/2005/8/layout/bProcess3"/>
    <dgm:cxn modelId="{6B7D2080-9B1E-443D-936E-08D048229A4D}" type="presOf" srcId="{E405BF46-53EF-4C6B-8CA5-F63C06CB3C46}" destId="{7636C632-6011-44AA-8C6B-BC5D8B662496}" srcOrd="1" destOrd="0" presId="urn:microsoft.com/office/officeart/2005/8/layout/bProcess3"/>
    <dgm:cxn modelId="{E5EA5886-4646-4DD1-9614-83AADAE92404}" srcId="{4D01B073-9ACA-4E8D-8E5C-443AF63C68BA}" destId="{23B94ACB-C625-445D-9763-045B276B4CCF}" srcOrd="4" destOrd="0" parTransId="{29EEF69F-FD0A-4E1E-AA1B-5FF4AC35B55D}" sibTransId="{E405BF46-53EF-4C6B-8CA5-F63C06CB3C46}"/>
    <dgm:cxn modelId="{41BFED8A-CE79-461D-940F-420BE3FB8B81}" type="presOf" srcId="{EDC8486F-0854-42A8-BD90-F61BECB3263C}" destId="{07699F2D-D77B-4058-974A-96FA639DD537}" srcOrd="0" destOrd="0" presId="urn:microsoft.com/office/officeart/2005/8/layout/bProcess3"/>
    <dgm:cxn modelId="{9031DA8D-8D83-4300-940E-0574A9B9BB83}" type="presOf" srcId="{4D01B073-9ACA-4E8D-8E5C-443AF63C68BA}" destId="{903E8178-6987-40D6-9742-53B78F7A4F73}" srcOrd="0" destOrd="0" presId="urn:microsoft.com/office/officeart/2005/8/layout/bProcess3"/>
    <dgm:cxn modelId="{FB268A92-EBAD-402E-A481-249C76AE7AC6}" type="presOf" srcId="{38801CFA-C2F9-4005-94CD-3E59C7A99049}" destId="{AD7342D6-6546-4FBF-A7DA-75D9D7C12163}" srcOrd="0" destOrd="0" presId="urn:microsoft.com/office/officeart/2005/8/layout/bProcess3"/>
    <dgm:cxn modelId="{8360C7A1-8B2C-4470-9A9D-28AF40F7928C}" type="presOf" srcId="{E87056DD-E15D-4623-8419-209FF9F6F977}" destId="{11C4F072-3FEA-40DD-AEEE-0C13D46F7E14}" srcOrd="0" destOrd="0" presId="urn:microsoft.com/office/officeart/2005/8/layout/bProcess3"/>
    <dgm:cxn modelId="{93C9FFB2-6BCD-406F-8FE7-40C703DA9FBB}" srcId="{4D01B073-9ACA-4E8D-8E5C-443AF63C68BA}" destId="{EDC8486F-0854-42A8-BD90-F61BECB3263C}" srcOrd="3" destOrd="0" parTransId="{A2C9E15D-52D4-47CC-AC56-B9BBFDB344F2}" sibTransId="{38801CFA-C2F9-4005-94CD-3E59C7A99049}"/>
    <dgm:cxn modelId="{4F5F57BD-060C-49BB-874E-ACA708384E25}" type="presOf" srcId="{3C45112E-7A51-4711-B16C-9CADD11D108E}" destId="{A933E278-E5CF-4072-91CF-3BEF98996907}" srcOrd="1" destOrd="0" presId="urn:microsoft.com/office/officeart/2005/8/layout/bProcess3"/>
    <dgm:cxn modelId="{F2192DC3-5B58-471C-9ABE-0BDB71C9EEC1}" type="presOf" srcId="{814355B3-D93D-4674-9E57-2164AF204F82}" destId="{BFE6AE9D-A248-4CF7-867E-5ECE84D01A5E}" srcOrd="1" destOrd="0" presId="urn:microsoft.com/office/officeart/2005/8/layout/bProcess3"/>
    <dgm:cxn modelId="{A872FFC7-A9D5-4FE9-8ECD-58587BDB9DFD}" type="presOf" srcId="{814355B3-D93D-4674-9E57-2164AF204F82}" destId="{6F52A341-F7E7-4268-A719-829378F01F06}" srcOrd="0" destOrd="0" presId="urn:microsoft.com/office/officeart/2005/8/layout/bProcess3"/>
    <dgm:cxn modelId="{D95573D7-DBB1-45D4-9594-5F9E13D1E856}" type="presOf" srcId="{38801CFA-C2F9-4005-94CD-3E59C7A99049}" destId="{F2B3DA9B-98FB-4CCC-AB47-69184F091AE5}" srcOrd="1" destOrd="0" presId="urn:microsoft.com/office/officeart/2005/8/layout/bProcess3"/>
    <dgm:cxn modelId="{9441D0EC-AC59-4C9D-94E2-D69945B617FB}" srcId="{4D01B073-9ACA-4E8D-8E5C-443AF63C68BA}" destId="{E87056DD-E15D-4623-8419-209FF9F6F977}" srcOrd="2" destOrd="0" parTransId="{B0F2E222-3594-44ED-B0A4-5994314CA1F6}" sibTransId="{3C45112E-7A51-4711-B16C-9CADD11D108E}"/>
    <dgm:cxn modelId="{ACA3B2F2-0209-44F1-A3A5-3355B9A4305C}" srcId="{4D01B073-9ACA-4E8D-8E5C-443AF63C68BA}" destId="{D3490C77-4268-44AF-AFB4-907C72F7D8AC}" srcOrd="1" destOrd="0" parTransId="{F0D06F7C-5363-4EB8-A21D-30C5F8AAC822}" sibTransId="{72503B73-1D8B-483B-91B7-2D448CBCCB4F}"/>
    <dgm:cxn modelId="{AB501AF4-0875-406B-9CDA-611ADCD339D0}" type="presOf" srcId="{2F1DFC99-02E5-49E4-9C37-0E0C4F6CABBB}" destId="{158F5814-2DB0-4209-8D9F-84CE5EF4AE24}" srcOrd="0" destOrd="0" presId="urn:microsoft.com/office/officeart/2005/8/layout/bProcess3"/>
    <dgm:cxn modelId="{009730FB-A85D-484E-9B76-A0B523374D8E}" type="presOf" srcId="{3C45112E-7A51-4711-B16C-9CADD11D108E}" destId="{AC49CD66-205D-426E-A3C2-FC68266F26E8}" srcOrd="0" destOrd="0" presId="urn:microsoft.com/office/officeart/2005/8/layout/bProcess3"/>
    <dgm:cxn modelId="{BDCE82FE-F6F4-44F9-9014-E2EFEA9640C6}" type="presOf" srcId="{D3490C77-4268-44AF-AFB4-907C72F7D8AC}" destId="{C15B312D-D6FA-434B-A1FD-25CF0B84EB7D}" srcOrd="0" destOrd="0" presId="urn:microsoft.com/office/officeart/2005/8/layout/bProcess3"/>
    <dgm:cxn modelId="{DA7049B9-644F-4B88-BE57-AC2DA5D1AA64}" type="presParOf" srcId="{903E8178-6987-40D6-9742-53B78F7A4F73}" destId="{1726463D-E796-4901-A733-AF14D3DD55FC}" srcOrd="0" destOrd="0" presId="urn:microsoft.com/office/officeart/2005/8/layout/bProcess3"/>
    <dgm:cxn modelId="{478C35F4-D8B3-429C-B144-87478705F129}" type="presParOf" srcId="{903E8178-6987-40D6-9742-53B78F7A4F73}" destId="{6F52A341-F7E7-4268-A719-829378F01F06}" srcOrd="1" destOrd="0" presId="urn:microsoft.com/office/officeart/2005/8/layout/bProcess3"/>
    <dgm:cxn modelId="{74877FF0-94AC-4D18-B11D-B5028DEAF754}" type="presParOf" srcId="{6F52A341-F7E7-4268-A719-829378F01F06}" destId="{BFE6AE9D-A248-4CF7-867E-5ECE84D01A5E}" srcOrd="0" destOrd="0" presId="urn:microsoft.com/office/officeart/2005/8/layout/bProcess3"/>
    <dgm:cxn modelId="{3A0A8732-18EE-40A6-97B4-F5EE7AA247A1}" type="presParOf" srcId="{903E8178-6987-40D6-9742-53B78F7A4F73}" destId="{C15B312D-D6FA-434B-A1FD-25CF0B84EB7D}" srcOrd="2" destOrd="0" presId="urn:microsoft.com/office/officeart/2005/8/layout/bProcess3"/>
    <dgm:cxn modelId="{41050B8F-BCC8-4106-9002-E7420C5D7F85}" type="presParOf" srcId="{903E8178-6987-40D6-9742-53B78F7A4F73}" destId="{8C9452BE-9493-4DCA-A650-57D29B636B3F}" srcOrd="3" destOrd="0" presId="urn:microsoft.com/office/officeart/2005/8/layout/bProcess3"/>
    <dgm:cxn modelId="{CD8B4772-0451-456F-B595-438E0141FCD3}" type="presParOf" srcId="{8C9452BE-9493-4DCA-A650-57D29B636B3F}" destId="{86A71901-2BA0-4F6E-995D-69DC2F0DDAD7}" srcOrd="0" destOrd="0" presId="urn:microsoft.com/office/officeart/2005/8/layout/bProcess3"/>
    <dgm:cxn modelId="{3EE149AD-ABF6-4288-8DB5-571FAAD7DF49}" type="presParOf" srcId="{903E8178-6987-40D6-9742-53B78F7A4F73}" destId="{11C4F072-3FEA-40DD-AEEE-0C13D46F7E14}" srcOrd="4" destOrd="0" presId="urn:microsoft.com/office/officeart/2005/8/layout/bProcess3"/>
    <dgm:cxn modelId="{3C00791B-6A37-4DB7-ADC9-25FFB39801EB}" type="presParOf" srcId="{903E8178-6987-40D6-9742-53B78F7A4F73}" destId="{AC49CD66-205D-426E-A3C2-FC68266F26E8}" srcOrd="5" destOrd="0" presId="urn:microsoft.com/office/officeart/2005/8/layout/bProcess3"/>
    <dgm:cxn modelId="{D1B62681-0B01-46F9-B1EA-50ED440BD6DA}" type="presParOf" srcId="{AC49CD66-205D-426E-A3C2-FC68266F26E8}" destId="{A933E278-E5CF-4072-91CF-3BEF98996907}" srcOrd="0" destOrd="0" presId="urn:microsoft.com/office/officeart/2005/8/layout/bProcess3"/>
    <dgm:cxn modelId="{1D88203C-4BCA-4BF6-94CA-79D374D41C20}" type="presParOf" srcId="{903E8178-6987-40D6-9742-53B78F7A4F73}" destId="{07699F2D-D77B-4058-974A-96FA639DD537}" srcOrd="6" destOrd="0" presId="urn:microsoft.com/office/officeart/2005/8/layout/bProcess3"/>
    <dgm:cxn modelId="{C06C522E-DB96-400A-9B91-770D9014D542}" type="presParOf" srcId="{903E8178-6987-40D6-9742-53B78F7A4F73}" destId="{AD7342D6-6546-4FBF-A7DA-75D9D7C12163}" srcOrd="7" destOrd="0" presId="urn:microsoft.com/office/officeart/2005/8/layout/bProcess3"/>
    <dgm:cxn modelId="{3A1FA311-84A7-43D0-8B91-302F5F73DF56}" type="presParOf" srcId="{AD7342D6-6546-4FBF-A7DA-75D9D7C12163}" destId="{F2B3DA9B-98FB-4CCC-AB47-69184F091AE5}" srcOrd="0" destOrd="0" presId="urn:microsoft.com/office/officeart/2005/8/layout/bProcess3"/>
    <dgm:cxn modelId="{83A4025A-AA59-4831-9FFD-D8843F58E6F2}" type="presParOf" srcId="{903E8178-6987-40D6-9742-53B78F7A4F73}" destId="{2ED0115D-AFBE-4503-8611-896551A26A85}" srcOrd="8" destOrd="0" presId="urn:microsoft.com/office/officeart/2005/8/layout/bProcess3"/>
    <dgm:cxn modelId="{3BF1817B-0C52-443C-B229-5DBE5CE47CD9}" type="presParOf" srcId="{903E8178-6987-40D6-9742-53B78F7A4F73}" destId="{5C46FADB-611E-4E8A-9D08-7F95B6D9BC56}" srcOrd="9" destOrd="0" presId="urn:microsoft.com/office/officeart/2005/8/layout/bProcess3"/>
    <dgm:cxn modelId="{D55CDE59-1F56-495C-8AE7-24A57691CC96}" type="presParOf" srcId="{5C46FADB-611E-4E8A-9D08-7F95B6D9BC56}" destId="{7636C632-6011-44AA-8C6B-BC5D8B662496}" srcOrd="0" destOrd="0" presId="urn:microsoft.com/office/officeart/2005/8/layout/bProcess3"/>
    <dgm:cxn modelId="{1A094A08-A3EB-41E0-8A32-04A84F3709B7}" type="presParOf" srcId="{903E8178-6987-40D6-9742-53B78F7A4F73}" destId="{158F5814-2DB0-4209-8D9F-84CE5EF4AE24}" srcOrd="10" destOrd="0" presId="urn:microsoft.com/office/officeart/2005/8/layout/bProcess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FE9DA-1AAC-42BF-9A61-12BD9807EA45}">
      <dsp:nvSpPr>
        <dsp:cNvPr id="0" name=""/>
        <dsp:cNvSpPr/>
      </dsp:nvSpPr>
      <dsp:spPr>
        <a:xfrm>
          <a:off x="1615065" y="273"/>
          <a:ext cx="3945368" cy="9863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Sometimes the aggregate decisions of households and firms can destabilize the economy.</a:t>
          </a:r>
          <a:endParaRPr lang="en-NZ" sz="1900" kern="1200"/>
        </a:p>
      </dsp:txBody>
      <dsp:txXfrm>
        <a:off x="1643954" y="29162"/>
        <a:ext cx="3887590" cy="928564"/>
      </dsp:txXfrm>
    </dsp:sp>
    <dsp:sp modelId="{B3BDA7DA-8F45-4FD0-9139-E7934C71AE0C}">
      <dsp:nvSpPr>
        <dsp:cNvPr id="0" name=""/>
        <dsp:cNvSpPr/>
      </dsp:nvSpPr>
      <dsp:spPr>
        <a:xfrm rot="5400000">
          <a:off x="3501445" y="1072920"/>
          <a:ext cx="172609" cy="17260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71EDD-E335-4D0E-8FF2-78B2995E456D}">
      <dsp:nvSpPr>
        <dsp:cNvPr id="0" name=""/>
        <dsp:cNvSpPr/>
      </dsp:nvSpPr>
      <dsp:spPr>
        <a:xfrm>
          <a:off x="1615065" y="1331835"/>
          <a:ext cx="3945368" cy="98634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How can the government stabilize the economy?</a:t>
          </a:r>
          <a:endParaRPr lang="en-NZ" sz="2100" kern="1200"/>
        </a:p>
      </dsp:txBody>
      <dsp:txXfrm>
        <a:off x="1643954" y="1360724"/>
        <a:ext cx="3887590" cy="928564"/>
      </dsp:txXfrm>
    </dsp:sp>
    <dsp:sp modelId="{A36527BC-5593-4EAE-ADA9-6BC51E383987}">
      <dsp:nvSpPr>
        <dsp:cNvPr id="0" name=""/>
        <dsp:cNvSpPr/>
      </dsp:nvSpPr>
      <dsp:spPr>
        <a:xfrm rot="5400000">
          <a:off x="3501445" y="2404482"/>
          <a:ext cx="172609" cy="17260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49AB9-920E-45AA-833E-A995EF94174F}">
      <dsp:nvSpPr>
        <dsp:cNvPr id="0" name=""/>
        <dsp:cNvSpPr/>
      </dsp:nvSpPr>
      <dsp:spPr>
        <a:xfrm>
          <a:off x="1615065" y="2663397"/>
          <a:ext cx="3945368" cy="98634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Why might government policies be ineffective? </a:t>
          </a:r>
          <a:endParaRPr lang="en-NZ" sz="2100" kern="1200"/>
        </a:p>
      </dsp:txBody>
      <dsp:txXfrm>
        <a:off x="1643954" y="2692286"/>
        <a:ext cx="3887590" cy="928564"/>
      </dsp:txXfrm>
    </dsp:sp>
    <dsp:sp modelId="{2574C658-7036-46D5-A913-F49EE37C43C6}">
      <dsp:nvSpPr>
        <dsp:cNvPr id="0" name=""/>
        <dsp:cNvSpPr/>
      </dsp:nvSpPr>
      <dsp:spPr>
        <a:xfrm rot="5400000">
          <a:off x="3501445" y="3736044"/>
          <a:ext cx="172609" cy="172609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750EE-0FF5-4B0D-9BE6-68310D66198B}">
      <dsp:nvSpPr>
        <dsp:cNvPr id="0" name=""/>
        <dsp:cNvSpPr/>
      </dsp:nvSpPr>
      <dsp:spPr>
        <a:xfrm>
          <a:off x="1615065" y="3994959"/>
          <a:ext cx="3945368" cy="98634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How can we model the link between output and unemployment?</a:t>
          </a:r>
          <a:endParaRPr lang="en-NZ" sz="2100" kern="1200"/>
        </a:p>
      </dsp:txBody>
      <dsp:txXfrm>
        <a:off x="1643954" y="4023848"/>
        <a:ext cx="3887590" cy="9285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D2E79-1C01-4006-A277-2C5D3307948C}">
      <dsp:nvSpPr>
        <dsp:cNvPr id="0" name=""/>
        <dsp:cNvSpPr/>
      </dsp:nvSpPr>
      <dsp:spPr>
        <a:xfrm>
          <a:off x="1674750" y="3888"/>
          <a:ext cx="3825999" cy="2295599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Autonomous consumption</a:t>
          </a:r>
          <a:r>
            <a:rPr lang="en-US" sz="2600" kern="1200" dirty="0"/>
            <a:t> = the fixed amount one will spend, independent of income </a:t>
          </a:r>
          <a:br>
            <a:rPr lang="en-US" sz="2600" kern="1200" dirty="0"/>
          </a:br>
          <a:endParaRPr lang="en-NZ" sz="2600" kern="1200" dirty="0"/>
        </a:p>
      </dsp:txBody>
      <dsp:txXfrm>
        <a:off x="1674750" y="3888"/>
        <a:ext cx="3825999" cy="2295599"/>
      </dsp:txXfrm>
    </dsp:sp>
    <dsp:sp modelId="{2FB6A593-BBDE-4829-A780-3D2AD497520A}">
      <dsp:nvSpPr>
        <dsp:cNvPr id="0" name=""/>
        <dsp:cNvSpPr/>
      </dsp:nvSpPr>
      <dsp:spPr>
        <a:xfrm>
          <a:off x="1674750" y="2682087"/>
          <a:ext cx="3825999" cy="2295599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Consumption that is dependent on income</a:t>
          </a:r>
          <a:endParaRPr lang="en-NZ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Slope of consumption function = </a:t>
          </a:r>
          <a:r>
            <a:rPr lang="en-US" sz="2000" b="1" kern="1200"/>
            <a:t>marginal propensity to consume</a:t>
          </a:r>
          <a:endParaRPr lang="en-NZ" sz="2000" kern="1200"/>
        </a:p>
      </dsp:txBody>
      <dsp:txXfrm>
        <a:off x="1674750" y="2682087"/>
        <a:ext cx="3825999" cy="22955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12662-483A-485B-B9A3-BDCCB2CE8C94}">
      <dsp:nvSpPr>
        <dsp:cNvPr id="0" name=""/>
        <dsp:cNvSpPr/>
      </dsp:nvSpPr>
      <dsp:spPr>
        <a:xfrm>
          <a:off x="0" y="3749895"/>
          <a:ext cx="7175500" cy="1230799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Expectations about future income are reflected in </a:t>
          </a:r>
          <a:r>
            <a:rPr lang="en-US" sz="2200" b="1" kern="1200"/>
            <a:t>autonomous consumption</a:t>
          </a:r>
          <a:r>
            <a:rPr lang="en-US" sz="2200" kern="1200"/>
            <a:t>.</a:t>
          </a:r>
          <a:endParaRPr lang="en-NZ" sz="2200" kern="1200"/>
        </a:p>
      </dsp:txBody>
      <dsp:txXfrm>
        <a:off x="0" y="3749895"/>
        <a:ext cx="7175500" cy="1230799"/>
      </dsp:txXfrm>
    </dsp:sp>
    <dsp:sp modelId="{12A643CF-798D-4667-B54B-F8B0631543F8}">
      <dsp:nvSpPr>
        <dsp:cNvPr id="0" name=""/>
        <dsp:cNvSpPr/>
      </dsp:nvSpPr>
      <dsp:spPr>
        <a:xfrm rot="10800000">
          <a:off x="0" y="1875387"/>
          <a:ext cx="7175500" cy="1892969"/>
        </a:xfrm>
        <a:prstGeom prst="upArrowCallout">
          <a:avLst/>
        </a:prstGeom>
        <a:solidFill>
          <a:schemeClr val="tx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Wealthy households, current income matters little for current consumption, so their MPC is small</a:t>
          </a:r>
          <a:endParaRPr lang="en-NZ" sz="2200" kern="1200"/>
        </a:p>
      </dsp:txBody>
      <dsp:txXfrm rot="10800000">
        <a:off x="0" y="1875387"/>
        <a:ext cx="7175500" cy="1229994"/>
      </dsp:txXfrm>
    </dsp:sp>
    <dsp:sp modelId="{307850E8-6B05-4EA4-B06C-4A1153D5DDC2}">
      <dsp:nvSpPr>
        <dsp:cNvPr id="0" name=""/>
        <dsp:cNvSpPr/>
      </dsp:nvSpPr>
      <dsp:spPr>
        <a:xfrm rot="10800000">
          <a:off x="0" y="880"/>
          <a:ext cx="7175500" cy="189296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Poor households with credit constraints react a lot to variation in current income, so their MPC is large</a:t>
          </a:r>
          <a:endParaRPr lang="en-NZ" sz="2200" kern="1200" dirty="0"/>
        </a:p>
      </dsp:txBody>
      <dsp:txXfrm rot="10800000">
        <a:off x="0" y="880"/>
        <a:ext cx="7175500" cy="12299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11457-754D-42CD-AE85-F4D2374C6622}">
      <dsp:nvSpPr>
        <dsp:cNvPr id="0" name=""/>
        <dsp:cNvSpPr/>
      </dsp:nvSpPr>
      <dsp:spPr>
        <a:xfrm>
          <a:off x="0" y="75743"/>
          <a:ext cx="7474054" cy="92663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If you expect your income or wealth to increase in future you</a:t>
          </a:r>
          <a:endParaRPr lang="en-NZ" sz="2400" kern="1200" dirty="0"/>
        </a:p>
      </dsp:txBody>
      <dsp:txXfrm>
        <a:off x="45235" y="120978"/>
        <a:ext cx="7383584" cy="836169"/>
      </dsp:txXfrm>
    </dsp:sp>
    <dsp:sp modelId="{D8EDC62D-0FB6-48B1-AFBD-3DC91688A7C2}">
      <dsp:nvSpPr>
        <dsp:cNvPr id="0" name=""/>
        <dsp:cNvSpPr/>
      </dsp:nvSpPr>
      <dsp:spPr>
        <a:xfrm>
          <a:off x="0" y="1002383"/>
          <a:ext cx="747405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730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are willing to consume at a higher level now.</a:t>
          </a:r>
          <a:endParaRPr lang="en-NZ" sz="1900" kern="1200"/>
        </a:p>
      </dsp:txBody>
      <dsp:txXfrm>
        <a:off x="0" y="1002383"/>
        <a:ext cx="7474054" cy="397440"/>
      </dsp:txXfrm>
    </dsp:sp>
    <dsp:sp modelId="{7C4EBC90-ED77-4E9A-8CC4-AE30915BAF1C}">
      <dsp:nvSpPr>
        <dsp:cNvPr id="0" name=""/>
        <dsp:cNvSpPr/>
      </dsp:nvSpPr>
      <dsp:spPr>
        <a:xfrm>
          <a:off x="0" y="1399822"/>
          <a:ext cx="7474054" cy="92663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E.g. In housing booms people’s wealth can rise rapidly and they lift spending. </a:t>
          </a:r>
          <a:endParaRPr lang="en-NZ" sz="2400" kern="1200" dirty="0"/>
        </a:p>
      </dsp:txBody>
      <dsp:txXfrm>
        <a:off x="45235" y="1445057"/>
        <a:ext cx="7383584" cy="836169"/>
      </dsp:txXfrm>
    </dsp:sp>
    <dsp:sp modelId="{E85EC8E9-B138-4730-A1E4-63BE9D258F02}">
      <dsp:nvSpPr>
        <dsp:cNvPr id="0" name=""/>
        <dsp:cNvSpPr/>
      </dsp:nvSpPr>
      <dsp:spPr>
        <a:xfrm>
          <a:off x="0" y="2326463"/>
          <a:ext cx="747405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730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Durables or travel often popular</a:t>
          </a:r>
          <a:endParaRPr lang="en-NZ" sz="1900" kern="1200"/>
        </a:p>
      </dsp:txBody>
      <dsp:txXfrm>
        <a:off x="0" y="2326463"/>
        <a:ext cx="7474054" cy="397440"/>
      </dsp:txXfrm>
    </dsp:sp>
    <dsp:sp modelId="{2F0FE078-0037-4643-A319-01F1B29EDDA0}">
      <dsp:nvSpPr>
        <dsp:cNvPr id="0" name=""/>
        <dsp:cNvSpPr/>
      </dsp:nvSpPr>
      <dsp:spPr>
        <a:xfrm>
          <a:off x="0" y="2723902"/>
          <a:ext cx="7474054" cy="92663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If you expect income to decrease in future you </a:t>
          </a:r>
          <a:endParaRPr lang="en-NZ" sz="2400" kern="1200"/>
        </a:p>
      </dsp:txBody>
      <dsp:txXfrm>
        <a:off x="45235" y="2769137"/>
        <a:ext cx="7383584" cy="836169"/>
      </dsp:txXfrm>
    </dsp:sp>
    <dsp:sp modelId="{C29DF5B6-EFA7-4318-913C-8CE8121038CA}">
      <dsp:nvSpPr>
        <dsp:cNvPr id="0" name=""/>
        <dsp:cNvSpPr/>
      </dsp:nvSpPr>
      <dsp:spPr>
        <a:xfrm>
          <a:off x="0" y="3650542"/>
          <a:ext cx="747405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730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Are willing to consume at a lower level</a:t>
          </a:r>
          <a:endParaRPr lang="en-NZ" sz="1900" kern="1200"/>
        </a:p>
      </dsp:txBody>
      <dsp:txXfrm>
        <a:off x="0" y="3650542"/>
        <a:ext cx="7474054" cy="397440"/>
      </dsp:txXfrm>
    </dsp:sp>
    <dsp:sp modelId="{FF97405F-C23E-44CA-B2F6-E8CEC7A86ECA}">
      <dsp:nvSpPr>
        <dsp:cNvPr id="0" name=""/>
        <dsp:cNvSpPr/>
      </dsp:nvSpPr>
      <dsp:spPr>
        <a:xfrm>
          <a:off x="0" y="4047983"/>
          <a:ext cx="7474054" cy="92663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E.g. people who fear they will lose their jobs. They increase their savings. </a:t>
          </a:r>
          <a:endParaRPr lang="en-NZ" sz="2400" kern="1200" dirty="0"/>
        </a:p>
      </dsp:txBody>
      <dsp:txXfrm>
        <a:off x="45235" y="4093218"/>
        <a:ext cx="7383584" cy="8361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32213-4E6D-4066-A8CE-039E2069B6B2}">
      <dsp:nvSpPr>
        <dsp:cNvPr id="0" name=""/>
        <dsp:cNvSpPr/>
      </dsp:nvSpPr>
      <dsp:spPr>
        <a:xfrm>
          <a:off x="1459" y="34804"/>
          <a:ext cx="3112972" cy="186778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 dirty="0"/>
            <a:t>What happens if economy is not in equilibrium?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/>
            <a:t>Below 45</a:t>
          </a:r>
          <a:r>
            <a:rPr lang="en-NZ" sz="1700" kern="1200">
              <a:sym typeface="Symbol" panose="05050102010706020507" pitchFamily="18" charset="2"/>
            </a:rPr>
            <a:t></a:t>
          </a:r>
          <a:r>
            <a:rPr lang="en-NZ" sz="1700" kern="1200"/>
            <a:t> line AD &lt; 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/>
            <a:t>Above 45</a:t>
          </a:r>
          <a:r>
            <a:rPr lang="en-NZ" sz="1700" kern="1200">
              <a:sym typeface="Symbol" panose="05050102010706020507" pitchFamily="18" charset="2"/>
            </a:rPr>
            <a:t></a:t>
          </a:r>
          <a:r>
            <a:rPr lang="en-NZ" sz="1700" kern="1200"/>
            <a:t> line AD &gt; Y</a:t>
          </a:r>
        </a:p>
      </dsp:txBody>
      <dsp:txXfrm>
        <a:off x="56164" y="89509"/>
        <a:ext cx="3003562" cy="1758373"/>
      </dsp:txXfrm>
    </dsp:sp>
    <dsp:sp modelId="{4D309A3F-1EF6-4AA3-91E7-15907F3152CD}">
      <dsp:nvSpPr>
        <dsp:cNvPr id="0" name=""/>
        <dsp:cNvSpPr/>
      </dsp:nvSpPr>
      <dsp:spPr>
        <a:xfrm>
          <a:off x="3388374" y="582688"/>
          <a:ext cx="659950" cy="7720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700" kern="1200"/>
        </a:p>
      </dsp:txBody>
      <dsp:txXfrm>
        <a:off x="3388374" y="737091"/>
        <a:ext cx="461965" cy="463211"/>
      </dsp:txXfrm>
    </dsp:sp>
    <dsp:sp modelId="{565A41AC-E884-402E-BB52-6F84041F4E21}">
      <dsp:nvSpPr>
        <dsp:cNvPr id="0" name=""/>
        <dsp:cNvSpPr/>
      </dsp:nvSpPr>
      <dsp:spPr>
        <a:xfrm>
          <a:off x="4359621" y="34804"/>
          <a:ext cx="3112972" cy="1867783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If output &gt; spending, firms notice inventories increasing. They reduce output.</a:t>
          </a:r>
        </a:p>
      </dsp:txBody>
      <dsp:txXfrm>
        <a:off x="4414326" y="89509"/>
        <a:ext cx="3003562" cy="1758373"/>
      </dsp:txXfrm>
    </dsp:sp>
    <dsp:sp modelId="{68FAC814-CB50-44AF-AEFB-6A3366935B3B}">
      <dsp:nvSpPr>
        <dsp:cNvPr id="0" name=""/>
        <dsp:cNvSpPr/>
      </dsp:nvSpPr>
      <dsp:spPr>
        <a:xfrm rot="5400000">
          <a:off x="5586132" y="2120496"/>
          <a:ext cx="659950" cy="7720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700" kern="1200"/>
        </a:p>
      </dsp:txBody>
      <dsp:txXfrm rot="-5400000">
        <a:off x="5684502" y="2176530"/>
        <a:ext cx="463211" cy="461965"/>
      </dsp:txXfrm>
    </dsp:sp>
    <dsp:sp modelId="{9AEF2163-6300-442C-B5AC-741013987FFB}">
      <dsp:nvSpPr>
        <dsp:cNvPr id="0" name=""/>
        <dsp:cNvSpPr/>
      </dsp:nvSpPr>
      <dsp:spPr>
        <a:xfrm>
          <a:off x="4359621" y="3147777"/>
          <a:ext cx="3112972" cy="1867783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If output &lt; spending, firms notice their inventories are decreasing. They increase output. </a:t>
          </a:r>
        </a:p>
      </dsp:txBody>
      <dsp:txXfrm>
        <a:off x="4414326" y="3202482"/>
        <a:ext cx="3003562" cy="17583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F3B09-0852-44A1-B5E3-2EE85A2C0225}">
      <dsp:nvSpPr>
        <dsp:cNvPr id="0" name=""/>
        <dsp:cNvSpPr/>
      </dsp:nvSpPr>
      <dsp:spPr>
        <a:xfrm>
          <a:off x="0" y="1494472"/>
          <a:ext cx="7175500" cy="19926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E49D3-D54A-4C4A-9A4F-6A7776A23B67}">
      <dsp:nvSpPr>
        <dsp:cNvPr id="0" name=""/>
        <dsp:cNvSpPr/>
      </dsp:nvSpPr>
      <dsp:spPr>
        <a:xfrm>
          <a:off x="3232" y="0"/>
          <a:ext cx="1554574" cy="1992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Expenditure, income, and output are in a circular flow</a:t>
          </a:r>
          <a:endParaRPr lang="en-NZ" sz="1700" kern="1200" dirty="0"/>
        </a:p>
      </dsp:txBody>
      <dsp:txXfrm>
        <a:off x="3232" y="0"/>
        <a:ext cx="1554574" cy="1992630"/>
      </dsp:txXfrm>
    </dsp:sp>
    <dsp:sp modelId="{3D36035C-5C34-455C-A832-9246E01B4A25}">
      <dsp:nvSpPr>
        <dsp:cNvPr id="0" name=""/>
        <dsp:cNvSpPr/>
      </dsp:nvSpPr>
      <dsp:spPr>
        <a:xfrm>
          <a:off x="531440" y="2241708"/>
          <a:ext cx="498157" cy="4981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07894-3D09-483F-A82E-2F55EC93B5A2}">
      <dsp:nvSpPr>
        <dsp:cNvPr id="0" name=""/>
        <dsp:cNvSpPr/>
      </dsp:nvSpPr>
      <dsp:spPr>
        <a:xfrm>
          <a:off x="1635535" y="2988945"/>
          <a:ext cx="1554574" cy="1992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</a:t>
          </a:r>
          <a:r>
            <a:rPr lang="en-US" sz="1700" b="1" kern="1200" dirty="0"/>
            <a:t>multiplier</a:t>
          </a:r>
          <a:r>
            <a:rPr lang="en-US" sz="1700" kern="1200" dirty="0"/>
            <a:t> represents the relative magnitude of this change.</a:t>
          </a:r>
          <a:endParaRPr lang="en-NZ" sz="1700" kern="1200" dirty="0"/>
        </a:p>
      </dsp:txBody>
      <dsp:txXfrm>
        <a:off x="1635535" y="2988945"/>
        <a:ext cx="1554574" cy="1992630"/>
      </dsp:txXfrm>
    </dsp:sp>
    <dsp:sp modelId="{0C2930BF-21FE-4C99-8472-635236614EB3}">
      <dsp:nvSpPr>
        <dsp:cNvPr id="0" name=""/>
        <dsp:cNvSpPr/>
      </dsp:nvSpPr>
      <dsp:spPr>
        <a:xfrm>
          <a:off x="2163744" y="2241708"/>
          <a:ext cx="498157" cy="4981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914EA-F48D-4A69-844F-4F99B88903EA}">
      <dsp:nvSpPr>
        <dsp:cNvPr id="0" name=""/>
        <dsp:cNvSpPr/>
      </dsp:nvSpPr>
      <dsp:spPr>
        <a:xfrm>
          <a:off x="3267839" y="0"/>
          <a:ext cx="1554574" cy="1992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multiplier = 1: the increase in GDP = the initial increase in spending</a:t>
          </a:r>
          <a:endParaRPr lang="en-NZ" sz="1700" kern="1200"/>
        </a:p>
      </dsp:txBody>
      <dsp:txXfrm>
        <a:off x="3267839" y="0"/>
        <a:ext cx="1554574" cy="1992630"/>
      </dsp:txXfrm>
    </dsp:sp>
    <dsp:sp modelId="{4D5A8DDC-7247-4C6B-A3A8-28658CE1B4F0}">
      <dsp:nvSpPr>
        <dsp:cNvPr id="0" name=""/>
        <dsp:cNvSpPr/>
      </dsp:nvSpPr>
      <dsp:spPr>
        <a:xfrm>
          <a:off x="3796048" y="2241708"/>
          <a:ext cx="498157" cy="4981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55F53-1892-43B8-B42B-02DD89684FD1}">
      <dsp:nvSpPr>
        <dsp:cNvPr id="0" name=""/>
        <dsp:cNvSpPr/>
      </dsp:nvSpPr>
      <dsp:spPr>
        <a:xfrm>
          <a:off x="4900142" y="2988945"/>
          <a:ext cx="1554574" cy="1992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multiplier  &lt; 1: the total increase in GDP &gt; the initial increase in spending</a:t>
          </a:r>
          <a:endParaRPr lang="en-NZ" sz="1700" kern="1200" dirty="0"/>
        </a:p>
      </dsp:txBody>
      <dsp:txXfrm>
        <a:off x="4900142" y="2988945"/>
        <a:ext cx="1554574" cy="1992630"/>
      </dsp:txXfrm>
    </dsp:sp>
    <dsp:sp modelId="{40BB606B-7057-4AE2-AA4F-ACE856C640F6}">
      <dsp:nvSpPr>
        <dsp:cNvPr id="0" name=""/>
        <dsp:cNvSpPr/>
      </dsp:nvSpPr>
      <dsp:spPr>
        <a:xfrm>
          <a:off x="5428351" y="2241708"/>
          <a:ext cx="498157" cy="4981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6F1E2-27B1-4B53-8905-F5B4FD5372EC}">
      <dsp:nvSpPr>
        <dsp:cNvPr id="0" name=""/>
        <dsp:cNvSpPr/>
      </dsp:nvSpPr>
      <dsp:spPr>
        <a:xfrm>
          <a:off x="0" y="44317"/>
          <a:ext cx="7175500" cy="1583009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 dirty="0"/>
            <a:t>Consumption decisions can also </a:t>
          </a:r>
          <a:r>
            <a:rPr lang="en-GB" sz="4100" u="sng" kern="1200" dirty="0"/>
            <a:t>shift the AD curve</a:t>
          </a:r>
          <a:r>
            <a:rPr lang="en-GB" sz="4100" kern="1200" dirty="0"/>
            <a:t>.</a:t>
          </a:r>
          <a:endParaRPr lang="en-US" sz="4100" kern="1200" dirty="0"/>
        </a:p>
      </dsp:txBody>
      <dsp:txXfrm>
        <a:off x="77276" y="121593"/>
        <a:ext cx="7020948" cy="1428457"/>
      </dsp:txXfrm>
    </dsp:sp>
    <dsp:sp modelId="{0FCADEE7-36DC-41D4-A525-7FC6095421B1}">
      <dsp:nvSpPr>
        <dsp:cNvPr id="0" name=""/>
        <dsp:cNvSpPr/>
      </dsp:nvSpPr>
      <dsp:spPr>
        <a:xfrm>
          <a:off x="0" y="1627327"/>
          <a:ext cx="7175500" cy="330993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822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200" kern="1200" dirty="0"/>
            <a:t>E.g. fall in house prices will be bad news for a household with a mortgage. 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200" kern="1200" dirty="0"/>
            <a:t>They may choose to save more (</a:t>
          </a:r>
          <a:r>
            <a:rPr lang="en-GB" sz="3200" b="1" kern="1200" dirty="0"/>
            <a:t>precautionary saving</a:t>
          </a:r>
          <a:r>
            <a:rPr lang="en-GB" sz="3200" kern="1200" dirty="0"/>
            <a:t>)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200" kern="1200" dirty="0"/>
            <a:t> hence their autonomous consumption would fall.</a:t>
          </a:r>
          <a:endParaRPr lang="en-US" sz="3200" kern="1200" dirty="0"/>
        </a:p>
      </dsp:txBody>
      <dsp:txXfrm>
        <a:off x="0" y="1627327"/>
        <a:ext cx="7175500" cy="33099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8C649-D728-4BCB-A3F4-6FE89D592F83}">
      <dsp:nvSpPr>
        <dsp:cNvPr id="0" name=""/>
        <dsp:cNvSpPr/>
      </dsp:nvSpPr>
      <dsp:spPr>
        <a:xfrm>
          <a:off x="3503" y="578341"/>
          <a:ext cx="1792123" cy="45540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 dirty="0"/>
            <a:t>Model 2a. </a:t>
          </a:r>
        </a:p>
      </dsp:txBody>
      <dsp:txXfrm>
        <a:off x="3503" y="578341"/>
        <a:ext cx="1792123" cy="455400"/>
      </dsp:txXfrm>
    </dsp:sp>
    <dsp:sp modelId="{97DE9B40-5AC3-45C6-9498-D364B00E37C6}">
      <dsp:nvSpPr>
        <dsp:cNvPr id="0" name=""/>
        <dsp:cNvSpPr/>
      </dsp:nvSpPr>
      <dsp:spPr>
        <a:xfrm>
          <a:off x="1795626" y="578341"/>
          <a:ext cx="358424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DC7D0B-21A5-4AE8-A480-F6C52B71CA52}">
      <dsp:nvSpPr>
        <dsp:cNvPr id="0" name=""/>
        <dsp:cNvSpPr/>
      </dsp:nvSpPr>
      <dsp:spPr>
        <a:xfrm>
          <a:off x="3503" y="1182361"/>
          <a:ext cx="1792123" cy="1053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/>
            <a:t>Aggregate Demand = C + I + G</a:t>
          </a:r>
        </a:p>
      </dsp:txBody>
      <dsp:txXfrm>
        <a:off x="3503" y="1182361"/>
        <a:ext cx="1792123" cy="1053112"/>
      </dsp:txXfrm>
    </dsp:sp>
    <dsp:sp modelId="{B234573A-625B-468A-B0A6-555057667A71}">
      <dsp:nvSpPr>
        <dsp:cNvPr id="0" name=""/>
        <dsp:cNvSpPr/>
      </dsp:nvSpPr>
      <dsp:spPr>
        <a:xfrm>
          <a:off x="1795626" y="1116541"/>
          <a:ext cx="358424" cy="1184751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972548-224A-4664-9C43-BE0405486F12}">
      <dsp:nvSpPr>
        <dsp:cNvPr id="0" name=""/>
        <dsp:cNvSpPr/>
      </dsp:nvSpPr>
      <dsp:spPr>
        <a:xfrm>
          <a:off x="2297421" y="1116541"/>
          <a:ext cx="4874575" cy="11847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300" kern="1200"/>
            <a:t>Government Spending is exogenous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300" kern="1200"/>
            <a:t>Also affects C via taxes.</a:t>
          </a:r>
        </a:p>
      </dsp:txBody>
      <dsp:txXfrm>
        <a:off x="2297421" y="1116541"/>
        <a:ext cx="4874575" cy="1184751"/>
      </dsp:txXfrm>
    </dsp:sp>
    <dsp:sp modelId="{C8359F19-7A81-4A59-8161-37E8D2CB0A6B}">
      <dsp:nvSpPr>
        <dsp:cNvPr id="0" name=""/>
        <dsp:cNvSpPr/>
      </dsp:nvSpPr>
      <dsp:spPr>
        <a:xfrm>
          <a:off x="3503" y="2384093"/>
          <a:ext cx="1793875" cy="45540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 dirty="0"/>
            <a:t>Model 2</a:t>
          </a:r>
        </a:p>
      </dsp:txBody>
      <dsp:txXfrm>
        <a:off x="3503" y="2384093"/>
        <a:ext cx="1793875" cy="455400"/>
      </dsp:txXfrm>
    </dsp:sp>
    <dsp:sp modelId="{AFCEA98F-57C5-4079-91F4-9E580A0A7AB3}">
      <dsp:nvSpPr>
        <dsp:cNvPr id="0" name=""/>
        <dsp:cNvSpPr/>
      </dsp:nvSpPr>
      <dsp:spPr>
        <a:xfrm>
          <a:off x="1797378" y="2384093"/>
          <a:ext cx="358775" cy="455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597E62-72CD-47D9-B799-CAFE545682BB}">
      <dsp:nvSpPr>
        <dsp:cNvPr id="0" name=""/>
        <dsp:cNvSpPr/>
      </dsp:nvSpPr>
      <dsp:spPr>
        <a:xfrm>
          <a:off x="3503" y="3136207"/>
          <a:ext cx="1792123" cy="1053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/>
            <a:t>AD = C + I + G + X – M</a:t>
          </a:r>
        </a:p>
      </dsp:txBody>
      <dsp:txXfrm>
        <a:off x="3503" y="3136207"/>
        <a:ext cx="1792123" cy="1053112"/>
      </dsp:txXfrm>
    </dsp:sp>
    <dsp:sp modelId="{67A58C11-8C7A-4455-A4AE-33E5CA074045}">
      <dsp:nvSpPr>
        <dsp:cNvPr id="0" name=""/>
        <dsp:cNvSpPr/>
      </dsp:nvSpPr>
      <dsp:spPr>
        <a:xfrm>
          <a:off x="1795626" y="2922293"/>
          <a:ext cx="358424" cy="1480939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561755-1014-41BF-B88A-A905579DC375}">
      <dsp:nvSpPr>
        <dsp:cNvPr id="0" name=""/>
        <dsp:cNvSpPr/>
      </dsp:nvSpPr>
      <dsp:spPr>
        <a:xfrm>
          <a:off x="2297421" y="2922293"/>
          <a:ext cx="4874575" cy="1480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300" kern="1200"/>
            <a:t>Exports (X) is exogenous to model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2300" kern="1200"/>
            <a:t>Imports (M) depend on domestic market</a:t>
          </a:r>
        </a:p>
      </dsp:txBody>
      <dsp:txXfrm>
        <a:off x="2297421" y="2922293"/>
        <a:ext cx="4874575" cy="14809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5CF34-7C81-421E-998A-C433BB56CC63}">
      <dsp:nvSpPr>
        <dsp:cNvPr id="0" name=""/>
        <dsp:cNvSpPr/>
      </dsp:nvSpPr>
      <dsp:spPr>
        <a:xfrm>
          <a:off x="549" y="659880"/>
          <a:ext cx="4504226" cy="225211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kern="1200" dirty="0"/>
            <a:t>AD = c</a:t>
          </a:r>
          <a:r>
            <a:rPr lang="en-US" sz="4000" b="0" kern="1200" baseline="-25000" dirty="0"/>
            <a:t>0</a:t>
          </a:r>
          <a:r>
            <a:rPr lang="en-US" sz="4000" b="0" kern="1200" dirty="0"/>
            <a:t> + c</a:t>
          </a:r>
          <a:r>
            <a:rPr lang="en-US" sz="4000" b="0" kern="1200" baseline="-25000" dirty="0"/>
            <a:t>1</a:t>
          </a:r>
          <a:r>
            <a:rPr lang="en-US" sz="4000" b="0" kern="1200" dirty="0"/>
            <a:t>(1 - t)Y + I + G + X - </a:t>
          </a:r>
          <a:r>
            <a:rPr lang="en-US" sz="4000" b="0" kern="1200" dirty="0" err="1"/>
            <a:t>mY</a:t>
          </a:r>
          <a:endParaRPr lang="en-NZ" sz="4000" b="0" kern="1200" dirty="0"/>
        </a:p>
      </dsp:txBody>
      <dsp:txXfrm>
        <a:off x="549" y="659880"/>
        <a:ext cx="4504226" cy="225211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95DCA-582F-46F9-8AEC-6CB2B5BADE4B}">
      <dsp:nvSpPr>
        <dsp:cNvPr id="0" name=""/>
        <dsp:cNvSpPr/>
      </dsp:nvSpPr>
      <dsp:spPr>
        <a:xfrm>
          <a:off x="0" y="4120789"/>
          <a:ext cx="5741987" cy="901527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Smaller multiplier implies a flatter AD curve. </a:t>
          </a:r>
          <a:endParaRPr lang="en-NZ" sz="1600" kern="1200" dirty="0"/>
        </a:p>
      </dsp:txBody>
      <dsp:txXfrm>
        <a:off x="0" y="4120789"/>
        <a:ext cx="5741987" cy="901527"/>
      </dsp:txXfrm>
    </dsp:sp>
    <dsp:sp modelId="{FE0C73E0-218E-447A-91CD-E47EB57E846B}">
      <dsp:nvSpPr>
        <dsp:cNvPr id="0" name=""/>
        <dsp:cNvSpPr/>
      </dsp:nvSpPr>
      <dsp:spPr>
        <a:xfrm rot="10800000">
          <a:off x="0" y="2747762"/>
          <a:ext cx="5741987" cy="138654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… and some income is used to buy goods abroad</a:t>
          </a:r>
          <a:endParaRPr lang="en-NZ" sz="1600" kern="1200"/>
        </a:p>
      </dsp:txBody>
      <dsp:txXfrm rot="10800000">
        <a:off x="0" y="2747762"/>
        <a:ext cx="5741987" cy="900938"/>
      </dsp:txXfrm>
    </dsp:sp>
    <dsp:sp modelId="{CCBBF8F3-C2A0-4CC3-862D-9EF20CEB0D60}">
      <dsp:nvSpPr>
        <dsp:cNvPr id="0" name=""/>
        <dsp:cNvSpPr/>
      </dsp:nvSpPr>
      <dsp:spPr>
        <a:xfrm rot="10800000">
          <a:off x="0" y="1374735"/>
          <a:ext cx="5741987" cy="138654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some household income goes directly to the government as taxes</a:t>
          </a:r>
          <a:endParaRPr lang="en-NZ" sz="1600" kern="1200"/>
        </a:p>
      </dsp:txBody>
      <dsp:txXfrm rot="10800000">
        <a:off x="0" y="1374735"/>
        <a:ext cx="5741987" cy="900938"/>
      </dsp:txXfrm>
    </dsp:sp>
    <dsp:sp modelId="{7A943B34-A12E-49A7-BBC3-FB7E25F7C7F9}">
      <dsp:nvSpPr>
        <dsp:cNvPr id="0" name=""/>
        <dsp:cNvSpPr/>
      </dsp:nvSpPr>
      <dsp:spPr>
        <a:xfrm rot="10800000">
          <a:off x="0" y="1707"/>
          <a:ext cx="5741987" cy="1386549"/>
        </a:xfrm>
        <a:prstGeom prst="upArrowCallou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Saving, taxation and imports are referred to as </a:t>
          </a:r>
          <a:r>
            <a:rPr lang="en-GB" sz="1600" u="sng" kern="1200" dirty="0"/>
            <a:t>leakages from the circular flow of income</a:t>
          </a:r>
          <a:r>
            <a:rPr lang="en-GB" sz="1600" kern="1200" dirty="0"/>
            <a:t>. They reduce the size of the multiplier.</a:t>
          </a:r>
          <a:endParaRPr lang="en-NZ" sz="1600" kern="1200" dirty="0"/>
        </a:p>
      </dsp:txBody>
      <dsp:txXfrm rot="10800000">
        <a:off x="0" y="1707"/>
        <a:ext cx="5741987" cy="90093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D40B4-5603-4692-907A-3AD29D4E2358}">
      <dsp:nvSpPr>
        <dsp:cNvPr id="0" name=""/>
        <dsp:cNvSpPr/>
      </dsp:nvSpPr>
      <dsp:spPr>
        <a:xfrm>
          <a:off x="875" y="270341"/>
          <a:ext cx="3416070" cy="204964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/>
            <a:t>Government spending is large and exogenous</a:t>
          </a:r>
        </a:p>
      </dsp:txBody>
      <dsp:txXfrm>
        <a:off x="875" y="270341"/>
        <a:ext cx="3416070" cy="2049642"/>
      </dsp:txXfrm>
    </dsp:sp>
    <dsp:sp modelId="{55E6672C-96F7-42AB-A11E-F0414F67B861}">
      <dsp:nvSpPr>
        <dsp:cNvPr id="0" name=""/>
        <dsp:cNvSpPr/>
      </dsp:nvSpPr>
      <dsp:spPr>
        <a:xfrm>
          <a:off x="3758553" y="270341"/>
          <a:ext cx="3416070" cy="204964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/>
            <a:t>Higher tax rates lower the multiplier</a:t>
          </a:r>
        </a:p>
      </dsp:txBody>
      <dsp:txXfrm>
        <a:off x="3758553" y="270341"/>
        <a:ext cx="3416070" cy="2049642"/>
      </dsp:txXfrm>
    </dsp:sp>
    <dsp:sp modelId="{E65C0397-3264-4C1A-9C97-C113955F6ECD}">
      <dsp:nvSpPr>
        <dsp:cNvPr id="0" name=""/>
        <dsp:cNvSpPr/>
      </dsp:nvSpPr>
      <dsp:spPr>
        <a:xfrm>
          <a:off x="875" y="2661591"/>
          <a:ext cx="3416070" cy="204964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/>
            <a:t>Unemployment benefits helps household consumption smoothing</a:t>
          </a:r>
        </a:p>
      </dsp:txBody>
      <dsp:txXfrm>
        <a:off x="875" y="2661591"/>
        <a:ext cx="3416070" cy="2049642"/>
      </dsp:txXfrm>
    </dsp:sp>
    <dsp:sp modelId="{6902E8A9-953A-4D76-A567-11ABBCED5B4C}">
      <dsp:nvSpPr>
        <dsp:cNvPr id="0" name=""/>
        <dsp:cNvSpPr/>
      </dsp:nvSpPr>
      <dsp:spPr>
        <a:xfrm>
          <a:off x="3758553" y="2661591"/>
          <a:ext cx="3416070" cy="204964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 dirty="0"/>
            <a:t>Deliberate interventions via fiscal policy.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900" kern="1200"/>
            <a:t>E.g. NZ ‘Shovel Ready’ projects as part of Covid19 recovery.</a:t>
          </a:r>
        </a:p>
      </dsp:txBody>
      <dsp:txXfrm>
        <a:off x="3758553" y="2661591"/>
        <a:ext cx="3416070" cy="204964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5F10D-B0B2-433A-9D95-0DD8F6A450BE}">
      <dsp:nvSpPr>
        <dsp:cNvPr id="0" name=""/>
        <dsp:cNvSpPr/>
      </dsp:nvSpPr>
      <dsp:spPr>
        <a:xfrm>
          <a:off x="912" y="212350"/>
          <a:ext cx="3558204" cy="213492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Consumer spending on travel and durables dropped because of lockdown.</a:t>
          </a:r>
          <a:endParaRPr lang="en-NZ" sz="1900" kern="1200"/>
        </a:p>
      </dsp:txBody>
      <dsp:txXfrm>
        <a:off x="912" y="212350"/>
        <a:ext cx="3558204" cy="2134922"/>
      </dsp:txXfrm>
    </dsp:sp>
    <dsp:sp modelId="{3509FED9-4A5B-4830-AD9E-B99590FEC642}">
      <dsp:nvSpPr>
        <dsp:cNvPr id="0" name=""/>
        <dsp:cNvSpPr/>
      </dsp:nvSpPr>
      <dsp:spPr>
        <a:xfrm>
          <a:off x="3914937" y="212350"/>
          <a:ext cx="3558204" cy="213492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Exports fell because overseas tourists could not visit.</a:t>
          </a:r>
          <a:endParaRPr lang="en-NZ" sz="1900" kern="1200"/>
        </a:p>
      </dsp:txBody>
      <dsp:txXfrm>
        <a:off x="3914937" y="212350"/>
        <a:ext cx="3558204" cy="2134922"/>
      </dsp:txXfrm>
    </dsp:sp>
    <dsp:sp modelId="{83E0B2E7-DF9A-4EEA-BB9B-569B4CDBB271}">
      <dsp:nvSpPr>
        <dsp:cNvPr id="0" name=""/>
        <dsp:cNvSpPr/>
      </dsp:nvSpPr>
      <dsp:spPr>
        <a:xfrm>
          <a:off x="912" y="2703093"/>
          <a:ext cx="3558204" cy="213492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Imports fell by more (durables like cars and oil imports dropped)</a:t>
          </a:r>
          <a:endParaRPr lang="en-NZ" sz="1900" kern="1200" dirty="0"/>
        </a:p>
      </dsp:txBody>
      <dsp:txXfrm>
        <a:off x="912" y="2703093"/>
        <a:ext cx="3558204" cy="2134922"/>
      </dsp:txXfrm>
    </dsp:sp>
    <dsp:sp modelId="{C6EC8C1E-4DA4-4AAE-B9B7-924D6E82C12F}">
      <dsp:nvSpPr>
        <dsp:cNvPr id="0" name=""/>
        <dsp:cNvSpPr/>
      </dsp:nvSpPr>
      <dsp:spPr>
        <a:xfrm>
          <a:off x="3914937" y="2703093"/>
          <a:ext cx="3558204" cy="213492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Government increased spending on:</a:t>
          </a:r>
          <a:endParaRPr lang="en-NZ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Medical goods and services</a:t>
          </a:r>
          <a:r>
            <a:rPr lang="en-NZ" sz="1500" kern="1200"/>
            <a:t> (tests)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kern="1200"/>
            <a:t>Quarantine facilities (booked and converted Hotels)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500" kern="1200"/>
            <a:t>Computers for children in low-income households</a:t>
          </a:r>
        </a:p>
      </dsp:txBody>
      <dsp:txXfrm>
        <a:off x="3914937" y="2703093"/>
        <a:ext cx="3558204" cy="213492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F14AF-4613-4975-8514-0BDD3CE1E231}">
      <dsp:nvSpPr>
        <dsp:cNvPr id="0" name=""/>
        <dsp:cNvSpPr/>
      </dsp:nvSpPr>
      <dsp:spPr>
        <a:xfrm>
          <a:off x="2825274" y="2106535"/>
          <a:ext cx="91440" cy="7767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76754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2850810" y="2490875"/>
        <a:ext cx="40367" cy="8073"/>
      </dsp:txXfrm>
    </dsp:sp>
    <dsp:sp modelId="{F55FF4CE-8DFC-4B49-8FD9-02D67CE6D712}">
      <dsp:nvSpPr>
        <dsp:cNvPr id="0" name=""/>
        <dsp:cNvSpPr/>
      </dsp:nvSpPr>
      <dsp:spPr>
        <a:xfrm>
          <a:off x="1115874" y="2191"/>
          <a:ext cx="3510238" cy="210614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/>
            <a:t>Unemployment benefits offset a contraction in the economy</a:t>
          </a:r>
        </a:p>
      </dsp:txBody>
      <dsp:txXfrm>
        <a:off x="1115874" y="2191"/>
        <a:ext cx="3510238" cy="2106143"/>
      </dsp:txXfrm>
    </dsp:sp>
    <dsp:sp modelId="{47F37342-DACC-45EA-BABA-BE20A0598ACD}">
      <dsp:nvSpPr>
        <dsp:cNvPr id="0" name=""/>
        <dsp:cNvSpPr/>
      </dsp:nvSpPr>
      <dsp:spPr>
        <a:xfrm>
          <a:off x="1115874" y="2915689"/>
          <a:ext cx="3510238" cy="210614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500" kern="1200"/>
            <a:t>Progressive (proportional) tax rates offset an expansion in the economy</a:t>
          </a:r>
        </a:p>
      </dsp:txBody>
      <dsp:txXfrm>
        <a:off x="1115874" y="2915689"/>
        <a:ext cx="3510238" cy="210614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C6575-C32D-49F5-B488-1911BF2E3C0B}">
      <dsp:nvSpPr>
        <dsp:cNvPr id="0" name=""/>
        <dsp:cNvSpPr/>
      </dsp:nvSpPr>
      <dsp:spPr>
        <a:xfrm>
          <a:off x="3332512" y="615910"/>
          <a:ext cx="4762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27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57978" y="659096"/>
        <a:ext cx="25343" cy="5068"/>
      </dsp:txXfrm>
    </dsp:sp>
    <dsp:sp modelId="{ECA4AB3F-F7EC-4AA7-B5B6-1CCCA5A2513C}">
      <dsp:nvSpPr>
        <dsp:cNvPr id="0" name=""/>
        <dsp:cNvSpPr/>
      </dsp:nvSpPr>
      <dsp:spPr>
        <a:xfrm>
          <a:off x="1130509" y="489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In a recession, many households face a budget deficit </a:t>
          </a:r>
          <a:endParaRPr lang="en-NZ" sz="1500" kern="1200" dirty="0"/>
        </a:p>
      </dsp:txBody>
      <dsp:txXfrm>
        <a:off x="1130509" y="489"/>
        <a:ext cx="2203803" cy="1322282"/>
      </dsp:txXfrm>
    </dsp:sp>
    <dsp:sp modelId="{B775EABB-A05C-4C8B-8100-5019E9533743}">
      <dsp:nvSpPr>
        <dsp:cNvPr id="0" name=""/>
        <dsp:cNvSpPr/>
      </dsp:nvSpPr>
      <dsp:spPr>
        <a:xfrm>
          <a:off x="2232410" y="1320971"/>
          <a:ext cx="2710678" cy="476274"/>
        </a:xfrm>
        <a:custGeom>
          <a:avLst/>
          <a:gdLst/>
          <a:ahLst/>
          <a:cxnLst/>
          <a:rect l="0" t="0" r="0" b="0"/>
          <a:pathLst>
            <a:path>
              <a:moveTo>
                <a:pt x="2710678" y="0"/>
              </a:moveTo>
              <a:lnTo>
                <a:pt x="2710678" y="255237"/>
              </a:lnTo>
              <a:lnTo>
                <a:pt x="0" y="255237"/>
              </a:lnTo>
              <a:lnTo>
                <a:pt x="0" y="476274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18808" y="1556574"/>
        <a:ext cx="137883" cy="5068"/>
      </dsp:txXfrm>
    </dsp:sp>
    <dsp:sp modelId="{D2F849FD-BCAE-4AB3-830D-434B2D91CAA5}">
      <dsp:nvSpPr>
        <dsp:cNvPr id="0" name=""/>
        <dsp:cNvSpPr/>
      </dsp:nvSpPr>
      <dsp:spPr>
        <a:xfrm>
          <a:off x="3841187" y="489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Worries about their falling wealth leads to spending cuts and more savings</a:t>
          </a:r>
          <a:endParaRPr lang="en-NZ" sz="1500" kern="1200" dirty="0"/>
        </a:p>
      </dsp:txBody>
      <dsp:txXfrm>
        <a:off x="3841187" y="489"/>
        <a:ext cx="2203803" cy="1322282"/>
      </dsp:txXfrm>
    </dsp:sp>
    <dsp:sp modelId="{4F0B0F48-8206-4F13-BB7F-E1729C2CCEFC}">
      <dsp:nvSpPr>
        <dsp:cNvPr id="0" name=""/>
        <dsp:cNvSpPr/>
      </dsp:nvSpPr>
      <dsp:spPr>
        <a:xfrm>
          <a:off x="3332512" y="2445067"/>
          <a:ext cx="4762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27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57978" y="2488253"/>
        <a:ext cx="25343" cy="5068"/>
      </dsp:txXfrm>
    </dsp:sp>
    <dsp:sp modelId="{7B00D40D-DCF0-44CF-8D83-203DE91DAF45}">
      <dsp:nvSpPr>
        <dsp:cNvPr id="0" name=""/>
        <dsp:cNvSpPr/>
      </dsp:nvSpPr>
      <dsp:spPr>
        <a:xfrm>
          <a:off x="1130509" y="1829646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In the economy as a whole, spending and earning go together.</a:t>
          </a:r>
          <a:endParaRPr lang="en-NZ" sz="1500" kern="1200" dirty="0"/>
        </a:p>
      </dsp:txBody>
      <dsp:txXfrm>
        <a:off x="1130509" y="1829646"/>
        <a:ext cx="2203803" cy="1322282"/>
      </dsp:txXfrm>
    </dsp:sp>
    <dsp:sp modelId="{0B5FE56C-CDF0-410D-A17B-3FAF853E5725}">
      <dsp:nvSpPr>
        <dsp:cNvPr id="0" name=""/>
        <dsp:cNvSpPr/>
      </dsp:nvSpPr>
      <dsp:spPr>
        <a:xfrm>
          <a:off x="2232410" y="3150128"/>
          <a:ext cx="2710678" cy="476274"/>
        </a:xfrm>
        <a:custGeom>
          <a:avLst/>
          <a:gdLst/>
          <a:ahLst/>
          <a:cxnLst/>
          <a:rect l="0" t="0" r="0" b="0"/>
          <a:pathLst>
            <a:path>
              <a:moveTo>
                <a:pt x="2710678" y="0"/>
              </a:moveTo>
              <a:lnTo>
                <a:pt x="2710678" y="255237"/>
              </a:lnTo>
              <a:lnTo>
                <a:pt x="0" y="255237"/>
              </a:lnTo>
              <a:lnTo>
                <a:pt x="0" y="476274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18808" y="3385731"/>
        <a:ext cx="137883" cy="5068"/>
      </dsp:txXfrm>
    </dsp:sp>
    <dsp:sp modelId="{82A03AC4-4B29-49D4-A8F0-2474478626EE}">
      <dsp:nvSpPr>
        <dsp:cNvPr id="0" name=""/>
        <dsp:cNvSpPr/>
      </dsp:nvSpPr>
      <dsp:spPr>
        <a:xfrm>
          <a:off x="3841187" y="1829646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 dirty="0"/>
            <a:t>Spending less leads to a worsening recession</a:t>
          </a:r>
        </a:p>
      </dsp:txBody>
      <dsp:txXfrm>
        <a:off x="3841187" y="1829646"/>
        <a:ext cx="2203803" cy="1322282"/>
      </dsp:txXfrm>
    </dsp:sp>
    <dsp:sp modelId="{69EB4679-5010-486A-9BB7-BA67B53E64EE}">
      <dsp:nvSpPr>
        <dsp:cNvPr id="0" name=""/>
        <dsp:cNvSpPr/>
      </dsp:nvSpPr>
      <dsp:spPr>
        <a:xfrm>
          <a:off x="1130509" y="3658803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The paradox of thrift: </a:t>
          </a:r>
          <a:r>
            <a:rPr lang="en-GB" sz="1500" kern="1200" dirty="0"/>
            <a:t> the aggregate attempt to increase savings leads to a fall in aggregate income.</a:t>
          </a:r>
          <a:endParaRPr lang="en-NZ" sz="1500" kern="1200" dirty="0"/>
        </a:p>
      </dsp:txBody>
      <dsp:txXfrm>
        <a:off x="1130509" y="3658803"/>
        <a:ext cx="2203803" cy="132228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FF55D-DA9A-4FAD-8833-7C10F5EDED0C}">
      <dsp:nvSpPr>
        <dsp:cNvPr id="0" name=""/>
        <dsp:cNvSpPr/>
      </dsp:nvSpPr>
      <dsp:spPr>
        <a:xfrm>
          <a:off x="0" y="0"/>
          <a:ext cx="5740400" cy="109594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Fiscal stimulus:</a:t>
          </a:r>
          <a:endParaRPr lang="en-NZ" sz="1800" kern="1200"/>
        </a:p>
      </dsp:txBody>
      <dsp:txXfrm>
        <a:off x="32099" y="32099"/>
        <a:ext cx="4465181" cy="1031748"/>
      </dsp:txXfrm>
    </dsp:sp>
    <dsp:sp modelId="{96F16FDE-D794-4E68-B9E9-10CA18331E9F}">
      <dsp:nvSpPr>
        <dsp:cNvPr id="0" name=""/>
        <dsp:cNvSpPr/>
      </dsp:nvSpPr>
      <dsp:spPr>
        <a:xfrm>
          <a:off x="480758" y="1295209"/>
          <a:ext cx="5740400" cy="109594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Tax cuts </a:t>
          </a:r>
          <a:r>
            <a:rPr lang="en-US" sz="1800" kern="1200" dirty="0"/>
            <a:t>to encourage the private sector to spend more, and/or</a:t>
          </a:r>
          <a:endParaRPr lang="en-NZ" sz="1800" kern="1200" dirty="0"/>
        </a:p>
      </dsp:txBody>
      <dsp:txXfrm>
        <a:off x="512857" y="1327308"/>
        <a:ext cx="4483078" cy="1031748"/>
      </dsp:txXfrm>
    </dsp:sp>
    <dsp:sp modelId="{1F9F318F-347D-475D-AE3A-DB0A219A47A6}">
      <dsp:nvSpPr>
        <dsp:cNvPr id="0" name=""/>
        <dsp:cNvSpPr/>
      </dsp:nvSpPr>
      <dsp:spPr>
        <a:xfrm>
          <a:off x="954341" y="2590418"/>
          <a:ext cx="5740400" cy="109594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sng" kern="1200" dirty="0"/>
            <a:t>Spending increases </a:t>
          </a:r>
          <a:r>
            <a:rPr lang="en-US" sz="1800" kern="1200" dirty="0"/>
            <a:t>(G), which directly increases AD </a:t>
          </a:r>
          <a:endParaRPr lang="en-NZ" sz="1800" kern="1200" dirty="0"/>
        </a:p>
      </dsp:txBody>
      <dsp:txXfrm>
        <a:off x="986440" y="2622517"/>
        <a:ext cx="4490253" cy="1031748"/>
      </dsp:txXfrm>
    </dsp:sp>
    <dsp:sp modelId="{F94BA7ED-1DC3-43AD-A860-AC454F662743}">
      <dsp:nvSpPr>
        <dsp:cNvPr id="0" name=""/>
        <dsp:cNvSpPr/>
      </dsp:nvSpPr>
      <dsp:spPr>
        <a:xfrm>
          <a:off x="1435099" y="3885628"/>
          <a:ext cx="5740400" cy="1095946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The rise in G operates via the multiplier, so the increase in Y will typically be greater than the increase in G.</a:t>
          </a:r>
          <a:endParaRPr lang="en-NZ" sz="1800" kern="1200"/>
        </a:p>
      </dsp:txBody>
      <dsp:txXfrm>
        <a:off x="1467198" y="3917727"/>
        <a:ext cx="4483078" cy="1031748"/>
      </dsp:txXfrm>
    </dsp:sp>
    <dsp:sp modelId="{1F1527B3-C566-4097-BA9A-CEF07C0953E3}">
      <dsp:nvSpPr>
        <dsp:cNvPr id="0" name=""/>
        <dsp:cNvSpPr/>
      </dsp:nvSpPr>
      <dsp:spPr>
        <a:xfrm>
          <a:off x="5028034" y="839395"/>
          <a:ext cx="712365" cy="712365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300" kern="1200"/>
        </a:p>
      </dsp:txBody>
      <dsp:txXfrm>
        <a:off x="5188316" y="839395"/>
        <a:ext cx="391801" cy="536055"/>
      </dsp:txXfrm>
    </dsp:sp>
    <dsp:sp modelId="{C84C9AD0-620D-4918-BE11-ED8404CF9FDD}">
      <dsp:nvSpPr>
        <dsp:cNvPr id="0" name=""/>
        <dsp:cNvSpPr/>
      </dsp:nvSpPr>
      <dsp:spPr>
        <a:xfrm>
          <a:off x="5508793" y="2134604"/>
          <a:ext cx="712365" cy="712365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300" kern="1200"/>
        </a:p>
      </dsp:txBody>
      <dsp:txXfrm>
        <a:off x="5669075" y="2134604"/>
        <a:ext cx="391801" cy="536055"/>
      </dsp:txXfrm>
    </dsp:sp>
    <dsp:sp modelId="{7ADD737D-D0CD-402E-A643-F683968AB337}">
      <dsp:nvSpPr>
        <dsp:cNvPr id="0" name=""/>
        <dsp:cNvSpPr/>
      </dsp:nvSpPr>
      <dsp:spPr>
        <a:xfrm>
          <a:off x="5982376" y="3429814"/>
          <a:ext cx="712365" cy="712365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3300" kern="1200"/>
        </a:p>
      </dsp:txBody>
      <dsp:txXfrm>
        <a:off x="6142658" y="3429814"/>
        <a:ext cx="391801" cy="53605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5A87D-4E34-4985-B278-CC3EE9A4F7A1}">
      <dsp:nvSpPr>
        <dsp:cNvPr id="0" name=""/>
        <dsp:cNvSpPr/>
      </dsp:nvSpPr>
      <dsp:spPr>
        <a:xfrm>
          <a:off x="3216068" y="1110277"/>
          <a:ext cx="7091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09163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52155" y="1152298"/>
        <a:ext cx="36988" cy="7397"/>
      </dsp:txXfrm>
    </dsp:sp>
    <dsp:sp modelId="{FEF7A9E6-031C-4C3F-99A0-E5185DC6BB0A}">
      <dsp:nvSpPr>
        <dsp:cNvPr id="0" name=""/>
        <dsp:cNvSpPr/>
      </dsp:nvSpPr>
      <dsp:spPr>
        <a:xfrm>
          <a:off x="1506" y="191088"/>
          <a:ext cx="3216361" cy="1929817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Fiscal stimulus (↑G or ↓T) will result in a negative budget balance (</a:t>
          </a:r>
          <a:r>
            <a:rPr lang="en-GB" sz="2100" b="1" kern="1200"/>
            <a:t>government budget deficit</a:t>
          </a:r>
          <a:r>
            <a:rPr lang="en-GB" sz="2100" kern="1200"/>
            <a:t>). </a:t>
          </a:r>
          <a:endParaRPr lang="en-NZ" sz="2100" kern="1200"/>
        </a:p>
      </dsp:txBody>
      <dsp:txXfrm>
        <a:off x="1506" y="191088"/>
        <a:ext cx="3216361" cy="1929817"/>
      </dsp:txXfrm>
    </dsp:sp>
    <dsp:sp modelId="{302B44C1-69E0-4099-999B-7FF3A9164619}">
      <dsp:nvSpPr>
        <dsp:cNvPr id="0" name=""/>
        <dsp:cNvSpPr/>
      </dsp:nvSpPr>
      <dsp:spPr>
        <a:xfrm>
          <a:off x="1609687" y="2119105"/>
          <a:ext cx="3956125" cy="709163"/>
        </a:xfrm>
        <a:custGeom>
          <a:avLst/>
          <a:gdLst/>
          <a:ahLst/>
          <a:cxnLst/>
          <a:rect l="0" t="0" r="0" b="0"/>
          <a:pathLst>
            <a:path>
              <a:moveTo>
                <a:pt x="3956125" y="0"/>
              </a:moveTo>
              <a:lnTo>
                <a:pt x="3956125" y="371681"/>
              </a:lnTo>
              <a:lnTo>
                <a:pt x="0" y="371681"/>
              </a:lnTo>
              <a:lnTo>
                <a:pt x="0" y="709163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487132" y="2469988"/>
        <a:ext cx="201234" cy="7397"/>
      </dsp:txXfrm>
    </dsp:sp>
    <dsp:sp modelId="{DDB63FB8-F7D6-4DEE-9512-F5DCA2C984FD}">
      <dsp:nvSpPr>
        <dsp:cNvPr id="0" name=""/>
        <dsp:cNvSpPr/>
      </dsp:nvSpPr>
      <dsp:spPr>
        <a:xfrm>
          <a:off x="3957631" y="191088"/>
          <a:ext cx="3216361" cy="1929817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If it is not reversed after the recession, it will increase </a:t>
          </a:r>
          <a:r>
            <a:rPr lang="en-GB" sz="2100" b="1" kern="1200" dirty="0"/>
            <a:t>government debt</a:t>
          </a:r>
          <a:r>
            <a:rPr lang="en-GB" sz="2100" kern="1200" dirty="0"/>
            <a:t>.</a:t>
          </a:r>
          <a:endParaRPr lang="en-NZ" sz="2100" kern="1200" dirty="0"/>
        </a:p>
      </dsp:txBody>
      <dsp:txXfrm>
        <a:off x="3957631" y="191088"/>
        <a:ext cx="3216361" cy="1929817"/>
      </dsp:txXfrm>
    </dsp:sp>
    <dsp:sp modelId="{37BDB81E-D1F1-40FC-8387-841FE7181F5F}">
      <dsp:nvSpPr>
        <dsp:cNvPr id="0" name=""/>
        <dsp:cNvSpPr/>
      </dsp:nvSpPr>
      <dsp:spPr>
        <a:xfrm>
          <a:off x="1506" y="2860669"/>
          <a:ext cx="3216361" cy="1929817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 </a:t>
          </a:r>
          <a:r>
            <a:rPr lang="en-GB" sz="2100" b="1" kern="1200"/>
            <a:t>government budget surplus </a:t>
          </a:r>
          <a:r>
            <a:rPr lang="en-GB" sz="2100" kern="1200"/>
            <a:t>is when tax revenue is greater than government spending.</a:t>
          </a:r>
          <a:endParaRPr lang="en-NZ" sz="2100" kern="1200"/>
        </a:p>
      </dsp:txBody>
      <dsp:txXfrm>
        <a:off x="1506" y="2860669"/>
        <a:ext cx="3216361" cy="192981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EDA73-B3F7-47D7-9287-D4D9693FBD48}">
      <dsp:nvSpPr>
        <dsp:cNvPr id="0" name=""/>
        <dsp:cNvSpPr/>
      </dsp:nvSpPr>
      <dsp:spPr>
        <a:xfrm>
          <a:off x="1401" y="1594200"/>
          <a:ext cx="2988623" cy="1793174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Austerity policy </a:t>
          </a:r>
          <a:r>
            <a:rPr lang="en-GB" sz="1900" kern="1200"/>
            <a:t>can reinforce (or worsen) rather than remedy a recession by further reducing aggregate demand.</a:t>
          </a:r>
          <a:endParaRPr lang="en-NZ" sz="1900" kern="1200"/>
        </a:p>
      </dsp:txBody>
      <dsp:txXfrm>
        <a:off x="53921" y="1646720"/>
        <a:ext cx="2883583" cy="1688134"/>
      </dsp:txXfrm>
    </dsp:sp>
    <dsp:sp modelId="{E55A4FAB-E80B-4116-86F1-66A2A5A739C5}">
      <dsp:nvSpPr>
        <dsp:cNvPr id="0" name=""/>
        <dsp:cNvSpPr/>
      </dsp:nvSpPr>
      <dsp:spPr>
        <a:xfrm>
          <a:off x="3288887" y="2120198"/>
          <a:ext cx="633588" cy="7411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500" kern="1200"/>
        </a:p>
      </dsp:txBody>
      <dsp:txXfrm>
        <a:off x="3288887" y="2268434"/>
        <a:ext cx="443512" cy="444706"/>
      </dsp:txXfrm>
    </dsp:sp>
    <dsp:sp modelId="{D5A781EC-A73A-47F2-A916-720E73D52351}">
      <dsp:nvSpPr>
        <dsp:cNvPr id="0" name=""/>
        <dsp:cNvSpPr/>
      </dsp:nvSpPr>
      <dsp:spPr>
        <a:xfrm>
          <a:off x="4185474" y="1594200"/>
          <a:ext cx="2988623" cy="1793174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Governments may be forced into this policy if they are unable to borrow to finance their deficits.</a:t>
          </a:r>
          <a:endParaRPr lang="en-NZ" sz="1900" kern="1200"/>
        </a:p>
      </dsp:txBody>
      <dsp:txXfrm>
        <a:off x="4237994" y="1646720"/>
        <a:ext cx="2883583" cy="168813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52A341-F7E7-4268-A719-829378F01F06}">
      <dsp:nvSpPr>
        <dsp:cNvPr id="0" name=""/>
        <dsp:cNvSpPr/>
      </dsp:nvSpPr>
      <dsp:spPr>
        <a:xfrm>
          <a:off x="3332512" y="615910"/>
          <a:ext cx="4762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27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57978" y="659096"/>
        <a:ext cx="25343" cy="5068"/>
      </dsp:txXfrm>
    </dsp:sp>
    <dsp:sp modelId="{1726463D-E796-4901-A733-AF14D3DD55FC}">
      <dsp:nvSpPr>
        <dsp:cNvPr id="0" name=""/>
        <dsp:cNvSpPr/>
      </dsp:nvSpPr>
      <dsp:spPr>
        <a:xfrm>
          <a:off x="1130509" y="489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 reality, it also depends on:</a:t>
          </a:r>
          <a:endParaRPr lang="en-NZ" sz="1400" kern="1200"/>
        </a:p>
      </dsp:txBody>
      <dsp:txXfrm>
        <a:off x="1130509" y="489"/>
        <a:ext cx="2203803" cy="1322282"/>
      </dsp:txXfrm>
    </dsp:sp>
    <dsp:sp modelId="{8C9452BE-9493-4DCA-A650-57D29B636B3F}">
      <dsp:nvSpPr>
        <dsp:cNvPr id="0" name=""/>
        <dsp:cNvSpPr/>
      </dsp:nvSpPr>
      <dsp:spPr>
        <a:xfrm>
          <a:off x="2232410" y="1320971"/>
          <a:ext cx="2710678" cy="476274"/>
        </a:xfrm>
        <a:custGeom>
          <a:avLst/>
          <a:gdLst/>
          <a:ahLst/>
          <a:cxnLst/>
          <a:rect l="0" t="0" r="0" b="0"/>
          <a:pathLst>
            <a:path>
              <a:moveTo>
                <a:pt x="2710678" y="0"/>
              </a:moveTo>
              <a:lnTo>
                <a:pt x="2710678" y="255237"/>
              </a:lnTo>
              <a:lnTo>
                <a:pt x="0" y="255237"/>
              </a:lnTo>
              <a:lnTo>
                <a:pt x="0" y="476274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18808" y="1556574"/>
        <a:ext cx="137883" cy="5068"/>
      </dsp:txXfrm>
    </dsp:sp>
    <dsp:sp modelId="{C15B312D-D6FA-434B-A1FD-25CF0B84EB7D}">
      <dsp:nvSpPr>
        <dsp:cNvPr id="0" name=""/>
        <dsp:cNvSpPr/>
      </dsp:nvSpPr>
      <dsp:spPr>
        <a:xfrm>
          <a:off x="3841187" y="489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u="sng" kern="1200"/>
            <a:t>Rate of capacity utilisation (the phase of the business cycle)</a:t>
          </a:r>
          <a:r>
            <a:rPr lang="en-GB" sz="1400" kern="1200"/>
            <a:t>: </a:t>
          </a:r>
          <a:endParaRPr lang="en-NZ" sz="1400" kern="1200"/>
        </a:p>
      </dsp:txBody>
      <dsp:txXfrm>
        <a:off x="3841187" y="489"/>
        <a:ext cx="2203803" cy="1322282"/>
      </dsp:txXfrm>
    </dsp:sp>
    <dsp:sp modelId="{AC49CD66-205D-426E-A3C2-FC68266F26E8}">
      <dsp:nvSpPr>
        <dsp:cNvPr id="0" name=""/>
        <dsp:cNvSpPr/>
      </dsp:nvSpPr>
      <dsp:spPr>
        <a:xfrm>
          <a:off x="3332512" y="2445067"/>
          <a:ext cx="4762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27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57978" y="2488253"/>
        <a:ext cx="25343" cy="5068"/>
      </dsp:txXfrm>
    </dsp:sp>
    <dsp:sp modelId="{11C4F072-3FEA-40DD-AEEE-0C13D46F7E14}">
      <dsp:nvSpPr>
        <dsp:cNvPr id="0" name=""/>
        <dsp:cNvSpPr/>
      </dsp:nvSpPr>
      <dsp:spPr>
        <a:xfrm>
          <a:off x="1130509" y="1829646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with fully employed resources, an increase in government spending would </a:t>
          </a:r>
          <a:r>
            <a:rPr lang="en-GB" sz="1400" b="1" kern="1200" dirty="0"/>
            <a:t>crowd out </a:t>
          </a:r>
          <a:r>
            <a:rPr lang="en-GB" sz="1400" kern="1200" dirty="0"/>
            <a:t>private spending </a:t>
          </a:r>
          <a:endParaRPr lang="en-NZ" sz="1400" kern="1200" dirty="0"/>
        </a:p>
      </dsp:txBody>
      <dsp:txXfrm>
        <a:off x="1130509" y="1829646"/>
        <a:ext cx="2203803" cy="1322282"/>
      </dsp:txXfrm>
    </dsp:sp>
    <dsp:sp modelId="{AD7342D6-6546-4FBF-A7DA-75D9D7C12163}">
      <dsp:nvSpPr>
        <dsp:cNvPr id="0" name=""/>
        <dsp:cNvSpPr/>
      </dsp:nvSpPr>
      <dsp:spPr>
        <a:xfrm>
          <a:off x="2232410" y="3150128"/>
          <a:ext cx="2710678" cy="476274"/>
        </a:xfrm>
        <a:custGeom>
          <a:avLst/>
          <a:gdLst/>
          <a:ahLst/>
          <a:cxnLst/>
          <a:rect l="0" t="0" r="0" b="0"/>
          <a:pathLst>
            <a:path>
              <a:moveTo>
                <a:pt x="2710678" y="0"/>
              </a:moveTo>
              <a:lnTo>
                <a:pt x="2710678" y="255237"/>
              </a:lnTo>
              <a:lnTo>
                <a:pt x="0" y="255237"/>
              </a:lnTo>
              <a:lnTo>
                <a:pt x="0" y="476274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18808" y="3385731"/>
        <a:ext cx="137883" cy="5068"/>
      </dsp:txXfrm>
    </dsp:sp>
    <dsp:sp modelId="{07699F2D-D77B-4058-974A-96FA639DD537}">
      <dsp:nvSpPr>
        <dsp:cNvPr id="0" name=""/>
        <dsp:cNvSpPr/>
      </dsp:nvSpPr>
      <dsp:spPr>
        <a:xfrm>
          <a:off x="3841187" y="1829646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Leading to a smaller multiplier effect</a:t>
          </a:r>
          <a:endParaRPr lang="en-NZ" sz="1400" kern="1200" dirty="0"/>
        </a:p>
      </dsp:txBody>
      <dsp:txXfrm>
        <a:off x="3841187" y="1829646"/>
        <a:ext cx="2203803" cy="1322282"/>
      </dsp:txXfrm>
    </dsp:sp>
    <dsp:sp modelId="{5C46FADB-611E-4E8A-9D08-7F95B6D9BC56}">
      <dsp:nvSpPr>
        <dsp:cNvPr id="0" name=""/>
        <dsp:cNvSpPr/>
      </dsp:nvSpPr>
      <dsp:spPr>
        <a:xfrm>
          <a:off x="3332512" y="4274224"/>
          <a:ext cx="4762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27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500" kern="1200"/>
        </a:p>
      </dsp:txBody>
      <dsp:txXfrm>
        <a:off x="3557978" y="4317410"/>
        <a:ext cx="25343" cy="5068"/>
      </dsp:txXfrm>
    </dsp:sp>
    <dsp:sp modelId="{2ED0115D-AFBE-4503-8611-896551A26A85}">
      <dsp:nvSpPr>
        <dsp:cNvPr id="0" name=""/>
        <dsp:cNvSpPr/>
      </dsp:nvSpPr>
      <dsp:spPr>
        <a:xfrm>
          <a:off x="1130509" y="3658803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u="sng" kern="1200"/>
            <a:t>Expectations</a:t>
          </a:r>
          <a:r>
            <a:rPr lang="en-GB" sz="1400" kern="1200"/>
            <a:t> of the private sector</a:t>
          </a:r>
          <a:r>
            <a:rPr lang="en-US" sz="1400" kern="1200"/>
            <a:t>: </a:t>
          </a:r>
          <a:endParaRPr lang="en-NZ" sz="1400" kern="1200"/>
        </a:p>
      </dsp:txBody>
      <dsp:txXfrm>
        <a:off x="1130509" y="3658803"/>
        <a:ext cx="2203803" cy="1322282"/>
      </dsp:txXfrm>
    </dsp:sp>
    <dsp:sp modelId="{158F5814-2DB0-4209-8D9F-84CE5EF4AE24}">
      <dsp:nvSpPr>
        <dsp:cNvPr id="0" name=""/>
        <dsp:cNvSpPr/>
      </dsp:nvSpPr>
      <dsp:spPr>
        <a:xfrm>
          <a:off x="3841187" y="3658803"/>
          <a:ext cx="2203803" cy="1322282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multiplier could be negative if rising fiscal deficit erodes consumer confidence</a:t>
          </a:r>
          <a:endParaRPr lang="en-NZ" sz="1400" kern="1200" dirty="0"/>
        </a:p>
      </dsp:txBody>
      <dsp:txXfrm>
        <a:off x="3841187" y="3658803"/>
        <a:ext cx="2203803" cy="13222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3B5F6C-7147-4370-8AA3-64F41DDFD9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0640-1F0F-4FD2-8E0F-D61F3EB9CF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76A23-F64E-410E-9933-5CF80C92A90C}" type="datetimeFigureOut">
              <a:rPr lang="en-ID" smtClean="0"/>
              <a:t>25/07/25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83D6D-9183-40AA-8D07-E195A3312C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B6699-E673-4492-8D3D-8CF2AFF95C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317EE-0622-4866-8D18-25CE03D275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886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E8909-E5A9-4597-8B2B-4FE5570D75EB}" type="datetimeFigureOut">
              <a:rPr lang="en-ID" smtClean="0"/>
              <a:t>25/07/25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C75A8-F08B-4865-8B51-4C323A3291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447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93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D71F969-6E0E-4CE4-8D83-FB7E1E36943B}"/>
              </a:ext>
            </a:extLst>
          </p:cNvPr>
          <p:cNvSpPr/>
          <p:nvPr userDrawn="1"/>
        </p:nvSpPr>
        <p:spPr>
          <a:xfrm>
            <a:off x="2986617" y="1583266"/>
            <a:ext cx="3886200" cy="4360334"/>
          </a:xfrm>
          <a:prstGeom prst="rect">
            <a:avLst/>
          </a:prstGeom>
          <a:solidFill>
            <a:srgbClr val="EFEF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A5C42-8660-4144-90F8-83E42246A6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56062" y="2218764"/>
            <a:ext cx="4492788" cy="3004741"/>
          </a:xfrm>
          <a:noFill/>
          <a:ln w="76200">
            <a:noFill/>
          </a:ln>
        </p:spPr>
        <p:txBody>
          <a:bodyPr anchor="ctr">
            <a:noAutofit/>
          </a:bodyPr>
          <a:lstStyle>
            <a:lvl1pPr algn="l">
              <a:defRPr sz="7200">
                <a:solidFill>
                  <a:srgbClr val="353638"/>
                </a:solidFill>
                <a:latin typeface="+mj-lt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84757-0A31-42A4-8AF4-E9682F7256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04084" y="5490105"/>
            <a:ext cx="3549716" cy="453495"/>
          </a:xfrm>
        </p:spPr>
        <p:txBody>
          <a:bodyPr/>
          <a:lstStyle>
            <a:lvl1pPr marL="0" indent="0" algn="ctr">
              <a:buNone/>
              <a:defRPr sz="2400" i="0">
                <a:solidFill>
                  <a:schemeClr val="accent6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E704-8736-43EB-B790-0237AE0C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2D268-297F-4761-8EF4-DC6A0F98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endParaRPr lang="en-ID" dirty="0">
              <a:solidFill>
                <a:srgbClr val="EFEFE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180F5-C3D6-4504-BDF3-1BCE2F53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DE7881-E5A5-46DB-B675-AAD88C9EC8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3950" y="0"/>
            <a:ext cx="3514725" cy="4752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4618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70418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02065"/>
            <a:ext cx="5105927" cy="1325563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33551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B455469-8D17-467F-A532-836304E7BC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075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F294ABF-07A9-44CD-AC9B-A0922AEA59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8599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33551" y="2709727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en-ID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4E66934-F5D3-4FDA-BA1C-45655FDDA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1075" y="2709726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02</a:t>
            </a:r>
            <a:endParaRPr lang="en-ID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C5B7C1C-3DBB-4926-AA3C-772DCC1A13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8599" y="2730275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4463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192156" y="248479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244" y="248479"/>
            <a:ext cx="10760765" cy="1118562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1244" y="1623918"/>
            <a:ext cx="10760765" cy="4222078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821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63E014-1321-48E9-B52A-FB0C6219386D}"/>
              </a:ext>
            </a:extLst>
          </p:cNvPr>
          <p:cNvSpPr/>
          <p:nvPr userDrawn="1"/>
        </p:nvSpPr>
        <p:spPr>
          <a:xfrm>
            <a:off x="0" y="1583267"/>
            <a:ext cx="3167795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9408FB-A5AE-4EEB-950E-702672377409}"/>
              </a:ext>
            </a:extLst>
          </p:cNvPr>
          <p:cNvSpPr/>
          <p:nvPr userDrawn="1"/>
        </p:nvSpPr>
        <p:spPr>
          <a:xfrm>
            <a:off x="509900" y="3546662"/>
            <a:ext cx="3167795" cy="3015876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348D8E-0493-4EF1-B782-5EE808C27BA7}"/>
              </a:ext>
            </a:extLst>
          </p:cNvPr>
          <p:cNvSpPr/>
          <p:nvPr userDrawn="1"/>
        </p:nvSpPr>
        <p:spPr>
          <a:xfrm>
            <a:off x="10456333" y="1"/>
            <a:ext cx="1735666" cy="55352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9527124" y="1853679"/>
            <a:ext cx="3681241" cy="840691"/>
          </a:xfrm>
        </p:spPr>
        <p:txBody>
          <a:bodyPr>
            <a:noAutofit/>
          </a:bodyPr>
          <a:lstStyle>
            <a:lvl1pPr>
              <a:defRPr sz="5400">
                <a:solidFill>
                  <a:srgbClr val="EFEFEF"/>
                </a:solidFill>
              </a:defRPr>
            </a:lvl1pPr>
          </a:lstStyle>
          <a:p>
            <a:r>
              <a:rPr lang="en-US" dirty="0"/>
              <a:t>about us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110" y="6356350"/>
            <a:ext cx="2743200" cy="365125"/>
          </a:xfrm>
        </p:spPr>
        <p:txBody>
          <a:bodyPr/>
          <a:lstStyle/>
          <a:p>
            <a:fld id="{79AA9DB5-A1F6-4624-970D-0BADA959D4A3}" type="datetimeFigureOut">
              <a:rPr lang="en-ID" smtClean="0"/>
              <a:t>25/07/25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7596" y="6356350"/>
            <a:ext cx="4114800" cy="365125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4206" y="6356350"/>
            <a:ext cx="2743200" cy="365125"/>
          </a:xfrm>
        </p:spPr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B9D8F12-25F7-426A-B193-60FF98B29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64825" y="2472112"/>
            <a:ext cx="3005939" cy="3015876"/>
          </a:xfrm>
          <a:prstGeom prst="rect">
            <a:avLst/>
          </a:prstGeom>
          <a:ln w="7620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rgbClr val="63685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79000F2-C3BD-4EE0-A686-60147953B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2520" y="1193799"/>
            <a:ext cx="3876143" cy="3716867"/>
          </a:xfrm>
        </p:spPr>
        <p:txBody>
          <a:bodyPr/>
          <a:lstStyle>
            <a:lvl1pPr marL="0" indent="0" algn="just"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22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AF841DC-D574-4860-A54E-DCDF6F8E2BAC}"/>
              </a:ext>
            </a:extLst>
          </p:cNvPr>
          <p:cNvSpPr/>
          <p:nvPr userDrawn="1"/>
        </p:nvSpPr>
        <p:spPr>
          <a:xfrm>
            <a:off x="1105980" y="1389340"/>
            <a:ext cx="2376995" cy="2385080"/>
          </a:xfrm>
          <a:prstGeom prst="ellipse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88F14-0336-4CEB-B7E2-A0890AA0CF56}"/>
              </a:ext>
            </a:extLst>
          </p:cNvPr>
          <p:cNvSpPr/>
          <p:nvPr userDrawn="1"/>
        </p:nvSpPr>
        <p:spPr>
          <a:xfrm>
            <a:off x="2544233" y="873125"/>
            <a:ext cx="3886200" cy="50503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4C43F-DBE5-4AEA-9C3F-8E3539CAF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311997" y="3340966"/>
            <a:ext cx="4705205" cy="1325563"/>
          </a:xfrm>
        </p:spPr>
        <p:txBody>
          <a:bodyPr/>
          <a:lstStyle>
            <a:lvl1pPr algn="l">
              <a:defRPr sz="66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heading</a:t>
            </a:r>
            <a:endParaRPr lang="en-ID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7D6B8C-279B-491D-A3BC-1A71497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25/07/25</a:t>
            </a:fld>
            <a:endParaRPr lang="en-I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55452E-2FAF-4D88-880B-0CDDE3FD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29B176-3BD8-48FB-A73F-E819CB2E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6AC282-F079-475F-BD8B-2496927CC0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0363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2AC95-6CBE-4235-A692-1840BBD3E6B0}"/>
              </a:ext>
            </a:extLst>
          </p:cNvPr>
          <p:cNvSpPr/>
          <p:nvPr userDrawn="1"/>
        </p:nvSpPr>
        <p:spPr>
          <a:xfrm>
            <a:off x="6929945" y="873125"/>
            <a:ext cx="3886200" cy="50503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EFE4270-4E02-42BA-84A0-06536195F3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69141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E017B-1E6F-4206-BCBD-97EAC2046E15}"/>
              </a:ext>
            </a:extLst>
          </p:cNvPr>
          <p:cNvSpPr/>
          <p:nvPr userDrawn="1"/>
        </p:nvSpPr>
        <p:spPr>
          <a:xfrm>
            <a:off x="9647767" y="4941358"/>
            <a:ext cx="2544233" cy="161925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511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9AFA-F1A4-4219-979B-6CECB1B29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3922" y="3429000"/>
            <a:ext cx="3823528" cy="1645189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one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0B6C0-F851-4755-8DFC-C25496DDE4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523922" y="5101177"/>
            <a:ext cx="3823528" cy="548145"/>
          </a:xfrm>
        </p:spPr>
        <p:txBody>
          <a:bodyPr/>
          <a:lstStyle>
            <a:lvl1pPr marL="0" indent="0">
              <a:buNone/>
              <a:defRPr sz="2400">
                <a:solidFill>
                  <a:srgbClr val="76838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E03B-7B5E-468E-A317-7B5F0B33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3C55C-16DA-450F-AED0-FF4EEBF3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842-8D05-4CC8-A307-EDD41A3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026D4-5A09-4BF1-92DC-7B7C5907F5F4}"/>
              </a:ext>
            </a:extLst>
          </p:cNvPr>
          <p:cNvSpPr/>
          <p:nvPr userDrawn="1"/>
        </p:nvSpPr>
        <p:spPr>
          <a:xfrm>
            <a:off x="2641602" y="0"/>
            <a:ext cx="1346200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B9FB54-2CFF-4F2A-8435-00E9AC2BAB52}"/>
              </a:ext>
            </a:extLst>
          </p:cNvPr>
          <p:cNvSpPr/>
          <p:nvPr userDrawn="1"/>
        </p:nvSpPr>
        <p:spPr>
          <a:xfrm>
            <a:off x="3133142" y="1481495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891652-7A20-4E89-A6F3-F4466C0F1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9342" y="2888186"/>
            <a:ext cx="1600201" cy="1081627"/>
          </a:xfrm>
        </p:spPr>
        <p:txBody>
          <a:bodyPr>
            <a:noAutofit/>
          </a:bodyPr>
          <a:lstStyle>
            <a:lvl1pPr>
              <a:buNone/>
              <a:defRPr sz="7200">
                <a:latin typeface="+mj-lt"/>
              </a:defRPr>
            </a:lvl1pPr>
          </a:lstStyle>
          <a:p>
            <a:pPr lvl="0"/>
            <a:r>
              <a:rPr lang="en-US" dirty="0"/>
              <a:t>01.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38507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733045-AE48-4203-B7B6-A2CEF026459C}"/>
              </a:ext>
            </a:extLst>
          </p:cNvPr>
          <p:cNvSpPr/>
          <p:nvPr userDrawn="1"/>
        </p:nvSpPr>
        <p:spPr>
          <a:xfrm>
            <a:off x="9667874" y="1005191"/>
            <a:ext cx="2524125" cy="5050367"/>
          </a:xfrm>
          <a:prstGeom prst="rect">
            <a:avLst/>
          </a:prstGeom>
          <a:solidFill>
            <a:srgbClr val="656A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D448-C2E1-4A6B-A6C4-73B446CAC7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00982" y="576471"/>
            <a:ext cx="7474054" cy="505036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Pointers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416728" y="2803765"/>
            <a:ext cx="6509855" cy="1325563"/>
          </a:xfrm>
        </p:spPr>
        <p:txBody>
          <a:bodyPr/>
          <a:lstStyle>
            <a:lvl1pPr algn="ctr">
              <a:defRPr sz="660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headlines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5343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078" y="604440"/>
            <a:ext cx="2856321" cy="1373447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50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EB17F-2A02-4B77-A3AA-8A73C43E030C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FA92-5BC4-4C76-AB3A-F07382CE2FE7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D047C3-3A14-48B9-97EF-583EA3664C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3E29AE-4369-4A02-9329-B575450E55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038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 dirty="0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7751" y="561766"/>
            <a:ext cx="4505326" cy="1325563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r"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 dirty="0"/>
              <a:t>Caption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605E1E-A41F-4026-B324-E493E8629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 anchor="t">
            <a:normAutofit/>
          </a:bodyPr>
          <a:lstStyle>
            <a:lvl1pPr algn="r"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A69C2-8380-4B7A-AF27-D3663FC0B534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E118BF-7505-45FF-92D5-F46BE28949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1" y="561766"/>
            <a:ext cx="5741988" cy="50240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909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7E9D182-679B-449F-AB58-AE0696AF19FC}"/>
              </a:ext>
            </a:extLst>
          </p:cNvPr>
          <p:cNvSpPr/>
          <p:nvPr userDrawn="1"/>
        </p:nvSpPr>
        <p:spPr>
          <a:xfrm>
            <a:off x="6388100" y="1019703"/>
            <a:ext cx="2582333" cy="2582333"/>
          </a:xfrm>
          <a:prstGeom prst="ellipse">
            <a:avLst/>
          </a:prstGeom>
          <a:solidFill>
            <a:srgbClr val="636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1818F-A3F6-4729-A6E3-846786BC5639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0614-111B-481D-B661-7F1BC0215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103" y="223091"/>
            <a:ext cx="5394193" cy="1185916"/>
          </a:xfrm>
        </p:spPr>
        <p:txBody>
          <a:bodyPr anchor="b"/>
          <a:lstStyle>
            <a:lvl1pPr>
              <a:defRPr sz="6000">
                <a:solidFill>
                  <a:srgbClr val="353638"/>
                </a:solidFill>
              </a:defRPr>
            </a:lvl1pPr>
          </a:lstStyle>
          <a:p>
            <a:r>
              <a:rPr lang="en-US" dirty="0"/>
              <a:t>heading</a:t>
            </a:r>
            <a:endParaRPr lang="en-ID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6262B-23B8-4AB8-A52A-A96F9FF6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B139A-A351-4040-A6D4-8C0AC653C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endParaRPr lang="en-ID" dirty="0">
              <a:solidFill>
                <a:srgbClr val="35363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01873-32A3-4CC1-8939-73F0B43D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5FDF9DBB-F6E4-49E6-91A7-3787355D4A1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08102" y="1554481"/>
            <a:ext cx="5394193" cy="461528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544C3-7AB9-446F-B7CB-6EC90ED4D621}"/>
              </a:ext>
            </a:extLst>
          </p:cNvPr>
          <p:cNvSpPr/>
          <p:nvPr userDrawn="1"/>
        </p:nvSpPr>
        <p:spPr>
          <a:xfrm>
            <a:off x="7469714" y="2175403"/>
            <a:ext cx="2142067" cy="13546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02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EE02BF-95CD-4681-9CD4-193772568AB0}"/>
              </a:ext>
            </a:extLst>
          </p:cNvPr>
          <p:cNvSpPr/>
          <p:nvPr userDrawn="1"/>
        </p:nvSpPr>
        <p:spPr>
          <a:xfrm>
            <a:off x="0" y="1977887"/>
            <a:ext cx="1346200" cy="43784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24A95-F3A6-4009-9B14-091B146F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9DB5-A1F6-4624-970D-0BADA959D4A3}" type="datetimeFigureOut">
              <a:rPr lang="en-ID" smtClean="0"/>
              <a:t>25/07/25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536-94BF-4A7B-A629-1E4C5D3C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20CA9-CEDE-4609-BDD5-29AC30C2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39C5DDE-7DF8-4141-A25B-797D71AB3A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18328" y="403692"/>
            <a:ext cx="8650941" cy="556680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NZ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C51530-0D98-4F9E-AD07-640FAF20AF4F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A9FDC3-F541-464C-AD32-6B0F5284AF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9" y="403692"/>
            <a:ext cx="2856321" cy="1574195"/>
          </a:xfrm>
        </p:spPr>
        <p:txBody>
          <a:bodyPr>
            <a:normAutofit/>
          </a:bodyPr>
          <a:lstStyle>
            <a:lvl1pPr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 dirty="0"/>
              <a:t>Picture Title</a:t>
            </a:r>
            <a:endParaRPr lang="en-ID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C31BCC-2FC0-42D9-B311-222BD6C547E3}"/>
              </a:ext>
            </a:extLst>
          </p:cNvPr>
          <p:cNvSpPr/>
          <p:nvPr userDrawn="1"/>
        </p:nvSpPr>
        <p:spPr>
          <a:xfrm>
            <a:off x="232019" y="3187093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03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268817"/>
            <a:ext cx="11658600" cy="6332008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96672" y="1355179"/>
            <a:ext cx="7611034" cy="3444874"/>
          </a:xfrm>
        </p:spPr>
        <p:txBody>
          <a:bodyPr>
            <a:noAutofit/>
          </a:bodyPr>
          <a:lstStyle>
            <a:lvl1pPr algn="ctr">
              <a:defRPr sz="4800">
                <a:solidFill>
                  <a:srgbClr val="EFEFEF"/>
                </a:solidFill>
              </a:defRPr>
            </a:lvl1pPr>
          </a:lstStyle>
          <a:p>
            <a:r>
              <a:rPr lang="en-US" dirty="0"/>
              <a:t>quote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endParaRPr lang="en-ID">
              <a:solidFill>
                <a:srgbClr val="EFEFE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5337358"/>
            <a:ext cx="2609850" cy="463367"/>
          </a:xfrm>
        </p:spPr>
        <p:txBody>
          <a:bodyPr anchor="t">
            <a:normAutofit/>
          </a:bodyPr>
          <a:lstStyle>
            <a:lvl1pPr algn="r">
              <a:buNone/>
              <a:defRPr sz="2800">
                <a:solidFill>
                  <a:srgbClr val="76838B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- author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5F29E-4C36-40B4-A4AE-4B16EEA6E266}"/>
              </a:ext>
            </a:extLst>
          </p:cNvPr>
          <p:cNvSpPr txBox="1"/>
          <p:nvPr userDrawn="1"/>
        </p:nvSpPr>
        <p:spPr>
          <a:xfrm>
            <a:off x="1409380" y="1016950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 dirty="0">
                <a:solidFill>
                  <a:srgbClr val="76838B"/>
                </a:solidFill>
              </a:rPr>
              <a:t>“</a:t>
            </a:r>
            <a:endParaRPr lang="en-ID" sz="14000" dirty="0">
              <a:solidFill>
                <a:srgbClr val="76838B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68F2E-85D4-46F6-9DAC-5164D0D5E5E4}"/>
              </a:ext>
            </a:extLst>
          </p:cNvPr>
          <p:cNvSpPr txBox="1"/>
          <p:nvPr userDrawn="1"/>
        </p:nvSpPr>
        <p:spPr>
          <a:xfrm rot="10800000">
            <a:off x="10184336" y="2923352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 dirty="0">
                <a:solidFill>
                  <a:srgbClr val="76838B"/>
                </a:solidFill>
              </a:rPr>
              <a:t>“</a:t>
            </a:r>
            <a:endParaRPr lang="en-ID" sz="14000" dirty="0">
              <a:solidFill>
                <a:srgbClr val="7683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186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3F4D9-F45E-4139-83D5-0A380321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79AA9DB5-A1F6-4624-970D-0BADA959D4A3}" type="datetimeFigureOut">
              <a:rPr lang="en-ID" smtClean="0"/>
              <a:pPr/>
              <a:t>25/07/25</a:t>
            </a:fld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FFC3C-1755-45B8-9A15-FA947DE4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CD62-6ACA-41C3-A1AF-76FB3AAE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2377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A0222F-D62F-406C-831B-F7B668668BA5}"/>
              </a:ext>
            </a:extLst>
          </p:cNvPr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DB7B4A-4C19-49D3-A9B4-3702E72C592C}"/>
                </a:ext>
              </a:extLst>
            </p:cNvPr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D09E529-77FA-492E-8193-4C2A890838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347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83DA2-AB58-40A9-9F27-C89AC861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080" y="365125"/>
            <a:ext cx="81199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AB1CE-4A8A-481A-9353-A480D2634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7080" y="1825625"/>
            <a:ext cx="81199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2708-E52D-4103-9A98-C480CDECD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A9DB5-A1F6-4624-970D-0BADA959D4A3}" type="datetimeFigureOut">
              <a:rPr lang="en-ID" smtClean="0"/>
              <a:t>25/07/25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8837-B0F6-4426-8862-F133D501E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32B1A-B0B9-4218-96CA-0C74E0290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176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5" r:id="rId3"/>
    <p:sldLayoutId id="2147483657" r:id="rId4"/>
    <p:sldLayoutId id="2147483661" r:id="rId5"/>
    <p:sldLayoutId id="2147483651" r:id="rId6"/>
    <p:sldLayoutId id="2147483650" r:id="rId7"/>
    <p:sldLayoutId id="2147483658" r:id="rId8"/>
    <p:sldLayoutId id="2147483659" r:id="rId9"/>
    <p:sldLayoutId id="2147483663" r:id="rId10"/>
    <p:sldLayoutId id="2147483664" r:id="rId11"/>
    <p:sldLayoutId id="2147483662" r:id="rId12"/>
    <p:sldLayoutId id="2147483655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3685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>
          <a:tab pos="1885950" algn="l"/>
        </a:tabLst>
        <a:defRPr sz="2800" kern="1200">
          <a:solidFill>
            <a:srgbClr val="76838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400" kern="1200">
          <a:solidFill>
            <a:srgbClr val="76838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000" kern="1200">
          <a:solidFill>
            <a:srgbClr val="76838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  <a:cs typeface="Calibri"/>
              </a:rPr>
              <a:t>115.113 </a:t>
            </a:r>
            <a:r>
              <a:rPr lang="en-GB">
                <a:latin typeface="+mn-lt"/>
                <a:cs typeface="Calibri"/>
              </a:rPr>
              <a:t>Lecture 3</a:t>
            </a:r>
            <a:endParaRPr lang="en-GB" dirty="0">
              <a:latin typeface="+mn-lt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Economics For Business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ABB80B4-791C-D382-8391-A344AF2587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5" r="22555"/>
          <a:stretch/>
        </p:blipFill>
        <p:spPr>
          <a:xfrm>
            <a:off x="1123950" y="0"/>
            <a:ext cx="3514725" cy="4752975"/>
          </a:xfrm>
        </p:spPr>
      </p:pic>
    </p:spTree>
    <p:extLst>
      <p:ext uri="{BB962C8B-B14F-4D97-AF65-F5344CB8AC3E}">
        <p14:creationId xmlns:p14="http://schemas.microsoft.com/office/powerpoint/2010/main" val="98302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D20E-639A-8EFF-37D1-B42B49D5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82D61-CB85-A7EA-AC7F-9D8668CDAD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14.1 to 14.2</a:t>
            </a:r>
          </a:p>
          <a:p>
            <a:r>
              <a:rPr lang="en-NZ" dirty="0"/>
              <a:t>14.5 to 14.8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EB57A-9EF5-237E-F24D-64C77C32EE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 dirty="0"/>
              <a:t>Aggregate Demand function and multiplier model</a:t>
            </a:r>
          </a:p>
          <a:p>
            <a:r>
              <a:rPr lang="en-NZ" dirty="0"/>
              <a:t>The role of the Government</a:t>
            </a:r>
          </a:p>
          <a:p>
            <a:r>
              <a:rPr lang="en-NZ" dirty="0"/>
              <a:t>The effect of debt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E78839-33FB-CD80-31C5-57354772D9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NZ" dirty="0"/>
              <a:t>Aggregate Demand</a:t>
            </a:r>
          </a:p>
          <a:p>
            <a:r>
              <a:rPr lang="en-NZ" dirty="0"/>
              <a:t>Fiscal policy</a:t>
            </a:r>
          </a:p>
          <a:p>
            <a:r>
              <a:rPr lang="en-NZ" dirty="0"/>
              <a:t>Multiplier</a:t>
            </a:r>
          </a:p>
          <a:p>
            <a:r>
              <a:rPr lang="en-NZ"/>
              <a:t>Government Debt</a:t>
            </a:r>
            <a:endParaRPr lang="en-NZ" dirty="0"/>
          </a:p>
          <a:p>
            <a:endParaRPr lang="en-NZ" dirty="0"/>
          </a:p>
          <a:p>
            <a:endParaRPr lang="en-N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DD5CE8-7A36-4996-DC39-89CCF82F67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NZ" dirty="0"/>
              <a:t>Readings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909389-B55E-B4DC-C6BE-10152F58CE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NZ" dirty="0"/>
              <a:t>Outline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CFAAEF-CBFF-9108-1D5A-31948958EE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/>
          </a:bodyPr>
          <a:lstStyle/>
          <a:p>
            <a:r>
              <a:rPr lang="en-NZ" dirty="0"/>
              <a:t>Key words</a:t>
            </a:r>
          </a:p>
        </p:txBody>
      </p:sp>
    </p:spTree>
    <p:extLst>
      <p:ext uri="{BB962C8B-B14F-4D97-AF65-F5344CB8AC3E}">
        <p14:creationId xmlns:p14="http://schemas.microsoft.com/office/powerpoint/2010/main" val="294662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20FAB3B-E058-FF94-A2EB-5FF816D7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/>
          <a:lstStyle/>
          <a:p>
            <a:r>
              <a:rPr lang="en-US" dirty="0"/>
              <a:t>NZ Economy</a:t>
            </a:r>
          </a:p>
        </p:txBody>
      </p:sp>
      <p:pic>
        <p:nvPicPr>
          <p:cNvPr id="5" name="Picture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6C27E111-4127-A942-EF4C-95A30588CA5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1185149"/>
            <a:ext cx="7175500" cy="3820953"/>
          </a:xfrm>
          <a:noFill/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300950B-602D-C240-4564-C6BF9E3816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Since early 2007 the Unemployment Rate has fluctuated.</a:t>
            </a:r>
          </a:p>
          <a:p>
            <a:r>
              <a:rPr lang="en-US" dirty="0"/>
              <a:t>What was associated with the visible surges?</a:t>
            </a:r>
          </a:p>
        </p:txBody>
      </p:sp>
    </p:spTree>
    <p:extLst>
      <p:ext uri="{BB962C8B-B14F-4D97-AF65-F5344CB8AC3E}">
        <p14:creationId xmlns:p14="http://schemas.microsoft.com/office/powerpoint/2010/main" val="25298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5EB74D-A960-4F40-87CF-9E8FCAE82F49}"/>
              </a:ext>
            </a:extLst>
          </p:cNvPr>
          <p:cNvSpPr/>
          <p:nvPr/>
        </p:nvSpPr>
        <p:spPr>
          <a:xfrm>
            <a:off x="7523922" y="3429000"/>
            <a:ext cx="3823528" cy="16451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75000"/>
                  </a:schemeClr>
                </a:solidFill>
                <a:ea typeface="+mj-ea"/>
                <a:cs typeface="+mj-cs"/>
              </a:rPr>
              <a:t>INTRODUCTION</a:t>
            </a:r>
            <a:endParaRPr lang="en-NZ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>
                  <a:lumMod val="75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42992F-F618-945F-1FAC-5EEB831A8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3922" y="5101177"/>
            <a:ext cx="3823528" cy="548145"/>
          </a:xfrm>
        </p:spPr>
        <p:txBody>
          <a:bodyPr/>
          <a:lstStyle/>
          <a:p>
            <a:r>
              <a:rPr lang="en-US" dirty="0"/>
              <a:t>Aggregate Demand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E7F6944-6CFA-A51A-05D5-E7796E4E6D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79342" y="2888186"/>
            <a:ext cx="1600201" cy="108162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63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300" dirty="0"/>
              <a:t>Context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02FB88-E392-1F94-F73A-23D9B61B2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878645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82E46FC-792C-45CA-D2AC-A8D070F3D3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Aggregate Demand (GDP) fluctuates due to consumption and investment decisions</a:t>
            </a:r>
          </a:p>
        </p:txBody>
      </p:sp>
    </p:spTree>
    <p:extLst>
      <p:ext uri="{BB962C8B-B14F-4D97-AF65-F5344CB8AC3E}">
        <p14:creationId xmlns:p14="http://schemas.microsoft.com/office/powerpoint/2010/main" val="44257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2963-E8B2-A4C4-D1F1-F4C7E63D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Aggregate Demand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0241C-CD80-5819-1DA4-0EB2FCB8C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Introducing the Multiplier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E9A3C-212A-2131-3EC4-08FDA11FDF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 dirty="0"/>
              <a:t>02.</a:t>
            </a:r>
          </a:p>
        </p:txBody>
      </p:sp>
    </p:spTree>
    <p:extLst>
      <p:ext uri="{BB962C8B-B14F-4D97-AF65-F5344CB8AC3E}">
        <p14:creationId xmlns:p14="http://schemas.microsoft.com/office/powerpoint/2010/main" val="144659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D777-DFC1-A59D-9446-2FE8F856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Aggregate Demand = </a:t>
            </a:r>
            <a:br>
              <a:rPr lang="en-NZ" dirty="0"/>
            </a:br>
            <a:r>
              <a:rPr lang="en-NZ" dirty="0"/>
              <a:t>C + I + G + X - 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8D41C-AF22-482E-6F45-A1E8061E6F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NZ" dirty="0"/>
              <a:t>GDP (expenditure approach)</a:t>
            </a:r>
          </a:p>
        </p:txBody>
      </p:sp>
    </p:spTree>
    <p:extLst>
      <p:ext uri="{BB962C8B-B14F-4D97-AF65-F5344CB8AC3E}">
        <p14:creationId xmlns:p14="http://schemas.microsoft.com/office/powerpoint/2010/main" val="312309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900"/>
              <a:t>Consumption function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6EC7EBB-DD2D-ECC9-9366-55AC0B47B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3505887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A202B94-B43D-C19A-1E2C-12D4D58F78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sz="2000" b="1" dirty="0">
                <a:solidFill>
                  <a:schemeClr val="tx1">
                    <a:lumMod val="75000"/>
                  </a:schemeClr>
                </a:solidFill>
              </a:rPr>
              <a:t>Aggregate consumption (C) 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has two parts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755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GB" sz="3900"/>
              <a:t>Consumption function</a:t>
            </a:r>
          </a:p>
        </p:txBody>
      </p:sp>
      <p:pic>
        <p:nvPicPr>
          <p:cNvPr id="3" name="Consumption Function.mp4">
            <a:hlinkClick r:id="" action="ppaction://media"/>
            <a:extLst>
              <a:ext uri="{FF2B5EF4-FFF2-40B4-BE49-F238E27FC236}">
                <a16:creationId xmlns:a16="http://schemas.microsoft.com/office/drawing/2014/main" id="{B16782E8-CB7B-AE56-E03F-7BFF739EA6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13225" y="604838"/>
            <a:ext cx="6642099" cy="4981575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09222B7-ABBC-1A29-106B-AB65581D3A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/>
          <a:p>
            <a:r>
              <a:rPr lang="en-US" dirty="0"/>
              <a:t>In this example, aggregate spending by households rises 60c for every dollar of income.</a:t>
            </a:r>
          </a:p>
          <a:p>
            <a:r>
              <a:rPr lang="en-US" dirty="0"/>
              <a:t>The other 40c are saved.</a:t>
            </a:r>
          </a:p>
        </p:txBody>
      </p:sp>
    </p:spTree>
    <p:extLst>
      <p:ext uri="{BB962C8B-B14F-4D97-AF65-F5344CB8AC3E}">
        <p14:creationId xmlns:p14="http://schemas.microsoft.com/office/powerpoint/2010/main" val="104759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2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900"/>
              <a:t>Consumption function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ECF50E0-22EE-F5A3-274E-391609CD9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8297129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AF50602-0F24-1B90-EA34-48FDEFF3CB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sz="2000" b="1" dirty="0">
                <a:solidFill>
                  <a:schemeClr val="tx1">
                    <a:lumMod val="75000"/>
                  </a:schemeClr>
                </a:solidFill>
              </a:rPr>
              <a:t>Marginal propensity to consume 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varies across people (and countries):</a:t>
            </a:r>
          </a:p>
        </p:txBody>
      </p:sp>
    </p:spTree>
    <p:extLst>
      <p:ext uri="{BB962C8B-B14F-4D97-AF65-F5344CB8AC3E}">
        <p14:creationId xmlns:p14="http://schemas.microsoft.com/office/powerpoint/2010/main" val="98067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C80901-E213-E66C-8F0C-A8078E2EA3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674986"/>
              </p:ext>
            </p:extLst>
          </p:nvPr>
        </p:nvGraphicFramePr>
        <p:xfrm>
          <a:off x="1500982" y="576471"/>
          <a:ext cx="7474054" cy="5050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154546C-2C3C-A9DC-40C3-3C9EA86C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45152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26D5-9049-5449-8A59-CCCC3E3FE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Model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2D5BC-7B8B-EABA-855B-35B04F707B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In this simple model there is no Government or External Sector</a:t>
            </a:r>
          </a:p>
          <a:p>
            <a:r>
              <a:rPr lang="en-NZ" dirty="0"/>
              <a:t>Y = AD = C + I</a:t>
            </a:r>
          </a:p>
          <a:p>
            <a:r>
              <a:rPr lang="en-NZ" dirty="0"/>
              <a:t>Investment is independent of income</a:t>
            </a:r>
          </a:p>
        </p:txBody>
      </p:sp>
      <p:pic>
        <p:nvPicPr>
          <p:cNvPr id="11" name="Model 1.mp4">
            <a:hlinkClick r:id="" action="ppaction://media"/>
            <a:extLst>
              <a:ext uri="{FF2B5EF4-FFF2-40B4-BE49-F238E27FC236}">
                <a16:creationId xmlns:a16="http://schemas.microsoft.com/office/drawing/2014/main" id="{DC2942EF-59FD-F028-5A94-C897C628E94F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17988" y="604838"/>
            <a:ext cx="6632575" cy="4981575"/>
          </a:xfrm>
        </p:spPr>
      </p:pic>
    </p:spTree>
    <p:extLst>
      <p:ext uri="{BB962C8B-B14F-4D97-AF65-F5344CB8AC3E}">
        <p14:creationId xmlns:p14="http://schemas.microsoft.com/office/powerpoint/2010/main" val="48935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2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26D5-9049-5449-8A59-CCCC3E3F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dirty="0"/>
              <a:t>Model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2D5BC-7B8B-EABA-855B-35B04F707B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/>
          <a:p>
            <a:r>
              <a:rPr lang="en-NZ" dirty="0"/>
              <a:t>The slope of the AD line &lt;1 because the MPC is &lt; 1. </a:t>
            </a:r>
          </a:p>
          <a:p>
            <a:r>
              <a:rPr lang="en-NZ" dirty="0"/>
              <a:t>The 45-degree line is shows where income equals spending.</a:t>
            </a:r>
          </a:p>
          <a:p>
            <a:r>
              <a:rPr lang="en-NZ" dirty="0"/>
              <a:t>The intersection of AD and 45</a:t>
            </a:r>
            <a:r>
              <a:rPr lang="en-NZ" dirty="0">
                <a:sym typeface="Symbol" panose="05050102010706020507" pitchFamily="18" charset="2"/>
              </a:rPr>
              <a:t>line (A) is </a:t>
            </a:r>
            <a:r>
              <a:rPr lang="en-NZ" b="1" dirty="0">
                <a:sym typeface="Symbol" panose="05050102010706020507" pitchFamily="18" charset="2"/>
              </a:rPr>
              <a:t>goods market equilibrium</a:t>
            </a:r>
            <a:endParaRPr lang="en-NZ" b="1" dirty="0"/>
          </a:p>
        </p:txBody>
      </p:sp>
      <p:pic>
        <p:nvPicPr>
          <p:cNvPr id="8" name="Content Placeholder 7" descr="A diagram of a graph&#10;&#10;AI-generated content may be incorrect.">
            <a:extLst>
              <a:ext uri="{FF2B5EF4-FFF2-40B4-BE49-F238E27FC236}">
                <a16:creationId xmlns:a16="http://schemas.microsoft.com/office/drawing/2014/main" id="{82426001-2FAB-BBA1-3900-E5467B75A9F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10"/>
          <a:stretch>
            <a:fillRect/>
          </a:stretch>
        </p:blipFill>
        <p:spPr>
          <a:xfrm>
            <a:off x="4132261" y="1174551"/>
            <a:ext cx="6836709" cy="4508897"/>
          </a:xfrm>
        </p:spPr>
      </p:pic>
    </p:spTree>
    <p:extLst>
      <p:ext uri="{BB962C8B-B14F-4D97-AF65-F5344CB8AC3E}">
        <p14:creationId xmlns:p14="http://schemas.microsoft.com/office/powerpoint/2010/main" val="1974805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96DED5E3-F8AB-8FF1-9F8B-4A95547BEF63}"/>
              </a:ext>
            </a:extLst>
          </p:cNvPr>
          <p:cNvSpPr/>
          <p:nvPr/>
        </p:nvSpPr>
        <p:spPr>
          <a:xfrm rot="5400000">
            <a:off x="3166843" y="1945251"/>
            <a:ext cx="3858929" cy="3280088"/>
          </a:xfrm>
          <a:prstGeom prst="rtTriangl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12ADD30D-042C-5636-D517-0DE0DF3D7705}"/>
              </a:ext>
            </a:extLst>
          </p:cNvPr>
          <p:cNvSpPr/>
          <p:nvPr/>
        </p:nvSpPr>
        <p:spPr>
          <a:xfrm rot="16200000">
            <a:off x="3170852" y="1971232"/>
            <a:ext cx="3850912" cy="3280092"/>
          </a:xfrm>
          <a:prstGeom prst="rt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F2866-843A-BFD4-3112-4A578E27F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i-NZ" dirty="0" err="1"/>
              <a:t>Disequilibrium</a:t>
            </a:r>
            <a:r>
              <a:rPr lang="mi-NZ" dirty="0"/>
              <a:t> </a:t>
            </a:r>
            <a:r>
              <a:rPr lang="mi-NZ" dirty="0" err="1"/>
              <a:t>Illustrated</a:t>
            </a:r>
            <a:endParaRPr lang="en-NZ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325AC-B6C8-6493-E26A-8D75F2EB728D}"/>
              </a:ext>
            </a:extLst>
          </p:cNvPr>
          <p:cNvSpPr txBox="1"/>
          <p:nvPr/>
        </p:nvSpPr>
        <p:spPr>
          <a:xfrm rot="16200000">
            <a:off x="1850571" y="3233959"/>
            <a:ext cx="2290194" cy="36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Aggregate Demand</a:t>
            </a:r>
            <a:endParaRPr lang="en-NZ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6A7E5-C44C-8695-2678-637EC334DC67}"/>
              </a:ext>
            </a:extLst>
          </p:cNvPr>
          <p:cNvSpPr txBox="1"/>
          <p:nvPr/>
        </p:nvSpPr>
        <p:spPr>
          <a:xfrm>
            <a:off x="5486400" y="5614645"/>
            <a:ext cx="3405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 Output = Income</a:t>
            </a:r>
            <a:endParaRPr lang="en-NZ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188F8B-2F5C-1A28-6B05-43CBBE1B017A}"/>
              </a:ext>
            </a:extLst>
          </p:cNvPr>
          <p:cNvCxnSpPr/>
          <p:nvPr/>
        </p:nvCxnSpPr>
        <p:spPr>
          <a:xfrm>
            <a:off x="3456264" y="5536734"/>
            <a:ext cx="598974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399B5C-922B-B3EC-0D11-8981B124006B}"/>
              </a:ext>
            </a:extLst>
          </p:cNvPr>
          <p:cNvCxnSpPr/>
          <p:nvPr/>
        </p:nvCxnSpPr>
        <p:spPr>
          <a:xfrm flipV="1">
            <a:off x="3456264" y="1510018"/>
            <a:ext cx="0" cy="402671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3C228A-3955-A83B-6942-94C8AF8B42BA}"/>
              </a:ext>
            </a:extLst>
          </p:cNvPr>
          <p:cNvCxnSpPr/>
          <p:nvPr/>
        </p:nvCxnSpPr>
        <p:spPr>
          <a:xfrm>
            <a:off x="3456261" y="4572000"/>
            <a:ext cx="22653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2F657E-1473-9F66-F01A-ED478361C0D9}"/>
              </a:ext>
            </a:extLst>
          </p:cNvPr>
          <p:cNvCxnSpPr/>
          <p:nvPr/>
        </p:nvCxnSpPr>
        <p:spPr>
          <a:xfrm>
            <a:off x="5721626" y="4563611"/>
            <a:ext cx="0" cy="951149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91D6F1C-7E26-6923-8EC6-4B6DF7A5F6D3}"/>
              </a:ext>
            </a:extLst>
          </p:cNvPr>
          <p:cNvCxnSpPr/>
          <p:nvPr/>
        </p:nvCxnSpPr>
        <p:spPr>
          <a:xfrm>
            <a:off x="3456261" y="2474752"/>
            <a:ext cx="964737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1F1E7C-1890-579E-0504-E7A4B40D3C6A}"/>
              </a:ext>
            </a:extLst>
          </p:cNvPr>
          <p:cNvCxnSpPr/>
          <p:nvPr/>
        </p:nvCxnSpPr>
        <p:spPr>
          <a:xfrm>
            <a:off x="4404220" y="2474752"/>
            <a:ext cx="0" cy="3040008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9A15DA1-93C3-21E4-E0E2-76B4E4821248}"/>
              </a:ext>
            </a:extLst>
          </p:cNvPr>
          <p:cNvSpPr/>
          <p:nvPr/>
        </p:nvSpPr>
        <p:spPr>
          <a:xfrm>
            <a:off x="5684043" y="4502476"/>
            <a:ext cx="75167" cy="922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0E7721B-5350-F294-7A58-84F706634167}"/>
              </a:ext>
            </a:extLst>
          </p:cNvPr>
          <p:cNvSpPr/>
          <p:nvPr/>
        </p:nvSpPr>
        <p:spPr>
          <a:xfrm>
            <a:off x="4369068" y="2452778"/>
            <a:ext cx="75167" cy="922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ACC3CB-CE67-5D5B-50CB-7456B8DC799E}"/>
              </a:ext>
            </a:extLst>
          </p:cNvPr>
          <p:cNvSpPr txBox="1"/>
          <p:nvPr/>
        </p:nvSpPr>
        <p:spPr>
          <a:xfrm>
            <a:off x="3766657" y="1912690"/>
            <a:ext cx="1992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Spending &gt; Y</a:t>
            </a:r>
            <a:endParaRPr lang="en-NZ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21002A-9B7B-5902-DE0A-6B39899463EC}"/>
              </a:ext>
            </a:extLst>
          </p:cNvPr>
          <p:cNvSpPr txBox="1"/>
          <p:nvPr/>
        </p:nvSpPr>
        <p:spPr>
          <a:xfrm>
            <a:off x="5061785" y="4233860"/>
            <a:ext cx="1992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Spending &lt; Y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2766879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F9A6D0-130A-AE69-16F1-2F30807FD1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65242"/>
              </p:ext>
            </p:extLst>
          </p:nvPr>
        </p:nvGraphicFramePr>
        <p:xfrm>
          <a:off x="1500982" y="576471"/>
          <a:ext cx="7474054" cy="5050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C7B9697-9D15-EDF2-D6D8-B6F3D9A6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Goods Market Equilibrium</a:t>
            </a:r>
          </a:p>
        </p:txBody>
      </p:sp>
    </p:spTree>
    <p:extLst>
      <p:ext uri="{BB962C8B-B14F-4D97-AF65-F5344CB8AC3E}">
        <p14:creationId xmlns:p14="http://schemas.microsoft.com/office/powerpoint/2010/main" val="2364713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E1339C-1CC4-EA9F-C31D-AA8FBAE37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4600"/>
              <a:t>Numerical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8F7BAB-6967-1222-468C-6A8DFBC19D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>
            <a:normAutofit/>
          </a:bodyPr>
          <a:lstStyle/>
          <a:p>
            <a:r>
              <a:rPr lang="en-NZ" dirty="0"/>
              <a:t>Y = C +I</a:t>
            </a:r>
          </a:p>
          <a:p>
            <a:pPr lvl="1"/>
            <a:r>
              <a:rPr lang="en-NZ" sz="2800" dirty="0"/>
              <a:t>Y = C* + </a:t>
            </a:r>
            <a:r>
              <a:rPr lang="en-NZ" sz="2800" dirty="0" err="1"/>
              <a:t>cY</a:t>
            </a:r>
            <a:r>
              <a:rPr lang="en-NZ" sz="2800" dirty="0"/>
              <a:t> + I*</a:t>
            </a:r>
          </a:p>
          <a:p>
            <a:r>
              <a:rPr lang="en-NZ" dirty="0"/>
              <a:t>Y = 100 + 0.8Y + 200</a:t>
            </a:r>
          </a:p>
          <a:p>
            <a:pPr lvl="1"/>
            <a:r>
              <a:rPr lang="en-NZ" sz="2800" dirty="0"/>
              <a:t>Y=0.8Y + 300</a:t>
            </a:r>
          </a:p>
          <a:p>
            <a:pPr lvl="1"/>
            <a:r>
              <a:rPr lang="en-NZ" sz="2800" dirty="0"/>
              <a:t>Y – 0.8Y = 300</a:t>
            </a:r>
          </a:p>
          <a:p>
            <a:pPr lvl="1"/>
            <a:r>
              <a:rPr lang="en-NZ" sz="2800" dirty="0">
                <a:solidFill>
                  <a:srgbClr val="C00000"/>
                </a:solidFill>
              </a:rPr>
              <a:t>(1-0.8)</a:t>
            </a:r>
            <a:r>
              <a:rPr lang="en-NZ" sz="2800" dirty="0"/>
              <a:t>Y = 300</a:t>
            </a:r>
          </a:p>
          <a:p>
            <a:r>
              <a:rPr lang="en-NZ" dirty="0"/>
              <a:t>Y</a:t>
            </a:r>
            <a:r>
              <a:rPr lang="en-NZ" baseline="-25000" dirty="0"/>
              <a:t>e</a:t>
            </a:r>
            <a:r>
              <a:rPr lang="en-NZ" dirty="0"/>
              <a:t> = 300/(1-0.8)</a:t>
            </a:r>
          </a:p>
          <a:p>
            <a:pPr lvl="1"/>
            <a:r>
              <a:rPr lang="en-NZ" sz="2800" dirty="0"/>
              <a:t>Y</a:t>
            </a:r>
            <a:r>
              <a:rPr lang="en-NZ" sz="2800" baseline="-25000" dirty="0"/>
              <a:t>e</a:t>
            </a:r>
            <a:r>
              <a:rPr lang="en-NZ" sz="2800" dirty="0"/>
              <a:t> = 300/(0.2)</a:t>
            </a:r>
          </a:p>
          <a:p>
            <a:pPr lvl="1"/>
            <a:r>
              <a:rPr lang="en-NZ" sz="2800" dirty="0"/>
              <a:t>Y</a:t>
            </a:r>
            <a:r>
              <a:rPr lang="en-NZ" sz="2800" baseline="-25000" dirty="0"/>
              <a:t>e</a:t>
            </a:r>
            <a:r>
              <a:rPr lang="en-NZ" sz="2800" dirty="0"/>
              <a:t> = </a:t>
            </a:r>
            <a:r>
              <a:rPr lang="en-NZ" sz="2800" dirty="0">
                <a:solidFill>
                  <a:srgbClr val="C00000"/>
                </a:solidFill>
              </a:rPr>
              <a:t>1500</a:t>
            </a:r>
          </a:p>
          <a:p>
            <a:pPr marL="457200" lvl="1" indent="0">
              <a:buNone/>
            </a:pPr>
            <a:endParaRPr lang="en-NZ" sz="2800" dirty="0"/>
          </a:p>
          <a:p>
            <a:pPr marL="0" indent="0">
              <a:buNone/>
            </a:pPr>
            <a:endParaRPr lang="en-NZ" dirty="0"/>
          </a:p>
          <a:p>
            <a:endParaRPr lang="en-NZ" dirty="0"/>
          </a:p>
          <a:p>
            <a:endParaRPr lang="en-NZ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20860BC-BE61-2D5B-C3C8-D4242CA2A9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Values marked with * are exogenous</a:t>
            </a:r>
          </a:p>
          <a:p>
            <a:r>
              <a:rPr lang="en-US" dirty="0"/>
              <a:t>The MPC is c</a:t>
            </a:r>
          </a:p>
          <a:p>
            <a:r>
              <a:rPr lang="en-US" dirty="0"/>
              <a:t>Factoring out the Y terms is important step.</a:t>
            </a:r>
          </a:p>
        </p:txBody>
      </p:sp>
    </p:spTree>
    <p:extLst>
      <p:ext uri="{BB962C8B-B14F-4D97-AF65-F5344CB8AC3E}">
        <p14:creationId xmlns:p14="http://schemas.microsoft.com/office/powerpoint/2010/main" val="61069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C8B0-44F8-3A6A-2C59-E6F8D727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The Multiplier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97398-D1E0-C2D4-E3E0-BD93CFB9B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NZ" dirty="0"/>
              <a:t>How GDP responds to shocks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26DD-6967-1731-EF17-37CAF58A3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 dirty="0"/>
              <a:t>03.</a:t>
            </a:r>
          </a:p>
        </p:txBody>
      </p:sp>
    </p:spTree>
    <p:extLst>
      <p:ext uri="{BB962C8B-B14F-4D97-AF65-F5344CB8AC3E}">
        <p14:creationId xmlns:p14="http://schemas.microsoft.com/office/powerpoint/2010/main" val="2210812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900" dirty="0"/>
              <a:t>The Multiplier Process</a:t>
            </a:r>
          </a:p>
        </p:txBody>
      </p:sp>
      <p:pic>
        <p:nvPicPr>
          <p:cNvPr id="3" name="Multiplier.mp4">
            <a:hlinkClick r:id="" action="ppaction://media"/>
            <a:extLst>
              <a:ext uri="{FF2B5EF4-FFF2-40B4-BE49-F238E27FC236}">
                <a16:creationId xmlns:a16="http://schemas.microsoft.com/office/drawing/2014/main" id="{BBDD67F2-EB69-9B49-8EB4-0A8CA60D43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13224" y="604838"/>
            <a:ext cx="7393921" cy="554544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We start at point A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Suppose I decreases by €1.5bn.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How much will Y change by?</a:t>
            </a:r>
          </a:p>
        </p:txBody>
      </p:sp>
    </p:spTree>
    <p:extLst>
      <p:ext uri="{BB962C8B-B14F-4D97-AF65-F5344CB8AC3E}">
        <p14:creationId xmlns:p14="http://schemas.microsoft.com/office/powerpoint/2010/main" val="262132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900" dirty="0"/>
              <a:t>The Multiplier Process</a:t>
            </a: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428D4DBF-5214-A8D5-CFA4-D8416C7B3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9" r="13187" b="-2"/>
          <a:stretch>
            <a:fillRect/>
          </a:stretch>
        </p:blipFill>
        <p:spPr>
          <a:xfrm>
            <a:off x="3921472" y="938212"/>
            <a:ext cx="7175500" cy="49815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1900">
                <a:solidFill>
                  <a:schemeClr val="tx1">
                    <a:lumMod val="75000"/>
                  </a:schemeClr>
                </a:solidFill>
              </a:rPr>
              <a:t>As firm’s produce less, incomes (wages etc) are lower.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1900">
                <a:solidFill>
                  <a:schemeClr val="tx1">
                    <a:lumMod val="75000"/>
                  </a:schemeClr>
                </a:solidFill>
              </a:rPr>
              <a:t>Spending drops.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1900">
                <a:solidFill>
                  <a:schemeClr val="tx1">
                    <a:lumMod val="75000"/>
                  </a:schemeClr>
                </a:solidFill>
              </a:rPr>
              <a:t>Process continues until we reach D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1900">
                <a:solidFill>
                  <a:schemeClr val="tx1">
                    <a:lumMod val="75000"/>
                  </a:schemeClr>
                </a:solidFill>
              </a:rPr>
              <a:t>A €1.5 bn fall in I leads to a €3.75 bn fall in Y</a:t>
            </a:r>
          </a:p>
        </p:txBody>
      </p:sp>
    </p:spTree>
    <p:extLst>
      <p:ext uri="{BB962C8B-B14F-4D97-AF65-F5344CB8AC3E}">
        <p14:creationId xmlns:p14="http://schemas.microsoft.com/office/powerpoint/2010/main" val="582860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900"/>
              <a:t>The multiplier effect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57AE357-E564-F96F-92E1-39AF7B8F7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7721457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21B15C-23DF-4B95-863D-CF85667EBBC4}"/>
              </a:ext>
            </a:extLst>
          </p:cNvPr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000" dirty="0">
                <a:solidFill>
                  <a:schemeClr val="tx1"/>
                </a:solidFill>
              </a:rPr>
              <a:t>The t</a:t>
            </a:r>
            <a:r>
              <a:rPr lang="en-US" sz="2000" dirty="0" err="1">
                <a:solidFill>
                  <a:schemeClr val="tx1"/>
                </a:solidFill>
              </a:rPr>
              <a:t>otal</a:t>
            </a:r>
            <a:r>
              <a:rPr lang="en-US" sz="2000" dirty="0">
                <a:solidFill>
                  <a:schemeClr val="tx1"/>
                </a:solidFill>
              </a:rPr>
              <a:t> change in output can be greater than the initial change in aggregate demand. </a:t>
            </a:r>
            <a:endParaRPr lang="en-NZ" sz="2000" dirty="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NZ" sz="2000" b="1" dirty="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NZ" sz="2000" b="1" dirty="0">
                <a:solidFill>
                  <a:schemeClr val="tx1"/>
                </a:solidFill>
              </a:rPr>
              <a:t>The larger the MPC, the larger the multiplier!</a:t>
            </a:r>
          </a:p>
        </p:txBody>
      </p:sp>
    </p:spTree>
    <p:extLst>
      <p:ext uri="{BB962C8B-B14F-4D97-AF65-F5344CB8AC3E}">
        <p14:creationId xmlns:p14="http://schemas.microsoft.com/office/powerpoint/2010/main" val="1705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100"/>
              <a:t>Changes in consumption function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B00C5E2-4B98-E405-FAC4-3D794D1D28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GB" dirty="0"/>
              <a:t>Credit constraints and consumption smoothing is reflected in the </a:t>
            </a:r>
            <a:r>
              <a:rPr lang="en-GB" u="sng" dirty="0"/>
              <a:t>slope of the AD curve </a:t>
            </a:r>
            <a:r>
              <a:rPr lang="en-GB" dirty="0"/>
              <a:t>and the size of the multiplier.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DFFCCA87-6643-A51E-A6D5-3D386EA059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8402694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3561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600"/>
              <a:t>The Great Depression</a:t>
            </a:r>
          </a:p>
        </p:txBody>
      </p:sp>
      <p:pic>
        <p:nvPicPr>
          <p:cNvPr id="5" name="Picture 4" descr="figure-14-06-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25" y="629047"/>
            <a:ext cx="7175500" cy="493315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1700">
                <a:solidFill>
                  <a:schemeClr val="tx1">
                    <a:lumMod val="75000"/>
                  </a:schemeClr>
                </a:solidFill>
              </a:rPr>
              <a:t>A: goods market equilibrium (1929)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1700">
                <a:solidFill>
                  <a:schemeClr val="tx1">
                    <a:lumMod val="75000"/>
                  </a:schemeClr>
                </a:solidFill>
              </a:rPr>
              <a:t>B : fall in investment = downward shift of AD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1700">
                <a:solidFill>
                  <a:schemeClr val="tx1">
                    <a:lumMod val="75000"/>
                  </a:schemeClr>
                </a:solidFill>
              </a:rPr>
              <a:t>C: fall in autonomous consumption = further downward shift of AD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1700">
                <a:solidFill>
                  <a:schemeClr val="tx1">
                    <a:lumMod val="75000"/>
                  </a:schemeClr>
                </a:solidFill>
              </a:rPr>
              <a:t> uncertainty due to stock market crash, pessimism, banking crisis and collapse of credit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GB" sz="1700">
              <a:solidFill>
                <a:schemeClr val="tx1">
                  <a:lumMod val="7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GB" sz="170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17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A74D-890D-4EC4-DF44-7819A13C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Fiscal 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69220-B9B8-0A87-140C-8E01AA82B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The role of Government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0998B-252C-C7A7-D891-4CAB116BEA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 dirty="0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1801655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A1F5-F1E6-E94F-86EC-A87DA4B9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Model 2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24718A-5536-261B-0572-8D75D673608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6352364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41460-0420-EA68-B3C2-21D8F468E3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We make the model more realistic by adding Government and External Sector</a:t>
            </a:r>
          </a:p>
        </p:txBody>
      </p:sp>
    </p:spTree>
    <p:extLst>
      <p:ext uri="{BB962C8B-B14F-4D97-AF65-F5344CB8AC3E}">
        <p14:creationId xmlns:p14="http://schemas.microsoft.com/office/powerpoint/2010/main" val="414334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200" dirty="0"/>
              <a:t>The Extended Multiplier model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A5DBBF9-DF2C-5355-2208-0758222DDF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496485"/>
              </p:ext>
            </p:extLst>
          </p:nvPr>
        </p:nvGraphicFramePr>
        <p:xfrm>
          <a:off x="1047751" y="2013916"/>
          <a:ext cx="4505326" cy="3571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6ADCD0-714C-2361-D3FF-925B9531CA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774996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01114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C259-012B-D3E5-A701-E49CB0D7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Numerical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558F1-A9A4-D091-32E7-2D590508366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NZ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NZ" dirty="0"/>
                  <a:t>+</a:t>
                </a:r>
                <a:r>
                  <a:rPr lang="en-NZ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c(1-t)Y+I(r)+G+X-</a:t>
                </a:r>
                <a:r>
                  <a:rPr lang="en-NZ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mY</a:t>
                </a:r>
                <a:endParaRPr lang="en-NZ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=100+0.75</m:t>
                    </m:r>
                    <m:d>
                      <m:dPr>
                        <m:ctrlPr>
                          <a:rPr lang="en-NZ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1−0.2</m:t>
                        </m:r>
                      </m:e>
                    </m:d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+500+300+400−0.1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NZ" b="0" dirty="0"/>
              </a:p>
              <a:p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−0.75</m:t>
                    </m:r>
                    <m:d>
                      <m:dPr>
                        <m:ctrlPr>
                          <a:rPr lang="en-NZ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1−0.2</m:t>
                        </m:r>
                      </m:e>
                    </m:d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+0.1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=1300</m:t>
                    </m:r>
                  </m:oMath>
                </a14:m>
                <a:endParaRPr lang="en-NZ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NZ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1−0.75</m:t>
                        </m:r>
                        <m:d>
                          <m:dPr>
                            <m:ctrlPr>
                              <a:rPr lang="en-NZ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b="0" i="1" smtClean="0">
                                <a:latin typeface="Cambria Math" panose="02040503050406030204" pitchFamily="18" charset="0"/>
                              </a:rPr>
                              <m:t>1−0.2</m:t>
                            </m:r>
                          </m:e>
                        </m:d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+0.1</m:t>
                        </m:r>
                      </m:e>
                    </m:d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=1300</m:t>
                    </m:r>
                  </m:oMath>
                </a14:m>
                <a:endParaRPr lang="en-NZ" b="0" dirty="0"/>
              </a:p>
              <a:p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NZ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1−0.75</m:t>
                        </m:r>
                        <m:d>
                          <m:dPr>
                            <m:ctrlPr>
                              <a:rPr lang="en-NZ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b="0" i="1" smtClean="0">
                                <a:latin typeface="Cambria Math" panose="02040503050406030204" pitchFamily="18" charset="0"/>
                              </a:rPr>
                              <m:t>1−0.2</m:t>
                            </m:r>
                          </m:e>
                        </m:d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+0.1</m:t>
                        </m:r>
                      </m:den>
                    </m:f>
                    <m:r>
                      <a:rPr lang="en-NZ" b="0" i="1" smtClean="0">
                        <a:latin typeface="Cambria Math" panose="02040503050406030204" pitchFamily="18" charset="0"/>
                      </a:rPr>
                      <m:t>1300</m:t>
                    </m:r>
                  </m:oMath>
                </a14:m>
                <a:endParaRPr lang="en-NZ" b="0" dirty="0"/>
              </a:p>
              <a:p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NZ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a:rPr lang="en-NZ" b="0" i="1" smtClean="0">
                        <a:latin typeface="Cambria Math" panose="02040503050406030204" pitchFamily="18" charset="0"/>
                      </a:rPr>
                      <m:t>1300</m:t>
                    </m:r>
                  </m:oMath>
                </a14:m>
                <a:endParaRPr lang="en-NZ" dirty="0"/>
              </a:p>
              <a:p>
                <a14:m>
                  <m:oMath xmlns:m="http://schemas.openxmlformats.org/officeDocument/2006/math">
                    <m:r>
                      <a:rPr lang="en-NZ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=2600</m:t>
                    </m:r>
                  </m:oMath>
                </a14:m>
                <a:endParaRPr lang="en-NZ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5558F1-A9A4-D091-32E7-2D5905083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t="-208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93F60-01D1-27E1-9F79-3FBBF5E4A1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A useful approach is to identify the multiplier and the sum of the exogenous spending.</a:t>
            </a:r>
          </a:p>
        </p:txBody>
      </p:sp>
    </p:spTree>
    <p:extLst>
      <p:ext uri="{BB962C8B-B14F-4D97-AF65-F5344CB8AC3E}">
        <p14:creationId xmlns:p14="http://schemas.microsoft.com/office/powerpoint/2010/main" val="272112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B403-94D0-F6D9-A0AF-D4B671A8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4000" dirty="0"/>
              <a:t>Stabilising the Economy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8EACBD-4574-0A28-9B8F-F84F83074AC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83960542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5A95C-9BE2-B5A9-73E2-0EF24F55A6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There are 4 ways the Government can stabilise economic fluctuations</a:t>
            </a:r>
          </a:p>
        </p:txBody>
      </p:sp>
    </p:spTree>
    <p:extLst>
      <p:ext uri="{BB962C8B-B14F-4D97-AF65-F5344CB8AC3E}">
        <p14:creationId xmlns:p14="http://schemas.microsoft.com/office/powerpoint/2010/main" val="3616599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3845-2B55-8C04-DC69-C0A9BFFB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4300"/>
              <a:t>NZ Covid19 shock</a:t>
            </a:r>
            <a:endParaRPr lang="en-NZ" sz="430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B22AE28-E28E-703B-0B22-702B6730EF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GDP in 2020 shrank 6.4% compared to June Quarter 2019.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92F54E-59C7-FC84-6D96-E32CE2DAB83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33198467"/>
              </p:ext>
            </p:extLst>
          </p:nvPr>
        </p:nvGraphicFramePr>
        <p:xfrm>
          <a:off x="4402340" y="604838"/>
          <a:ext cx="6263870" cy="49815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7926">
                  <a:extLst>
                    <a:ext uri="{9D8B030D-6E8A-4147-A177-3AD203B41FA5}">
                      <a16:colId xmlns:a16="http://schemas.microsoft.com/office/drawing/2014/main" val="3973034248"/>
                    </a:ext>
                  </a:extLst>
                </a:gridCol>
                <a:gridCol w="2062972">
                  <a:extLst>
                    <a:ext uri="{9D8B030D-6E8A-4147-A177-3AD203B41FA5}">
                      <a16:colId xmlns:a16="http://schemas.microsoft.com/office/drawing/2014/main" val="2917404976"/>
                    </a:ext>
                  </a:extLst>
                </a:gridCol>
                <a:gridCol w="2062972">
                  <a:extLst>
                    <a:ext uri="{9D8B030D-6E8A-4147-A177-3AD203B41FA5}">
                      <a16:colId xmlns:a16="http://schemas.microsoft.com/office/drawing/2014/main" val="3150360919"/>
                    </a:ext>
                  </a:extLst>
                </a:gridCol>
              </a:tblGrid>
              <a:tr h="730631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GDP Statistic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June Quarter 2019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June Quarter 2020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1575679963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GDP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$78,384m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$73,315m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80486938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Consumption 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$44,694m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$40,767m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2218719966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Investment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 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 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2596988087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algn="r"/>
                      <a:r>
                        <a:rPr lang="mi-NZ" sz="2200">
                          <a:effectLst/>
                        </a:rPr>
                        <a:t>Fixed Assets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$13,131m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$10,482m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996591008"/>
                  </a:ext>
                </a:extLst>
              </a:tr>
              <a:tr h="730631">
                <a:tc>
                  <a:txBody>
                    <a:bodyPr/>
                    <a:lstStyle/>
                    <a:p>
                      <a:pPr algn="r"/>
                      <a:r>
                        <a:rPr lang="mi-NZ" sz="2200">
                          <a:effectLst/>
                        </a:rPr>
                        <a:t>Residential Buildings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$5,771m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$4,634m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715519170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algn="r"/>
                      <a:r>
                        <a:rPr lang="mi-NZ" sz="2200">
                          <a:effectLst/>
                        </a:rPr>
                        <a:t>Inventories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-$1,891m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-$2,879m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684643470"/>
                  </a:ext>
                </a:extLst>
              </a:tr>
              <a:tr h="730631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Government Spending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$15,288m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$16,762m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1337477475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Exports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$22,462m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$19,328m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04483587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Imports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$21,071m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 dirty="0">
                          <a:effectLst/>
                        </a:rPr>
                        <a:t>$15,979m</a:t>
                      </a:r>
                      <a:endParaRPr lang="en-NZ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725623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902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3845-2B55-8C04-DC69-C0A9BFFB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4300"/>
              <a:t>NZ Covid19 shock</a:t>
            </a:r>
            <a:endParaRPr lang="en-NZ" sz="430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B22AE28-E28E-703B-0B22-702B6730EF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Investment fell by 28.1%</a:t>
            </a:r>
          </a:p>
          <a:p>
            <a:r>
              <a:rPr lang="en-US" dirty="0"/>
              <a:t>Consumption by 8.8%</a:t>
            </a:r>
          </a:p>
          <a:p>
            <a:r>
              <a:rPr lang="en-US" dirty="0"/>
              <a:t>Government spending rose by 9.6%</a:t>
            </a:r>
          </a:p>
          <a:p>
            <a:r>
              <a:rPr lang="en-US" dirty="0"/>
              <a:t>Net Exports rose by 140.8%.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92F54E-59C7-FC84-6D96-E32CE2DAB837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402340" y="604838"/>
          <a:ext cx="6263870" cy="49815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7926">
                  <a:extLst>
                    <a:ext uri="{9D8B030D-6E8A-4147-A177-3AD203B41FA5}">
                      <a16:colId xmlns:a16="http://schemas.microsoft.com/office/drawing/2014/main" val="3973034248"/>
                    </a:ext>
                  </a:extLst>
                </a:gridCol>
                <a:gridCol w="2062972">
                  <a:extLst>
                    <a:ext uri="{9D8B030D-6E8A-4147-A177-3AD203B41FA5}">
                      <a16:colId xmlns:a16="http://schemas.microsoft.com/office/drawing/2014/main" val="2917404976"/>
                    </a:ext>
                  </a:extLst>
                </a:gridCol>
                <a:gridCol w="2062972">
                  <a:extLst>
                    <a:ext uri="{9D8B030D-6E8A-4147-A177-3AD203B41FA5}">
                      <a16:colId xmlns:a16="http://schemas.microsoft.com/office/drawing/2014/main" val="3150360919"/>
                    </a:ext>
                  </a:extLst>
                </a:gridCol>
              </a:tblGrid>
              <a:tr h="730631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GDP Statistic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June Quarter 2019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June Quarter 2020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1575679963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GDP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$78,384m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$73,315m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80486938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Consumption 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$44,694m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$40,767m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2218719966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Investment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 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 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2596988087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algn="r"/>
                      <a:r>
                        <a:rPr lang="mi-NZ" sz="2200">
                          <a:effectLst/>
                        </a:rPr>
                        <a:t>Fixed Assets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$13,131m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$10,482m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996591008"/>
                  </a:ext>
                </a:extLst>
              </a:tr>
              <a:tr h="730631">
                <a:tc>
                  <a:txBody>
                    <a:bodyPr/>
                    <a:lstStyle/>
                    <a:p>
                      <a:pPr algn="r"/>
                      <a:r>
                        <a:rPr lang="mi-NZ" sz="2200">
                          <a:effectLst/>
                        </a:rPr>
                        <a:t>Residential Buildings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$5,771m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$4,634m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715519170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pPr algn="r"/>
                      <a:r>
                        <a:rPr lang="mi-NZ" sz="2200">
                          <a:effectLst/>
                        </a:rPr>
                        <a:t>Inventories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-$1,891m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-$2,879m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684643470"/>
                  </a:ext>
                </a:extLst>
              </a:tr>
              <a:tr h="730631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Government Spending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$15,288m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$16,762m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1337477475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Exports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$22,462m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$19,328m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04483587"/>
                  </a:ext>
                </a:extLst>
              </a:tr>
              <a:tr h="398526">
                <a:tc>
                  <a:txBody>
                    <a:bodyPr/>
                    <a:lstStyle/>
                    <a:p>
                      <a:r>
                        <a:rPr lang="mi-NZ" sz="2200">
                          <a:effectLst/>
                        </a:rPr>
                        <a:t>Imports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>
                          <a:effectLst/>
                        </a:rPr>
                        <a:t>$21,071m</a:t>
                      </a:r>
                      <a:endParaRPr lang="en-NZ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i-NZ" sz="2200" dirty="0">
                          <a:effectLst/>
                        </a:rPr>
                        <a:t>$15,979m</a:t>
                      </a:r>
                      <a:endParaRPr lang="en-NZ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4539" marR="124539" marT="0" marB="0"/>
                </a:tc>
                <a:extLst>
                  <a:ext uri="{0D108BD9-81ED-4DB2-BD59-A6C34878D82A}">
                    <a16:rowId xmlns:a16="http://schemas.microsoft.com/office/drawing/2014/main" val="3725623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093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AD229AA8-DAF6-5366-D0AA-40D3912F1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635522"/>
              </p:ext>
            </p:extLst>
          </p:nvPr>
        </p:nvGraphicFramePr>
        <p:xfrm>
          <a:off x="1500982" y="576471"/>
          <a:ext cx="7474054" cy="5050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EF02F39-B987-BDD3-756B-845FDF72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changes?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60928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565944-A34B-5598-ABD0-186F7908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Wage Subsidy</a:t>
            </a:r>
          </a:p>
          <a:p>
            <a:pPr lvl="1"/>
            <a:r>
              <a:rPr lang="en-US" dirty="0"/>
              <a:t>Did not wait for workers to lose jobs</a:t>
            </a:r>
          </a:p>
          <a:p>
            <a:pPr lvl="1"/>
            <a:r>
              <a:rPr lang="en-US" dirty="0"/>
              <a:t>Employers were provided a wage subsidy (80% of wage levels)</a:t>
            </a:r>
          </a:p>
          <a:p>
            <a:pPr lvl="1"/>
            <a:r>
              <a:rPr lang="en-US" dirty="0"/>
              <a:t>This meant firms kept workers employed even though there was (usually) no work for them.</a:t>
            </a:r>
          </a:p>
          <a:p>
            <a:pPr lvl="1"/>
            <a:r>
              <a:rPr lang="en-US" dirty="0"/>
              <a:t>With workers still receiving wages, they could ‘smooth’ consumption even when they were not working.</a:t>
            </a:r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727E8C-F622-0240-CBC1-57BB3DA3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Consumption smoothing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6452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FAF9-447C-B920-3CD5-31E922EA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Automatic Stabilisers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2F8FE-3E88-D498-CF61-908EA4EB2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>
                <a:solidFill>
                  <a:schemeClr val="tx1"/>
                </a:solidFill>
              </a:rPr>
              <a:t>Some stabilisation occurs automatically without deliberate policy.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DBD7AE-0716-AE74-05B9-D231DE87D112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106209243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1710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900"/>
              <a:t>The paradox of thrift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3257282-5AD6-8AAB-2F34-B93020841B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0716813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7C9620F-FD32-E76D-0206-56DF8FCC33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Households could worsen a recession.</a:t>
            </a:r>
          </a:p>
          <a:p>
            <a:r>
              <a:rPr lang="en-GB" sz="2000" b="1" dirty="0">
                <a:solidFill>
                  <a:schemeClr val="tx1">
                    <a:lumMod val="75000"/>
                  </a:schemeClr>
                </a:solidFill>
              </a:rPr>
              <a:t>Fallacy of composition</a:t>
            </a: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: what is true for one part of the economy (a single household) is not true of the whole economy.</a:t>
            </a:r>
            <a:endParaRPr lang="en-US" sz="2000" dirty="0">
              <a:solidFill>
                <a:schemeClr val="tx1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77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600"/>
              <a:t>Fiscal stimulus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9D915AF-CC61-927E-E1C0-69579C46CA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7775357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4E2468B-DA4D-9469-DCF5-C98A4D827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 fall in AD can be offset by an </a:t>
            </a:r>
            <a:r>
              <a:rPr lang="en-US" b="1" dirty="0"/>
              <a:t>expansionary fiscal policy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459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GB" sz="4600"/>
              <a:t>Fiscal stimulus</a:t>
            </a:r>
          </a:p>
        </p:txBody>
      </p:sp>
      <p:pic>
        <p:nvPicPr>
          <p:cNvPr id="7" name="Picture 6" descr="figure-14-11-a-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25" y="808435"/>
            <a:ext cx="7175500" cy="4574381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B5074C8-1385-0717-7954-53BDDCDBAB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Suppose autonomous consumption falls.</a:t>
            </a:r>
          </a:p>
          <a:p>
            <a:r>
              <a:rPr lang="en-US" dirty="0"/>
              <a:t>Economy moves from A to B</a:t>
            </a:r>
          </a:p>
        </p:txBody>
      </p:sp>
    </p:spTree>
    <p:extLst>
      <p:ext uri="{BB962C8B-B14F-4D97-AF65-F5344CB8AC3E}">
        <p14:creationId xmlns:p14="http://schemas.microsoft.com/office/powerpoint/2010/main" val="1475305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GB" sz="4600"/>
              <a:t>Fiscal stimulus</a:t>
            </a:r>
          </a:p>
        </p:txBody>
      </p:sp>
      <p:pic>
        <p:nvPicPr>
          <p:cNvPr id="7" name="Picture 6" descr="figure-14-11-a-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25" y="808435"/>
            <a:ext cx="7175500" cy="4574381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B5074C8-1385-0717-7954-53BDDCDBAB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Government than increases its spending from G to G’</a:t>
            </a:r>
          </a:p>
          <a:p>
            <a:r>
              <a:rPr lang="en-US" dirty="0"/>
              <a:t>Economy moves from B to C</a:t>
            </a:r>
          </a:p>
          <a:p>
            <a:r>
              <a:rPr lang="en-US" dirty="0"/>
              <a:t>Recession is smaller or shorter</a:t>
            </a:r>
          </a:p>
        </p:txBody>
      </p:sp>
    </p:spTree>
    <p:extLst>
      <p:ext uri="{BB962C8B-B14F-4D97-AF65-F5344CB8AC3E}">
        <p14:creationId xmlns:p14="http://schemas.microsoft.com/office/powerpoint/2010/main" val="761550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900"/>
              <a:t>Financing fiscal stimulus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15F7AE-B0F3-25DF-F361-7440D035A8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8995015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CF9C590-DAF2-A116-71F5-E7A1484230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The budget balance is T -G</a:t>
            </a:r>
          </a:p>
        </p:txBody>
      </p:sp>
    </p:spTree>
    <p:extLst>
      <p:ext uri="{BB962C8B-B14F-4D97-AF65-F5344CB8AC3E}">
        <p14:creationId xmlns:p14="http://schemas.microsoft.com/office/powerpoint/2010/main" val="703844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600"/>
              <a:t>Austerity policy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E720224-CC62-5A5F-B0C2-B0CB183D1A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886090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303D5B4-8D3D-48EB-5D66-3009AA283E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Occurs when Governments are committed to balanced budgets. </a:t>
            </a:r>
          </a:p>
        </p:txBody>
      </p:sp>
    </p:spTree>
    <p:extLst>
      <p:ext uri="{BB962C8B-B14F-4D97-AF65-F5344CB8AC3E}">
        <p14:creationId xmlns:p14="http://schemas.microsoft.com/office/powerpoint/2010/main" val="187465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600"/>
              <a:t>Austerity policy</a:t>
            </a:r>
          </a:p>
        </p:txBody>
      </p:sp>
      <p:pic>
        <p:nvPicPr>
          <p:cNvPr id="6" name="Picture 5" descr="figure-14-11-b-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25" y="808435"/>
            <a:ext cx="7175500" cy="4574381"/>
          </a:xfrm>
          <a:prstGeom prst="rect">
            <a:avLst/>
          </a:prstGeom>
          <a:noFill/>
        </p:spPr>
      </p:pic>
      <p:sp>
        <p:nvSpPr>
          <p:cNvPr id="10" name="Obdĺžnik 9"/>
          <p:cNvSpPr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Economy experiences a decline in autonomous consumption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AD curve shifts down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Economy moves from A to 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Recession occurs</a:t>
            </a:r>
            <a:endParaRPr lang="en-US" sz="20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0336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600"/>
              <a:t>Austerity policy</a:t>
            </a:r>
          </a:p>
        </p:txBody>
      </p:sp>
      <p:pic>
        <p:nvPicPr>
          <p:cNvPr id="6" name="Picture 5" descr="figure-14-11-b-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25" y="808435"/>
            <a:ext cx="7175500" cy="4574381"/>
          </a:xfrm>
          <a:prstGeom prst="rect">
            <a:avLst/>
          </a:prstGeom>
          <a:noFill/>
        </p:spPr>
      </p:pic>
      <p:sp>
        <p:nvSpPr>
          <p:cNvPr id="10" name="Obdĺžnik 9"/>
          <p:cNvSpPr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Government receives less tax revenue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They are in deficit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To balance their budget (T=G) Government spending must fall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The recession is made worse</a:t>
            </a:r>
          </a:p>
        </p:txBody>
      </p:sp>
    </p:spTree>
    <p:extLst>
      <p:ext uri="{BB962C8B-B14F-4D97-AF65-F5344CB8AC3E}">
        <p14:creationId xmlns:p14="http://schemas.microsoft.com/office/powerpoint/2010/main" val="26887268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900"/>
              <a:t>The multiplier in practice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ACD485D-24BA-021B-27F7-D91371E244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666903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BBCFFD7-85CA-DAD2-60B7-1AB3691571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In our simple model, the multiplier depended only on</a:t>
            </a:r>
          </a:p>
          <a:p>
            <a:pPr lvl="1"/>
            <a:r>
              <a:rPr lang="en-US" dirty="0"/>
              <a:t>MPC - c</a:t>
            </a:r>
          </a:p>
          <a:p>
            <a:pPr lvl="1"/>
            <a:r>
              <a:rPr lang="en-US" dirty="0"/>
              <a:t>MPM – m</a:t>
            </a:r>
          </a:p>
          <a:p>
            <a:pPr lvl="1"/>
            <a:r>
              <a:rPr lang="en-US" dirty="0"/>
              <a:t>Tax rate - t</a:t>
            </a:r>
          </a:p>
        </p:txBody>
      </p:sp>
    </p:spTree>
    <p:extLst>
      <p:ext uri="{BB962C8B-B14F-4D97-AF65-F5344CB8AC3E}">
        <p14:creationId xmlns:p14="http://schemas.microsoft.com/office/powerpoint/2010/main" val="1851151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9715DA-95A1-44B2-BF9D-52583E398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multiplier assumes Government spending does not change spending by firms and households</a:t>
            </a:r>
          </a:p>
          <a:p>
            <a:r>
              <a:rPr lang="en-US" dirty="0"/>
              <a:t>Crowding out is when it does change spending.</a:t>
            </a:r>
          </a:p>
          <a:p>
            <a:pPr lvl="1"/>
            <a:r>
              <a:rPr lang="en-US" dirty="0"/>
              <a:t>E.g. firms cannot borrow for their projects because funds have been lent to Government instead. Interest rates could rise.</a:t>
            </a:r>
          </a:p>
          <a:p>
            <a:pPr lvl="1"/>
            <a:r>
              <a:rPr lang="en-US" dirty="0"/>
              <a:t>Some scare inputs (e.g. engineering experts, builders) get employed by Government instead.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754F14-6CBC-2086-E8BA-D83FBD04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Crowding Out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149248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7A2EAD-3060-3161-BB6B-49CEF676C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Consumers may also respond to rising deficits and debt.</a:t>
            </a:r>
          </a:p>
          <a:p>
            <a:pPr lvl="1"/>
            <a:r>
              <a:rPr lang="en-NZ" dirty="0"/>
              <a:t>If they feel less confident they may cut back spending as a precaution.</a:t>
            </a:r>
          </a:p>
          <a:p>
            <a:pPr lvl="1"/>
            <a:r>
              <a:rPr lang="en-NZ" dirty="0"/>
              <a:t>They may save more in the expectation future taxes will rise.</a:t>
            </a:r>
          </a:p>
          <a:p>
            <a:pPr lvl="1"/>
            <a:r>
              <a:rPr lang="en-NZ" dirty="0"/>
              <a:t>Increased savings reduces consumption and multiplier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5E3220-3766-ADE9-B8C8-4AB6716F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mi-NZ" dirty="0" err="1"/>
              <a:t>Consumer</a:t>
            </a:r>
            <a:r>
              <a:rPr lang="mi-NZ" dirty="0"/>
              <a:t> </a:t>
            </a:r>
            <a:r>
              <a:rPr lang="mi-NZ" dirty="0" err="1"/>
              <a:t>Confidence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16565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100" dirty="0"/>
              <a:t>The Government’s Finances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46525" y="604838"/>
            <a:ext cx="7175500" cy="4981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400" b="1">
                <a:solidFill>
                  <a:schemeClr val="tx1">
                    <a:lumMod val="75000"/>
                  </a:schemeClr>
                </a:solidFill>
              </a:rPr>
              <a:t>Primary budget deficit </a:t>
            </a:r>
            <a:r>
              <a:rPr lang="en-GB" sz="2400">
                <a:solidFill>
                  <a:schemeClr val="tx1">
                    <a:lumMod val="75000"/>
                  </a:schemeClr>
                </a:solidFill>
              </a:rPr>
              <a:t>= G –T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400">
                <a:solidFill>
                  <a:schemeClr val="tx1">
                    <a:lumMod val="75000"/>
                  </a:schemeClr>
                </a:solidFill>
              </a:rPr>
              <a:t> procyclical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400">
                <a:solidFill>
                  <a:schemeClr val="tx1">
                    <a:lumMod val="75000"/>
                  </a:schemeClr>
                </a:solidFill>
              </a:rPr>
              <a:t> the government must borrow to cover the gap between spending and revenue, by issuing bonds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GB" sz="2400" b="1">
              <a:solidFill>
                <a:schemeClr val="tx1">
                  <a:lumMod val="7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400" b="1">
                <a:solidFill>
                  <a:schemeClr val="tx1">
                    <a:lumMod val="75000"/>
                  </a:schemeClr>
                </a:solidFill>
              </a:rPr>
              <a:t>Government debt</a:t>
            </a:r>
            <a:r>
              <a:rPr lang="en-GB" sz="2400">
                <a:solidFill>
                  <a:schemeClr val="tx1">
                    <a:lumMod val="75000"/>
                  </a:schemeClr>
                </a:solidFill>
              </a:rPr>
              <a:t> = sum of all the bonds sold over time to finance budget deficit – matured bonds (repaid debt).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GB" sz="2400">
              <a:solidFill>
                <a:schemeClr val="tx1">
                  <a:lumMod val="7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400" b="1">
                <a:solidFill>
                  <a:schemeClr val="tx1">
                    <a:lumMod val="75000"/>
                  </a:schemeClr>
                </a:solidFill>
              </a:rPr>
              <a:t>Sovereign debt crisis </a:t>
            </a:r>
            <a:r>
              <a:rPr lang="en-GB" sz="2400">
                <a:solidFill>
                  <a:schemeClr val="tx1">
                    <a:lumMod val="75000"/>
                  </a:schemeClr>
                </a:solidFill>
              </a:rPr>
              <a:t>= a situation in which government bonds come to be considered risky (default risk).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GB" sz="24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2DB0536-B076-9E0D-990E-EFD2E87C48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The deficit excluding interest payments is called the primary budget deficit.</a:t>
            </a:r>
          </a:p>
        </p:txBody>
      </p:sp>
    </p:spTree>
    <p:extLst>
      <p:ext uri="{BB962C8B-B14F-4D97-AF65-F5344CB8AC3E}">
        <p14:creationId xmlns:p14="http://schemas.microsoft.com/office/powerpoint/2010/main" val="362324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300"/>
              <a:t>Government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46525" y="604838"/>
            <a:ext cx="7175500" cy="4981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600" dirty="0">
                <a:solidFill>
                  <a:schemeClr val="tx1">
                    <a:lumMod val="75000"/>
                  </a:schemeClr>
                </a:solidFill>
              </a:rPr>
              <a:t>Payments on debt mean less can be spent on other items.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GB" sz="2600" dirty="0">
              <a:solidFill>
                <a:schemeClr val="tx1">
                  <a:lumMod val="7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600" dirty="0">
                <a:solidFill>
                  <a:schemeClr val="tx1">
                    <a:lumMod val="75000"/>
                  </a:schemeClr>
                </a:solidFill>
              </a:rPr>
              <a:t>However, there is no point at which the government has to pay off all its stock of debt—it can roll it over instead by issuing new bonds.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GB" sz="2600" dirty="0">
              <a:solidFill>
                <a:schemeClr val="tx1">
                  <a:lumMod val="7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600" dirty="0">
                <a:solidFill>
                  <a:schemeClr val="tx1">
                    <a:lumMod val="75000"/>
                  </a:schemeClr>
                </a:solidFill>
              </a:rPr>
              <a:t>An ever-increasing debt ratio is unsustainable, but there is no rule that says exactly how much debt is problematic.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2167155-27B6-1373-9F00-3EF3772D45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A large stock of debt relative to GDP can be a problem because the government has to pay interest on its debt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42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68B6-F819-BAFA-31DB-B0B9AEC4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NZ Debt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5BA6D1A-DDF2-3D96-BB8B-337AE70A9C5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03253582"/>
              </p:ext>
            </p:extLst>
          </p:nvPr>
        </p:nvGraphicFramePr>
        <p:xfrm>
          <a:off x="3946525" y="604838"/>
          <a:ext cx="7175500" cy="33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299202337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572242000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58409106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15212183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468416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1980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1991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593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$1,136m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$1,805m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$2,639m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$3,998m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73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$1,009m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$1,674m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$3,569m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$4,459m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645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Social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$2,715m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$4,049m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$9,123m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$11,126m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74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Debt Servicing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$771m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$2,240m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$2,210m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$954m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37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GDP deflator (1978=100)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128.8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251.0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382.0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427.3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754598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7FE3C-EA50-76F7-BE1D-3352D4153C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In the 1970s and 80s debt levels in NZ rose.</a:t>
            </a:r>
          </a:p>
          <a:p>
            <a:r>
              <a:rPr lang="en-NZ" dirty="0"/>
              <a:t>Public debt peaked at 71% of GDP in 1985.</a:t>
            </a:r>
          </a:p>
          <a:p>
            <a:r>
              <a:rPr lang="en-NZ" dirty="0"/>
              <a:t>Data is in </a:t>
            </a:r>
            <a:r>
              <a:rPr lang="en-NZ" b="1" dirty="0"/>
              <a:t>nominal</a:t>
            </a:r>
            <a:r>
              <a:rPr lang="en-NZ" dirty="0"/>
              <a:t> terms</a:t>
            </a:r>
          </a:p>
        </p:txBody>
      </p:sp>
    </p:spTree>
    <p:extLst>
      <p:ext uri="{BB962C8B-B14F-4D97-AF65-F5344CB8AC3E}">
        <p14:creationId xmlns:p14="http://schemas.microsoft.com/office/powerpoint/2010/main" val="2477178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48AC-D90B-0479-7D75-7D00C4FD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Big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99A62-3C15-EFD3-4C7D-EBC608D83DB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“Think Big” was a series of capital-intensive, big energy projects.</a:t>
            </a:r>
          </a:p>
          <a:p>
            <a:r>
              <a:rPr lang="en-US" dirty="0"/>
              <a:t>They required significant borrowing from overseas.</a:t>
            </a:r>
          </a:p>
          <a:p>
            <a:r>
              <a:rPr lang="en-US" dirty="0"/>
              <a:t>Their construction led to crowding-out effects</a:t>
            </a:r>
          </a:p>
          <a:p>
            <a:r>
              <a:rPr lang="en-US" dirty="0"/>
              <a:t>They only had a positive return if oil prices kept rising (&gt;USD$50 per barrel)</a:t>
            </a:r>
          </a:p>
          <a:p>
            <a:r>
              <a:rPr lang="en-US" dirty="0"/>
              <a:t>Oil prices fell (reached USD12 per barrel in 1985)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5C58B-239B-2FE4-D8D6-4C0F3D6310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Government Debt rose because of high, annual and large budgets deficits (7% of GDP)</a:t>
            </a:r>
          </a:p>
          <a:p>
            <a:r>
              <a:rPr lang="en-US" dirty="0"/>
              <a:t>Think Big added $7bn to debt</a:t>
            </a:r>
          </a:p>
        </p:txBody>
      </p:sp>
    </p:spTree>
    <p:extLst>
      <p:ext uri="{BB962C8B-B14F-4D97-AF65-F5344CB8AC3E}">
        <p14:creationId xmlns:p14="http://schemas.microsoft.com/office/powerpoint/2010/main" val="3943484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BE547-92F0-4919-1A98-76CF8942D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Factors that affect the sustainability of debt include:</a:t>
            </a:r>
          </a:p>
          <a:p>
            <a:pPr lvl="1"/>
            <a:r>
              <a:rPr lang="en-NZ" dirty="0"/>
              <a:t>The level (% of GDP)</a:t>
            </a:r>
          </a:p>
          <a:p>
            <a:pPr lvl="1"/>
            <a:r>
              <a:rPr lang="en-NZ" dirty="0"/>
              <a:t>The mix (foreign vs domestic)</a:t>
            </a:r>
          </a:p>
          <a:p>
            <a:pPr lvl="1"/>
            <a:r>
              <a:rPr lang="en-NZ" dirty="0"/>
              <a:t>Repayment schedule (long term vs short term)</a:t>
            </a:r>
          </a:p>
          <a:p>
            <a:pPr lvl="1"/>
            <a:r>
              <a:rPr lang="en-NZ" dirty="0"/>
              <a:t>Export sector (ability to earn foreign exchange)</a:t>
            </a:r>
          </a:p>
          <a:p>
            <a:pPr lvl="1"/>
            <a:r>
              <a:rPr lang="en-NZ" dirty="0"/>
              <a:t>Capital flight</a:t>
            </a:r>
          </a:p>
          <a:p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FF4A7D-7BF7-70B5-B2CC-3121C7258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Factors </a:t>
            </a:r>
          </a:p>
        </p:txBody>
      </p:sp>
    </p:spTree>
    <p:extLst>
      <p:ext uri="{BB962C8B-B14F-4D97-AF65-F5344CB8AC3E}">
        <p14:creationId xmlns:p14="http://schemas.microsoft.com/office/powerpoint/2010/main" val="2797331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600"/>
              <a:t>Debt-to-GDP ratio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6525" y="604838"/>
            <a:ext cx="7175500" cy="4981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800" dirty="0">
                <a:solidFill>
                  <a:schemeClr val="tx1">
                    <a:lumMod val="75000"/>
                  </a:schemeClr>
                </a:solidFill>
              </a:rPr>
              <a:t>Indebtedness can fall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800" dirty="0">
                <a:solidFill>
                  <a:schemeClr val="tx1">
                    <a:lumMod val="75000"/>
                  </a:schemeClr>
                </a:solidFill>
              </a:rPr>
              <a:t> if the primary budget balance is positive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800" dirty="0">
                <a:solidFill>
                  <a:schemeClr val="tx1">
                    <a:lumMod val="75000"/>
                  </a:schemeClr>
                </a:solidFill>
              </a:rPr>
              <a:t> if GDP is growing faster than government debt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800" dirty="0">
                <a:solidFill>
                  <a:schemeClr val="tx1">
                    <a:lumMod val="75000"/>
                  </a:schemeClr>
                </a:solidFill>
              </a:rPr>
              <a:t> if inflation is high (real value of debt falls)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800" dirty="0">
                <a:solidFill>
                  <a:srgbClr val="C00000"/>
                </a:solidFill>
              </a:rPr>
              <a:t>Revenue from asset sales is used to pay down debt.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GB" sz="2000">
                <a:solidFill>
                  <a:schemeClr val="tx1">
                    <a:lumMod val="75000"/>
                  </a:schemeClr>
                </a:solidFill>
              </a:rPr>
              <a:t>The level of indebtedness of a government is measured relative to the size of the economy (</a:t>
            </a:r>
            <a:r>
              <a:rPr lang="en-GB" sz="2000" b="1">
                <a:solidFill>
                  <a:schemeClr val="tx1">
                    <a:lumMod val="75000"/>
                  </a:schemeClr>
                </a:solidFill>
              </a:rPr>
              <a:t>debt-to-GDP</a:t>
            </a:r>
            <a:r>
              <a:rPr lang="en-GB" sz="2000">
                <a:solidFill>
                  <a:schemeClr val="tx1">
                    <a:lumMod val="75000"/>
                  </a:schemeClr>
                </a:solidFill>
              </a:rPr>
              <a:t> ratio). </a:t>
            </a:r>
          </a:p>
        </p:txBody>
      </p:sp>
    </p:spTree>
    <p:extLst>
      <p:ext uri="{BB962C8B-B14F-4D97-AF65-F5344CB8AC3E}">
        <p14:creationId xmlns:p14="http://schemas.microsoft.com/office/powerpoint/2010/main" val="39064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B90EDA-F725-6A42-A5D2-C88554AB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4600"/>
              <a:t>NZ Public Debt</a:t>
            </a:r>
            <a:endParaRPr lang="en-NZ" sz="4600"/>
          </a:p>
        </p:txBody>
      </p:sp>
      <p:pic>
        <p:nvPicPr>
          <p:cNvPr id="8" name="Picture Placeholder 7" descr="Chart, line chart, histogram&#10;&#10;Description automatically generated">
            <a:extLst>
              <a:ext uri="{FF2B5EF4-FFF2-40B4-BE49-F238E27FC236}">
                <a16:creationId xmlns:a16="http://schemas.microsoft.com/office/drawing/2014/main" id="{1DA5BE14-44E4-A5DF-1802-1E1ACF77D81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808268"/>
            <a:ext cx="7175500" cy="4574714"/>
          </a:xfr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11D7BA-7392-D848-13B9-B07BE613A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Since mid-90s Governments have set debt targets.</a:t>
            </a:r>
          </a:p>
          <a:p>
            <a:r>
              <a:rPr lang="en-US" dirty="0"/>
              <a:t>Before 2020 Pandemic, target was Net Public Debt at 20% or less of GDP</a:t>
            </a:r>
          </a:p>
        </p:txBody>
      </p:sp>
    </p:spTree>
    <p:extLst>
      <p:ext uri="{BB962C8B-B14F-4D97-AF65-F5344CB8AC3E}">
        <p14:creationId xmlns:p14="http://schemas.microsoft.com/office/powerpoint/2010/main" val="7523255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3672-7E4C-60CB-4E44-DF28F4254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sinews of war are infinite money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BD0E0-901E-F658-257F-47422AF4FB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Cicero 106CE -43BCE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830237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gure-14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328" y="602624"/>
            <a:ext cx="8650941" cy="516893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Autofit/>
          </a:bodyPr>
          <a:lstStyle/>
          <a:p>
            <a:r>
              <a:rPr lang="en-GB" sz="4400" dirty="0"/>
              <a:t>UK Debt-to-GDP ratio</a:t>
            </a:r>
          </a:p>
        </p:txBody>
      </p:sp>
    </p:spTree>
    <p:extLst>
      <p:ext uri="{BB962C8B-B14F-4D97-AF65-F5344CB8AC3E}">
        <p14:creationId xmlns:p14="http://schemas.microsoft.com/office/powerpoint/2010/main" val="19826249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0B75E5-D957-4D8C-2FE7-DF6E86D10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Wars</a:t>
            </a:r>
            <a:endParaRPr lang="en-NZ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AFF9A7-C672-EBDA-7ACD-6F122641D3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Governments (typically) have to borrow to fund wars</a:t>
            </a:r>
          </a:p>
          <a:p>
            <a:r>
              <a:rPr lang="en-US" dirty="0"/>
              <a:t>Tax revenue falls</a:t>
            </a:r>
          </a:p>
          <a:p>
            <a:pPr lvl="1"/>
            <a:r>
              <a:rPr lang="en-US" dirty="0"/>
              <a:t>Workers become combatants</a:t>
            </a:r>
          </a:p>
          <a:p>
            <a:pPr lvl="1"/>
            <a:r>
              <a:rPr lang="en-US" dirty="0"/>
              <a:t>Farms and factories may be destroyed</a:t>
            </a:r>
          </a:p>
          <a:p>
            <a:r>
              <a:rPr lang="en-NZ" dirty="0"/>
              <a:t>Post-War booms can be illusory</a:t>
            </a:r>
          </a:p>
          <a:p>
            <a:pPr lvl="1"/>
            <a:r>
              <a:rPr lang="en-NZ" dirty="0"/>
              <a:t>Consumption rises as rationing ends and civilian production increases</a:t>
            </a:r>
          </a:p>
          <a:p>
            <a:pPr lvl="1"/>
            <a:r>
              <a:rPr lang="en-NZ" dirty="0"/>
              <a:t>Household incomes rise as Government debt repaid</a:t>
            </a:r>
          </a:p>
          <a:p>
            <a:pPr lvl="1"/>
            <a:r>
              <a:rPr lang="en-NZ" dirty="0"/>
              <a:t>Rebuilding increases investment</a:t>
            </a:r>
          </a:p>
          <a:p>
            <a:pPr lvl="1"/>
            <a:r>
              <a:rPr lang="en-NZ" dirty="0"/>
              <a:t>Looks good only because normal economic activity was suppressed</a:t>
            </a:r>
          </a:p>
          <a:p>
            <a:pPr lvl="1"/>
            <a:endParaRPr lang="en-N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BF52E2-9E80-B014-C1D6-E164DF045C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Wars increase public debt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347896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CB9F-7544-AAB8-11E4-CFCC4532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Summary- Multipliers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62726C-1E1F-4ECB-792D-AC81FB94EA0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NZ" dirty="0"/>
                  <a:t>Simple Model</a:t>
                </a:r>
              </a:p>
              <a:p>
                <a:pPr marL="0" indent="0">
                  <a:buNone/>
                </a:pPr>
                <a:endParaRPr lang="en-NZ" dirty="0"/>
              </a:p>
              <a:p>
                <a:r>
                  <a:rPr lang="en-NZ" dirty="0"/>
                  <a:t>Multiplier is</a:t>
                </a:r>
              </a:p>
              <a:p>
                <a:pPr marL="0" indent="0">
                  <a:buNone/>
                </a:pPr>
                <a:endParaRPr lang="en-NZ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NZ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NZ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462726C-1E1F-4ECB-792D-AC81FB94EA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2963" t="-212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BB6A528-8B8C-ED62-5DC4-5934B1E7E9D8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NZ" dirty="0"/>
                  <a:t>Extended Model</a:t>
                </a:r>
              </a:p>
              <a:p>
                <a:pPr marL="0" indent="0">
                  <a:buNone/>
                </a:pPr>
                <a:endParaRPr lang="en-NZ" dirty="0"/>
              </a:p>
              <a:p>
                <a:r>
                  <a:rPr lang="en-NZ" dirty="0"/>
                  <a:t>Multiplier is</a:t>
                </a:r>
              </a:p>
              <a:p>
                <a:pPr marL="0" indent="0">
                  <a:buNone/>
                </a:pPr>
                <a:endParaRPr lang="en-NZ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NZ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NZ" dirty="0"/>
              </a:p>
              <a:p>
                <a:endParaRPr lang="en-NZ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BB6A528-8B8C-ED62-5DC4-5934B1E7E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3"/>
                <a:stretch>
                  <a:fillRect l="-2773" t="-212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9166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Yellow question mark">
            <a:extLst>
              <a:ext uri="{FF2B5EF4-FFF2-40B4-BE49-F238E27FC236}">
                <a16:creationId xmlns:a16="http://schemas.microsoft.com/office/drawing/2014/main" id="{39139E86-3EC2-79BA-F1E5-18322B0917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8786" r="12027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  <a:noFill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B6BBE9-A642-C775-A1D9-7C984EEF69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8663" y="1115219"/>
            <a:ext cx="550544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Any questions?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350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ght minimalist">
      <a:dk1>
        <a:srgbClr val="353638"/>
      </a:dk1>
      <a:lt1>
        <a:srgbClr val="EFEFEF"/>
      </a:lt1>
      <a:dk2>
        <a:srgbClr val="656A56"/>
      </a:dk2>
      <a:lt2>
        <a:srgbClr val="D7DAE1"/>
      </a:lt2>
      <a:accent1>
        <a:srgbClr val="737E84"/>
      </a:accent1>
      <a:accent2>
        <a:srgbClr val="353638"/>
      </a:accent2>
      <a:accent3>
        <a:srgbClr val="BBBCB7"/>
      </a:accent3>
      <a:accent4>
        <a:srgbClr val="D7DAE1"/>
      </a:accent4>
      <a:accent5>
        <a:srgbClr val="748189"/>
      </a:accent5>
      <a:accent6>
        <a:srgbClr val="353638"/>
      </a:accent6>
      <a:hlink>
        <a:srgbClr val="EFEFEF"/>
      </a:hlink>
      <a:folHlink>
        <a:srgbClr val="656A56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15113 Lecture 11 Game Theory" id="{6A3A2FF9-C1F2-4C6B-81AA-36D5BAC0ECEB}" vid="{C2B1A1D8-4DC2-49F2-B7FA-19257A7DC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4761</TotalTime>
  <Words>2500</Words>
  <Application>Microsoft Macintosh PowerPoint</Application>
  <PresentationFormat>Widescreen</PresentationFormat>
  <Paragraphs>404</Paragraphs>
  <Slides>55</Slides>
  <Notes>1</Notes>
  <HiddenSlides>0</HiddenSlides>
  <MMClips>3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Calibri</vt:lpstr>
      <vt:lpstr>Cambria Math</vt:lpstr>
      <vt:lpstr>Playfair Display</vt:lpstr>
      <vt:lpstr>Rockwell</vt:lpstr>
      <vt:lpstr>Symbol</vt:lpstr>
      <vt:lpstr>Times New Roman</vt:lpstr>
      <vt:lpstr>Tw Cen MT</vt:lpstr>
      <vt:lpstr>Office Theme</vt:lpstr>
      <vt:lpstr>115.113 Lecture 3</vt:lpstr>
      <vt:lpstr>Introduction</vt:lpstr>
      <vt:lpstr>NZ Economy</vt:lpstr>
      <vt:lpstr>PowerPoint Presentation</vt:lpstr>
      <vt:lpstr>Context</vt:lpstr>
      <vt:lpstr>Aggregate Demand</vt:lpstr>
      <vt:lpstr>Aggregate Demand =  C + I + G + X - M</vt:lpstr>
      <vt:lpstr>Consumption function</vt:lpstr>
      <vt:lpstr>Consumption function</vt:lpstr>
      <vt:lpstr>Consumption function</vt:lpstr>
      <vt:lpstr>Expectations</vt:lpstr>
      <vt:lpstr>Model 1</vt:lpstr>
      <vt:lpstr>Model 1</vt:lpstr>
      <vt:lpstr>Disequilibrium Illustrated</vt:lpstr>
      <vt:lpstr>Goods Market Equilibrium</vt:lpstr>
      <vt:lpstr>Numerical Example</vt:lpstr>
      <vt:lpstr>The Multiplier</vt:lpstr>
      <vt:lpstr>The Multiplier Process</vt:lpstr>
      <vt:lpstr>The Multiplier Process</vt:lpstr>
      <vt:lpstr>The multiplier effect</vt:lpstr>
      <vt:lpstr>Changes in consumption function</vt:lpstr>
      <vt:lpstr>The Great Depression</vt:lpstr>
      <vt:lpstr>Fiscal Policy</vt:lpstr>
      <vt:lpstr>Model 2</vt:lpstr>
      <vt:lpstr>The Extended Multiplier model</vt:lpstr>
      <vt:lpstr>Numerical Example</vt:lpstr>
      <vt:lpstr>Stabilising the Economy</vt:lpstr>
      <vt:lpstr>NZ Covid19 shock</vt:lpstr>
      <vt:lpstr>NZ Covid19 shock</vt:lpstr>
      <vt:lpstr>Why changes?</vt:lpstr>
      <vt:lpstr>Consumption smoothing</vt:lpstr>
      <vt:lpstr>Automatic Stabilisers</vt:lpstr>
      <vt:lpstr>The paradox of thrift</vt:lpstr>
      <vt:lpstr>Fiscal stimulus</vt:lpstr>
      <vt:lpstr>Fiscal stimulus</vt:lpstr>
      <vt:lpstr>Fiscal stimulus</vt:lpstr>
      <vt:lpstr>Financing fiscal stimulus</vt:lpstr>
      <vt:lpstr>Austerity policy</vt:lpstr>
      <vt:lpstr>Austerity policy</vt:lpstr>
      <vt:lpstr>Austerity policy</vt:lpstr>
      <vt:lpstr>The multiplier in practice</vt:lpstr>
      <vt:lpstr>Crowding Out</vt:lpstr>
      <vt:lpstr>Consumer Confidence</vt:lpstr>
      <vt:lpstr>The Government’s Finances</vt:lpstr>
      <vt:lpstr>Government debt</vt:lpstr>
      <vt:lpstr>NZ Debt</vt:lpstr>
      <vt:lpstr>Think Big</vt:lpstr>
      <vt:lpstr>Factors </vt:lpstr>
      <vt:lpstr>Debt-to-GDP ratio</vt:lpstr>
      <vt:lpstr>NZ Public Debt</vt:lpstr>
      <vt:lpstr>The sinews of war are infinite money</vt:lpstr>
      <vt:lpstr>UK Debt-to-GDP ratio</vt:lpstr>
      <vt:lpstr>Wars</vt:lpstr>
      <vt:lpstr>Summary- Multipliers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115.113 Lecture 11</dc:title>
  <dc:creator>Brendan Moyle</dc:creator>
  <cp:lastModifiedBy>Brendan Moyle</cp:lastModifiedBy>
  <cp:revision>17</cp:revision>
  <dcterms:created xsi:type="dcterms:W3CDTF">2021-09-30T01:10:51Z</dcterms:created>
  <dcterms:modified xsi:type="dcterms:W3CDTF">2025-07-25T04:29:59Z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2022-01-25T01:36:49Z</vt:lpwstr>
  </property>
  <property fmtid="{D5CDD505-2E9C-101B-9397-08002B2CF9AE}" pid="4" name="MSIP_Label_bd9e4d68-54d0-40a5-8c9a-85a36c87352c_Method">
    <vt:lpwstr>Privileged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33b0c11e-6a5a-4ae7-a410-e7add87a2217</vt:lpwstr>
  </property>
  <property fmtid="{D5CDD505-2E9C-101B-9397-08002B2CF9AE}" pid="8" name="MSIP_Label_bd9e4d68-54d0-40a5-8c9a-85a36c87352c_ContentBits">
    <vt:lpwstr>0</vt:lpwstr>
  </property>
</Properties>
</file>