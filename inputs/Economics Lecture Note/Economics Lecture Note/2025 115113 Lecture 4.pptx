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256" r:id="rId2"/>
    <p:sldId id="373" r:id="rId3"/>
    <p:sldId id="370" r:id="rId4"/>
    <p:sldId id="371" r:id="rId5"/>
    <p:sldId id="372" r:id="rId6"/>
    <p:sldId id="374" r:id="rId7"/>
    <p:sldId id="375" r:id="rId8"/>
    <p:sldId id="376" r:id="rId9"/>
    <p:sldId id="377" r:id="rId10"/>
    <p:sldId id="257" r:id="rId11"/>
    <p:sldId id="258" r:id="rId12"/>
    <p:sldId id="259" r:id="rId13"/>
    <p:sldId id="260" r:id="rId14"/>
    <p:sldId id="261" r:id="rId15"/>
    <p:sldId id="368" r:id="rId16"/>
    <p:sldId id="352" r:id="rId17"/>
    <p:sldId id="343" r:id="rId18"/>
    <p:sldId id="280" r:id="rId19"/>
    <p:sldId id="304" r:id="rId20"/>
    <p:sldId id="342" r:id="rId21"/>
    <p:sldId id="344" r:id="rId22"/>
    <p:sldId id="305" r:id="rId23"/>
    <p:sldId id="353" r:id="rId24"/>
    <p:sldId id="354" r:id="rId25"/>
    <p:sldId id="369" r:id="rId26"/>
    <p:sldId id="355" r:id="rId27"/>
    <p:sldId id="356" r:id="rId28"/>
    <p:sldId id="357" r:id="rId29"/>
    <p:sldId id="358" r:id="rId30"/>
    <p:sldId id="309" r:id="rId31"/>
    <p:sldId id="345" r:id="rId32"/>
    <p:sldId id="359" r:id="rId33"/>
    <p:sldId id="315" r:id="rId34"/>
    <p:sldId id="361" r:id="rId35"/>
    <p:sldId id="324" r:id="rId36"/>
    <p:sldId id="348" r:id="rId37"/>
    <p:sldId id="323" r:id="rId38"/>
    <p:sldId id="334" r:id="rId39"/>
    <p:sldId id="333" r:id="rId40"/>
    <p:sldId id="325" r:id="rId41"/>
    <p:sldId id="326" r:id="rId42"/>
    <p:sldId id="328" r:id="rId43"/>
    <p:sldId id="329" r:id="rId44"/>
    <p:sldId id="363" r:id="rId45"/>
    <p:sldId id="366" r:id="rId46"/>
    <p:sldId id="367" r:id="rId47"/>
    <p:sldId id="330" r:id="rId48"/>
    <p:sldId id="33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53638"/>
    <a:srgbClr val="636852"/>
    <a:srgbClr val="EFEFEF"/>
    <a:srgbClr val="76838B"/>
    <a:srgbClr val="656A56"/>
    <a:srgbClr val="FBE0CF"/>
    <a:srgbClr val="F9EDD7"/>
    <a:srgbClr val="EABB40"/>
    <a:srgbClr val="DE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54FF43-00CD-5C47-85BD-5C3BFA902212}" v="3" dt="2023-08-06T20:55:25.7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30" autoAdjust="0"/>
    <p:restoredTop sz="96416" autoAdjust="0"/>
  </p:normalViewPr>
  <p:slideViewPr>
    <p:cSldViewPr snapToGrid="0">
      <p:cViewPr varScale="1">
        <p:scale>
          <a:sx n="160" d="100"/>
          <a:sy n="160" d="100"/>
        </p:scale>
        <p:origin x="856" y="1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5" d="100"/>
          <a:sy n="85" d="100"/>
        </p:scale>
        <p:origin x="295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BF9CFA-3F45-4B80-9281-63EEA88F0BAD}" type="doc">
      <dgm:prSet loTypeId="urn:microsoft.com/office/officeart/2005/8/layout/default" loCatId="list" qsTypeId="urn:microsoft.com/office/officeart/2005/8/quickstyle/simple2" qsCatId="simple" csTypeId="urn:microsoft.com/office/officeart/2005/8/colors/accent2_1" csCatId="accent2" phldr="1"/>
      <dgm:spPr/>
      <dgm:t>
        <a:bodyPr/>
        <a:lstStyle/>
        <a:p>
          <a:endParaRPr lang="en-NZ"/>
        </a:p>
      </dgm:t>
    </dgm:pt>
    <dgm:pt modelId="{06E87E84-9515-471F-A323-02DBEAAC1541}">
      <dgm:prSet/>
      <dgm:spPr>
        <a:solidFill>
          <a:schemeClr val="tx2">
            <a:lumMod val="20000"/>
            <a:lumOff val="80000"/>
          </a:schemeClr>
        </a:solidFill>
      </dgm:spPr>
      <dgm:t>
        <a:bodyPr/>
        <a:lstStyle/>
        <a:p>
          <a:r>
            <a:rPr lang="en-US" b="1" dirty="0"/>
            <a:t>Zero inflation</a:t>
          </a:r>
          <a:r>
            <a:rPr lang="en-US" dirty="0"/>
            <a:t> = </a:t>
          </a:r>
        </a:p>
        <a:p>
          <a:r>
            <a:rPr lang="en-US" dirty="0"/>
            <a:t>A constant price level from year to year</a:t>
          </a:r>
          <a:endParaRPr lang="en-NZ" dirty="0"/>
        </a:p>
      </dgm:t>
    </dgm:pt>
    <dgm:pt modelId="{7662A06A-10E5-4FC0-B91B-0C0951BE5BBC}" type="parTrans" cxnId="{DB9F7390-706C-46CC-8873-86B49F811F7A}">
      <dgm:prSet/>
      <dgm:spPr/>
      <dgm:t>
        <a:bodyPr/>
        <a:lstStyle/>
        <a:p>
          <a:endParaRPr lang="en-NZ"/>
        </a:p>
      </dgm:t>
    </dgm:pt>
    <dgm:pt modelId="{C212F537-F0B9-4711-95D7-956CEA8054D7}" type="sibTrans" cxnId="{DB9F7390-706C-46CC-8873-86B49F811F7A}">
      <dgm:prSet/>
      <dgm:spPr/>
      <dgm:t>
        <a:bodyPr/>
        <a:lstStyle/>
        <a:p>
          <a:endParaRPr lang="en-NZ"/>
        </a:p>
      </dgm:t>
    </dgm:pt>
    <dgm:pt modelId="{DF2C56EB-E950-4ABB-AFA9-ADECC706B704}">
      <dgm:prSet/>
      <dgm:spPr>
        <a:solidFill>
          <a:schemeClr val="tx2">
            <a:lumMod val="20000"/>
            <a:lumOff val="80000"/>
          </a:schemeClr>
        </a:solidFill>
      </dgm:spPr>
      <dgm:t>
        <a:bodyPr/>
        <a:lstStyle/>
        <a:p>
          <a:r>
            <a:rPr lang="en-US" b="1" dirty="0"/>
            <a:t>Deflation</a:t>
          </a:r>
          <a:r>
            <a:rPr lang="en-US" dirty="0"/>
            <a:t> = </a:t>
          </a:r>
        </a:p>
        <a:p>
          <a:r>
            <a:rPr lang="en-US" dirty="0"/>
            <a:t>A decrease in the general price level</a:t>
          </a:r>
          <a:endParaRPr lang="en-NZ" dirty="0"/>
        </a:p>
      </dgm:t>
    </dgm:pt>
    <dgm:pt modelId="{F0FCA48D-3AD8-4C5E-8E73-1ACD66946C5A}" type="parTrans" cxnId="{69E142A7-D60E-4355-92C7-04354E8A6EB3}">
      <dgm:prSet/>
      <dgm:spPr/>
      <dgm:t>
        <a:bodyPr/>
        <a:lstStyle/>
        <a:p>
          <a:endParaRPr lang="en-NZ"/>
        </a:p>
      </dgm:t>
    </dgm:pt>
    <dgm:pt modelId="{59CAA9D8-6E74-49CB-862E-A9230B522986}" type="sibTrans" cxnId="{69E142A7-D60E-4355-92C7-04354E8A6EB3}">
      <dgm:prSet/>
      <dgm:spPr/>
      <dgm:t>
        <a:bodyPr/>
        <a:lstStyle/>
        <a:p>
          <a:endParaRPr lang="en-NZ"/>
        </a:p>
      </dgm:t>
    </dgm:pt>
    <dgm:pt modelId="{2EFA3768-9D46-4B49-A53F-16716FEC11E9}">
      <dgm:prSet/>
      <dgm:spPr>
        <a:solidFill>
          <a:schemeClr val="tx2">
            <a:lumMod val="20000"/>
            <a:lumOff val="80000"/>
          </a:schemeClr>
        </a:solidFill>
      </dgm:spPr>
      <dgm:t>
        <a:bodyPr/>
        <a:lstStyle/>
        <a:p>
          <a:r>
            <a:rPr lang="en-US" b="1" dirty="0"/>
            <a:t>Disinflation</a:t>
          </a:r>
          <a:r>
            <a:rPr lang="en-US" dirty="0"/>
            <a:t> = </a:t>
          </a:r>
        </a:p>
        <a:p>
          <a:r>
            <a:rPr lang="en-US" dirty="0"/>
            <a:t>A decrease in the </a:t>
          </a:r>
          <a:r>
            <a:rPr lang="en-US" u="sng" dirty="0"/>
            <a:t>rate</a:t>
          </a:r>
          <a:r>
            <a:rPr lang="en-US" dirty="0"/>
            <a:t> of inflation</a:t>
          </a:r>
          <a:endParaRPr lang="en-NZ" dirty="0"/>
        </a:p>
      </dgm:t>
    </dgm:pt>
    <dgm:pt modelId="{67E28E40-BD6C-4D8B-840A-84E3DDD6E14F}" type="parTrans" cxnId="{B9528211-CF7F-4B88-98F0-8E299EDB4411}">
      <dgm:prSet/>
      <dgm:spPr/>
      <dgm:t>
        <a:bodyPr/>
        <a:lstStyle/>
        <a:p>
          <a:endParaRPr lang="en-NZ"/>
        </a:p>
      </dgm:t>
    </dgm:pt>
    <dgm:pt modelId="{FB3D40C6-38E3-4CB8-841A-78BF0A3A7BC5}" type="sibTrans" cxnId="{B9528211-CF7F-4B88-98F0-8E299EDB4411}">
      <dgm:prSet/>
      <dgm:spPr/>
      <dgm:t>
        <a:bodyPr/>
        <a:lstStyle/>
        <a:p>
          <a:endParaRPr lang="en-NZ"/>
        </a:p>
      </dgm:t>
    </dgm:pt>
    <dgm:pt modelId="{87B659A9-D9B9-450D-AC25-2BEDB518FC51}" type="pres">
      <dgm:prSet presAssocID="{C0BF9CFA-3F45-4B80-9281-63EEA88F0BAD}" presName="diagram" presStyleCnt="0">
        <dgm:presLayoutVars>
          <dgm:dir/>
          <dgm:resizeHandles val="exact"/>
        </dgm:presLayoutVars>
      </dgm:prSet>
      <dgm:spPr/>
    </dgm:pt>
    <dgm:pt modelId="{4CA0129D-3D78-4562-8D0F-C5ACB8DED75F}" type="pres">
      <dgm:prSet presAssocID="{06E87E84-9515-471F-A323-02DBEAAC1541}" presName="node" presStyleLbl="node1" presStyleIdx="0" presStyleCnt="3">
        <dgm:presLayoutVars>
          <dgm:bulletEnabled val="1"/>
        </dgm:presLayoutVars>
      </dgm:prSet>
      <dgm:spPr/>
    </dgm:pt>
    <dgm:pt modelId="{D6E4F987-6F92-403D-A280-8E4611D9F9BB}" type="pres">
      <dgm:prSet presAssocID="{C212F537-F0B9-4711-95D7-956CEA8054D7}" presName="sibTrans" presStyleCnt="0"/>
      <dgm:spPr/>
    </dgm:pt>
    <dgm:pt modelId="{68C81A75-BE3F-4B79-A5A3-48D5CBF67499}" type="pres">
      <dgm:prSet presAssocID="{DF2C56EB-E950-4ABB-AFA9-ADECC706B704}" presName="node" presStyleLbl="node1" presStyleIdx="1" presStyleCnt="3">
        <dgm:presLayoutVars>
          <dgm:bulletEnabled val="1"/>
        </dgm:presLayoutVars>
      </dgm:prSet>
      <dgm:spPr/>
    </dgm:pt>
    <dgm:pt modelId="{E90643FD-991D-4909-BD2C-236AA2E373EF}" type="pres">
      <dgm:prSet presAssocID="{59CAA9D8-6E74-49CB-862E-A9230B522986}" presName="sibTrans" presStyleCnt="0"/>
      <dgm:spPr/>
    </dgm:pt>
    <dgm:pt modelId="{C4296E85-06A9-4A15-8C69-F6C565331EDB}" type="pres">
      <dgm:prSet presAssocID="{2EFA3768-9D46-4B49-A53F-16716FEC11E9}" presName="node" presStyleLbl="node1" presStyleIdx="2" presStyleCnt="3">
        <dgm:presLayoutVars>
          <dgm:bulletEnabled val="1"/>
        </dgm:presLayoutVars>
      </dgm:prSet>
      <dgm:spPr/>
    </dgm:pt>
  </dgm:ptLst>
  <dgm:cxnLst>
    <dgm:cxn modelId="{B9528211-CF7F-4B88-98F0-8E299EDB4411}" srcId="{C0BF9CFA-3F45-4B80-9281-63EEA88F0BAD}" destId="{2EFA3768-9D46-4B49-A53F-16716FEC11E9}" srcOrd="2" destOrd="0" parTransId="{67E28E40-BD6C-4D8B-840A-84E3DDD6E14F}" sibTransId="{FB3D40C6-38E3-4CB8-841A-78BF0A3A7BC5}"/>
    <dgm:cxn modelId="{AFF56957-9FE9-4701-BD36-2B5AD2562087}" type="presOf" srcId="{DF2C56EB-E950-4ABB-AFA9-ADECC706B704}" destId="{68C81A75-BE3F-4B79-A5A3-48D5CBF67499}" srcOrd="0" destOrd="0" presId="urn:microsoft.com/office/officeart/2005/8/layout/default"/>
    <dgm:cxn modelId="{B3902980-586A-4585-8662-111ABF999D3F}" type="presOf" srcId="{06E87E84-9515-471F-A323-02DBEAAC1541}" destId="{4CA0129D-3D78-4562-8D0F-C5ACB8DED75F}" srcOrd="0" destOrd="0" presId="urn:microsoft.com/office/officeart/2005/8/layout/default"/>
    <dgm:cxn modelId="{DB9F7390-706C-46CC-8873-86B49F811F7A}" srcId="{C0BF9CFA-3F45-4B80-9281-63EEA88F0BAD}" destId="{06E87E84-9515-471F-A323-02DBEAAC1541}" srcOrd="0" destOrd="0" parTransId="{7662A06A-10E5-4FC0-B91B-0C0951BE5BBC}" sibTransId="{C212F537-F0B9-4711-95D7-956CEA8054D7}"/>
    <dgm:cxn modelId="{444ABE9D-34D8-4EC9-A1FD-1726BD7B4F20}" type="presOf" srcId="{2EFA3768-9D46-4B49-A53F-16716FEC11E9}" destId="{C4296E85-06A9-4A15-8C69-F6C565331EDB}" srcOrd="0" destOrd="0" presId="urn:microsoft.com/office/officeart/2005/8/layout/default"/>
    <dgm:cxn modelId="{69E142A7-D60E-4355-92C7-04354E8A6EB3}" srcId="{C0BF9CFA-3F45-4B80-9281-63EEA88F0BAD}" destId="{DF2C56EB-E950-4ABB-AFA9-ADECC706B704}" srcOrd="1" destOrd="0" parTransId="{F0FCA48D-3AD8-4C5E-8E73-1ACD66946C5A}" sibTransId="{59CAA9D8-6E74-49CB-862E-A9230B522986}"/>
    <dgm:cxn modelId="{7DF205EE-A320-434B-9733-83FDB2694214}" type="presOf" srcId="{C0BF9CFA-3F45-4B80-9281-63EEA88F0BAD}" destId="{87B659A9-D9B9-450D-AC25-2BEDB518FC51}" srcOrd="0" destOrd="0" presId="urn:microsoft.com/office/officeart/2005/8/layout/default"/>
    <dgm:cxn modelId="{8E65B12B-9246-494E-8DAD-4FFD01B82D21}" type="presParOf" srcId="{87B659A9-D9B9-450D-AC25-2BEDB518FC51}" destId="{4CA0129D-3D78-4562-8D0F-C5ACB8DED75F}" srcOrd="0" destOrd="0" presId="urn:microsoft.com/office/officeart/2005/8/layout/default"/>
    <dgm:cxn modelId="{1704FCBF-67AC-4513-959D-AAED26A11B14}" type="presParOf" srcId="{87B659A9-D9B9-450D-AC25-2BEDB518FC51}" destId="{D6E4F987-6F92-403D-A280-8E4611D9F9BB}" srcOrd="1" destOrd="0" presId="urn:microsoft.com/office/officeart/2005/8/layout/default"/>
    <dgm:cxn modelId="{F67AF728-004E-4A24-9E5E-41F36093D0DF}" type="presParOf" srcId="{87B659A9-D9B9-450D-AC25-2BEDB518FC51}" destId="{68C81A75-BE3F-4B79-A5A3-48D5CBF67499}" srcOrd="2" destOrd="0" presId="urn:microsoft.com/office/officeart/2005/8/layout/default"/>
    <dgm:cxn modelId="{0E4089A7-C3FA-4353-A2DB-1B68A398C242}" type="presParOf" srcId="{87B659A9-D9B9-450D-AC25-2BEDB518FC51}" destId="{E90643FD-991D-4909-BD2C-236AA2E373EF}" srcOrd="3" destOrd="0" presId="urn:microsoft.com/office/officeart/2005/8/layout/default"/>
    <dgm:cxn modelId="{98955A85-9CE8-4C48-B5C4-DC6B4A92C28E}" type="presParOf" srcId="{87B659A9-D9B9-450D-AC25-2BEDB518FC51}" destId="{C4296E85-06A9-4A15-8C69-F6C565331EDB}"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AFDCEA-C133-423B-A74D-F1D26A79893D}"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en-NZ"/>
        </a:p>
      </dgm:t>
    </dgm:pt>
    <dgm:pt modelId="{B1EAC785-F1FD-443B-A064-A6A8BC6CDBFC}">
      <dgm:prSet/>
      <dgm:spPr>
        <a:solidFill>
          <a:schemeClr val="tx2">
            <a:lumMod val="20000"/>
            <a:lumOff val="80000"/>
          </a:schemeClr>
        </a:solidFill>
      </dgm:spPr>
      <dgm:t>
        <a:bodyPr/>
        <a:lstStyle/>
        <a:p>
          <a:r>
            <a:rPr lang="en-US" dirty="0"/>
            <a:t>For people on fixed nominal income higher inflation means lower real value of income.</a:t>
          </a:r>
          <a:endParaRPr lang="en-NZ" dirty="0"/>
        </a:p>
      </dgm:t>
    </dgm:pt>
    <dgm:pt modelId="{79E70F89-A91C-4898-B813-A47ACCC7C134}" type="parTrans" cxnId="{3ECEE5C8-61DA-4036-A876-8A51AD13A073}">
      <dgm:prSet/>
      <dgm:spPr/>
      <dgm:t>
        <a:bodyPr/>
        <a:lstStyle/>
        <a:p>
          <a:endParaRPr lang="en-NZ"/>
        </a:p>
      </dgm:t>
    </dgm:pt>
    <dgm:pt modelId="{7C358962-5635-4960-A02C-A1CA2FD7B0F6}" type="sibTrans" cxnId="{3ECEE5C8-61DA-4036-A876-8A51AD13A073}">
      <dgm:prSet/>
      <dgm:spPr/>
      <dgm:t>
        <a:bodyPr/>
        <a:lstStyle/>
        <a:p>
          <a:endParaRPr lang="en-NZ"/>
        </a:p>
      </dgm:t>
    </dgm:pt>
    <dgm:pt modelId="{3334A59B-B3D5-4DD2-A32B-AF1289D4254A}">
      <dgm:prSet/>
      <dgm:spPr>
        <a:solidFill>
          <a:schemeClr val="tx2">
            <a:lumMod val="20000"/>
            <a:lumOff val="80000"/>
          </a:schemeClr>
        </a:solidFill>
      </dgm:spPr>
      <dgm:t>
        <a:bodyPr/>
        <a:lstStyle/>
        <a:p>
          <a:r>
            <a:rPr lang="en-US"/>
            <a:t>Inflation reduces the real value of debt</a:t>
          </a:r>
          <a:endParaRPr lang="en-NZ"/>
        </a:p>
      </dgm:t>
    </dgm:pt>
    <dgm:pt modelId="{2DB2D558-069B-4A42-A9E6-69115F889DE1}" type="parTrans" cxnId="{505EABC1-B0A8-4C3A-A37D-EFB50B00D5FF}">
      <dgm:prSet/>
      <dgm:spPr/>
      <dgm:t>
        <a:bodyPr/>
        <a:lstStyle/>
        <a:p>
          <a:endParaRPr lang="en-NZ"/>
        </a:p>
      </dgm:t>
    </dgm:pt>
    <dgm:pt modelId="{9B763F07-9847-4884-9F2B-E2F0F59116F8}" type="sibTrans" cxnId="{505EABC1-B0A8-4C3A-A37D-EFB50B00D5FF}">
      <dgm:prSet/>
      <dgm:spPr/>
      <dgm:t>
        <a:bodyPr/>
        <a:lstStyle/>
        <a:p>
          <a:endParaRPr lang="en-NZ"/>
        </a:p>
      </dgm:t>
    </dgm:pt>
    <dgm:pt modelId="{768D07C3-6D6D-4212-BAB7-21B2F46270B3}">
      <dgm:prSet/>
      <dgm:spPr>
        <a:solidFill>
          <a:schemeClr val="tx2">
            <a:lumMod val="20000"/>
            <a:lumOff val="80000"/>
          </a:schemeClr>
        </a:solidFill>
      </dgm:spPr>
      <dgm:t>
        <a:bodyPr/>
        <a:lstStyle/>
        <a:p>
          <a:r>
            <a:rPr lang="en-US"/>
            <a:t>Good for borrowers, bad for creditors.</a:t>
          </a:r>
          <a:endParaRPr lang="en-NZ"/>
        </a:p>
      </dgm:t>
    </dgm:pt>
    <dgm:pt modelId="{59E23122-B6E7-45B2-9E61-173C1F012F25}" type="parTrans" cxnId="{7B0B7244-D3C2-40E7-A4A0-1DED33D95811}">
      <dgm:prSet/>
      <dgm:spPr/>
      <dgm:t>
        <a:bodyPr/>
        <a:lstStyle/>
        <a:p>
          <a:endParaRPr lang="en-NZ"/>
        </a:p>
      </dgm:t>
    </dgm:pt>
    <dgm:pt modelId="{71CF75C0-2886-4379-A6FF-E69256A9A010}" type="sibTrans" cxnId="{7B0B7244-D3C2-40E7-A4A0-1DED33D95811}">
      <dgm:prSet/>
      <dgm:spPr/>
      <dgm:t>
        <a:bodyPr/>
        <a:lstStyle/>
        <a:p>
          <a:endParaRPr lang="en-NZ"/>
        </a:p>
      </dgm:t>
    </dgm:pt>
    <dgm:pt modelId="{CE415CBE-2D93-451F-9D59-9C7EF035B0BB}" type="pres">
      <dgm:prSet presAssocID="{05AFDCEA-C133-423B-A74D-F1D26A79893D}" presName="outerComposite" presStyleCnt="0">
        <dgm:presLayoutVars>
          <dgm:chMax val="5"/>
          <dgm:dir/>
          <dgm:resizeHandles val="exact"/>
        </dgm:presLayoutVars>
      </dgm:prSet>
      <dgm:spPr/>
    </dgm:pt>
    <dgm:pt modelId="{C9FB2B16-3C50-4DEE-BC3D-543E5F6D6787}" type="pres">
      <dgm:prSet presAssocID="{05AFDCEA-C133-423B-A74D-F1D26A79893D}" presName="dummyMaxCanvas" presStyleCnt="0">
        <dgm:presLayoutVars/>
      </dgm:prSet>
      <dgm:spPr/>
    </dgm:pt>
    <dgm:pt modelId="{2DFCCBA3-901F-4E37-97E7-5CF3FB06065B}" type="pres">
      <dgm:prSet presAssocID="{05AFDCEA-C133-423B-A74D-F1D26A79893D}" presName="TwoNodes_1" presStyleLbl="node1" presStyleIdx="0" presStyleCnt="2">
        <dgm:presLayoutVars>
          <dgm:bulletEnabled val="1"/>
        </dgm:presLayoutVars>
      </dgm:prSet>
      <dgm:spPr/>
    </dgm:pt>
    <dgm:pt modelId="{0187A977-74AF-47F4-B422-4C323183CE05}" type="pres">
      <dgm:prSet presAssocID="{05AFDCEA-C133-423B-A74D-F1D26A79893D}" presName="TwoNodes_2" presStyleLbl="node1" presStyleIdx="1" presStyleCnt="2">
        <dgm:presLayoutVars>
          <dgm:bulletEnabled val="1"/>
        </dgm:presLayoutVars>
      </dgm:prSet>
      <dgm:spPr/>
    </dgm:pt>
    <dgm:pt modelId="{80C01DCF-1151-4F10-8D66-49EB636B1FF2}" type="pres">
      <dgm:prSet presAssocID="{05AFDCEA-C133-423B-A74D-F1D26A79893D}" presName="TwoConn_1-2" presStyleLbl="fgAccFollowNode1" presStyleIdx="0" presStyleCnt="1">
        <dgm:presLayoutVars>
          <dgm:bulletEnabled val="1"/>
        </dgm:presLayoutVars>
      </dgm:prSet>
      <dgm:spPr/>
    </dgm:pt>
    <dgm:pt modelId="{3552BAD9-557F-4A27-A0E5-B806609DF2FA}" type="pres">
      <dgm:prSet presAssocID="{05AFDCEA-C133-423B-A74D-F1D26A79893D}" presName="TwoNodes_1_text" presStyleLbl="node1" presStyleIdx="1" presStyleCnt="2">
        <dgm:presLayoutVars>
          <dgm:bulletEnabled val="1"/>
        </dgm:presLayoutVars>
      </dgm:prSet>
      <dgm:spPr/>
    </dgm:pt>
    <dgm:pt modelId="{01F47268-42CD-46A4-A486-B8B6AF27673E}" type="pres">
      <dgm:prSet presAssocID="{05AFDCEA-C133-423B-A74D-F1D26A79893D}" presName="TwoNodes_2_text" presStyleLbl="node1" presStyleIdx="1" presStyleCnt="2">
        <dgm:presLayoutVars>
          <dgm:bulletEnabled val="1"/>
        </dgm:presLayoutVars>
      </dgm:prSet>
      <dgm:spPr/>
    </dgm:pt>
  </dgm:ptLst>
  <dgm:cxnLst>
    <dgm:cxn modelId="{7B0B7244-D3C2-40E7-A4A0-1DED33D95811}" srcId="{3334A59B-B3D5-4DD2-A32B-AF1289D4254A}" destId="{768D07C3-6D6D-4212-BAB7-21B2F46270B3}" srcOrd="0" destOrd="0" parTransId="{59E23122-B6E7-45B2-9E61-173C1F012F25}" sibTransId="{71CF75C0-2886-4379-A6FF-E69256A9A010}"/>
    <dgm:cxn modelId="{9E462F69-7729-4A2E-93D2-DB1E8355795B}" type="presOf" srcId="{768D07C3-6D6D-4212-BAB7-21B2F46270B3}" destId="{0187A977-74AF-47F4-B422-4C323183CE05}" srcOrd="0" destOrd="1" presId="urn:microsoft.com/office/officeart/2005/8/layout/vProcess5"/>
    <dgm:cxn modelId="{E41AF76D-9922-430B-B390-3EB1F2D374A9}" type="presOf" srcId="{B1EAC785-F1FD-443B-A064-A6A8BC6CDBFC}" destId="{3552BAD9-557F-4A27-A0E5-B806609DF2FA}" srcOrd="1" destOrd="0" presId="urn:microsoft.com/office/officeart/2005/8/layout/vProcess5"/>
    <dgm:cxn modelId="{AC1F9277-193B-482F-86C0-B8EF9BE79E35}" type="presOf" srcId="{05AFDCEA-C133-423B-A74D-F1D26A79893D}" destId="{CE415CBE-2D93-451F-9D59-9C7EF035B0BB}" srcOrd="0" destOrd="0" presId="urn:microsoft.com/office/officeart/2005/8/layout/vProcess5"/>
    <dgm:cxn modelId="{31C8E78C-1844-452A-94E8-9E38CD87094E}" type="presOf" srcId="{768D07C3-6D6D-4212-BAB7-21B2F46270B3}" destId="{01F47268-42CD-46A4-A486-B8B6AF27673E}" srcOrd="1" destOrd="1" presId="urn:microsoft.com/office/officeart/2005/8/layout/vProcess5"/>
    <dgm:cxn modelId="{964C6ABD-E92A-4A5F-995D-F2CB6CD6C1AD}" type="presOf" srcId="{3334A59B-B3D5-4DD2-A32B-AF1289D4254A}" destId="{0187A977-74AF-47F4-B422-4C323183CE05}" srcOrd="0" destOrd="0" presId="urn:microsoft.com/office/officeart/2005/8/layout/vProcess5"/>
    <dgm:cxn modelId="{505EABC1-B0A8-4C3A-A37D-EFB50B00D5FF}" srcId="{05AFDCEA-C133-423B-A74D-F1D26A79893D}" destId="{3334A59B-B3D5-4DD2-A32B-AF1289D4254A}" srcOrd="1" destOrd="0" parTransId="{2DB2D558-069B-4A42-A9E6-69115F889DE1}" sibTransId="{9B763F07-9847-4884-9F2B-E2F0F59116F8}"/>
    <dgm:cxn modelId="{25C9A1C5-DE3B-4C31-BCC9-865BE3E07593}" type="presOf" srcId="{7C358962-5635-4960-A02C-A1CA2FD7B0F6}" destId="{80C01DCF-1151-4F10-8D66-49EB636B1FF2}" srcOrd="0" destOrd="0" presId="urn:microsoft.com/office/officeart/2005/8/layout/vProcess5"/>
    <dgm:cxn modelId="{3ECEE5C8-61DA-4036-A876-8A51AD13A073}" srcId="{05AFDCEA-C133-423B-A74D-F1D26A79893D}" destId="{B1EAC785-F1FD-443B-A064-A6A8BC6CDBFC}" srcOrd="0" destOrd="0" parTransId="{79E70F89-A91C-4898-B813-A47ACCC7C134}" sibTransId="{7C358962-5635-4960-A02C-A1CA2FD7B0F6}"/>
    <dgm:cxn modelId="{FFECAFCA-E47E-42AA-8AFB-9D2AE313DD8C}" type="presOf" srcId="{B1EAC785-F1FD-443B-A064-A6A8BC6CDBFC}" destId="{2DFCCBA3-901F-4E37-97E7-5CF3FB06065B}" srcOrd="0" destOrd="0" presId="urn:microsoft.com/office/officeart/2005/8/layout/vProcess5"/>
    <dgm:cxn modelId="{E65BB8F4-8FFC-48CF-9B9C-069FCA540DD8}" type="presOf" srcId="{3334A59B-B3D5-4DD2-A32B-AF1289D4254A}" destId="{01F47268-42CD-46A4-A486-B8B6AF27673E}" srcOrd="1" destOrd="0" presId="urn:microsoft.com/office/officeart/2005/8/layout/vProcess5"/>
    <dgm:cxn modelId="{83B2DAF7-7567-4A8B-835E-DA0754B67142}" type="presParOf" srcId="{CE415CBE-2D93-451F-9D59-9C7EF035B0BB}" destId="{C9FB2B16-3C50-4DEE-BC3D-543E5F6D6787}" srcOrd="0" destOrd="0" presId="urn:microsoft.com/office/officeart/2005/8/layout/vProcess5"/>
    <dgm:cxn modelId="{46596451-B6FC-47AE-9809-298D15434386}" type="presParOf" srcId="{CE415CBE-2D93-451F-9D59-9C7EF035B0BB}" destId="{2DFCCBA3-901F-4E37-97E7-5CF3FB06065B}" srcOrd="1" destOrd="0" presId="urn:microsoft.com/office/officeart/2005/8/layout/vProcess5"/>
    <dgm:cxn modelId="{F857CDC6-0E28-455B-85D1-01BB3DD64F43}" type="presParOf" srcId="{CE415CBE-2D93-451F-9D59-9C7EF035B0BB}" destId="{0187A977-74AF-47F4-B422-4C323183CE05}" srcOrd="2" destOrd="0" presId="urn:microsoft.com/office/officeart/2005/8/layout/vProcess5"/>
    <dgm:cxn modelId="{28C45078-758A-4371-B125-0852C79B3E09}" type="presParOf" srcId="{CE415CBE-2D93-451F-9D59-9C7EF035B0BB}" destId="{80C01DCF-1151-4F10-8D66-49EB636B1FF2}" srcOrd="3" destOrd="0" presId="urn:microsoft.com/office/officeart/2005/8/layout/vProcess5"/>
    <dgm:cxn modelId="{F1960EC2-0561-49C9-BFD2-DC913767F0D5}" type="presParOf" srcId="{CE415CBE-2D93-451F-9D59-9C7EF035B0BB}" destId="{3552BAD9-557F-4A27-A0E5-B806609DF2FA}" srcOrd="4" destOrd="0" presId="urn:microsoft.com/office/officeart/2005/8/layout/vProcess5"/>
    <dgm:cxn modelId="{EEFB0AA0-E87D-4606-A874-FAE257ABDC2B}" type="presParOf" srcId="{CE415CBE-2D93-451F-9D59-9C7EF035B0BB}" destId="{01F47268-42CD-46A4-A486-B8B6AF27673E}"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6BEA07-9A9A-4751-B2F4-96E0DF0C2C2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NZ"/>
        </a:p>
      </dgm:t>
    </dgm:pt>
    <dgm:pt modelId="{FFD61D47-8193-4948-9B4D-E72132C752D9}">
      <dgm:prSet/>
      <dgm:spPr/>
      <dgm:t>
        <a:bodyPr/>
        <a:lstStyle/>
        <a:p>
          <a:r>
            <a:rPr lang="en-US"/>
            <a:t>The Fisher equation:</a:t>
          </a:r>
          <a:endParaRPr lang="en-NZ"/>
        </a:p>
      </dgm:t>
    </dgm:pt>
    <dgm:pt modelId="{596171A7-1637-4F66-8572-DCEFFB6D2AAF}" type="parTrans" cxnId="{498648FE-464F-4D69-9B0B-E724B33D1436}">
      <dgm:prSet/>
      <dgm:spPr/>
      <dgm:t>
        <a:bodyPr/>
        <a:lstStyle/>
        <a:p>
          <a:endParaRPr lang="en-NZ"/>
        </a:p>
      </dgm:t>
    </dgm:pt>
    <dgm:pt modelId="{7846ACB7-CEF0-4F39-87B7-B93F61721FEA}" type="sibTrans" cxnId="{498648FE-464F-4D69-9B0B-E724B33D1436}">
      <dgm:prSet/>
      <dgm:spPr/>
      <dgm:t>
        <a:bodyPr/>
        <a:lstStyle/>
        <a:p>
          <a:endParaRPr lang="en-NZ"/>
        </a:p>
      </dgm:t>
    </dgm:pt>
    <dgm:pt modelId="{AFED33BA-3722-4C49-A5E0-9FFFFD13FE20}">
      <dgm:prSet/>
      <dgm:spPr/>
      <dgm:t>
        <a:bodyPr/>
        <a:lstStyle/>
        <a:p>
          <a:r>
            <a:rPr lang="en-US" b="0" dirty="0"/>
            <a:t>Real interest rate = Nominal interest rate – Inflation rate</a:t>
          </a:r>
          <a:endParaRPr lang="en-NZ" b="0" dirty="0"/>
        </a:p>
      </dgm:t>
    </dgm:pt>
    <dgm:pt modelId="{D88413C3-DC2C-4A33-9A6F-A5C559DD667D}" type="parTrans" cxnId="{BEC27837-6402-42F3-878A-C837093064AC}">
      <dgm:prSet/>
      <dgm:spPr/>
      <dgm:t>
        <a:bodyPr/>
        <a:lstStyle/>
        <a:p>
          <a:endParaRPr lang="en-NZ"/>
        </a:p>
      </dgm:t>
    </dgm:pt>
    <dgm:pt modelId="{64D6474B-65E0-4D0E-A52E-14FC35F76E08}" type="sibTrans" cxnId="{BEC27837-6402-42F3-878A-C837093064AC}">
      <dgm:prSet/>
      <dgm:spPr/>
      <dgm:t>
        <a:bodyPr/>
        <a:lstStyle/>
        <a:p>
          <a:endParaRPr lang="en-NZ"/>
        </a:p>
      </dgm:t>
    </dgm:pt>
    <dgm:pt modelId="{6C7B08E9-6D2F-4098-96A8-935FD944E70B}">
      <dgm:prSet/>
      <dgm:spPr/>
      <dgm:t>
        <a:bodyPr/>
        <a:lstStyle/>
        <a:p>
          <a:r>
            <a:rPr lang="en-US" dirty="0"/>
            <a:t>or </a:t>
          </a:r>
          <a:br>
            <a:rPr lang="en-US" b="1" dirty="0"/>
          </a:br>
          <a:r>
            <a:rPr lang="en-US" b="0" dirty="0">
              <a:solidFill>
                <a:srgbClr val="FF0000"/>
              </a:solidFill>
            </a:rPr>
            <a:t>r = </a:t>
          </a:r>
          <a:r>
            <a:rPr lang="en-US" b="0" dirty="0" err="1">
              <a:solidFill>
                <a:srgbClr val="FF0000"/>
              </a:solidFill>
            </a:rPr>
            <a:t>i</a:t>
          </a:r>
          <a:r>
            <a:rPr lang="en-US" b="0" dirty="0">
              <a:solidFill>
                <a:srgbClr val="FF0000"/>
              </a:solidFill>
            </a:rPr>
            <a:t> – </a:t>
          </a:r>
          <a:r>
            <a:rPr lang="el-GR" b="0" dirty="0">
              <a:solidFill>
                <a:srgbClr val="FF0000"/>
              </a:solidFill>
            </a:rPr>
            <a:t>π</a:t>
          </a:r>
          <a:r>
            <a:rPr lang="en-US" b="0" dirty="0">
              <a:solidFill>
                <a:srgbClr val="FF0000"/>
              </a:solidFill>
            </a:rPr>
            <a:t> </a:t>
          </a:r>
          <a:endParaRPr lang="en-NZ" b="0" dirty="0">
            <a:solidFill>
              <a:srgbClr val="FF0000"/>
            </a:solidFill>
          </a:endParaRPr>
        </a:p>
      </dgm:t>
    </dgm:pt>
    <dgm:pt modelId="{F47BE0F6-0539-4DD4-B1A0-E4C3C99395B8}" type="parTrans" cxnId="{DE8EFDD8-17D5-449C-9907-7AE973501C29}">
      <dgm:prSet/>
      <dgm:spPr/>
      <dgm:t>
        <a:bodyPr/>
        <a:lstStyle/>
        <a:p>
          <a:endParaRPr lang="en-NZ"/>
        </a:p>
      </dgm:t>
    </dgm:pt>
    <dgm:pt modelId="{E04634E7-106A-4466-A235-A555B0B67EEC}" type="sibTrans" cxnId="{DE8EFDD8-17D5-449C-9907-7AE973501C29}">
      <dgm:prSet/>
      <dgm:spPr/>
      <dgm:t>
        <a:bodyPr/>
        <a:lstStyle/>
        <a:p>
          <a:endParaRPr lang="en-NZ"/>
        </a:p>
      </dgm:t>
    </dgm:pt>
    <dgm:pt modelId="{F437438B-E627-4311-B35B-FDC9220228F0}" type="pres">
      <dgm:prSet presAssocID="{D16BEA07-9A9A-4751-B2F4-96E0DF0C2C22}" presName="vert0" presStyleCnt="0">
        <dgm:presLayoutVars>
          <dgm:dir/>
          <dgm:animOne val="branch"/>
          <dgm:animLvl val="lvl"/>
        </dgm:presLayoutVars>
      </dgm:prSet>
      <dgm:spPr/>
    </dgm:pt>
    <dgm:pt modelId="{44C7B16D-48E6-457C-ADCF-AF705F27BBEE}" type="pres">
      <dgm:prSet presAssocID="{FFD61D47-8193-4948-9B4D-E72132C752D9}" presName="thickLine" presStyleLbl="alignNode1" presStyleIdx="0" presStyleCnt="3"/>
      <dgm:spPr/>
    </dgm:pt>
    <dgm:pt modelId="{7AF9A293-B8A5-4405-BFF0-93E0BB876778}" type="pres">
      <dgm:prSet presAssocID="{FFD61D47-8193-4948-9B4D-E72132C752D9}" presName="horz1" presStyleCnt="0"/>
      <dgm:spPr/>
    </dgm:pt>
    <dgm:pt modelId="{AD901D14-D195-429D-B7B5-C9D775DC7E08}" type="pres">
      <dgm:prSet presAssocID="{FFD61D47-8193-4948-9B4D-E72132C752D9}" presName="tx1" presStyleLbl="revTx" presStyleIdx="0" presStyleCnt="3"/>
      <dgm:spPr/>
    </dgm:pt>
    <dgm:pt modelId="{7E1633B3-C758-4ECD-A15B-A02A70CDEA15}" type="pres">
      <dgm:prSet presAssocID="{FFD61D47-8193-4948-9B4D-E72132C752D9}" presName="vert1" presStyleCnt="0"/>
      <dgm:spPr/>
    </dgm:pt>
    <dgm:pt modelId="{6AEE5905-A4DE-46B9-9977-3BB81678016B}" type="pres">
      <dgm:prSet presAssocID="{AFED33BA-3722-4C49-A5E0-9FFFFD13FE20}" presName="thickLine" presStyleLbl="alignNode1" presStyleIdx="1" presStyleCnt="3"/>
      <dgm:spPr/>
    </dgm:pt>
    <dgm:pt modelId="{D3DB75E2-EBC9-468D-9E8B-B12674BE5814}" type="pres">
      <dgm:prSet presAssocID="{AFED33BA-3722-4C49-A5E0-9FFFFD13FE20}" presName="horz1" presStyleCnt="0"/>
      <dgm:spPr/>
    </dgm:pt>
    <dgm:pt modelId="{656D0460-7DAF-43DF-B594-6FAACEAF0A34}" type="pres">
      <dgm:prSet presAssocID="{AFED33BA-3722-4C49-A5E0-9FFFFD13FE20}" presName="tx1" presStyleLbl="revTx" presStyleIdx="1" presStyleCnt="3"/>
      <dgm:spPr/>
    </dgm:pt>
    <dgm:pt modelId="{C785B7B0-7E6A-45B1-9A4A-665D0289D3A7}" type="pres">
      <dgm:prSet presAssocID="{AFED33BA-3722-4C49-A5E0-9FFFFD13FE20}" presName="vert1" presStyleCnt="0"/>
      <dgm:spPr/>
    </dgm:pt>
    <dgm:pt modelId="{06D40351-7E98-4606-8D01-012A36220E5D}" type="pres">
      <dgm:prSet presAssocID="{6C7B08E9-6D2F-4098-96A8-935FD944E70B}" presName="thickLine" presStyleLbl="alignNode1" presStyleIdx="2" presStyleCnt="3"/>
      <dgm:spPr/>
    </dgm:pt>
    <dgm:pt modelId="{A4723AF9-6516-4339-B4E8-2F9C08FE14BC}" type="pres">
      <dgm:prSet presAssocID="{6C7B08E9-6D2F-4098-96A8-935FD944E70B}" presName="horz1" presStyleCnt="0"/>
      <dgm:spPr/>
    </dgm:pt>
    <dgm:pt modelId="{584B7CCE-70DA-463F-A039-1160D81AE419}" type="pres">
      <dgm:prSet presAssocID="{6C7B08E9-6D2F-4098-96A8-935FD944E70B}" presName="tx1" presStyleLbl="revTx" presStyleIdx="2" presStyleCnt="3"/>
      <dgm:spPr/>
    </dgm:pt>
    <dgm:pt modelId="{EE6F83ED-B0AB-45BA-BFA8-8CBB0C952E09}" type="pres">
      <dgm:prSet presAssocID="{6C7B08E9-6D2F-4098-96A8-935FD944E70B}" presName="vert1" presStyleCnt="0"/>
      <dgm:spPr/>
    </dgm:pt>
  </dgm:ptLst>
  <dgm:cxnLst>
    <dgm:cxn modelId="{DB43302F-94DA-4233-A620-9D9D99BB5055}" type="presOf" srcId="{D16BEA07-9A9A-4751-B2F4-96E0DF0C2C22}" destId="{F437438B-E627-4311-B35B-FDC9220228F0}" srcOrd="0" destOrd="0" presId="urn:microsoft.com/office/officeart/2008/layout/LinedList"/>
    <dgm:cxn modelId="{BEC27837-6402-42F3-878A-C837093064AC}" srcId="{D16BEA07-9A9A-4751-B2F4-96E0DF0C2C22}" destId="{AFED33BA-3722-4C49-A5E0-9FFFFD13FE20}" srcOrd="1" destOrd="0" parTransId="{D88413C3-DC2C-4A33-9A6F-A5C559DD667D}" sibTransId="{64D6474B-65E0-4D0E-A52E-14FC35F76E08}"/>
    <dgm:cxn modelId="{082624D0-542E-4D68-9E56-13854568FC3B}" type="presOf" srcId="{FFD61D47-8193-4948-9B4D-E72132C752D9}" destId="{AD901D14-D195-429D-B7B5-C9D775DC7E08}" srcOrd="0" destOrd="0" presId="urn:microsoft.com/office/officeart/2008/layout/LinedList"/>
    <dgm:cxn modelId="{DE8EFDD8-17D5-449C-9907-7AE973501C29}" srcId="{D16BEA07-9A9A-4751-B2F4-96E0DF0C2C22}" destId="{6C7B08E9-6D2F-4098-96A8-935FD944E70B}" srcOrd="2" destOrd="0" parTransId="{F47BE0F6-0539-4DD4-B1A0-E4C3C99395B8}" sibTransId="{E04634E7-106A-4466-A235-A555B0B67EEC}"/>
    <dgm:cxn modelId="{D18309E0-A814-4FC4-B876-312D24327039}" type="presOf" srcId="{AFED33BA-3722-4C49-A5E0-9FFFFD13FE20}" destId="{656D0460-7DAF-43DF-B594-6FAACEAF0A34}" srcOrd="0" destOrd="0" presId="urn:microsoft.com/office/officeart/2008/layout/LinedList"/>
    <dgm:cxn modelId="{078AEAF4-B202-49EE-86C6-BD7D4FD03571}" type="presOf" srcId="{6C7B08E9-6D2F-4098-96A8-935FD944E70B}" destId="{584B7CCE-70DA-463F-A039-1160D81AE419}" srcOrd="0" destOrd="0" presId="urn:microsoft.com/office/officeart/2008/layout/LinedList"/>
    <dgm:cxn modelId="{498648FE-464F-4D69-9B0B-E724B33D1436}" srcId="{D16BEA07-9A9A-4751-B2F4-96E0DF0C2C22}" destId="{FFD61D47-8193-4948-9B4D-E72132C752D9}" srcOrd="0" destOrd="0" parTransId="{596171A7-1637-4F66-8572-DCEFFB6D2AAF}" sibTransId="{7846ACB7-CEF0-4F39-87B7-B93F61721FEA}"/>
    <dgm:cxn modelId="{7A298150-EB85-484B-80EA-D3C8E94547D4}" type="presParOf" srcId="{F437438B-E627-4311-B35B-FDC9220228F0}" destId="{44C7B16D-48E6-457C-ADCF-AF705F27BBEE}" srcOrd="0" destOrd="0" presId="urn:microsoft.com/office/officeart/2008/layout/LinedList"/>
    <dgm:cxn modelId="{EFF0FD58-C4C9-4A24-8A34-7DCF131DDD5B}" type="presParOf" srcId="{F437438B-E627-4311-B35B-FDC9220228F0}" destId="{7AF9A293-B8A5-4405-BFF0-93E0BB876778}" srcOrd="1" destOrd="0" presId="urn:microsoft.com/office/officeart/2008/layout/LinedList"/>
    <dgm:cxn modelId="{11C66301-B121-45CE-89C3-31B20600204D}" type="presParOf" srcId="{7AF9A293-B8A5-4405-BFF0-93E0BB876778}" destId="{AD901D14-D195-429D-B7B5-C9D775DC7E08}" srcOrd="0" destOrd="0" presId="urn:microsoft.com/office/officeart/2008/layout/LinedList"/>
    <dgm:cxn modelId="{4F37A7FD-804B-4CA7-BFDC-037035E4F189}" type="presParOf" srcId="{7AF9A293-B8A5-4405-BFF0-93E0BB876778}" destId="{7E1633B3-C758-4ECD-A15B-A02A70CDEA15}" srcOrd="1" destOrd="0" presId="urn:microsoft.com/office/officeart/2008/layout/LinedList"/>
    <dgm:cxn modelId="{3B7EB855-32FE-4AE9-A31E-9146C135E775}" type="presParOf" srcId="{F437438B-E627-4311-B35B-FDC9220228F0}" destId="{6AEE5905-A4DE-46B9-9977-3BB81678016B}" srcOrd="2" destOrd="0" presId="urn:microsoft.com/office/officeart/2008/layout/LinedList"/>
    <dgm:cxn modelId="{6BD66576-30E0-4BB0-9449-54ED8BCE0596}" type="presParOf" srcId="{F437438B-E627-4311-B35B-FDC9220228F0}" destId="{D3DB75E2-EBC9-468D-9E8B-B12674BE5814}" srcOrd="3" destOrd="0" presId="urn:microsoft.com/office/officeart/2008/layout/LinedList"/>
    <dgm:cxn modelId="{23C3CDE8-0677-4675-8E46-A15C60EE4503}" type="presParOf" srcId="{D3DB75E2-EBC9-468D-9E8B-B12674BE5814}" destId="{656D0460-7DAF-43DF-B594-6FAACEAF0A34}" srcOrd="0" destOrd="0" presId="urn:microsoft.com/office/officeart/2008/layout/LinedList"/>
    <dgm:cxn modelId="{E2703BB1-9873-4EE4-99D9-88B439E428BE}" type="presParOf" srcId="{D3DB75E2-EBC9-468D-9E8B-B12674BE5814}" destId="{C785B7B0-7E6A-45B1-9A4A-665D0289D3A7}" srcOrd="1" destOrd="0" presId="urn:microsoft.com/office/officeart/2008/layout/LinedList"/>
    <dgm:cxn modelId="{158FEF1E-F4DA-42D5-8AFD-F6CDF38D3501}" type="presParOf" srcId="{F437438B-E627-4311-B35B-FDC9220228F0}" destId="{06D40351-7E98-4606-8D01-012A36220E5D}" srcOrd="4" destOrd="0" presId="urn:microsoft.com/office/officeart/2008/layout/LinedList"/>
    <dgm:cxn modelId="{CCDE2B49-BF1C-47D1-AE29-A7691CB3D374}" type="presParOf" srcId="{F437438B-E627-4311-B35B-FDC9220228F0}" destId="{A4723AF9-6516-4339-B4E8-2F9C08FE14BC}" srcOrd="5" destOrd="0" presId="urn:microsoft.com/office/officeart/2008/layout/LinedList"/>
    <dgm:cxn modelId="{FE6E5FBB-8312-42FA-AFC0-B65997B1251E}" type="presParOf" srcId="{A4723AF9-6516-4339-B4E8-2F9C08FE14BC}" destId="{584B7CCE-70DA-463F-A039-1160D81AE419}" srcOrd="0" destOrd="0" presId="urn:microsoft.com/office/officeart/2008/layout/LinedList"/>
    <dgm:cxn modelId="{90BE9706-0441-407F-B668-4F503D4F1913}" type="presParOf" srcId="{A4723AF9-6516-4339-B4E8-2F9C08FE14BC}" destId="{EE6F83ED-B0AB-45BA-BFA8-8CBB0C952E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939879-B2C3-4B33-BD22-587102BC2C4C}" type="doc">
      <dgm:prSet loTypeId="urn:microsoft.com/office/officeart/2005/8/layout/orgChart1" loCatId="hierarchy" qsTypeId="urn:microsoft.com/office/officeart/2005/8/quickstyle/simple1" qsCatId="simple" csTypeId="urn:microsoft.com/office/officeart/2005/8/colors/accent2_1" csCatId="accent2" phldr="1"/>
      <dgm:spPr/>
      <dgm:t>
        <a:bodyPr/>
        <a:lstStyle/>
        <a:p>
          <a:endParaRPr lang="en-NZ"/>
        </a:p>
      </dgm:t>
    </dgm:pt>
    <dgm:pt modelId="{4B2C486E-E99F-4B27-905B-9C442FDD1A17}">
      <dgm:prSet/>
      <dgm:spPr>
        <a:solidFill>
          <a:schemeClr val="tx2">
            <a:lumMod val="20000"/>
            <a:lumOff val="80000"/>
          </a:schemeClr>
        </a:solidFill>
      </dgm:spPr>
      <dgm:t>
        <a:bodyPr/>
        <a:lstStyle/>
        <a:p>
          <a:r>
            <a:rPr lang="en-US" dirty="0"/>
            <a:t>High rate of inflation makes the economy work less well: </a:t>
          </a:r>
          <a:endParaRPr lang="en-NZ" dirty="0"/>
        </a:p>
      </dgm:t>
    </dgm:pt>
    <dgm:pt modelId="{5E0B294A-B491-4CCE-B38B-FC0179A1319A}" type="parTrans" cxnId="{3AE9E506-905F-414E-9F45-0C851028E518}">
      <dgm:prSet/>
      <dgm:spPr/>
      <dgm:t>
        <a:bodyPr/>
        <a:lstStyle/>
        <a:p>
          <a:endParaRPr lang="en-NZ"/>
        </a:p>
      </dgm:t>
    </dgm:pt>
    <dgm:pt modelId="{9DD4DDA1-FDF4-47D3-8F10-F5C8BAF5D8FA}" type="sibTrans" cxnId="{3AE9E506-905F-414E-9F45-0C851028E518}">
      <dgm:prSet/>
      <dgm:spPr/>
      <dgm:t>
        <a:bodyPr/>
        <a:lstStyle/>
        <a:p>
          <a:endParaRPr lang="en-NZ"/>
        </a:p>
      </dgm:t>
    </dgm:pt>
    <dgm:pt modelId="{946559D3-B628-4763-8213-1270DDD41A20}">
      <dgm:prSet/>
      <dgm:spPr>
        <a:solidFill>
          <a:schemeClr val="tx2">
            <a:lumMod val="20000"/>
            <a:lumOff val="80000"/>
          </a:schemeClr>
        </a:solidFill>
      </dgm:spPr>
      <dgm:t>
        <a:bodyPr/>
        <a:lstStyle/>
        <a:p>
          <a:r>
            <a:rPr lang="en-US" dirty="0"/>
            <a:t>High inflation is often volatile → uncertainty</a:t>
          </a:r>
          <a:endParaRPr lang="en-NZ" dirty="0"/>
        </a:p>
      </dgm:t>
    </dgm:pt>
    <dgm:pt modelId="{D328D95B-4CDE-467F-A356-E542A15F3994}" type="parTrans" cxnId="{2E3B9062-0B2B-45EE-9436-BC59A1D884FF}">
      <dgm:prSet/>
      <dgm:spPr/>
      <dgm:t>
        <a:bodyPr/>
        <a:lstStyle/>
        <a:p>
          <a:endParaRPr lang="en-NZ"/>
        </a:p>
      </dgm:t>
    </dgm:pt>
    <dgm:pt modelId="{8DA52615-3B04-42CC-88C1-CA445ABD2FAC}" type="sibTrans" cxnId="{2E3B9062-0B2B-45EE-9436-BC59A1D884FF}">
      <dgm:prSet/>
      <dgm:spPr/>
      <dgm:t>
        <a:bodyPr/>
        <a:lstStyle/>
        <a:p>
          <a:endParaRPr lang="en-NZ"/>
        </a:p>
      </dgm:t>
    </dgm:pt>
    <dgm:pt modelId="{7B60DDF6-C469-4099-B3E6-9293F74BB1DC}">
      <dgm:prSet/>
      <dgm:spPr>
        <a:solidFill>
          <a:schemeClr val="tx2">
            <a:lumMod val="20000"/>
            <a:lumOff val="80000"/>
          </a:schemeClr>
        </a:solidFill>
      </dgm:spPr>
      <dgm:t>
        <a:bodyPr/>
        <a:lstStyle/>
        <a:p>
          <a:r>
            <a:rPr lang="en-US" dirty="0"/>
            <a:t>Produces struggle to distinguish between changes in </a:t>
          </a:r>
          <a:r>
            <a:rPr lang="en-US" b="1" dirty="0"/>
            <a:t>relative prices </a:t>
          </a:r>
          <a:r>
            <a:rPr lang="en-US" dirty="0"/>
            <a:t>and inflation</a:t>
          </a:r>
          <a:endParaRPr lang="en-NZ" dirty="0"/>
        </a:p>
      </dgm:t>
    </dgm:pt>
    <dgm:pt modelId="{E1117D15-4413-4288-8160-ABF492B0C9F4}" type="parTrans" cxnId="{B76E747C-CA41-4649-94E2-9BE6FD57BD9E}">
      <dgm:prSet/>
      <dgm:spPr/>
      <dgm:t>
        <a:bodyPr/>
        <a:lstStyle/>
        <a:p>
          <a:endParaRPr lang="en-NZ"/>
        </a:p>
      </dgm:t>
    </dgm:pt>
    <dgm:pt modelId="{D3A21609-6364-448E-A30C-9208A925D78D}" type="sibTrans" cxnId="{B76E747C-CA41-4649-94E2-9BE6FD57BD9E}">
      <dgm:prSet/>
      <dgm:spPr/>
      <dgm:t>
        <a:bodyPr/>
        <a:lstStyle/>
        <a:p>
          <a:endParaRPr lang="en-NZ"/>
        </a:p>
      </dgm:t>
    </dgm:pt>
    <dgm:pt modelId="{F788FC9E-43E4-4FAD-A8E4-E312B6AF0CC1}">
      <dgm:prSet/>
      <dgm:spPr>
        <a:solidFill>
          <a:schemeClr val="tx2">
            <a:lumMod val="20000"/>
            <a:lumOff val="80000"/>
          </a:schemeClr>
        </a:solidFill>
      </dgm:spPr>
      <dgm:t>
        <a:bodyPr/>
        <a:lstStyle/>
        <a:p>
          <a:r>
            <a:rPr lang="en-GB" b="1" dirty="0"/>
            <a:t>menu costs </a:t>
          </a:r>
          <a:r>
            <a:rPr lang="en-GB" dirty="0"/>
            <a:t>as firms have to update their prices more frequently</a:t>
          </a:r>
          <a:endParaRPr lang="en-NZ" dirty="0"/>
        </a:p>
      </dgm:t>
    </dgm:pt>
    <dgm:pt modelId="{B9AB75A3-321F-46E2-95C4-8BA7B46E0502}" type="parTrans" cxnId="{4CE4F00D-7BE8-49CF-A1AE-E26D29E2FE5A}">
      <dgm:prSet/>
      <dgm:spPr/>
      <dgm:t>
        <a:bodyPr/>
        <a:lstStyle/>
        <a:p>
          <a:endParaRPr lang="en-NZ"/>
        </a:p>
      </dgm:t>
    </dgm:pt>
    <dgm:pt modelId="{431D963C-6B40-49E5-AD5C-1B4844341F41}" type="sibTrans" cxnId="{4CE4F00D-7BE8-49CF-A1AE-E26D29E2FE5A}">
      <dgm:prSet/>
      <dgm:spPr/>
      <dgm:t>
        <a:bodyPr/>
        <a:lstStyle/>
        <a:p>
          <a:endParaRPr lang="en-NZ"/>
        </a:p>
      </dgm:t>
    </dgm:pt>
    <dgm:pt modelId="{401A3172-6196-4478-83CD-3AD6CBBE2E4C}" type="pres">
      <dgm:prSet presAssocID="{44939879-B2C3-4B33-BD22-587102BC2C4C}" presName="hierChild1" presStyleCnt="0">
        <dgm:presLayoutVars>
          <dgm:orgChart val="1"/>
          <dgm:chPref val="1"/>
          <dgm:dir/>
          <dgm:animOne val="branch"/>
          <dgm:animLvl val="lvl"/>
          <dgm:resizeHandles/>
        </dgm:presLayoutVars>
      </dgm:prSet>
      <dgm:spPr/>
    </dgm:pt>
    <dgm:pt modelId="{D0850C12-E30B-41EF-95F2-1A9E17913D37}" type="pres">
      <dgm:prSet presAssocID="{4B2C486E-E99F-4B27-905B-9C442FDD1A17}" presName="hierRoot1" presStyleCnt="0">
        <dgm:presLayoutVars>
          <dgm:hierBranch val="init"/>
        </dgm:presLayoutVars>
      </dgm:prSet>
      <dgm:spPr/>
    </dgm:pt>
    <dgm:pt modelId="{943C590B-9B53-44EB-B67C-1DA6A9169468}" type="pres">
      <dgm:prSet presAssocID="{4B2C486E-E99F-4B27-905B-9C442FDD1A17}" presName="rootComposite1" presStyleCnt="0"/>
      <dgm:spPr/>
    </dgm:pt>
    <dgm:pt modelId="{546C5CC6-AA8B-4DB5-BED8-2B22216A40BC}" type="pres">
      <dgm:prSet presAssocID="{4B2C486E-E99F-4B27-905B-9C442FDD1A17}" presName="rootText1" presStyleLbl="node0" presStyleIdx="0" presStyleCnt="1">
        <dgm:presLayoutVars>
          <dgm:chPref val="3"/>
        </dgm:presLayoutVars>
      </dgm:prSet>
      <dgm:spPr/>
    </dgm:pt>
    <dgm:pt modelId="{88220A08-897B-490C-A9F5-FE0DFFC53832}" type="pres">
      <dgm:prSet presAssocID="{4B2C486E-E99F-4B27-905B-9C442FDD1A17}" presName="rootConnector1" presStyleLbl="node1" presStyleIdx="0" presStyleCnt="0"/>
      <dgm:spPr/>
    </dgm:pt>
    <dgm:pt modelId="{AFDB498C-E78A-4A05-AABC-40575668DB4F}" type="pres">
      <dgm:prSet presAssocID="{4B2C486E-E99F-4B27-905B-9C442FDD1A17}" presName="hierChild2" presStyleCnt="0"/>
      <dgm:spPr/>
    </dgm:pt>
    <dgm:pt modelId="{AAA59A50-6A4B-4335-B23D-70A12E51841C}" type="pres">
      <dgm:prSet presAssocID="{D328D95B-4CDE-467F-A356-E542A15F3994}" presName="Name37" presStyleLbl="parChTrans1D2" presStyleIdx="0" presStyleCnt="3"/>
      <dgm:spPr/>
    </dgm:pt>
    <dgm:pt modelId="{05D50E03-25E1-4DF5-BBB9-E9755CD8A8D0}" type="pres">
      <dgm:prSet presAssocID="{946559D3-B628-4763-8213-1270DDD41A20}" presName="hierRoot2" presStyleCnt="0">
        <dgm:presLayoutVars>
          <dgm:hierBranch val="init"/>
        </dgm:presLayoutVars>
      </dgm:prSet>
      <dgm:spPr/>
    </dgm:pt>
    <dgm:pt modelId="{3FCE7972-4405-4A58-BBB0-4345A70A2426}" type="pres">
      <dgm:prSet presAssocID="{946559D3-B628-4763-8213-1270DDD41A20}" presName="rootComposite" presStyleCnt="0"/>
      <dgm:spPr/>
    </dgm:pt>
    <dgm:pt modelId="{C65D8638-EF6C-4428-9D95-16B089CC188D}" type="pres">
      <dgm:prSet presAssocID="{946559D3-B628-4763-8213-1270DDD41A20}" presName="rootText" presStyleLbl="node2" presStyleIdx="0" presStyleCnt="3">
        <dgm:presLayoutVars>
          <dgm:chPref val="3"/>
        </dgm:presLayoutVars>
      </dgm:prSet>
      <dgm:spPr/>
    </dgm:pt>
    <dgm:pt modelId="{9531A4DB-5D49-4508-81F2-82C8D6A82D59}" type="pres">
      <dgm:prSet presAssocID="{946559D3-B628-4763-8213-1270DDD41A20}" presName="rootConnector" presStyleLbl="node2" presStyleIdx="0" presStyleCnt="3"/>
      <dgm:spPr/>
    </dgm:pt>
    <dgm:pt modelId="{073EDFBA-567D-4172-B5CD-0849A6BB666E}" type="pres">
      <dgm:prSet presAssocID="{946559D3-B628-4763-8213-1270DDD41A20}" presName="hierChild4" presStyleCnt="0"/>
      <dgm:spPr/>
    </dgm:pt>
    <dgm:pt modelId="{4777BDCB-F3BE-4DD6-A6C9-8E76F8999199}" type="pres">
      <dgm:prSet presAssocID="{946559D3-B628-4763-8213-1270DDD41A20}" presName="hierChild5" presStyleCnt="0"/>
      <dgm:spPr/>
    </dgm:pt>
    <dgm:pt modelId="{1890BAA9-D595-468E-A6AD-CD97C9BD4E11}" type="pres">
      <dgm:prSet presAssocID="{E1117D15-4413-4288-8160-ABF492B0C9F4}" presName="Name37" presStyleLbl="parChTrans1D2" presStyleIdx="1" presStyleCnt="3"/>
      <dgm:spPr/>
    </dgm:pt>
    <dgm:pt modelId="{D77AAA92-E57C-48ED-AD7F-12D94990A50C}" type="pres">
      <dgm:prSet presAssocID="{7B60DDF6-C469-4099-B3E6-9293F74BB1DC}" presName="hierRoot2" presStyleCnt="0">
        <dgm:presLayoutVars>
          <dgm:hierBranch val="init"/>
        </dgm:presLayoutVars>
      </dgm:prSet>
      <dgm:spPr/>
    </dgm:pt>
    <dgm:pt modelId="{E12B6E23-481D-4062-80E5-9823AF8D5E89}" type="pres">
      <dgm:prSet presAssocID="{7B60DDF6-C469-4099-B3E6-9293F74BB1DC}" presName="rootComposite" presStyleCnt="0"/>
      <dgm:spPr/>
    </dgm:pt>
    <dgm:pt modelId="{604C33F4-33AF-4F4C-A372-0C99EA916B7B}" type="pres">
      <dgm:prSet presAssocID="{7B60DDF6-C469-4099-B3E6-9293F74BB1DC}" presName="rootText" presStyleLbl="node2" presStyleIdx="1" presStyleCnt="3">
        <dgm:presLayoutVars>
          <dgm:chPref val="3"/>
        </dgm:presLayoutVars>
      </dgm:prSet>
      <dgm:spPr/>
    </dgm:pt>
    <dgm:pt modelId="{A3979082-5764-4CF1-AA63-EA0C50E5F155}" type="pres">
      <dgm:prSet presAssocID="{7B60DDF6-C469-4099-B3E6-9293F74BB1DC}" presName="rootConnector" presStyleLbl="node2" presStyleIdx="1" presStyleCnt="3"/>
      <dgm:spPr/>
    </dgm:pt>
    <dgm:pt modelId="{509A5873-0087-4725-8439-4011BA6C1378}" type="pres">
      <dgm:prSet presAssocID="{7B60DDF6-C469-4099-B3E6-9293F74BB1DC}" presName="hierChild4" presStyleCnt="0"/>
      <dgm:spPr/>
    </dgm:pt>
    <dgm:pt modelId="{964AF12E-E400-4F17-8AC2-401005D15184}" type="pres">
      <dgm:prSet presAssocID="{7B60DDF6-C469-4099-B3E6-9293F74BB1DC}" presName="hierChild5" presStyleCnt="0"/>
      <dgm:spPr/>
    </dgm:pt>
    <dgm:pt modelId="{8920834A-4562-41DB-AD87-47ECD147613E}" type="pres">
      <dgm:prSet presAssocID="{B9AB75A3-321F-46E2-95C4-8BA7B46E0502}" presName="Name37" presStyleLbl="parChTrans1D2" presStyleIdx="2" presStyleCnt="3"/>
      <dgm:spPr/>
    </dgm:pt>
    <dgm:pt modelId="{1E19E2C7-7D9B-424F-B37C-6BF8EB41633A}" type="pres">
      <dgm:prSet presAssocID="{F788FC9E-43E4-4FAD-A8E4-E312B6AF0CC1}" presName="hierRoot2" presStyleCnt="0">
        <dgm:presLayoutVars>
          <dgm:hierBranch val="init"/>
        </dgm:presLayoutVars>
      </dgm:prSet>
      <dgm:spPr/>
    </dgm:pt>
    <dgm:pt modelId="{7DCE1AAE-9195-4DEA-B7AF-22EB30C89A17}" type="pres">
      <dgm:prSet presAssocID="{F788FC9E-43E4-4FAD-A8E4-E312B6AF0CC1}" presName="rootComposite" presStyleCnt="0"/>
      <dgm:spPr/>
    </dgm:pt>
    <dgm:pt modelId="{7EFDAF6D-BA34-4575-BAF6-91C25C9A4241}" type="pres">
      <dgm:prSet presAssocID="{F788FC9E-43E4-4FAD-A8E4-E312B6AF0CC1}" presName="rootText" presStyleLbl="node2" presStyleIdx="2" presStyleCnt="3">
        <dgm:presLayoutVars>
          <dgm:chPref val="3"/>
        </dgm:presLayoutVars>
      </dgm:prSet>
      <dgm:spPr/>
    </dgm:pt>
    <dgm:pt modelId="{4A0DE66E-6325-4D7D-A013-7134830F1DA5}" type="pres">
      <dgm:prSet presAssocID="{F788FC9E-43E4-4FAD-A8E4-E312B6AF0CC1}" presName="rootConnector" presStyleLbl="node2" presStyleIdx="2" presStyleCnt="3"/>
      <dgm:spPr/>
    </dgm:pt>
    <dgm:pt modelId="{06B5E4F3-3D2A-4C95-854B-B7D8127B28DD}" type="pres">
      <dgm:prSet presAssocID="{F788FC9E-43E4-4FAD-A8E4-E312B6AF0CC1}" presName="hierChild4" presStyleCnt="0"/>
      <dgm:spPr/>
    </dgm:pt>
    <dgm:pt modelId="{889D170B-9B62-45A4-8180-7F96BC22F985}" type="pres">
      <dgm:prSet presAssocID="{F788FC9E-43E4-4FAD-A8E4-E312B6AF0CC1}" presName="hierChild5" presStyleCnt="0"/>
      <dgm:spPr/>
    </dgm:pt>
    <dgm:pt modelId="{9F4F21E5-0D15-4DDF-8E14-6F1879B46CC1}" type="pres">
      <dgm:prSet presAssocID="{4B2C486E-E99F-4B27-905B-9C442FDD1A17}" presName="hierChild3" presStyleCnt="0"/>
      <dgm:spPr/>
    </dgm:pt>
  </dgm:ptLst>
  <dgm:cxnLst>
    <dgm:cxn modelId="{3AE9E506-905F-414E-9F45-0C851028E518}" srcId="{44939879-B2C3-4B33-BD22-587102BC2C4C}" destId="{4B2C486E-E99F-4B27-905B-9C442FDD1A17}" srcOrd="0" destOrd="0" parTransId="{5E0B294A-B491-4CCE-B38B-FC0179A1319A}" sibTransId="{9DD4DDA1-FDF4-47D3-8F10-F5C8BAF5D8FA}"/>
    <dgm:cxn modelId="{4CE4F00D-7BE8-49CF-A1AE-E26D29E2FE5A}" srcId="{4B2C486E-E99F-4B27-905B-9C442FDD1A17}" destId="{F788FC9E-43E4-4FAD-A8E4-E312B6AF0CC1}" srcOrd="2" destOrd="0" parTransId="{B9AB75A3-321F-46E2-95C4-8BA7B46E0502}" sibTransId="{431D963C-6B40-49E5-AD5C-1B4844341F41}"/>
    <dgm:cxn modelId="{8B23351A-0840-4156-87A2-637731A9F390}" type="presOf" srcId="{946559D3-B628-4763-8213-1270DDD41A20}" destId="{C65D8638-EF6C-4428-9D95-16B089CC188D}" srcOrd="0" destOrd="0" presId="urn:microsoft.com/office/officeart/2005/8/layout/orgChart1"/>
    <dgm:cxn modelId="{8B87CE26-9A87-458F-AA4B-3C20D4C7D7FD}" type="presOf" srcId="{B9AB75A3-321F-46E2-95C4-8BA7B46E0502}" destId="{8920834A-4562-41DB-AD87-47ECD147613E}" srcOrd="0" destOrd="0" presId="urn:microsoft.com/office/officeart/2005/8/layout/orgChart1"/>
    <dgm:cxn modelId="{0740A327-5D07-484C-9745-24E705529D01}" type="presOf" srcId="{F788FC9E-43E4-4FAD-A8E4-E312B6AF0CC1}" destId="{7EFDAF6D-BA34-4575-BAF6-91C25C9A4241}" srcOrd="0" destOrd="0" presId="urn:microsoft.com/office/officeart/2005/8/layout/orgChart1"/>
    <dgm:cxn modelId="{0A185431-B27F-4F29-AD67-2AE8DB2D5A98}" type="presOf" srcId="{7B60DDF6-C469-4099-B3E6-9293F74BB1DC}" destId="{A3979082-5764-4CF1-AA63-EA0C50E5F155}" srcOrd="1" destOrd="0" presId="urn:microsoft.com/office/officeart/2005/8/layout/orgChart1"/>
    <dgm:cxn modelId="{09CA0539-5ABE-48FF-9719-1BFCF5148704}" type="presOf" srcId="{F788FC9E-43E4-4FAD-A8E4-E312B6AF0CC1}" destId="{4A0DE66E-6325-4D7D-A013-7134830F1DA5}" srcOrd="1" destOrd="0" presId="urn:microsoft.com/office/officeart/2005/8/layout/orgChart1"/>
    <dgm:cxn modelId="{6BA31E40-B11D-4746-901D-DAAAA3AB6CCD}" type="presOf" srcId="{44939879-B2C3-4B33-BD22-587102BC2C4C}" destId="{401A3172-6196-4478-83CD-3AD6CBBE2E4C}" srcOrd="0" destOrd="0" presId="urn:microsoft.com/office/officeart/2005/8/layout/orgChart1"/>
    <dgm:cxn modelId="{7D62B155-5DEE-4BB1-8F7E-2E84556FBEE5}" type="presOf" srcId="{7B60DDF6-C469-4099-B3E6-9293F74BB1DC}" destId="{604C33F4-33AF-4F4C-A372-0C99EA916B7B}" srcOrd="0" destOrd="0" presId="urn:microsoft.com/office/officeart/2005/8/layout/orgChart1"/>
    <dgm:cxn modelId="{2E3B9062-0B2B-45EE-9436-BC59A1D884FF}" srcId="{4B2C486E-E99F-4B27-905B-9C442FDD1A17}" destId="{946559D3-B628-4763-8213-1270DDD41A20}" srcOrd="0" destOrd="0" parTransId="{D328D95B-4CDE-467F-A356-E542A15F3994}" sibTransId="{8DA52615-3B04-42CC-88C1-CA445ABD2FAC}"/>
    <dgm:cxn modelId="{D2092963-7414-4F52-AED5-86D6E4947826}" type="presOf" srcId="{4B2C486E-E99F-4B27-905B-9C442FDD1A17}" destId="{88220A08-897B-490C-A9F5-FE0DFFC53832}" srcOrd="1" destOrd="0" presId="urn:microsoft.com/office/officeart/2005/8/layout/orgChart1"/>
    <dgm:cxn modelId="{B76E747C-CA41-4649-94E2-9BE6FD57BD9E}" srcId="{4B2C486E-E99F-4B27-905B-9C442FDD1A17}" destId="{7B60DDF6-C469-4099-B3E6-9293F74BB1DC}" srcOrd="1" destOrd="0" parTransId="{E1117D15-4413-4288-8160-ABF492B0C9F4}" sibTransId="{D3A21609-6364-448E-A30C-9208A925D78D}"/>
    <dgm:cxn modelId="{4EF7F19D-A597-4A76-B9C3-0386C8DACB02}" type="presOf" srcId="{4B2C486E-E99F-4B27-905B-9C442FDD1A17}" destId="{546C5CC6-AA8B-4DB5-BED8-2B22216A40BC}" srcOrd="0" destOrd="0" presId="urn:microsoft.com/office/officeart/2005/8/layout/orgChart1"/>
    <dgm:cxn modelId="{95BA14A5-542E-4D61-B170-DB6EB14CC480}" type="presOf" srcId="{E1117D15-4413-4288-8160-ABF492B0C9F4}" destId="{1890BAA9-D595-468E-A6AD-CD97C9BD4E11}" srcOrd="0" destOrd="0" presId="urn:microsoft.com/office/officeart/2005/8/layout/orgChart1"/>
    <dgm:cxn modelId="{896E29C8-FFFA-4C07-8A6B-CD3FD86C7EE4}" type="presOf" srcId="{D328D95B-4CDE-467F-A356-E542A15F3994}" destId="{AAA59A50-6A4B-4335-B23D-70A12E51841C}" srcOrd="0" destOrd="0" presId="urn:microsoft.com/office/officeart/2005/8/layout/orgChart1"/>
    <dgm:cxn modelId="{275894FF-5023-41D7-8B63-4A880EB20A94}" type="presOf" srcId="{946559D3-B628-4763-8213-1270DDD41A20}" destId="{9531A4DB-5D49-4508-81F2-82C8D6A82D59}" srcOrd="1" destOrd="0" presId="urn:microsoft.com/office/officeart/2005/8/layout/orgChart1"/>
    <dgm:cxn modelId="{8FFA2E47-5397-45BD-880B-FCCC3CF3521B}" type="presParOf" srcId="{401A3172-6196-4478-83CD-3AD6CBBE2E4C}" destId="{D0850C12-E30B-41EF-95F2-1A9E17913D37}" srcOrd="0" destOrd="0" presId="urn:microsoft.com/office/officeart/2005/8/layout/orgChart1"/>
    <dgm:cxn modelId="{71C504A5-1117-4BC6-B930-170D7172A656}" type="presParOf" srcId="{D0850C12-E30B-41EF-95F2-1A9E17913D37}" destId="{943C590B-9B53-44EB-B67C-1DA6A9169468}" srcOrd="0" destOrd="0" presId="urn:microsoft.com/office/officeart/2005/8/layout/orgChart1"/>
    <dgm:cxn modelId="{E1845157-9F99-44B2-827B-8C419D5F1332}" type="presParOf" srcId="{943C590B-9B53-44EB-B67C-1DA6A9169468}" destId="{546C5CC6-AA8B-4DB5-BED8-2B22216A40BC}" srcOrd="0" destOrd="0" presId="urn:microsoft.com/office/officeart/2005/8/layout/orgChart1"/>
    <dgm:cxn modelId="{1ED50947-3A63-47C9-8ADC-AAF3AC4F0AAD}" type="presParOf" srcId="{943C590B-9B53-44EB-B67C-1DA6A9169468}" destId="{88220A08-897B-490C-A9F5-FE0DFFC53832}" srcOrd="1" destOrd="0" presId="urn:microsoft.com/office/officeart/2005/8/layout/orgChart1"/>
    <dgm:cxn modelId="{68153B78-6A99-48F7-AAAA-82E8E28B6569}" type="presParOf" srcId="{D0850C12-E30B-41EF-95F2-1A9E17913D37}" destId="{AFDB498C-E78A-4A05-AABC-40575668DB4F}" srcOrd="1" destOrd="0" presId="urn:microsoft.com/office/officeart/2005/8/layout/orgChart1"/>
    <dgm:cxn modelId="{E03DA807-1A7A-46BE-8CC1-8B53BD0A5A87}" type="presParOf" srcId="{AFDB498C-E78A-4A05-AABC-40575668DB4F}" destId="{AAA59A50-6A4B-4335-B23D-70A12E51841C}" srcOrd="0" destOrd="0" presId="urn:microsoft.com/office/officeart/2005/8/layout/orgChart1"/>
    <dgm:cxn modelId="{3AF14D93-BEEF-4533-84D0-5661796A6805}" type="presParOf" srcId="{AFDB498C-E78A-4A05-AABC-40575668DB4F}" destId="{05D50E03-25E1-4DF5-BBB9-E9755CD8A8D0}" srcOrd="1" destOrd="0" presId="urn:microsoft.com/office/officeart/2005/8/layout/orgChart1"/>
    <dgm:cxn modelId="{DEAE6412-E5F0-4F68-846E-1BC2258EDBC2}" type="presParOf" srcId="{05D50E03-25E1-4DF5-BBB9-E9755CD8A8D0}" destId="{3FCE7972-4405-4A58-BBB0-4345A70A2426}" srcOrd="0" destOrd="0" presId="urn:microsoft.com/office/officeart/2005/8/layout/orgChart1"/>
    <dgm:cxn modelId="{E2CFCB7B-BFD9-46FF-A113-4A5A55CDF5B8}" type="presParOf" srcId="{3FCE7972-4405-4A58-BBB0-4345A70A2426}" destId="{C65D8638-EF6C-4428-9D95-16B089CC188D}" srcOrd="0" destOrd="0" presId="urn:microsoft.com/office/officeart/2005/8/layout/orgChart1"/>
    <dgm:cxn modelId="{1852DE67-ADE5-4EB7-A412-5F0EA7C184EC}" type="presParOf" srcId="{3FCE7972-4405-4A58-BBB0-4345A70A2426}" destId="{9531A4DB-5D49-4508-81F2-82C8D6A82D59}" srcOrd="1" destOrd="0" presId="urn:microsoft.com/office/officeart/2005/8/layout/orgChart1"/>
    <dgm:cxn modelId="{27C47B7E-6D42-441B-8EBF-5818E83FA09C}" type="presParOf" srcId="{05D50E03-25E1-4DF5-BBB9-E9755CD8A8D0}" destId="{073EDFBA-567D-4172-B5CD-0849A6BB666E}" srcOrd="1" destOrd="0" presId="urn:microsoft.com/office/officeart/2005/8/layout/orgChart1"/>
    <dgm:cxn modelId="{C03C0B7B-D1E4-437E-AE6B-E5C4F1BF4ACC}" type="presParOf" srcId="{05D50E03-25E1-4DF5-BBB9-E9755CD8A8D0}" destId="{4777BDCB-F3BE-4DD6-A6C9-8E76F8999199}" srcOrd="2" destOrd="0" presId="urn:microsoft.com/office/officeart/2005/8/layout/orgChart1"/>
    <dgm:cxn modelId="{2D13D3BA-A835-4092-A7CC-C8A77C816F4A}" type="presParOf" srcId="{AFDB498C-E78A-4A05-AABC-40575668DB4F}" destId="{1890BAA9-D595-468E-A6AD-CD97C9BD4E11}" srcOrd="2" destOrd="0" presId="urn:microsoft.com/office/officeart/2005/8/layout/orgChart1"/>
    <dgm:cxn modelId="{E5887425-A620-489B-8095-AF57BC3A6F13}" type="presParOf" srcId="{AFDB498C-E78A-4A05-AABC-40575668DB4F}" destId="{D77AAA92-E57C-48ED-AD7F-12D94990A50C}" srcOrd="3" destOrd="0" presId="urn:microsoft.com/office/officeart/2005/8/layout/orgChart1"/>
    <dgm:cxn modelId="{159683AB-5A44-4FC2-96BE-4D71A521647B}" type="presParOf" srcId="{D77AAA92-E57C-48ED-AD7F-12D94990A50C}" destId="{E12B6E23-481D-4062-80E5-9823AF8D5E89}" srcOrd="0" destOrd="0" presId="urn:microsoft.com/office/officeart/2005/8/layout/orgChart1"/>
    <dgm:cxn modelId="{6A43918D-18BB-4F13-B58C-5B218A0D4472}" type="presParOf" srcId="{E12B6E23-481D-4062-80E5-9823AF8D5E89}" destId="{604C33F4-33AF-4F4C-A372-0C99EA916B7B}" srcOrd="0" destOrd="0" presId="urn:microsoft.com/office/officeart/2005/8/layout/orgChart1"/>
    <dgm:cxn modelId="{D71883E2-A77A-4932-853A-ADD088E1C2BA}" type="presParOf" srcId="{E12B6E23-481D-4062-80E5-9823AF8D5E89}" destId="{A3979082-5764-4CF1-AA63-EA0C50E5F155}" srcOrd="1" destOrd="0" presId="urn:microsoft.com/office/officeart/2005/8/layout/orgChart1"/>
    <dgm:cxn modelId="{1E33F804-129D-42F0-9F9C-8F45FB6916EA}" type="presParOf" srcId="{D77AAA92-E57C-48ED-AD7F-12D94990A50C}" destId="{509A5873-0087-4725-8439-4011BA6C1378}" srcOrd="1" destOrd="0" presId="urn:microsoft.com/office/officeart/2005/8/layout/orgChart1"/>
    <dgm:cxn modelId="{6D4DF4DF-9C51-439C-BE95-BDDE36789CB9}" type="presParOf" srcId="{D77AAA92-E57C-48ED-AD7F-12D94990A50C}" destId="{964AF12E-E400-4F17-8AC2-401005D15184}" srcOrd="2" destOrd="0" presId="urn:microsoft.com/office/officeart/2005/8/layout/orgChart1"/>
    <dgm:cxn modelId="{6D2F0CF8-9BDF-4788-884E-73DA072B5FB1}" type="presParOf" srcId="{AFDB498C-E78A-4A05-AABC-40575668DB4F}" destId="{8920834A-4562-41DB-AD87-47ECD147613E}" srcOrd="4" destOrd="0" presId="urn:microsoft.com/office/officeart/2005/8/layout/orgChart1"/>
    <dgm:cxn modelId="{62006789-8420-4ACC-B2BC-DE179550C66A}" type="presParOf" srcId="{AFDB498C-E78A-4A05-AABC-40575668DB4F}" destId="{1E19E2C7-7D9B-424F-B37C-6BF8EB41633A}" srcOrd="5" destOrd="0" presId="urn:microsoft.com/office/officeart/2005/8/layout/orgChart1"/>
    <dgm:cxn modelId="{5E535171-35BC-4898-B586-41168C04FE61}" type="presParOf" srcId="{1E19E2C7-7D9B-424F-B37C-6BF8EB41633A}" destId="{7DCE1AAE-9195-4DEA-B7AF-22EB30C89A17}" srcOrd="0" destOrd="0" presId="urn:microsoft.com/office/officeart/2005/8/layout/orgChart1"/>
    <dgm:cxn modelId="{626E7E69-B8C4-41EE-B2E7-71D2B9CFD94F}" type="presParOf" srcId="{7DCE1AAE-9195-4DEA-B7AF-22EB30C89A17}" destId="{7EFDAF6D-BA34-4575-BAF6-91C25C9A4241}" srcOrd="0" destOrd="0" presId="urn:microsoft.com/office/officeart/2005/8/layout/orgChart1"/>
    <dgm:cxn modelId="{330AA4F8-2D9E-4637-8CDA-BB8156643888}" type="presParOf" srcId="{7DCE1AAE-9195-4DEA-B7AF-22EB30C89A17}" destId="{4A0DE66E-6325-4D7D-A013-7134830F1DA5}" srcOrd="1" destOrd="0" presId="urn:microsoft.com/office/officeart/2005/8/layout/orgChart1"/>
    <dgm:cxn modelId="{137A06BC-CB9A-4D6D-B3FC-54B2A75B507C}" type="presParOf" srcId="{1E19E2C7-7D9B-424F-B37C-6BF8EB41633A}" destId="{06B5E4F3-3D2A-4C95-854B-B7D8127B28DD}" srcOrd="1" destOrd="0" presId="urn:microsoft.com/office/officeart/2005/8/layout/orgChart1"/>
    <dgm:cxn modelId="{FE0CB4BC-07FC-43A6-88AA-7EBE16B732A6}" type="presParOf" srcId="{1E19E2C7-7D9B-424F-B37C-6BF8EB41633A}" destId="{889D170B-9B62-45A4-8180-7F96BC22F985}" srcOrd="2" destOrd="0" presId="urn:microsoft.com/office/officeart/2005/8/layout/orgChart1"/>
    <dgm:cxn modelId="{FC8AFAF9-F18A-45CA-8319-D63FC5081F32}" type="presParOf" srcId="{D0850C12-E30B-41EF-95F2-1A9E17913D37}" destId="{9F4F21E5-0D15-4DDF-8E14-6F1879B46CC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F071E1-6B3B-49C9-90E5-38B41D66B7C3}" type="doc">
      <dgm:prSet loTypeId="urn:microsoft.com/office/officeart/2005/8/layout/process4" loCatId="list" qsTypeId="urn:microsoft.com/office/officeart/2005/8/quickstyle/simple1" qsCatId="simple" csTypeId="urn:microsoft.com/office/officeart/2005/8/colors/accent2_1" csCatId="accent2" phldr="1"/>
      <dgm:spPr/>
      <dgm:t>
        <a:bodyPr/>
        <a:lstStyle/>
        <a:p>
          <a:endParaRPr lang="en-NZ"/>
        </a:p>
      </dgm:t>
    </dgm:pt>
    <dgm:pt modelId="{20821AD7-ABD5-4350-B7B0-C88F2A5F483E}">
      <dgm:prSet/>
      <dgm:spPr>
        <a:solidFill>
          <a:schemeClr val="tx2">
            <a:lumMod val="20000"/>
            <a:lumOff val="80000"/>
          </a:schemeClr>
        </a:solidFill>
      </dgm:spPr>
      <dgm:t>
        <a:bodyPr/>
        <a:lstStyle/>
        <a:p>
          <a:r>
            <a:rPr lang="en-GB" dirty="0"/>
            <a:t>Deflation could have even more dramatic consequences than high inflation.</a:t>
          </a:r>
          <a:endParaRPr lang="en-NZ" dirty="0"/>
        </a:p>
      </dgm:t>
    </dgm:pt>
    <dgm:pt modelId="{0BD37510-88B7-478A-8D2C-2CB0797CDEF8}" type="parTrans" cxnId="{7BAF58B4-841D-4ADC-984B-D40DD0746027}">
      <dgm:prSet/>
      <dgm:spPr/>
      <dgm:t>
        <a:bodyPr/>
        <a:lstStyle/>
        <a:p>
          <a:endParaRPr lang="en-NZ"/>
        </a:p>
      </dgm:t>
    </dgm:pt>
    <dgm:pt modelId="{9525260F-8217-479F-BE71-F8AB4C8D2C53}" type="sibTrans" cxnId="{7BAF58B4-841D-4ADC-984B-D40DD0746027}">
      <dgm:prSet/>
      <dgm:spPr/>
      <dgm:t>
        <a:bodyPr/>
        <a:lstStyle/>
        <a:p>
          <a:endParaRPr lang="en-NZ"/>
        </a:p>
      </dgm:t>
    </dgm:pt>
    <dgm:pt modelId="{8340E190-806A-4B62-881E-E359E7415934}">
      <dgm:prSet/>
      <dgm:spPr>
        <a:solidFill>
          <a:schemeClr val="tx2">
            <a:lumMod val="20000"/>
            <a:lumOff val="80000"/>
          </a:schemeClr>
        </a:solidFill>
      </dgm:spPr>
      <dgm:t>
        <a:bodyPr/>
        <a:lstStyle/>
        <a:p>
          <a:r>
            <a:rPr lang="en-GB" dirty="0"/>
            <a:t>Households will </a:t>
          </a:r>
          <a:r>
            <a:rPr lang="en-GB" u="sng" dirty="0"/>
            <a:t>postpone consumption </a:t>
          </a:r>
          <a:r>
            <a:rPr lang="en-GB" dirty="0"/>
            <a:t>(particularly of durables) because they expect goods will be cheaper in the future. </a:t>
          </a:r>
          <a:endParaRPr lang="en-NZ" dirty="0"/>
        </a:p>
      </dgm:t>
    </dgm:pt>
    <dgm:pt modelId="{858DA8B1-A69E-4D14-89BB-7B69C6CA6CE7}" type="parTrans" cxnId="{F5C201C4-EA44-471F-8B9F-156AAD01A3F5}">
      <dgm:prSet/>
      <dgm:spPr/>
      <dgm:t>
        <a:bodyPr/>
        <a:lstStyle/>
        <a:p>
          <a:endParaRPr lang="en-NZ"/>
        </a:p>
      </dgm:t>
    </dgm:pt>
    <dgm:pt modelId="{1B2FF16B-4C85-4C25-B07F-1D52F998F4B1}" type="sibTrans" cxnId="{F5C201C4-EA44-471F-8B9F-156AAD01A3F5}">
      <dgm:prSet/>
      <dgm:spPr/>
      <dgm:t>
        <a:bodyPr/>
        <a:lstStyle/>
        <a:p>
          <a:endParaRPr lang="en-NZ"/>
        </a:p>
      </dgm:t>
    </dgm:pt>
    <dgm:pt modelId="{483233C4-927E-4668-894B-DE113D3612D8}" type="pres">
      <dgm:prSet presAssocID="{68F071E1-6B3B-49C9-90E5-38B41D66B7C3}" presName="Name0" presStyleCnt="0">
        <dgm:presLayoutVars>
          <dgm:dir/>
          <dgm:animLvl val="lvl"/>
          <dgm:resizeHandles val="exact"/>
        </dgm:presLayoutVars>
      </dgm:prSet>
      <dgm:spPr/>
    </dgm:pt>
    <dgm:pt modelId="{531A9C1D-E78B-4268-A320-D4A4CC494C4F}" type="pres">
      <dgm:prSet presAssocID="{8340E190-806A-4B62-881E-E359E7415934}" presName="boxAndChildren" presStyleCnt="0"/>
      <dgm:spPr/>
    </dgm:pt>
    <dgm:pt modelId="{E5FFB8F4-DB9B-475E-9E68-2E0D73F58BE2}" type="pres">
      <dgm:prSet presAssocID="{8340E190-806A-4B62-881E-E359E7415934}" presName="parentTextBox" presStyleLbl="node1" presStyleIdx="0" presStyleCnt="2"/>
      <dgm:spPr/>
    </dgm:pt>
    <dgm:pt modelId="{4EA686CD-42EF-4892-8C08-8A3906D85B07}" type="pres">
      <dgm:prSet presAssocID="{9525260F-8217-479F-BE71-F8AB4C8D2C53}" presName="sp" presStyleCnt="0"/>
      <dgm:spPr/>
    </dgm:pt>
    <dgm:pt modelId="{D4515D3B-0B0F-45ED-86C0-708D80F8E8A6}" type="pres">
      <dgm:prSet presAssocID="{20821AD7-ABD5-4350-B7B0-C88F2A5F483E}" presName="arrowAndChildren" presStyleCnt="0"/>
      <dgm:spPr/>
    </dgm:pt>
    <dgm:pt modelId="{7FF67779-0894-44F9-B53B-95F9B8A721F5}" type="pres">
      <dgm:prSet presAssocID="{20821AD7-ABD5-4350-B7B0-C88F2A5F483E}" presName="parentTextArrow" presStyleLbl="node1" presStyleIdx="1" presStyleCnt="2"/>
      <dgm:spPr/>
    </dgm:pt>
  </dgm:ptLst>
  <dgm:cxnLst>
    <dgm:cxn modelId="{DE7EE094-9FF0-46BD-83E0-E7A2344FC98D}" type="presOf" srcId="{8340E190-806A-4B62-881E-E359E7415934}" destId="{E5FFB8F4-DB9B-475E-9E68-2E0D73F58BE2}" srcOrd="0" destOrd="0" presId="urn:microsoft.com/office/officeart/2005/8/layout/process4"/>
    <dgm:cxn modelId="{7BAF58B4-841D-4ADC-984B-D40DD0746027}" srcId="{68F071E1-6B3B-49C9-90E5-38B41D66B7C3}" destId="{20821AD7-ABD5-4350-B7B0-C88F2A5F483E}" srcOrd="0" destOrd="0" parTransId="{0BD37510-88B7-478A-8D2C-2CB0797CDEF8}" sibTransId="{9525260F-8217-479F-BE71-F8AB4C8D2C53}"/>
    <dgm:cxn modelId="{F5C201C4-EA44-471F-8B9F-156AAD01A3F5}" srcId="{68F071E1-6B3B-49C9-90E5-38B41D66B7C3}" destId="{8340E190-806A-4B62-881E-E359E7415934}" srcOrd="1" destOrd="0" parTransId="{858DA8B1-A69E-4D14-89BB-7B69C6CA6CE7}" sibTransId="{1B2FF16B-4C85-4C25-B07F-1D52F998F4B1}"/>
    <dgm:cxn modelId="{A2C34AC8-5BF0-4EE0-8345-F6900DCCB682}" type="presOf" srcId="{68F071E1-6B3B-49C9-90E5-38B41D66B7C3}" destId="{483233C4-927E-4668-894B-DE113D3612D8}" srcOrd="0" destOrd="0" presId="urn:microsoft.com/office/officeart/2005/8/layout/process4"/>
    <dgm:cxn modelId="{6E76EBCC-4211-4638-A331-0C055375B349}" type="presOf" srcId="{20821AD7-ABD5-4350-B7B0-C88F2A5F483E}" destId="{7FF67779-0894-44F9-B53B-95F9B8A721F5}" srcOrd="0" destOrd="0" presId="urn:microsoft.com/office/officeart/2005/8/layout/process4"/>
    <dgm:cxn modelId="{3FD370ED-31ED-4F7A-8877-C6B8BB3BF378}" type="presParOf" srcId="{483233C4-927E-4668-894B-DE113D3612D8}" destId="{531A9C1D-E78B-4268-A320-D4A4CC494C4F}" srcOrd="0" destOrd="0" presId="urn:microsoft.com/office/officeart/2005/8/layout/process4"/>
    <dgm:cxn modelId="{93D54CD3-5D6A-4717-AF2F-3110436085AE}" type="presParOf" srcId="{531A9C1D-E78B-4268-A320-D4A4CC494C4F}" destId="{E5FFB8F4-DB9B-475E-9E68-2E0D73F58BE2}" srcOrd="0" destOrd="0" presId="urn:microsoft.com/office/officeart/2005/8/layout/process4"/>
    <dgm:cxn modelId="{98D5D49D-2B8C-48B3-B199-F2EDD7EDEA00}" type="presParOf" srcId="{483233C4-927E-4668-894B-DE113D3612D8}" destId="{4EA686CD-42EF-4892-8C08-8A3906D85B07}" srcOrd="1" destOrd="0" presId="urn:microsoft.com/office/officeart/2005/8/layout/process4"/>
    <dgm:cxn modelId="{C97BBED5-7331-4D62-82FD-4EBFE913223A}" type="presParOf" srcId="{483233C4-927E-4668-894B-DE113D3612D8}" destId="{D4515D3B-0B0F-45ED-86C0-708D80F8E8A6}" srcOrd="2" destOrd="0" presId="urn:microsoft.com/office/officeart/2005/8/layout/process4"/>
    <dgm:cxn modelId="{FF082640-626A-4EB6-9564-66805C7CA9DB}" type="presParOf" srcId="{D4515D3B-0B0F-45ED-86C0-708D80F8E8A6}" destId="{7FF67779-0894-44F9-B53B-95F9B8A721F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F071E1-6B3B-49C9-90E5-38B41D66B7C3}" type="doc">
      <dgm:prSet loTypeId="urn:microsoft.com/office/officeart/2005/8/layout/process4" loCatId="list" qsTypeId="urn:microsoft.com/office/officeart/2005/8/quickstyle/simple1" qsCatId="simple" csTypeId="urn:microsoft.com/office/officeart/2005/8/colors/accent2_1" csCatId="accent2" phldr="1"/>
      <dgm:spPr/>
      <dgm:t>
        <a:bodyPr/>
        <a:lstStyle/>
        <a:p>
          <a:endParaRPr lang="en-NZ"/>
        </a:p>
      </dgm:t>
    </dgm:pt>
    <dgm:pt modelId="{81C75427-61C2-45A6-9487-AC6F40325B37}">
      <dgm:prSet/>
      <dgm:spPr>
        <a:solidFill>
          <a:schemeClr val="tx2">
            <a:lumMod val="20000"/>
            <a:lumOff val="80000"/>
          </a:schemeClr>
        </a:solidFill>
      </dgm:spPr>
      <dgm:t>
        <a:bodyPr/>
        <a:lstStyle/>
        <a:p>
          <a:r>
            <a:rPr lang="en-GB" dirty="0"/>
            <a:t>Deflation also increases the real debt burden, </a:t>
          </a:r>
          <a:endParaRPr lang="en-NZ" dirty="0"/>
        </a:p>
      </dgm:t>
    </dgm:pt>
    <dgm:pt modelId="{34D087CD-4C13-4681-9009-E1026E042E52}" type="parTrans" cxnId="{55CACAE2-CA75-4BED-A1BB-EB0DBCED7822}">
      <dgm:prSet/>
      <dgm:spPr/>
      <dgm:t>
        <a:bodyPr/>
        <a:lstStyle/>
        <a:p>
          <a:endParaRPr lang="en-NZ"/>
        </a:p>
      </dgm:t>
    </dgm:pt>
    <dgm:pt modelId="{EBA1B417-0553-43FB-8316-099732650D2D}" type="sibTrans" cxnId="{55CACAE2-CA75-4BED-A1BB-EB0DBCED7822}">
      <dgm:prSet/>
      <dgm:spPr/>
      <dgm:t>
        <a:bodyPr/>
        <a:lstStyle/>
        <a:p>
          <a:endParaRPr lang="en-NZ"/>
        </a:p>
      </dgm:t>
    </dgm:pt>
    <dgm:pt modelId="{F38E297A-0B69-4D9A-900D-1FDE34DDA8BC}">
      <dgm:prSet/>
      <dgm:spPr>
        <a:solidFill>
          <a:schemeClr val="tx2">
            <a:lumMod val="20000"/>
            <a:lumOff val="80000"/>
          </a:schemeClr>
        </a:solidFill>
      </dgm:spPr>
      <dgm:t>
        <a:bodyPr/>
        <a:lstStyle/>
        <a:p>
          <a:r>
            <a:rPr lang="en-GB" dirty="0"/>
            <a:t>This is similar to a negative shock to aggregate demand.</a:t>
          </a:r>
          <a:endParaRPr lang="en-NZ" dirty="0"/>
        </a:p>
      </dgm:t>
    </dgm:pt>
    <dgm:pt modelId="{E372D404-1A23-4580-BACC-F602D4DEAEED}" type="parTrans" cxnId="{874FF8B1-9838-4D60-80C7-19C10F249016}">
      <dgm:prSet/>
      <dgm:spPr/>
      <dgm:t>
        <a:bodyPr/>
        <a:lstStyle/>
        <a:p>
          <a:endParaRPr lang="en-NZ"/>
        </a:p>
      </dgm:t>
    </dgm:pt>
    <dgm:pt modelId="{418F1EC5-7529-4C0C-A43B-92435271C7F2}" type="sibTrans" cxnId="{874FF8B1-9838-4D60-80C7-19C10F249016}">
      <dgm:prSet/>
      <dgm:spPr/>
      <dgm:t>
        <a:bodyPr/>
        <a:lstStyle/>
        <a:p>
          <a:endParaRPr lang="en-NZ"/>
        </a:p>
      </dgm:t>
    </dgm:pt>
    <dgm:pt modelId="{BD4F2D96-3185-42C4-9EB6-C94ECDAEAE9A}">
      <dgm:prSet/>
      <dgm:spPr>
        <a:solidFill>
          <a:schemeClr val="tx2">
            <a:lumMod val="20000"/>
            <a:lumOff val="80000"/>
          </a:schemeClr>
        </a:solidFill>
      </dgm:spPr>
      <dgm:t>
        <a:bodyPr/>
        <a:lstStyle/>
        <a:p>
          <a:r>
            <a:rPr lang="en-GB" dirty="0"/>
            <a:t>which may lead households to cut consumption to return to their target wealth.</a:t>
          </a:r>
          <a:endParaRPr lang="en-NZ" dirty="0"/>
        </a:p>
      </dgm:t>
    </dgm:pt>
    <dgm:pt modelId="{BCF6FBA8-B4B6-434F-BA44-7AFA44E91D4A}" type="parTrans" cxnId="{D40016D7-6BA5-4648-B514-AC31C43FDEA7}">
      <dgm:prSet/>
      <dgm:spPr/>
      <dgm:t>
        <a:bodyPr/>
        <a:lstStyle/>
        <a:p>
          <a:endParaRPr lang="en-NZ"/>
        </a:p>
      </dgm:t>
    </dgm:pt>
    <dgm:pt modelId="{6B933368-6570-41DF-AF88-24F0C39D635F}" type="sibTrans" cxnId="{D40016D7-6BA5-4648-B514-AC31C43FDEA7}">
      <dgm:prSet/>
      <dgm:spPr/>
      <dgm:t>
        <a:bodyPr/>
        <a:lstStyle/>
        <a:p>
          <a:endParaRPr lang="en-NZ"/>
        </a:p>
      </dgm:t>
    </dgm:pt>
    <dgm:pt modelId="{F4BC4501-DE18-421E-BE70-65A7A7AA6FB5}" type="pres">
      <dgm:prSet presAssocID="{68F071E1-6B3B-49C9-90E5-38B41D66B7C3}" presName="Name0" presStyleCnt="0">
        <dgm:presLayoutVars>
          <dgm:dir/>
          <dgm:animLvl val="lvl"/>
          <dgm:resizeHandles val="exact"/>
        </dgm:presLayoutVars>
      </dgm:prSet>
      <dgm:spPr/>
    </dgm:pt>
    <dgm:pt modelId="{39FB274A-4B9D-4F1F-BC95-79B1D6DD1392}" type="pres">
      <dgm:prSet presAssocID="{BD4F2D96-3185-42C4-9EB6-C94ECDAEAE9A}" presName="boxAndChildren" presStyleCnt="0"/>
      <dgm:spPr/>
    </dgm:pt>
    <dgm:pt modelId="{7B829D5E-11DE-4C6E-8D90-3A4C17314132}" type="pres">
      <dgm:prSet presAssocID="{BD4F2D96-3185-42C4-9EB6-C94ECDAEAE9A}" presName="parentTextBox" presStyleLbl="node1" presStyleIdx="0" presStyleCnt="3"/>
      <dgm:spPr/>
    </dgm:pt>
    <dgm:pt modelId="{BD9C0AB1-2883-4CA3-809D-DAC8B2AB07E8}" type="pres">
      <dgm:prSet presAssocID="{EBA1B417-0553-43FB-8316-099732650D2D}" presName="sp" presStyleCnt="0"/>
      <dgm:spPr/>
    </dgm:pt>
    <dgm:pt modelId="{269965E8-C605-4A55-8BAF-158AF220E87D}" type="pres">
      <dgm:prSet presAssocID="{81C75427-61C2-45A6-9487-AC6F40325B37}" presName="arrowAndChildren" presStyleCnt="0"/>
      <dgm:spPr/>
    </dgm:pt>
    <dgm:pt modelId="{5343212B-6DDE-4AB9-95EF-22872B469D91}" type="pres">
      <dgm:prSet presAssocID="{81C75427-61C2-45A6-9487-AC6F40325B37}" presName="parentTextArrow" presStyleLbl="node1" presStyleIdx="1" presStyleCnt="3"/>
      <dgm:spPr/>
    </dgm:pt>
    <dgm:pt modelId="{E62CC3CD-043F-4550-A8F2-A9F09C8AE7FC}" type="pres">
      <dgm:prSet presAssocID="{418F1EC5-7529-4C0C-A43B-92435271C7F2}" presName="sp" presStyleCnt="0"/>
      <dgm:spPr/>
    </dgm:pt>
    <dgm:pt modelId="{3B8ECF96-4CEC-4729-B4E6-6A9221034963}" type="pres">
      <dgm:prSet presAssocID="{F38E297A-0B69-4D9A-900D-1FDE34DDA8BC}" presName="arrowAndChildren" presStyleCnt="0"/>
      <dgm:spPr/>
    </dgm:pt>
    <dgm:pt modelId="{5EE6C815-0E29-4FB2-9257-BE316C7F5B65}" type="pres">
      <dgm:prSet presAssocID="{F38E297A-0B69-4D9A-900D-1FDE34DDA8BC}" presName="parentTextArrow" presStyleLbl="node1" presStyleIdx="2" presStyleCnt="3"/>
      <dgm:spPr/>
    </dgm:pt>
  </dgm:ptLst>
  <dgm:cxnLst>
    <dgm:cxn modelId="{C671D351-6C47-4377-AD6A-216F3A4AB8C4}" type="presOf" srcId="{BD4F2D96-3185-42C4-9EB6-C94ECDAEAE9A}" destId="{7B829D5E-11DE-4C6E-8D90-3A4C17314132}" srcOrd="0" destOrd="0" presId="urn:microsoft.com/office/officeart/2005/8/layout/process4"/>
    <dgm:cxn modelId="{865D3183-5E92-4EB9-B73E-2380D58CB159}" type="presOf" srcId="{81C75427-61C2-45A6-9487-AC6F40325B37}" destId="{5343212B-6DDE-4AB9-95EF-22872B469D91}" srcOrd="0" destOrd="0" presId="urn:microsoft.com/office/officeart/2005/8/layout/process4"/>
    <dgm:cxn modelId="{874FF8B1-9838-4D60-80C7-19C10F249016}" srcId="{68F071E1-6B3B-49C9-90E5-38B41D66B7C3}" destId="{F38E297A-0B69-4D9A-900D-1FDE34DDA8BC}" srcOrd="0" destOrd="0" parTransId="{E372D404-1A23-4580-BACC-F602D4DEAEED}" sibTransId="{418F1EC5-7529-4C0C-A43B-92435271C7F2}"/>
    <dgm:cxn modelId="{853078D1-DAC7-48E0-9A3B-01BCF81BF080}" type="presOf" srcId="{F38E297A-0B69-4D9A-900D-1FDE34DDA8BC}" destId="{5EE6C815-0E29-4FB2-9257-BE316C7F5B65}" srcOrd="0" destOrd="0" presId="urn:microsoft.com/office/officeart/2005/8/layout/process4"/>
    <dgm:cxn modelId="{D40016D7-6BA5-4648-B514-AC31C43FDEA7}" srcId="{68F071E1-6B3B-49C9-90E5-38B41D66B7C3}" destId="{BD4F2D96-3185-42C4-9EB6-C94ECDAEAE9A}" srcOrd="2" destOrd="0" parTransId="{BCF6FBA8-B4B6-434F-BA44-7AFA44E91D4A}" sibTransId="{6B933368-6570-41DF-AF88-24F0C39D635F}"/>
    <dgm:cxn modelId="{55CACAE2-CA75-4BED-A1BB-EB0DBCED7822}" srcId="{68F071E1-6B3B-49C9-90E5-38B41D66B7C3}" destId="{81C75427-61C2-45A6-9487-AC6F40325B37}" srcOrd="1" destOrd="0" parTransId="{34D087CD-4C13-4681-9009-E1026E042E52}" sibTransId="{EBA1B417-0553-43FB-8316-099732650D2D}"/>
    <dgm:cxn modelId="{44FA81FA-19A1-4202-87DF-38AA35B0E676}" type="presOf" srcId="{68F071E1-6B3B-49C9-90E5-38B41D66B7C3}" destId="{F4BC4501-DE18-421E-BE70-65A7A7AA6FB5}" srcOrd="0" destOrd="0" presId="urn:microsoft.com/office/officeart/2005/8/layout/process4"/>
    <dgm:cxn modelId="{DEE67955-CDFC-4273-B1C3-5E3265F78E38}" type="presParOf" srcId="{F4BC4501-DE18-421E-BE70-65A7A7AA6FB5}" destId="{39FB274A-4B9D-4F1F-BC95-79B1D6DD1392}" srcOrd="0" destOrd="0" presId="urn:microsoft.com/office/officeart/2005/8/layout/process4"/>
    <dgm:cxn modelId="{6A2D8616-82A3-4D5A-A331-B5871715842B}" type="presParOf" srcId="{39FB274A-4B9D-4F1F-BC95-79B1D6DD1392}" destId="{7B829D5E-11DE-4C6E-8D90-3A4C17314132}" srcOrd="0" destOrd="0" presId="urn:microsoft.com/office/officeart/2005/8/layout/process4"/>
    <dgm:cxn modelId="{3DA9E11C-930F-4BF0-B985-AA9E1F154945}" type="presParOf" srcId="{F4BC4501-DE18-421E-BE70-65A7A7AA6FB5}" destId="{BD9C0AB1-2883-4CA3-809D-DAC8B2AB07E8}" srcOrd="1" destOrd="0" presId="urn:microsoft.com/office/officeart/2005/8/layout/process4"/>
    <dgm:cxn modelId="{0D2B3698-0904-49FF-AC3D-59BD96970D5F}" type="presParOf" srcId="{F4BC4501-DE18-421E-BE70-65A7A7AA6FB5}" destId="{269965E8-C605-4A55-8BAF-158AF220E87D}" srcOrd="2" destOrd="0" presId="urn:microsoft.com/office/officeart/2005/8/layout/process4"/>
    <dgm:cxn modelId="{1FBF0D63-A606-408F-B57B-38DEEF51B93E}" type="presParOf" srcId="{269965E8-C605-4A55-8BAF-158AF220E87D}" destId="{5343212B-6DDE-4AB9-95EF-22872B469D91}" srcOrd="0" destOrd="0" presId="urn:microsoft.com/office/officeart/2005/8/layout/process4"/>
    <dgm:cxn modelId="{9CA1EDEA-0C67-416A-9D2B-46481C3C5957}" type="presParOf" srcId="{F4BC4501-DE18-421E-BE70-65A7A7AA6FB5}" destId="{E62CC3CD-043F-4550-A8F2-A9F09C8AE7FC}" srcOrd="3" destOrd="0" presId="urn:microsoft.com/office/officeart/2005/8/layout/process4"/>
    <dgm:cxn modelId="{BDB4D091-0B5C-4622-8240-5AD396758C6C}" type="presParOf" srcId="{F4BC4501-DE18-421E-BE70-65A7A7AA6FB5}" destId="{3B8ECF96-4CEC-4729-B4E6-6A9221034963}" srcOrd="4" destOrd="0" presId="urn:microsoft.com/office/officeart/2005/8/layout/process4"/>
    <dgm:cxn modelId="{C33DDD6C-329F-40F2-AF51-086A1F77791C}" type="presParOf" srcId="{3B8ECF96-4CEC-4729-B4E6-6A9221034963}" destId="{5EE6C815-0E29-4FB2-9257-BE316C7F5B6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991483-907F-445A-8769-A15027B08782}" type="doc">
      <dgm:prSet loTypeId="urn:microsoft.com/office/officeart/2005/8/layout/bProcess3" loCatId="process" qsTypeId="urn:microsoft.com/office/officeart/2005/8/quickstyle/simple1" qsCatId="simple" csTypeId="urn:microsoft.com/office/officeart/2005/8/colors/accent2_1" csCatId="accent2" phldr="1"/>
      <dgm:spPr/>
      <dgm:t>
        <a:bodyPr/>
        <a:lstStyle/>
        <a:p>
          <a:endParaRPr lang="en-NZ"/>
        </a:p>
      </dgm:t>
    </dgm:pt>
    <dgm:pt modelId="{72C08F63-719C-4E3E-8852-34B444DDC175}">
      <dgm:prSet/>
      <dgm:spPr>
        <a:solidFill>
          <a:schemeClr val="tx2">
            <a:lumMod val="20000"/>
            <a:lumOff val="80000"/>
          </a:schemeClr>
        </a:solidFill>
      </dgm:spPr>
      <dgm:t>
        <a:bodyPr/>
        <a:lstStyle/>
        <a:p>
          <a:r>
            <a:rPr lang="en-NZ" dirty="0"/>
            <a:t>Low unemployment leads to firms setting higher wages. </a:t>
          </a:r>
        </a:p>
      </dgm:t>
    </dgm:pt>
    <dgm:pt modelId="{4BA517BE-C595-48B9-A04F-40F2CAD96A11}" type="parTrans" cxnId="{D7089CB7-734D-425F-BF0F-3972BEE1A972}">
      <dgm:prSet/>
      <dgm:spPr/>
      <dgm:t>
        <a:bodyPr/>
        <a:lstStyle/>
        <a:p>
          <a:endParaRPr lang="en-NZ"/>
        </a:p>
      </dgm:t>
    </dgm:pt>
    <dgm:pt modelId="{A3A21769-25B0-4CC0-98B1-68BFEC0FA998}" type="sibTrans" cxnId="{D7089CB7-734D-425F-BF0F-3972BEE1A972}">
      <dgm:prSet/>
      <dgm:spPr/>
      <dgm:t>
        <a:bodyPr/>
        <a:lstStyle/>
        <a:p>
          <a:endParaRPr lang="en-NZ"/>
        </a:p>
      </dgm:t>
    </dgm:pt>
    <dgm:pt modelId="{D578B0DA-263D-4B2B-8436-6E5D24BD8C24}">
      <dgm:prSet/>
      <dgm:spPr>
        <a:solidFill>
          <a:schemeClr val="tx2">
            <a:lumMod val="20000"/>
            <a:lumOff val="80000"/>
          </a:schemeClr>
        </a:solidFill>
      </dgm:spPr>
      <dgm:t>
        <a:bodyPr/>
        <a:lstStyle/>
        <a:p>
          <a:r>
            <a:rPr lang="en-NZ"/>
            <a:t>Higher wages = higher costs for firms</a:t>
          </a:r>
        </a:p>
      </dgm:t>
    </dgm:pt>
    <dgm:pt modelId="{1BBCC5B3-1C38-48D5-AF7A-9E74A390E497}" type="parTrans" cxnId="{4D21E1A9-773E-4152-A105-0CC7344C6DE0}">
      <dgm:prSet/>
      <dgm:spPr/>
      <dgm:t>
        <a:bodyPr/>
        <a:lstStyle/>
        <a:p>
          <a:endParaRPr lang="en-NZ"/>
        </a:p>
      </dgm:t>
    </dgm:pt>
    <dgm:pt modelId="{058DE251-DC63-4C5C-965A-2B2815CEA6DB}" type="sibTrans" cxnId="{4D21E1A9-773E-4152-A105-0CC7344C6DE0}">
      <dgm:prSet/>
      <dgm:spPr/>
      <dgm:t>
        <a:bodyPr/>
        <a:lstStyle/>
        <a:p>
          <a:endParaRPr lang="en-NZ"/>
        </a:p>
      </dgm:t>
    </dgm:pt>
    <dgm:pt modelId="{BE3C6CCB-613C-4155-B383-3AB2C2733558}">
      <dgm:prSet/>
      <dgm:spPr>
        <a:solidFill>
          <a:schemeClr val="tx2">
            <a:lumMod val="20000"/>
            <a:lumOff val="80000"/>
          </a:schemeClr>
        </a:solidFill>
      </dgm:spPr>
      <dgm:t>
        <a:bodyPr/>
        <a:lstStyle/>
        <a:p>
          <a:r>
            <a:rPr lang="en-NZ"/>
            <a:t>Firms raise prices</a:t>
          </a:r>
        </a:p>
      </dgm:t>
    </dgm:pt>
    <dgm:pt modelId="{0852F855-B5E9-4DC9-BE3D-B2976568F47F}" type="parTrans" cxnId="{C97A6813-CBBD-4B52-A95B-B72C844959A5}">
      <dgm:prSet/>
      <dgm:spPr/>
      <dgm:t>
        <a:bodyPr/>
        <a:lstStyle/>
        <a:p>
          <a:endParaRPr lang="en-NZ"/>
        </a:p>
      </dgm:t>
    </dgm:pt>
    <dgm:pt modelId="{ED7CEC0A-66A3-43DC-A2DE-30A578EC1C23}" type="sibTrans" cxnId="{C97A6813-CBBD-4B52-A95B-B72C844959A5}">
      <dgm:prSet/>
      <dgm:spPr/>
      <dgm:t>
        <a:bodyPr/>
        <a:lstStyle/>
        <a:p>
          <a:endParaRPr lang="en-NZ"/>
        </a:p>
      </dgm:t>
    </dgm:pt>
    <dgm:pt modelId="{38A40D82-3D30-4AEC-871C-C482AF9A5B7A}">
      <dgm:prSet/>
      <dgm:spPr>
        <a:solidFill>
          <a:schemeClr val="tx2">
            <a:lumMod val="20000"/>
            <a:lumOff val="80000"/>
          </a:schemeClr>
        </a:solidFill>
      </dgm:spPr>
      <dgm:t>
        <a:bodyPr/>
        <a:lstStyle/>
        <a:p>
          <a:r>
            <a:rPr lang="en-NZ" dirty="0"/>
            <a:t>The price level in economy goes up.</a:t>
          </a:r>
        </a:p>
      </dgm:t>
    </dgm:pt>
    <dgm:pt modelId="{0E279145-31BF-4B3B-8B79-D2186B77132F}" type="parTrans" cxnId="{E7691A14-90DA-4F79-B125-FF2E28A7660A}">
      <dgm:prSet/>
      <dgm:spPr/>
      <dgm:t>
        <a:bodyPr/>
        <a:lstStyle/>
        <a:p>
          <a:endParaRPr lang="en-NZ"/>
        </a:p>
      </dgm:t>
    </dgm:pt>
    <dgm:pt modelId="{7E8D2503-6E50-45C0-849E-808D790F2C94}" type="sibTrans" cxnId="{E7691A14-90DA-4F79-B125-FF2E28A7660A}">
      <dgm:prSet/>
      <dgm:spPr/>
      <dgm:t>
        <a:bodyPr/>
        <a:lstStyle/>
        <a:p>
          <a:endParaRPr lang="en-NZ"/>
        </a:p>
      </dgm:t>
    </dgm:pt>
    <dgm:pt modelId="{4BE01CED-4AE6-4720-A51E-0D3948857DA4}">
      <dgm:prSet/>
      <dgm:spPr>
        <a:solidFill>
          <a:schemeClr val="tx2">
            <a:lumMod val="20000"/>
            <a:lumOff val="80000"/>
          </a:schemeClr>
        </a:solidFill>
      </dgm:spPr>
      <dgm:t>
        <a:bodyPr/>
        <a:lstStyle/>
        <a:p>
          <a:r>
            <a:rPr lang="en-NZ" dirty="0"/>
            <a:t>Workers have more bargaining power.</a:t>
          </a:r>
        </a:p>
      </dgm:t>
    </dgm:pt>
    <dgm:pt modelId="{8F1BBEB7-8C34-4D4D-99EE-53E5C9EE32B7}" type="parTrans" cxnId="{8212B787-11F5-41C9-949A-D24D94C9511D}">
      <dgm:prSet/>
      <dgm:spPr/>
      <dgm:t>
        <a:bodyPr/>
        <a:lstStyle/>
        <a:p>
          <a:endParaRPr lang="en-NZ"/>
        </a:p>
      </dgm:t>
    </dgm:pt>
    <dgm:pt modelId="{4187D1AF-34F0-477E-95F4-4B11FEAD78C7}" type="sibTrans" cxnId="{8212B787-11F5-41C9-949A-D24D94C9511D}">
      <dgm:prSet/>
      <dgm:spPr/>
      <dgm:t>
        <a:bodyPr/>
        <a:lstStyle/>
        <a:p>
          <a:endParaRPr lang="en-NZ"/>
        </a:p>
      </dgm:t>
    </dgm:pt>
    <dgm:pt modelId="{2F204936-58D3-4936-B394-55DB490A75A7}">
      <dgm:prSet/>
      <dgm:spPr>
        <a:solidFill>
          <a:schemeClr val="tx2">
            <a:lumMod val="20000"/>
            <a:lumOff val="80000"/>
          </a:schemeClr>
        </a:solidFill>
      </dgm:spPr>
      <dgm:t>
        <a:bodyPr/>
        <a:lstStyle/>
        <a:p>
          <a:r>
            <a:rPr lang="en-NZ" dirty="0"/>
            <a:t>Real wages are unchanged</a:t>
          </a:r>
        </a:p>
      </dgm:t>
    </dgm:pt>
    <dgm:pt modelId="{BC527CF4-D0AC-4546-B2FE-F5DF2CFF93BF}" type="parTrans" cxnId="{AADE34C7-1459-4569-8D67-A92FECA96650}">
      <dgm:prSet/>
      <dgm:spPr/>
      <dgm:t>
        <a:bodyPr/>
        <a:lstStyle/>
        <a:p>
          <a:endParaRPr lang="en-NZ"/>
        </a:p>
      </dgm:t>
    </dgm:pt>
    <dgm:pt modelId="{6443063B-61C2-42FC-858E-48A0B928CD52}" type="sibTrans" cxnId="{AADE34C7-1459-4569-8D67-A92FECA96650}">
      <dgm:prSet/>
      <dgm:spPr/>
      <dgm:t>
        <a:bodyPr/>
        <a:lstStyle/>
        <a:p>
          <a:endParaRPr lang="en-NZ"/>
        </a:p>
      </dgm:t>
    </dgm:pt>
    <dgm:pt modelId="{F312542A-B858-4EFB-B7D5-5EED4A059508}" type="pres">
      <dgm:prSet presAssocID="{84991483-907F-445A-8769-A15027B08782}" presName="Name0" presStyleCnt="0">
        <dgm:presLayoutVars>
          <dgm:dir/>
          <dgm:resizeHandles val="exact"/>
        </dgm:presLayoutVars>
      </dgm:prSet>
      <dgm:spPr/>
    </dgm:pt>
    <dgm:pt modelId="{EB238591-0093-47A8-9DE9-9E5C52D63090}" type="pres">
      <dgm:prSet presAssocID="{72C08F63-719C-4E3E-8852-34B444DDC175}" presName="node" presStyleLbl="node1" presStyleIdx="0" presStyleCnt="6">
        <dgm:presLayoutVars>
          <dgm:bulletEnabled val="1"/>
        </dgm:presLayoutVars>
      </dgm:prSet>
      <dgm:spPr/>
    </dgm:pt>
    <dgm:pt modelId="{EB858EE2-4289-458F-AF96-3191E3573D7C}" type="pres">
      <dgm:prSet presAssocID="{A3A21769-25B0-4CC0-98B1-68BFEC0FA998}" presName="sibTrans" presStyleLbl="sibTrans1D1" presStyleIdx="0" presStyleCnt="5"/>
      <dgm:spPr/>
    </dgm:pt>
    <dgm:pt modelId="{C287196F-0838-4779-A8C8-B7090FB81DDB}" type="pres">
      <dgm:prSet presAssocID="{A3A21769-25B0-4CC0-98B1-68BFEC0FA998}" presName="connectorText" presStyleLbl="sibTrans1D1" presStyleIdx="0" presStyleCnt="5"/>
      <dgm:spPr/>
    </dgm:pt>
    <dgm:pt modelId="{46FEEA52-43D4-453A-8094-0DC7183CF2E1}" type="pres">
      <dgm:prSet presAssocID="{4BE01CED-4AE6-4720-A51E-0D3948857DA4}" presName="node" presStyleLbl="node1" presStyleIdx="1" presStyleCnt="6">
        <dgm:presLayoutVars>
          <dgm:bulletEnabled val="1"/>
        </dgm:presLayoutVars>
      </dgm:prSet>
      <dgm:spPr/>
    </dgm:pt>
    <dgm:pt modelId="{03382A55-F22D-44C7-A923-5AA4CF21B7A8}" type="pres">
      <dgm:prSet presAssocID="{4187D1AF-34F0-477E-95F4-4B11FEAD78C7}" presName="sibTrans" presStyleLbl="sibTrans1D1" presStyleIdx="1" presStyleCnt="5"/>
      <dgm:spPr/>
    </dgm:pt>
    <dgm:pt modelId="{F33F241B-31C2-4C18-9F2C-FE221C0855C9}" type="pres">
      <dgm:prSet presAssocID="{4187D1AF-34F0-477E-95F4-4B11FEAD78C7}" presName="connectorText" presStyleLbl="sibTrans1D1" presStyleIdx="1" presStyleCnt="5"/>
      <dgm:spPr/>
    </dgm:pt>
    <dgm:pt modelId="{A92718F2-CBFF-4BAC-8906-BBF60DD810D4}" type="pres">
      <dgm:prSet presAssocID="{D578B0DA-263D-4B2B-8436-6E5D24BD8C24}" presName="node" presStyleLbl="node1" presStyleIdx="2" presStyleCnt="6">
        <dgm:presLayoutVars>
          <dgm:bulletEnabled val="1"/>
        </dgm:presLayoutVars>
      </dgm:prSet>
      <dgm:spPr/>
    </dgm:pt>
    <dgm:pt modelId="{D0983E9F-ECFD-4FB0-B6D7-5F6AC3091B26}" type="pres">
      <dgm:prSet presAssocID="{058DE251-DC63-4C5C-965A-2B2815CEA6DB}" presName="sibTrans" presStyleLbl="sibTrans1D1" presStyleIdx="2" presStyleCnt="5"/>
      <dgm:spPr/>
    </dgm:pt>
    <dgm:pt modelId="{6B27C6D8-2462-4FD8-9378-4CF80D3A9A9E}" type="pres">
      <dgm:prSet presAssocID="{058DE251-DC63-4C5C-965A-2B2815CEA6DB}" presName="connectorText" presStyleLbl="sibTrans1D1" presStyleIdx="2" presStyleCnt="5"/>
      <dgm:spPr/>
    </dgm:pt>
    <dgm:pt modelId="{4BA3C814-6285-4FED-BA2F-5198C2DD54BA}" type="pres">
      <dgm:prSet presAssocID="{BE3C6CCB-613C-4155-B383-3AB2C2733558}" presName="node" presStyleLbl="node1" presStyleIdx="3" presStyleCnt="6">
        <dgm:presLayoutVars>
          <dgm:bulletEnabled val="1"/>
        </dgm:presLayoutVars>
      </dgm:prSet>
      <dgm:spPr/>
    </dgm:pt>
    <dgm:pt modelId="{06D2CB45-BC9F-4CCF-B9A2-87EE969AE89E}" type="pres">
      <dgm:prSet presAssocID="{ED7CEC0A-66A3-43DC-A2DE-30A578EC1C23}" presName="sibTrans" presStyleLbl="sibTrans1D1" presStyleIdx="3" presStyleCnt="5"/>
      <dgm:spPr/>
    </dgm:pt>
    <dgm:pt modelId="{A110D224-481E-460C-85B1-2D9379098154}" type="pres">
      <dgm:prSet presAssocID="{ED7CEC0A-66A3-43DC-A2DE-30A578EC1C23}" presName="connectorText" presStyleLbl="sibTrans1D1" presStyleIdx="3" presStyleCnt="5"/>
      <dgm:spPr/>
    </dgm:pt>
    <dgm:pt modelId="{D4416801-AD8B-4F11-AD88-7FD5D3C0472E}" type="pres">
      <dgm:prSet presAssocID="{38A40D82-3D30-4AEC-871C-C482AF9A5B7A}" presName="node" presStyleLbl="node1" presStyleIdx="4" presStyleCnt="6">
        <dgm:presLayoutVars>
          <dgm:bulletEnabled val="1"/>
        </dgm:presLayoutVars>
      </dgm:prSet>
      <dgm:spPr/>
    </dgm:pt>
    <dgm:pt modelId="{A019EE3B-DE61-4E7D-BF83-DDCA101B66F4}" type="pres">
      <dgm:prSet presAssocID="{7E8D2503-6E50-45C0-849E-808D790F2C94}" presName="sibTrans" presStyleLbl="sibTrans1D1" presStyleIdx="4" presStyleCnt="5"/>
      <dgm:spPr/>
    </dgm:pt>
    <dgm:pt modelId="{66888BE1-A087-410A-8318-E0FCB7B4F16D}" type="pres">
      <dgm:prSet presAssocID="{7E8D2503-6E50-45C0-849E-808D790F2C94}" presName="connectorText" presStyleLbl="sibTrans1D1" presStyleIdx="4" presStyleCnt="5"/>
      <dgm:spPr/>
    </dgm:pt>
    <dgm:pt modelId="{A6EBC505-F8FA-498F-9233-EA8927B8CDC4}" type="pres">
      <dgm:prSet presAssocID="{2F204936-58D3-4936-B394-55DB490A75A7}" presName="node" presStyleLbl="node1" presStyleIdx="5" presStyleCnt="6">
        <dgm:presLayoutVars>
          <dgm:bulletEnabled val="1"/>
        </dgm:presLayoutVars>
      </dgm:prSet>
      <dgm:spPr/>
    </dgm:pt>
  </dgm:ptLst>
  <dgm:cxnLst>
    <dgm:cxn modelId="{4661470B-E2D4-40F6-A29F-3485C97D5896}" type="presOf" srcId="{D578B0DA-263D-4B2B-8436-6E5D24BD8C24}" destId="{A92718F2-CBFF-4BAC-8906-BBF60DD810D4}" srcOrd="0" destOrd="0" presId="urn:microsoft.com/office/officeart/2005/8/layout/bProcess3"/>
    <dgm:cxn modelId="{52D80E0C-CA5D-495A-9D5E-9CDAE80213AB}" type="presOf" srcId="{4BE01CED-4AE6-4720-A51E-0D3948857DA4}" destId="{46FEEA52-43D4-453A-8094-0DC7183CF2E1}" srcOrd="0" destOrd="0" presId="urn:microsoft.com/office/officeart/2005/8/layout/bProcess3"/>
    <dgm:cxn modelId="{C97A6813-CBBD-4B52-A95B-B72C844959A5}" srcId="{84991483-907F-445A-8769-A15027B08782}" destId="{BE3C6CCB-613C-4155-B383-3AB2C2733558}" srcOrd="3" destOrd="0" parTransId="{0852F855-B5E9-4DC9-BE3D-B2976568F47F}" sibTransId="{ED7CEC0A-66A3-43DC-A2DE-30A578EC1C23}"/>
    <dgm:cxn modelId="{E7691A14-90DA-4F79-B125-FF2E28A7660A}" srcId="{84991483-907F-445A-8769-A15027B08782}" destId="{38A40D82-3D30-4AEC-871C-C482AF9A5B7A}" srcOrd="4" destOrd="0" parTransId="{0E279145-31BF-4B3B-8B79-D2186B77132F}" sibTransId="{7E8D2503-6E50-45C0-849E-808D790F2C94}"/>
    <dgm:cxn modelId="{FC1B9518-80AA-48C8-B789-9DE29F354B19}" type="presOf" srcId="{ED7CEC0A-66A3-43DC-A2DE-30A578EC1C23}" destId="{06D2CB45-BC9F-4CCF-B9A2-87EE969AE89E}" srcOrd="0" destOrd="0" presId="urn:microsoft.com/office/officeart/2005/8/layout/bProcess3"/>
    <dgm:cxn modelId="{58015220-4B06-47B2-AFF4-18CB3A610DEC}" type="presOf" srcId="{72C08F63-719C-4E3E-8852-34B444DDC175}" destId="{EB238591-0093-47A8-9DE9-9E5C52D63090}" srcOrd="0" destOrd="0" presId="urn:microsoft.com/office/officeart/2005/8/layout/bProcess3"/>
    <dgm:cxn modelId="{C6073123-05F0-47A7-BFD4-BDD7677EFA19}" type="presOf" srcId="{4187D1AF-34F0-477E-95F4-4B11FEAD78C7}" destId="{F33F241B-31C2-4C18-9F2C-FE221C0855C9}" srcOrd="1" destOrd="0" presId="urn:microsoft.com/office/officeart/2005/8/layout/bProcess3"/>
    <dgm:cxn modelId="{0EC7DD44-9975-4F8A-8125-FB0CE62DCD09}" type="presOf" srcId="{BE3C6CCB-613C-4155-B383-3AB2C2733558}" destId="{4BA3C814-6285-4FED-BA2F-5198C2DD54BA}" srcOrd="0" destOrd="0" presId="urn:microsoft.com/office/officeart/2005/8/layout/bProcess3"/>
    <dgm:cxn modelId="{C3AB3D4F-339F-4D58-A976-8AB87B471523}" type="presOf" srcId="{A3A21769-25B0-4CC0-98B1-68BFEC0FA998}" destId="{EB858EE2-4289-458F-AF96-3191E3573D7C}" srcOrd="0" destOrd="0" presId="urn:microsoft.com/office/officeart/2005/8/layout/bProcess3"/>
    <dgm:cxn modelId="{6D1C6C53-ACF4-4CB2-B0BC-26301F9A77F7}" type="presOf" srcId="{4187D1AF-34F0-477E-95F4-4B11FEAD78C7}" destId="{03382A55-F22D-44C7-A923-5AA4CF21B7A8}" srcOrd="0" destOrd="0" presId="urn:microsoft.com/office/officeart/2005/8/layout/bProcess3"/>
    <dgm:cxn modelId="{0D5A5163-4F71-488B-B004-37311CC54704}" type="presOf" srcId="{058DE251-DC63-4C5C-965A-2B2815CEA6DB}" destId="{D0983E9F-ECFD-4FB0-B6D7-5F6AC3091B26}" srcOrd="0" destOrd="0" presId="urn:microsoft.com/office/officeart/2005/8/layout/bProcess3"/>
    <dgm:cxn modelId="{2F78D978-6DCC-4651-AA35-28E87352AD48}" type="presOf" srcId="{7E8D2503-6E50-45C0-849E-808D790F2C94}" destId="{66888BE1-A087-410A-8318-E0FCB7B4F16D}" srcOrd="1" destOrd="0" presId="urn:microsoft.com/office/officeart/2005/8/layout/bProcess3"/>
    <dgm:cxn modelId="{A5AB3F80-4144-437E-9C40-F65716536F62}" type="presOf" srcId="{058DE251-DC63-4C5C-965A-2B2815CEA6DB}" destId="{6B27C6D8-2462-4FD8-9378-4CF80D3A9A9E}" srcOrd="1" destOrd="0" presId="urn:microsoft.com/office/officeart/2005/8/layout/bProcess3"/>
    <dgm:cxn modelId="{68924F86-0333-4F2F-A858-F1B6A4D7B8BD}" type="presOf" srcId="{ED7CEC0A-66A3-43DC-A2DE-30A578EC1C23}" destId="{A110D224-481E-460C-85B1-2D9379098154}" srcOrd="1" destOrd="0" presId="urn:microsoft.com/office/officeart/2005/8/layout/bProcess3"/>
    <dgm:cxn modelId="{8212B787-11F5-41C9-949A-D24D94C9511D}" srcId="{84991483-907F-445A-8769-A15027B08782}" destId="{4BE01CED-4AE6-4720-A51E-0D3948857DA4}" srcOrd="1" destOrd="0" parTransId="{8F1BBEB7-8C34-4D4D-99EE-53E5C9EE32B7}" sibTransId="{4187D1AF-34F0-477E-95F4-4B11FEAD78C7}"/>
    <dgm:cxn modelId="{BE991A9A-6937-4CC1-8607-7B0D5B08B9BF}" type="presOf" srcId="{7E8D2503-6E50-45C0-849E-808D790F2C94}" destId="{A019EE3B-DE61-4E7D-BF83-DDCA101B66F4}" srcOrd="0" destOrd="0" presId="urn:microsoft.com/office/officeart/2005/8/layout/bProcess3"/>
    <dgm:cxn modelId="{4D21E1A9-773E-4152-A105-0CC7344C6DE0}" srcId="{84991483-907F-445A-8769-A15027B08782}" destId="{D578B0DA-263D-4B2B-8436-6E5D24BD8C24}" srcOrd="2" destOrd="0" parTransId="{1BBCC5B3-1C38-48D5-AF7A-9E74A390E497}" sibTransId="{058DE251-DC63-4C5C-965A-2B2815CEA6DB}"/>
    <dgm:cxn modelId="{D7089CB7-734D-425F-BF0F-3972BEE1A972}" srcId="{84991483-907F-445A-8769-A15027B08782}" destId="{72C08F63-719C-4E3E-8852-34B444DDC175}" srcOrd="0" destOrd="0" parTransId="{4BA517BE-C595-48B9-A04F-40F2CAD96A11}" sibTransId="{A3A21769-25B0-4CC0-98B1-68BFEC0FA998}"/>
    <dgm:cxn modelId="{376529C0-5069-4A3C-92B0-E42F5D93E064}" type="presOf" srcId="{A3A21769-25B0-4CC0-98B1-68BFEC0FA998}" destId="{C287196F-0838-4779-A8C8-B7090FB81DDB}" srcOrd="1" destOrd="0" presId="urn:microsoft.com/office/officeart/2005/8/layout/bProcess3"/>
    <dgm:cxn modelId="{AADE34C7-1459-4569-8D67-A92FECA96650}" srcId="{84991483-907F-445A-8769-A15027B08782}" destId="{2F204936-58D3-4936-B394-55DB490A75A7}" srcOrd="5" destOrd="0" parTransId="{BC527CF4-D0AC-4546-B2FE-F5DF2CFF93BF}" sibTransId="{6443063B-61C2-42FC-858E-48A0B928CD52}"/>
    <dgm:cxn modelId="{3C0E28CA-A66E-4AA3-BEED-F3E6F931C900}" type="presOf" srcId="{38A40D82-3D30-4AEC-871C-C482AF9A5B7A}" destId="{D4416801-AD8B-4F11-AD88-7FD5D3C0472E}" srcOrd="0" destOrd="0" presId="urn:microsoft.com/office/officeart/2005/8/layout/bProcess3"/>
    <dgm:cxn modelId="{C0829CF0-A743-405D-936D-363ACB9DEF5F}" type="presOf" srcId="{84991483-907F-445A-8769-A15027B08782}" destId="{F312542A-B858-4EFB-B7D5-5EED4A059508}" srcOrd="0" destOrd="0" presId="urn:microsoft.com/office/officeart/2005/8/layout/bProcess3"/>
    <dgm:cxn modelId="{385AC5F1-A5C2-4017-8A3B-61BB962C4292}" type="presOf" srcId="{2F204936-58D3-4936-B394-55DB490A75A7}" destId="{A6EBC505-F8FA-498F-9233-EA8927B8CDC4}" srcOrd="0" destOrd="0" presId="urn:microsoft.com/office/officeart/2005/8/layout/bProcess3"/>
    <dgm:cxn modelId="{7C65A27F-F3B4-4C0B-A31B-E27D2E09958E}" type="presParOf" srcId="{F312542A-B858-4EFB-B7D5-5EED4A059508}" destId="{EB238591-0093-47A8-9DE9-9E5C52D63090}" srcOrd="0" destOrd="0" presId="urn:microsoft.com/office/officeart/2005/8/layout/bProcess3"/>
    <dgm:cxn modelId="{086B7BA1-8535-47F4-89CA-C092EBD854E5}" type="presParOf" srcId="{F312542A-B858-4EFB-B7D5-5EED4A059508}" destId="{EB858EE2-4289-458F-AF96-3191E3573D7C}" srcOrd="1" destOrd="0" presId="urn:microsoft.com/office/officeart/2005/8/layout/bProcess3"/>
    <dgm:cxn modelId="{0AF471FD-FAD9-42E0-9491-567D508DF6F1}" type="presParOf" srcId="{EB858EE2-4289-458F-AF96-3191E3573D7C}" destId="{C287196F-0838-4779-A8C8-B7090FB81DDB}" srcOrd="0" destOrd="0" presId="urn:microsoft.com/office/officeart/2005/8/layout/bProcess3"/>
    <dgm:cxn modelId="{DF61C856-C3C8-4F2A-93B7-B3BF0A49662C}" type="presParOf" srcId="{F312542A-B858-4EFB-B7D5-5EED4A059508}" destId="{46FEEA52-43D4-453A-8094-0DC7183CF2E1}" srcOrd="2" destOrd="0" presId="urn:microsoft.com/office/officeart/2005/8/layout/bProcess3"/>
    <dgm:cxn modelId="{F8CC82AE-FE0D-49DE-BBA9-82F0C5FCEE13}" type="presParOf" srcId="{F312542A-B858-4EFB-B7D5-5EED4A059508}" destId="{03382A55-F22D-44C7-A923-5AA4CF21B7A8}" srcOrd="3" destOrd="0" presId="urn:microsoft.com/office/officeart/2005/8/layout/bProcess3"/>
    <dgm:cxn modelId="{DEF6DE89-3531-4C28-B31B-BF60E966021A}" type="presParOf" srcId="{03382A55-F22D-44C7-A923-5AA4CF21B7A8}" destId="{F33F241B-31C2-4C18-9F2C-FE221C0855C9}" srcOrd="0" destOrd="0" presId="urn:microsoft.com/office/officeart/2005/8/layout/bProcess3"/>
    <dgm:cxn modelId="{81EEE160-CD66-4A9E-91CD-1702B1AC6540}" type="presParOf" srcId="{F312542A-B858-4EFB-B7D5-5EED4A059508}" destId="{A92718F2-CBFF-4BAC-8906-BBF60DD810D4}" srcOrd="4" destOrd="0" presId="urn:microsoft.com/office/officeart/2005/8/layout/bProcess3"/>
    <dgm:cxn modelId="{C19515E5-3384-44E6-8FD4-024D22F175C8}" type="presParOf" srcId="{F312542A-B858-4EFB-B7D5-5EED4A059508}" destId="{D0983E9F-ECFD-4FB0-B6D7-5F6AC3091B26}" srcOrd="5" destOrd="0" presId="urn:microsoft.com/office/officeart/2005/8/layout/bProcess3"/>
    <dgm:cxn modelId="{C571F351-E1C2-431D-ADF1-76D232ED3BA0}" type="presParOf" srcId="{D0983E9F-ECFD-4FB0-B6D7-5F6AC3091B26}" destId="{6B27C6D8-2462-4FD8-9378-4CF80D3A9A9E}" srcOrd="0" destOrd="0" presId="urn:microsoft.com/office/officeart/2005/8/layout/bProcess3"/>
    <dgm:cxn modelId="{469131B8-8886-450F-9709-3314FCE195A5}" type="presParOf" srcId="{F312542A-B858-4EFB-B7D5-5EED4A059508}" destId="{4BA3C814-6285-4FED-BA2F-5198C2DD54BA}" srcOrd="6" destOrd="0" presId="urn:microsoft.com/office/officeart/2005/8/layout/bProcess3"/>
    <dgm:cxn modelId="{2050FD87-921C-4191-BDA5-4187BC95FACE}" type="presParOf" srcId="{F312542A-B858-4EFB-B7D5-5EED4A059508}" destId="{06D2CB45-BC9F-4CCF-B9A2-87EE969AE89E}" srcOrd="7" destOrd="0" presId="urn:microsoft.com/office/officeart/2005/8/layout/bProcess3"/>
    <dgm:cxn modelId="{6C51434F-4C74-47F8-9175-466ED7A32CDF}" type="presParOf" srcId="{06D2CB45-BC9F-4CCF-B9A2-87EE969AE89E}" destId="{A110D224-481E-460C-85B1-2D9379098154}" srcOrd="0" destOrd="0" presId="urn:microsoft.com/office/officeart/2005/8/layout/bProcess3"/>
    <dgm:cxn modelId="{F0FC721A-C29C-4B7A-86E7-868DF5FA8111}" type="presParOf" srcId="{F312542A-B858-4EFB-B7D5-5EED4A059508}" destId="{D4416801-AD8B-4F11-AD88-7FD5D3C0472E}" srcOrd="8" destOrd="0" presId="urn:microsoft.com/office/officeart/2005/8/layout/bProcess3"/>
    <dgm:cxn modelId="{EEADFBAC-8464-491A-9AE3-17904F3F619E}" type="presParOf" srcId="{F312542A-B858-4EFB-B7D5-5EED4A059508}" destId="{A019EE3B-DE61-4E7D-BF83-DDCA101B66F4}" srcOrd="9" destOrd="0" presId="urn:microsoft.com/office/officeart/2005/8/layout/bProcess3"/>
    <dgm:cxn modelId="{C8091609-42FA-45F6-B59C-67F103BC41FE}" type="presParOf" srcId="{A019EE3B-DE61-4E7D-BF83-DDCA101B66F4}" destId="{66888BE1-A087-410A-8318-E0FCB7B4F16D}" srcOrd="0" destOrd="0" presId="urn:microsoft.com/office/officeart/2005/8/layout/bProcess3"/>
    <dgm:cxn modelId="{D3EC591F-69E3-45BE-AD44-35C56D058C05}" type="presParOf" srcId="{F312542A-B858-4EFB-B7D5-5EED4A059508}" destId="{A6EBC505-F8FA-498F-9233-EA8927B8CDC4}" srcOrd="10" destOrd="0" presId="urn:microsoft.com/office/officeart/2005/8/layout/bProcess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3EAA2D-A88D-44A9-BF15-94FE08FF3B65}" type="doc">
      <dgm:prSet loTypeId="urn:microsoft.com/office/officeart/2005/8/layout/default" loCatId="list" qsTypeId="urn:microsoft.com/office/officeart/2005/8/quickstyle/simple5" qsCatId="simple" csTypeId="urn:microsoft.com/office/officeart/2005/8/colors/accent2_1" csCatId="accent2" phldr="1"/>
      <dgm:spPr/>
      <dgm:t>
        <a:bodyPr/>
        <a:lstStyle/>
        <a:p>
          <a:endParaRPr lang="en-NZ"/>
        </a:p>
      </dgm:t>
    </dgm:pt>
    <dgm:pt modelId="{02E52F27-CF92-4D19-8954-CCD6E50AD1BA}">
      <dgm:prSet/>
      <dgm:spPr>
        <a:solidFill>
          <a:schemeClr val="tx2">
            <a:lumMod val="20000"/>
            <a:lumOff val="80000"/>
          </a:schemeClr>
        </a:solidFill>
      </dgm:spPr>
      <dgm:t>
        <a:bodyPr/>
        <a:lstStyle/>
        <a:p>
          <a:r>
            <a:rPr lang="en-US"/>
            <a:t>An upswing in business cycle is often associated with rising inflation.</a:t>
          </a:r>
          <a:endParaRPr lang="en-NZ"/>
        </a:p>
      </dgm:t>
    </dgm:pt>
    <dgm:pt modelId="{B889AFD9-2861-4C56-BFA5-EE6D7ABF0493}" type="parTrans" cxnId="{F07C177F-CAC4-4CDF-8E01-C6ABC39318E9}">
      <dgm:prSet/>
      <dgm:spPr/>
      <dgm:t>
        <a:bodyPr/>
        <a:lstStyle/>
        <a:p>
          <a:endParaRPr lang="en-NZ"/>
        </a:p>
      </dgm:t>
    </dgm:pt>
    <dgm:pt modelId="{27F47641-8131-4D4E-A49B-0478D3558085}" type="sibTrans" cxnId="{F07C177F-CAC4-4CDF-8E01-C6ABC39318E9}">
      <dgm:prSet/>
      <dgm:spPr/>
      <dgm:t>
        <a:bodyPr/>
        <a:lstStyle/>
        <a:p>
          <a:endParaRPr lang="en-NZ"/>
        </a:p>
      </dgm:t>
    </dgm:pt>
    <dgm:pt modelId="{911889E4-EDBA-499D-8620-B829276EE873}">
      <dgm:prSet/>
      <dgm:spPr>
        <a:solidFill>
          <a:schemeClr val="tx2">
            <a:lumMod val="20000"/>
            <a:lumOff val="80000"/>
          </a:schemeClr>
        </a:solidFill>
      </dgm:spPr>
      <dgm:t>
        <a:bodyPr/>
        <a:lstStyle/>
        <a:p>
          <a:r>
            <a:rPr lang="en-US" dirty="0"/>
            <a:t>higher aggregate demand →  higher employment → higher wages → higher cost of production → higher prices</a:t>
          </a:r>
          <a:endParaRPr lang="en-NZ" dirty="0"/>
        </a:p>
      </dgm:t>
    </dgm:pt>
    <dgm:pt modelId="{B7632FAD-C046-48B3-93F9-1A75E0542412}" type="parTrans" cxnId="{3F5EC174-40B2-4EA3-A4FE-6C9CBED1B169}">
      <dgm:prSet/>
      <dgm:spPr/>
      <dgm:t>
        <a:bodyPr/>
        <a:lstStyle/>
        <a:p>
          <a:endParaRPr lang="en-NZ"/>
        </a:p>
      </dgm:t>
    </dgm:pt>
    <dgm:pt modelId="{FEE27E6F-92A3-4285-BF75-B6DED21D06A4}" type="sibTrans" cxnId="{3F5EC174-40B2-4EA3-A4FE-6C9CBED1B169}">
      <dgm:prSet/>
      <dgm:spPr/>
      <dgm:t>
        <a:bodyPr/>
        <a:lstStyle/>
        <a:p>
          <a:endParaRPr lang="en-NZ"/>
        </a:p>
      </dgm:t>
    </dgm:pt>
    <dgm:pt modelId="{65454F6A-1EE2-42B3-B664-23B551F036F0}" type="pres">
      <dgm:prSet presAssocID="{FE3EAA2D-A88D-44A9-BF15-94FE08FF3B65}" presName="diagram" presStyleCnt="0">
        <dgm:presLayoutVars>
          <dgm:dir/>
          <dgm:resizeHandles val="exact"/>
        </dgm:presLayoutVars>
      </dgm:prSet>
      <dgm:spPr/>
    </dgm:pt>
    <dgm:pt modelId="{598A4C81-1188-4D06-BE35-0D9D355F1429}" type="pres">
      <dgm:prSet presAssocID="{02E52F27-CF92-4D19-8954-CCD6E50AD1BA}" presName="node" presStyleLbl="node1" presStyleIdx="0" presStyleCnt="2">
        <dgm:presLayoutVars>
          <dgm:bulletEnabled val="1"/>
        </dgm:presLayoutVars>
      </dgm:prSet>
      <dgm:spPr/>
    </dgm:pt>
    <dgm:pt modelId="{EE4DE3C8-51DF-423D-B1B7-09E7A1D4EB5D}" type="pres">
      <dgm:prSet presAssocID="{27F47641-8131-4D4E-A49B-0478D3558085}" presName="sibTrans" presStyleCnt="0"/>
      <dgm:spPr/>
    </dgm:pt>
    <dgm:pt modelId="{E9A43174-7FA8-420D-90BF-7C3BF275C822}" type="pres">
      <dgm:prSet presAssocID="{911889E4-EDBA-499D-8620-B829276EE873}" presName="node" presStyleLbl="node1" presStyleIdx="1" presStyleCnt="2">
        <dgm:presLayoutVars>
          <dgm:bulletEnabled val="1"/>
        </dgm:presLayoutVars>
      </dgm:prSet>
      <dgm:spPr/>
    </dgm:pt>
  </dgm:ptLst>
  <dgm:cxnLst>
    <dgm:cxn modelId="{5FC81213-6086-4378-AF3D-00643A631A37}" type="presOf" srcId="{911889E4-EDBA-499D-8620-B829276EE873}" destId="{E9A43174-7FA8-420D-90BF-7C3BF275C822}" srcOrd="0" destOrd="0" presId="urn:microsoft.com/office/officeart/2005/8/layout/default"/>
    <dgm:cxn modelId="{3F5EC174-40B2-4EA3-A4FE-6C9CBED1B169}" srcId="{FE3EAA2D-A88D-44A9-BF15-94FE08FF3B65}" destId="{911889E4-EDBA-499D-8620-B829276EE873}" srcOrd="1" destOrd="0" parTransId="{B7632FAD-C046-48B3-93F9-1A75E0542412}" sibTransId="{FEE27E6F-92A3-4285-BF75-B6DED21D06A4}"/>
    <dgm:cxn modelId="{F07C177F-CAC4-4CDF-8E01-C6ABC39318E9}" srcId="{FE3EAA2D-A88D-44A9-BF15-94FE08FF3B65}" destId="{02E52F27-CF92-4D19-8954-CCD6E50AD1BA}" srcOrd="0" destOrd="0" parTransId="{B889AFD9-2861-4C56-BFA5-EE6D7ABF0493}" sibTransId="{27F47641-8131-4D4E-A49B-0478D3558085}"/>
    <dgm:cxn modelId="{C702DE80-4F36-4577-9DAE-9F1872B15262}" type="presOf" srcId="{02E52F27-CF92-4D19-8954-CCD6E50AD1BA}" destId="{598A4C81-1188-4D06-BE35-0D9D355F1429}" srcOrd="0" destOrd="0" presId="urn:microsoft.com/office/officeart/2005/8/layout/default"/>
    <dgm:cxn modelId="{468541CE-5625-4F04-B6A7-99933C278053}" type="presOf" srcId="{FE3EAA2D-A88D-44A9-BF15-94FE08FF3B65}" destId="{65454F6A-1EE2-42B3-B664-23B551F036F0}" srcOrd="0" destOrd="0" presId="urn:microsoft.com/office/officeart/2005/8/layout/default"/>
    <dgm:cxn modelId="{C4B12B29-79C8-4605-9560-C8647CDD2C63}" type="presParOf" srcId="{65454F6A-1EE2-42B3-B664-23B551F036F0}" destId="{598A4C81-1188-4D06-BE35-0D9D355F1429}" srcOrd="0" destOrd="0" presId="urn:microsoft.com/office/officeart/2005/8/layout/default"/>
    <dgm:cxn modelId="{82B81588-FF48-41AD-9DF6-73D24C52DD27}" type="presParOf" srcId="{65454F6A-1EE2-42B3-B664-23B551F036F0}" destId="{EE4DE3C8-51DF-423D-B1B7-09E7A1D4EB5D}" srcOrd="1" destOrd="0" presId="urn:microsoft.com/office/officeart/2005/8/layout/default"/>
    <dgm:cxn modelId="{F11A3C0F-6628-494D-8B77-A1D7599619C6}" type="presParOf" srcId="{65454F6A-1EE2-42B3-B664-23B551F036F0}" destId="{E9A43174-7FA8-420D-90BF-7C3BF275C822}"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11A0F34-6208-447A-9776-C396E72F545B}" type="doc">
      <dgm:prSet loTypeId="urn:microsoft.com/office/officeart/2005/8/layout/bProcess3" loCatId="process" qsTypeId="urn:microsoft.com/office/officeart/2005/8/quickstyle/simple1" qsCatId="simple" csTypeId="urn:microsoft.com/office/officeart/2005/8/colors/accent2_1" csCatId="accent2" phldr="1"/>
      <dgm:spPr/>
      <dgm:t>
        <a:bodyPr/>
        <a:lstStyle/>
        <a:p>
          <a:endParaRPr lang="en-NZ"/>
        </a:p>
      </dgm:t>
    </dgm:pt>
    <dgm:pt modelId="{942074A0-B435-4169-94C8-CCC09EF451E0}">
      <dgm:prSet/>
      <dgm:spPr>
        <a:solidFill>
          <a:schemeClr val="tx2">
            <a:lumMod val="20000"/>
            <a:lumOff val="80000"/>
          </a:schemeClr>
        </a:solidFill>
      </dgm:spPr>
      <dgm:t>
        <a:bodyPr/>
        <a:lstStyle/>
        <a:p>
          <a:r>
            <a:rPr lang="en-US" dirty="0"/>
            <a:t>Suppose economy experiences price and wage inflation, but the real wage (W/P) has not increased</a:t>
          </a:r>
          <a:endParaRPr lang="en-NZ" dirty="0"/>
        </a:p>
      </dgm:t>
    </dgm:pt>
    <dgm:pt modelId="{18E01403-B435-4B3D-859F-783C05CE925A}" type="parTrans" cxnId="{D39C4C54-C92D-4C29-A236-2550A27B3A93}">
      <dgm:prSet/>
      <dgm:spPr/>
      <dgm:t>
        <a:bodyPr/>
        <a:lstStyle/>
        <a:p>
          <a:endParaRPr lang="en-NZ"/>
        </a:p>
      </dgm:t>
    </dgm:pt>
    <dgm:pt modelId="{51BF8DA3-BD75-43E8-BEA7-42FFBBD9F448}" type="sibTrans" cxnId="{D39C4C54-C92D-4C29-A236-2550A27B3A93}">
      <dgm:prSet/>
      <dgm:spPr/>
      <dgm:t>
        <a:bodyPr/>
        <a:lstStyle/>
        <a:p>
          <a:endParaRPr lang="en-NZ"/>
        </a:p>
      </dgm:t>
    </dgm:pt>
    <dgm:pt modelId="{622E5DD1-5A0E-45C7-80C8-0966061D6407}">
      <dgm:prSet/>
      <dgm:spPr>
        <a:solidFill>
          <a:schemeClr val="tx2">
            <a:lumMod val="20000"/>
            <a:lumOff val="80000"/>
          </a:schemeClr>
        </a:solidFill>
      </dgm:spPr>
      <dgm:t>
        <a:bodyPr/>
        <a:lstStyle/>
        <a:p>
          <a:r>
            <a:rPr lang="en-US"/>
            <a:t>constant real wage means that employment stays high …</a:t>
          </a:r>
          <a:endParaRPr lang="en-NZ"/>
        </a:p>
      </dgm:t>
    </dgm:pt>
    <dgm:pt modelId="{4C9EBC04-5712-4E80-9A63-CD5DCAAE1F16}" type="parTrans" cxnId="{8C81C0D0-A299-4038-ABF4-7D0EAE11DC28}">
      <dgm:prSet/>
      <dgm:spPr/>
      <dgm:t>
        <a:bodyPr/>
        <a:lstStyle/>
        <a:p>
          <a:endParaRPr lang="en-NZ"/>
        </a:p>
      </dgm:t>
    </dgm:pt>
    <dgm:pt modelId="{657F6302-2CC9-410C-AA5D-B2772A5F01F4}" type="sibTrans" cxnId="{8C81C0D0-A299-4038-ABF4-7D0EAE11DC28}">
      <dgm:prSet/>
      <dgm:spPr/>
      <dgm:t>
        <a:bodyPr/>
        <a:lstStyle/>
        <a:p>
          <a:endParaRPr lang="en-NZ"/>
        </a:p>
      </dgm:t>
    </dgm:pt>
    <dgm:pt modelId="{35238A3C-871C-476C-AD05-30654D3D19DD}">
      <dgm:prSet/>
      <dgm:spPr>
        <a:solidFill>
          <a:schemeClr val="tx2">
            <a:lumMod val="20000"/>
            <a:lumOff val="80000"/>
          </a:schemeClr>
        </a:solidFill>
      </dgm:spPr>
      <dgm:t>
        <a:bodyPr/>
        <a:lstStyle/>
        <a:p>
          <a:r>
            <a:rPr lang="en-US" b="1" dirty="0"/>
            <a:t>wage-price spiral </a:t>
          </a:r>
          <a:r>
            <a:rPr lang="en-US" dirty="0"/>
            <a:t>occurs</a:t>
          </a:r>
          <a:endParaRPr lang="en-NZ" dirty="0"/>
        </a:p>
      </dgm:t>
    </dgm:pt>
    <dgm:pt modelId="{798F6D6C-7ACD-414C-8274-6CAA67783170}" type="parTrans" cxnId="{E9132062-FC41-43F5-88A3-2F62FAAE691E}">
      <dgm:prSet/>
      <dgm:spPr/>
      <dgm:t>
        <a:bodyPr/>
        <a:lstStyle/>
        <a:p>
          <a:endParaRPr lang="en-NZ"/>
        </a:p>
      </dgm:t>
    </dgm:pt>
    <dgm:pt modelId="{5080A1CA-43B6-40B7-A5BE-A5A7CAD93513}" type="sibTrans" cxnId="{E9132062-FC41-43F5-88A3-2F62FAAE691E}">
      <dgm:prSet/>
      <dgm:spPr/>
      <dgm:t>
        <a:bodyPr/>
        <a:lstStyle/>
        <a:p>
          <a:endParaRPr lang="en-NZ"/>
        </a:p>
      </dgm:t>
    </dgm:pt>
    <dgm:pt modelId="{14EDF4D3-9A78-440E-95C9-27F7E873B0B9}" type="pres">
      <dgm:prSet presAssocID="{211A0F34-6208-447A-9776-C396E72F545B}" presName="Name0" presStyleCnt="0">
        <dgm:presLayoutVars>
          <dgm:dir/>
          <dgm:resizeHandles val="exact"/>
        </dgm:presLayoutVars>
      </dgm:prSet>
      <dgm:spPr/>
    </dgm:pt>
    <dgm:pt modelId="{72D9F42C-8F03-4E69-916D-141B532F71B0}" type="pres">
      <dgm:prSet presAssocID="{942074A0-B435-4169-94C8-CCC09EF451E0}" presName="node" presStyleLbl="node1" presStyleIdx="0" presStyleCnt="3">
        <dgm:presLayoutVars>
          <dgm:bulletEnabled val="1"/>
        </dgm:presLayoutVars>
      </dgm:prSet>
      <dgm:spPr/>
    </dgm:pt>
    <dgm:pt modelId="{022DF28C-3AC1-49B2-B3E5-97836304A086}" type="pres">
      <dgm:prSet presAssocID="{51BF8DA3-BD75-43E8-BEA7-42FFBBD9F448}" presName="sibTrans" presStyleLbl="sibTrans1D1" presStyleIdx="0" presStyleCnt="2"/>
      <dgm:spPr/>
    </dgm:pt>
    <dgm:pt modelId="{79E0832B-2C3B-4553-9D33-379D6522FADA}" type="pres">
      <dgm:prSet presAssocID="{51BF8DA3-BD75-43E8-BEA7-42FFBBD9F448}" presName="connectorText" presStyleLbl="sibTrans1D1" presStyleIdx="0" presStyleCnt="2"/>
      <dgm:spPr/>
    </dgm:pt>
    <dgm:pt modelId="{FCA67D90-7451-44A0-B911-2C344DD79CB5}" type="pres">
      <dgm:prSet presAssocID="{622E5DD1-5A0E-45C7-80C8-0966061D6407}" presName="node" presStyleLbl="node1" presStyleIdx="1" presStyleCnt="3">
        <dgm:presLayoutVars>
          <dgm:bulletEnabled val="1"/>
        </dgm:presLayoutVars>
      </dgm:prSet>
      <dgm:spPr/>
    </dgm:pt>
    <dgm:pt modelId="{8CEBF3B7-9D47-4774-92E2-2CF43A3D9AD4}" type="pres">
      <dgm:prSet presAssocID="{657F6302-2CC9-410C-AA5D-B2772A5F01F4}" presName="sibTrans" presStyleLbl="sibTrans1D1" presStyleIdx="1" presStyleCnt="2"/>
      <dgm:spPr/>
    </dgm:pt>
    <dgm:pt modelId="{1D08F63F-2994-42EE-89D7-F632541109CF}" type="pres">
      <dgm:prSet presAssocID="{657F6302-2CC9-410C-AA5D-B2772A5F01F4}" presName="connectorText" presStyleLbl="sibTrans1D1" presStyleIdx="1" presStyleCnt="2"/>
      <dgm:spPr/>
    </dgm:pt>
    <dgm:pt modelId="{30A79F90-6113-48BB-AFC7-FA2C36E38993}" type="pres">
      <dgm:prSet presAssocID="{35238A3C-871C-476C-AD05-30654D3D19DD}" presName="node" presStyleLbl="node1" presStyleIdx="2" presStyleCnt="3">
        <dgm:presLayoutVars>
          <dgm:bulletEnabled val="1"/>
        </dgm:presLayoutVars>
      </dgm:prSet>
      <dgm:spPr/>
    </dgm:pt>
  </dgm:ptLst>
  <dgm:cxnLst>
    <dgm:cxn modelId="{66EC0640-3EBD-49BF-9656-9D064E5A7AB2}" type="presOf" srcId="{657F6302-2CC9-410C-AA5D-B2772A5F01F4}" destId="{1D08F63F-2994-42EE-89D7-F632541109CF}" srcOrd="1" destOrd="0" presId="urn:microsoft.com/office/officeart/2005/8/layout/bProcess3"/>
    <dgm:cxn modelId="{7AFA884A-A746-485D-9CD4-C637192F85F2}" type="presOf" srcId="{622E5DD1-5A0E-45C7-80C8-0966061D6407}" destId="{FCA67D90-7451-44A0-B911-2C344DD79CB5}" srcOrd="0" destOrd="0" presId="urn:microsoft.com/office/officeart/2005/8/layout/bProcess3"/>
    <dgm:cxn modelId="{D39C4C54-C92D-4C29-A236-2550A27B3A93}" srcId="{211A0F34-6208-447A-9776-C396E72F545B}" destId="{942074A0-B435-4169-94C8-CCC09EF451E0}" srcOrd="0" destOrd="0" parTransId="{18E01403-B435-4B3D-859F-783C05CE925A}" sibTransId="{51BF8DA3-BD75-43E8-BEA7-42FFBBD9F448}"/>
    <dgm:cxn modelId="{C0DB265C-D3FF-473B-ADDB-243D92D556BB}" type="presOf" srcId="{51BF8DA3-BD75-43E8-BEA7-42FFBBD9F448}" destId="{79E0832B-2C3B-4553-9D33-379D6522FADA}" srcOrd="1" destOrd="0" presId="urn:microsoft.com/office/officeart/2005/8/layout/bProcess3"/>
    <dgm:cxn modelId="{E9132062-FC41-43F5-88A3-2F62FAAE691E}" srcId="{211A0F34-6208-447A-9776-C396E72F545B}" destId="{35238A3C-871C-476C-AD05-30654D3D19DD}" srcOrd="2" destOrd="0" parTransId="{798F6D6C-7ACD-414C-8274-6CAA67783170}" sibTransId="{5080A1CA-43B6-40B7-A5BE-A5A7CAD93513}"/>
    <dgm:cxn modelId="{1A9F40AB-2CC6-440E-9D96-9FC9D966AAE4}" type="presOf" srcId="{35238A3C-871C-476C-AD05-30654D3D19DD}" destId="{30A79F90-6113-48BB-AFC7-FA2C36E38993}" srcOrd="0" destOrd="0" presId="urn:microsoft.com/office/officeart/2005/8/layout/bProcess3"/>
    <dgm:cxn modelId="{5E878EAE-48F1-41CC-A25E-E66B30526A6F}" type="presOf" srcId="{51BF8DA3-BD75-43E8-BEA7-42FFBBD9F448}" destId="{022DF28C-3AC1-49B2-B3E5-97836304A086}" srcOrd="0" destOrd="0" presId="urn:microsoft.com/office/officeart/2005/8/layout/bProcess3"/>
    <dgm:cxn modelId="{86CA7BCA-A966-4C74-84A5-A91B5661327D}" type="presOf" srcId="{211A0F34-6208-447A-9776-C396E72F545B}" destId="{14EDF4D3-9A78-440E-95C9-27F7E873B0B9}" srcOrd="0" destOrd="0" presId="urn:microsoft.com/office/officeart/2005/8/layout/bProcess3"/>
    <dgm:cxn modelId="{8C81C0D0-A299-4038-ABF4-7D0EAE11DC28}" srcId="{211A0F34-6208-447A-9776-C396E72F545B}" destId="{622E5DD1-5A0E-45C7-80C8-0966061D6407}" srcOrd="1" destOrd="0" parTransId="{4C9EBC04-5712-4E80-9A63-CD5DCAAE1F16}" sibTransId="{657F6302-2CC9-410C-AA5D-B2772A5F01F4}"/>
    <dgm:cxn modelId="{25EC32E0-AFEE-4F9D-885C-52C02A296984}" type="presOf" srcId="{942074A0-B435-4169-94C8-CCC09EF451E0}" destId="{72D9F42C-8F03-4E69-916D-141B532F71B0}" srcOrd="0" destOrd="0" presId="urn:microsoft.com/office/officeart/2005/8/layout/bProcess3"/>
    <dgm:cxn modelId="{906C2BF0-D132-4A65-9DDA-7978D5F4C655}" type="presOf" srcId="{657F6302-2CC9-410C-AA5D-B2772A5F01F4}" destId="{8CEBF3B7-9D47-4774-92E2-2CF43A3D9AD4}" srcOrd="0" destOrd="0" presId="urn:microsoft.com/office/officeart/2005/8/layout/bProcess3"/>
    <dgm:cxn modelId="{58B41FA0-EDB4-449E-A469-C86F2E6ED11F}" type="presParOf" srcId="{14EDF4D3-9A78-440E-95C9-27F7E873B0B9}" destId="{72D9F42C-8F03-4E69-916D-141B532F71B0}" srcOrd="0" destOrd="0" presId="urn:microsoft.com/office/officeart/2005/8/layout/bProcess3"/>
    <dgm:cxn modelId="{94BDFF30-FE73-4BC4-B223-05988999A5EC}" type="presParOf" srcId="{14EDF4D3-9A78-440E-95C9-27F7E873B0B9}" destId="{022DF28C-3AC1-49B2-B3E5-97836304A086}" srcOrd="1" destOrd="0" presId="urn:microsoft.com/office/officeart/2005/8/layout/bProcess3"/>
    <dgm:cxn modelId="{844DDF06-9F8A-4117-86BC-9C7971C1F05F}" type="presParOf" srcId="{022DF28C-3AC1-49B2-B3E5-97836304A086}" destId="{79E0832B-2C3B-4553-9D33-379D6522FADA}" srcOrd="0" destOrd="0" presId="urn:microsoft.com/office/officeart/2005/8/layout/bProcess3"/>
    <dgm:cxn modelId="{C614B1EB-4C29-4182-A054-5BB6F1F4E71E}" type="presParOf" srcId="{14EDF4D3-9A78-440E-95C9-27F7E873B0B9}" destId="{FCA67D90-7451-44A0-B911-2C344DD79CB5}" srcOrd="2" destOrd="0" presId="urn:microsoft.com/office/officeart/2005/8/layout/bProcess3"/>
    <dgm:cxn modelId="{FC62A06C-2ADB-418A-8CF5-ECA1F75CF2D1}" type="presParOf" srcId="{14EDF4D3-9A78-440E-95C9-27F7E873B0B9}" destId="{8CEBF3B7-9D47-4774-92E2-2CF43A3D9AD4}" srcOrd="3" destOrd="0" presId="urn:microsoft.com/office/officeart/2005/8/layout/bProcess3"/>
    <dgm:cxn modelId="{EE876AFA-35C7-41C4-BA83-D96A1A547AB8}" type="presParOf" srcId="{8CEBF3B7-9D47-4774-92E2-2CF43A3D9AD4}" destId="{1D08F63F-2994-42EE-89D7-F632541109CF}" srcOrd="0" destOrd="0" presId="urn:microsoft.com/office/officeart/2005/8/layout/bProcess3"/>
    <dgm:cxn modelId="{9D67598C-11BB-4E13-8698-7CBA7B59D756}" type="presParOf" srcId="{14EDF4D3-9A78-440E-95C9-27F7E873B0B9}" destId="{30A79F90-6113-48BB-AFC7-FA2C36E38993}" srcOrd="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FA6E73B-B285-4E73-AA0F-E344A826921A}"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en-NZ"/>
        </a:p>
      </dgm:t>
    </dgm:pt>
    <dgm:pt modelId="{B7988B5E-B363-4C31-845A-4601B1055EFB}">
      <dgm:prSet/>
      <dgm:spPr>
        <a:solidFill>
          <a:schemeClr val="tx2">
            <a:lumMod val="20000"/>
            <a:lumOff val="80000"/>
          </a:schemeClr>
        </a:solidFill>
      </dgm:spPr>
      <dgm:t>
        <a:bodyPr/>
        <a:lstStyle/>
        <a:p>
          <a:r>
            <a:rPr lang="en-US" dirty="0"/>
            <a:t>Trade-off between inflation and unemployment is not stable:</a:t>
          </a:r>
          <a:endParaRPr lang="en-NZ" dirty="0"/>
        </a:p>
      </dgm:t>
    </dgm:pt>
    <dgm:pt modelId="{9072BFA2-73A0-4B89-B817-914FC15B2523}" type="parTrans" cxnId="{E5AFEB9B-E9CB-481C-AD12-040697477F98}">
      <dgm:prSet/>
      <dgm:spPr/>
      <dgm:t>
        <a:bodyPr/>
        <a:lstStyle/>
        <a:p>
          <a:endParaRPr lang="en-NZ"/>
        </a:p>
      </dgm:t>
    </dgm:pt>
    <dgm:pt modelId="{58657453-FC48-4DE9-8231-C4432838E49D}" type="sibTrans" cxnId="{E5AFEB9B-E9CB-481C-AD12-040697477F98}">
      <dgm:prSet/>
      <dgm:spPr/>
      <dgm:t>
        <a:bodyPr/>
        <a:lstStyle/>
        <a:p>
          <a:endParaRPr lang="en-NZ"/>
        </a:p>
      </dgm:t>
    </dgm:pt>
    <dgm:pt modelId="{32CB06BA-41DB-4C6B-9EAC-3B45EB7C6F92}">
      <dgm:prSet/>
      <dgm:spPr>
        <a:solidFill>
          <a:schemeClr val="tx2">
            <a:lumMod val="20000"/>
            <a:lumOff val="80000"/>
          </a:schemeClr>
        </a:solidFill>
      </dgm:spPr>
      <dgm:t>
        <a:bodyPr/>
        <a:lstStyle/>
        <a:p>
          <a:r>
            <a:rPr lang="en-US" b="1"/>
            <a:t>Phillips Curve shifts over time</a:t>
          </a:r>
          <a:endParaRPr lang="en-NZ"/>
        </a:p>
      </dgm:t>
    </dgm:pt>
    <dgm:pt modelId="{CF67313D-CA25-46F0-898C-6BC168957075}" type="parTrans" cxnId="{6D3818A0-D402-4107-8C84-FEB15CB89C7F}">
      <dgm:prSet/>
      <dgm:spPr/>
      <dgm:t>
        <a:bodyPr/>
        <a:lstStyle/>
        <a:p>
          <a:endParaRPr lang="en-NZ"/>
        </a:p>
      </dgm:t>
    </dgm:pt>
    <dgm:pt modelId="{6CD8B84A-9BAF-49C8-A258-1A656A289C1A}" type="sibTrans" cxnId="{6D3818A0-D402-4107-8C84-FEB15CB89C7F}">
      <dgm:prSet/>
      <dgm:spPr/>
      <dgm:t>
        <a:bodyPr/>
        <a:lstStyle/>
        <a:p>
          <a:endParaRPr lang="en-NZ"/>
        </a:p>
      </dgm:t>
    </dgm:pt>
    <dgm:pt modelId="{04EE366B-D6BA-469D-8B1E-645B3A7B0F7B}">
      <dgm:prSet/>
      <dgm:spPr>
        <a:solidFill>
          <a:schemeClr val="tx2">
            <a:lumMod val="20000"/>
            <a:lumOff val="80000"/>
          </a:schemeClr>
        </a:solidFill>
      </dgm:spPr>
      <dgm:t>
        <a:bodyPr/>
        <a:lstStyle/>
        <a:p>
          <a:r>
            <a:rPr lang="en-US" dirty="0"/>
            <a:t>Keeping unemployment “too low” leads to higher prices </a:t>
          </a:r>
          <a:endParaRPr lang="en-NZ" dirty="0"/>
        </a:p>
      </dgm:t>
    </dgm:pt>
    <dgm:pt modelId="{3DAC094E-1702-409B-95B3-44D8919DD498}" type="parTrans" cxnId="{88E13715-A689-4197-BE31-B5E490D04209}">
      <dgm:prSet/>
      <dgm:spPr/>
      <dgm:t>
        <a:bodyPr/>
        <a:lstStyle/>
        <a:p>
          <a:endParaRPr lang="en-NZ"/>
        </a:p>
      </dgm:t>
    </dgm:pt>
    <dgm:pt modelId="{5ABD3B8B-4A08-4E4C-8470-98F559A9B474}" type="sibTrans" cxnId="{88E13715-A689-4197-BE31-B5E490D04209}">
      <dgm:prSet/>
      <dgm:spPr/>
      <dgm:t>
        <a:bodyPr/>
        <a:lstStyle/>
        <a:p>
          <a:endParaRPr lang="en-NZ"/>
        </a:p>
      </dgm:t>
    </dgm:pt>
    <dgm:pt modelId="{AACBB693-46CE-46DC-B5C5-88C0A87C074D}">
      <dgm:prSet/>
      <dgm:spPr>
        <a:solidFill>
          <a:schemeClr val="tx2">
            <a:lumMod val="20000"/>
            <a:lumOff val="80000"/>
          </a:schemeClr>
        </a:solidFill>
      </dgm:spPr>
      <dgm:t>
        <a:bodyPr/>
        <a:lstStyle/>
        <a:p>
          <a:r>
            <a:rPr lang="en-US" dirty="0"/>
            <a:t>And hence rising inflation</a:t>
          </a:r>
          <a:endParaRPr lang="en-NZ" dirty="0"/>
        </a:p>
      </dgm:t>
    </dgm:pt>
    <dgm:pt modelId="{CD10C431-6071-4A7F-8FB5-C86093239D98}" type="parTrans" cxnId="{1E4A7ED5-85DC-454C-8258-9282A5E29DAD}">
      <dgm:prSet/>
      <dgm:spPr/>
      <dgm:t>
        <a:bodyPr/>
        <a:lstStyle/>
        <a:p>
          <a:endParaRPr lang="en-NZ"/>
        </a:p>
      </dgm:t>
    </dgm:pt>
    <dgm:pt modelId="{0A1A2260-4602-45C3-BC7D-13BD2CD0870E}" type="sibTrans" cxnId="{1E4A7ED5-85DC-454C-8258-9282A5E29DAD}">
      <dgm:prSet/>
      <dgm:spPr/>
      <dgm:t>
        <a:bodyPr/>
        <a:lstStyle/>
        <a:p>
          <a:endParaRPr lang="en-NZ"/>
        </a:p>
      </dgm:t>
    </dgm:pt>
    <dgm:pt modelId="{ED4809DD-FFF9-4589-81E8-1542B538EE1F}">
      <dgm:prSet/>
      <dgm:spPr>
        <a:solidFill>
          <a:schemeClr val="tx2">
            <a:lumMod val="20000"/>
            <a:lumOff val="80000"/>
          </a:schemeClr>
        </a:solidFill>
      </dgm:spPr>
      <dgm:t>
        <a:bodyPr/>
        <a:lstStyle/>
        <a:p>
          <a:r>
            <a:rPr lang="en-US" u="sng"/>
            <a:t>There is only one unemployment rate at which inflation is stable. </a:t>
          </a:r>
          <a:endParaRPr lang="en-NZ" dirty="0"/>
        </a:p>
      </dgm:t>
    </dgm:pt>
    <dgm:pt modelId="{CC702C97-D81C-48CC-9CEE-4DC16AB86DDA}" type="parTrans" cxnId="{D93F7D08-1487-42A1-BC4E-541FEBFE23C9}">
      <dgm:prSet/>
      <dgm:spPr/>
      <dgm:t>
        <a:bodyPr/>
        <a:lstStyle/>
        <a:p>
          <a:endParaRPr lang="en-NZ"/>
        </a:p>
      </dgm:t>
    </dgm:pt>
    <dgm:pt modelId="{C67DD30E-DCDA-4507-83DA-0D3B4C6B5DB5}" type="sibTrans" cxnId="{D93F7D08-1487-42A1-BC4E-541FEBFE23C9}">
      <dgm:prSet/>
      <dgm:spPr/>
      <dgm:t>
        <a:bodyPr/>
        <a:lstStyle/>
        <a:p>
          <a:endParaRPr lang="en-NZ"/>
        </a:p>
      </dgm:t>
    </dgm:pt>
    <dgm:pt modelId="{14F20232-4D4D-4617-8C6F-42A6AF5E32AE}" type="pres">
      <dgm:prSet presAssocID="{1FA6E73B-B285-4E73-AA0F-E344A826921A}" presName="outerComposite" presStyleCnt="0">
        <dgm:presLayoutVars>
          <dgm:chMax val="5"/>
          <dgm:dir/>
          <dgm:resizeHandles val="exact"/>
        </dgm:presLayoutVars>
      </dgm:prSet>
      <dgm:spPr/>
    </dgm:pt>
    <dgm:pt modelId="{86CD9147-514A-45E1-BF38-F3A9F01FB937}" type="pres">
      <dgm:prSet presAssocID="{1FA6E73B-B285-4E73-AA0F-E344A826921A}" presName="dummyMaxCanvas" presStyleCnt="0">
        <dgm:presLayoutVars/>
      </dgm:prSet>
      <dgm:spPr/>
    </dgm:pt>
    <dgm:pt modelId="{A8ED21A6-6EC1-4B79-8FEF-770FCDB53524}" type="pres">
      <dgm:prSet presAssocID="{1FA6E73B-B285-4E73-AA0F-E344A826921A}" presName="FiveNodes_1" presStyleLbl="node1" presStyleIdx="0" presStyleCnt="5">
        <dgm:presLayoutVars>
          <dgm:bulletEnabled val="1"/>
        </dgm:presLayoutVars>
      </dgm:prSet>
      <dgm:spPr/>
    </dgm:pt>
    <dgm:pt modelId="{962639C5-52CB-40F0-99A9-FF4870503B64}" type="pres">
      <dgm:prSet presAssocID="{1FA6E73B-B285-4E73-AA0F-E344A826921A}" presName="FiveNodes_2" presStyleLbl="node1" presStyleIdx="1" presStyleCnt="5">
        <dgm:presLayoutVars>
          <dgm:bulletEnabled val="1"/>
        </dgm:presLayoutVars>
      </dgm:prSet>
      <dgm:spPr/>
    </dgm:pt>
    <dgm:pt modelId="{3CBEF5EB-8646-44EB-B900-D6B9CCDE5EBE}" type="pres">
      <dgm:prSet presAssocID="{1FA6E73B-B285-4E73-AA0F-E344A826921A}" presName="FiveNodes_3" presStyleLbl="node1" presStyleIdx="2" presStyleCnt="5">
        <dgm:presLayoutVars>
          <dgm:bulletEnabled val="1"/>
        </dgm:presLayoutVars>
      </dgm:prSet>
      <dgm:spPr/>
    </dgm:pt>
    <dgm:pt modelId="{1A1258C7-3BB5-4E93-9DD5-2285E7445C0C}" type="pres">
      <dgm:prSet presAssocID="{1FA6E73B-B285-4E73-AA0F-E344A826921A}" presName="FiveNodes_4" presStyleLbl="node1" presStyleIdx="3" presStyleCnt="5">
        <dgm:presLayoutVars>
          <dgm:bulletEnabled val="1"/>
        </dgm:presLayoutVars>
      </dgm:prSet>
      <dgm:spPr/>
    </dgm:pt>
    <dgm:pt modelId="{1FEB27A2-96D3-4508-AA67-8EB62A0FEF79}" type="pres">
      <dgm:prSet presAssocID="{1FA6E73B-B285-4E73-AA0F-E344A826921A}" presName="FiveNodes_5" presStyleLbl="node1" presStyleIdx="4" presStyleCnt="5">
        <dgm:presLayoutVars>
          <dgm:bulletEnabled val="1"/>
        </dgm:presLayoutVars>
      </dgm:prSet>
      <dgm:spPr/>
    </dgm:pt>
    <dgm:pt modelId="{17A50F0A-4956-4178-A084-82E55F99BD21}" type="pres">
      <dgm:prSet presAssocID="{1FA6E73B-B285-4E73-AA0F-E344A826921A}" presName="FiveConn_1-2" presStyleLbl="fgAccFollowNode1" presStyleIdx="0" presStyleCnt="4">
        <dgm:presLayoutVars>
          <dgm:bulletEnabled val="1"/>
        </dgm:presLayoutVars>
      </dgm:prSet>
      <dgm:spPr/>
    </dgm:pt>
    <dgm:pt modelId="{E8FCBC44-8499-44C4-A8E6-AEFB704B7EC1}" type="pres">
      <dgm:prSet presAssocID="{1FA6E73B-B285-4E73-AA0F-E344A826921A}" presName="FiveConn_2-3" presStyleLbl="fgAccFollowNode1" presStyleIdx="1" presStyleCnt="4">
        <dgm:presLayoutVars>
          <dgm:bulletEnabled val="1"/>
        </dgm:presLayoutVars>
      </dgm:prSet>
      <dgm:spPr/>
    </dgm:pt>
    <dgm:pt modelId="{7C12FA97-CA6C-4884-8143-1928E756B34B}" type="pres">
      <dgm:prSet presAssocID="{1FA6E73B-B285-4E73-AA0F-E344A826921A}" presName="FiveConn_3-4" presStyleLbl="fgAccFollowNode1" presStyleIdx="2" presStyleCnt="4">
        <dgm:presLayoutVars>
          <dgm:bulletEnabled val="1"/>
        </dgm:presLayoutVars>
      </dgm:prSet>
      <dgm:spPr/>
    </dgm:pt>
    <dgm:pt modelId="{756EAC78-9E64-446D-B80C-DC9B56A477D1}" type="pres">
      <dgm:prSet presAssocID="{1FA6E73B-B285-4E73-AA0F-E344A826921A}" presName="FiveConn_4-5" presStyleLbl="fgAccFollowNode1" presStyleIdx="3" presStyleCnt="4">
        <dgm:presLayoutVars>
          <dgm:bulletEnabled val="1"/>
        </dgm:presLayoutVars>
      </dgm:prSet>
      <dgm:spPr/>
    </dgm:pt>
    <dgm:pt modelId="{D8443E05-3F58-4947-9879-F8C8A4AF077E}" type="pres">
      <dgm:prSet presAssocID="{1FA6E73B-B285-4E73-AA0F-E344A826921A}" presName="FiveNodes_1_text" presStyleLbl="node1" presStyleIdx="4" presStyleCnt="5">
        <dgm:presLayoutVars>
          <dgm:bulletEnabled val="1"/>
        </dgm:presLayoutVars>
      </dgm:prSet>
      <dgm:spPr/>
    </dgm:pt>
    <dgm:pt modelId="{C3F18DA9-0E12-48E2-B6C0-753695092213}" type="pres">
      <dgm:prSet presAssocID="{1FA6E73B-B285-4E73-AA0F-E344A826921A}" presName="FiveNodes_2_text" presStyleLbl="node1" presStyleIdx="4" presStyleCnt="5">
        <dgm:presLayoutVars>
          <dgm:bulletEnabled val="1"/>
        </dgm:presLayoutVars>
      </dgm:prSet>
      <dgm:spPr/>
    </dgm:pt>
    <dgm:pt modelId="{5BF7481A-6BA2-49E4-8CAB-EB4C51BBD506}" type="pres">
      <dgm:prSet presAssocID="{1FA6E73B-B285-4E73-AA0F-E344A826921A}" presName="FiveNodes_3_text" presStyleLbl="node1" presStyleIdx="4" presStyleCnt="5">
        <dgm:presLayoutVars>
          <dgm:bulletEnabled val="1"/>
        </dgm:presLayoutVars>
      </dgm:prSet>
      <dgm:spPr/>
    </dgm:pt>
    <dgm:pt modelId="{9A1D48CE-66A2-4157-A086-871BC5CF283C}" type="pres">
      <dgm:prSet presAssocID="{1FA6E73B-B285-4E73-AA0F-E344A826921A}" presName="FiveNodes_4_text" presStyleLbl="node1" presStyleIdx="4" presStyleCnt="5">
        <dgm:presLayoutVars>
          <dgm:bulletEnabled val="1"/>
        </dgm:presLayoutVars>
      </dgm:prSet>
      <dgm:spPr/>
    </dgm:pt>
    <dgm:pt modelId="{58C4E14D-589B-45D2-895D-A2BFB4F155A7}" type="pres">
      <dgm:prSet presAssocID="{1FA6E73B-B285-4E73-AA0F-E344A826921A}" presName="FiveNodes_5_text" presStyleLbl="node1" presStyleIdx="4" presStyleCnt="5">
        <dgm:presLayoutVars>
          <dgm:bulletEnabled val="1"/>
        </dgm:presLayoutVars>
      </dgm:prSet>
      <dgm:spPr/>
    </dgm:pt>
  </dgm:ptLst>
  <dgm:cxnLst>
    <dgm:cxn modelId="{2C563003-DD9C-43E7-8F88-856AA006D723}" type="presOf" srcId="{B7988B5E-B363-4C31-845A-4601B1055EFB}" destId="{D8443E05-3F58-4947-9879-F8C8A4AF077E}" srcOrd="1" destOrd="0" presId="urn:microsoft.com/office/officeart/2005/8/layout/vProcess5"/>
    <dgm:cxn modelId="{65040D08-B130-412A-926D-13AA75073DD9}" type="presOf" srcId="{0A1A2260-4602-45C3-BC7D-13BD2CD0870E}" destId="{756EAC78-9E64-446D-B80C-DC9B56A477D1}" srcOrd="0" destOrd="0" presId="urn:microsoft.com/office/officeart/2005/8/layout/vProcess5"/>
    <dgm:cxn modelId="{D93F7D08-1487-42A1-BC4E-541FEBFE23C9}" srcId="{1FA6E73B-B285-4E73-AA0F-E344A826921A}" destId="{ED4809DD-FFF9-4589-81E8-1542B538EE1F}" srcOrd="4" destOrd="0" parTransId="{CC702C97-D81C-48CC-9CEE-4DC16AB86DDA}" sibTransId="{C67DD30E-DCDA-4507-83DA-0D3B4C6B5DB5}"/>
    <dgm:cxn modelId="{16C0760B-C1D8-4704-91C1-4F8E1A9D14C3}" type="presOf" srcId="{B7988B5E-B363-4C31-845A-4601B1055EFB}" destId="{A8ED21A6-6EC1-4B79-8FEF-770FCDB53524}" srcOrd="0" destOrd="0" presId="urn:microsoft.com/office/officeart/2005/8/layout/vProcess5"/>
    <dgm:cxn modelId="{88E13715-A689-4197-BE31-B5E490D04209}" srcId="{1FA6E73B-B285-4E73-AA0F-E344A826921A}" destId="{04EE366B-D6BA-469D-8B1E-645B3A7B0F7B}" srcOrd="2" destOrd="0" parTransId="{3DAC094E-1702-409B-95B3-44D8919DD498}" sibTransId="{5ABD3B8B-4A08-4E4C-8470-98F559A9B474}"/>
    <dgm:cxn modelId="{226D4E25-8473-47C8-A802-8E9568A442B6}" type="presOf" srcId="{AACBB693-46CE-46DC-B5C5-88C0A87C074D}" destId="{1A1258C7-3BB5-4E93-9DD5-2285E7445C0C}" srcOrd="0" destOrd="0" presId="urn:microsoft.com/office/officeart/2005/8/layout/vProcess5"/>
    <dgm:cxn modelId="{6BD14353-1E66-42C4-ACA4-1274C91026AB}" type="presOf" srcId="{32CB06BA-41DB-4C6B-9EAC-3B45EB7C6F92}" destId="{962639C5-52CB-40F0-99A9-FF4870503B64}" srcOrd="0" destOrd="0" presId="urn:microsoft.com/office/officeart/2005/8/layout/vProcess5"/>
    <dgm:cxn modelId="{64394B5B-D154-4750-80A1-05DBA6312B17}" type="presOf" srcId="{ED4809DD-FFF9-4589-81E8-1542B538EE1F}" destId="{1FEB27A2-96D3-4508-AA67-8EB62A0FEF79}" srcOrd="0" destOrd="0" presId="urn:microsoft.com/office/officeart/2005/8/layout/vProcess5"/>
    <dgm:cxn modelId="{7B92B16C-36F9-4638-8003-7474BFD76E3D}" type="presOf" srcId="{04EE366B-D6BA-469D-8B1E-645B3A7B0F7B}" destId="{3CBEF5EB-8646-44EB-B900-D6B9CCDE5EBE}" srcOrd="0" destOrd="0" presId="urn:microsoft.com/office/officeart/2005/8/layout/vProcess5"/>
    <dgm:cxn modelId="{E5AFEB9B-E9CB-481C-AD12-040697477F98}" srcId="{1FA6E73B-B285-4E73-AA0F-E344A826921A}" destId="{B7988B5E-B363-4C31-845A-4601B1055EFB}" srcOrd="0" destOrd="0" parTransId="{9072BFA2-73A0-4B89-B817-914FC15B2523}" sibTransId="{58657453-FC48-4DE9-8231-C4432838E49D}"/>
    <dgm:cxn modelId="{6D3818A0-D402-4107-8C84-FEB15CB89C7F}" srcId="{1FA6E73B-B285-4E73-AA0F-E344A826921A}" destId="{32CB06BA-41DB-4C6B-9EAC-3B45EB7C6F92}" srcOrd="1" destOrd="0" parTransId="{CF67313D-CA25-46F0-898C-6BC168957075}" sibTransId="{6CD8B84A-9BAF-49C8-A258-1A656A289C1A}"/>
    <dgm:cxn modelId="{82691AA8-B90B-4C69-93E7-4A3971115F2D}" type="presOf" srcId="{58657453-FC48-4DE9-8231-C4432838E49D}" destId="{17A50F0A-4956-4178-A084-82E55F99BD21}" srcOrd="0" destOrd="0" presId="urn:microsoft.com/office/officeart/2005/8/layout/vProcess5"/>
    <dgm:cxn modelId="{3C8A8DBC-2CFB-4DCA-A778-DF0C97EA675F}" type="presOf" srcId="{1FA6E73B-B285-4E73-AA0F-E344A826921A}" destId="{14F20232-4D4D-4617-8C6F-42A6AF5E32AE}" srcOrd="0" destOrd="0" presId="urn:microsoft.com/office/officeart/2005/8/layout/vProcess5"/>
    <dgm:cxn modelId="{6A5495C9-6975-423E-9505-1DD8244AD9D9}" type="presOf" srcId="{5ABD3B8B-4A08-4E4C-8470-98F559A9B474}" destId="{7C12FA97-CA6C-4884-8143-1928E756B34B}" srcOrd="0" destOrd="0" presId="urn:microsoft.com/office/officeart/2005/8/layout/vProcess5"/>
    <dgm:cxn modelId="{DC33FEC9-DFBA-4638-8B45-621BD68A71FC}" type="presOf" srcId="{04EE366B-D6BA-469D-8B1E-645B3A7B0F7B}" destId="{5BF7481A-6BA2-49E4-8CAB-EB4C51BBD506}" srcOrd="1" destOrd="0" presId="urn:microsoft.com/office/officeart/2005/8/layout/vProcess5"/>
    <dgm:cxn modelId="{4FB16FCC-6704-4AE7-8B59-F32ABAB3830F}" type="presOf" srcId="{32CB06BA-41DB-4C6B-9EAC-3B45EB7C6F92}" destId="{C3F18DA9-0E12-48E2-B6C0-753695092213}" srcOrd="1" destOrd="0" presId="urn:microsoft.com/office/officeart/2005/8/layout/vProcess5"/>
    <dgm:cxn modelId="{A8BC4CD1-E83C-4781-800E-DFD9C1972344}" type="presOf" srcId="{AACBB693-46CE-46DC-B5C5-88C0A87C074D}" destId="{9A1D48CE-66A2-4157-A086-871BC5CF283C}" srcOrd="1" destOrd="0" presId="urn:microsoft.com/office/officeart/2005/8/layout/vProcess5"/>
    <dgm:cxn modelId="{1E4A7ED5-85DC-454C-8258-9282A5E29DAD}" srcId="{1FA6E73B-B285-4E73-AA0F-E344A826921A}" destId="{AACBB693-46CE-46DC-B5C5-88C0A87C074D}" srcOrd="3" destOrd="0" parTransId="{CD10C431-6071-4A7F-8FB5-C86093239D98}" sibTransId="{0A1A2260-4602-45C3-BC7D-13BD2CD0870E}"/>
    <dgm:cxn modelId="{94479EFE-A594-4134-9890-88727CA7898D}" type="presOf" srcId="{6CD8B84A-9BAF-49C8-A258-1A656A289C1A}" destId="{E8FCBC44-8499-44C4-A8E6-AEFB704B7EC1}" srcOrd="0" destOrd="0" presId="urn:microsoft.com/office/officeart/2005/8/layout/vProcess5"/>
    <dgm:cxn modelId="{3084CFFE-5348-40D5-8767-B9A205ACF153}" type="presOf" srcId="{ED4809DD-FFF9-4589-81E8-1542B538EE1F}" destId="{58C4E14D-589B-45D2-895D-A2BFB4F155A7}" srcOrd="1" destOrd="0" presId="urn:microsoft.com/office/officeart/2005/8/layout/vProcess5"/>
    <dgm:cxn modelId="{3893DAF7-18BC-4D5B-9567-191748279D97}" type="presParOf" srcId="{14F20232-4D4D-4617-8C6F-42A6AF5E32AE}" destId="{86CD9147-514A-45E1-BF38-F3A9F01FB937}" srcOrd="0" destOrd="0" presId="urn:microsoft.com/office/officeart/2005/8/layout/vProcess5"/>
    <dgm:cxn modelId="{160C5B2F-E08D-4512-BFBA-6BB5BE275AF5}" type="presParOf" srcId="{14F20232-4D4D-4617-8C6F-42A6AF5E32AE}" destId="{A8ED21A6-6EC1-4B79-8FEF-770FCDB53524}" srcOrd="1" destOrd="0" presId="urn:microsoft.com/office/officeart/2005/8/layout/vProcess5"/>
    <dgm:cxn modelId="{59645354-995A-4D60-A61E-0DD2D906D04A}" type="presParOf" srcId="{14F20232-4D4D-4617-8C6F-42A6AF5E32AE}" destId="{962639C5-52CB-40F0-99A9-FF4870503B64}" srcOrd="2" destOrd="0" presId="urn:microsoft.com/office/officeart/2005/8/layout/vProcess5"/>
    <dgm:cxn modelId="{51D12FF2-6E21-45E7-9120-48FDB39CE92D}" type="presParOf" srcId="{14F20232-4D4D-4617-8C6F-42A6AF5E32AE}" destId="{3CBEF5EB-8646-44EB-B900-D6B9CCDE5EBE}" srcOrd="3" destOrd="0" presId="urn:microsoft.com/office/officeart/2005/8/layout/vProcess5"/>
    <dgm:cxn modelId="{2A456959-3BE8-40E4-8B82-DB2DA98BE40D}" type="presParOf" srcId="{14F20232-4D4D-4617-8C6F-42A6AF5E32AE}" destId="{1A1258C7-3BB5-4E93-9DD5-2285E7445C0C}" srcOrd="4" destOrd="0" presId="urn:microsoft.com/office/officeart/2005/8/layout/vProcess5"/>
    <dgm:cxn modelId="{3988CBB6-3D27-4AFD-8308-C7D777A519FF}" type="presParOf" srcId="{14F20232-4D4D-4617-8C6F-42A6AF5E32AE}" destId="{1FEB27A2-96D3-4508-AA67-8EB62A0FEF79}" srcOrd="5" destOrd="0" presId="urn:microsoft.com/office/officeart/2005/8/layout/vProcess5"/>
    <dgm:cxn modelId="{E80B08FB-0E81-47FF-A315-2D0C666D6495}" type="presParOf" srcId="{14F20232-4D4D-4617-8C6F-42A6AF5E32AE}" destId="{17A50F0A-4956-4178-A084-82E55F99BD21}" srcOrd="6" destOrd="0" presId="urn:microsoft.com/office/officeart/2005/8/layout/vProcess5"/>
    <dgm:cxn modelId="{6C512D9C-73F7-40B9-9721-AFAADFD97FAD}" type="presParOf" srcId="{14F20232-4D4D-4617-8C6F-42A6AF5E32AE}" destId="{E8FCBC44-8499-44C4-A8E6-AEFB704B7EC1}" srcOrd="7" destOrd="0" presId="urn:microsoft.com/office/officeart/2005/8/layout/vProcess5"/>
    <dgm:cxn modelId="{C30D8EB8-225C-409E-AE5D-A0F1B1E2ABCA}" type="presParOf" srcId="{14F20232-4D4D-4617-8C6F-42A6AF5E32AE}" destId="{7C12FA97-CA6C-4884-8143-1928E756B34B}" srcOrd="8" destOrd="0" presId="urn:microsoft.com/office/officeart/2005/8/layout/vProcess5"/>
    <dgm:cxn modelId="{3489D312-14FE-4D27-A231-00EA86D6D435}" type="presParOf" srcId="{14F20232-4D4D-4617-8C6F-42A6AF5E32AE}" destId="{756EAC78-9E64-446D-B80C-DC9B56A477D1}" srcOrd="9" destOrd="0" presId="urn:microsoft.com/office/officeart/2005/8/layout/vProcess5"/>
    <dgm:cxn modelId="{7B58AEF3-1F62-4C63-AA8A-51B6E86BFA42}" type="presParOf" srcId="{14F20232-4D4D-4617-8C6F-42A6AF5E32AE}" destId="{D8443E05-3F58-4947-9879-F8C8A4AF077E}" srcOrd="10" destOrd="0" presId="urn:microsoft.com/office/officeart/2005/8/layout/vProcess5"/>
    <dgm:cxn modelId="{5D72CBFE-7742-4133-A5F7-81F0925128FA}" type="presParOf" srcId="{14F20232-4D4D-4617-8C6F-42A6AF5E32AE}" destId="{C3F18DA9-0E12-48E2-B6C0-753695092213}" srcOrd="11" destOrd="0" presId="urn:microsoft.com/office/officeart/2005/8/layout/vProcess5"/>
    <dgm:cxn modelId="{513A34DC-7B86-4F58-AAEA-F02A74D1785B}" type="presParOf" srcId="{14F20232-4D4D-4617-8C6F-42A6AF5E32AE}" destId="{5BF7481A-6BA2-49E4-8CAB-EB4C51BBD506}" srcOrd="12" destOrd="0" presId="urn:microsoft.com/office/officeart/2005/8/layout/vProcess5"/>
    <dgm:cxn modelId="{68A25864-B039-4FD5-8E37-00DF88EAD3B1}" type="presParOf" srcId="{14F20232-4D4D-4617-8C6F-42A6AF5E32AE}" destId="{9A1D48CE-66A2-4157-A086-871BC5CF283C}" srcOrd="13" destOrd="0" presId="urn:microsoft.com/office/officeart/2005/8/layout/vProcess5"/>
    <dgm:cxn modelId="{88760E82-840A-4479-B094-36AE496335D7}" type="presParOf" srcId="{14F20232-4D4D-4617-8C6F-42A6AF5E32AE}" destId="{58C4E14D-589B-45D2-895D-A2BFB4F155A7}"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15EB31A-D15E-49B6-AF67-37345A626B08}" type="doc">
      <dgm:prSet loTypeId="urn:microsoft.com/office/officeart/2005/8/layout/orgChart1" loCatId="hierarchy" qsTypeId="urn:microsoft.com/office/officeart/2005/8/quickstyle/simple2" qsCatId="simple" csTypeId="urn:microsoft.com/office/officeart/2005/8/colors/accent2_1" csCatId="accent2" phldr="1"/>
      <dgm:spPr/>
      <dgm:t>
        <a:bodyPr/>
        <a:lstStyle/>
        <a:p>
          <a:endParaRPr lang="en-NZ"/>
        </a:p>
      </dgm:t>
    </dgm:pt>
    <dgm:pt modelId="{EEFD336D-9B7C-452F-9AFC-07A53DCC219D}">
      <dgm:prSet/>
      <dgm:spPr>
        <a:solidFill>
          <a:schemeClr val="tx2">
            <a:lumMod val="20000"/>
            <a:lumOff val="80000"/>
          </a:schemeClr>
        </a:solidFill>
      </dgm:spPr>
      <dgm:t>
        <a:bodyPr/>
        <a:lstStyle/>
        <a:p>
          <a:r>
            <a:rPr lang="en-GB" dirty="0"/>
            <a:t>The RBNZ has a dual remit for monetary policy:</a:t>
          </a:r>
          <a:endParaRPr lang="en-NZ" dirty="0"/>
        </a:p>
      </dgm:t>
    </dgm:pt>
    <dgm:pt modelId="{826408FE-BE54-4BF3-9413-47DD1694533B}" type="parTrans" cxnId="{EC01A0E3-AA21-4EAF-BC57-502A7F1A48DF}">
      <dgm:prSet/>
      <dgm:spPr/>
      <dgm:t>
        <a:bodyPr/>
        <a:lstStyle/>
        <a:p>
          <a:endParaRPr lang="en-NZ"/>
        </a:p>
      </dgm:t>
    </dgm:pt>
    <dgm:pt modelId="{D78F533E-C6F0-47C1-84BC-EAF6BE743561}" type="sibTrans" cxnId="{EC01A0E3-AA21-4EAF-BC57-502A7F1A48DF}">
      <dgm:prSet/>
      <dgm:spPr/>
      <dgm:t>
        <a:bodyPr/>
        <a:lstStyle/>
        <a:p>
          <a:endParaRPr lang="en-NZ"/>
        </a:p>
      </dgm:t>
    </dgm:pt>
    <dgm:pt modelId="{B05628D5-789D-49B6-993D-4332E8F812A7}">
      <dgm:prSet/>
      <dgm:spPr>
        <a:solidFill>
          <a:schemeClr val="tx2">
            <a:lumMod val="20000"/>
            <a:lumOff val="80000"/>
          </a:schemeClr>
        </a:solidFill>
      </dgm:spPr>
      <dgm:t>
        <a:bodyPr/>
        <a:lstStyle/>
        <a:p>
          <a:r>
            <a:rPr lang="en-GB" dirty="0"/>
            <a:t>Maintain price stability (keep inflation between 1-3% over the medium term); and</a:t>
          </a:r>
          <a:endParaRPr lang="en-NZ" dirty="0"/>
        </a:p>
      </dgm:t>
    </dgm:pt>
    <dgm:pt modelId="{8EBD03F3-2EB0-4CDE-AEA2-B5DB35F56BE2}" type="parTrans" cxnId="{E6272A66-AB72-47DF-A5A0-5F3FA1E2B451}">
      <dgm:prSet/>
      <dgm:spPr/>
      <dgm:t>
        <a:bodyPr/>
        <a:lstStyle/>
        <a:p>
          <a:endParaRPr lang="en-NZ"/>
        </a:p>
      </dgm:t>
    </dgm:pt>
    <dgm:pt modelId="{2ABE89EC-710B-4A9B-AB50-62401E798482}" type="sibTrans" cxnId="{E6272A66-AB72-47DF-A5A0-5F3FA1E2B451}">
      <dgm:prSet/>
      <dgm:spPr/>
      <dgm:t>
        <a:bodyPr/>
        <a:lstStyle/>
        <a:p>
          <a:endParaRPr lang="en-NZ"/>
        </a:p>
      </dgm:t>
    </dgm:pt>
    <dgm:pt modelId="{357E60C6-CB81-4A31-A689-94AADBB4380D}">
      <dgm:prSet/>
      <dgm:spPr>
        <a:solidFill>
          <a:schemeClr val="tx2">
            <a:lumMod val="20000"/>
            <a:lumOff val="80000"/>
          </a:schemeClr>
        </a:solidFill>
      </dgm:spPr>
      <dgm:t>
        <a:bodyPr/>
        <a:lstStyle/>
        <a:p>
          <a:r>
            <a:rPr lang="en-GB" dirty="0"/>
            <a:t>Support maximum sustainable employment (no target level)</a:t>
          </a:r>
          <a:endParaRPr lang="en-NZ" dirty="0"/>
        </a:p>
      </dgm:t>
    </dgm:pt>
    <dgm:pt modelId="{DB3007B1-7B69-4079-BA9A-2BE1FF1FA538}" type="parTrans" cxnId="{BB9C5A24-C867-42C7-B0FA-8E164863F394}">
      <dgm:prSet/>
      <dgm:spPr/>
      <dgm:t>
        <a:bodyPr/>
        <a:lstStyle/>
        <a:p>
          <a:endParaRPr lang="en-NZ"/>
        </a:p>
      </dgm:t>
    </dgm:pt>
    <dgm:pt modelId="{DF15CC1F-B477-4B84-B470-F9289A804B35}" type="sibTrans" cxnId="{BB9C5A24-C867-42C7-B0FA-8E164863F394}">
      <dgm:prSet/>
      <dgm:spPr/>
      <dgm:t>
        <a:bodyPr/>
        <a:lstStyle/>
        <a:p>
          <a:endParaRPr lang="en-NZ"/>
        </a:p>
      </dgm:t>
    </dgm:pt>
    <dgm:pt modelId="{DC830693-4D4F-415C-819F-489E45574C43}" type="pres">
      <dgm:prSet presAssocID="{715EB31A-D15E-49B6-AF67-37345A626B08}" presName="hierChild1" presStyleCnt="0">
        <dgm:presLayoutVars>
          <dgm:orgChart val="1"/>
          <dgm:chPref val="1"/>
          <dgm:dir/>
          <dgm:animOne val="branch"/>
          <dgm:animLvl val="lvl"/>
          <dgm:resizeHandles/>
        </dgm:presLayoutVars>
      </dgm:prSet>
      <dgm:spPr/>
    </dgm:pt>
    <dgm:pt modelId="{54B4AF86-FB5D-4390-A5C2-111CD9A8E5F6}" type="pres">
      <dgm:prSet presAssocID="{EEFD336D-9B7C-452F-9AFC-07A53DCC219D}" presName="hierRoot1" presStyleCnt="0">
        <dgm:presLayoutVars>
          <dgm:hierBranch val="init"/>
        </dgm:presLayoutVars>
      </dgm:prSet>
      <dgm:spPr/>
    </dgm:pt>
    <dgm:pt modelId="{84E1848A-6CEE-40D6-8C73-B878EBD3C58B}" type="pres">
      <dgm:prSet presAssocID="{EEFD336D-9B7C-452F-9AFC-07A53DCC219D}" presName="rootComposite1" presStyleCnt="0"/>
      <dgm:spPr/>
    </dgm:pt>
    <dgm:pt modelId="{80102373-ED0F-46D5-AE7B-B4E7BA891F12}" type="pres">
      <dgm:prSet presAssocID="{EEFD336D-9B7C-452F-9AFC-07A53DCC219D}" presName="rootText1" presStyleLbl="node0" presStyleIdx="0" presStyleCnt="1">
        <dgm:presLayoutVars>
          <dgm:chPref val="3"/>
        </dgm:presLayoutVars>
      </dgm:prSet>
      <dgm:spPr/>
    </dgm:pt>
    <dgm:pt modelId="{0EE5052D-8D69-4D6E-B1B4-C61B38B363E9}" type="pres">
      <dgm:prSet presAssocID="{EEFD336D-9B7C-452F-9AFC-07A53DCC219D}" presName="rootConnector1" presStyleLbl="node1" presStyleIdx="0" presStyleCnt="0"/>
      <dgm:spPr/>
    </dgm:pt>
    <dgm:pt modelId="{3B025422-4076-4FCE-93B6-37D83FF1205B}" type="pres">
      <dgm:prSet presAssocID="{EEFD336D-9B7C-452F-9AFC-07A53DCC219D}" presName="hierChild2" presStyleCnt="0"/>
      <dgm:spPr/>
    </dgm:pt>
    <dgm:pt modelId="{F24C945B-5182-47F8-80FE-06C29FAF7718}" type="pres">
      <dgm:prSet presAssocID="{8EBD03F3-2EB0-4CDE-AEA2-B5DB35F56BE2}" presName="Name37" presStyleLbl="parChTrans1D2" presStyleIdx="0" presStyleCnt="2"/>
      <dgm:spPr/>
    </dgm:pt>
    <dgm:pt modelId="{13D088B4-93B2-462C-863C-10F13C8BC9E6}" type="pres">
      <dgm:prSet presAssocID="{B05628D5-789D-49B6-993D-4332E8F812A7}" presName="hierRoot2" presStyleCnt="0">
        <dgm:presLayoutVars>
          <dgm:hierBranch val="init"/>
        </dgm:presLayoutVars>
      </dgm:prSet>
      <dgm:spPr/>
    </dgm:pt>
    <dgm:pt modelId="{2CFC2DC2-DF02-4D8E-B41A-E94EDF5B2376}" type="pres">
      <dgm:prSet presAssocID="{B05628D5-789D-49B6-993D-4332E8F812A7}" presName="rootComposite" presStyleCnt="0"/>
      <dgm:spPr/>
    </dgm:pt>
    <dgm:pt modelId="{3A30CE9F-C19D-4D82-B2B3-60C30A79AB92}" type="pres">
      <dgm:prSet presAssocID="{B05628D5-789D-49B6-993D-4332E8F812A7}" presName="rootText" presStyleLbl="node2" presStyleIdx="0" presStyleCnt="2">
        <dgm:presLayoutVars>
          <dgm:chPref val="3"/>
        </dgm:presLayoutVars>
      </dgm:prSet>
      <dgm:spPr/>
    </dgm:pt>
    <dgm:pt modelId="{B5D11CB3-C876-4E6B-86E9-34A1FC29A88F}" type="pres">
      <dgm:prSet presAssocID="{B05628D5-789D-49B6-993D-4332E8F812A7}" presName="rootConnector" presStyleLbl="node2" presStyleIdx="0" presStyleCnt="2"/>
      <dgm:spPr/>
    </dgm:pt>
    <dgm:pt modelId="{D715CC45-5AE3-458D-A0F8-E6A235CFA4CA}" type="pres">
      <dgm:prSet presAssocID="{B05628D5-789D-49B6-993D-4332E8F812A7}" presName="hierChild4" presStyleCnt="0"/>
      <dgm:spPr/>
    </dgm:pt>
    <dgm:pt modelId="{9CDE948A-14C6-49DF-8FBA-89D5A5AE324E}" type="pres">
      <dgm:prSet presAssocID="{B05628D5-789D-49B6-993D-4332E8F812A7}" presName="hierChild5" presStyleCnt="0"/>
      <dgm:spPr/>
    </dgm:pt>
    <dgm:pt modelId="{2D97718D-BD99-45B2-8086-F2DD844E1512}" type="pres">
      <dgm:prSet presAssocID="{DB3007B1-7B69-4079-BA9A-2BE1FF1FA538}" presName="Name37" presStyleLbl="parChTrans1D2" presStyleIdx="1" presStyleCnt="2"/>
      <dgm:spPr/>
    </dgm:pt>
    <dgm:pt modelId="{4DB5BAF2-D43B-4684-B779-B1E0CFD092D8}" type="pres">
      <dgm:prSet presAssocID="{357E60C6-CB81-4A31-A689-94AADBB4380D}" presName="hierRoot2" presStyleCnt="0">
        <dgm:presLayoutVars>
          <dgm:hierBranch val="init"/>
        </dgm:presLayoutVars>
      </dgm:prSet>
      <dgm:spPr/>
    </dgm:pt>
    <dgm:pt modelId="{7C7F5403-A267-4941-B2A6-C307649AD1E9}" type="pres">
      <dgm:prSet presAssocID="{357E60C6-CB81-4A31-A689-94AADBB4380D}" presName="rootComposite" presStyleCnt="0"/>
      <dgm:spPr/>
    </dgm:pt>
    <dgm:pt modelId="{B5635B98-3A69-4074-9E9E-7CF82DE0CFB6}" type="pres">
      <dgm:prSet presAssocID="{357E60C6-CB81-4A31-A689-94AADBB4380D}" presName="rootText" presStyleLbl="node2" presStyleIdx="1" presStyleCnt="2">
        <dgm:presLayoutVars>
          <dgm:chPref val="3"/>
        </dgm:presLayoutVars>
      </dgm:prSet>
      <dgm:spPr/>
    </dgm:pt>
    <dgm:pt modelId="{9170FC5A-9C08-41F9-9EF0-D41C31D91713}" type="pres">
      <dgm:prSet presAssocID="{357E60C6-CB81-4A31-A689-94AADBB4380D}" presName="rootConnector" presStyleLbl="node2" presStyleIdx="1" presStyleCnt="2"/>
      <dgm:spPr/>
    </dgm:pt>
    <dgm:pt modelId="{B69A0AE7-F985-476A-896F-423007C8A519}" type="pres">
      <dgm:prSet presAssocID="{357E60C6-CB81-4A31-A689-94AADBB4380D}" presName="hierChild4" presStyleCnt="0"/>
      <dgm:spPr/>
    </dgm:pt>
    <dgm:pt modelId="{E663799C-125E-47B6-BCC7-88380E6F8E81}" type="pres">
      <dgm:prSet presAssocID="{357E60C6-CB81-4A31-A689-94AADBB4380D}" presName="hierChild5" presStyleCnt="0"/>
      <dgm:spPr/>
    </dgm:pt>
    <dgm:pt modelId="{D10ED033-726B-43C2-98F9-26A61E26FB3F}" type="pres">
      <dgm:prSet presAssocID="{EEFD336D-9B7C-452F-9AFC-07A53DCC219D}" presName="hierChild3" presStyleCnt="0"/>
      <dgm:spPr/>
    </dgm:pt>
  </dgm:ptLst>
  <dgm:cxnLst>
    <dgm:cxn modelId="{CC80C607-FEF3-43D8-A195-E62396A4A51C}" type="presOf" srcId="{EEFD336D-9B7C-452F-9AFC-07A53DCC219D}" destId="{80102373-ED0F-46D5-AE7B-B4E7BA891F12}" srcOrd="0" destOrd="0" presId="urn:microsoft.com/office/officeart/2005/8/layout/orgChart1"/>
    <dgm:cxn modelId="{B6D98908-7A42-44AD-AABB-5E475C4E155E}" type="presOf" srcId="{715EB31A-D15E-49B6-AF67-37345A626B08}" destId="{DC830693-4D4F-415C-819F-489E45574C43}" srcOrd="0" destOrd="0" presId="urn:microsoft.com/office/officeart/2005/8/layout/orgChart1"/>
    <dgm:cxn modelId="{BB9C5A24-C867-42C7-B0FA-8E164863F394}" srcId="{EEFD336D-9B7C-452F-9AFC-07A53DCC219D}" destId="{357E60C6-CB81-4A31-A689-94AADBB4380D}" srcOrd="1" destOrd="0" parTransId="{DB3007B1-7B69-4079-BA9A-2BE1FF1FA538}" sibTransId="{DF15CC1F-B477-4B84-B470-F9289A804B35}"/>
    <dgm:cxn modelId="{0A353126-D469-40DD-8E3E-15CCD3953E92}" type="presOf" srcId="{B05628D5-789D-49B6-993D-4332E8F812A7}" destId="{B5D11CB3-C876-4E6B-86E9-34A1FC29A88F}" srcOrd="1" destOrd="0" presId="urn:microsoft.com/office/officeart/2005/8/layout/orgChart1"/>
    <dgm:cxn modelId="{D4FEB22E-8B32-4958-A3AF-A7B35EA6E3EC}" type="presOf" srcId="{357E60C6-CB81-4A31-A689-94AADBB4380D}" destId="{B5635B98-3A69-4074-9E9E-7CF82DE0CFB6}" srcOrd="0" destOrd="0" presId="urn:microsoft.com/office/officeart/2005/8/layout/orgChart1"/>
    <dgm:cxn modelId="{2F537D31-C3F2-4804-90D8-E9002FB526B1}" type="presOf" srcId="{B05628D5-789D-49B6-993D-4332E8F812A7}" destId="{3A30CE9F-C19D-4D82-B2B3-60C30A79AB92}" srcOrd="0" destOrd="0" presId="urn:microsoft.com/office/officeart/2005/8/layout/orgChart1"/>
    <dgm:cxn modelId="{81CA443A-7235-4F60-8B3F-5570899EE3CE}" type="presOf" srcId="{DB3007B1-7B69-4079-BA9A-2BE1FF1FA538}" destId="{2D97718D-BD99-45B2-8086-F2DD844E1512}" srcOrd="0" destOrd="0" presId="urn:microsoft.com/office/officeart/2005/8/layout/orgChart1"/>
    <dgm:cxn modelId="{89432459-8B01-458C-B339-510A71C2DFD6}" type="presOf" srcId="{EEFD336D-9B7C-452F-9AFC-07A53DCC219D}" destId="{0EE5052D-8D69-4D6E-B1B4-C61B38B363E9}" srcOrd="1" destOrd="0" presId="urn:microsoft.com/office/officeart/2005/8/layout/orgChart1"/>
    <dgm:cxn modelId="{E6272A66-AB72-47DF-A5A0-5F3FA1E2B451}" srcId="{EEFD336D-9B7C-452F-9AFC-07A53DCC219D}" destId="{B05628D5-789D-49B6-993D-4332E8F812A7}" srcOrd="0" destOrd="0" parTransId="{8EBD03F3-2EB0-4CDE-AEA2-B5DB35F56BE2}" sibTransId="{2ABE89EC-710B-4A9B-AB50-62401E798482}"/>
    <dgm:cxn modelId="{EA222E74-DA39-4681-B427-4130E3559684}" type="presOf" srcId="{357E60C6-CB81-4A31-A689-94AADBB4380D}" destId="{9170FC5A-9C08-41F9-9EF0-D41C31D91713}" srcOrd="1" destOrd="0" presId="urn:microsoft.com/office/officeart/2005/8/layout/orgChart1"/>
    <dgm:cxn modelId="{05E8EBA9-D0E7-429A-BDF5-820AB1804359}" type="presOf" srcId="{8EBD03F3-2EB0-4CDE-AEA2-B5DB35F56BE2}" destId="{F24C945B-5182-47F8-80FE-06C29FAF7718}" srcOrd="0" destOrd="0" presId="urn:microsoft.com/office/officeart/2005/8/layout/orgChart1"/>
    <dgm:cxn modelId="{EC01A0E3-AA21-4EAF-BC57-502A7F1A48DF}" srcId="{715EB31A-D15E-49B6-AF67-37345A626B08}" destId="{EEFD336D-9B7C-452F-9AFC-07A53DCC219D}" srcOrd="0" destOrd="0" parTransId="{826408FE-BE54-4BF3-9413-47DD1694533B}" sibTransId="{D78F533E-C6F0-47C1-84BC-EAF6BE743561}"/>
    <dgm:cxn modelId="{197BA686-C204-42F0-94D4-FBC87586330E}" type="presParOf" srcId="{DC830693-4D4F-415C-819F-489E45574C43}" destId="{54B4AF86-FB5D-4390-A5C2-111CD9A8E5F6}" srcOrd="0" destOrd="0" presId="urn:microsoft.com/office/officeart/2005/8/layout/orgChart1"/>
    <dgm:cxn modelId="{E636FEAC-C8D1-4688-89CB-D0E5758CEA36}" type="presParOf" srcId="{54B4AF86-FB5D-4390-A5C2-111CD9A8E5F6}" destId="{84E1848A-6CEE-40D6-8C73-B878EBD3C58B}" srcOrd="0" destOrd="0" presId="urn:microsoft.com/office/officeart/2005/8/layout/orgChart1"/>
    <dgm:cxn modelId="{1C8626D1-31D8-4A16-BB6B-EC46E618A221}" type="presParOf" srcId="{84E1848A-6CEE-40D6-8C73-B878EBD3C58B}" destId="{80102373-ED0F-46D5-AE7B-B4E7BA891F12}" srcOrd="0" destOrd="0" presId="urn:microsoft.com/office/officeart/2005/8/layout/orgChart1"/>
    <dgm:cxn modelId="{E6A01944-89C2-4180-B062-1480092D725C}" type="presParOf" srcId="{84E1848A-6CEE-40D6-8C73-B878EBD3C58B}" destId="{0EE5052D-8D69-4D6E-B1B4-C61B38B363E9}" srcOrd="1" destOrd="0" presId="urn:microsoft.com/office/officeart/2005/8/layout/orgChart1"/>
    <dgm:cxn modelId="{0B90E52D-7356-43BF-9784-2FB7AE8B71D6}" type="presParOf" srcId="{54B4AF86-FB5D-4390-A5C2-111CD9A8E5F6}" destId="{3B025422-4076-4FCE-93B6-37D83FF1205B}" srcOrd="1" destOrd="0" presId="urn:microsoft.com/office/officeart/2005/8/layout/orgChart1"/>
    <dgm:cxn modelId="{ABDA39CF-9DE3-4E0E-8DDD-464AF3B1B97E}" type="presParOf" srcId="{3B025422-4076-4FCE-93B6-37D83FF1205B}" destId="{F24C945B-5182-47F8-80FE-06C29FAF7718}" srcOrd="0" destOrd="0" presId="urn:microsoft.com/office/officeart/2005/8/layout/orgChart1"/>
    <dgm:cxn modelId="{A08B1660-4B5A-45FB-936E-F957C7A13CC8}" type="presParOf" srcId="{3B025422-4076-4FCE-93B6-37D83FF1205B}" destId="{13D088B4-93B2-462C-863C-10F13C8BC9E6}" srcOrd="1" destOrd="0" presId="urn:microsoft.com/office/officeart/2005/8/layout/orgChart1"/>
    <dgm:cxn modelId="{07BD04EE-864D-4647-9692-889559A837AE}" type="presParOf" srcId="{13D088B4-93B2-462C-863C-10F13C8BC9E6}" destId="{2CFC2DC2-DF02-4D8E-B41A-E94EDF5B2376}" srcOrd="0" destOrd="0" presId="urn:microsoft.com/office/officeart/2005/8/layout/orgChart1"/>
    <dgm:cxn modelId="{D52B3287-8775-43D9-8577-4FE8C3DD6084}" type="presParOf" srcId="{2CFC2DC2-DF02-4D8E-B41A-E94EDF5B2376}" destId="{3A30CE9F-C19D-4D82-B2B3-60C30A79AB92}" srcOrd="0" destOrd="0" presId="urn:microsoft.com/office/officeart/2005/8/layout/orgChart1"/>
    <dgm:cxn modelId="{8F94144B-D857-49CA-B3F1-BF9CEF334375}" type="presParOf" srcId="{2CFC2DC2-DF02-4D8E-B41A-E94EDF5B2376}" destId="{B5D11CB3-C876-4E6B-86E9-34A1FC29A88F}" srcOrd="1" destOrd="0" presId="urn:microsoft.com/office/officeart/2005/8/layout/orgChart1"/>
    <dgm:cxn modelId="{440A5150-5DE1-4FBA-9C6F-A82C9FBB8E8E}" type="presParOf" srcId="{13D088B4-93B2-462C-863C-10F13C8BC9E6}" destId="{D715CC45-5AE3-458D-A0F8-E6A235CFA4CA}" srcOrd="1" destOrd="0" presId="urn:microsoft.com/office/officeart/2005/8/layout/orgChart1"/>
    <dgm:cxn modelId="{B186860E-1113-4EA3-A5E2-45191A11DDF7}" type="presParOf" srcId="{13D088B4-93B2-462C-863C-10F13C8BC9E6}" destId="{9CDE948A-14C6-49DF-8FBA-89D5A5AE324E}" srcOrd="2" destOrd="0" presId="urn:microsoft.com/office/officeart/2005/8/layout/orgChart1"/>
    <dgm:cxn modelId="{4AA2D390-D2CF-4DA9-A2CB-80E577D5F946}" type="presParOf" srcId="{3B025422-4076-4FCE-93B6-37D83FF1205B}" destId="{2D97718D-BD99-45B2-8086-F2DD844E1512}" srcOrd="2" destOrd="0" presId="urn:microsoft.com/office/officeart/2005/8/layout/orgChart1"/>
    <dgm:cxn modelId="{84B9E472-2F8F-430A-9DBF-763A9B4A696C}" type="presParOf" srcId="{3B025422-4076-4FCE-93B6-37D83FF1205B}" destId="{4DB5BAF2-D43B-4684-B779-B1E0CFD092D8}" srcOrd="3" destOrd="0" presId="urn:microsoft.com/office/officeart/2005/8/layout/orgChart1"/>
    <dgm:cxn modelId="{3E940746-50A5-4EBC-86EE-62365CE43A88}" type="presParOf" srcId="{4DB5BAF2-D43B-4684-B779-B1E0CFD092D8}" destId="{7C7F5403-A267-4941-B2A6-C307649AD1E9}" srcOrd="0" destOrd="0" presId="urn:microsoft.com/office/officeart/2005/8/layout/orgChart1"/>
    <dgm:cxn modelId="{8462B1CB-6122-4855-9923-1B61DE2038FD}" type="presParOf" srcId="{7C7F5403-A267-4941-B2A6-C307649AD1E9}" destId="{B5635B98-3A69-4074-9E9E-7CF82DE0CFB6}" srcOrd="0" destOrd="0" presId="urn:microsoft.com/office/officeart/2005/8/layout/orgChart1"/>
    <dgm:cxn modelId="{BC192051-3E03-42F6-A635-91A48AA948A4}" type="presParOf" srcId="{7C7F5403-A267-4941-B2A6-C307649AD1E9}" destId="{9170FC5A-9C08-41F9-9EF0-D41C31D91713}" srcOrd="1" destOrd="0" presId="urn:microsoft.com/office/officeart/2005/8/layout/orgChart1"/>
    <dgm:cxn modelId="{613E2BBE-F158-4627-82ED-19C715391FA3}" type="presParOf" srcId="{4DB5BAF2-D43B-4684-B779-B1E0CFD092D8}" destId="{B69A0AE7-F985-476A-896F-423007C8A519}" srcOrd="1" destOrd="0" presId="urn:microsoft.com/office/officeart/2005/8/layout/orgChart1"/>
    <dgm:cxn modelId="{4A77856D-4730-4D69-81A2-212136E46C19}" type="presParOf" srcId="{4DB5BAF2-D43B-4684-B779-B1E0CFD092D8}" destId="{E663799C-125E-47B6-BCC7-88380E6F8E81}" srcOrd="2" destOrd="0" presId="urn:microsoft.com/office/officeart/2005/8/layout/orgChart1"/>
    <dgm:cxn modelId="{9510D1AE-53DF-48C9-94A2-E1B558F6E379}" type="presParOf" srcId="{54B4AF86-FB5D-4390-A5C2-111CD9A8E5F6}" destId="{D10ED033-726B-43C2-98F9-26A61E26FB3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84AA761-40A5-484C-8AB0-F97234E9D1FC}" type="doc">
      <dgm:prSet loTypeId="urn:microsoft.com/office/officeart/2005/8/layout/vList2" loCatId="list" qsTypeId="urn:microsoft.com/office/officeart/2005/8/quickstyle/simple4" qsCatId="simple" csTypeId="urn:microsoft.com/office/officeart/2005/8/colors/accent2_1" csCatId="accent2" phldr="1"/>
      <dgm:spPr/>
      <dgm:t>
        <a:bodyPr/>
        <a:lstStyle/>
        <a:p>
          <a:endParaRPr lang="en-NZ"/>
        </a:p>
      </dgm:t>
    </dgm:pt>
    <dgm:pt modelId="{AFC365C1-1AEB-4E12-A4AA-E1B7F55482B4}">
      <dgm:prSet/>
      <dgm:spPr>
        <a:solidFill>
          <a:schemeClr val="tx2">
            <a:lumMod val="20000"/>
            <a:lumOff val="80000"/>
          </a:schemeClr>
        </a:solidFill>
      </dgm:spPr>
      <dgm:t>
        <a:bodyPr/>
        <a:lstStyle/>
        <a:p>
          <a:r>
            <a:rPr lang="en-GB" dirty="0"/>
            <a:t>Monetary policy is implemented by setting the </a:t>
          </a:r>
          <a:r>
            <a:rPr lang="en-GB" b="1" dirty="0"/>
            <a:t>Official Cash Rate (OCR)</a:t>
          </a:r>
          <a:endParaRPr lang="en-NZ" dirty="0"/>
        </a:p>
      </dgm:t>
    </dgm:pt>
    <dgm:pt modelId="{ECAAB110-1DC1-4524-B7D4-8601030C66E9}" type="parTrans" cxnId="{464D068C-123C-41E2-A1FA-F1E25D895AD9}">
      <dgm:prSet/>
      <dgm:spPr/>
      <dgm:t>
        <a:bodyPr/>
        <a:lstStyle/>
        <a:p>
          <a:endParaRPr lang="en-NZ"/>
        </a:p>
      </dgm:t>
    </dgm:pt>
    <dgm:pt modelId="{C625B6E4-617C-4196-ACEB-2F0633137216}" type="sibTrans" cxnId="{464D068C-123C-41E2-A1FA-F1E25D895AD9}">
      <dgm:prSet/>
      <dgm:spPr/>
      <dgm:t>
        <a:bodyPr/>
        <a:lstStyle/>
        <a:p>
          <a:endParaRPr lang="en-NZ"/>
        </a:p>
      </dgm:t>
    </dgm:pt>
    <dgm:pt modelId="{EEA504A4-70A1-4B7F-A46A-09210B61F662}">
      <dgm:prSet/>
      <dgm:spPr>
        <a:solidFill>
          <a:schemeClr val="tx2">
            <a:lumMod val="40000"/>
            <a:lumOff val="60000"/>
          </a:schemeClr>
        </a:solidFill>
      </dgm:spPr>
      <dgm:t>
        <a:bodyPr/>
        <a:lstStyle/>
        <a:p>
          <a:r>
            <a:rPr lang="en-GB" dirty="0"/>
            <a:t>The OCR is charged on Settlement Accounts Banks hold at the Reserve Bank</a:t>
          </a:r>
          <a:endParaRPr lang="en-NZ" dirty="0"/>
        </a:p>
      </dgm:t>
    </dgm:pt>
    <dgm:pt modelId="{983A4E9A-06FB-40C0-8A77-3589F457DF93}" type="parTrans" cxnId="{429B7D6A-5E68-4B13-88BB-5659F617E6C7}">
      <dgm:prSet/>
      <dgm:spPr/>
      <dgm:t>
        <a:bodyPr/>
        <a:lstStyle/>
        <a:p>
          <a:endParaRPr lang="en-NZ"/>
        </a:p>
      </dgm:t>
    </dgm:pt>
    <dgm:pt modelId="{4FF55B0B-3AF4-483A-9349-7DEB7D25B120}" type="sibTrans" cxnId="{429B7D6A-5E68-4B13-88BB-5659F617E6C7}">
      <dgm:prSet/>
      <dgm:spPr/>
      <dgm:t>
        <a:bodyPr/>
        <a:lstStyle/>
        <a:p>
          <a:endParaRPr lang="en-NZ"/>
        </a:p>
      </dgm:t>
    </dgm:pt>
    <dgm:pt modelId="{EB0A87A8-9721-4A2A-AF22-1EB69730DE95}">
      <dgm:prSet/>
      <dgm:spPr/>
      <dgm:t>
        <a:bodyPr/>
        <a:lstStyle/>
        <a:p>
          <a:r>
            <a:rPr lang="en-GB"/>
            <a:t>A Bank with a positive settlement balance is paid interest</a:t>
          </a:r>
          <a:endParaRPr lang="en-NZ"/>
        </a:p>
      </dgm:t>
    </dgm:pt>
    <dgm:pt modelId="{4728CD44-BFBF-424C-83CD-4329A89AC2D7}" type="parTrans" cxnId="{BCFB3881-414B-44F2-BF50-AF925A1F486C}">
      <dgm:prSet/>
      <dgm:spPr/>
      <dgm:t>
        <a:bodyPr/>
        <a:lstStyle/>
        <a:p>
          <a:endParaRPr lang="en-NZ"/>
        </a:p>
      </dgm:t>
    </dgm:pt>
    <dgm:pt modelId="{FB861E25-B7AC-4550-A2E6-0DF671FCA7CB}" type="sibTrans" cxnId="{BCFB3881-414B-44F2-BF50-AF925A1F486C}">
      <dgm:prSet/>
      <dgm:spPr/>
      <dgm:t>
        <a:bodyPr/>
        <a:lstStyle/>
        <a:p>
          <a:endParaRPr lang="en-NZ"/>
        </a:p>
      </dgm:t>
    </dgm:pt>
    <dgm:pt modelId="{913D7CD6-FE8D-442E-ADCA-5B924B2686A6}">
      <dgm:prSet/>
      <dgm:spPr/>
      <dgm:t>
        <a:bodyPr/>
        <a:lstStyle/>
        <a:p>
          <a:r>
            <a:rPr lang="en-GB"/>
            <a:t>A Bank with a deficit in its settlement balance is charged interest</a:t>
          </a:r>
          <a:endParaRPr lang="en-NZ"/>
        </a:p>
      </dgm:t>
    </dgm:pt>
    <dgm:pt modelId="{CCA233D1-B165-466A-AFC3-82E9BB7A398A}" type="parTrans" cxnId="{710066D6-40D4-417E-AA2E-D73DC136AE60}">
      <dgm:prSet/>
      <dgm:spPr/>
      <dgm:t>
        <a:bodyPr/>
        <a:lstStyle/>
        <a:p>
          <a:endParaRPr lang="en-NZ"/>
        </a:p>
      </dgm:t>
    </dgm:pt>
    <dgm:pt modelId="{7FC397C0-964F-4AE9-A857-1BC24D129B97}" type="sibTrans" cxnId="{710066D6-40D4-417E-AA2E-D73DC136AE60}">
      <dgm:prSet/>
      <dgm:spPr/>
      <dgm:t>
        <a:bodyPr/>
        <a:lstStyle/>
        <a:p>
          <a:endParaRPr lang="en-NZ"/>
        </a:p>
      </dgm:t>
    </dgm:pt>
    <dgm:pt modelId="{6D018179-FD74-4BD0-B5A5-F798F85E3BB0}">
      <dgm:prSet/>
      <dgm:spPr/>
      <dgm:t>
        <a:bodyPr/>
        <a:lstStyle/>
        <a:p>
          <a:r>
            <a:rPr lang="en-GB"/>
            <a:t>Market interest rates are based on the OCR</a:t>
          </a:r>
          <a:endParaRPr lang="en-NZ"/>
        </a:p>
      </dgm:t>
    </dgm:pt>
    <dgm:pt modelId="{D749940D-DA88-43EB-86D8-ECA1345459C9}" type="parTrans" cxnId="{10475195-3FD8-4537-A563-D61D51C3BFB6}">
      <dgm:prSet/>
      <dgm:spPr/>
      <dgm:t>
        <a:bodyPr/>
        <a:lstStyle/>
        <a:p>
          <a:endParaRPr lang="en-NZ"/>
        </a:p>
      </dgm:t>
    </dgm:pt>
    <dgm:pt modelId="{1AB1F420-812A-48FA-8DF8-3EDBEE4F8BDD}" type="sibTrans" cxnId="{10475195-3FD8-4537-A563-D61D51C3BFB6}">
      <dgm:prSet/>
      <dgm:spPr/>
      <dgm:t>
        <a:bodyPr/>
        <a:lstStyle/>
        <a:p>
          <a:endParaRPr lang="en-NZ"/>
        </a:p>
      </dgm:t>
    </dgm:pt>
    <dgm:pt modelId="{AF552CD8-2B9C-4D2B-AF77-8182F40718C6}" type="pres">
      <dgm:prSet presAssocID="{384AA761-40A5-484C-8AB0-F97234E9D1FC}" presName="linear" presStyleCnt="0">
        <dgm:presLayoutVars>
          <dgm:animLvl val="lvl"/>
          <dgm:resizeHandles val="exact"/>
        </dgm:presLayoutVars>
      </dgm:prSet>
      <dgm:spPr/>
    </dgm:pt>
    <dgm:pt modelId="{C96BBB4C-598F-4775-B0CF-656832379C49}" type="pres">
      <dgm:prSet presAssocID="{AFC365C1-1AEB-4E12-A4AA-E1B7F55482B4}" presName="parentText" presStyleLbl="node1" presStyleIdx="0" presStyleCnt="2">
        <dgm:presLayoutVars>
          <dgm:chMax val="0"/>
          <dgm:bulletEnabled val="1"/>
        </dgm:presLayoutVars>
      </dgm:prSet>
      <dgm:spPr/>
    </dgm:pt>
    <dgm:pt modelId="{EC1A4077-A49E-4270-B847-97FB3FC48D1F}" type="pres">
      <dgm:prSet presAssocID="{C625B6E4-617C-4196-ACEB-2F0633137216}" presName="spacer" presStyleCnt="0"/>
      <dgm:spPr/>
    </dgm:pt>
    <dgm:pt modelId="{8DD44FE1-6F6C-49C7-B58E-064E69B447C1}" type="pres">
      <dgm:prSet presAssocID="{EEA504A4-70A1-4B7F-A46A-09210B61F662}" presName="parentText" presStyleLbl="node1" presStyleIdx="1" presStyleCnt="2">
        <dgm:presLayoutVars>
          <dgm:chMax val="0"/>
          <dgm:bulletEnabled val="1"/>
        </dgm:presLayoutVars>
      </dgm:prSet>
      <dgm:spPr/>
    </dgm:pt>
    <dgm:pt modelId="{5F01276D-E6D9-4730-87E1-2293CC3F4CCF}" type="pres">
      <dgm:prSet presAssocID="{EEA504A4-70A1-4B7F-A46A-09210B61F662}" presName="childText" presStyleLbl="revTx" presStyleIdx="0" presStyleCnt="1">
        <dgm:presLayoutVars>
          <dgm:bulletEnabled val="1"/>
        </dgm:presLayoutVars>
      </dgm:prSet>
      <dgm:spPr/>
    </dgm:pt>
  </dgm:ptLst>
  <dgm:cxnLst>
    <dgm:cxn modelId="{3D9F5F2D-50DB-419F-93D6-F1C576E08828}" type="presOf" srcId="{6D018179-FD74-4BD0-B5A5-F798F85E3BB0}" destId="{5F01276D-E6D9-4730-87E1-2293CC3F4CCF}" srcOrd="0" destOrd="2" presId="urn:microsoft.com/office/officeart/2005/8/layout/vList2"/>
    <dgm:cxn modelId="{E6932C3D-0932-467C-8AEE-EE498ECD181B}" type="presOf" srcId="{384AA761-40A5-484C-8AB0-F97234E9D1FC}" destId="{AF552CD8-2B9C-4D2B-AF77-8182F40718C6}" srcOrd="0" destOrd="0" presId="urn:microsoft.com/office/officeart/2005/8/layout/vList2"/>
    <dgm:cxn modelId="{CCFA9E49-35C7-4E9D-8331-B137CD359EBE}" type="presOf" srcId="{EEA504A4-70A1-4B7F-A46A-09210B61F662}" destId="{8DD44FE1-6F6C-49C7-B58E-064E69B447C1}" srcOrd="0" destOrd="0" presId="urn:microsoft.com/office/officeart/2005/8/layout/vList2"/>
    <dgm:cxn modelId="{429B7D6A-5E68-4B13-88BB-5659F617E6C7}" srcId="{384AA761-40A5-484C-8AB0-F97234E9D1FC}" destId="{EEA504A4-70A1-4B7F-A46A-09210B61F662}" srcOrd="1" destOrd="0" parTransId="{983A4E9A-06FB-40C0-8A77-3589F457DF93}" sibTransId="{4FF55B0B-3AF4-483A-9349-7DEB7D25B120}"/>
    <dgm:cxn modelId="{3753EA75-3C58-4141-8FE7-EBF9FE152C6A}" type="presOf" srcId="{913D7CD6-FE8D-442E-ADCA-5B924B2686A6}" destId="{5F01276D-E6D9-4730-87E1-2293CC3F4CCF}" srcOrd="0" destOrd="1" presId="urn:microsoft.com/office/officeart/2005/8/layout/vList2"/>
    <dgm:cxn modelId="{BCFB3881-414B-44F2-BF50-AF925A1F486C}" srcId="{EEA504A4-70A1-4B7F-A46A-09210B61F662}" destId="{EB0A87A8-9721-4A2A-AF22-1EB69730DE95}" srcOrd="0" destOrd="0" parTransId="{4728CD44-BFBF-424C-83CD-4329A89AC2D7}" sibTransId="{FB861E25-B7AC-4550-A2E6-0DF671FCA7CB}"/>
    <dgm:cxn modelId="{464D068C-123C-41E2-A1FA-F1E25D895AD9}" srcId="{384AA761-40A5-484C-8AB0-F97234E9D1FC}" destId="{AFC365C1-1AEB-4E12-A4AA-E1B7F55482B4}" srcOrd="0" destOrd="0" parTransId="{ECAAB110-1DC1-4524-B7D4-8601030C66E9}" sibTransId="{C625B6E4-617C-4196-ACEB-2F0633137216}"/>
    <dgm:cxn modelId="{B140AA91-595F-486D-9644-F8B54ADC5D72}" type="presOf" srcId="{AFC365C1-1AEB-4E12-A4AA-E1B7F55482B4}" destId="{C96BBB4C-598F-4775-B0CF-656832379C49}" srcOrd="0" destOrd="0" presId="urn:microsoft.com/office/officeart/2005/8/layout/vList2"/>
    <dgm:cxn modelId="{10475195-3FD8-4537-A563-D61D51C3BFB6}" srcId="{EEA504A4-70A1-4B7F-A46A-09210B61F662}" destId="{6D018179-FD74-4BD0-B5A5-F798F85E3BB0}" srcOrd="2" destOrd="0" parTransId="{D749940D-DA88-43EB-86D8-ECA1345459C9}" sibTransId="{1AB1F420-812A-48FA-8DF8-3EDBEE4F8BDD}"/>
    <dgm:cxn modelId="{054B13BA-3F73-44E6-A3D0-F3D8D2444BEB}" type="presOf" srcId="{EB0A87A8-9721-4A2A-AF22-1EB69730DE95}" destId="{5F01276D-E6D9-4730-87E1-2293CC3F4CCF}" srcOrd="0" destOrd="0" presId="urn:microsoft.com/office/officeart/2005/8/layout/vList2"/>
    <dgm:cxn modelId="{710066D6-40D4-417E-AA2E-D73DC136AE60}" srcId="{EEA504A4-70A1-4B7F-A46A-09210B61F662}" destId="{913D7CD6-FE8D-442E-ADCA-5B924B2686A6}" srcOrd="1" destOrd="0" parTransId="{CCA233D1-B165-466A-AFC3-82E9BB7A398A}" sibTransId="{7FC397C0-964F-4AE9-A857-1BC24D129B97}"/>
    <dgm:cxn modelId="{C38A85D2-98A0-4DBB-A3A6-00D5C6AC4829}" type="presParOf" srcId="{AF552CD8-2B9C-4D2B-AF77-8182F40718C6}" destId="{C96BBB4C-598F-4775-B0CF-656832379C49}" srcOrd="0" destOrd="0" presId="urn:microsoft.com/office/officeart/2005/8/layout/vList2"/>
    <dgm:cxn modelId="{4548F17E-3299-431F-9E23-BA238E1093BB}" type="presParOf" srcId="{AF552CD8-2B9C-4D2B-AF77-8182F40718C6}" destId="{EC1A4077-A49E-4270-B847-97FB3FC48D1F}" srcOrd="1" destOrd="0" presId="urn:microsoft.com/office/officeart/2005/8/layout/vList2"/>
    <dgm:cxn modelId="{C1BCCCE6-C4C5-4FBE-AD7B-A4A8D7BC6616}" type="presParOf" srcId="{AF552CD8-2B9C-4D2B-AF77-8182F40718C6}" destId="{8DD44FE1-6F6C-49C7-B58E-064E69B447C1}" srcOrd="2" destOrd="0" presId="urn:microsoft.com/office/officeart/2005/8/layout/vList2"/>
    <dgm:cxn modelId="{661BD3BE-F011-43E4-9871-0EF71BC7868C}" type="presParOf" srcId="{AF552CD8-2B9C-4D2B-AF77-8182F40718C6}" destId="{5F01276D-E6D9-4730-87E1-2293CC3F4CCF}" srcOrd="3" destOrd="0" presId="urn:microsoft.com/office/officeart/2005/8/layout/vList2"/>
  </dgm:cxnLst>
  <dgm:bg>
    <a:solidFill>
      <a:schemeClr val="tx2">
        <a:lumMod val="20000"/>
        <a:lumOff val="8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6188F5F-F9EF-48F0-AD97-27EE1AEED38C}" type="doc">
      <dgm:prSet loTypeId="urn:microsoft.com/office/officeart/2005/8/layout/bProcess3" loCatId="process" qsTypeId="urn:microsoft.com/office/officeart/2005/8/quickstyle/simple2" qsCatId="simple" csTypeId="urn:microsoft.com/office/officeart/2005/8/colors/accent2_1" csCatId="accent2" phldr="1"/>
      <dgm:spPr/>
      <dgm:t>
        <a:bodyPr/>
        <a:lstStyle/>
        <a:p>
          <a:endParaRPr lang="en-NZ"/>
        </a:p>
      </dgm:t>
    </dgm:pt>
    <dgm:pt modelId="{4A2196C6-D984-4951-9E96-F0EC7350756D}">
      <dgm:prSet/>
      <dgm:spPr>
        <a:solidFill>
          <a:schemeClr val="tx2">
            <a:lumMod val="20000"/>
            <a:lumOff val="80000"/>
          </a:schemeClr>
        </a:solidFill>
      </dgm:spPr>
      <dgm:t>
        <a:bodyPr/>
        <a:lstStyle/>
        <a:p>
          <a:r>
            <a:rPr lang="en-GB" dirty="0"/>
            <a:t>Choose the desired level of aggregate demand, based on the labour market equilibrium and the Phillips curve</a:t>
          </a:r>
          <a:endParaRPr lang="en-NZ" dirty="0"/>
        </a:p>
      </dgm:t>
    </dgm:pt>
    <dgm:pt modelId="{C46033C0-1783-4A76-8A3D-D84F365C68B0}" type="parTrans" cxnId="{1D0A3948-A3FD-41B0-88B0-AE3881DF0E6E}">
      <dgm:prSet/>
      <dgm:spPr/>
      <dgm:t>
        <a:bodyPr/>
        <a:lstStyle/>
        <a:p>
          <a:endParaRPr lang="en-NZ"/>
        </a:p>
      </dgm:t>
    </dgm:pt>
    <dgm:pt modelId="{12090009-4AE9-4F13-8030-D340FFA2DD0B}" type="sibTrans" cxnId="{1D0A3948-A3FD-41B0-88B0-AE3881DF0E6E}">
      <dgm:prSet/>
      <dgm:spPr/>
      <dgm:t>
        <a:bodyPr/>
        <a:lstStyle/>
        <a:p>
          <a:endParaRPr lang="en-NZ"/>
        </a:p>
      </dgm:t>
    </dgm:pt>
    <dgm:pt modelId="{2FA8092D-823B-4B90-A936-575E53375C34}">
      <dgm:prSet/>
      <dgm:spPr>
        <a:solidFill>
          <a:schemeClr val="tx2">
            <a:lumMod val="20000"/>
            <a:lumOff val="80000"/>
          </a:schemeClr>
        </a:solidFill>
      </dgm:spPr>
      <dgm:t>
        <a:bodyPr/>
        <a:lstStyle/>
        <a:p>
          <a:r>
            <a:rPr lang="en-GB" dirty="0"/>
            <a:t>Estimate the </a:t>
          </a:r>
          <a:r>
            <a:rPr lang="en-GB" dirty="0">
              <a:solidFill>
                <a:srgbClr val="FF0000"/>
              </a:solidFill>
            </a:rPr>
            <a:t>real interest rate</a:t>
          </a:r>
          <a:r>
            <a:rPr lang="en-GB" dirty="0"/>
            <a:t>, which will produce this level of aggregate demand (using the multiplier model)</a:t>
          </a:r>
          <a:endParaRPr lang="en-NZ" dirty="0"/>
        </a:p>
      </dgm:t>
    </dgm:pt>
    <dgm:pt modelId="{30765499-9F55-43B6-9D41-1181CC06F66E}" type="parTrans" cxnId="{AF92247E-116B-41B3-9BC6-8210F83D90F3}">
      <dgm:prSet/>
      <dgm:spPr/>
      <dgm:t>
        <a:bodyPr/>
        <a:lstStyle/>
        <a:p>
          <a:endParaRPr lang="en-NZ"/>
        </a:p>
      </dgm:t>
    </dgm:pt>
    <dgm:pt modelId="{7D1426AF-B8D6-4D61-A679-D181FACA47A6}" type="sibTrans" cxnId="{AF92247E-116B-41B3-9BC6-8210F83D90F3}">
      <dgm:prSet/>
      <dgm:spPr/>
      <dgm:t>
        <a:bodyPr/>
        <a:lstStyle/>
        <a:p>
          <a:endParaRPr lang="en-NZ"/>
        </a:p>
      </dgm:t>
    </dgm:pt>
    <dgm:pt modelId="{A7668D4D-5FDB-4EBE-86AE-1A6A23EE639F}">
      <dgm:prSet/>
      <dgm:spPr>
        <a:solidFill>
          <a:schemeClr val="tx2">
            <a:lumMod val="20000"/>
            <a:lumOff val="80000"/>
          </a:schemeClr>
        </a:solidFill>
      </dgm:spPr>
      <dgm:t>
        <a:bodyPr/>
        <a:lstStyle/>
        <a:p>
          <a:r>
            <a:rPr lang="en-GB" dirty="0"/>
            <a:t>Calculate the </a:t>
          </a:r>
          <a:r>
            <a:rPr lang="en-GB" b="0" dirty="0">
              <a:solidFill>
                <a:srgbClr val="FF0000"/>
              </a:solidFill>
            </a:rPr>
            <a:t>nominal policy rate</a:t>
          </a:r>
          <a:r>
            <a:rPr lang="en-GB" b="1" dirty="0"/>
            <a:t> </a:t>
          </a:r>
          <a:r>
            <a:rPr lang="en-GB" dirty="0"/>
            <a:t>that will produce the appropriate </a:t>
          </a:r>
          <a:r>
            <a:rPr lang="en-GB" b="0" dirty="0">
              <a:solidFill>
                <a:srgbClr val="FF0000"/>
              </a:solidFill>
            </a:rPr>
            <a:t>market interest rate</a:t>
          </a:r>
          <a:r>
            <a:rPr lang="en-GB" b="1" dirty="0"/>
            <a:t>.</a:t>
          </a:r>
          <a:endParaRPr lang="en-NZ" dirty="0"/>
        </a:p>
      </dgm:t>
    </dgm:pt>
    <dgm:pt modelId="{43033BB5-C9C3-44BE-9A6D-F5A549866310}" type="parTrans" cxnId="{26905882-68F0-4AD4-86C9-6A2E431CAF76}">
      <dgm:prSet/>
      <dgm:spPr/>
      <dgm:t>
        <a:bodyPr/>
        <a:lstStyle/>
        <a:p>
          <a:endParaRPr lang="en-NZ"/>
        </a:p>
      </dgm:t>
    </dgm:pt>
    <dgm:pt modelId="{B32A2479-F4A1-4E8B-9DBD-C2D2073910D0}" type="sibTrans" cxnId="{26905882-68F0-4AD4-86C9-6A2E431CAF76}">
      <dgm:prSet/>
      <dgm:spPr/>
      <dgm:t>
        <a:bodyPr/>
        <a:lstStyle/>
        <a:p>
          <a:endParaRPr lang="en-NZ"/>
        </a:p>
      </dgm:t>
    </dgm:pt>
    <dgm:pt modelId="{B3078709-78D2-4DFC-8DBB-83FD89F52AE9}" type="pres">
      <dgm:prSet presAssocID="{D6188F5F-F9EF-48F0-AD97-27EE1AEED38C}" presName="Name0" presStyleCnt="0">
        <dgm:presLayoutVars>
          <dgm:dir/>
          <dgm:resizeHandles val="exact"/>
        </dgm:presLayoutVars>
      </dgm:prSet>
      <dgm:spPr/>
    </dgm:pt>
    <dgm:pt modelId="{F78C1733-BD8A-4258-A09F-C1B5F5BB5473}" type="pres">
      <dgm:prSet presAssocID="{4A2196C6-D984-4951-9E96-F0EC7350756D}" presName="node" presStyleLbl="node1" presStyleIdx="0" presStyleCnt="3">
        <dgm:presLayoutVars>
          <dgm:bulletEnabled val="1"/>
        </dgm:presLayoutVars>
      </dgm:prSet>
      <dgm:spPr/>
    </dgm:pt>
    <dgm:pt modelId="{A3AD850F-4659-4763-8EAB-EA000E66E400}" type="pres">
      <dgm:prSet presAssocID="{12090009-4AE9-4F13-8030-D340FFA2DD0B}" presName="sibTrans" presStyleLbl="sibTrans1D1" presStyleIdx="0" presStyleCnt="2"/>
      <dgm:spPr/>
    </dgm:pt>
    <dgm:pt modelId="{4CEF20AC-8914-47F1-9BDD-B29DF7D9BD4D}" type="pres">
      <dgm:prSet presAssocID="{12090009-4AE9-4F13-8030-D340FFA2DD0B}" presName="connectorText" presStyleLbl="sibTrans1D1" presStyleIdx="0" presStyleCnt="2"/>
      <dgm:spPr/>
    </dgm:pt>
    <dgm:pt modelId="{6788149B-EAE8-47DC-A4DD-0BF37B136E9C}" type="pres">
      <dgm:prSet presAssocID="{2FA8092D-823B-4B90-A936-575E53375C34}" presName="node" presStyleLbl="node1" presStyleIdx="1" presStyleCnt="3">
        <dgm:presLayoutVars>
          <dgm:bulletEnabled val="1"/>
        </dgm:presLayoutVars>
      </dgm:prSet>
      <dgm:spPr/>
    </dgm:pt>
    <dgm:pt modelId="{1714467E-9228-46B3-B6FF-9049A50E820A}" type="pres">
      <dgm:prSet presAssocID="{7D1426AF-B8D6-4D61-A679-D181FACA47A6}" presName="sibTrans" presStyleLbl="sibTrans1D1" presStyleIdx="1" presStyleCnt="2"/>
      <dgm:spPr/>
    </dgm:pt>
    <dgm:pt modelId="{EC291ACF-8655-4988-9EF0-018BEDA05262}" type="pres">
      <dgm:prSet presAssocID="{7D1426AF-B8D6-4D61-A679-D181FACA47A6}" presName="connectorText" presStyleLbl="sibTrans1D1" presStyleIdx="1" presStyleCnt="2"/>
      <dgm:spPr/>
    </dgm:pt>
    <dgm:pt modelId="{B46B2422-9602-457C-9BC5-017BAEF34540}" type="pres">
      <dgm:prSet presAssocID="{A7668D4D-5FDB-4EBE-86AE-1A6A23EE639F}" presName="node" presStyleLbl="node1" presStyleIdx="2" presStyleCnt="3">
        <dgm:presLayoutVars>
          <dgm:bulletEnabled val="1"/>
        </dgm:presLayoutVars>
      </dgm:prSet>
      <dgm:spPr/>
    </dgm:pt>
  </dgm:ptLst>
  <dgm:cxnLst>
    <dgm:cxn modelId="{EAC9DF24-F4FF-4D4F-AA41-2F5761A62EB7}" type="presOf" srcId="{7D1426AF-B8D6-4D61-A679-D181FACA47A6}" destId="{EC291ACF-8655-4988-9EF0-018BEDA05262}" srcOrd="1" destOrd="0" presId="urn:microsoft.com/office/officeart/2005/8/layout/bProcess3"/>
    <dgm:cxn modelId="{2636EF2E-BBB2-4A5E-A017-1FCAE3E189C7}" type="presOf" srcId="{A7668D4D-5FDB-4EBE-86AE-1A6A23EE639F}" destId="{B46B2422-9602-457C-9BC5-017BAEF34540}" srcOrd="0" destOrd="0" presId="urn:microsoft.com/office/officeart/2005/8/layout/bProcess3"/>
    <dgm:cxn modelId="{1D0A3948-A3FD-41B0-88B0-AE3881DF0E6E}" srcId="{D6188F5F-F9EF-48F0-AD97-27EE1AEED38C}" destId="{4A2196C6-D984-4951-9E96-F0EC7350756D}" srcOrd="0" destOrd="0" parTransId="{C46033C0-1783-4A76-8A3D-D84F365C68B0}" sibTransId="{12090009-4AE9-4F13-8030-D340FFA2DD0B}"/>
    <dgm:cxn modelId="{81067460-E9FA-4EBB-A4CF-F3B5D154DB65}" type="presOf" srcId="{D6188F5F-F9EF-48F0-AD97-27EE1AEED38C}" destId="{B3078709-78D2-4DFC-8DBB-83FD89F52AE9}" srcOrd="0" destOrd="0" presId="urn:microsoft.com/office/officeart/2005/8/layout/bProcess3"/>
    <dgm:cxn modelId="{AF92247E-116B-41B3-9BC6-8210F83D90F3}" srcId="{D6188F5F-F9EF-48F0-AD97-27EE1AEED38C}" destId="{2FA8092D-823B-4B90-A936-575E53375C34}" srcOrd="1" destOrd="0" parTransId="{30765499-9F55-43B6-9D41-1181CC06F66E}" sibTransId="{7D1426AF-B8D6-4D61-A679-D181FACA47A6}"/>
    <dgm:cxn modelId="{26905882-68F0-4AD4-86C9-6A2E431CAF76}" srcId="{D6188F5F-F9EF-48F0-AD97-27EE1AEED38C}" destId="{A7668D4D-5FDB-4EBE-86AE-1A6A23EE639F}" srcOrd="2" destOrd="0" parTransId="{43033BB5-C9C3-44BE-9A6D-F5A549866310}" sibTransId="{B32A2479-F4A1-4E8B-9DBD-C2D2073910D0}"/>
    <dgm:cxn modelId="{1EB5EF85-FAB3-49AB-8674-7096001E692E}" type="presOf" srcId="{12090009-4AE9-4F13-8030-D340FFA2DD0B}" destId="{4CEF20AC-8914-47F1-9BDD-B29DF7D9BD4D}" srcOrd="1" destOrd="0" presId="urn:microsoft.com/office/officeart/2005/8/layout/bProcess3"/>
    <dgm:cxn modelId="{3C3F708E-D97E-4EB2-BB65-471201333309}" type="presOf" srcId="{7D1426AF-B8D6-4D61-A679-D181FACA47A6}" destId="{1714467E-9228-46B3-B6FF-9049A50E820A}" srcOrd="0" destOrd="0" presId="urn:microsoft.com/office/officeart/2005/8/layout/bProcess3"/>
    <dgm:cxn modelId="{9880E6AD-4B19-4799-AA94-FD8C4ED6E4F2}" type="presOf" srcId="{2FA8092D-823B-4B90-A936-575E53375C34}" destId="{6788149B-EAE8-47DC-A4DD-0BF37B136E9C}" srcOrd="0" destOrd="0" presId="urn:microsoft.com/office/officeart/2005/8/layout/bProcess3"/>
    <dgm:cxn modelId="{FBFFD3ED-4886-4644-B893-280647107393}" type="presOf" srcId="{4A2196C6-D984-4951-9E96-F0EC7350756D}" destId="{F78C1733-BD8A-4258-A09F-C1B5F5BB5473}" srcOrd="0" destOrd="0" presId="urn:microsoft.com/office/officeart/2005/8/layout/bProcess3"/>
    <dgm:cxn modelId="{408080F6-3686-44A4-8731-5442DBF1109F}" type="presOf" srcId="{12090009-4AE9-4F13-8030-D340FFA2DD0B}" destId="{A3AD850F-4659-4763-8EAB-EA000E66E400}" srcOrd="0" destOrd="0" presId="urn:microsoft.com/office/officeart/2005/8/layout/bProcess3"/>
    <dgm:cxn modelId="{0F1E2522-93A9-4922-B9B9-5A405BEB62F5}" type="presParOf" srcId="{B3078709-78D2-4DFC-8DBB-83FD89F52AE9}" destId="{F78C1733-BD8A-4258-A09F-C1B5F5BB5473}" srcOrd="0" destOrd="0" presId="urn:microsoft.com/office/officeart/2005/8/layout/bProcess3"/>
    <dgm:cxn modelId="{A0916DE9-D5EF-4297-A6F2-FA46E4EFF8D6}" type="presParOf" srcId="{B3078709-78D2-4DFC-8DBB-83FD89F52AE9}" destId="{A3AD850F-4659-4763-8EAB-EA000E66E400}" srcOrd="1" destOrd="0" presId="urn:microsoft.com/office/officeart/2005/8/layout/bProcess3"/>
    <dgm:cxn modelId="{520B52C1-91B6-4DC8-8E43-886B83E25C27}" type="presParOf" srcId="{A3AD850F-4659-4763-8EAB-EA000E66E400}" destId="{4CEF20AC-8914-47F1-9BDD-B29DF7D9BD4D}" srcOrd="0" destOrd="0" presId="urn:microsoft.com/office/officeart/2005/8/layout/bProcess3"/>
    <dgm:cxn modelId="{F82E0B30-3711-438B-88FA-91019F857F0A}" type="presParOf" srcId="{B3078709-78D2-4DFC-8DBB-83FD89F52AE9}" destId="{6788149B-EAE8-47DC-A4DD-0BF37B136E9C}" srcOrd="2" destOrd="0" presId="urn:microsoft.com/office/officeart/2005/8/layout/bProcess3"/>
    <dgm:cxn modelId="{27CDF04E-F3E5-4142-A545-D7595E3680DC}" type="presParOf" srcId="{B3078709-78D2-4DFC-8DBB-83FD89F52AE9}" destId="{1714467E-9228-46B3-B6FF-9049A50E820A}" srcOrd="3" destOrd="0" presId="urn:microsoft.com/office/officeart/2005/8/layout/bProcess3"/>
    <dgm:cxn modelId="{F7D83981-0488-4263-A7D2-58424736954C}" type="presParOf" srcId="{1714467E-9228-46B3-B6FF-9049A50E820A}" destId="{EC291ACF-8655-4988-9EF0-018BEDA05262}" srcOrd="0" destOrd="0" presId="urn:microsoft.com/office/officeart/2005/8/layout/bProcess3"/>
    <dgm:cxn modelId="{D48608D0-57F5-4F9C-9937-223CEE496868}" type="presParOf" srcId="{B3078709-78D2-4DFC-8DBB-83FD89F52AE9}" destId="{B46B2422-9602-457C-9BC5-017BAEF34540}" srcOrd="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E1909EE-8CE9-4CB7-86A3-F68173B5133D}" type="doc">
      <dgm:prSet loTypeId="urn:microsoft.com/office/officeart/2005/8/layout/bProcess3" loCatId="process" qsTypeId="urn:microsoft.com/office/officeart/2005/8/quickstyle/simple5" qsCatId="simple" csTypeId="urn:microsoft.com/office/officeart/2005/8/colors/accent2_1" csCatId="accent2" phldr="1"/>
      <dgm:spPr/>
      <dgm:t>
        <a:bodyPr/>
        <a:lstStyle/>
        <a:p>
          <a:endParaRPr lang="en-NZ"/>
        </a:p>
      </dgm:t>
    </dgm:pt>
    <dgm:pt modelId="{E0702EAD-DA7C-44A6-A19F-2CCD3FFA4BD5}">
      <dgm:prSet/>
      <dgm:spPr>
        <a:solidFill>
          <a:schemeClr val="tx2">
            <a:lumMod val="20000"/>
            <a:lumOff val="80000"/>
          </a:schemeClr>
        </a:solidFill>
      </dgm:spPr>
      <dgm:t>
        <a:bodyPr/>
        <a:lstStyle/>
        <a:p>
          <a:r>
            <a:rPr lang="en-GB" dirty="0"/>
            <a:t>A change in the policy rate has a ripple effect through all the interest rates in the economy. </a:t>
          </a:r>
          <a:endParaRPr lang="en-NZ" dirty="0"/>
        </a:p>
      </dgm:t>
    </dgm:pt>
    <dgm:pt modelId="{76A77620-535A-4300-9E2B-E2CB3F366E97}" type="parTrans" cxnId="{C3231C80-35E9-4CBC-A859-65B507CE879F}">
      <dgm:prSet/>
      <dgm:spPr/>
      <dgm:t>
        <a:bodyPr/>
        <a:lstStyle/>
        <a:p>
          <a:endParaRPr lang="en-NZ"/>
        </a:p>
      </dgm:t>
    </dgm:pt>
    <dgm:pt modelId="{857EA084-57EB-4280-B60A-4188283E58E4}" type="sibTrans" cxnId="{C3231C80-35E9-4CBC-A859-65B507CE879F}">
      <dgm:prSet/>
      <dgm:spPr/>
      <dgm:t>
        <a:bodyPr/>
        <a:lstStyle/>
        <a:p>
          <a:endParaRPr lang="en-NZ"/>
        </a:p>
      </dgm:t>
    </dgm:pt>
    <dgm:pt modelId="{89FAC6BB-6D82-47CC-A937-903C84DF7612}">
      <dgm:prSet/>
      <dgm:spPr>
        <a:solidFill>
          <a:schemeClr val="tx2">
            <a:lumMod val="20000"/>
            <a:lumOff val="80000"/>
          </a:schemeClr>
        </a:solidFill>
      </dgm:spPr>
      <dgm:t>
        <a:bodyPr/>
        <a:lstStyle/>
        <a:p>
          <a:r>
            <a:rPr lang="en-GB" b="0" dirty="0"/>
            <a:t>When the interest rate goes down, the price of assets goes up. </a:t>
          </a:r>
          <a:endParaRPr lang="en-NZ" b="0" dirty="0"/>
        </a:p>
      </dgm:t>
    </dgm:pt>
    <dgm:pt modelId="{8D5573AE-B2C4-49CE-9338-0D44032DE602}" type="parTrans" cxnId="{7C42B4A2-4829-4243-AD13-F3D20DF3AD57}">
      <dgm:prSet/>
      <dgm:spPr/>
      <dgm:t>
        <a:bodyPr/>
        <a:lstStyle/>
        <a:p>
          <a:endParaRPr lang="en-NZ"/>
        </a:p>
      </dgm:t>
    </dgm:pt>
    <dgm:pt modelId="{204085C7-B90B-4777-8AA9-D44E9CDB4ACD}" type="sibTrans" cxnId="{7C42B4A2-4829-4243-AD13-F3D20DF3AD57}">
      <dgm:prSet/>
      <dgm:spPr/>
      <dgm:t>
        <a:bodyPr/>
        <a:lstStyle/>
        <a:p>
          <a:endParaRPr lang="en-NZ"/>
        </a:p>
      </dgm:t>
    </dgm:pt>
    <dgm:pt modelId="{C11BAD46-09CE-43FF-A962-209184187A6E}">
      <dgm:prSet/>
      <dgm:spPr>
        <a:solidFill>
          <a:schemeClr val="tx2">
            <a:lumMod val="20000"/>
            <a:lumOff val="80000"/>
          </a:schemeClr>
        </a:solidFill>
      </dgm:spPr>
      <dgm:t>
        <a:bodyPr/>
        <a:lstStyle/>
        <a:p>
          <a:r>
            <a:rPr lang="en-GB"/>
            <a:t>Households who own assets will be wealthier, which will increase their consumption.</a:t>
          </a:r>
          <a:endParaRPr lang="en-NZ"/>
        </a:p>
      </dgm:t>
    </dgm:pt>
    <dgm:pt modelId="{A4F1A820-1845-43F9-A15C-9890E114D950}" type="parTrans" cxnId="{10FE2F3B-C251-46EA-B1E6-BD498742B8F7}">
      <dgm:prSet/>
      <dgm:spPr/>
      <dgm:t>
        <a:bodyPr/>
        <a:lstStyle/>
        <a:p>
          <a:endParaRPr lang="en-NZ"/>
        </a:p>
      </dgm:t>
    </dgm:pt>
    <dgm:pt modelId="{3E7DD07C-0110-427C-B6C9-E23B9FD4100D}" type="sibTrans" cxnId="{10FE2F3B-C251-46EA-B1E6-BD498742B8F7}">
      <dgm:prSet/>
      <dgm:spPr/>
      <dgm:t>
        <a:bodyPr/>
        <a:lstStyle/>
        <a:p>
          <a:endParaRPr lang="en-NZ"/>
        </a:p>
      </dgm:t>
    </dgm:pt>
    <dgm:pt modelId="{1C5E9028-0862-4BB2-87A9-3B4E4EE7CD28}" type="pres">
      <dgm:prSet presAssocID="{4E1909EE-8CE9-4CB7-86A3-F68173B5133D}" presName="Name0" presStyleCnt="0">
        <dgm:presLayoutVars>
          <dgm:dir/>
          <dgm:resizeHandles val="exact"/>
        </dgm:presLayoutVars>
      </dgm:prSet>
      <dgm:spPr/>
    </dgm:pt>
    <dgm:pt modelId="{43C9B65D-DDF2-428A-9BF7-7379D5EC90FB}" type="pres">
      <dgm:prSet presAssocID="{E0702EAD-DA7C-44A6-A19F-2CCD3FFA4BD5}" presName="node" presStyleLbl="node1" presStyleIdx="0" presStyleCnt="3">
        <dgm:presLayoutVars>
          <dgm:bulletEnabled val="1"/>
        </dgm:presLayoutVars>
      </dgm:prSet>
      <dgm:spPr/>
    </dgm:pt>
    <dgm:pt modelId="{3EDBA0B2-20F1-476F-86CC-86E3EEE31F7E}" type="pres">
      <dgm:prSet presAssocID="{857EA084-57EB-4280-B60A-4188283E58E4}" presName="sibTrans" presStyleLbl="sibTrans1D1" presStyleIdx="0" presStyleCnt="2"/>
      <dgm:spPr/>
    </dgm:pt>
    <dgm:pt modelId="{C9EEAFDA-F0B5-4005-A035-D142BD944F01}" type="pres">
      <dgm:prSet presAssocID="{857EA084-57EB-4280-B60A-4188283E58E4}" presName="connectorText" presStyleLbl="sibTrans1D1" presStyleIdx="0" presStyleCnt="2"/>
      <dgm:spPr/>
    </dgm:pt>
    <dgm:pt modelId="{0360A879-9D57-4558-B265-4EE9F21AA54F}" type="pres">
      <dgm:prSet presAssocID="{89FAC6BB-6D82-47CC-A937-903C84DF7612}" presName="node" presStyleLbl="node1" presStyleIdx="1" presStyleCnt="3">
        <dgm:presLayoutVars>
          <dgm:bulletEnabled val="1"/>
        </dgm:presLayoutVars>
      </dgm:prSet>
      <dgm:spPr/>
    </dgm:pt>
    <dgm:pt modelId="{5E2F9605-AE95-479D-87B2-3E8B65765DA4}" type="pres">
      <dgm:prSet presAssocID="{204085C7-B90B-4777-8AA9-D44E9CDB4ACD}" presName="sibTrans" presStyleLbl="sibTrans1D1" presStyleIdx="1" presStyleCnt="2"/>
      <dgm:spPr/>
    </dgm:pt>
    <dgm:pt modelId="{7F78B42A-ECBE-471F-B43C-E987FB321D37}" type="pres">
      <dgm:prSet presAssocID="{204085C7-B90B-4777-8AA9-D44E9CDB4ACD}" presName="connectorText" presStyleLbl="sibTrans1D1" presStyleIdx="1" presStyleCnt="2"/>
      <dgm:spPr/>
    </dgm:pt>
    <dgm:pt modelId="{73F08AD8-D47D-4D28-8439-A018D2DEF70E}" type="pres">
      <dgm:prSet presAssocID="{C11BAD46-09CE-43FF-A962-209184187A6E}" presName="node" presStyleLbl="node1" presStyleIdx="2" presStyleCnt="3">
        <dgm:presLayoutVars>
          <dgm:bulletEnabled val="1"/>
        </dgm:presLayoutVars>
      </dgm:prSet>
      <dgm:spPr/>
    </dgm:pt>
  </dgm:ptLst>
  <dgm:cxnLst>
    <dgm:cxn modelId="{10FE2F3B-C251-46EA-B1E6-BD498742B8F7}" srcId="{4E1909EE-8CE9-4CB7-86A3-F68173B5133D}" destId="{C11BAD46-09CE-43FF-A962-209184187A6E}" srcOrd="2" destOrd="0" parTransId="{A4F1A820-1845-43F9-A15C-9890E114D950}" sibTransId="{3E7DD07C-0110-427C-B6C9-E23B9FD4100D}"/>
    <dgm:cxn modelId="{FA050B49-EF2F-48DB-AB74-6D4F39D8E3FA}" type="presOf" srcId="{4E1909EE-8CE9-4CB7-86A3-F68173B5133D}" destId="{1C5E9028-0862-4BB2-87A9-3B4E4EE7CD28}" srcOrd="0" destOrd="0" presId="urn:microsoft.com/office/officeart/2005/8/layout/bProcess3"/>
    <dgm:cxn modelId="{24DE9850-13EB-48A5-A815-34898D2E56C5}" type="presOf" srcId="{857EA084-57EB-4280-B60A-4188283E58E4}" destId="{C9EEAFDA-F0B5-4005-A035-D142BD944F01}" srcOrd="1" destOrd="0" presId="urn:microsoft.com/office/officeart/2005/8/layout/bProcess3"/>
    <dgm:cxn modelId="{DC18F362-668C-45DE-A760-F6B4A7216AE2}" type="presOf" srcId="{C11BAD46-09CE-43FF-A962-209184187A6E}" destId="{73F08AD8-D47D-4D28-8439-A018D2DEF70E}" srcOrd="0" destOrd="0" presId="urn:microsoft.com/office/officeart/2005/8/layout/bProcess3"/>
    <dgm:cxn modelId="{C3231C80-35E9-4CBC-A859-65B507CE879F}" srcId="{4E1909EE-8CE9-4CB7-86A3-F68173B5133D}" destId="{E0702EAD-DA7C-44A6-A19F-2CCD3FFA4BD5}" srcOrd="0" destOrd="0" parTransId="{76A77620-535A-4300-9E2B-E2CB3F366E97}" sibTransId="{857EA084-57EB-4280-B60A-4188283E58E4}"/>
    <dgm:cxn modelId="{7C42B4A2-4829-4243-AD13-F3D20DF3AD57}" srcId="{4E1909EE-8CE9-4CB7-86A3-F68173B5133D}" destId="{89FAC6BB-6D82-47CC-A937-903C84DF7612}" srcOrd="1" destOrd="0" parTransId="{8D5573AE-B2C4-49CE-9338-0D44032DE602}" sibTransId="{204085C7-B90B-4777-8AA9-D44E9CDB4ACD}"/>
    <dgm:cxn modelId="{E368D9A4-46CE-4AF0-A158-78E0385A1302}" type="presOf" srcId="{E0702EAD-DA7C-44A6-A19F-2CCD3FFA4BD5}" destId="{43C9B65D-DDF2-428A-9BF7-7379D5EC90FB}" srcOrd="0" destOrd="0" presId="urn:microsoft.com/office/officeart/2005/8/layout/bProcess3"/>
    <dgm:cxn modelId="{BDED69C0-6BDF-4BE0-9472-A0FE49B36B33}" type="presOf" srcId="{857EA084-57EB-4280-B60A-4188283E58E4}" destId="{3EDBA0B2-20F1-476F-86CC-86E3EEE31F7E}" srcOrd="0" destOrd="0" presId="urn:microsoft.com/office/officeart/2005/8/layout/bProcess3"/>
    <dgm:cxn modelId="{468782C0-F57F-4D2B-B00A-CE3411365B94}" type="presOf" srcId="{204085C7-B90B-4777-8AA9-D44E9CDB4ACD}" destId="{5E2F9605-AE95-479D-87B2-3E8B65765DA4}" srcOrd="0" destOrd="0" presId="urn:microsoft.com/office/officeart/2005/8/layout/bProcess3"/>
    <dgm:cxn modelId="{8F5699EB-267C-4649-BAA5-AB8E86DC04DA}" type="presOf" srcId="{89FAC6BB-6D82-47CC-A937-903C84DF7612}" destId="{0360A879-9D57-4558-B265-4EE9F21AA54F}" srcOrd="0" destOrd="0" presId="urn:microsoft.com/office/officeart/2005/8/layout/bProcess3"/>
    <dgm:cxn modelId="{E88B7DF7-5B8C-42E5-8113-477D7A6DAC19}" type="presOf" srcId="{204085C7-B90B-4777-8AA9-D44E9CDB4ACD}" destId="{7F78B42A-ECBE-471F-B43C-E987FB321D37}" srcOrd="1" destOrd="0" presId="urn:microsoft.com/office/officeart/2005/8/layout/bProcess3"/>
    <dgm:cxn modelId="{6E4894D8-5020-4409-AF4B-34E28936E5C7}" type="presParOf" srcId="{1C5E9028-0862-4BB2-87A9-3B4E4EE7CD28}" destId="{43C9B65D-DDF2-428A-9BF7-7379D5EC90FB}" srcOrd="0" destOrd="0" presId="urn:microsoft.com/office/officeart/2005/8/layout/bProcess3"/>
    <dgm:cxn modelId="{852F7BB4-A4AC-4B06-9811-79B7918D216D}" type="presParOf" srcId="{1C5E9028-0862-4BB2-87A9-3B4E4EE7CD28}" destId="{3EDBA0B2-20F1-476F-86CC-86E3EEE31F7E}" srcOrd="1" destOrd="0" presId="urn:microsoft.com/office/officeart/2005/8/layout/bProcess3"/>
    <dgm:cxn modelId="{B6ABA2F8-9F39-4294-B4DC-E91F08D5C183}" type="presParOf" srcId="{3EDBA0B2-20F1-476F-86CC-86E3EEE31F7E}" destId="{C9EEAFDA-F0B5-4005-A035-D142BD944F01}" srcOrd="0" destOrd="0" presId="urn:microsoft.com/office/officeart/2005/8/layout/bProcess3"/>
    <dgm:cxn modelId="{5CCE87CB-AF0D-4637-B0F3-7C77F1A37BC2}" type="presParOf" srcId="{1C5E9028-0862-4BB2-87A9-3B4E4EE7CD28}" destId="{0360A879-9D57-4558-B265-4EE9F21AA54F}" srcOrd="2" destOrd="0" presId="urn:microsoft.com/office/officeart/2005/8/layout/bProcess3"/>
    <dgm:cxn modelId="{2DD8F49C-21F1-4EA0-BBE3-86CD96C04ACE}" type="presParOf" srcId="{1C5E9028-0862-4BB2-87A9-3B4E4EE7CD28}" destId="{5E2F9605-AE95-479D-87B2-3E8B65765DA4}" srcOrd="3" destOrd="0" presId="urn:microsoft.com/office/officeart/2005/8/layout/bProcess3"/>
    <dgm:cxn modelId="{12B6D490-E2CE-4C92-AD8E-7F2B888F05DB}" type="presParOf" srcId="{5E2F9605-AE95-479D-87B2-3E8B65765DA4}" destId="{7F78B42A-ECBE-471F-B43C-E987FB321D37}" srcOrd="0" destOrd="0" presId="urn:microsoft.com/office/officeart/2005/8/layout/bProcess3"/>
    <dgm:cxn modelId="{BEDEAC41-0AD0-4808-B319-73AF2635E25D}" type="presParOf" srcId="{1C5E9028-0862-4BB2-87A9-3B4E4EE7CD28}" destId="{73F08AD8-D47D-4D28-8439-A018D2DEF70E}" srcOrd="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C7EE642-2761-41C0-81B5-57B8DB7AB2FD}" type="doc">
      <dgm:prSet loTypeId="urn:microsoft.com/office/officeart/2005/8/layout/bProcess3" loCatId="process" qsTypeId="urn:microsoft.com/office/officeart/2005/8/quickstyle/simple2" qsCatId="simple" csTypeId="urn:microsoft.com/office/officeart/2005/8/colors/accent2_1" csCatId="accent2" phldr="1"/>
      <dgm:spPr/>
      <dgm:t>
        <a:bodyPr/>
        <a:lstStyle/>
        <a:p>
          <a:endParaRPr lang="en-NZ"/>
        </a:p>
      </dgm:t>
    </dgm:pt>
    <dgm:pt modelId="{BEF12F48-BDD8-4ACD-94C0-7C7326C40661}">
      <dgm:prSet/>
      <dgm:spPr>
        <a:solidFill>
          <a:schemeClr val="tx2">
            <a:lumMod val="20000"/>
            <a:lumOff val="80000"/>
          </a:schemeClr>
        </a:solidFill>
      </dgm:spPr>
      <dgm:t>
        <a:bodyPr/>
        <a:lstStyle/>
        <a:p>
          <a:r>
            <a:rPr lang="en-GB" b="0" dirty="0"/>
            <a:t>Consistent policymaking and good communication with the public </a:t>
          </a:r>
          <a:r>
            <a:rPr lang="en-GB" dirty="0"/>
            <a:t>builds confidence in the Central Bank. </a:t>
          </a:r>
          <a:endParaRPr lang="en-NZ" dirty="0"/>
        </a:p>
      </dgm:t>
    </dgm:pt>
    <dgm:pt modelId="{28AB4B96-6892-4B3A-B5FB-16E2F786AB37}" type="parTrans" cxnId="{6FAD24A6-C612-4975-B397-D3D9A1BCC4FC}">
      <dgm:prSet/>
      <dgm:spPr/>
      <dgm:t>
        <a:bodyPr/>
        <a:lstStyle/>
        <a:p>
          <a:endParaRPr lang="en-NZ"/>
        </a:p>
      </dgm:t>
    </dgm:pt>
    <dgm:pt modelId="{19C694C6-7D14-46C9-BED6-CBB438E50552}" type="sibTrans" cxnId="{6FAD24A6-C612-4975-B397-D3D9A1BCC4FC}">
      <dgm:prSet/>
      <dgm:spPr/>
      <dgm:t>
        <a:bodyPr/>
        <a:lstStyle/>
        <a:p>
          <a:endParaRPr lang="en-NZ"/>
        </a:p>
      </dgm:t>
    </dgm:pt>
    <dgm:pt modelId="{76A958E0-4CB0-4003-9B02-A6C7789E1842}">
      <dgm:prSet/>
      <dgm:spPr>
        <a:solidFill>
          <a:schemeClr val="tx2">
            <a:lumMod val="20000"/>
            <a:lumOff val="80000"/>
          </a:schemeClr>
        </a:solidFill>
      </dgm:spPr>
      <dgm:t>
        <a:bodyPr/>
        <a:lstStyle/>
        <a:p>
          <a:r>
            <a:rPr lang="en-GB"/>
            <a:t>This can lead firms to expect higher demand and therefore increase investment. </a:t>
          </a:r>
          <a:endParaRPr lang="en-NZ"/>
        </a:p>
      </dgm:t>
    </dgm:pt>
    <dgm:pt modelId="{41925A22-8377-4508-B8F4-4F7DD8F82C7B}" type="parTrans" cxnId="{C5797CBD-2735-4775-AA0B-A43A13E37414}">
      <dgm:prSet/>
      <dgm:spPr/>
      <dgm:t>
        <a:bodyPr/>
        <a:lstStyle/>
        <a:p>
          <a:endParaRPr lang="en-NZ"/>
        </a:p>
      </dgm:t>
    </dgm:pt>
    <dgm:pt modelId="{925DB7B0-3A52-48CF-93C5-C40269BAA3BF}" type="sibTrans" cxnId="{C5797CBD-2735-4775-AA0B-A43A13E37414}">
      <dgm:prSet/>
      <dgm:spPr/>
      <dgm:t>
        <a:bodyPr/>
        <a:lstStyle/>
        <a:p>
          <a:endParaRPr lang="en-NZ"/>
        </a:p>
      </dgm:t>
    </dgm:pt>
    <dgm:pt modelId="{2D5995C7-9B58-42AB-A359-B0557948AD68}">
      <dgm:prSet/>
      <dgm:spPr>
        <a:solidFill>
          <a:schemeClr val="tx2">
            <a:lumMod val="20000"/>
            <a:lumOff val="80000"/>
          </a:schemeClr>
        </a:solidFill>
      </dgm:spPr>
      <dgm:t>
        <a:bodyPr/>
        <a:lstStyle/>
        <a:p>
          <a:r>
            <a:rPr lang="en-GB"/>
            <a:t>Households may be confident that they will not lose their jobs, and they may increase their consumption.</a:t>
          </a:r>
          <a:endParaRPr lang="en-NZ"/>
        </a:p>
      </dgm:t>
    </dgm:pt>
    <dgm:pt modelId="{118F327D-83C4-417B-B986-F0AB33D8215F}" type="parTrans" cxnId="{F1C2E693-6BFA-47E4-861E-46C212ABBDDE}">
      <dgm:prSet/>
      <dgm:spPr/>
      <dgm:t>
        <a:bodyPr/>
        <a:lstStyle/>
        <a:p>
          <a:endParaRPr lang="en-NZ"/>
        </a:p>
      </dgm:t>
    </dgm:pt>
    <dgm:pt modelId="{A48C5E90-C5E7-4FAB-AA97-334671C4D69D}" type="sibTrans" cxnId="{F1C2E693-6BFA-47E4-861E-46C212ABBDDE}">
      <dgm:prSet/>
      <dgm:spPr/>
      <dgm:t>
        <a:bodyPr/>
        <a:lstStyle/>
        <a:p>
          <a:endParaRPr lang="en-NZ"/>
        </a:p>
      </dgm:t>
    </dgm:pt>
    <dgm:pt modelId="{7C95B7CB-4594-4F8F-B615-524966F32F66}" type="pres">
      <dgm:prSet presAssocID="{FC7EE642-2761-41C0-81B5-57B8DB7AB2FD}" presName="Name0" presStyleCnt="0">
        <dgm:presLayoutVars>
          <dgm:dir/>
          <dgm:resizeHandles val="exact"/>
        </dgm:presLayoutVars>
      </dgm:prSet>
      <dgm:spPr/>
    </dgm:pt>
    <dgm:pt modelId="{B0D9E167-57AF-4194-A84F-88FEC6004455}" type="pres">
      <dgm:prSet presAssocID="{BEF12F48-BDD8-4ACD-94C0-7C7326C40661}" presName="node" presStyleLbl="node1" presStyleIdx="0" presStyleCnt="3">
        <dgm:presLayoutVars>
          <dgm:bulletEnabled val="1"/>
        </dgm:presLayoutVars>
      </dgm:prSet>
      <dgm:spPr/>
    </dgm:pt>
    <dgm:pt modelId="{552577AA-0367-41FF-B225-3B86275DE938}" type="pres">
      <dgm:prSet presAssocID="{19C694C6-7D14-46C9-BED6-CBB438E50552}" presName="sibTrans" presStyleLbl="sibTrans1D1" presStyleIdx="0" presStyleCnt="2"/>
      <dgm:spPr/>
    </dgm:pt>
    <dgm:pt modelId="{AD616BF1-5A8C-40AC-819A-D3A163465219}" type="pres">
      <dgm:prSet presAssocID="{19C694C6-7D14-46C9-BED6-CBB438E50552}" presName="connectorText" presStyleLbl="sibTrans1D1" presStyleIdx="0" presStyleCnt="2"/>
      <dgm:spPr/>
    </dgm:pt>
    <dgm:pt modelId="{9C9142DF-3202-4CB3-8EEB-030E477196B6}" type="pres">
      <dgm:prSet presAssocID="{76A958E0-4CB0-4003-9B02-A6C7789E1842}" presName="node" presStyleLbl="node1" presStyleIdx="1" presStyleCnt="3">
        <dgm:presLayoutVars>
          <dgm:bulletEnabled val="1"/>
        </dgm:presLayoutVars>
      </dgm:prSet>
      <dgm:spPr/>
    </dgm:pt>
    <dgm:pt modelId="{8AEE448F-B43C-4970-B6CB-F9BA4668E445}" type="pres">
      <dgm:prSet presAssocID="{925DB7B0-3A52-48CF-93C5-C40269BAA3BF}" presName="sibTrans" presStyleLbl="sibTrans1D1" presStyleIdx="1" presStyleCnt="2"/>
      <dgm:spPr/>
    </dgm:pt>
    <dgm:pt modelId="{D2661370-A486-4662-BE10-6687F45C6FA6}" type="pres">
      <dgm:prSet presAssocID="{925DB7B0-3A52-48CF-93C5-C40269BAA3BF}" presName="connectorText" presStyleLbl="sibTrans1D1" presStyleIdx="1" presStyleCnt="2"/>
      <dgm:spPr/>
    </dgm:pt>
    <dgm:pt modelId="{B9E8195F-5B6A-483F-B35C-BB6B14A47E1B}" type="pres">
      <dgm:prSet presAssocID="{2D5995C7-9B58-42AB-A359-B0557948AD68}" presName="node" presStyleLbl="node1" presStyleIdx="2" presStyleCnt="3">
        <dgm:presLayoutVars>
          <dgm:bulletEnabled val="1"/>
        </dgm:presLayoutVars>
      </dgm:prSet>
      <dgm:spPr/>
    </dgm:pt>
  </dgm:ptLst>
  <dgm:cxnLst>
    <dgm:cxn modelId="{791AEE04-CCF9-4028-B2B4-E67ECEF33A14}" type="presOf" srcId="{FC7EE642-2761-41C0-81B5-57B8DB7AB2FD}" destId="{7C95B7CB-4594-4F8F-B615-524966F32F66}" srcOrd="0" destOrd="0" presId="urn:microsoft.com/office/officeart/2005/8/layout/bProcess3"/>
    <dgm:cxn modelId="{0943B142-B74F-49C1-82A0-239306704D52}" type="presOf" srcId="{19C694C6-7D14-46C9-BED6-CBB438E50552}" destId="{552577AA-0367-41FF-B225-3B86275DE938}" srcOrd="0" destOrd="0" presId="urn:microsoft.com/office/officeart/2005/8/layout/bProcess3"/>
    <dgm:cxn modelId="{D885F858-03E6-4F90-B7F4-249DB7CEFE2A}" type="presOf" srcId="{BEF12F48-BDD8-4ACD-94C0-7C7326C40661}" destId="{B0D9E167-57AF-4194-A84F-88FEC6004455}" srcOrd="0" destOrd="0" presId="urn:microsoft.com/office/officeart/2005/8/layout/bProcess3"/>
    <dgm:cxn modelId="{6FC7C96E-5448-4772-B450-73E99484ADA1}" type="presOf" srcId="{76A958E0-4CB0-4003-9B02-A6C7789E1842}" destId="{9C9142DF-3202-4CB3-8EEB-030E477196B6}" srcOrd="0" destOrd="0" presId="urn:microsoft.com/office/officeart/2005/8/layout/bProcess3"/>
    <dgm:cxn modelId="{32E5A992-BF92-42DE-8CBD-3B2A12FB33AF}" type="presOf" srcId="{925DB7B0-3A52-48CF-93C5-C40269BAA3BF}" destId="{8AEE448F-B43C-4970-B6CB-F9BA4668E445}" srcOrd="0" destOrd="0" presId="urn:microsoft.com/office/officeart/2005/8/layout/bProcess3"/>
    <dgm:cxn modelId="{F1C2E693-6BFA-47E4-861E-46C212ABBDDE}" srcId="{FC7EE642-2761-41C0-81B5-57B8DB7AB2FD}" destId="{2D5995C7-9B58-42AB-A359-B0557948AD68}" srcOrd="2" destOrd="0" parTransId="{118F327D-83C4-417B-B986-F0AB33D8215F}" sibTransId="{A48C5E90-C5E7-4FAB-AA97-334671C4D69D}"/>
    <dgm:cxn modelId="{6FAD24A6-C612-4975-B397-D3D9A1BCC4FC}" srcId="{FC7EE642-2761-41C0-81B5-57B8DB7AB2FD}" destId="{BEF12F48-BDD8-4ACD-94C0-7C7326C40661}" srcOrd="0" destOrd="0" parTransId="{28AB4B96-6892-4B3A-B5FB-16E2F786AB37}" sibTransId="{19C694C6-7D14-46C9-BED6-CBB438E50552}"/>
    <dgm:cxn modelId="{C5797CBD-2735-4775-AA0B-A43A13E37414}" srcId="{FC7EE642-2761-41C0-81B5-57B8DB7AB2FD}" destId="{76A958E0-4CB0-4003-9B02-A6C7789E1842}" srcOrd="1" destOrd="0" parTransId="{41925A22-8377-4508-B8F4-4F7DD8F82C7B}" sibTransId="{925DB7B0-3A52-48CF-93C5-C40269BAA3BF}"/>
    <dgm:cxn modelId="{3A5BB8C2-B7B9-4488-A63A-E3B25E5A7B31}" type="presOf" srcId="{19C694C6-7D14-46C9-BED6-CBB438E50552}" destId="{AD616BF1-5A8C-40AC-819A-D3A163465219}" srcOrd="1" destOrd="0" presId="urn:microsoft.com/office/officeart/2005/8/layout/bProcess3"/>
    <dgm:cxn modelId="{C68614D7-67FE-457F-AFB1-CEF7934AF26D}" type="presOf" srcId="{925DB7B0-3A52-48CF-93C5-C40269BAA3BF}" destId="{D2661370-A486-4662-BE10-6687F45C6FA6}" srcOrd="1" destOrd="0" presId="urn:microsoft.com/office/officeart/2005/8/layout/bProcess3"/>
    <dgm:cxn modelId="{772910EC-3A01-4B91-847B-D2D395BB2AD4}" type="presOf" srcId="{2D5995C7-9B58-42AB-A359-B0557948AD68}" destId="{B9E8195F-5B6A-483F-B35C-BB6B14A47E1B}" srcOrd="0" destOrd="0" presId="urn:microsoft.com/office/officeart/2005/8/layout/bProcess3"/>
    <dgm:cxn modelId="{D651705B-0FD1-43F0-90AB-48569162431B}" type="presParOf" srcId="{7C95B7CB-4594-4F8F-B615-524966F32F66}" destId="{B0D9E167-57AF-4194-A84F-88FEC6004455}" srcOrd="0" destOrd="0" presId="urn:microsoft.com/office/officeart/2005/8/layout/bProcess3"/>
    <dgm:cxn modelId="{74B1F379-134A-467C-8476-358D84D2D80A}" type="presParOf" srcId="{7C95B7CB-4594-4F8F-B615-524966F32F66}" destId="{552577AA-0367-41FF-B225-3B86275DE938}" srcOrd="1" destOrd="0" presId="urn:microsoft.com/office/officeart/2005/8/layout/bProcess3"/>
    <dgm:cxn modelId="{99AEEF1C-D5B3-403D-83E1-23DA47274824}" type="presParOf" srcId="{552577AA-0367-41FF-B225-3B86275DE938}" destId="{AD616BF1-5A8C-40AC-819A-D3A163465219}" srcOrd="0" destOrd="0" presId="urn:microsoft.com/office/officeart/2005/8/layout/bProcess3"/>
    <dgm:cxn modelId="{67050045-36BC-498C-AE31-24BA30373F58}" type="presParOf" srcId="{7C95B7CB-4594-4F8F-B615-524966F32F66}" destId="{9C9142DF-3202-4CB3-8EEB-030E477196B6}" srcOrd="2" destOrd="0" presId="urn:microsoft.com/office/officeart/2005/8/layout/bProcess3"/>
    <dgm:cxn modelId="{A73FB6B3-551E-4EF0-8B33-07B33B9A72E0}" type="presParOf" srcId="{7C95B7CB-4594-4F8F-B615-524966F32F66}" destId="{8AEE448F-B43C-4970-B6CB-F9BA4668E445}" srcOrd="3" destOrd="0" presId="urn:microsoft.com/office/officeart/2005/8/layout/bProcess3"/>
    <dgm:cxn modelId="{63870BF8-DA06-4C64-B52C-36C12B7C8E20}" type="presParOf" srcId="{8AEE448F-B43C-4970-B6CB-F9BA4668E445}" destId="{D2661370-A486-4662-BE10-6687F45C6FA6}" srcOrd="0" destOrd="0" presId="urn:microsoft.com/office/officeart/2005/8/layout/bProcess3"/>
    <dgm:cxn modelId="{97866F3C-92F3-4ECD-9980-9C4C47870C2E}" type="presParOf" srcId="{7C95B7CB-4594-4F8F-B615-524966F32F66}" destId="{B9E8195F-5B6A-483F-B35C-BB6B14A47E1B}" srcOrd="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95D7CE7-E60A-4F47-AA4E-508C2E3A0F77}" type="doc">
      <dgm:prSet loTypeId="urn:microsoft.com/office/officeart/2005/8/layout/lProcess1" loCatId="process" qsTypeId="urn:microsoft.com/office/officeart/2005/8/quickstyle/simple1" qsCatId="simple" csTypeId="urn:microsoft.com/office/officeart/2005/8/colors/accent2_1" csCatId="accent2" phldr="1"/>
      <dgm:spPr/>
      <dgm:t>
        <a:bodyPr/>
        <a:lstStyle/>
        <a:p>
          <a:endParaRPr lang="en-NZ"/>
        </a:p>
      </dgm:t>
    </dgm:pt>
    <dgm:pt modelId="{938611B6-E94E-4222-AFC6-9AB02AFC45C6}">
      <dgm:prSet/>
      <dgm:spPr>
        <a:solidFill>
          <a:schemeClr val="tx2">
            <a:lumMod val="20000"/>
            <a:lumOff val="80000"/>
          </a:schemeClr>
        </a:solidFill>
      </dgm:spPr>
      <dgm:t>
        <a:bodyPr/>
        <a:lstStyle/>
        <a:p>
          <a:r>
            <a:rPr lang="en-GB" dirty="0"/>
            <a:t>The short-term nominal interest rate (policy rate) cannot go below zero (</a:t>
          </a:r>
          <a:r>
            <a:rPr lang="en-GB" b="0" dirty="0">
              <a:solidFill>
                <a:srgbClr val="FF0000"/>
              </a:solidFill>
            </a:rPr>
            <a:t>zero lower bound</a:t>
          </a:r>
          <a:r>
            <a:rPr lang="en-GB" dirty="0"/>
            <a:t>)</a:t>
          </a:r>
          <a:endParaRPr lang="en-NZ" dirty="0"/>
        </a:p>
      </dgm:t>
    </dgm:pt>
    <dgm:pt modelId="{666166C8-BB23-44C2-8A50-9DE446752559}" type="parTrans" cxnId="{866AEF59-BA4F-4639-9D77-C91A8AF4E510}">
      <dgm:prSet/>
      <dgm:spPr/>
      <dgm:t>
        <a:bodyPr/>
        <a:lstStyle/>
        <a:p>
          <a:endParaRPr lang="en-NZ"/>
        </a:p>
      </dgm:t>
    </dgm:pt>
    <dgm:pt modelId="{0F69CBCF-5492-4910-866F-6421B7553ECD}" type="sibTrans" cxnId="{866AEF59-BA4F-4639-9D77-C91A8AF4E510}">
      <dgm:prSet/>
      <dgm:spPr/>
      <dgm:t>
        <a:bodyPr/>
        <a:lstStyle/>
        <a:p>
          <a:endParaRPr lang="en-NZ"/>
        </a:p>
      </dgm:t>
    </dgm:pt>
    <dgm:pt modelId="{F7AD1B9D-38CF-4652-B578-AF0F8457B359}">
      <dgm:prSet/>
      <dgm:spPr>
        <a:solidFill>
          <a:schemeClr val="tx2">
            <a:lumMod val="20000"/>
            <a:lumOff val="80000"/>
            <a:alpha val="90000"/>
          </a:schemeClr>
        </a:solidFill>
      </dgm:spPr>
      <dgm:t>
        <a:bodyPr/>
        <a:lstStyle/>
        <a:p>
          <a:r>
            <a:rPr lang="en-GB"/>
            <a:t>when the economy is in a slump, a nominal interest rate of zero may not be low enough to stabilize the economy</a:t>
          </a:r>
          <a:endParaRPr lang="en-NZ"/>
        </a:p>
      </dgm:t>
    </dgm:pt>
    <dgm:pt modelId="{33FB47D0-CA7B-4EB8-886B-C0A41837C70D}" type="parTrans" cxnId="{4FDB34E9-926A-47C0-B88C-3992A34F2E3D}">
      <dgm:prSet/>
      <dgm:spPr/>
      <dgm:t>
        <a:bodyPr/>
        <a:lstStyle/>
        <a:p>
          <a:endParaRPr lang="en-NZ"/>
        </a:p>
      </dgm:t>
    </dgm:pt>
    <dgm:pt modelId="{D71AC767-5A3E-4AC3-8E52-E8B062CF0534}" type="sibTrans" cxnId="{4FDB34E9-926A-47C0-B88C-3992A34F2E3D}">
      <dgm:prSet/>
      <dgm:spPr/>
      <dgm:t>
        <a:bodyPr/>
        <a:lstStyle/>
        <a:p>
          <a:endParaRPr lang="en-NZ"/>
        </a:p>
      </dgm:t>
    </dgm:pt>
    <dgm:pt modelId="{EA5EDFAD-2640-48A8-9659-3AE8C17F8DCA}" type="pres">
      <dgm:prSet presAssocID="{D95D7CE7-E60A-4F47-AA4E-508C2E3A0F77}" presName="Name0" presStyleCnt="0">
        <dgm:presLayoutVars>
          <dgm:dir/>
          <dgm:animLvl val="lvl"/>
          <dgm:resizeHandles val="exact"/>
        </dgm:presLayoutVars>
      </dgm:prSet>
      <dgm:spPr/>
    </dgm:pt>
    <dgm:pt modelId="{745EF81D-FE01-4B8C-8C8D-4A36F6926579}" type="pres">
      <dgm:prSet presAssocID="{938611B6-E94E-4222-AFC6-9AB02AFC45C6}" presName="vertFlow" presStyleCnt="0"/>
      <dgm:spPr/>
    </dgm:pt>
    <dgm:pt modelId="{ECF368EB-10BC-4B12-82CF-B6AB3CAE0D90}" type="pres">
      <dgm:prSet presAssocID="{938611B6-E94E-4222-AFC6-9AB02AFC45C6}" presName="header" presStyleLbl="node1" presStyleIdx="0" presStyleCnt="1"/>
      <dgm:spPr/>
    </dgm:pt>
    <dgm:pt modelId="{DCFE6F22-66E0-4818-B3A4-2FF859B4D8BE}" type="pres">
      <dgm:prSet presAssocID="{33FB47D0-CA7B-4EB8-886B-C0A41837C70D}" presName="parTrans" presStyleLbl="sibTrans2D1" presStyleIdx="0" presStyleCnt="1"/>
      <dgm:spPr/>
    </dgm:pt>
    <dgm:pt modelId="{1E1684B0-7186-4C7A-AA48-DBEC1B71E7D5}" type="pres">
      <dgm:prSet presAssocID="{F7AD1B9D-38CF-4652-B578-AF0F8457B359}" presName="child" presStyleLbl="alignAccFollowNode1" presStyleIdx="0" presStyleCnt="1">
        <dgm:presLayoutVars>
          <dgm:chMax val="0"/>
          <dgm:bulletEnabled val="1"/>
        </dgm:presLayoutVars>
      </dgm:prSet>
      <dgm:spPr/>
    </dgm:pt>
  </dgm:ptLst>
  <dgm:cxnLst>
    <dgm:cxn modelId="{5D5AD23B-00ED-40DC-A4C9-32A8CD36E354}" type="presOf" srcId="{F7AD1B9D-38CF-4652-B578-AF0F8457B359}" destId="{1E1684B0-7186-4C7A-AA48-DBEC1B71E7D5}" srcOrd="0" destOrd="0" presId="urn:microsoft.com/office/officeart/2005/8/layout/lProcess1"/>
    <dgm:cxn modelId="{866AEF59-BA4F-4639-9D77-C91A8AF4E510}" srcId="{D95D7CE7-E60A-4F47-AA4E-508C2E3A0F77}" destId="{938611B6-E94E-4222-AFC6-9AB02AFC45C6}" srcOrd="0" destOrd="0" parTransId="{666166C8-BB23-44C2-8A50-9DE446752559}" sibTransId="{0F69CBCF-5492-4910-866F-6421B7553ECD}"/>
    <dgm:cxn modelId="{3CE4E1C2-0850-4232-8862-7FCAB806E771}" type="presOf" srcId="{D95D7CE7-E60A-4F47-AA4E-508C2E3A0F77}" destId="{EA5EDFAD-2640-48A8-9659-3AE8C17F8DCA}" srcOrd="0" destOrd="0" presId="urn:microsoft.com/office/officeart/2005/8/layout/lProcess1"/>
    <dgm:cxn modelId="{2ABEA4CE-2315-47DE-8EDA-9AEFE62C711A}" type="presOf" srcId="{33FB47D0-CA7B-4EB8-886B-C0A41837C70D}" destId="{DCFE6F22-66E0-4818-B3A4-2FF859B4D8BE}" srcOrd="0" destOrd="0" presId="urn:microsoft.com/office/officeart/2005/8/layout/lProcess1"/>
    <dgm:cxn modelId="{4FDB34E9-926A-47C0-B88C-3992A34F2E3D}" srcId="{938611B6-E94E-4222-AFC6-9AB02AFC45C6}" destId="{F7AD1B9D-38CF-4652-B578-AF0F8457B359}" srcOrd="0" destOrd="0" parTransId="{33FB47D0-CA7B-4EB8-886B-C0A41837C70D}" sibTransId="{D71AC767-5A3E-4AC3-8E52-E8B062CF0534}"/>
    <dgm:cxn modelId="{ABF788F8-BEAE-4507-9C73-D0F7209DD927}" type="presOf" srcId="{938611B6-E94E-4222-AFC6-9AB02AFC45C6}" destId="{ECF368EB-10BC-4B12-82CF-B6AB3CAE0D90}" srcOrd="0" destOrd="0" presId="urn:microsoft.com/office/officeart/2005/8/layout/lProcess1"/>
    <dgm:cxn modelId="{E3C0D53B-41E8-4127-86C1-65407FB2C801}" type="presParOf" srcId="{EA5EDFAD-2640-48A8-9659-3AE8C17F8DCA}" destId="{745EF81D-FE01-4B8C-8C8D-4A36F6926579}" srcOrd="0" destOrd="0" presId="urn:microsoft.com/office/officeart/2005/8/layout/lProcess1"/>
    <dgm:cxn modelId="{40EB176E-D395-4FE2-8945-DA6CC23CA56A}" type="presParOf" srcId="{745EF81D-FE01-4B8C-8C8D-4A36F6926579}" destId="{ECF368EB-10BC-4B12-82CF-B6AB3CAE0D90}" srcOrd="0" destOrd="0" presId="urn:microsoft.com/office/officeart/2005/8/layout/lProcess1"/>
    <dgm:cxn modelId="{4EA65620-F4C1-482E-AF56-DB8B579B0A2D}" type="presParOf" srcId="{745EF81D-FE01-4B8C-8C8D-4A36F6926579}" destId="{DCFE6F22-66E0-4818-B3A4-2FF859B4D8BE}" srcOrd="1" destOrd="0" presId="urn:microsoft.com/office/officeart/2005/8/layout/lProcess1"/>
    <dgm:cxn modelId="{D94F8A15-8955-435E-B0A8-B72B64A951BD}" type="presParOf" srcId="{745EF81D-FE01-4B8C-8C8D-4A36F6926579}" destId="{1E1684B0-7186-4C7A-AA48-DBEC1B71E7D5}" srcOrd="2"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8A2019C-2DC3-49BC-A957-1F6BB2ADCF4E}" type="doc">
      <dgm:prSet loTypeId="urn:microsoft.com/office/officeart/2005/8/layout/process2" loCatId="process" qsTypeId="urn:microsoft.com/office/officeart/2005/8/quickstyle/simple1" qsCatId="simple" csTypeId="urn:microsoft.com/office/officeart/2005/8/colors/accent2_1" csCatId="accent2" phldr="1"/>
      <dgm:spPr/>
      <dgm:t>
        <a:bodyPr/>
        <a:lstStyle/>
        <a:p>
          <a:endParaRPr lang="en-NZ"/>
        </a:p>
      </dgm:t>
    </dgm:pt>
    <dgm:pt modelId="{30B778F2-2F42-4013-83F1-1F0F37AF5D78}">
      <dgm:prSet/>
      <dgm:spPr>
        <a:solidFill>
          <a:schemeClr val="accent1">
            <a:lumMod val="20000"/>
            <a:lumOff val="80000"/>
          </a:schemeClr>
        </a:solidFill>
      </dgm:spPr>
      <dgm:t>
        <a:bodyPr/>
        <a:lstStyle/>
        <a:p>
          <a:r>
            <a:rPr lang="en-US" dirty="0"/>
            <a:t>Countries that belong to a common currency area (or currency union) cannot set their own monetary policy.</a:t>
          </a:r>
          <a:endParaRPr lang="en-NZ" dirty="0"/>
        </a:p>
      </dgm:t>
    </dgm:pt>
    <dgm:pt modelId="{AF29F90D-517A-4338-8A69-408F90DE65D9}" type="parTrans" cxnId="{7269E71D-A9DD-4815-AF4B-4A5C416B28A6}">
      <dgm:prSet/>
      <dgm:spPr/>
      <dgm:t>
        <a:bodyPr/>
        <a:lstStyle/>
        <a:p>
          <a:endParaRPr lang="en-NZ"/>
        </a:p>
      </dgm:t>
    </dgm:pt>
    <dgm:pt modelId="{2EEFB0CE-ECC1-4470-8264-FA6098BEA334}" type="sibTrans" cxnId="{7269E71D-A9DD-4815-AF4B-4A5C416B28A6}">
      <dgm:prSet/>
      <dgm:spPr/>
      <dgm:t>
        <a:bodyPr/>
        <a:lstStyle/>
        <a:p>
          <a:endParaRPr lang="en-NZ"/>
        </a:p>
      </dgm:t>
    </dgm:pt>
    <dgm:pt modelId="{ED3B004F-04B8-4DB1-A4D4-1AF1A31DFB88}">
      <dgm:prSet/>
      <dgm:spPr>
        <a:solidFill>
          <a:schemeClr val="accent1">
            <a:lumMod val="20000"/>
            <a:lumOff val="80000"/>
          </a:schemeClr>
        </a:solidFill>
      </dgm:spPr>
      <dgm:t>
        <a:bodyPr/>
        <a:lstStyle/>
        <a:p>
          <a:r>
            <a:rPr lang="en-US"/>
            <a:t>E.g. The European Central Bank sets the policy interest rate for all countries in the Eurozone. </a:t>
          </a:r>
          <a:endParaRPr lang="en-NZ"/>
        </a:p>
      </dgm:t>
    </dgm:pt>
    <dgm:pt modelId="{337C8B06-891B-4435-BBA9-D8531936B2F8}" type="parTrans" cxnId="{BFA079EC-C8A1-4079-A1A6-A680A0835BDC}">
      <dgm:prSet/>
      <dgm:spPr/>
      <dgm:t>
        <a:bodyPr/>
        <a:lstStyle/>
        <a:p>
          <a:endParaRPr lang="en-NZ"/>
        </a:p>
      </dgm:t>
    </dgm:pt>
    <dgm:pt modelId="{71D16F91-712A-46AC-9262-967747E3A5A6}" type="sibTrans" cxnId="{BFA079EC-C8A1-4079-A1A6-A680A0835BDC}">
      <dgm:prSet/>
      <dgm:spPr/>
      <dgm:t>
        <a:bodyPr/>
        <a:lstStyle/>
        <a:p>
          <a:endParaRPr lang="en-NZ"/>
        </a:p>
      </dgm:t>
    </dgm:pt>
    <dgm:pt modelId="{7BC3AF84-C729-447F-A8EE-A4DB4AF02C8F}" type="pres">
      <dgm:prSet presAssocID="{C8A2019C-2DC3-49BC-A957-1F6BB2ADCF4E}" presName="linearFlow" presStyleCnt="0">
        <dgm:presLayoutVars>
          <dgm:resizeHandles val="exact"/>
        </dgm:presLayoutVars>
      </dgm:prSet>
      <dgm:spPr/>
    </dgm:pt>
    <dgm:pt modelId="{C15A7334-4DAF-43DF-AD41-D308DA66BEDF}" type="pres">
      <dgm:prSet presAssocID="{30B778F2-2F42-4013-83F1-1F0F37AF5D78}" presName="node" presStyleLbl="node1" presStyleIdx="0" presStyleCnt="2">
        <dgm:presLayoutVars>
          <dgm:bulletEnabled val="1"/>
        </dgm:presLayoutVars>
      </dgm:prSet>
      <dgm:spPr/>
    </dgm:pt>
    <dgm:pt modelId="{E2B043CC-4F3F-40D1-8340-75C396B38D27}" type="pres">
      <dgm:prSet presAssocID="{2EEFB0CE-ECC1-4470-8264-FA6098BEA334}" presName="sibTrans" presStyleLbl="sibTrans2D1" presStyleIdx="0" presStyleCnt="1"/>
      <dgm:spPr/>
    </dgm:pt>
    <dgm:pt modelId="{6808FC60-1DF3-49EC-95AA-EBEA1BC79C30}" type="pres">
      <dgm:prSet presAssocID="{2EEFB0CE-ECC1-4470-8264-FA6098BEA334}" presName="connectorText" presStyleLbl="sibTrans2D1" presStyleIdx="0" presStyleCnt="1"/>
      <dgm:spPr/>
    </dgm:pt>
    <dgm:pt modelId="{18F7329E-243C-4D2B-B1B1-C7C49EC76D4C}" type="pres">
      <dgm:prSet presAssocID="{ED3B004F-04B8-4DB1-A4D4-1AF1A31DFB88}" presName="node" presStyleLbl="node1" presStyleIdx="1" presStyleCnt="2">
        <dgm:presLayoutVars>
          <dgm:bulletEnabled val="1"/>
        </dgm:presLayoutVars>
      </dgm:prSet>
      <dgm:spPr/>
    </dgm:pt>
  </dgm:ptLst>
  <dgm:cxnLst>
    <dgm:cxn modelId="{09A2271C-03F6-4DD5-B65A-5348EEF97B92}" type="presOf" srcId="{ED3B004F-04B8-4DB1-A4D4-1AF1A31DFB88}" destId="{18F7329E-243C-4D2B-B1B1-C7C49EC76D4C}" srcOrd="0" destOrd="0" presId="urn:microsoft.com/office/officeart/2005/8/layout/process2"/>
    <dgm:cxn modelId="{7269E71D-A9DD-4815-AF4B-4A5C416B28A6}" srcId="{C8A2019C-2DC3-49BC-A957-1F6BB2ADCF4E}" destId="{30B778F2-2F42-4013-83F1-1F0F37AF5D78}" srcOrd="0" destOrd="0" parTransId="{AF29F90D-517A-4338-8A69-408F90DE65D9}" sibTransId="{2EEFB0CE-ECC1-4470-8264-FA6098BEA334}"/>
    <dgm:cxn modelId="{1640984B-AD52-4D3A-9FF2-3675AD84F78D}" type="presOf" srcId="{C8A2019C-2DC3-49BC-A957-1F6BB2ADCF4E}" destId="{7BC3AF84-C729-447F-A8EE-A4DB4AF02C8F}" srcOrd="0" destOrd="0" presId="urn:microsoft.com/office/officeart/2005/8/layout/process2"/>
    <dgm:cxn modelId="{054A3FA6-A223-46B9-B8CD-EC262B452571}" type="presOf" srcId="{30B778F2-2F42-4013-83F1-1F0F37AF5D78}" destId="{C15A7334-4DAF-43DF-AD41-D308DA66BEDF}" srcOrd="0" destOrd="0" presId="urn:microsoft.com/office/officeart/2005/8/layout/process2"/>
    <dgm:cxn modelId="{46C472E4-177F-4351-BD75-3116A4A885DE}" type="presOf" srcId="{2EEFB0CE-ECC1-4470-8264-FA6098BEA334}" destId="{6808FC60-1DF3-49EC-95AA-EBEA1BC79C30}" srcOrd="1" destOrd="0" presId="urn:microsoft.com/office/officeart/2005/8/layout/process2"/>
    <dgm:cxn modelId="{BFA079EC-C8A1-4079-A1A6-A680A0835BDC}" srcId="{C8A2019C-2DC3-49BC-A957-1F6BB2ADCF4E}" destId="{ED3B004F-04B8-4DB1-A4D4-1AF1A31DFB88}" srcOrd="1" destOrd="0" parTransId="{337C8B06-891B-4435-BBA9-D8531936B2F8}" sibTransId="{71D16F91-712A-46AC-9262-967747E3A5A6}"/>
    <dgm:cxn modelId="{3930A8F3-FBA6-497D-9194-4A04823F7499}" type="presOf" srcId="{2EEFB0CE-ECC1-4470-8264-FA6098BEA334}" destId="{E2B043CC-4F3F-40D1-8340-75C396B38D27}" srcOrd="0" destOrd="0" presId="urn:microsoft.com/office/officeart/2005/8/layout/process2"/>
    <dgm:cxn modelId="{EDCB0881-FCA3-4DB0-A5ED-A6CAD8295F98}" type="presParOf" srcId="{7BC3AF84-C729-447F-A8EE-A4DB4AF02C8F}" destId="{C15A7334-4DAF-43DF-AD41-D308DA66BEDF}" srcOrd="0" destOrd="0" presId="urn:microsoft.com/office/officeart/2005/8/layout/process2"/>
    <dgm:cxn modelId="{55C69E5E-1801-4C74-B2ED-E952B7A29322}" type="presParOf" srcId="{7BC3AF84-C729-447F-A8EE-A4DB4AF02C8F}" destId="{E2B043CC-4F3F-40D1-8340-75C396B38D27}" srcOrd="1" destOrd="0" presId="urn:microsoft.com/office/officeart/2005/8/layout/process2"/>
    <dgm:cxn modelId="{BA3A9F8E-905F-43B7-B647-C0F80616F87F}" type="presParOf" srcId="{E2B043CC-4F3F-40D1-8340-75C396B38D27}" destId="{6808FC60-1DF3-49EC-95AA-EBEA1BC79C30}" srcOrd="0" destOrd="0" presId="urn:microsoft.com/office/officeart/2005/8/layout/process2"/>
    <dgm:cxn modelId="{8E21F990-DD20-4E12-810A-D6F7E974C75B}" type="presParOf" srcId="{7BC3AF84-C729-447F-A8EE-A4DB4AF02C8F}" destId="{18F7329E-243C-4D2B-B1B1-C7C49EC76D4C}" srcOrd="2"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EA98EBD-A431-418E-992A-7709EA3B825E}"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en-NZ"/>
        </a:p>
      </dgm:t>
    </dgm:pt>
    <dgm:pt modelId="{868E9F26-ADED-46CD-AD01-28812BF54A38}">
      <dgm:prSet/>
      <dgm:spPr>
        <a:solidFill>
          <a:schemeClr val="tx2">
            <a:lumMod val="20000"/>
            <a:lumOff val="80000"/>
          </a:schemeClr>
        </a:solidFill>
      </dgm:spPr>
      <dgm:t>
        <a:bodyPr/>
        <a:lstStyle/>
        <a:p>
          <a:r>
            <a:rPr lang="en-NZ"/>
            <a:t>Suppose someone in Sydney wants to buy 1 USD. </a:t>
          </a:r>
        </a:p>
      </dgm:t>
    </dgm:pt>
    <dgm:pt modelId="{BBDA293E-84B8-40AB-8F3A-B9A0BBE6FE1C}" type="parTrans" cxnId="{29D41811-BB0A-4F44-8AC3-913ABB6D8F05}">
      <dgm:prSet/>
      <dgm:spPr/>
      <dgm:t>
        <a:bodyPr/>
        <a:lstStyle/>
        <a:p>
          <a:endParaRPr lang="en-NZ"/>
        </a:p>
      </dgm:t>
    </dgm:pt>
    <dgm:pt modelId="{97F8C7E0-1F3D-4DF4-9F32-768F04361857}" type="sibTrans" cxnId="{29D41811-BB0A-4F44-8AC3-913ABB6D8F05}">
      <dgm:prSet/>
      <dgm:spPr/>
      <dgm:t>
        <a:bodyPr/>
        <a:lstStyle/>
        <a:p>
          <a:endParaRPr lang="en-NZ"/>
        </a:p>
      </dgm:t>
    </dgm:pt>
    <dgm:pt modelId="{A9EC3850-BBCF-4FE2-91CE-F67E8B9E3469}">
      <dgm:prSet/>
      <dgm:spPr>
        <a:solidFill>
          <a:schemeClr val="tx2">
            <a:lumMod val="20000"/>
            <a:lumOff val="80000"/>
          </a:schemeClr>
        </a:solidFill>
      </dgm:spPr>
      <dgm:t>
        <a:bodyPr/>
        <a:lstStyle/>
        <a:p>
          <a:r>
            <a:rPr lang="en-NZ"/>
            <a:t>They need 1.2 AUD to buy this.</a:t>
          </a:r>
        </a:p>
      </dgm:t>
    </dgm:pt>
    <dgm:pt modelId="{78B70B13-A754-44DD-AA9B-69F3840F8BC2}" type="parTrans" cxnId="{02019A03-BBEB-4DED-988B-41E3C231190A}">
      <dgm:prSet/>
      <dgm:spPr/>
      <dgm:t>
        <a:bodyPr/>
        <a:lstStyle/>
        <a:p>
          <a:endParaRPr lang="en-NZ"/>
        </a:p>
      </dgm:t>
    </dgm:pt>
    <dgm:pt modelId="{C3209CC8-CBF3-44EB-8606-854748671B07}" type="sibTrans" cxnId="{02019A03-BBEB-4DED-988B-41E3C231190A}">
      <dgm:prSet/>
      <dgm:spPr/>
      <dgm:t>
        <a:bodyPr/>
        <a:lstStyle/>
        <a:p>
          <a:endParaRPr lang="en-NZ"/>
        </a:p>
      </dgm:t>
    </dgm:pt>
    <dgm:pt modelId="{EC193018-CFAA-44F5-9B56-BCA4DD6F740A}">
      <dgm:prSet/>
      <dgm:spPr>
        <a:solidFill>
          <a:schemeClr val="tx2">
            <a:lumMod val="20000"/>
            <a:lumOff val="80000"/>
          </a:schemeClr>
        </a:solidFill>
      </dgm:spPr>
      <dgm:t>
        <a:bodyPr/>
        <a:lstStyle/>
        <a:p>
          <a:r>
            <a:rPr lang="en-NZ" dirty="0"/>
            <a:t>The exchange rate is 1.2/1 or 1.2 </a:t>
          </a:r>
        </a:p>
      </dgm:t>
    </dgm:pt>
    <dgm:pt modelId="{D33D08F1-3020-4A89-88BC-D885212678FA}" type="parTrans" cxnId="{C8B8B1EB-296B-4267-8EFB-BA54984CD8D9}">
      <dgm:prSet/>
      <dgm:spPr/>
      <dgm:t>
        <a:bodyPr/>
        <a:lstStyle/>
        <a:p>
          <a:endParaRPr lang="en-NZ"/>
        </a:p>
      </dgm:t>
    </dgm:pt>
    <dgm:pt modelId="{18AB8D7C-CADB-4BBB-9D7C-F0DCE07F5B80}" type="sibTrans" cxnId="{C8B8B1EB-296B-4267-8EFB-BA54984CD8D9}">
      <dgm:prSet/>
      <dgm:spPr/>
      <dgm:t>
        <a:bodyPr/>
        <a:lstStyle/>
        <a:p>
          <a:endParaRPr lang="en-NZ"/>
        </a:p>
      </dgm:t>
    </dgm:pt>
    <dgm:pt modelId="{0FEC1972-9462-4DC3-AFBD-2D17D8E8DBC7}">
      <dgm:prSet/>
      <dgm:spPr>
        <a:solidFill>
          <a:schemeClr val="tx2">
            <a:lumMod val="20000"/>
            <a:lumOff val="80000"/>
          </a:schemeClr>
        </a:solidFill>
      </dgm:spPr>
      <dgm:t>
        <a:bodyPr/>
        <a:lstStyle/>
        <a:p>
          <a:r>
            <a:rPr lang="en-NZ"/>
            <a:t>If the ‘price’ of foreign exchange rises, the currency has depreciated.</a:t>
          </a:r>
        </a:p>
      </dgm:t>
    </dgm:pt>
    <dgm:pt modelId="{0007B38D-ADB4-4B82-AF22-60181ACCB9E6}" type="parTrans" cxnId="{387FBE48-A9DA-465F-A279-9A58881C36B0}">
      <dgm:prSet/>
      <dgm:spPr/>
      <dgm:t>
        <a:bodyPr/>
        <a:lstStyle/>
        <a:p>
          <a:endParaRPr lang="en-NZ"/>
        </a:p>
      </dgm:t>
    </dgm:pt>
    <dgm:pt modelId="{B37E284B-7E95-4BA6-832A-573A682E56F8}" type="sibTrans" cxnId="{387FBE48-A9DA-465F-A279-9A58881C36B0}">
      <dgm:prSet/>
      <dgm:spPr/>
      <dgm:t>
        <a:bodyPr/>
        <a:lstStyle/>
        <a:p>
          <a:endParaRPr lang="en-NZ"/>
        </a:p>
      </dgm:t>
    </dgm:pt>
    <dgm:pt modelId="{436B643B-7F65-4CEA-A67C-A2D7C855008D}">
      <dgm:prSet/>
      <dgm:spPr>
        <a:solidFill>
          <a:schemeClr val="tx2">
            <a:lumMod val="20000"/>
            <a:lumOff val="80000"/>
          </a:schemeClr>
        </a:solidFill>
      </dgm:spPr>
      <dgm:t>
        <a:bodyPr/>
        <a:lstStyle/>
        <a:p>
          <a:r>
            <a:rPr lang="en-NZ" dirty="0"/>
            <a:t>If the ‘price’ of foreign exchange falls, the home currency has appreciated.</a:t>
          </a:r>
        </a:p>
      </dgm:t>
    </dgm:pt>
    <dgm:pt modelId="{0F6DA0BB-7198-43AE-B080-CB1E50B55374}" type="parTrans" cxnId="{2A8A78F9-CA50-42DA-A3DF-551E76C7F436}">
      <dgm:prSet/>
      <dgm:spPr/>
      <dgm:t>
        <a:bodyPr/>
        <a:lstStyle/>
        <a:p>
          <a:endParaRPr lang="en-NZ"/>
        </a:p>
      </dgm:t>
    </dgm:pt>
    <dgm:pt modelId="{941DBE14-943B-45CE-AA8A-CAC1D0C1D679}" type="sibTrans" cxnId="{2A8A78F9-CA50-42DA-A3DF-551E76C7F436}">
      <dgm:prSet/>
      <dgm:spPr/>
      <dgm:t>
        <a:bodyPr/>
        <a:lstStyle/>
        <a:p>
          <a:endParaRPr lang="en-NZ"/>
        </a:p>
      </dgm:t>
    </dgm:pt>
    <dgm:pt modelId="{D1D394EA-2703-4EB1-81F2-1B18288885A0}" type="pres">
      <dgm:prSet presAssocID="{3EA98EBD-A431-418E-992A-7709EA3B825E}" presName="outerComposite" presStyleCnt="0">
        <dgm:presLayoutVars>
          <dgm:chMax val="5"/>
          <dgm:dir/>
          <dgm:resizeHandles val="exact"/>
        </dgm:presLayoutVars>
      </dgm:prSet>
      <dgm:spPr/>
    </dgm:pt>
    <dgm:pt modelId="{AA51324E-F34F-48A1-980E-649CB53228B4}" type="pres">
      <dgm:prSet presAssocID="{3EA98EBD-A431-418E-992A-7709EA3B825E}" presName="dummyMaxCanvas" presStyleCnt="0">
        <dgm:presLayoutVars/>
      </dgm:prSet>
      <dgm:spPr/>
    </dgm:pt>
    <dgm:pt modelId="{411C42A8-EF8E-4C4C-86B8-74B05F166700}" type="pres">
      <dgm:prSet presAssocID="{3EA98EBD-A431-418E-992A-7709EA3B825E}" presName="FiveNodes_1" presStyleLbl="node1" presStyleIdx="0" presStyleCnt="5">
        <dgm:presLayoutVars>
          <dgm:bulletEnabled val="1"/>
        </dgm:presLayoutVars>
      </dgm:prSet>
      <dgm:spPr/>
    </dgm:pt>
    <dgm:pt modelId="{EA014C7F-B006-47B1-9230-AE2B5A64C02C}" type="pres">
      <dgm:prSet presAssocID="{3EA98EBD-A431-418E-992A-7709EA3B825E}" presName="FiveNodes_2" presStyleLbl="node1" presStyleIdx="1" presStyleCnt="5">
        <dgm:presLayoutVars>
          <dgm:bulletEnabled val="1"/>
        </dgm:presLayoutVars>
      </dgm:prSet>
      <dgm:spPr/>
    </dgm:pt>
    <dgm:pt modelId="{9D130E20-9E54-486D-8D29-6A23EC4C6BFD}" type="pres">
      <dgm:prSet presAssocID="{3EA98EBD-A431-418E-992A-7709EA3B825E}" presName="FiveNodes_3" presStyleLbl="node1" presStyleIdx="2" presStyleCnt="5">
        <dgm:presLayoutVars>
          <dgm:bulletEnabled val="1"/>
        </dgm:presLayoutVars>
      </dgm:prSet>
      <dgm:spPr/>
    </dgm:pt>
    <dgm:pt modelId="{CCC3BD30-26FE-47CA-945E-D5D7C6226173}" type="pres">
      <dgm:prSet presAssocID="{3EA98EBD-A431-418E-992A-7709EA3B825E}" presName="FiveNodes_4" presStyleLbl="node1" presStyleIdx="3" presStyleCnt="5">
        <dgm:presLayoutVars>
          <dgm:bulletEnabled val="1"/>
        </dgm:presLayoutVars>
      </dgm:prSet>
      <dgm:spPr/>
    </dgm:pt>
    <dgm:pt modelId="{B96F9B5A-346B-4436-8D09-232198FB5831}" type="pres">
      <dgm:prSet presAssocID="{3EA98EBD-A431-418E-992A-7709EA3B825E}" presName="FiveNodes_5" presStyleLbl="node1" presStyleIdx="4" presStyleCnt="5">
        <dgm:presLayoutVars>
          <dgm:bulletEnabled val="1"/>
        </dgm:presLayoutVars>
      </dgm:prSet>
      <dgm:spPr/>
    </dgm:pt>
    <dgm:pt modelId="{D5C6812B-143E-4897-B545-6FA2AB768133}" type="pres">
      <dgm:prSet presAssocID="{3EA98EBD-A431-418E-992A-7709EA3B825E}" presName="FiveConn_1-2" presStyleLbl="fgAccFollowNode1" presStyleIdx="0" presStyleCnt="4">
        <dgm:presLayoutVars>
          <dgm:bulletEnabled val="1"/>
        </dgm:presLayoutVars>
      </dgm:prSet>
      <dgm:spPr/>
    </dgm:pt>
    <dgm:pt modelId="{E9749F56-F537-4FF6-99AB-A1F7161F4CB1}" type="pres">
      <dgm:prSet presAssocID="{3EA98EBD-A431-418E-992A-7709EA3B825E}" presName="FiveConn_2-3" presStyleLbl="fgAccFollowNode1" presStyleIdx="1" presStyleCnt="4">
        <dgm:presLayoutVars>
          <dgm:bulletEnabled val="1"/>
        </dgm:presLayoutVars>
      </dgm:prSet>
      <dgm:spPr/>
    </dgm:pt>
    <dgm:pt modelId="{EDBDF69B-6F06-44CB-A03A-C9514A9C3BC4}" type="pres">
      <dgm:prSet presAssocID="{3EA98EBD-A431-418E-992A-7709EA3B825E}" presName="FiveConn_3-4" presStyleLbl="fgAccFollowNode1" presStyleIdx="2" presStyleCnt="4">
        <dgm:presLayoutVars>
          <dgm:bulletEnabled val="1"/>
        </dgm:presLayoutVars>
      </dgm:prSet>
      <dgm:spPr/>
    </dgm:pt>
    <dgm:pt modelId="{F7154BD7-B250-439A-8AB3-AF76AD22A3FD}" type="pres">
      <dgm:prSet presAssocID="{3EA98EBD-A431-418E-992A-7709EA3B825E}" presName="FiveConn_4-5" presStyleLbl="fgAccFollowNode1" presStyleIdx="3" presStyleCnt="4">
        <dgm:presLayoutVars>
          <dgm:bulletEnabled val="1"/>
        </dgm:presLayoutVars>
      </dgm:prSet>
      <dgm:spPr/>
    </dgm:pt>
    <dgm:pt modelId="{C4C9C3E1-299A-457B-8C67-EFD17AE43326}" type="pres">
      <dgm:prSet presAssocID="{3EA98EBD-A431-418E-992A-7709EA3B825E}" presName="FiveNodes_1_text" presStyleLbl="node1" presStyleIdx="4" presStyleCnt="5">
        <dgm:presLayoutVars>
          <dgm:bulletEnabled val="1"/>
        </dgm:presLayoutVars>
      </dgm:prSet>
      <dgm:spPr/>
    </dgm:pt>
    <dgm:pt modelId="{B6DA4818-FD8C-48B0-914A-5EE3CCAB52C6}" type="pres">
      <dgm:prSet presAssocID="{3EA98EBD-A431-418E-992A-7709EA3B825E}" presName="FiveNodes_2_text" presStyleLbl="node1" presStyleIdx="4" presStyleCnt="5">
        <dgm:presLayoutVars>
          <dgm:bulletEnabled val="1"/>
        </dgm:presLayoutVars>
      </dgm:prSet>
      <dgm:spPr/>
    </dgm:pt>
    <dgm:pt modelId="{D79127D1-CE58-4AD0-80AE-E64DF3490270}" type="pres">
      <dgm:prSet presAssocID="{3EA98EBD-A431-418E-992A-7709EA3B825E}" presName="FiveNodes_3_text" presStyleLbl="node1" presStyleIdx="4" presStyleCnt="5">
        <dgm:presLayoutVars>
          <dgm:bulletEnabled val="1"/>
        </dgm:presLayoutVars>
      </dgm:prSet>
      <dgm:spPr/>
    </dgm:pt>
    <dgm:pt modelId="{A841D18B-990B-4324-AE52-2484A1F267E5}" type="pres">
      <dgm:prSet presAssocID="{3EA98EBD-A431-418E-992A-7709EA3B825E}" presName="FiveNodes_4_text" presStyleLbl="node1" presStyleIdx="4" presStyleCnt="5">
        <dgm:presLayoutVars>
          <dgm:bulletEnabled val="1"/>
        </dgm:presLayoutVars>
      </dgm:prSet>
      <dgm:spPr/>
    </dgm:pt>
    <dgm:pt modelId="{3ADC2B16-F00C-49FE-81AE-007187BD1820}" type="pres">
      <dgm:prSet presAssocID="{3EA98EBD-A431-418E-992A-7709EA3B825E}" presName="FiveNodes_5_text" presStyleLbl="node1" presStyleIdx="4" presStyleCnt="5">
        <dgm:presLayoutVars>
          <dgm:bulletEnabled val="1"/>
        </dgm:presLayoutVars>
      </dgm:prSet>
      <dgm:spPr/>
    </dgm:pt>
  </dgm:ptLst>
  <dgm:cxnLst>
    <dgm:cxn modelId="{02019A03-BBEB-4DED-988B-41E3C231190A}" srcId="{3EA98EBD-A431-418E-992A-7709EA3B825E}" destId="{A9EC3850-BBCF-4FE2-91CE-F67E8B9E3469}" srcOrd="1" destOrd="0" parTransId="{78B70B13-A754-44DD-AA9B-69F3840F8BC2}" sibTransId="{C3209CC8-CBF3-44EB-8606-854748671B07}"/>
    <dgm:cxn modelId="{7D1E4C0C-0F75-48F1-9554-4DD8CC959FEC}" type="presOf" srcId="{B37E284B-7E95-4BA6-832A-573A682E56F8}" destId="{F7154BD7-B250-439A-8AB3-AF76AD22A3FD}" srcOrd="0" destOrd="0" presId="urn:microsoft.com/office/officeart/2005/8/layout/vProcess5"/>
    <dgm:cxn modelId="{29D41811-BB0A-4F44-8AC3-913ABB6D8F05}" srcId="{3EA98EBD-A431-418E-992A-7709EA3B825E}" destId="{868E9F26-ADED-46CD-AD01-28812BF54A38}" srcOrd="0" destOrd="0" parTransId="{BBDA293E-84B8-40AB-8F3A-B9A0BBE6FE1C}" sibTransId="{97F8C7E0-1F3D-4DF4-9F32-768F04361857}"/>
    <dgm:cxn modelId="{BE971C1D-03A0-4C50-BD28-1766E8E19730}" type="presOf" srcId="{868E9F26-ADED-46CD-AD01-28812BF54A38}" destId="{411C42A8-EF8E-4C4C-86B8-74B05F166700}" srcOrd="0" destOrd="0" presId="urn:microsoft.com/office/officeart/2005/8/layout/vProcess5"/>
    <dgm:cxn modelId="{537FBC32-E5CF-41E2-A1D1-84C7F0B6C1B1}" type="presOf" srcId="{0FEC1972-9462-4DC3-AFBD-2D17D8E8DBC7}" destId="{CCC3BD30-26FE-47CA-945E-D5D7C6226173}" srcOrd="0" destOrd="0" presId="urn:microsoft.com/office/officeart/2005/8/layout/vProcess5"/>
    <dgm:cxn modelId="{387FBE48-A9DA-465F-A279-9A58881C36B0}" srcId="{3EA98EBD-A431-418E-992A-7709EA3B825E}" destId="{0FEC1972-9462-4DC3-AFBD-2D17D8E8DBC7}" srcOrd="3" destOrd="0" parTransId="{0007B38D-ADB4-4B82-AF22-60181ACCB9E6}" sibTransId="{B37E284B-7E95-4BA6-832A-573A682E56F8}"/>
    <dgm:cxn modelId="{08367960-2D44-4526-9368-41203C88AD0D}" type="presOf" srcId="{A9EC3850-BBCF-4FE2-91CE-F67E8B9E3469}" destId="{B6DA4818-FD8C-48B0-914A-5EE3CCAB52C6}" srcOrd="1" destOrd="0" presId="urn:microsoft.com/office/officeart/2005/8/layout/vProcess5"/>
    <dgm:cxn modelId="{FD8BE166-0D26-4788-95CC-5BF6C29E53A0}" type="presOf" srcId="{97F8C7E0-1F3D-4DF4-9F32-768F04361857}" destId="{D5C6812B-143E-4897-B545-6FA2AB768133}" srcOrd="0" destOrd="0" presId="urn:microsoft.com/office/officeart/2005/8/layout/vProcess5"/>
    <dgm:cxn modelId="{D7A76473-0535-47EE-8B08-19CF404C0A8A}" type="presOf" srcId="{3EA98EBD-A431-418E-992A-7709EA3B825E}" destId="{D1D394EA-2703-4EB1-81F2-1B18288885A0}" srcOrd="0" destOrd="0" presId="urn:microsoft.com/office/officeart/2005/8/layout/vProcess5"/>
    <dgm:cxn modelId="{A6DD0E82-93E3-4DAD-8355-F64EA8334180}" type="presOf" srcId="{0FEC1972-9462-4DC3-AFBD-2D17D8E8DBC7}" destId="{A841D18B-990B-4324-AE52-2484A1F267E5}" srcOrd="1" destOrd="0" presId="urn:microsoft.com/office/officeart/2005/8/layout/vProcess5"/>
    <dgm:cxn modelId="{F88EA3BF-62C2-4AE0-B4A7-903E5007C0D8}" type="presOf" srcId="{18AB8D7C-CADB-4BBB-9D7C-F0DCE07F5B80}" destId="{EDBDF69B-6F06-44CB-A03A-C9514A9C3BC4}" srcOrd="0" destOrd="0" presId="urn:microsoft.com/office/officeart/2005/8/layout/vProcess5"/>
    <dgm:cxn modelId="{BE11DDDE-5242-4F81-B309-CCA86780B486}" type="presOf" srcId="{EC193018-CFAA-44F5-9B56-BCA4DD6F740A}" destId="{9D130E20-9E54-486D-8D29-6A23EC4C6BFD}" srcOrd="0" destOrd="0" presId="urn:microsoft.com/office/officeart/2005/8/layout/vProcess5"/>
    <dgm:cxn modelId="{42AC4ADF-8EE0-4896-9308-AB9CC33BFD4F}" type="presOf" srcId="{868E9F26-ADED-46CD-AD01-28812BF54A38}" destId="{C4C9C3E1-299A-457B-8C67-EFD17AE43326}" srcOrd="1" destOrd="0" presId="urn:microsoft.com/office/officeart/2005/8/layout/vProcess5"/>
    <dgm:cxn modelId="{C8B8B1EB-296B-4267-8EFB-BA54984CD8D9}" srcId="{3EA98EBD-A431-418E-992A-7709EA3B825E}" destId="{EC193018-CFAA-44F5-9B56-BCA4DD6F740A}" srcOrd="2" destOrd="0" parTransId="{D33D08F1-3020-4A89-88BC-D885212678FA}" sibTransId="{18AB8D7C-CADB-4BBB-9D7C-F0DCE07F5B80}"/>
    <dgm:cxn modelId="{17CE4BED-BE3E-4D98-8F6A-B786C950CFD7}" type="presOf" srcId="{436B643B-7F65-4CEA-A67C-A2D7C855008D}" destId="{B96F9B5A-346B-4436-8D09-232198FB5831}" srcOrd="0" destOrd="0" presId="urn:microsoft.com/office/officeart/2005/8/layout/vProcess5"/>
    <dgm:cxn modelId="{14118DEF-324D-496A-90C4-7F5072FC5ED4}" type="presOf" srcId="{436B643B-7F65-4CEA-A67C-A2D7C855008D}" destId="{3ADC2B16-F00C-49FE-81AE-007187BD1820}" srcOrd="1" destOrd="0" presId="urn:microsoft.com/office/officeart/2005/8/layout/vProcess5"/>
    <dgm:cxn modelId="{995E46F0-2113-478C-B137-0A1336AC5701}" type="presOf" srcId="{A9EC3850-BBCF-4FE2-91CE-F67E8B9E3469}" destId="{EA014C7F-B006-47B1-9230-AE2B5A64C02C}" srcOrd="0" destOrd="0" presId="urn:microsoft.com/office/officeart/2005/8/layout/vProcess5"/>
    <dgm:cxn modelId="{D8E954F3-C82D-496E-9A01-918CBC99242C}" type="presOf" srcId="{C3209CC8-CBF3-44EB-8606-854748671B07}" destId="{E9749F56-F537-4FF6-99AB-A1F7161F4CB1}" srcOrd="0" destOrd="0" presId="urn:microsoft.com/office/officeart/2005/8/layout/vProcess5"/>
    <dgm:cxn modelId="{2A8A78F9-CA50-42DA-A3DF-551E76C7F436}" srcId="{3EA98EBD-A431-418E-992A-7709EA3B825E}" destId="{436B643B-7F65-4CEA-A67C-A2D7C855008D}" srcOrd="4" destOrd="0" parTransId="{0F6DA0BB-7198-43AE-B080-CB1E50B55374}" sibTransId="{941DBE14-943B-45CE-AA8A-CAC1D0C1D679}"/>
    <dgm:cxn modelId="{F09911FC-0124-4185-AAA1-6D153AA6C16D}" type="presOf" srcId="{EC193018-CFAA-44F5-9B56-BCA4DD6F740A}" destId="{D79127D1-CE58-4AD0-80AE-E64DF3490270}" srcOrd="1" destOrd="0" presId="urn:microsoft.com/office/officeart/2005/8/layout/vProcess5"/>
    <dgm:cxn modelId="{98479108-9977-4739-A348-09F3FE61AF21}" type="presParOf" srcId="{D1D394EA-2703-4EB1-81F2-1B18288885A0}" destId="{AA51324E-F34F-48A1-980E-649CB53228B4}" srcOrd="0" destOrd="0" presId="urn:microsoft.com/office/officeart/2005/8/layout/vProcess5"/>
    <dgm:cxn modelId="{9141724B-F8ED-4277-93A4-47E1FEDE9CB0}" type="presParOf" srcId="{D1D394EA-2703-4EB1-81F2-1B18288885A0}" destId="{411C42A8-EF8E-4C4C-86B8-74B05F166700}" srcOrd="1" destOrd="0" presId="urn:microsoft.com/office/officeart/2005/8/layout/vProcess5"/>
    <dgm:cxn modelId="{A0C558D3-6A8C-4966-AA13-9B05F9E11478}" type="presParOf" srcId="{D1D394EA-2703-4EB1-81F2-1B18288885A0}" destId="{EA014C7F-B006-47B1-9230-AE2B5A64C02C}" srcOrd="2" destOrd="0" presId="urn:microsoft.com/office/officeart/2005/8/layout/vProcess5"/>
    <dgm:cxn modelId="{20C7F895-DC90-4E0E-B790-03F2EB9F58F0}" type="presParOf" srcId="{D1D394EA-2703-4EB1-81F2-1B18288885A0}" destId="{9D130E20-9E54-486D-8D29-6A23EC4C6BFD}" srcOrd="3" destOrd="0" presId="urn:microsoft.com/office/officeart/2005/8/layout/vProcess5"/>
    <dgm:cxn modelId="{647A0A56-9972-4204-8D9A-4B272160EACA}" type="presParOf" srcId="{D1D394EA-2703-4EB1-81F2-1B18288885A0}" destId="{CCC3BD30-26FE-47CA-945E-D5D7C6226173}" srcOrd="4" destOrd="0" presId="urn:microsoft.com/office/officeart/2005/8/layout/vProcess5"/>
    <dgm:cxn modelId="{E05A4B48-8EDE-4407-B90E-42049A0B1CEE}" type="presParOf" srcId="{D1D394EA-2703-4EB1-81F2-1B18288885A0}" destId="{B96F9B5A-346B-4436-8D09-232198FB5831}" srcOrd="5" destOrd="0" presId="urn:microsoft.com/office/officeart/2005/8/layout/vProcess5"/>
    <dgm:cxn modelId="{A6FCF1A8-8890-4694-A6E9-54764A02DD1B}" type="presParOf" srcId="{D1D394EA-2703-4EB1-81F2-1B18288885A0}" destId="{D5C6812B-143E-4897-B545-6FA2AB768133}" srcOrd="6" destOrd="0" presId="urn:microsoft.com/office/officeart/2005/8/layout/vProcess5"/>
    <dgm:cxn modelId="{C52E285D-B15D-4602-ADF7-DCB210738BB9}" type="presParOf" srcId="{D1D394EA-2703-4EB1-81F2-1B18288885A0}" destId="{E9749F56-F537-4FF6-99AB-A1F7161F4CB1}" srcOrd="7" destOrd="0" presId="urn:microsoft.com/office/officeart/2005/8/layout/vProcess5"/>
    <dgm:cxn modelId="{AB813171-6B7B-42E6-80BD-6D8EBF39F665}" type="presParOf" srcId="{D1D394EA-2703-4EB1-81F2-1B18288885A0}" destId="{EDBDF69B-6F06-44CB-A03A-C9514A9C3BC4}" srcOrd="8" destOrd="0" presId="urn:microsoft.com/office/officeart/2005/8/layout/vProcess5"/>
    <dgm:cxn modelId="{168918DC-2326-4145-98ED-6D8F9907A9E7}" type="presParOf" srcId="{D1D394EA-2703-4EB1-81F2-1B18288885A0}" destId="{F7154BD7-B250-439A-8AB3-AF76AD22A3FD}" srcOrd="9" destOrd="0" presId="urn:microsoft.com/office/officeart/2005/8/layout/vProcess5"/>
    <dgm:cxn modelId="{C9BDBADC-4448-4642-92BA-B44E6B3FE37F}" type="presParOf" srcId="{D1D394EA-2703-4EB1-81F2-1B18288885A0}" destId="{C4C9C3E1-299A-457B-8C67-EFD17AE43326}" srcOrd="10" destOrd="0" presId="urn:microsoft.com/office/officeart/2005/8/layout/vProcess5"/>
    <dgm:cxn modelId="{02F31ADE-2163-4D02-8010-1BB29C761686}" type="presParOf" srcId="{D1D394EA-2703-4EB1-81F2-1B18288885A0}" destId="{B6DA4818-FD8C-48B0-914A-5EE3CCAB52C6}" srcOrd="11" destOrd="0" presId="urn:microsoft.com/office/officeart/2005/8/layout/vProcess5"/>
    <dgm:cxn modelId="{C8D93678-B12E-48BD-B16D-664B48AFF33F}" type="presParOf" srcId="{D1D394EA-2703-4EB1-81F2-1B18288885A0}" destId="{D79127D1-CE58-4AD0-80AE-E64DF3490270}" srcOrd="12" destOrd="0" presId="urn:microsoft.com/office/officeart/2005/8/layout/vProcess5"/>
    <dgm:cxn modelId="{FFFCCBED-D8E4-4A07-8895-63F397B10F6F}" type="presParOf" srcId="{D1D394EA-2703-4EB1-81F2-1B18288885A0}" destId="{A841D18B-990B-4324-AE52-2484A1F267E5}" srcOrd="13" destOrd="0" presId="urn:microsoft.com/office/officeart/2005/8/layout/vProcess5"/>
    <dgm:cxn modelId="{9AC4FA7F-F708-475A-AE3A-911972DD2813}" type="presParOf" srcId="{D1D394EA-2703-4EB1-81F2-1B18288885A0}" destId="{3ADC2B16-F00C-49FE-81AE-007187BD1820}"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A45AFA6-2C8F-4B8C-8856-B8086F13DF90}"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en-NZ"/>
        </a:p>
      </dgm:t>
    </dgm:pt>
    <dgm:pt modelId="{4FB1E273-9E7A-48C4-9E79-F7BB01A48C79}">
      <dgm:prSet/>
      <dgm:spPr>
        <a:solidFill>
          <a:schemeClr val="tx2">
            <a:lumMod val="20000"/>
            <a:lumOff val="80000"/>
          </a:schemeClr>
        </a:solidFill>
      </dgm:spPr>
      <dgm:t>
        <a:bodyPr/>
        <a:lstStyle/>
        <a:p>
          <a:r>
            <a:rPr lang="en-US"/>
            <a:t>Interest rates affect demand for home currency in the foreign exchange market, so affects the exchange rate</a:t>
          </a:r>
          <a:endParaRPr lang="en-NZ"/>
        </a:p>
      </dgm:t>
    </dgm:pt>
    <dgm:pt modelId="{D3E63418-4E29-4F22-B8B6-DDDE8ABEF251}" type="parTrans" cxnId="{1EF43A3D-12DA-48D7-A8ED-83F4790D5C38}">
      <dgm:prSet/>
      <dgm:spPr/>
      <dgm:t>
        <a:bodyPr/>
        <a:lstStyle/>
        <a:p>
          <a:endParaRPr lang="en-NZ"/>
        </a:p>
      </dgm:t>
    </dgm:pt>
    <dgm:pt modelId="{267FF3F5-6505-406E-AA15-2D6792AE0113}" type="sibTrans" cxnId="{1EF43A3D-12DA-48D7-A8ED-83F4790D5C38}">
      <dgm:prSet/>
      <dgm:spPr/>
      <dgm:t>
        <a:bodyPr/>
        <a:lstStyle/>
        <a:p>
          <a:endParaRPr lang="en-NZ"/>
        </a:p>
      </dgm:t>
    </dgm:pt>
    <dgm:pt modelId="{6AC0C7B2-0280-4896-A08E-9F1AA3A31596}">
      <dgm:prSet/>
      <dgm:spPr>
        <a:solidFill>
          <a:schemeClr val="tx2">
            <a:lumMod val="20000"/>
            <a:lumOff val="80000"/>
          </a:schemeClr>
        </a:solidFill>
      </dgm:spPr>
      <dgm:t>
        <a:bodyPr/>
        <a:lstStyle/>
        <a:p>
          <a:r>
            <a:rPr lang="en-US"/>
            <a:t>The exchange rate affects relative demand for home-produced goods, so affects net exports. </a:t>
          </a:r>
          <a:endParaRPr lang="en-NZ"/>
        </a:p>
      </dgm:t>
    </dgm:pt>
    <dgm:pt modelId="{23FA0C78-7ED0-4C6F-B884-40B611A1AC4C}" type="parTrans" cxnId="{68BECC3B-FB02-40E0-94D1-9B78CA2AA142}">
      <dgm:prSet/>
      <dgm:spPr/>
      <dgm:t>
        <a:bodyPr/>
        <a:lstStyle/>
        <a:p>
          <a:endParaRPr lang="en-NZ"/>
        </a:p>
      </dgm:t>
    </dgm:pt>
    <dgm:pt modelId="{A76ECED9-BEDE-458A-84D8-5ED1C1462A70}" type="sibTrans" cxnId="{68BECC3B-FB02-40E0-94D1-9B78CA2AA142}">
      <dgm:prSet/>
      <dgm:spPr/>
      <dgm:t>
        <a:bodyPr/>
        <a:lstStyle/>
        <a:p>
          <a:endParaRPr lang="en-NZ"/>
        </a:p>
      </dgm:t>
    </dgm:pt>
    <dgm:pt modelId="{D4AFFA45-EB48-4C85-87DD-470A65E10C72}">
      <dgm:prSet/>
      <dgm:spPr>
        <a:solidFill>
          <a:schemeClr val="tx2">
            <a:lumMod val="20000"/>
            <a:lumOff val="80000"/>
          </a:schemeClr>
        </a:solidFill>
      </dgm:spPr>
      <dgm:t>
        <a:bodyPr/>
        <a:lstStyle/>
        <a:p>
          <a:r>
            <a:rPr lang="en-US"/>
            <a:t>Therefore, interest rates affect aggregate demand through the market for financial assets. </a:t>
          </a:r>
          <a:endParaRPr lang="en-NZ"/>
        </a:p>
      </dgm:t>
    </dgm:pt>
    <dgm:pt modelId="{EBE122A8-8DD0-4C5C-A1F1-3D073F005B48}" type="parTrans" cxnId="{A657A56D-C514-42DB-B5C6-8382F9C50170}">
      <dgm:prSet/>
      <dgm:spPr/>
      <dgm:t>
        <a:bodyPr/>
        <a:lstStyle/>
        <a:p>
          <a:endParaRPr lang="en-NZ"/>
        </a:p>
      </dgm:t>
    </dgm:pt>
    <dgm:pt modelId="{3F2A8FCA-B6C7-4965-891E-CF565A1CC9C9}" type="sibTrans" cxnId="{A657A56D-C514-42DB-B5C6-8382F9C50170}">
      <dgm:prSet/>
      <dgm:spPr/>
      <dgm:t>
        <a:bodyPr/>
        <a:lstStyle/>
        <a:p>
          <a:endParaRPr lang="en-NZ"/>
        </a:p>
      </dgm:t>
    </dgm:pt>
    <dgm:pt modelId="{B426918E-6C49-438B-AF42-5A0B44E3F8BF}" type="pres">
      <dgm:prSet presAssocID="{FA45AFA6-2C8F-4B8C-8856-B8086F13DF90}" presName="outerComposite" presStyleCnt="0">
        <dgm:presLayoutVars>
          <dgm:chMax val="5"/>
          <dgm:dir/>
          <dgm:resizeHandles val="exact"/>
        </dgm:presLayoutVars>
      </dgm:prSet>
      <dgm:spPr/>
    </dgm:pt>
    <dgm:pt modelId="{5706CEFE-3646-4A91-BBDC-066D7C2921FF}" type="pres">
      <dgm:prSet presAssocID="{FA45AFA6-2C8F-4B8C-8856-B8086F13DF90}" presName="dummyMaxCanvas" presStyleCnt="0">
        <dgm:presLayoutVars/>
      </dgm:prSet>
      <dgm:spPr/>
    </dgm:pt>
    <dgm:pt modelId="{C39F02F7-6B42-4514-80A0-66A08434C460}" type="pres">
      <dgm:prSet presAssocID="{FA45AFA6-2C8F-4B8C-8856-B8086F13DF90}" presName="ThreeNodes_1" presStyleLbl="node1" presStyleIdx="0" presStyleCnt="3">
        <dgm:presLayoutVars>
          <dgm:bulletEnabled val="1"/>
        </dgm:presLayoutVars>
      </dgm:prSet>
      <dgm:spPr/>
    </dgm:pt>
    <dgm:pt modelId="{BAF27AB9-963A-4E17-AB1F-F1A73D07DA2A}" type="pres">
      <dgm:prSet presAssocID="{FA45AFA6-2C8F-4B8C-8856-B8086F13DF90}" presName="ThreeNodes_2" presStyleLbl="node1" presStyleIdx="1" presStyleCnt="3">
        <dgm:presLayoutVars>
          <dgm:bulletEnabled val="1"/>
        </dgm:presLayoutVars>
      </dgm:prSet>
      <dgm:spPr/>
    </dgm:pt>
    <dgm:pt modelId="{F2776E48-709E-4044-BB4B-A7D32B2656DA}" type="pres">
      <dgm:prSet presAssocID="{FA45AFA6-2C8F-4B8C-8856-B8086F13DF90}" presName="ThreeNodes_3" presStyleLbl="node1" presStyleIdx="2" presStyleCnt="3">
        <dgm:presLayoutVars>
          <dgm:bulletEnabled val="1"/>
        </dgm:presLayoutVars>
      </dgm:prSet>
      <dgm:spPr/>
    </dgm:pt>
    <dgm:pt modelId="{B37516AA-D733-484D-9AC2-7FA86A1ED7F2}" type="pres">
      <dgm:prSet presAssocID="{FA45AFA6-2C8F-4B8C-8856-B8086F13DF90}" presName="ThreeConn_1-2" presStyleLbl="fgAccFollowNode1" presStyleIdx="0" presStyleCnt="2">
        <dgm:presLayoutVars>
          <dgm:bulletEnabled val="1"/>
        </dgm:presLayoutVars>
      </dgm:prSet>
      <dgm:spPr/>
    </dgm:pt>
    <dgm:pt modelId="{D3C84946-3416-49FA-809D-BFBFE96B8C31}" type="pres">
      <dgm:prSet presAssocID="{FA45AFA6-2C8F-4B8C-8856-B8086F13DF90}" presName="ThreeConn_2-3" presStyleLbl="fgAccFollowNode1" presStyleIdx="1" presStyleCnt="2">
        <dgm:presLayoutVars>
          <dgm:bulletEnabled val="1"/>
        </dgm:presLayoutVars>
      </dgm:prSet>
      <dgm:spPr/>
    </dgm:pt>
    <dgm:pt modelId="{821B0D8F-0389-49EE-9579-B563E3A5FF77}" type="pres">
      <dgm:prSet presAssocID="{FA45AFA6-2C8F-4B8C-8856-B8086F13DF90}" presName="ThreeNodes_1_text" presStyleLbl="node1" presStyleIdx="2" presStyleCnt="3">
        <dgm:presLayoutVars>
          <dgm:bulletEnabled val="1"/>
        </dgm:presLayoutVars>
      </dgm:prSet>
      <dgm:spPr/>
    </dgm:pt>
    <dgm:pt modelId="{4865A210-3D74-49E7-9867-9155A38F807E}" type="pres">
      <dgm:prSet presAssocID="{FA45AFA6-2C8F-4B8C-8856-B8086F13DF90}" presName="ThreeNodes_2_text" presStyleLbl="node1" presStyleIdx="2" presStyleCnt="3">
        <dgm:presLayoutVars>
          <dgm:bulletEnabled val="1"/>
        </dgm:presLayoutVars>
      </dgm:prSet>
      <dgm:spPr/>
    </dgm:pt>
    <dgm:pt modelId="{4EB4AA1F-EB5F-461E-8586-FFA520AC5C15}" type="pres">
      <dgm:prSet presAssocID="{FA45AFA6-2C8F-4B8C-8856-B8086F13DF90}" presName="ThreeNodes_3_text" presStyleLbl="node1" presStyleIdx="2" presStyleCnt="3">
        <dgm:presLayoutVars>
          <dgm:bulletEnabled val="1"/>
        </dgm:presLayoutVars>
      </dgm:prSet>
      <dgm:spPr/>
    </dgm:pt>
  </dgm:ptLst>
  <dgm:cxnLst>
    <dgm:cxn modelId="{48839733-244B-40D0-BE4E-48F3D1844379}" type="presOf" srcId="{D4AFFA45-EB48-4C85-87DD-470A65E10C72}" destId="{4EB4AA1F-EB5F-461E-8586-FFA520AC5C15}" srcOrd="1" destOrd="0" presId="urn:microsoft.com/office/officeart/2005/8/layout/vProcess5"/>
    <dgm:cxn modelId="{68BECC3B-FB02-40E0-94D1-9B78CA2AA142}" srcId="{FA45AFA6-2C8F-4B8C-8856-B8086F13DF90}" destId="{6AC0C7B2-0280-4896-A08E-9F1AA3A31596}" srcOrd="1" destOrd="0" parTransId="{23FA0C78-7ED0-4C6F-B884-40B611A1AC4C}" sibTransId="{A76ECED9-BEDE-458A-84D8-5ED1C1462A70}"/>
    <dgm:cxn modelId="{1EF43A3D-12DA-48D7-A8ED-83F4790D5C38}" srcId="{FA45AFA6-2C8F-4B8C-8856-B8086F13DF90}" destId="{4FB1E273-9E7A-48C4-9E79-F7BB01A48C79}" srcOrd="0" destOrd="0" parTransId="{D3E63418-4E29-4F22-B8B6-DDDE8ABEF251}" sibTransId="{267FF3F5-6505-406E-AA15-2D6792AE0113}"/>
    <dgm:cxn modelId="{8B63583F-AF9A-4DD7-AA29-5C082FB0C328}" type="presOf" srcId="{D4AFFA45-EB48-4C85-87DD-470A65E10C72}" destId="{F2776E48-709E-4044-BB4B-A7D32B2656DA}" srcOrd="0" destOrd="0" presId="urn:microsoft.com/office/officeart/2005/8/layout/vProcess5"/>
    <dgm:cxn modelId="{F027B945-CD0C-456B-A5D1-3EA9950A25C2}" type="presOf" srcId="{A76ECED9-BEDE-458A-84D8-5ED1C1462A70}" destId="{D3C84946-3416-49FA-809D-BFBFE96B8C31}" srcOrd="0" destOrd="0" presId="urn:microsoft.com/office/officeart/2005/8/layout/vProcess5"/>
    <dgm:cxn modelId="{A657A56D-C514-42DB-B5C6-8382F9C50170}" srcId="{FA45AFA6-2C8F-4B8C-8856-B8086F13DF90}" destId="{D4AFFA45-EB48-4C85-87DD-470A65E10C72}" srcOrd="2" destOrd="0" parTransId="{EBE122A8-8DD0-4C5C-A1F1-3D073F005B48}" sibTransId="{3F2A8FCA-B6C7-4965-891E-CF565A1CC9C9}"/>
    <dgm:cxn modelId="{155BF27A-864C-4FCC-8670-6B3C9F6737F1}" type="presOf" srcId="{4FB1E273-9E7A-48C4-9E79-F7BB01A48C79}" destId="{821B0D8F-0389-49EE-9579-B563E3A5FF77}" srcOrd="1" destOrd="0" presId="urn:microsoft.com/office/officeart/2005/8/layout/vProcess5"/>
    <dgm:cxn modelId="{FC3E118A-2FC1-433C-A46A-DD1AC905C821}" type="presOf" srcId="{4FB1E273-9E7A-48C4-9E79-F7BB01A48C79}" destId="{C39F02F7-6B42-4514-80A0-66A08434C460}" srcOrd="0" destOrd="0" presId="urn:microsoft.com/office/officeart/2005/8/layout/vProcess5"/>
    <dgm:cxn modelId="{548C029C-0BC8-4509-B747-8CA1531A529E}" type="presOf" srcId="{267FF3F5-6505-406E-AA15-2D6792AE0113}" destId="{B37516AA-D733-484D-9AC2-7FA86A1ED7F2}" srcOrd="0" destOrd="0" presId="urn:microsoft.com/office/officeart/2005/8/layout/vProcess5"/>
    <dgm:cxn modelId="{C57577CA-B887-4DCC-B9E1-9095089157CB}" type="presOf" srcId="{6AC0C7B2-0280-4896-A08E-9F1AA3A31596}" destId="{4865A210-3D74-49E7-9867-9155A38F807E}" srcOrd="1" destOrd="0" presId="urn:microsoft.com/office/officeart/2005/8/layout/vProcess5"/>
    <dgm:cxn modelId="{C4CD0FDF-6EBA-4F02-9D32-BF6B4660B778}" type="presOf" srcId="{6AC0C7B2-0280-4896-A08E-9F1AA3A31596}" destId="{BAF27AB9-963A-4E17-AB1F-F1A73D07DA2A}" srcOrd="0" destOrd="0" presId="urn:microsoft.com/office/officeart/2005/8/layout/vProcess5"/>
    <dgm:cxn modelId="{C8A380E2-086B-4AC1-8383-A56DA10E9A81}" type="presOf" srcId="{FA45AFA6-2C8F-4B8C-8856-B8086F13DF90}" destId="{B426918E-6C49-438B-AF42-5A0B44E3F8BF}" srcOrd="0" destOrd="0" presId="urn:microsoft.com/office/officeart/2005/8/layout/vProcess5"/>
    <dgm:cxn modelId="{3BAAA602-E721-4DA5-97EF-FA726706E3BF}" type="presParOf" srcId="{B426918E-6C49-438B-AF42-5A0B44E3F8BF}" destId="{5706CEFE-3646-4A91-BBDC-066D7C2921FF}" srcOrd="0" destOrd="0" presId="urn:microsoft.com/office/officeart/2005/8/layout/vProcess5"/>
    <dgm:cxn modelId="{E484E367-4CF3-4360-95C2-915F84524669}" type="presParOf" srcId="{B426918E-6C49-438B-AF42-5A0B44E3F8BF}" destId="{C39F02F7-6B42-4514-80A0-66A08434C460}" srcOrd="1" destOrd="0" presId="urn:microsoft.com/office/officeart/2005/8/layout/vProcess5"/>
    <dgm:cxn modelId="{3C9417F3-BABB-4904-BDB6-94BA0BF1FA54}" type="presParOf" srcId="{B426918E-6C49-438B-AF42-5A0B44E3F8BF}" destId="{BAF27AB9-963A-4E17-AB1F-F1A73D07DA2A}" srcOrd="2" destOrd="0" presId="urn:microsoft.com/office/officeart/2005/8/layout/vProcess5"/>
    <dgm:cxn modelId="{87BEB510-6FD0-4715-BA4D-05D083214BD1}" type="presParOf" srcId="{B426918E-6C49-438B-AF42-5A0B44E3F8BF}" destId="{F2776E48-709E-4044-BB4B-A7D32B2656DA}" srcOrd="3" destOrd="0" presId="urn:microsoft.com/office/officeart/2005/8/layout/vProcess5"/>
    <dgm:cxn modelId="{84651E77-2EAB-495D-B7BE-34EF9AEB49F1}" type="presParOf" srcId="{B426918E-6C49-438B-AF42-5A0B44E3F8BF}" destId="{B37516AA-D733-484D-9AC2-7FA86A1ED7F2}" srcOrd="4" destOrd="0" presId="urn:microsoft.com/office/officeart/2005/8/layout/vProcess5"/>
    <dgm:cxn modelId="{0F8F197D-1E09-43D6-BC6C-8B5B1D1362BE}" type="presParOf" srcId="{B426918E-6C49-438B-AF42-5A0B44E3F8BF}" destId="{D3C84946-3416-49FA-809D-BFBFE96B8C31}" srcOrd="5" destOrd="0" presId="urn:microsoft.com/office/officeart/2005/8/layout/vProcess5"/>
    <dgm:cxn modelId="{F7652FEF-9B03-4F9F-B150-537A5628546D}" type="presParOf" srcId="{B426918E-6C49-438B-AF42-5A0B44E3F8BF}" destId="{821B0D8F-0389-49EE-9579-B563E3A5FF77}" srcOrd="6" destOrd="0" presId="urn:microsoft.com/office/officeart/2005/8/layout/vProcess5"/>
    <dgm:cxn modelId="{C8F17EDB-678B-4710-B3C9-98AFA2BC2569}" type="presParOf" srcId="{B426918E-6C49-438B-AF42-5A0B44E3F8BF}" destId="{4865A210-3D74-49E7-9867-9155A38F807E}" srcOrd="7" destOrd="0" presId="urn:microsoft.com/office/officeart/2005/8/layout/vProcess5"/>
    <dgm:cxn modelId="{4F270FE6-7499-4AB6-B0FC-2B6A405D17A7}" type="presParOf" srcId="{B426918E-6C49-438B-AF42-5A0B44E3F8BF}" destId="{4EB4AA1F-EB5F-461E-8586-FFA520AC5C1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A0129D-3D78-4562-8D0F-C5ACB8DED75F}">
      <dsp:nvSpPr>
        <dsp:cNvPr id="0" name=""/>
        <dsp:cNvSpPr/>
      </dsp:nvSpPr>
      <dsp:spPr>
        <a:xfrm>
          <a:off x="875" y="270341"/>
          <a:ext cx="3416070" cy="2049642"/>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Zero inflation</a:t>
          </a:r>
          <a:r>
            <a:rPr lang="en-US" sz="3000" kern="1200" dirty="0"/>
            <a:t> = </a:t>
          </a:r>
        </a:p>
        <a:p>
          <a:pPr marL="0" lvl="0" indent="0" algn="ctr" defTabSz="1333500">
            <a:lnSpc>
              <a:spcPct val="90000"/>
            </a:lnSpc>
            <a:spcBef>
              <a:spcPct val="0"/>
            </a:spcBef>
            <a:spcAft>
              <a:spcPct val="35000"/>
            </a:spcAft>
            <a:buNone/>
          </a:pPr>
          <a:r>
            <a:rPr lang="en-US" sz="3000" kern="1200" dirty="0"/>
            <a:t>A constant price level from year to year</a:t>
          </a:r>
          <a:endParaRPr lang="en-NZ" sz="3000" kern="1200" dirty="0"/>
        </a:p>
      </dsp:txBody>
      <dsp:txXfrm>
        <a:off x="875" y="270341"/>
        <a:ext cx="3416070" cy="2049642"/>
      </dsp:txXfrm>
    </dsp:sp>
    <dsp:sp modelId="{68C81A75-BE3F-4B79-A5A3-48D5CBF67499}">
      <dsp:nvSpPr>
        <dsp:cNvPr id="0" name=""/>
        <dsp:cNvSpPr/>
      </dsp:nvSpPr>
      <dsp:spPr>
        <a:xfrm>
          <a:off x="3758553" y="270341"/>
          <a:ext cx="3416070" cy="2049642"/>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Deflation</a:t>
          </a:r>
          <a:r>
            <a:rPr lang="en-US" sz="3000" kern="1200" dirty="0"/>
            <a:t> = </a:t>
          </a:r>
        </a:p>
        <a:p>
          <a:pPr marL="0" lvl="0" indent="0" algn="ctr" defTabSz="1333500">
            <a:lnSpc>
              <a:spcPct val="90000"/>
            </a:lnSpc>
            <a:spcBef>
              <a:spcPct val="0"/>
            </a:spcBef>
            <a:spcAft>
              <a:spcPct val="35000"/>
            </a:spcAft>
            <a:buNone/>
          </a:pPr>
          <a:r>
            <a:rPr lang="en-US" sz="3000" kern="1200" dirty="0"/>
            <a:t>A decrease in the general price level</a:t>
          </a:r>
          <a:endParaRPr lang="en-NZ" sz="3000" kern="1200" dirty="0"/>
        </a:p>
      </dsp:txBody>
      <dsp:txXfrm>
        <a:off x="3758553" y="270341"/>
        <a:ext cx="3416070" cy="2049642"/>
      </dsp:txXfrm>
    </dsp:sp>
    <dsp:sp modelId="{C4296E85-06A9-4A15-8C69-F6C565331EDB}">
      <dsp:nvSpPr>
        <dsp:cNvPr id="0" name=""/>
        <dsp:cNvSpPr/>
      </dsp:nvSpPr>
      <dsp:spPr>
        <a:xfrm>
          <a:off x="1879714" y="2661591"/>
          <a:ext cx="3416070" cy="2049642"/>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Disinflation</a:t>
          </a:r>
          <a:r>
            <a:rPr lang="en-US" sz="3000" kern="1200" dirty="0"/>
            <a:t> = </a:t>
          </a:r>
        </a:p>
        <a:p>
          <a:pPr marL="0" lvl="0" indent="0" algn="ctr" defTabSz="1333500">
            <a:lnSpc>
              <a:spcPct val="90000"/>
            </a:lnSpc>
            <a:spcBef>
              <a:spcPct val="0"/>
            </a:spcBef>
            <a:spcAft>
              <a:spcPct val="35000"/>
            </a:spcAft>
            <a:buNone/>
          </a:pPr>
          <a:r>
            <a:rPr lang="en-US" sz="3000" kern="1200" dirty="0"/>
            <a:t>A decrease in the </a:t>
          </a:r>
          <a:r>
            <a:rPr lang="en-US" sz="3000" u="sng" kern="1200" dirty="0"/>
            <a:t>rate</a:t>
          </a:r>
          <a:r>
            <a:rPr lang="en-US" sz="3000" kern="1200" dirty="0"/>
            <a:t> of inflation</a:t>
          </a:r>
          <a:endParaRPr lang="en-NZ" sz="3000" kern="1200" dirty="0"/>
        </a:p>
      </dsp:txBody>
      <dsp:txXfrm>
        <a:off x="1879714" y="2661591"/>
        <a:ext cx="3416070" cy="20496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FCCBA3-901F-4E37-97E7-5CF3FB06065B}">
      <dsp:nvSpPr>
        <dsp:cNvPr id="0" name=""/>
        <dsp:cNvSpPr/>
      </dsp:nvSpPr>
      <dsp:spPr>
        <a:xfrm>
          <a:off x="0" y="0"/>
          <a:ext cx="6099175" cy="2241708"/>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For people on fixed nominal income higher inflation means lower real value of income.</a:t>
          </a:r>
          <a:endParaRPr lang="en-NZ" sz="2800" kern="1200" dirty="0"/>
        </a:p>
      </dsp:txBody>
      <dsp:txXfrm>
        <a:off x="65657" y="65657"/>
        <a:ext cx="3782194" cy="2110394"/>
      </dsp:txXfrm>
    </dsp:sp>
    <dsp:sp modelId="{0187A977-74AF-47F4-B422-4C323183CE05}">
      <dsp:nvSpPr>
        <dsp:cNvPr id="0" name=""/>
        <dsp:cNvSpPr/>
      </dsp:nvSpPr>
      <dsp:spPr>
        <a:xfrm>
          <a:off x="1076325" y="2739866"/>
          <a:ext cx="6099175" cy="2241708"/>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Inflation reduces the real value of debt</a:t>
          </a:r>
          <a:endParaRPr lang="en-NZ" sz="2800" kern="1200"/>
        </a:p>
        <a:p>
          <a:pPr marL="228600" lvl="1" indent="-228600" algn="l" defTabSz="977900">
            <a:lnSpc>
              <a:spcPct val="90000"/>
            </a:lnSpc>
            <a:spcBef>
              <a:spcPct val="0"/>
            </a:spcBef>
            <a:spcAft>
              <a:spcPct val="15000"/>
            </a:spcAft>
            <a:buChar char="•"/>
          </a:pPr>
          <a:r>
            <a:rPr lang="en-US" sz="2200" kern="1200"/>
            <a:t>Good for borrowers, bad for creditors.</a:t>
          </a:r>
          <a:endParaRPr lang="en-NZ" sz="2200" kern="1200"/>
        </a:p>
      </dsp:txBody>
      <dsp:txXfrm>
        <a:off x="1141982" y="2805523"/>
        <a:ext cx="3434425" cy="2110394"/>
      </dsp:txXfrm>
    </dsp:sp>
    <dsp:sp modelId="{80C01DCF-1151-4F10-8D66-49EB636B1FF2}">
      <dsp:nvSpPr>
        <dsp:cNvPr id="0" name=""/>
        <dsp:cNvSpPr/>
      </dsp:nvSpPr>
      <dsp:spPr>
        <a:xfrm>
          <a:off x="4642064" y="1762232"/>
          <a:ext cx="1457110" cy="1457110"/>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NZ" sz="3600" kern="1200"/>
        </a:p>
      </dsp:txBody>
      <dsp:txXfrm>
        <a:off x="4969914" y="1762232"/>
        <a:ext cx="801410" cy="10964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C7B16D-48E6-457C-ADCF-AF705F27BBEE}">
      <dsp:nvSpPr>
        <dsp:cNvPr id="0" name=""/>
        <dsp:cNvSpPr/>
      </dsp:nvSpPr>
      <dsp:spPr>
        <a:xfrm>
          <a:off x="0" y="2453"/>
          <a:ext cx="57419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901D14-D195-429D-B7B5-C9D775DC7E08}">
      <dsp:nvSpPr>
        <dsp:cNvPr id="0" name=""/>
        <dsp:cNvSpPr/>
      </dsp:nvSpPr>
      <dsp:spPr>
        <a:xfrm>
          <a:off x="0" y="2453"/>
          <a:ext cx="5741987" cy="1673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Fisher equation:</a:t>
          </a:r>
          <a:endParaRPr lang="en-NZ" sz="3400" kern="1200"/>
        </a:p>
      </dsp:txBody>
      <dsp:txXfrm>
        <a:off x="0" y="2453"/>
        <a:ext cx="5741987" cy="1673039"/>
      </dsp:txXfrm>
    </dsp:sp>
    <dsp:sp modelId="{6AEE5905-A4DE-46B9-9977-3BB81678016B}">
      <dsp:nvSpPr>
        <dsp:cNvPr id="0" name=""/>
        <dsp:cNvSpPr/>
      </dsp:nvSpPr>
      <dsp:spPr>
        <a:xfrm>
          <a:off x="0" y="1675492"/>
          <a:ext cx="57419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6D0460-7DAF-43DF-B594-6FAACEAF0A34}">
      <dsp:nvSpPr>
        <dsp:cNvPr id="0" name=""/>
        <dsp:cNvSpPr/>
      </dsp:nvSpPr>
      <dsp:spPr>
        <a:xfrm>
          <a:off x="0" y="1675492"/>
          <a:ext cx="5741987" cy="1673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kern="1200" dirty="0"/>
            <a:t>Real interest rate = Nominal interest rate – Inflation rate</a:t>
          </a:r>
          <a:endParaRPr lang="en-NZ" sz="3400" b="0" kern="1200" dirty="0"/>
        </a:p>
      </dsp:txBody>
      <dsp:txXfrm>
        <a:off x="0" y="1675492"/>
        <a:ext cx="5741987" cy="1673039"/>
      </dsp:txXfrm>
    </dsp:sp>
    <dsp:sp modelId="{06D40351-7E98-4606-8D01-012A36220E5D}">
      <dsp:nvSpPr>
        <dsp:cNvPr id="0" name=""/>
        <dsp:cNvSpPr/>
      </dsp:nvSpPr>
      <dsp:spPr>
        <a:xfrm>
          <a:off x="0" y="3348532"/>
          <a:ext cx="574198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4B7CCE-70DA-463F-A039-1160D81AE419}">
      <dsp:nvSpPr>
        <dsp:cNvPr id="0" name=""/>
        <dsp:cNvSpPr/>
      </dsp:nvSpPr>
      <dsp:spPr>
        <a:xfrm>
          <a:off x="0" y="3348532"/>
          <a:ext cx="5741987" cy="1673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or </a:t>
          </a:r>
          <a:br>
            <a:rPr lang="en-US" sz="3400" b="1" kern="1200" dirty="0"/>
          </a:br>
          <a:r>
            <a:rPr lang="en-US" sz="3400" b="0" kern="1200" dirty="0">
              <a:solidFill>
                <a:srgbClr val="FF0000"/>
              </a:solidFill>
            </a:rPr>
            <a:t>r = </a:t>
          </a:r>
          <a:r>
            <a:rPr lang="en-US" sz="3400" b="0" kern="1200" dirty="0" err="1">
              <a:solidFill>
                <a:srgbClr val="FF0000"/>
              </a:solidFill>
            </a:rPr>
            <a:t>i</a:t>
          </a:r>
          <a:r>
            <a:rPr lang="en-US" sz="3400" b="0" kern="1200" dirty="0">
              <a:solidFill>
                <a:srgbClr val="FF0000"/>
              </a:solidFill>
            </a:rPr>
            <a:t> – </a:t>
          </a:r>
          <a:r>
            <a:rPr lang="el-GR" sz="3400" b="0" kern="1200" dirty="0">
              <a:solidFill>
                <a:srgbClr val="FF0000"/>
              </a:solidFill>
            </a:rPr>
            <a:t>π</a:t>
          </a:r>
          <a:r>
            <a:rPr lang="en-US" sz="3400" b="0" kern="1200" dirty="0">
              <a:solidFill>
                <a:srgbClr val="FF0000"/>
              </a:solidFill>
            </a:rPr>
            <a:t> </a:t>
          </a:r>
          <a:endParaRPr lang="en-NZ" sz="3400" b="0" kern="1200" dirty="0">
            <a:solidFill>
              <a:srgbClr val="FF0000"/>
            </a:solidFill>
          </a:endParaRPr>
        </a:p>
      </dsp:txBody>
      <dsp:txXfrm>
        <a:off x="0" y="3348532"/>
        <a:ext cx="5741987" cy="16730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20834A-4562-41DB-AD87-47ECD147613E}">
      <dsp:nvSpPr>
        <dsp:cNvPr id="0" name=""/>
        <dsp:cNvSpPr/>
      </dsp:nvSpPr>
      <dsp:spPr>
        <a:xfrm>
          <a:off x="3587750" y="2270516"/>
          <a:ext cx="2538359" cy="440541"/>
        </a:xfrm>
        <a:custGeom>
          <a:avLst/>
          <a:gdLst/>
          <a:ahLst/>
          <a:cxnLst/>
          <a:rect l="0" t="0" r="0" b="0"/>
          <a:pathLst>
            <a:path>
              <a:moveTo>
                <a:pt x="0" y="0"/>
              </a:moveTo>
              <a:lnTo>
                <a:pt x="0" y="220270"/>
              </a:lnTo>
              <a:lnTo>
                <a:pt x="2538359" y="220270"/>
              </a:lnTo>
              <a:lnTo>
                <a:pt x="2538359" y="44054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90BAA9-D595-468E-A6AD-CD97C9BD4E11}">
      <dsp:nvSpPr>
        <dsp:cNvPr id="0" name=""/>
        <dsp:cNvSpPr/>
      </dsp:nvSpPr>
      <dsp:spPr>
        <a:xfrm>
          <a:off x="3542030" y="2270516"/>
          <a:ext cx="91440" cy="440541"/>
        </a:xfrm>
        <a:custGeom>
          <a:avLst/>
          <a:gdLst/>
          <a:ahLst/>
          <a:cxnLst/>
          <a:rect l="0" t="0" r="0" b="0"/>
          <a:pathLst>
            <a:path>
              <a:moveTo>
                <a:pt x="45720" y="0"/>
              </a:moveTo>
              <a:lnTo>
                <a:pt x="45720" y="44054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A59A50-6A4B-4335-B23D-70A12E51841C}">
      <dsp:nvSpPr>
        <dsp:cNvPr id="0" name=""/>
        <dsp:cNvSpPr/>
      </dsp:nvSpPr>
      <dsp:spPr>
        <a:xfrm>
          <a:off x="1049390" y="2270516"/>
          <a:ext cx="2538359" cy="440541"/>
        </a:xfrm>
        <a:custGeom>
          <a:avLst/>
          <a:gdLst/>
          <a:ahLst/>
          <a:cxnLst/>
          <a:rect l="0" t="0" r="0" b="0"/>
          <a:pathLst>
            <a:path>
              <a:moveTo>
                <a:pt x="2538359" y="0"/>
              </a:moveTo>
              <a:lnTo>
                <a:pt x="2538359" y="220270"/>
              </a:lnTo>
              <a:lnTo>
                <a:pt x="0" y="220270"/>
              </a:lnTo>
              <a:lnTo>
                <a:pt x="0" y="44054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6C5CC6-AA8B-4DB5-BED8-2B22216A40BC}">
      <dsp:nvSpPr>
        <dsp:cNvPr id="0" name=""/>
        <dsp:cNvSpPr/>
      </dsp:nvSpPr>
      <dsp:spPr>
        <a:xfrm>
          <a:off x="2538841" y="1221607"/>
          <a:ext cx="2097817" cy="1048908"/>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High rate of inflation makes the economy work less well: </a:t>
          </a:r>
          <a:endParaRPr lang="en-NZ" sz="1700" kern="1200" dirty="0"/>
        </a:p>
      </dsp:txBody>
      <dsp:txXfrm>
        <a:off x="2538841" y="1221607"/>
        <a:ext cx="2097817" cy="1048908"/>
      </dsp:txXfrm>
    </dsp:sp>
    <dsp:sp modelId="{C65D8638-EF6C-4428-9D95-16B089CC188D}">
      <dsp:nvSpPr>
        <dsp:cNvPr id="0" name=""/>
        <dsp:cNvSpPr/>
      </dsp:nvSpPr>
      <dsp:spPr>
        <a:xfrm>
          <a:off x="481" y="2711058"/>
          <a:ext cx="2097817" cy="1048908"/>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High inflation is often volatile → uncertainty</a:t>
          </a:r>
          <a:endParaRPr lang="en-NZ" sz="1700" kern="1200" dirty="0"/>
        </a:p>
      </dsp:txBody>
      <dsp:txXfrm>
        <a:off x="481" y="2711058"/>
        <a:ext cx="2097817" cy="1048908"/>
      </dsp:txXfrm>
    </dsp:sp>
    <dsp:sp modelId="{604C33F4-33AF-4F4C-A372-0C99EA916B7B}">
      <dsp:nvSpPr>
        <dsp:cNvPr id="0" name=""/>
        <dsp:cNvSpPr/>
      </dsp:nvSpPr>
      <dsp:spPr>
        <a:xfrm>
          <a:off x="2538841" y="2711058"/>
          <a:ext cx="2097817" cy="1048908"/>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Produces struggle to distinguish between changes in </a:t>
          </a:r>
          <a:r>
            <a:rPr lang="en-US" sz="1700" b="1" kern="1200" dirty="0"/>
            <a:t>relative prices </a:t>
          </a:r>
          <a:r>
            <a:rPr lang="en-US" sz="1700" kern="1200" dirty="0"/>
            <a:t>and inflation</a:t>
          </a:r>
          <a:endParaRPr lang="en-NZ" sz="1700" kern="1200" dirty="0"/>
        </a:p>
      </dsp:txBody>
      <dsp:txXfrm>
        <a:off x="2538841" y="2711058"/>
        <a:ext cx="2097817" cy="1048908"/>
      </dsp:txXfrm>
    </dsp:sp>
    <dsp:sp modelId="{7EFDAF6D-BA34-4575-BAF6-91C25C9A4241}">
      <dsp:nvSpPr>
        <dsp:cNvPr id="0" name=""/>
        <dsp:cNvSpPr/>
      </dsp:nvSpPr>
      <dsp:spPr>
        <a:xfrm>
          <a:off x="5077200" y="2711058"/>
          <a:ext cx="2097817" cy="1048908"/>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b="1" kern="1200" dirty="0"/>
            <a:t>menu costs </a:t>
          </a:r>
          <a:r>
            <a:rPr lang="en-GB" sz="1700" kern="1200" dirty="0"/>
            <a:t>as firms have to update their prices more frequently</a:t>
          </a:r>
          <a:endParaRPr lang="en-NZ" sz="1700" kern="1200" dirty="0"/>
        </a:p>
      </dsp:txBody>
      <dsp:txXfrm>
        <a:off x="5077200" y="2711058"/>
        <a:ext cx="2097817" cy="10489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FB8F4-DB9B-475E-9E68-2E0D73F58BE2}">
      <dsp:nvSpPr>
        <dsp:cNvPr id="0" name=""/>
        <dsp:cNvSpPr/>
      </dsp:nvSpPr>
      <dsp:spPr>
        <a:xfrm>
          <a:off x="0" y="3006644"/>
          <a:ext cx="7175500" cy="197268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GB" sz="2900" kern="1200" dirty="0"/>
            <a:t>Households will </a:t>
          </a:r>
          <a:r>
            <a:rPr lang="en-GB" sz="2900" u="sng" kern="1200" dirty="0"/>
            <a:t>postpone consumption </a:t>
          </a:r>
          <a:r>
            <a:rPr lang="en-GB" sz="2900" kern="1200" dirty="0"/>
            <a:t>(particularly of durables) because they expect goods will be cheaper in the future. </a:t>
          </a:r>
          <a:endParaRPr lang="en-NZ" sz="2900" kern="1200" dirty="0"/>
        </a:p>
      </dsp:txBody>
      <dsp:txXfrm>
        <a:off x="0" y="3006644"/>
        <a:ext cx="7175500" cy="1972684"/>
      </dsp:txXfrm>
    </dsp:sp>
    <dsp:sp modelId="{7FF67779-0894-44F9-B53B-95F9B8A721F5}">
      <dsp:nvSpPr>
        <dsp:cNvPr id="0" name=""/>
        <dsp:cNvSpPr/>
      </dsp:nvSpPr>
      <dsp:spPr>
        <a:xfrm rot="10800000">
          <a:off x="0" y="2246"/>
          <a:ext cx="7175500" cy="3033988"/>
        </a:xfrm>
        <a:prstGeom prst="upArrowCallou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GB" sz="2900" kern="1200" dirty="0"/>
            <a:t>Deflation could have even more dramatic consequences than high inflation.</a:t>
          </a:r>
          <a:endParaRPr lang="en-NZ" sz="2900" kern="1200" dirty="0"/>
        </a:p>
      </dsp:txBody>
      <dsp:txXfrm rot="10800000">
        <a:off x="0" y="2246"/>
        <a:ext cx="7175500" cy="19713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829D5E-11DE-4C6E-8D90-3A4C17314132}">
      <dsp:nvSpPr>
        <dsp:cNvPr id="0" name=""/>
        <dsp:cNvSpPr/>
      </dsp:nvSpPr>
      <dsp:spPr>
        <a:xfrm>
          <a:off x="0" y="3749895"/>
          <a:ext cx="7175500" cy="1230799"/>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which may lead households to cut consumption to return to their target wealth.</a:t>
          </a:r>
          <a:endParaRPr lang="en-NZ" sz="2600" kern="1200" dirty="0"/>
        </a:p>
      </dsp:txBody>
      <dsp:txXfrm>
        <a:off x="0" y="3749895"/>
        <a:ext cx="7175500" cy="1230799"/>
      </dsp:txXfrm>
    </dsp:sp>
    <dsp:sp modelId="{5343212B-6DDE-4AB9-95EF-22872B469D91}">
      <dsp:nvSpPr>
        <dsp:cNvPr id="0" name=""/>
        <dsp:cNvSpPr/>
      </dsp:nvSpPr>
      <dsp:spPr>
        <a:xfrm rot="10800000">
          <a:off x="0" y="1875387"/>
          <a:ext cx="7175500" cy="1892969"/>
        </a:xfrm>
        <a:prstGeom prst="upArrowCallou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Deflation also increases the real debt burden, </a:t>
          </a:r>
          <a:endParaRPr lang="en-NZ" sz="2600" kern="1200" dirty="0"/>
        </a:p>
      </dsp:txBody>
      <dsp:txXfrm rot="10800000">
        <a:off x="0" y="1875387"/>
        <a:ext cx="7175500" cy="1229994"/>
      </dsp:txXfrm>
    </dsp:sp>
    <dsp:sp modelId="{5EE6C815-0E29-4FB2-9257-BE316C7F5B65}">
      <dsp:nvSpPr>
        <dsp:cNvPr id="0" name=""/>
        <dsp:cNvSpPr/>
      </dsp:nvSpPr>
      <dsp:spPr>
        <a:xfrm rot="10800000">
          <a:off x="0" y="880"/>
          <a:ext cx="7175500" cy="1892969"/>
        </a:xfrm>
        <a:prstGeom prst="upArrowCallou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This is similar to a negative shock to aggregate demand.</a:t>
          </a:r>
          <a:endParaRPr lang="en-NZ" sz="2600" kern="1200" dirty="0"/>
        </a:p>
      </dsp:txBody>
      <dsp:txXfrm rot="10800000">
        <a:off x="0" y="880"/>
        <a:ext cx="7175500" cy="12299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858EE2-4289-458F-AF96-3191E3573D7C}">
      <dsp:nvSpPr>
        <dsp:cNvPr id="0" name=""/>
        <dsp:cNvSpPr/>
      </dsp:nvSpPr>
      <dsp:spPr>
        <a:xfrm>
          <a:off x="3478379" y="625693"/>
          <a:ext cx="483095" cy="91440"/>
        </a:xfrm>
        <a:custGeom>
          <a:avLst/>
          <a:gdLst/>
          <a:ahLst/>
          <a:cxnLst/>
          <a:rect l="0" t="0" r="0" b="0"/>
          <a:pathLst>
            <a:path>
              <a:moveTo>
                <a:pt x="0" y="45720"/>
              </a:moveTo>
              <a:lnTo>
                <a:pt x="483095"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707084" y="668844"/>
        <a:ext cx="25684" cy="5136"/>
      </dsp:txXfrm>
    </dsp:sp>
    <dsp:sp modelId="{EB238591-0093-47A8-9DE9-9E5C52D63090}">
      <dsp:nvSpPr>
        <dsp:cNvPr id="0" name=""/>
        <dsp:cNvSpPr/>
      </dsp:nvSpPr>
      <dsp:spPr>
        <a:xfrm>
          <a:off x="1246721" y="1375"/>
          <a:ext cx="2233457" cy="134007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NZ" sz="1700" kern="1200" dirty="0"/>
            <a:t>Low unemployment leads to firms setting higher wages. </a:t>
          </a:r>
        </a:p>
      </dsp:txBody>
      <dsp:txXfrm>
        <a:off x="1246721" y="1375"/>
        <a:ext cx="2233457" cy="1340074"/>
      </dsp:txXfrm>
    </dsp:sp>
    <dsp:sp modelId="{03382A55-F22D-44C7-A923-5AA4CF21B7A8}">
      <dsp:nvSpPr>
        <dsp:cNvPr id="0" name=""/>
        <dsp:cNvSpPr/>
      </dsp:nvSpPr>
      <dsp:spPr>
        <a:xfrm>
          <a:off x="2363450" y="1339650"/>
          <a:ext cx="2747152" cy="483095"/>
        </a:xfrm>
        <a:custGeom>
          <a:avLst/>
          <a:gdLst/>
          <a:ahLst/>
          <a:cxnLst/>
          <a:rect l="0" t="0" r="0" b="0"/>
          <a:pathLst>
            <a:path>
              <a:moveTo>
                <a:pt x="2747152" y="0"/>
              </a:moveTo>
              <a:lnTo>
                <a:pt x="2747152" y="258647"/>
              </a:lnTo>
              <a:lnTo>
                <a:pt x="0" y="258647"/>
              </a:lnTo>
              <a:lnTo>
                <a:pt x="0" y="483095"/>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667157" y="1578629"/>
        <a:ext cx="139738" cy="5136"/>
      </dsp:txXfrm>
    </dsp:sp>
    <dsp:sp modelId="{46FEEA52-43D4-453A-8094-0DC7183CF2E1}">
      <dsp:nvSpPr>
        <dsp:cNvPr id="0" name=""/>
        <dsp:cNvSpPr/>
      </dsp:nvSpPr>
      <dsp:spPr>
        <a:xfrm>
          <a:off x="3993874" y="1375"/>
          <a:ext cx="2233457" cy="134007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NZ" sz="1700" kern="1200" dirty="0"/>
            <a:t>Workers have more bargaining power.</a:t>
          </a:r>
        </a:p>
      </dsp:txBody>
      <dsp:txXfrm>
        <a:off x="3993874" y="1375"/>
        <a:ext cx="2233457" cy="1340074"/>
      </dsp:txXfrm>
    </dsp:sp>
    <dsp:sp modelId="{D0983E9F-ECFD-4FB0-B6D7-5F6AC3091B26}">
      <dsp:nvSpPr>
        <dsp:cNvPr id="0" name=""/>
        <dsp:cNvSpPr/>
      </dsp:nvSpPr>
      <dsp:spPr>
        <a:xfrm>
          <a:off x="3478379" y="2479463"/>
          <a:ext cx="483095" cy="91440"/>
        </a:xfrm>
        <a:custGeom>
          <a:avLst/>
          <a:gdLst/>
          <a:ahLst/>
          <a:cxnLst/>
          <a:rect l="0" t="0" r="0" b="0"/>
          <a:pathLst>
            <a:path>
              <a:moveTo>
                <a:pt x="0" y="45720"/>
              </a:moveTo>
              <a:lnTo>
                <a:pt x="483095"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707084" y="2522614"/>
        <a:ext cx="25684" cy="5136"/>
      </dsp:txXfrm>
    </dsp:sp>
    <dsp:sp modelId="{A92718F2-CBFF-4BAC-8906-BBF60DD810D4}">
      <dsp:nvSpPr>
        <dsp:cNvPr id="0" name=""/>
        <dsp:cNvSpPr/>
      </dsp:nvSpPr>
      <dsp:spPr>
        <a:xfrm>
          <a:off x="1246721" y="1855145"/>
          <a:ext cx="2233457" cy="134007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NZ" sz="1700" kern="1200"/>
            <a:t>Higher wages = higher costs for firms</a:t>
          </a:r>
        </a:p>
      </dsp:txBody>
      <dsp:txXfrm>
        <a:off x="1246721" y="1855145"/>
        <a:ext cx="2233457" cy="1340074"/>
      </dsp:txXfrm>
    </dsp:sp>
    <dsp:sp modelId="{06D2CB45-BC9F-4CCF-B9A2-87EE969AE89E}">
      <dsp:nvSpPr>
        <dsp:cNvPr id="0" name=""/>
        <dsp:cNvSpPr/>
      </dsp:nvSpPr>
      <dsp:spPr>
        <a:xfrm>
          <a:off x="2363450" y="3193420"/>
          <a:ext cx="2747152" cy="483095"/>
        </a:xfrm>
        <a:custGeom>
          <a:avLst/>
          <a:gdLst/>
          <a:ahLst/>
          <a:cxnLst/>
          <a:rect l="0" t="0" r="0" b="0"/>
          <a:pathLst>
            <a:path>
              <a:moveTo>
                <a:pt x="2747152" y="0"/>
              </a:moveTo>
              <a:lnTo>
                <a:pt x="2747152" y="258647"/>
              </a:lnTo>
              <a:lnTo>
                <a:pt x="0" y="258647"/>
              </a:lnTo>
              <a:lnTo>
                <a:pt x="0" y="483095"/>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667157" y="3432399"/>
        <a:ext cx="139738" cy="5136"/>
      </dsp:txXfrm>
    </dsp:sp>
    <dsp:sp modelId="{4BA3C814-6285-4FED-BA2F-5198C2DD54BA}">
      <dsp:nvSpPr>
        <dsp:cNvPr id="0" name=""/>
        <dsp:cNvSpPr/>
      </dsp:nvSpPr>
      <dsp:spPr>
        <a:xfrm>
          <a:off x="3993874" y="1855145"/>
          <a:ext cx="2233457" cy="134007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NZ" sz="1700" kern="1200"/>
            <a:t>Firms raise prices</a:t>
          </a:r>
        </a:p>
      </dsp:txBody>
      <dsp:txXfrm>
        <a:off x="3993874" y="1855145"/>
        <a:ext cx="2233457" cy="1340074"/>
      </dsp:txXfrm>
    </dsp:sp>
    <dsp:sp modelId="{A019EE3B-DE61-4E7D-BF83-DDCA101B66F4}">
      <dsp:nvSpPr>
        <dsp:cNvPr id="0" name=""/>
        <dsp:cNvSpPr/>
      </dsp:nvSpPr>
      <dsp:spPr>
        <a:xfrm>
          <a:off x="3478379" y="4333232"/>
          <a:ext cx="483095" cy="91440"/>
        </a:xfrm>
        <a:custGeom>
          <a:avLst/>
          <a:gdLst/>
          <a:ahLst/>
          <a:cxnLst/>
          <a:rect l="0" t="0" r="0" b="0"/>
          <a:pathLst>
            <a:path>
              <a:moveTo>
                <a:pt x="0" y="45720"/>
              </a:moveTo>
              <a:lnTo>
                <a:pt x="483095"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707084" y="4376384"/>
        <a:ext cx="25684" cy="5136"/>
      </dsp:txXfrm>
    </dsp:sp>
    <dsp:sp modelId="{D4416801-AD8B-4F11-AD88-7FD5D3C0472E}">
      <dsp:nvSpPr>
        <dsp:cNvPr id="0" name=""/>
        <dsp:cNvSpPr/>
      </dsp:nvSpPr>
      <dsp:spPr>
        <a:xfrm>
          <a:off x="1246721" y="3708915"/>
          <a:ext cx="2233457" cy="134007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NZ" sz="1700" kern="1200" dirty="0"/>
            <a:t>The price level in economy goes up.</a:t>
          </a:r>
        </a:p>
      </dsp:txBody>
      <dsp:txXfrm>
        <a:off x="1246721" y="3708915"/>
        <a:ext cx="2233457" cy="1340074"/>
      </dsp:txXfrm>
    </dsp:sp>
    <dsp:sp modelId="{A6EBC505-F8FA-498F-9233-EA8927B8CDC4}">
      <dsp:nvSpPr>
        <dsp:cNvPr id="0" name=""/>
        <dsp:cNvSpPr/>
      </dsp:nvSpPr>
      <dsp:spPr>
        <a:xfrm>
          <a:off x="3993874" y="3708915"/>
          <a:ext cx="2233457" cy="1340074"/>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NZ" sz="1700" kern="1200" dirty="0"/>
            <a:t>Real wages are unchanged</a:t>
          </a:r>
        </a:p>
      </dsp:txBody>
      <dsp:txXfrm>
        <a:off x="3993874" y="3708915"/>
        <a:ext cx="2233457" cy="13400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A4C81-1188-4D06-BE35-0D9D355F1429}">
      <dsp:nvSpPr>
        <dsp:cNvPr id="0" name=""/>
        <dsp:cNvSpPr/>
      </dsp:nvSpPr>
      <dsp:spPr>
        <a:xfrm>
          <a:off x="924493" y="3258"/>
          <a:ext cx="3545206" cy="2127124"/>
        </a:xfrm>
        <a:prstGeom prst="rect">
          <a:avLst/>
        </a:prstGeom>
        <a:solidFill>
          <a:schemeClr val="tx2">
            <a:lumMod val="20000"/>
            <a:lumOff val="8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An upswing in business cycle is often associated with rising inflation.</a:t>
          </a:r>
          <a:endParaRPr lang="en-NZ" sz="2400" kern="1200"/>
        </a:p>
      </dsp:txBody>
      <dsp:txXfrm>
        <a:off x="924493" y="3258"/>
        <a:ext cx="3545206" cy="2127124"/>
      </dsp:txXfrm>
    </dsp:sp>
    <dsp:sp modelId="{E9A43174-7FA8-420D-90BF-7C3BF275C822}">
      <dsp:nvSpPr>
        <dsp:cNvPr id="0" name=""/>
        <dsp:cNvSpPr/>
      </dsp:nvSpPr>
      <dsp:spPr>
        <a:xfrm>
          <a:off x="924493" y="2484903"/>
          <a:ext cx="3545206" cy="2127124"/>
        </a:xfrm>
        <a:prstGeom prst="rect">
          <a:avLst/>
        </a:prstGeom>
        <a:solidFill>
          <a:schemeClr val="tx2">
            <a:lumMod val="20000"/>
            <a:lumOff val="8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higher aggregate demand →  higher employment → higher wages → higher cost of production → higher prices</a:t>
          </a:r>
          <a:endParaRPr lang="en-NZ" sz="2400" kern="1200" dirty="0"/>
        </a:p>
      </dsp:txBody>
      <dsp:txXfrm>
        <a:off x="924493" y="2484903"/>
        <a:ext cx="3545206" cy="21271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2DF28C-3AC1-49B2-B3E5-97836304A086}">
      <dsp:nvSpPr>
        <dsp:cNvPr id="0" name=""/>
        <dsp:cNvSpPr/>
      </dsp:nvSpPr>
      <dsp:spPr>
        <a:xfrm>
          <a:off x="3962684" y="877706"/>
          <a:ext cx="676430" cy="91440"/>
        </a:xfrm>
        <a:custGeom>
          <a:avLst/>
          <a:gdLst/>
          <a:ahLst/>
          <a:cxnLst/>
          <a:rect l="0" t="0" r="0" b="0"/>
          <a:pathLst>
            <a:path>
              <a:moveTo>
                <a:pt x="0" y="45720"/>
              </a:moveTo>
              <a:lnTo>
                <a:pt x="676430"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4283224" y="919891"/>
        <a:ext cx="35351" cy="7070"/>
      </dsp:txXfrm>
    </dsp:sp>
    <dsp:sp modelId="{72D9F42C-8F03-4E69-916D-141B532F71B0}">
      <dsp:nvSpPr>
        <dsp:cNvPr id="0" name=""/>
        <dsp:cNvSpPr/>
      </dsp:nvSpPr>
      <dsp:spPr>
        <a:xfrm>
          <a:off x="890439" y="1212"/>
          <a:ext cx="3074044" cy="1844426"/>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Suppose economy experiences price and wage inflation, but the real wage (W/P) has not increased</a:t>
          </a:r>
          <a:endParaRPr lang="en-NZ" sz="2100" kern="1200" dirty="0"/>
        </a:p>
      </dsp:txBody>
      <dsp:txXfrm>
        <a:off x="890439" y="1212"/>
        <a:ext cx="3074044" cy="1844426"/>
      </dsp:txXfrm>
    </dsp:sp>
    <dsp:sp modelId="{8CEBF3B7-9D47-4774-92E2-2CF43A3D9AD4}">
      <dsp:nvSpPr>
        <dsp:cNvPr id="0" name=""/>
        <dsp:cNvSpPr/>
      </dsp:nvSpPr>
      <dsp:spPr>
        <a:xfrm>
          <a:off x="2427462" y="1843839"/>
          <a:ext cx="3781075" cy="676430"/>
        </a:xfrm>
        <a:custGeom>
          <a:avLst/>
          <a:gdLst/>
          <a:ahLst/>
          <a:cxnLst/>
          <a:rect l="0" t="0" r="0" b="0"/>
          <a:pathLst>
            <a:path>
              <a:moveTo>
                <a:pt x="3781075" y="0"/>
              </a:moveTo>
              <a:lnTo>
                <a:pt x="3781075" y="355315"/>
              </a:lnTo>
              <a:lnTo>
                <a:pt x="0" y="355315"/>
              </a:lnTo>
              <a:lnTo>
                <a:pt x="0" y="67643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4221834" y="2178519"/>
        <a:ext cx="192330" cy="7070"/>
      </dsp:txXfrm>
    </dsp:sp>
    <dsp:sp modelId="{FCA67D90-7451-44A0-B911-2C344DD79CB5}">
      <dsp:nvSpPr>
        <dsp:cNvPr id="0" name=""/>
        <dsp:cNvSpPr/>
      </dsp:nvSpPr>
      <dsp:spPr>
        <a:xfrm>
          <a:off x="4671515" y="1212"/>
          <a:ext cx="3074044" cy="1844426"/>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constant real wage means that employment stays high …</a:t>
          </a:r>
          <a:endParaRPr lang="en-NZ" sz="2100" kern="1200"/>
        </a:p>
      </dsp:txBody>
      <dsp:txXfrm>
        <a:off x="4671515" y="1212"/>
        <a:ext cx="3074044" cy="1844426"/>
      </dsp:txXfrm>
    </dsp:sp>
    <dsp:sp modelId="{30A79F90-6113-48BB-AFC7-FA2C36E38993}">
      <dsp:nvSpPr>
        <dsp:cNvPr id="0" name=""/>
        <dsp:cNvSpPr/>
      </dsp:nvSpPr>
      <dsp:spPr>
        <a:xfrm>
          <a:off x="890439" y="2552670"/>
          <a:ext cx="3074044" cy="1844426"/>
        </a:xfrm>
        <a:prstGeom prst="rect">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kern="1200" dirty="0"/>
            <a:t>wage-price spiral </a:t>
          </a:r>
          <a:r>
            <a:rPr lang="en-US" sz="2100" kern="1200" dirty="0"/>
            <a:t>occurs</a:t>
          </a:r>
          <a:endParaRPr lang="en-NZ" sz="2100" kern="1200" dirty="0"/>
        </a:p>
      </dsp:txBody>
      <dsp:txXfrm>
        <a:off x="890439" y="2552670"/>
        <a:ext cx="3074044" cy="184442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ED21A6-6EC1-4B79-8FEF-770FCDB53524}">
      <dsp:nvSpPr>
        <dsp:cNvPr id="0" name=""/>
        <dsp:cNvSpPr/>
      </dsp:nvSpPr>
      <dsp:spPr>
        <a:xfrm>
          <a:off x="0" y="0"/>
          <a:ext cx="5096732" cy="867886"/>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Trade-off between inflation and unemployment is not stable:</a:t>
          </a:r>
          <a:endParaRPr lang="en-NZ" sz="2000" kern="1200" dirty="0"/>
        </a:p>
      </dsp:txBody>
      <dsp:txXfrm>
        <a:off x="25420" y="25420"/>
        <a:ext cx="4058671" cy="817046"/>
      </dsp:txXfrm>
    </dsp:sp>
    <dsp:sp modelId="{962639C5-52CB-40F0-99A9-FF4870503B64}">
      <dsp:nvSpPr>
        <dsp:cNvPr id="0" name=""/>
        <dsp:cNvSpPr/>
      </dsp:nvSpPr>
      <dsp:spPr>
        <a:xfrm>
          <a:off x="380600" y="988426"/>
          <a:ext cx="5096732" cy="867886"/>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Phillips Curve shifts over time</a:t>
          </a:r>
          <a:endParaRPr lang="en-NZ" sz="2000" kern="1200"/>
        </a:p>
      </dsp:txBody>
      <dsp:txXfrm>
        <a:off x="406020" y="1013846"/>
        <a:ext cx="4101165" cy="817046"/>
      </dsp:txXfrm>
    </dsp:sp>
    <dsp:sp modelId="{3CBEF5EB-8646-44EB-B900-D6B9CCDE5EBE}">
      <dsp:nvSpPr>
        <dsp:cNvPr id="0" name=""/>
        <dsp:cNvSpPr/>
      </dsp:nvSpPr>
      <dsp:spPr>
        <a:xfrm>
          <a:off x="761200" y="1976852"/>
          <a:ext cx="5096732" cy="867886"/>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Keeping unemployment “too low” leads to higher prices </a:t>
          </a:r>
          <a:endParaRPr lang="en-NZ" sz="2000" kern="1200" dirty="0"/>
        </a:p>
      </dsp:txBody>
      <dsp:txXfrm>
        <a:off x="786620" y="2002272"/>
        <a:ext cx="4101165" cy="817046"/>
      </dsp:txXfrm>
    </dsp:sp>
    <dsp:sp modelId="{1A1258C7-3BB5-4E93-9DD5-2285E7445C0C}">
      <dsp:nvSpPr>
        <dsp:cNvPr id="0" name=""/>
        <dsp:cNvSpPr/>
      </dsp:nvSpPr>
      <dsp:spPr>
        <a:xfrm>
          <a:off x="1141800" y="2965279"/>
          <a:ext cx="5096732" cy="867886"/>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And hence rising inflation</a:t>
          </a:r>
          <a:endParaRPr lang="en-NZ" sz="2000" kern="1200" dirty="0"/>
        </a:p>
      </dsp:txBody>
      <dsp:txXfrm>
        <a:off x="1167220" y="2990699"/>
        <a:ext cx="4101165" cy="817046"/>
      </dsp:txXfrm>
    </dsp:sp>
    <dsp:sp modelId="{1FEB27A2-96D3-4508-AA67-8EB62A0FEF79}">
      <dsp:nvSpPr>
        <dsp:cNvPr id="0" name=""/>
        <dsp:cNvSpPr/>
      </dsp:nvSpPr>
      <dsp:spPr>
        <a:xfrm>
          <a:off x="1522400" y="3953705"/>
          <a:ext cx="5096732" cy="867886"/>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u="sng" kern="1200"/>
            <a:t>There is only one unemployment rate at which inflation is stable. </a:t>
          </a:r>
          <a:endParaRPr lang="en-NZ" sz="2000" kern="1200" dirty="0"/>
        </a:p>
      </dsp:txBody>
      <dsp:txXfrm>
        <a:off x="1547820" y="3979125"/>
        <a:ext cx="4101165" cy="817046"/>
      </dsp:txXfrm>
    </dsp:sp>
    <dsp:sp modelId="{17A50F0A-4956-4178-A084-82E55F99BD21}">
      <dsp:nvSpPr>
        <dsp:cNvPr id="0" name=""/>
        <dsp:cNvSpPr/>
      </dsp:nvSpPr>
      <dsp:spPr>
        <a:xfrm>
          <a:off x="4532606" y="634039"/>
          <a:ext cx="564126" cy="564126"/>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NZ" sz="2600" kern="1200"/>
        </a:p>
      </dsp:txBody>
      <dsp:txXfrm>
        <a:off x="4659534" y="634039"/>
        <a:ext cx="310270" cy="424505"/>
      </dsp:txXfrm>
    </dsp:sp>
    <dsp:sp modelId="{E8FCBC44-8499-44C4-A8E6-AEFB704B7EC1}">
      <dsp:nvSpPr>
        <dsp:cNvPr id="0" name=""/>
        <dsp:cNvSpPr/>
      </dsp:nvSpPr>
      <dsp:spPr>
        <a:xfrm>
          <a:off x="4913206" y="1622465"/>
          <a:ext cx="564126" cy="564126"/>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NZ" sz="2600" kern="1200"/>
        </a:p>
      </dsp:txBody>
      <dsp:txXfrm>
        <a:off x="5040134" y="1622465"/>
        <a:ext cx="310270" cy="424505"/>
      </dsp:txXfrm>
    </dsp:sp>
    <dsp:sp modelId="{7C12FA97-CA6C-4884-8143-1928E756B34B}">
      <dsp:nvSpPr>
        <dsp:cNvPr id="0" name=""/>
        <dsp:cNvSpPr/>
      </dsp:nvSpPr>
      <dsp:spPr>
        <a:xfrm>
          <a:off x="5293806" y="2596427"/>
          <a:ext cx="564126" cy="564126"/>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NZ" sz="2600" kern="1200"/>
        </a:p>
      </dsp:txBody>
      <dsp:txXfrm>
        <a:off x="5420734" y="2596427"/>
        <a:ext cx="310270" cy="424505"/>
      </dsp:txXfrm>
    </dsp:sp>
    <dsp:sp modelId="{756EAC78-9E64-446D-B80C-DC9B56A477D1}">
      <dsp:nvSpPr>
        <dsp:cNvPr id="0" name=""/>
        <dsp:cNvSpPr/>
      </dsp:nvSpPr>
      <dsp:spPr>
        <a:xfrm>
          <a:off x="5674406" y="3594496"/>
          <a:ext cx="564126" cy="564126"/>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NZ" sz="2600" kern="1200"/>
        </a:p>
      </dsp:txBody>
      <dsp:txXfrm>
        <a:off x="5801334" y="3594496"/>
        <a:ext cx="310270" cy="42450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7718D-BD99-45B2-8086-F2DD844E1512}">
      <dsp:nvSpPr>
        <dsp:cNvPr id="0" name=""/>
        <dsp:cNvSpPr/>
      </dsp:nvSpPr>
      <dsp:spPr>
        <a:xfrm>
          <a:off x="3587750" y="2150034"/>
          <a:ext cx="1963386" cy="681506"/>
        </a:xfrm>
        <a:custGeom>
          <a:avLst/>
          <a:gdLst/>
          <a:ahLst/>
          <a:cxnLst/>
          <a:rect l="0" t="0" r="0" b="0"/>
          <a:pathLst>
            <a:path>
              <a:moveTo>
                <a:pt x="0" y="0"/>
              </a:moveTo>
              <a:lnTo>
                <a:pt x="0" y="340753"/>
              </a:lnTo>
              <a:lnTo>
                <a:pt x="1963386" y="340753"/>
              </a:lnTo>
              <a:lnTo>
                <a:pt x="1963386" y="681506"/>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4C945B-5182-47F8-80FE-06C29FAF7718}">
      <dsp:nvSpPr>
        <dsp:cNvPr id="0" name=""/>
        <dsp:cNvSpPr/>
      </dsp:nvSpPr>
      <dsp:spPr>
        <a:xfrm>
          <a:off x="1624363" y="2150034"/>
          <a:ext cx="1963386" cy="681506"/>
        </a:xfrm>
        <a:custGeom>
          <a:avLst/>
          <a:gdLst/>
          <a:ahLst/>
          <a:cxnLst/>
          <a:rect l="0" t="0" r="0" b="0"/>
          <a:pathLst>
            <a:path>
              <a:moveTo>
                <a:pt x="1963386" y="0"/>
              </a:moveTo>
              <a:lnTo>
                <a:pt x="1963386" y="340753"/>
              </a:lnTo>
              <a:lnTo>
                <a:pt x="0" y="340753"/>
              </a:lnTo>
              <a:lnTo>
                <a:pt x="0" y="681506"/>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02373-ED0F-46D5-AE7B-B4E7BA891F12}">
      <dsp:nvSpPr>
        <dsp:cNvPr id="0" name=""/>
        <dsp:cNvSpPr/>
      </dsp:nvSpPr>
      <dsp:spPr>
        <a:xfrm>
          <a:off x="1965116" y="527400"/>
          <a:ext cx="3245267" cy="1622633"/>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GB" sz="2300" kern="1200" dirty="0"/>
            <a:t>The RBNZ has a dual remit for monetary policy:</a:t>
          </a:r>
          <a:endParaRPr lang="en-NZ" sz="2300" kern="1200" dirty="0"/>
        </a:p>
      </dsp:txBody>
      <dsp:txXfrm>
        <a:off x="1965116" y="527400"/>
        <a:ext cx="3245267" cy="1622633"/>
      </dsp:txXfrm>
    </dsp:sp>
    <dsp:sp modelId="{3A30CE9F-C19D-4D82-B2B3-60C30A79AB92}">
      <dsp:nvSpPr>
        <dsp:cNvPr id="0" name=""/>
        <dsp:cNvSpPr/>
      </dsp:nvSpPr>
      <dsp:spPr>
        <a:xfrm>
          <a:off x="1729" y="2831540"/>
          <a:ext cx="3245267" cy="1622633"/>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GB" sz="2300" kern="1200" dirty="0"/>
            <a:t>Maintain price stability (keep inflation between 1-3% over the medium term); and</a:t>
          </a:r>
          <a:endParaRPr lang="en-NZ" sz="2300" kern="1200" dirty="0"/>
        </a:p>
      </dsp:txBody>
      <dsp:txXfrm>
        <a:off x="1729" y="2831540"/>
        <a:ext cx="3245267" cy="1622633"/>
      </dsp:txXfrm>
    </dsp:sp>
    <dsp:sp modelId="{B5635B98-3A69-4074-9E9E-7CF82DE0CFB6}">
      <dsp:nvSpPr>
        <dsp:cNvPr id="0" name=""/>
        <dsp:cNvSpPr/>
      </dsp:nvSpPr>
      <dsp:spPr>
        <a:xfrm>
          <a:off x="3928503" y="2831540"/>
          <a:ext cx="3245267" cy="1622633"/>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GB" sz="2300" kern="1200" dirty="0"/>
            <a:t>Support maximum sustainable employment (no target level)</a:t>
          </a:r>
          <a:endParaRPr lang="en-NZ" sz="2300" kern="1200" dirty="0"/>
        </a:p>
      </dsp:txBody>
      <dsp:txXfrm>
        <a:off x="3928503" y="2831540"/>
        <a:ext cx="3245267" cy="162263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BBB4C-598F-4775-B0CF-656832379C49}">
      <dsp:nvSpPr>
        <dsp:cNvPr id="0" name=""/>
        <dsp:cNvSpPr/>
      </dsp:nvSpPr>
      <dsp:spPr>
        <a:xfrm>
          <a:off x="0" y="24011"/>
          <a:ext cx="7175500" cy="1539573"/>
        </a:xfrm>
        <a:prstGeom prst="roundRect">
          <a:avLst/>
        </a:prstGeom>
        <a:solidFill>
          <a:schemeClr val="tx2">
            <a:lumMod val="20000"/>
            <a:lumOff val="8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dirty="0"/>
            <a:t>Monetary policy is implemented by setting the </a:t>
          </a:r>
          <a:r>
            <a:rPr lang="en-GB" sz="2900" b="1" kern="1200" dirty="0"/>
            <a:t>Official Cash Rate (OCR)</a:t>
          </a:r>
          <a:endParaRPr lang="en-NZ" sz="2900" kern="1200" dirty="0"/>
        </a:p>
      </dsp:txBody>
      <dsp:txXfrm>
        <a:off x="75156" y="99167"/>
        <a:ext cx="7025188" cy="1389261"/>
      </dsp:txXfrm>
    </dsp:sp>
    <dsp:sp modelId="{8DD44FE1-6F6C-49C7-B58E-064E69B447C1}">
      <dsp:nvSpPr>
        <dsp:cNvPr id="0" name=""/>
        <dsp:cNvSpPr/>
      </dsp:nvSpPr>
      <dsp:spPr>
        <a:xfrm>
          <a:off x="0" y="1647105"/>
          <a:ext cx="7175500" cy="1539573"/>
        </a:xfrm>
        <a:prstGeom prst="roundRect">
          <a:avLst/>
        </a:prstGeom>
        <a:solidFill>
          <a:schemeClr val="tx2">
            <a:lumMod val="40000"/>
            <a:lumOff val="6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dirty="0"/>
            <a:t>The OCR is charged on Settlement Accounts Banks hold at the Reserve Bank</a:t>
          </a:r>
          <a:endParaRPr lang="en-NZ" sz="2900" kern="1200" dirty="0"/>
        </a:p>
      </dsp:txBody>
      <dsp:txXfrm>
        <a:off x="75156" y="1722261"/>
        <a:ext cx="7025188" cy="1389261"/>
      </dsp:txXfrm>
    </dsp:sp>
    <dsp:sp modelId="{5F01276D-E6D9-4730-87E1-2293CC3F4CCF}">
      <dsp:nvSpPr>
        <dsp:cNvPr id="0" name=""/>
        <dsp:cNvSpPr/>
      </dsp:nvSpPr>
      <dsp:spPr>
        <a:xfrm>
          <a:off x="0" y="3186678"/>
          <a:ext cx="7175500" cy="1770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822"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GB" sz="2300" kern="1200"/>
            <a:t>A Bank with a positive settlement balance is paid interest</a:t>
          </a:r>
          <a:endParaRPr lang="en-NZ" sz="2300" kern="1200"/>
        </a:p>
        <a:p>
          <a:pPr marL="228600" lvl="1" indent="-228600" algn="l" defTabSz="1022350">
            <a:lnSpc>
              <a:spcPct val="90000"/>
            </a:lnSpc>
            <a:spcBef>
              <a:spcPct val="0"/>
            </a:spcBef>
            <a:spcAft>
              <a:spcPct val="20000"/>
            </a:spcAft>
            <a:buChar char="•"/>
          </a:pPr>
          <a:r>
            <a:rPr lang="en-GB" sz="2300" kern="1200"/>
            <a:t>A Bank with a deficit in its settlement balance is charged interest</a:t>
          </a:r>
          <a:endParaRPr lang="en-NZ" sz="2300" kern="1200"/>
        </a:p>
        <a:p>
          <a:pPr marL="228600" lvl="1" indent="-228600" algn="l" defTabSz="1022350">
            <a:lnSpc>
              <a:spcPct val="90000"/>
            </a:lnSpc>
            <a:spcBef>
              <a:spcPct val="0"/>
            </a:spcBef>
            <a:spcAft>
              <a:spcPct val="20000"/>
            </a:spcAft>
            <a:buChar char="•"/>
          </a:pPr>
          <a:r>
            <a:rPr lang="en-GB" sz="2300" kern="1200"/>
            <a:t>Market interest rates are based on the OCR</a:t>
          </a:r>
          <a:endParaRPr lang="en-NZ" sz="2300" kern="1200"/>
        </a:p>
      </dsp:txBody>
      <dsp:txXfrm>
        <a:off x="0" y="3186678"/>
        <a:ext cx="7175500" cy="177088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AD850F-4659-4763-8EAB-EA000E66E400}">
      <dsp:nvSpPr>
        <dsp:cNvPr id="0" name=""/>
        <dsp:cNvSpPr/>
      </dsp:nvSpPr>
      <dsp:spPr>
        <a:xfrm>
          <a:off x="3216068" y="1110277"/>
          <a:ext cx="709163" cy="91440"/>
        </a:xfrm>
        <a:custGeom>
          <a:avLst/>
          <a:gdLst/>
          <a:ahLst/>
          <a:cxnLst/>
          <a:rect l="0" t="0" r="0" b="0"/>
          <a:pathLst>
            <a:path>
              <a:moveTo>
                <a:pt x="0" y="45720"/>
              </a:moveTo>
              <a:lnTo>
                <a:pt x="709163"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552155" y="1152298"/>
        <a:ext cx="36988" cy="7397"/>
      </dsp:txXfrm>
    </dsp:sp>
    <dsp:sp modelId="{F78C1733-BD8A-4258-A09F-C1B5F5BB5473}">
      <dsp:nvSpPr>
        <dsp:cNvPr id="0" name=""/>
        <dsp:cNvSpPr/>
      </dsp:nvSpPr>
      <dsp:spPr>
        <a:xfrm>
          <a:off x="1506" y="191088"/>
          <a:ext cx="3216361" cy="1929817"/>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dirty="0"/>
            <a:t>Choose the desired level of aggregate demand, based on the labour market equilibrium and the Phillips curve</a:t>
          </a:r>
          <a:endParaRPr lang="en-NZ" sz="2000" kern="1200" dirty="0"/>
        </a:p>
      </dsp:txBody>
      <dsp:txXfrm>
        <a:off x="1506" y="191088"/>
        <a:ext cx="3216361" cy="1929817"/>
      </dsp:txXfrm>
    </dsp:sp>
    <dsp:sp modelId="{1714467E-9228-46B3-B6FF-9049A50E820A}">
      <dsp:nvSpPr>
        <dsp:cNvPr id="0" name=""/>
        <dsp:cNvSpPr/>
      </dsp:nvSpPr>
      <dsp:spPr>
        <a:xfrm>
          <a:off x="1609687" y="2119105"/>
          <a:ext cx="3956125" cy="709163"/>
        </a:xfrm>
        <a:custGeom>
          <a:avLst/>
          <a:gdLst/>
          <a:ahLst/>
          <a:cxnLst/>
          <a:rect l="0" t="0" r="0" b="0"/>
          <a:pathLst>
            <a:path>
              <a:moveTo>
                <a:pt x="3956125" y="0"/>
              </a:moveTo>
              <a:lnTo>
                <a:pt x="3956125" y="371681"/>
              </a:lnTo>
              <a:lnTo>
                <a:pt x="0" y="371681"/>
              </a:lnTo>
              <a:lnTo>
                <a:pt x="0" y="709163"/>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487132" y="2469988"/>
        <a:ext cx="201234" cy="7397"/>
      </dsp:txXfrm>
    </dsp:sp>
    <dsp:sp modelId="{6788149B-EAE8-47DC-A4DD-0BF37B136E9C}">
      <dsp:nvSpPr>
        <dsp:cNvPr id="0" name=""/>
        <dsp:cNvSpPr/>
      </dsp:nvSpPr>
      <dsp:spPr>
        <a:xfrm>
          <a:off x="3957631" y="191088"/>
          <a:ext cx="3216361" cy="1929817"/>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dirty="0"/>
            <a:t>Estimate the </a:t>
          </a:r>
          <a:r>
            <a:rPr lang="en-GB" sz="2000" kern="1200" dirty="0">
              <a:solidFill>
                <a:srgbClr val="FF0000"/>
              </a:solidFill>
            </a:rPr>
            <a:t>real interest rate</a:t>
          </a:r>
          <a:r>
            <a:rPr lang="en-GB" sz="2000" kern="1200" dirty="0"/>
            <a:t>, which will produce this level of aggregate demand (using the multiplier model)</a:t>
          </a:r>
          <a:endParaRPr lang="en-NZ" sz="2000" kern="1200" dirty="0"/>
        </a:p>
      </dsp:txBody>
      <dsp:txXfrm>
        <a:off x="3957631" y="191088"/>
        <a:ext cx="3216361" cy="1929817"/>
      </dsp:txXfrm>
    </dsp:sp>
    <dsp:sp modelId="{B46B2422-9602-457C-9BC5-017BAEF34540}">
      <dsp:nvSpPr>
        <dsp:cNvPr id="0" name=""/>
        <dsp:cNvSpPr/>
      </dsp:nvSpPr>
      <dsp:spPr>
        <a:xfrm>
          <a:off x="1506" y="2860669"/>
          <a:ext cx="3216361" cy="1929817"/>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dirty="0"/>
            <a:t>Calculate the </a:t>
          </a:r>
          <a:r>
            <a:rPr lang="en-GB" sz="2000" b="0" kern="1200" dirty="0">
              <a:solidFill>
                <a:srgbClr val="FF0000"/>
              </a:solidFill>
            </a:rPr>
            <a:t>nominal policy rate</a:t>
          </a:r>
          <a:r>
            <a:rPr lang="en-GB" sz="2000" b="1" kern="1200" dirty="0"/>
            <a:t> </a:t>
          </a:r>
          <a:r>
            <a:rPr lang="en-GB" sz="2000" kern="1200" dirty="0"/>
            <a:t>that will produce the appropriate </a:t>
          </a:r>
          <a:r>
            <a:rPr lang="en-GB" sz="2000" b="0" kern="1200" dirty="0">
              <a:solidFill>
                <a:srgbClr val="FF0000"/>
              </a:solidFill>
            </a:rPr>
            <a:t>market interest rate</a:t>
          </a:r>
          <a:r>
            <a:rPr lang="en-GB" sz="2000" b="1" kern="1200" dirty="0"/>
            <a:t>.</a:t>
          </a:r>
          <a:endParaRPr lang="en-NZ" sz="2000" kern="1200" dirty="0"/>
        </a:p>
      </dsp:txBody>
      <dsp:txXfrm>
        <a:off x="1506" y="2860669"/>
        <a:ext cx="3216361" cy="192981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BA0B2-20F1-476F-86CC-86E3EEE31F7E}">
      <dsp:nvSpPr>
        <dsp:cNvPr id="0" name=""/>
        <dsp:cNvSpPr/>
      </dsp:nvSpPr>
      <dsp:spPr>
        <a:xfrm>
          <a:off x="3216068" y="1110277"/>
          <a:ext cx="709163" cy="91440"/>
        </a:xfrm>
        <a:custGeom>
          <a:avLst/>
          <a:gdLst/>
          <a:ahLst/>
          <a:cxnLst/>
          <a:rect l="0" t="0" r="0" b="0"/>
          <a:pathLst>
            <a:path>
              <a:moveTo>
                <a:pt x="0" y="45720"/>
              </a:moveTo>
              <a:lnTo>
                <a:pt x="709163"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552155" y="1152298"/>
        <a:ext cx="36988" cy="7397"/>
      </dsp:txXfrm>
    </dsp:sp>
    <dsp:sp modelId="{43C9B65D-DDF2-428A-9BF7-7379D5EC90FB}">
      <dsp:nvSpPr>
        <dsp:cNvPr id="0" name=""/>
        <dsp:cNvSpPr/>
      </dsp:nvSpPr>
      <dsp:spPr>
        <a:xfrm>
          <a:off x="1506" y="191088"/>
          <a:ext cx="3216361" cy="1929817"/>
        </a:xfrm>
        <a:prstGeom prst="rect">
          <a:avLst/>
        </a:prstGeom>
        <a:solidFill>
          <a:schemeClr val="tx2">
            <a:lumMod val="20000"/>
            <a:lumOff val="8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GB" sz="2300" kern="1200" dirty="0"/>
            <a:t>A change in the policy rate has a ripple effect through all the interest rates in the economy. </a:t>
          </a:r>
          <a:endParaRPr lang="en-NZ" sz="2300" kern="1200" dirty="0"/>
        </a:p>
      </dsp:txBody>
      <dsp:txXfrm>
        <a:off x="1506" y="191088"/>
        <a:ext cx="3216361" cy="1929817"/>
      </dsp:txXfrm>
    </dsp:sp>
    <dsp:sp modelId="{5E2F9605-AE95-479D-87B2-3E8B65765DA4}">
      <dsp:nvSpPr>
        <dsp:cNvPr id="0" name=""/>
        <dsp:cNvSpPr/>
      </dsp:nvSpPr>
      <dsp:spPr>
        <a:xfrm>
          <a:off x="1609687" y="2119105"/>
          <a:ext cx="3956125" cy="709163"/>
        </a:xfrm>
        <a:custGeom>
          <a:avLst/>
          <a:gdLst/>
          <a:ahLst/>
          <a:cxnLst/>
          <a:rect l="0" t="0" r="0" b="0"/>
          <a:pathLst>
            <a:path>
              <a:moveTo>
                <a:pt x="3956125" y="0"/>
              </a:moveTo>
              <a:lnTo>
                <a:pt x="3956125" y="371681"/>
              </a:lnTo>
              <a:lnTo>
                <a:pt x="0" y="371681"/>
              </a:lnTo>
              <a:lnTo>
                <a:pt x="0" y="709163"/>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487132" y="2469988"/>
        <a:ext cx="201234" cy="7397"/>
      </dsp:txXfrm>
    </dsp:sp>
    <dsp:sp modelId="{0360A879-9D57-4558-B265-4EE9F21AA54F}">
      <dsp:nvSpPr>
        <dsp:cNvPr id="0" name=""/>
        <dsp:cNvSpPr/>
      </dsp:nvSpPr>
      <dsp:spPr>
        <a:xfrm>
          <a:off x="3957631" y="191088"/>
          <a:ext cx="3216361" cy="1929817"/>
        </a:xfrm>
        <a:prstGeom prst="rect">
          <a:avLst/>
        </a:prstGeom>
        <a:solidFill>
          <a:schemeClr val="tx2">
            <a:lumMod val="20000"/>
            <a:lumOff val="8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GB" sz="2300" b="0" kern="1200" dirty="0"/>
            <a:t>When the interest rate goes down, the price of assets goes up. </a:t>
          </a:r>
          <a:endParaRPr lang="en-NZ" sz="2300" b="0" kern="1200" dirty="0"/>
        </a:p>
      </dsp:txBody>
      <dsp:txXfrm>
        <a:off x="3957631" y="191088"/>
        <a:ext cx="3216361" cy="1929817"/>
      </dsp:txXfrm>
    </dsp:sp>
    <dsp:sp modelId="{73F08AD8-D47D-4D28-8439-A018D2DEF70E}">
      <dsp:nvSpPr>
        <dsp:cNvPr id="0" name=""/>
        <dsp:cNvSpPr/>
      </dsp:nvSpPr>
      <dsp:spPr>
        <a:xfrm>
          <a:off x="1506" y="2860669"/>
          <a:ext cx="3216361" cy="1929817"/>
        </a:xfrm>
        <a:prstGeom prst="rect">
          <a:avLst/>
        </a:prstGeom>
        <a:solidFill>
          <a:schemeClr val="tx2">
            <a:lumMod val="20000"/>
            <a:lumOff val="8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GB" sz="2300" kern="1200"/>
            <a:t>Households who own assets will be wealthier, which will increase their consumption.</a:t>
          </a:r>
          <a:endParaRPr lang="en-NZ" sz="2300" kern="1200"/>
        </a:p>
      </dsp:txBody>
      <dsp:txXfrm>
        <a:off x="1506" y="2860669"/>
        <a:ext cx="3216361" cy="192981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577AA-0367-41FF-B225-3B86275DE938}">
      <dsp:nvSpPr>
        <dsp:cNvPr id="0" name=""/>
        <dsp:cNvSpPr/>
      </dsp:nvSpPr>
      <dsp:spPr>
        <a:xfrm>
          <a:off x="3216068" y="1110277"/>
          <a:ext cx="709163" cy="91440"/>
        </a:xfrm>
        <a:custGeom>
          <a:avLst/>
          <a:gdLst/>
          <a:ahLst/>
          <a:cxnLst/>
          <a:rect l="0" t="0" r="0" b="0"/>
          <a:pathLst>
            <a:path>
              <a:moveTo>
                <a:pt x="0" y="45720"/>
              </a:moveTo>
              <a:lnTo>
                <a:pt x="709163"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552155" y="1152298"/>
        <a:ext cx="36988" cy="7397"/>
      </dsp:txXfrm>
    </dsp:sp>
    <dsp:sp modelId="{B0D9E167-57AF-4194-A84F-88FEC6004455}">
      <dsp:nvSpPr>
        <dsp:cNvPr id="0" name=""/>
        <dsp:cNvSpPr/>
      </dsp:nvSpPr>
      <dsp:spPr>
        <a:xfrm>
          <a:off x="1506" y="191088"/>
          <a:ext cx="3216361" cy="1929817"/>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b="0" kern="1200" dirty="0"/>
            <a:t>Consistent policymaking and good communication with the public </a:t>
          </a:r>
          <a:r>
            <a:rPr lang="en-GB" sz="2000" kern="1200" dirty="0"/>
            <a:t>builds confidence in the Central Bank. </a:t>
          </a:r>
          <a:endParaRPr lang="en-NZ" sz="2000" kern="1200" dirty="0"/>
        </a:p>
      </dsp:txBody>
      <dsp:txXfrm>
        <a:off x="1506" y="191088"/>
        <a:ext cx="3216361" cy="1929817"/>
      </dsp:txXfrm>
    </dsp:sp>
    <dsp:sp modelId="{8AEE448F-B43C-4970-B6CB-F9BA4668E445}">
      <dsp:nvSpPr>
        <dsp:cNvPr id="0" name=""/>
        <dsp:cNvSpPr/>
      </dsp:nvSpPr>
      <dsp:spPr>
        <a:xfrm>
          <a:off x="1609687" y="2119105"/>
          <a:ext cx="3956125" cy="709163"/>
        </a:xfrm>
        <a:custGeom>
          <a:avLst/>
          <a:gdLst/>
          <a:ahLst/>
          <a:cxnLst/>
          <a:rect l="0" t="0" r="0" b="0"/>
          <a:pathLst>
            <a:path>
              <a:moveTo>
                <a:pt x="3956125" y="0"/>
              </a:moveTo>
              <a:lnTo>
                <a:pt x="3956125" y="371681"/>
              </a:lnTo>
              <a:lnTo>
                <a:pt x="0" y="371681"/>
              </a:lnTo>
              <a:lnTo>
                <a:pt x="0" y="709163"/>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Z" sz="500" kern="1200"/>
        </a:p>
      </dsp:txBody>
      <dsp:txXfrm>
        <a:off x="3487132" y="2469988"/>
        <a:ext cx="201234" cy="7397"/>
      </dsp:txXfrm>
    </dsp:sp>
    <dsp:sp modelId="{9C9142DF-3202-4CB3-8EEB-030E477196B6}">
      <dsp:nvSpPr>
        <dsp:cNvPr id="0" name=""/>
        <dsp:cNvSpPr/>
      </dsp:nvSpPr>
      <dsp:spPr>
        <a:xfrm>
          <a:off x="3957631" y="191088"/>
          <a:ext cx="3216361" cy="1929817"/>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a:t>This can lead firms to expect higher demand and therefore increase investment. </a:t>
          </a:r>
          <a:endParaRPr lang="en-NZ" sz="2000" kern="1200"/>
        </a:p>
      </dsp:txBody>
      <dsp:txXfrm>
        <a:off x="3957631" y="191088"/>
        <a:ext cx="3216361" cy="1929817"/>
      </dsp:txXfrm>
    </dsp:sp>
    <dsp:sp modelId="{B9E8195F-5B6A-483F-B35C-BB6B14A47E1B}">
      <dsp:nvSpPr>
        <dsp:cNvPr id="0" name=""/>
        <dsp:cNvSpPr/>
      </dsp:nvSpPr>
      <dsp:spPr>
        <a:xfrm>
          <a:off x="1506" y="2860669"/>
          <a:ext cx="3216361" cy="1929817"/>
        </a:xfrm>
        <a:prstGeom prst="rect">
          <a:avLst/>
        </a:prstGeom>
        <a:solidFill>
          <a:schemeClr val="tx2">
            <a:lumMod val="20000"/>
            <a:lumOff val="8000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a:t>Households may be confident that they will not lose their jobs, and they may increase their consumption.</a:t>
          </a:r>
          <a:endParaRPr lang="en-NZ" sz="2000" kern="1200"/>
        </a:p>
      </dsp:txBody>
      <dsp:txXfrm>
        <a:off x="1506" y="2860669"/>
        <a:ext cx="3216361" cy="19298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368EB-10BC-4B12-82CF-B6AB3CAE0D90}">
      <dsp:nvSpPr>
        <dsp:cNvPr id="0" name=""/>
        <dsp:cNvSpPr/>
      </dsp:nvSpPr>
      <dsp:spPr>
        <a:xfrm>
          <a:off x="2378" y="384381"/>
          <a:ext cx="7170743" cy="1792685"/>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r>
            <a:rPr lang="en-GB" sz="3700" kern="1200" dirty="0"/>
            <a:t>The short-term nominal interest rate (policy rate) cannot go below zero (</a:t>
          </a:r>
          <a:r>
            <a:rPr lang="en-GB" sz="3700" b="0" kern="1200" dirty="0">
              <a:solidFill>
                <a:srgbClr val="FF0000"/>
              </a:solidFill>
            </a:rPr>
            <a:t>zero lower bound</a:t>
          </a:r>
          <a:r>
            <a:rPr lang="en-GB" sz="3700" kern="1200" dirty="0"/>
            <a:t>)</a:t>
          </a:r>
          <a:endParaRPr lang="en-NZ" sz="3700" kern="1200" dirty="0"/>
        </a:p>
      </dsp:txBody>
      <dsp:txXfrm>
        <a:off x="54884" y="436887"/>
        <a:ext cx="7065731" cy="1687673"/>
      </dsp:txXfrm>
    </dsp:sp>
    <dsp:sp modelId="{DCFE6F22-66E0-4818-B3A4-2FF859B4D8BE}">
      <dsp:nvSpPr>
        <dsp:cNvPr id="0" name=""/>
        <dsp:cNvSpPr/>
      </dsp:nvSpPr>
      <dsp:spPr>
        <a:xfrm rot="5400000">
          <a:off x="3430889" y="2333927"/>
          <a:ext cx="313720" cy="313720"/>
        </a:xfrm>
        <a:prstGeom prst="rightArrow">
          <a:avLst>
            <a:gd name="adj1" fmla="val 667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1684B0-7186-4C7A-AA48-DBEC1B71E7D5}">
      <dsp:nvSpPr>
        <dsp:cNvPr id="0" name=""/>
        <dsp:cNvSpPr/>
      </dsp:nvSpPr>
      <dsp:spPr>
        <a:xfrm>
          <a:off x="2378" y="2804507"/>
          <a:ext cx="7170743" cy="1792685"/>
        </a:xfrm>
        <a:prstGeom prst="roundRect">
          <a:avLst>
            <a:gd name="adj" fmla="val 10000"/>
          </a:avLst>
        </a:prstGeom>
        <a:solidFill>
          <a:schemeClr val="tx2">
            <a:lumMod val="20000"/>
            <a:lumOff val="80000"/>
            <a:alpha val="9000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GB" sz="3000" kern="1200"/>
            <a:t>when the economy is in a slump, a nominal interest rate of zero may not be low enough to stabilize the economy</a:t>
          </a:r>
          <a:endParaRPr lang="en-NZ" sz="3000" kern="1200"/>
        </a:p>
      </dsp:txBody>
      <dsp:txXfrm>
        <a:off x="54884" y="2857013"/>
        <a:ext cx="7065731" cy="168767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5A7334-4DAF-43DF-AD41-D308DA66BEDF}">
      <dsp:nvSpPr>
        <dsp:cNvPr id="0" name=""/>
        <dsp:cNvSpPr/>
      </dsp:nvSpPr>
      <dsp:spPr>
        <a:xfrm>
          <a:off x="1062786" y="613"/>
          <a:ext cx="3616414" cy="2009119"/>
        </a:xfrm>
        <a:prstGeom prst="roundRect">
          <a:avLst>
            <a:gd name="adj" fmla="val 10000"/>
          </a:avLst>
        </a:prstGeom>
        <a:solidFill>
          <a:schemeClr val="accent1">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Countries that belong to a common currency area (or currency union) cannot set their own monetary policy.</a:t>
          </a:r>
          <a:endParaRPr lang="en-NZ" sz="2500" kern="1200" dirty="0"/>
        </a:p>
      </dsp:txBody>
      <dsp:txXfrm>
        <a:off x="1121631" y="59458"/>
        <a:ext cx="3498724" cy="1891429"/>
      </dsp:txXfrm>
    </dsp:sp>
    <dsp:sp modelId="{E2B043CC-4F3F-40D1-8340-75C396B38D27}">
      <dsp:nvSpPr>
        <dsp:cNvPr id="0" name=""/>
        <dsp:cNvSpPr/>
      </dsp:nvSpPr>
      <dsp:spPr>
        <a:xfrm rot="5400000">
          <a:off x="2494284" y="2059960"/>
          <a:ext cx="753419" cy="904103"/>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NZ" sz="2000" kern="1200"/>
        </a:p>
      </dsp:txBody>
      <dsp:txXfrm rot="-5400000">
        <a:off x="2599763" y="2135302"/>
        <a:ext cx="542461" cy="527393"/>
      </dsp:txXfrm>
    </dsp:sp>
    <dsp:sp modelId="{18F7329E-243C-4D2B-B1B1-C7C49EC76D4C}">
      <dsp:nvSpPr>
        <dsp:cNvPr id="0" name=""/>
        <dsp:cNvSpPr/>
      </dsp:nvSpPr>
      <dsp:spPr>
        <a:xfrm>
          <a:off x="1062786" y="3014292"/>
          <a:ext cx="3616414" cy="2009119"/>
        </a:xfrm>
        <a:prstGeom prst="roundRect">
          <a:avLst>
            <a:gd name="adj" fmla="val 10000"/>
          </a:avLst>
        </a:prstGeom>
        <a:solidFill>
          <a:schemeClr val="accent1">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E.g. The European Central Bank sets the policy interest rate for all countries in the Eurozone. </a:t>
          </a:r>
          <a:endParaRPr lang="en-NZ" sz="2500" kern="1200"/>
        </a:p>
      </dsp:txBody>
      <dsp:txXfrm>
        <a:off x="1121631" y="3073137"/>
        <a:ext cx="3498724" cy="189142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C42A8-EF8E-4C4C-86B8-74B05F166700}">
      <dsp:nvSpPr>
        <dsp:cNvPr id="0" name=""/>
        <dsp:cNvSpPr/>
      </dsp:nvSpPr>
      <dsp:spPr>
        <a:xfrm>
          <a:off x="0" y="0"/>
          <a:ext cx="5525135" cy="896683"/>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NZ" sz="1900" kern="1200"/>
            <a:t>Suppose someone in Sydney wants to buy 1 USD. </a:t>
          </a:r>
        </a:p>
      </dsp:txBody>
      <dsp:txXfrm>
        <a:off x="26263" y="26263"/>
        <a:ext cx="4452631" cy="844157"/>
      </dsp:txXfrm>
    </dsp:sp>
    <dsp:sp modelId="{EA014C7F-B006-47B1-9230-AE2B5A64C02C}">
      <dsp:nvSpPr>
        <dsp:cNvPr id="0" name=""/>
        <dsp:cNvSpPr/>
      </dsp:nvSpPr>
      <dsp:spPr>
        <a:xfrm>
          <a:off x="412591" y="1021222"/>
          <a:ext cx="5525135" cy="896683"/>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NZ" sz="1900" kern="1200"/>
            <a:t>They need 1.2 AUD to buy this.</a:t>
          </a:r>
        </a:p>
      </dsp:txBody>
      <dsp:txXfrm>
        <a:off x="438854" y="1047485"/>
        <a:ext cx="4477173" cy="844157"/>
      </dsp:txXfrm>
    </dsp:sp>
    <dsp:sp modelId="{9D130E20-9E54-486D-8D29-6A23EC4C6BFD}">
      <dsp:nvSpPr>
        <dsp:cNvPr id="0" name=""/>
        <dsp:cNvSpPr/>
      </dsp:nvSpPr>
      <dsp:spPr>
        <a:xfrm>
          <a:off x="825182" y="2042445"/>
          <a:ext cx="5525135" cy="896683"/>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NZ" sz="1900" kern="1200" dirty="0"/>
            <a:t>The exchange rate is 1.2/1 or 1.2 </a:t>
          </a:r>
        </a:p>
      </dsp:txBody>
      <dsp:txXfrm>
        <a:off x="851445" y="2068708"/>
        <a:ext cx="4477173" cy="844157"/>
      </dsp:txXfrm>
    </dsp:sp>
    <dsp:sp modelId="{CCC3BD30-26FE-47CA-945E-D5D7C6226173}">
      <dsp:nvSpPr>
        <dsp:cNvPr id="0" name=""/>
        <dsp:cNvSpPr/>
      </dsp:nvSpPr>
      <dsp:spPr>
        <a:xfrm>
          <a:off x="1237773" y="3063668"/>
          <a:ext cx="5525135" cy="896683"/>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NZ" sz="1900" kern="1200"/>
            <a:t>If the ‘price’ of foreign exchange rises, the currency has depreciated.</a:t>
          </a:r>
        </a:p>
      </dsp:txBody>
      <dsp:txXfrm>
        <a:off x="1264036" y="3089931"/>
        <a:ext cx="4477173" cy="844157"/>
      </dsp:txXfrm>
    </dsp:sp>
    <dsp:sp modelId="{B96F9B5A-346B-4436-8D09-232198FB5831}">
      <dsp:nvSpPr>
        <dsp:cNvPr id="0" name=""/>
        <dsp:cNvSpPr/>
      </dsp:nvSpPr>
      <dsp:spPr>
        <a:xfrm>
          <a:off x="1650365" y="4084891"/>
          <a:ext cx="5525135" cy="896683"/>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NZ" sz="1900" kern="1200" dirty="0"/>
            <a:t>If the ‘price’ of foreign exchange falls, the home currency has appreciated.</a:t>
          </a:r>
        </a:p>
      </dsp:txBody>
      <dsp:txXfrm>
        <a:off x="1676628" y="4111154"/>
        <a:ext cx="4477173" cy="844157"/>
      </dsp:txXfrm>
    </dsp:sp>
    <dsp:sp modelId="{D5C6812B-143E-4897-B545-6FA2AB768133}">
      <dsp:nvSpPr>
        <dsp:cNvPr id="0" name=""/>
        <dsp:cNvSpPr/>
      </dsp:nvSpPr>
      <dsp:spPr>
        <a:xfrm>
          <a:off x="4942290" y="655077"/>
          <a:ext cx="582844" cy="582844"/>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NZ" sz="2700" kern="1200"/>
        </a:p>
      </dsp:txBody>
      <dsp:txXfrm>
        <a:off x="5073430" y="655077"/>
        <a:ext cx="320564" cy="438590"/>
      </dsp:txXfrm>
    </dsp:sp>
    <dsp:sp modelId="{E9749F56-F537-4FF6-99AB-A1F7161F4CB1}">
      <dsp:nvSpPr>
        <dsp:cNvPr id="0" name=""/>
        <dsp:cNvSpPr/>
      </dsp:nvSpPr>
      <dsp:spPr>
        <a:xfrm>
          <a:off x="5354881" y="1676299"/>
          <a:ext cx="582844" cy="582844"/>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NZ" sz="2700" kern="1200"/>
        </a:p>
      </dsp:txBody>
      <dsp:txXfrm>
        <a:off x="5486021" y="1676299"/>
        <a:ext cx="320564" cy="438590"/>
      </dsp:txXfrm>
    </dsp:sp>
    <dsp:sp modelId="{EDBDF69B-6F06-44CB-A03A-C9514A9C3BC4}">
      <dsp:nvSpPr>
        <dsp:cNvPr id="0" name=""/>
        <dsp:cNvSpPr/>
      </dsp:nvSpPr>
      <dsp:spPr>
        <a:xfrm>
          <a:off x="5767473" y="2682578"/>
          <a:ext cx="582844" cy="582844"/>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NZ" sz="2700" kern="1200"/>
        </a:p>
      </dsp:txBody>
      <dsp:txXfrm>
        <a:off x="5898613" y="2682578"/>
        <a:ext cx="320564" cy="438590"/>
      </dsp:txXfrm>
    </dsp:sp>
    <dsp:sp modelId="{F7154BD7-B250-439A-8AB3-AF76AD22A3FD}">
      <dsp:nvSpPr>
        <dsp:cNvPr id="0" name=""/>
        <dsp:cNvSpPr/>
      </dsp:nvSpPr>
      <dsp:spPr>
        <a:xfrm>
          <a:off x="6180064" y="3713764"/>
          <a:ext cx="582844" cy="582844"/>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NZ" sz="2700" kern="1200"/>
        </a:p>
      </dsp:txBody>
      <dsp:txXfrm>
        <a:off x="6311204" y="3713764"/>
        <a:ext cx="320564" cy="43859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F02F7-6B42-4514-80A0-66A08434C460}">
      <dsp:nvSpPr>
        <dsp:cNvPr id="0" name=""/>
        <dsp:cNvSpPr/>
      </dsp:nvSpPr>
      <dsp:spPr>
        <a:xfrm>
          <a:off x="0" y="0"/>
          <a:ext cx="6099175" cy="1494472"/>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Interest rates affect demand for home currency in the foreign exchange market, so affects the exchange rate</a:t>
          </a:r>
          <a:endParaRPr lang="en-NZ" sz="2200" kern="1200"/>
        </a:p>
      </dsp:txBody>
      <dsp:txXfrm>
        <a:off x="43772" y="43772"/>
        <a:ext cx="4486521" cy="1406928"/>
      </dsp:txXfrm>
    </dsp:sp>
    <dsp:sp modelId="{BAF27AB9-963A-4E17-AB1F-F1A73D07DA2A}">
      <dsp:nvSpPr>
        <dsp:cNvPr id="0" name=""/>
        <dsp:cNvSpPr/>
      </dsp:nvSpPr>
      <dsp:spPr>
        <a:xfrm>
          <a:off x="538162" y="1743551"/>
          <a:ext cx="6099175" cy="1494472"/>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exchange rate affects relative demand for home-produced goods, so affects net exports. </a:t>
          </a:r>
          <a:endParaRPr lang="en-NZ" sz="2200" kern="1200"/>
        </a:p>
      </dsp:txBody>
      <dsp:txXfrm>
        <a:off x="581934" y="1787323"/>
        <a:ext cx="4502061" cy="1406928"/>
      </dsp:txXfrm>
    </dsp:sp>
    <dsp:sp modelId="{F2776E48-709E-4044-BB4B-A7D32B2656DA}">
      <dsp:nvSpPr>
        <dsp:cNvPr id="0" name=""/>
        <dsp:cNvSpPr/>
      </dsp:nvSpPr>
      <dsp:spPr>
        <a:xfrm>
          <a:off x="1076325" y="3487102"/>
          <a:ext cx="6099175" cy="1494472"/>
        </a:xfrm>
        <a:prstGeom prst="roundRect">
          <a:avLst>
            <a:gd name="adj" fmla="val 10000"/>
          </a:avLst>
        </a:prstGeom>
        <a:solidFill>
          <a:schemeClr val="tx2">
            <a:lumMod val="20000"/>
            <a:lumOff val="8000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Therefore, interest rates affect aggregate demand through the market for financial assets. </a:t>
          </a:r>
          <a:endParaRPr lang="en-NZ" sz="2200" kern="1200"/>
        </a:p>
      </dsp:txBody>
      <dsp:txXfrm>
        <a:off x="1120097" y="3530874"/>
        <a:ext cx="4502061" cy="1406928"/>
      </dsp:txXfrm>
    </dsp:sp>
    <dsp:sp modelId="{B37516AA-D733-484D-9AC2-7FA86A1ED7F2}">
      <dsp:nvSpPr>
        <dsp:cNvPr id="0" name=""/>
        <dsp:cNvSpPr/>
      </dsp:nvSpPr>
      <dsp:spPr>
        <a:xfrm>
          <a:off x="5127767" y="1133308"/>
          <a:ext cx="971407" cy="971407"/>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NZ" sz="3600" kern="1200"/>
        </a:p>
      </dsp:txBody>
      <dsp:txXfrm>
        <a:off x="5346334" y="1133308"/>
        <a:ext cx="534273" cy="730984"/>
      </dsp:txXfrm>
    </dsp:sp>
    <dsp:sp modelId="{D3C84946-3416-49FA-809D-BFBFE96B8C31}">
      <dsp:nvSpPr>
        <dsp:cNvPr id="0" name=""/>
        <dsp:cNvSpPr/>
      </dsp:nvSpPr>
      <dsp:spPr>
        <a:xfrm>
          <a:off x="5665930" y="2866896"/>
          <a:ext cx="971407" cy="971407"/>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NZ" sz="3600" kern="1200"/>
        </a:p>
      </dsp:txBody>
      <dsp:txXfrm>
        <a:off x="5884497" y="2866896"/>
        <a:ext cx="534273" cy="7309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3B5F6C-7147-4370-8AA3-64F41DDFD91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2C330640-1F0F-4FD2-8E0F-D61F3EB9CF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76A23-F64E-410E-9933-5CF80C92A90C}" type="datetimeFigureOut">
              <a:rPr lang="en-ID" smtClean="0"/>
              <a:t>31/07/25</a:t>
            </a:fld>
            <a:endParaRPr lang="en-ID"/>
          </a:p>
        </p:txBody>
      </p:sp>
      <p:sp>
        <p:nvSpPr>
          <p:cNvPr id="4" name="Footer Placeholder 3">
            <a:extLst>
              <a:ext uri="{FF2B5EF4-FFF2-40B4-BE49-F238E27FC236}">
                <a16:creationId xmlns:a16="http://schemas.microsoft.com/office/drawing/2014/main" id="{76F83D6D-9183-40AA-8D07-E195A3312C5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9AFB6699-E673-4492-8D3D-8CF2AFF95C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8317EE-0622-4866-8D18-25CE03D27526}" type="slidenum">
              <a:rPr lang="en-ID" smtClean="0"/>
              <a:t>‹#›</a:t>
            </a:fld>
            <a:endParaRPr lang="en-ID"/>
          </a:p>
        </p:txBody>
      </p:sp>
    </p:spTree>
    <p:extLst>
      <p:ext uri="{BB962C8B-B14F-4D97-AF65-F5344CB8AC3E}">
        <p14:creationId xmlns:p14="http://schemas.microsoft.com/office/powerpoint/2010/main" val="16388866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E8909-E5A9-4597-8B2B-4FE5570D75EB}" type="datetimeFigureOut">
              <a:rPr lang="en-ID" smtClean="0"/>
              <a:t>31/07/25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C75A8-F08B-4865-8B51-4C323A3291A9}" type="slidenum">
              <a:rPr lang="en-ID" smtClean="0"/>
              <a:t>‹#›</a:t>
            </a:fld>
            <a:endParaRPr lang="en-ID"/>
          </a:p>
        </p:txBody>
      </p:sp>
    </p:spTree>
    <p:extLst>
      <p:ext uri="{BB962C8B-B14F-4D97-AF65-F5344CB8AC3E}">
        <p14:creationId xmlns:p14="http://schemas.microsoft.com/office/powerpoint/2010/main" val="844476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3">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D71F969-6E0E-4CE4-8D83-FB7E1E36943B}"/>
              </a:ext>
            </a:extLst>
          </p:cNvPr>
          <p:cNvSpPr/>
          <p:nvPr userDrawn="1"/>
        </p:nvSpPr>
        <p:spPr>
          <a:xfrm>
            <a:off x="2986617" y="1583266"/>
            <a:ext cx="3886200" cy="4360334"/>
          </a:xfrm>
          <a:prstGeom prst="rect">
            <a:avLst/>
          </a:prstGeom>
          <a:solidFill>
            <a:srgbClr val="EFEFE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6CA5C42-8660-4144-90F8-83E42246A6EF}"/>
              </a:ext>
            </a:extLst>
          </p:cNvPr>
          <p:cNvSpPr>
            <a:spLocks noGrp="1"/>
          </p:cNvSpPr>
          <p:nvPr>
            <p:ph type="ctrTitle" hasCustomPrompt="1"/>
          </p:nvPr>
        </p:nvSpPr>
        <p:spPr>
          <a:xfrm>
            <a:off x="5356062" y="2218764"/>
            <a:ext cx="4492788" cy="3004741"/>
          </a:xfrm>
          <a:noFill/>
          <a:ln w="76200">
            <a:noFill/>
          </a:ln>
        </p:spPr>
        <p:txBody>
          <a:bodyPr anchor="ctr">
            <a:noAutofit/>
          </a:bodyPr>
          <a:lstStyle>
            <a:lvl1pPr algn="l">
              <a:defRPr sz="7200">
                <a:solidFill>
                  <a:srgbClr val="353638"/>
                </a:solidFill>
                <a:latin typeface="+mj-lt"/>
              </a:defRPr>
            </a:lvl1pPr>
          </a:lstStyle>
          <a:p>
            <a:r>
              <a:rPr lang="en-US" dirty="0"/>
              <a:t>presentation</a:t>
            </a:r>
            <a:br>
              <a:rPr lang="en-US" dirty="0"/>
            </a:br>
            <a:r>
              <a:rPr lang="en-US" dirty="0"/>
              <a:t>title</a:t>
            </a:r>
            <a:endParaRPr lang="en-ID" dirty="0"/>
          </a:p>
        </p:txBody>
      </p:sp>
      <p:sp>
        <p:nvSpPr>
          <p:cNvPr id="3" name="Subtitle 2">
            <a:extLst>
              <a:ext uri="{FF2B5EF4-FFF2-40B4-BE49-F238E27FC236}">
                <a16:creationId xmlns:a16="http://schemas.microsoft.com/office/drawing/2014/main" id="{5FA84757-0A31-42A4-8AF4-E9682F725626}"/>
              </a:ext>
            </a:extLst>
          </p:cNvPr>
          <p:cNvSpPr>
            <a:spLocks noGrp="1"/>
          </p:cNvSpPr>
          <p:nvPr>
            <p:ph type="subTitle" idx="1" hasCustomPrompt="1"/>
          </p:nvPr>
        </p:nvSpPr>
        <p:spPr>
          <a:xfrm>
            <a:off x="7804084" y="5490105"/>
            <a:ext cx="3549716" cy="453495"/>
          </a:xfrm>
        </p:spPr>
        <p:txBody>
          <a:bodyPr/>
          <a:lstStyle>
            <a:lvl1pPr marL="0" indent="0" algn="ctr">
              <a:buNone/>
              <a:defRPr sz="2400" i="0">
                <a:solidFill>
                  <a:schemeClr val="accent6"/>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endParaRPr lang="en-ID" dirty="0"/>
          </a:p>
        </p:txBody>
      </p:sp>
      <p:sp>
        <p:nvSpPr>
          <p:cNvPr id="4" name="Date Placeholder 3">
            <a:extLst>
              <a:ext uri="{FF2B5EF4-FFF2-40B4-BE49-F238E27FC236}">
                <a16:creationId xmlns:a16="http://schemas.microsoft.com/office/drawing/2014/main" id="{C7FAE704-8736-43EB-B790-0237AE0C51AE}"/>
              </a:ext>
            </a:extLst>
          </p:cNvPr>
          <p:cNvSpPr>
            <a:spLocks noGrp="1"/>
          </p:cNvSpPr>
          <p:nvPr>
            <p:ph type="dt" sz="half" idx="10"/>
          </p:nvPr>
        </p:nvSpPr>
        <p:spPr/>
        <p:txBody>
          <a:bodyPr/>
          <a:lstStyle>
            <a:lvl1pPr>
              <a:defRPr>
                <a:solidFill>
                  <a:srgbClr val="EFEFEF"/>
                </a:solidFill>
                <a:latin typeface="Playfair Display" panose="00000500000000000000" pitchFamily="2" charset="0"/>
              </a:defRPr>
            </a:lvl1pPr>
          </a:lstStyle>
          <a:p>
            <a:fld id="{79AA9DB5-A1F6-4624-970D-0BADA959D4A3}" type="datetimeFigureOut">
              <a:rPr lang="en-ID" smtClean="0"/>
              <a:pPr/>
              <a:t>31/07/25</a:t>
            </a:fld>
            <a:endParaRPr lang="en-ID" dirty="0"/>
          </a:p>
        </p:txBody>
      </p:sp>
      <p:sp>
        <p:nvSpPr>
          <p:cNvPr id="5" name="Footer Placeholder 4">
            <a:extLst>
              <a:ext uri="{FF2B5EF4-FFF2-40B4-BE49-F238E27FC236}">
                <a16:creationId xmlns:a16="http://schemas.microsoft.com/office/drawing/2014/main" id="{BE82D268-297F-4761-8EF4-DC6A0F98869D}"/>
              </a:ext>
            </a:extLst>
          </p:cNvPr>
          <p:cNvSpPr>
            <a:spLocks noGrp="1"/>
          </p:cNvSpPr>
          <p:nvPr>
            <p:ph type="ftr" sz="quarter" idx="11"/>
          </p:nvPr>
        </p:nvSpPr>
        <p:spPr/>
        <p:txBody>
          <a:bodyPr/>
          <a:lstStyle>
            <a:lvl1pPr>
              <a:defRPr>
                <a:solidFill>
                  <a:srgbClr val="EFEFEF"/>
                </a:solidFill>
                <a:latin typeface="Playfair Display" panose="00000500000000000000" pitchFamily="2" charset="0"/>
              </a:defRPr>
            </a:lvl1pPr>
          </a:lstStyle>
          <a:p>
            <a:endParaRPr lang="en-ID" dirty="0">
              <a:solidFill>
                <a:srgbClr val="EFEFEF"/>
              </a:solidFill>
            </a:endParaRPr>
          </a:p>
        </p:txBody>
      </p:sp>
      <p:sp>
        <p:nvSpPr>
          <p:cNvPr id="6" name="Slide Number Placeholder 5">
            <a:extLst>
              <a:ext uri="{FF2B5EF4-FFF2-40B4-BE49-F238E27FC236}">
                <a16:creationId xmlns:a16="http://schemas.microsoft.com/office/drawing/2014/main" id="{D17180F5-C3D6-4504-BDF3-1BCE2F53A30C}"/>
              </a:ext>
            </a:extLst>
          </p:cNvPr>
          <p:cNvSpPr>
            <a:spLocks noGrp="1"/>
          </p:cNvSpPr>
          <p:nvPr>
            <p:ph type="sldNum" sz="quarter" idx="12"/>
          </p:nvPr>
        </p:nvSpPr>
        <p:spPr/>
        <p:txBody>
          <a:bodyPr/>
          <a:lstStyle>
            <a:lvl1pPr>
              <a:defRPr>
                <a:solidFill>
                  <a:srgbClr val="EFEFEF"/>
                </a:solidFill>
              </a:defRPr>
            </a:lvl1pPr>
          </a:lstStyle>
          <a:p>
            <a:fld id="{356B735F-8457-406A-A744-FC5DA5F22371}" type="slidenum">
              <a:rPr lang="en-ID" smtClean="0"/>
              <a:pPr/>
              <a:t>‹#›</a:t>
            </a:fld>
            <a:endParaRPr lang="en-ID" dirty="0"/>
          </a:p>
        </p:txBody>
      </p:sp>
      <p:sp>
        <p:nvSpPr>
          <p:cNvPr id="8" name="Picture Placeholder 7">
            <a:extLst>
              <a:ext uri="{FF2B5EF4-FFF2-40B4-BE49-F238E27FC236}">
                <a16:creationId xmlns:a16="http://schemas.microsoft.com/office/drawing/2014/main" id="{CCDE7881-E5A5-46DB-B675-AAD88C9EC85F}"/>
              </a:ext>
            </a:extLst>
          </p:cNvPr>
          <p:cNvSpPr>
            <a:spLocks noGrp="1"/>
          </p:cNvSpPr>
          <p:nvPr>
            <p:ph type="pic" sz="quarter" idx="13"/>
          </p:nvPr>
        </p:nvSpPr>
        <p:spPr>
          <a:xfrm>
            <a:off x="1123950" y="0"/>
            <a:ext cx="3514725" cy="4752975"/>
          </a:xfrm>
        </p:spPr>
        <p:txBody>
          <a:bodyPr/>
          <a:lstStyle/>
          <a:p>
            <a:r>
              <a:rPr lang="en-US"/>
              <a:t>Click icon to add picture</a:t>
            </a:r>
            <a:endParaRPr lang="en-ID" dirty="0"/>
          </a:p>
        </p:txBody>
      </p:sp>
    </p:spTree>
    <p:extLst>
      <p:ext uri="{BB962C8B-B14F-4D97-AF65-F5344CB8AC3E}">
        <p14:creationId xmlns:p14="http://schemas.microsoft.com/office/powerpoint/2010/main" val="389461847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13F92-5DF7-41CB-BA05-FEC39036209B}"/>
              </a:ext>
            </a:extLst>
          </p:cNvPr>
          <p:cNvSpPr/>
          <p:nvPr userDrawn="1"/>
        </p:nvSpPr>
        <p:spPr>
          <a:xfrm>
            <a:off x="266700" y="70418"/>
            <a:ext cx="11658600" cy="633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a:off x="838200" y="902065"/>
            <a:ext cx="5105927" cy="1325563"/>
          </a:xfrm>
        </p:spPr>
        <p:txBody>
          <a:bodyPr>
            <a:noAutofit/>
          </a:bodyPr>
          <a:lstStyle>
            <a:lvl1pPr>
              <a:defRPr sz="7200">
                <a:solidFill>
                  <a:srgbClr val="353638"/>
                </a:solidFill>
              </a:defRPr>
            </a:lvl1pPr>
          </a:lstStyle>
          <a:p>
            <a:r>
              <a:rPr lang="en-US" dirty="0"/>
              <a:t>title</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00" y="6086110"/>
            <a:ext cx="2743200" cy="365125"/>
          </a:xfrm>
        </p:spPr>
        <p:txBody>
          <a:bodyPr/>
          <a:lstStyle>
            <a:lvl1pPr>
              <a:defRPr>
                <a:solidFill>
                  <a:schemeClr val="accent5"/>
                </a:solidFill>
              </a:defRPr>
            </a:lvl1pPr>
          </a:lstStyle>
          <a:p>
            <a:fld id="{79AA9DB5-A1F6-4624-970D-0BADA959D4A3}" type="datetimeFigureOut">
              <a:rPr lang="en-ID" smtClean="0"/>
              <a:pPr/>
              <a:t>31/07/25</a:t>
            </a:fld>
            <a:endParaRPr lang="en-ID" dirty="0"/>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038600" y="6086110"/>
            <a:ext cx="4114800" cy="365125"/>
          </a:xfrm>
        </p:spPr>
        <p:txBody>
          <a:bodyPr/>
          <a:lstStyle>
            <a:lvl1pPr>
              <a:defRPr>
                <a:solidFill>
                  <a:schemeClr val="accent5"/>
                </a:solidFill>
              </a:defRPr>
            </a:lvl1pPr>
          </a:lstStyle>
          <a:p>
            <a:endParaRPr lang="en-ID" dirty="0"/>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8610600" y="6086110"/>
            <a:ext cx="2743200" cy="365125"/>
          </a:xfrm>
        </p:spPr>
        <p:txBody>
          <a:bodyPr/>
          <a:lstStyle>
            <a:lvl1pPr>
              <a:defRPr>
                <a:solidFill>
                  <a:schemeClr val="accent5"/>
                </a:solidFill>
              </a:defRPr>
            </a:lvl1pPr>
          </a:lstStyle>
          <a:p>
            <a:fld id="{356B735F-8457-406A-A744-FC5DA5F22371}" type="slidenum">
              <a:rPr lang="en-ID" smtClean="0"/>
              <a:pPr/>
              <a:t>‹#›</a:t>
            </a:fld>
            <a:endParaRPr lang="en-ID" dirty="0"/>
          </a:p>
        </p:txBody>
      </p:sp>
      <p:sp>
        <p:nvSpPr>
          <p:cNvPr id="7" name="Text Placeholder 6">
            <a:extLst>
              <a:ext uri="{FF2B5EF4-FFF2-40B4-BE49-F238E27FC236}">
                <a16:creationId xmlns:a16="http://schemas.microsoft.com/office/drawing/2014/main" id="{8FA6F1EC-F7C2-4665-9DDF-2E52290BFAAE}"/>
              </a:ext>
            </a:extLst>
          </p:cNvPr>
          <p:cNvSpPr>
            <a:spLocks noGrp="1"/>
          </p:cNvSpPr>
          <p:nvPr>
            <p:ph type="body" sz="quarter" idx="14"/>
          </p:nvPr>
        </p:nvSpPr>
        <p:spPr>
          <a:xfrm>
            <a:off x="1733551" y="3622450"/>
            <a:ext cx="2609850" cy="1998685"/>
          </a:xfrm>
        </p:spPr>
        <p:txBody>
          <a:bodyPr anchor="t">
            <a:noAutofit/>
          </a:bodyPr>
          <a:lstStyle>
            <a:lvl1pPr algn="l">
              <a:defRPr sz="1800">
                <a:solidFill>
                  <a:srgbClr val="353638"/>
                </a:solidFill>
              </a:defRPr>
            </a:lvl1pPr>
            <a:lvl2pPr algn="l">
              <a:defRPr sz="1600">
                <a:solidFill>
                  <a:srgbClr val="353638"/>
                </a:solidFill>
              </a:defRPr>
            </a:lvl2pPr>
            <a:lvl3pPr algn="l">
              <a:defRPr sz="1400">
                <a:solidFill>
                  <a:srgbClr val="353638"/>
                </a:solidFill>
              </a:defRPr>
            </a:lvl3pPr>
            <a:lvl4pPr algn="l">
              <a:defRPr sz="1200">
                <a:solidFill>
                  <a:srgbClr val="353638"/>
                </a:solidFill>
              </a:defRPr>
            </a:lvl4pPr>
            <a:lvl5pPr algn="l">
              <a:defRPr sz="120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8" name="Text Placeholder 6">
            <a:extLst>
              <a:ext uri="{FF2B5EF4-FFF2-40B4-BE49-F238E27FC236}">
                <a16:creationId xmlns:a16="http://schemas.microsoft.com/office/drawing/2014/main" id="{BB455469-8D17-467F-A532-836304E7BC34}"/>
              </a:ext>
            </a:extLst>
          </p:cNvPr>
          <p:cNvSpPr>
            <a:spLocks noGrp="1"/>
          </p:cNvSpPr>
          <p:nvPr>
            <p:ph type="body" sz="quarter" idx="15"/>
          </p:nvPr>
        </p:nvSpPr>
        <p:spPr>
          <a:xfrm>
            <a:off x="4791075" y="3622450"/>
            <a:ext cx="2609850" cy="1998685"/>
          </a:xfrm>
        </p:spPr>
        <p:txBody>
          <a:bodyPr anchor="t">
            <a:noAutofit/>
          </a:bodyPr>
          <a:lstStyle>
            <a:lvl1pPr algn="l">
              <a:defRPr sz="1400">
                <a:solidFill>
                  <a:srgbClr val="353638"/>
                </a:solidFill>
              </a:defRPr>
            </a:lvl1pPr>
            <a:lvl2pPr algn="l">
              <a:defRPr sz="1200">
                <a:solidFill>
                  <a:srgbClr val="353638"/>
                </a:solidFill>
              </a:defRPr>
            </a:lvl2pPr>
            <a:lvl3pPr algn="l">
              <a:defRPr sz="1100">
                <a:solidFill>
                  <a:srgbClr val="353638"/>
                </a:solidFill>
              </a:defRPr>
            </a:lvl3pPr>
            <a:lvl4pPr algn="l">
              <a:defRPr sz="1050">
                <a:solidFill>
                  <a:srgbClr val="353638"/>
                </a:solidFill>
              </a:defRPr>
            </a:lvl4pPr>
            <a:lvl5pPr algn="l">
              <a:defRPr sz="105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9" name="Text Placeholder 6">
            <a:extLst>
              <a:ext uri="{FF2B5EF4-FFF2-40B4-BE49-F238E27FC236}">
                <a16:creationId xmlns:a16="http://schemas.microsoft.com/office/drawing/2014/main" id="{AF294ABF-07A9-44CD-AC9B-A0922AEA592B}"/>
              </a:ext>
            </a:extLst>
          </p:cNvPr>
          <p:cNvSpPr>
            <a:spLocks noGrp="1"/>
          </p:cNvSpPr>
          <p:nvPr>
            <p:ph type="body" sz="quarter" idx="16"/>
          </p:nvPr>
        </p:nvSpPr>
        <p:spPr>
          <a:xfrm>
            <a:off x="7848599" y="3622450"/>
            <a:ext cx="2609850" cy="1998685"/>
          </a:xfrm>
        </p:spPr>
        <p:txBody>
          <a:bodyPr anchor="t">
            <a:noAutofit/>
          </a:bodyPr>
          <a:lstStyle>
            <a:lvl1pPr algn="l">
              <a:defRPr sz="1400">
                <a:solidFill>
                  <a:srgbClr val="353638"/>
                </a:solidFill>
              </a:defRPr>
            </a:lvl1pPr>
            <a:lvl2pPr algn="l">
              <a:defRPr sz="1200">
                <a:solidFill>
                  <a:srgbClr val="353638"/>
                </a:solidFill>
              </a:defRPr>
            </a:lvl2pPr>
            <a:lvl3pPr algn="l">
              <a:defRPr sz="1100">
                <a:solidFill>
                  <a:srgbClr val="353638"/>
                </a:solidFill>
              </a:defRPr>
            </a:lvl3pPr>
            <a:lvl4pPr algn="l">
              <a:defRPr sz="1050">
                <a:solidFill>
                  <a:srgbClr val="353638"/>
                </a:solidFill>
              </a:defRPr>
            </a:lvl4pPr>
            <a:lvl5pPr algn="l">
              <a:defRPr sz="105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15" name="Text Placeholder 14">
            <a:extLst>
              <a:ext uri="{FF2B5EF4-FFF2-40B4-BE49-F238E27FC236}">
                <a16:creationId xmlns:a16="http://schemas.microsoft.com/office/drawing/2014/main" id="{B9A8ED02-4B65-47C9-A125-EB2355B93AE2}"/>
              </a:ext>
            </a:extLst>
          </p:cNvPr>
          <p:cNvSpPr>
            <a:spLocks noGrp="1"/>
          </p:cNvSpPr>
          <p:nvPr>
            <p:ph type="body" sz="quarter" idx="17" hasCustomPrompt="1"/>
          </p:nvPr>
        </p:nvSpPr>
        <p:spPr>
          <a:xfrm>
            <a:off x="1733551" y="2709727"/>
            <a:ext cx="2609850" cy="892175"/>
          </a:xfrm>
        </p:spPr>
        <p:txBody>
          <a:bodyPr anchor="b">
            <a:normAutofit/>
          </a:bodyPr>
          <a:lstStyle>
            <a:lvl1pPr algn="r">
              <a:buNone/>
              <a:defRPr sz="4800">
                <a:solidFill>
                  <a:srgbClr val="353638"/>
                </a:solidFill>
                <a:latin typeface="+mj-lt"/>
              </a:defRPr>
            </a:lvl1pPr>
          </a:lstStyle>
          <a:p>
            <a:pPr lvl="0"/>
            <a:r>
              <a:rPr lang="en-US" dirty="0"/>
              <a:t>01</a:t>
            </a:r>
            <a:endParaRPr lang="en-ID" dirty="0"/>
          </a:p>
        </p:txBody>
      </p:sp>
      <p:sp>
        <p:nvSpPr>
          <p:cNvPr id="16" name="Text Placeholder 14">
            <a:extLst>
              <a:ext uri="{FF2B5EF4-FFF2-40B4-BE49-F238E27FC236}">
                <a16:creationId xmlns:a16="http://schemas.microsoft.com/office/drawing/2014/main" id="{34E66934-F5D3-4FDA-BA1C-45655FDDAEFE}"/>
              </a:ext>
            </a:extLst>
          </p:cNvPr>
          <p:cNvSpPr>
            <a:spLocks noGrp="1"/>
          </p:cNvSpPr>
          <p:nvPr>
            <p:ph type="body" sz="quarter" idx="18" hasCustomPrompt="1"/>
          </p:nvPr>
        </p:nvSpPr>
        <p:spPr>
          <a:xfrm>
            <a:off x="4791075" y="2709726"/>
            <a:ext cx="2609850" cy="892175"/>
          </a:xfrm>
        </p:spPr>
        <p:txBody>
          <a:bodyPr anchor="b">
            <a:normAutofit/>
          </a:bodyPr>
          <a:lstStyle>
            <a:lvl1pPr algn="r">
              <a:buNone/>
              <a:defRPr sz="4800">
                <a:solidFill>
                  <a:srgbClr val="353638"/>
                </a:solidFill>
                <a:latin typeface="+mj-lt"/>
              </a:defRPr>
            </a:lvl1pPr>
          </a:lstStyle>
          <a:p>
            <a:pPr lvl="0"/>
            <a:r>
              <a:rPr lang="en-US" dirty="0"/>
              <a:t>02</a:t>
            </a:r>
            <a:endParaRPr lang="en-ID" dirty="0"/>
          </a:p>
        </p:txBody>
      </p:sp>
      <p:sp>
        <p:nvSpPr>
          <p:cNvPr id="17" name="Text Placeholder 14">
            <a:extLst>
              <a:ext uri="{FF2B5EF4-FFF2-40B4-BE49-F238E27FC236}">
                <a16:creationId xmlns:a16="http://schemas.microsoft.com/office/drawing/2014/main" id="{3C5B7C1C-3DBB-4926-AA3C-772DCC1A13A0}"/>
              </a:ext>
            </a:extLst>
          </p:cNvPr>
          <p:cNvSpPr>
            <a:spLocks noGrp="1"/>
          </p:cNvSpPr>
          <p:nvPr>
            <p:ph type="body" sz="quarter" idx="19" hasCustomPrompt="1"/>
          </p:nvPr>
        </p:nvSpPr>
        <p:spPr>
          <a:xfrm>
            <a:off x="7848599" y="2730275"/>
            <a:ext cx="2609850" cy="892175"/>
          </a:xfrm>
        </p:spPr>
        <p:txBody>
          <a:bodyPr anchor="b">
            <a:normAutofit/>
          </a:bodyPr>
          <a:lstStyle>
            <a:lvl1pPr algn="r">
              <a:buNone/>
              <a:defRPr sz="4800">
                <a:solidFill>
                  <a:srgbClr val="353638"/>
                </a:solidFill>
                <a:latin typeface="+mj-lt"/>
              </a:defRPr>
            </a:lvl1pPr>
          </a:lstStyle>
          <a:p>
            <a:pPr lvl="0"/>
            <a:r>
              <a:rPr lang="en-US" dirty="0"/>
              <a:t>03</a:t>
            </a:r>
            <a:endParaRPr lang="en-ID" dirty="0"/>
          </a:p>
        </p:txBody>
      </p:sp>
    </p:spTree>
    <p:extLst>
      <p:ext uri="{BB962C8B-B14F-4D97-AF65-F5344CB8AC3E}">
        <p14:creationId xmlns:p14="http://schemas.microsoft.com/office/powerpoint/2010/main" val="2844639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13F92-5DF7-41CB-BA05-FEC39036209B}"/>
              </a:ext>
            </a:extLst>
          </p:cNvPr>
          <p:cNvSpPr/>
          <p:nvPr userDrawn="1"/>
        </p:nvSpPr>
        <p:spPr>
          <a:xfrm>
            <a:off x="192156" y="248479"/>
            <a:ext cx="11658600" cy="633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a:off x="341244" y="248479"/>
            <a:ext cx="10760765" cy="1118562"/>
          </a:xfrm>
        </p:spPr>
        <p:txBody>
          <a:bodyPr>
            <a:noAutofit/>
          </a:bodyPr>
          <a:lstStyle>
            <a:lvl1pPr>
              <a:defRPr sz="7200">
                <a:solidFill>
                  <a:srgbClr val="353638"/>
                </a:solidFill>
              </a:defRPr>
            </a:lvl1pPr>
          </a:lstStyle>
          <a:p>
            <a:r>
              <a:rPr lang="en-US" dirty="0"/>
              <a:t>title</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00" y="6086110"/>
            <a:ext cx="2743200" cy="365125"/>
          </a:xfrm>
        </p:spPr>
        <p:txBody>
          <a:bodyPr/>
          <a:lstStyle>
            <a:lvl1pPr>
              <a:defRPr>
                <a:solidFill>
                  <a:schemeClr val="accent5"/>
                </a:solidFill>
              </a:defRPr>
            </a:lvl1pPr>
          </a:lstStyle>
          <a:p>
            <a:fld id="{79AA9DB5-A1F6-4624-970D-0BADA959D4A3}" type="datetimeFigureOut">
              <a:rPr lang="en-ID" smtClean="0"/>
              <a:pPr/>
              <a:t>31/07/25</a:t>
            </a:fld>
            <a:endParaRPr lang="en-ID" dirty="0"/>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038600" y="6086110"/>
            <a:ext cx="4114800" cy="365125"/>
          </a:xfrm>
        </p:spPr>
        <p:txBody>
          <a:bodyPr/>
          <a:lstStyle>
            <a:lvl1pPr>
              <a:defRPr>
                <a:solidFill>
                  <a:schemeClr val="accent5"/>
                </a:solidFill>
              </a:defRPr>
            </a:lvl1pPr>
          </a:lstStyle>
          <a:p>
            <a:endParaRPr lang="en-ID" dirty="0"/>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8610600" y="6086110"/>
            <a:ext cx="2743200" cy="365125"/>
          </a:xfrm>
        </p:spPr>
        <p:txBody>
          <a:bodyPr/>
          <a:lstStyle>
            <a:lvl1pPr>
              <a:defRPr>
                <a:solidFill>
                  <a:schemeClr val="accent5"/>
                </a:solidFill>
              </a:defRPr>
            </a:lvl1pPr>
          </a:lstStyle>
          <a:p>
            <a:fld id="{356B735F-8457-406A-A744-FC5DA5F22371}" type="slidenum">
              <a:rPr lang="en-ID" smtClean="0"/>
              <a:pPr/>
              <a:t>‹#›</a:t>
            </a:fld>
            <a:endParaRPr lang="en-ID" dirty="0"/>
          </a:p>
        </p:txBody>
      </p:sp>
      <p:sp>
        <p:nvSpPr>
          <p:cNvPr id="7" name="Text Placeholder 6">
            <a:extLst>
              <a:ext uri="{FF2B5EF4-FFF2-40B4-BE49-F238E27FC236}">
                <a16:creationId xmlns:a16="http://schemas.microsoft.com/office/drawing/2014/main" id="{8FA6F1EC-F7C2-4665-9DDF-2E52290BFAAE}"/>
              </a:ext>
            </a:extLst>
          </p:cNvPr>
          <p:cNvSpPr>
            <a:spLocks noGrp="1"/>
          </p:cNvSpPr>
          <p:nvPr>
            <p:ph type="body" sz="quarter" idx="14"/>
          </p:nvPr>
        </p:nvSpPr>
        <p:spPr>
          <a:xfrm>
            <a:off x="341244" y="1623918"/>
            <a:ext cx="10760765" cy="4222078"/>
          </a:xfrm>
        </p:spPr>
        <p:txBody>
          <a:bodyPr anchor="t">
            <a:noAutofit/>
          </a:bodyPr>
          <a:lstStyle>
            <a:lvl1pPr algn="l">
              <a:defRPr sz="1800">
                <a:solidFill>
                  <a:srgbClr val="353638"/>
                </a:solidFill>
              </a:defRPr>
            </a:lvl1pPr>
            <a:lvl2pPr algn="l">
              <a:defRPr sz="1600">
                <a:solidFill>
                  <a:srgbClr val="353638"/>
                </a:solidFill>
              </a:defRPr>
            </a:lvl2pPr>
            <a:lvl3pPr algn="l">
              <a:defRPr sz="1400">
                <a:solidFill>
                  <a:srgbClr val="353638"/>
                </a:solidFill>
              </a:defRPr>
            </a:lvl3pPr>
            <a:lvl4pPr algn="l">
              <a:defRPr sz="1200">
                <a:solidFill>
                  <a:srgbClr val="353638"/>
                </a:solidFill>
              </a:defRPr>
            </a:lvl4pPr>
            <a:lvl5pPr algn="l">
              <a:defRPr sz="1200">
                <a:solidFill>
                  <a:srgbClr val="3536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248219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F63E014-1321-48E9-B52A-FB0C6219386D}"/>
              </a:ext>
            </a:extLst>
          </p:cNvPr>
          <p:cNvSpPr/>
          <p:nvPr userDrawn="1"/>
        </p:nvSpPr>
        <p:spPr>
          <a:xfrm>
            <a:off x="0" y="1583267"/>
            <a:ext cx="3167795" cy="52681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Oval 17">
            <a:extLst>
              <a:ext uri="{FF2B5EF4-FFF2-40B4-BE49-F238E27FC236}">
                <a16:creationId xmlns:a16="http://schemas.microsoft.com/office/drawing/2014/main" id="{7E9408FB-A5AE-4EEB-950E-702672377409}"/>
              </a:ext>
            </a:extLst>
          </p:cNvPr>
          <p:cNvSpPr/>
          <p:nvPr userDrawn="1"/>
        </p:nvSpPr>
        <p:spPr>
          <a:xfrm>
            <a:off x="509900" y="3546662"/>
            <a:ext cx="3167795" cy="3015876"/>
          </a:xfrm>
          <a:prstGeom prst="ellipse">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ectangle 14">
            <a:extLst>
              <a:ext uri="{FF2B5EF4-FFF2-40B4-BE49-F238E27FC236}">
                <a16:creationId xmlns:a16="http://schemas.microsoft.com/office/drawing/2014/main" id="{9D348D8E-0493-4EF1-B782-5EE808C27BA7}"/>
              </a:ext>
            </a:extLst>
          </p:cNvPr>
          <p:cNvSpPr/>
          <p:nvPr userDrawn="1"/>
        </p:nvSpPr>
        <p:spPr>
          <a:xfrm>
            <a:off x="10456333" y="1"/>
            <a:ext cx="1735666" cy="55352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rot="5400000">
            <a:off x="9527124" y="1853679"/>
            <a:ext cx="3681241" cy="840691"/>
          </a:xfrm>
        </p:spPr>
        <p:txBody>
          <a:bodyPr>
            <a:noAutofit/>
          </a:bodyPr>
          <a:lstStyle>
            <a:lvl1pPr>
              <a:defRPr sz="5400">
                <a:solidFill>
                  <a:srgbClr val="EFEFEF"/>
                </a:solidFill>
              </a:defRPr>
            </a:lvl1pPr>
          </a:lstStyle>
          <a:p>
            <a:r>
              <a:rPr lang="en-US" dirty="0"/>
              <a:t>about us</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110" y="6356350"/>
            <a:ext cx="2743200" cy="365125"/>
          </a:xfrm>
        </p:spPr>
        <p:txBody>
          <a:bodyPr/>
          <a:lstStyle/>
          <a:p>
            <a:fld id="{79AA9DB5-A1F6-4624-970D-0BADA959D4A3}" type="datetimeFigureOut">
              <a:rPr lang="en-ID" smtClean="0"/>
              <a:t>31/07/25</a:t>
            </a:fld>
            <a:endParaRPr lang="en-ID"/>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187596" y="6356350"/>
            <a:ext cx="4114800" cy="365125"/>
          </a:xfrm>
        </p:spPr>
        <p:txBody>
          <a:bodyPr/>
          <a:lstStyle/>
          <a:p>
            <a:endParaRPr lang="en-ID" dirty="0"/>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9024206" y="6356350"/>
            <a:ext cx="2743200" cy="365125"/>
          </a:xfrm>
        </p:spPr>
        <p:txBody>
          <a:bodyPr/>
          <a:lstStyle/>
          <a:p>
            <a:fld id="{356B735F-8457-406A-A744-FC5DA5F22371}" type="slidenum">
              <a:rPr lang="en-ID" smtClean="0"/>
              <a:t>‹#›</a:t>
            </a:fld>
            <a:endParaRPr lang="en-ID"/>
          </a:p>
        </p:txBody>
      </p:sp>
      <p:sp>
        <p:nvSpPr>
          <p:cNvPr id="10" name="Picture Placeholder 2">
            <a:extLst>
              <a:ext uri="{FF2B5EF4-FFF2-40B4-BE49-F238E27FC236}">
                <a16:creationId xmlns:a16="http://schemas.microsoft.com/office/drawing/2014/main" id="{DB9D8F12-25F7-426A-B193-60FF98B29507}"/>
              </a:ext>
            </a:extLst>
          </p:cNvPr>
          <p:cNvSpPr>
            <a:spLocks noGrp="1"/>
          </p:cNvSpPr>
          <p:nvPr>
            <p:ph type="pic" idx="1"/>
          </p:nvPr>
        </p:nvSpPr>
        <p:spPr>
          <a:xfrm>
            <a:off x="1664825" y="2472112"/>
            <a:ext cx="3005939" cy="3015876"/>
          </a:xfrm>
          <a:prstGeom prst="rect">
            <a:avLst/>
          </a:prstGeom>
          <a:ln w="76200">
            <a:noFill/>
          </a:ln>
        </p:spPr>
        <p:txBody>
          <a:bodyPr anchor="t">
            <a:normAutofit/>
          </a:bodyPr>
          <a:lstStyle>
            <a:lvl1pPr marL="0" indent="0" algn="ctr">
              <a:buNone/>
              <a:defRPr sz="1200">
                <a:solidFill>
                  <a:srgbClr val="63685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D" dirty="0"/>
          </a:p>
        </p:txBody>
      </p:sp>
      <p:sp>
        <p:nvSpPr>
          <p:cNvPr id="13" name="Text Placeholder 3">
            <a:extLst>
              <a:ext uri="{FF2B5EF4-FFF2-40B4-BE49-F238E27FC236}">
                <a16:creationId xmlns:a16="http://schemas.microsoft.com/office/drawing/2014/main" id="{479000F2-C3BD-4EE0-A686-60147953BF76}"/>
              </a:ext>
            </a:extLst>
          </p:cNvPr>
          <p:cNvSpPr>
            <a:spLocks noGrp="1"/>
          </p:cNvSpPr>
          <p:nvPr>
            <p:ph type="body" sz="half" idx="2"/>
          </p:nvPr>
        </p:nvSpPr>
        <p:spPr>
          <a:xfrm>
            <a:off x="5342520" y="1193799"/>
            <a:ext cx="3876143" cy="3716867"/>
          </a:xfrm>
        </p:spPr>
        <p:txBody>
          <a:bodyPr/>
          <a:lstStyle>
            <a:lvl1pPr marL="0" indent="0" algn="just">
              <a:buNone/>
              <a:defRPr sz="1600">
                <a:solidFill>
                  <a:schemeClr val="tx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77922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stimonials">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9AF841DC-D574-4860-A54E-DCDF6F8E2BAC}"/>
              </a:ext>
            </a:extLst>
          </p:cNvPr>
          <p:cNvSpPr/>
          <p:nvPr userDrawn="1"/>
        </p:nvSpPr>
        <p:spPr>
          <a:xfrm>
            <a:off x="1105980" y="1389340"/>
            <a:ext cx="2376995" cy="2385080"/>
          </a:xfrm>
          <a:prstGeom prst="ellipse">
            <a:avLst/>
          </a:prstGeom>
          <a:solidFill>
            <a:srgbClr val="3536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1" name="Rectangle 10">
            <a:extLst>
              <a:ext uri="{FF2B5EF4-FFF2-40B4-BE49-F238E27FC236}">
                <a16:creationId xmlns:a16="http://schemas.microsoft.com/office/drawing/2014/main" id="{33488F14-0336-4CEB-B7E2-A0890AA0CF56}"/>
              </a:ext>
            </a:extLst>
          </p:cNvPr>
          <p:cNvSpPr/>
          <p:nvPr userDrawn="1"/>
        </p:nvSpPr>
        <p:spPr>
          <a:xfrm>
            <a:off x="2544233" y="873125"/>
            <a:ext cx="3886200" cy="50503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91C4C43F-DBE5-4AEA-9C3F-8E3539CAF2B5}"/>
              </a:ext>
            </a:extLst>
          </p:cNvPr>
          <p:cNvSpPr>
            <a:spLocks noGrp="1"/>
          </p:cNvSpPr>
          <p:nvPr>
            <p:ph type="title" hasCustomPrompt="1"/>
          </p:nvPr>
        </p:nvSpPr>
        <p:spPr>
          <a:xfrm rot="16200000">
            <a:off x="-1311997" y="3340966"/>
            <a:ext cx="4705205" cy="1325563"/>
          </a:xfrm>
        </p:spPr>
        <p:txBody>
          <a:bodyPr/>
          <a:lstStyle>
            <a:lvl1pPr algn="l">
              <a:defRPr sz="6600">
                <a:solidFill>
                  <a:schemeClr val="tx1">
                    <a:lumMod val="75000"/>
                  </a:schemeClr>
                </a:solidFill>
              </a:defRPr>
            </a:lvl1pPr>
          </a:lstStyle>
          <a:p>
            <a:r>
              <a:rPr lang="en-US" dirty="0"/>
              <a:t>heading</a:t>
            </a:r>
            <a:endParaRPr lang="en-ID" dirty="0"/>
          </a:p>
        </p:txBody>
      </p:sp>
      <p:sp>
        <p:nvSpPr>
          <p:cNvPr id="6" name="Date Placeholder 5">
            <a:extLst>
              <a:ext uri="{FF2B5EF4-FFF2-40B4-BE49-F238E27FC236}">
                <a16:creationId xmlns:a16="http://schemas.microsoft.com/office/drawing/2014/main" id="{857D6B8C-279B-491D-A3BC-1A71497183D1}"/>
              </a:ext>
            </a:extLst>
          </p:cNvPr>
          <p:cNvSpPr>
            <a:spLocks noGrp="1"/>
          </p:cNvSpPr>
          <p:nvPr>
            <p:ph type="dt" sz="half" idx="10"/>
          </p:nvPr>
        </p:nvSpPr>
        <p:spPr/>
        <p:txBody>
          <a:bodyPr/>
          <a:lstStyle/>
          <a:p>
            <a:fld id="{79AA9DB5-A1F6-4624-970D-0BADA959D4A3}" type="datetimeFigureOut">
              <a:rPr lang="en-ID" smtClean="0"/>
              <a:t>31/07/25</a:t>
            </a:fld>
            <a:endParaRPr lang="en-ID"/>
          </a:p>
        </p:txBody>
      </p:sp>
      <p:sp>
        <p:nvSpPr>
          <p:cNvPr id="7" name="Footer Placeholder 6">
            <a:extLst>
              <a:ext uri="{FF2B5EF4-FFF2-40B4-BE49-F238E27FC236}">
                <a16:creationId xmlns:a16="http://schemas.microsoft.com/office/drawing/2014/main" id="{C955452E-2FAF-4D88-880B-0CDDE3FD2A75}"/>
              </a:ext>
            </a:extLst>
          </p:cNvPr>
          <p:cNvSpPr>
            <a:spLocks noGrp="1"/>
          </p:cNvSpPr>
          <p:nvPr>
            <p:ph type="ftr" sz="quarter" idx="11"/>
          </p:nvPr>
        </p:nvSpPr>
        <p:spPr/>
        <p:txBody>
          <a:bodyPr/>
          <a:lstStyle/>
          <a:p>
            <a:endParaRPr lang="en-ID"/>
          </a:p>
        </p:txBody>
      </p:sp>
      <p:sp>
        <p:nvSpPr>
          <p:cNvPr id="8" name="Slide Number Placeholder 7">
            <a:extLst>
              <a:ext uri="{FF2B5EF4-FFF2-40B4-BE49-F238E27FC236}">
                <a16:creationId xmlns:a16="http://schemas.microsoft.com/office/drawing/2014/main" id="{3129B176-3BD8-48FB-A73F-E819CB2ECB2D}"/>
              </a:ext>
            </a:extLst>
          </p:cNvPr>
          <p:cNvSpPr>
            <a:spLocks noGrp="1"/>
          </p:cNvSpPr>
          <p:nvPr>
            <p:ph type="sldNum" sz="quarter" idx="12"/>
          </p:nvPr>
        </p:nvSpPr>
        <p:spPr/>
        <p:txBody>
          <a:bodyPr/>
          <a:lstStyle/>
          <a:p>
            <a:fld id="{356B735F-8457-406A-A744-FC5DA5F22371}" type="slidenum">
              <a:rPr lang="en-ID" smtClean="0"/>
              <a:t>‹#›</a:t>
            </a:fld>
            <a:endParaRPr lang="en-ID"/>
          </a:p>
        </p:txBody>
      </p:sp>
      <p:sp>
        <p:nvSpPr>
          <p:cNvPr id="10" name="Text Placeholder 9">
            <a:extLst>
              <a:ext uri="{FF2B5EF4-FFF2-40B4-BE49-F238E27FC236}">
                <a16:creationId xmlns:a16="http://schemas.microsoft.com/office/drawing/2014/main" id="{3C6AC282-F079-475F-BD8B-2496927CC0E6}"/>
              </a:ext>
            </a:extLst>
          </p:cNvPr>
          <p:cNvSpPr>
            <a:spLocks noGrp="1"/>
          </p:cNvSpPr>
          <p:nvPr>
            <p:ph type="body" sz="quarter" idx="13"/>
          </p:nvPr>
        </p:nvSpPr>
        <p:spPr>
          <a:xfrm>
            <a:off x="2900363" y="1262592"/>
            <a:ext cx="3292475" cy="429683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dirty="0"/>
          </a:p>
        </p:txBody>
      </p:sp>
      <p:sp>
        <p:nvSpPr>
          <p:cNvPr id="9" name="Rectangle 8">
            <a:extLst>
              <a:ext uri="{FF2B5EF4-FFF2-40B4-BE49-F238E27FC236}">
                <a16:creationId xmlns:a16="http://schemas.microsoft.com/office/drawing/2014/main" id="{AA72AC95-6CBE-4235-A692-1840BBD3E6B0}"/>
              </a:ext>
            </a:extLst>
          </p:cNvPr>
          <p:cNvSpPr/>
          <p:nvPr userDrawn="1"/>
        </p:nvSpPr>
        <p:spPr>
          <a:xfrm>
            <a:off x="6929945" y="873125"/>
            <a:ext cx="3886200" cy="50503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Text Placeholder 9">
            <a:extLst>
              <a:ext uri="{FF2B5EF4-FFF2-40B4-BE49-F238E27FC236}">
                <a16:creationId xmlns:a16="http://schemas.microsoft.com/office/drawing/2014/main" id="{4EFE4270-4E02-42BA-84A0-06536195F374}"/>
              </a:ext>
            </a:extLst>
          </p:cNvPr>
          <p:cNvSpPr>
            <a:spLocks noGrp="1"/>
          </p:cNvSpPr>
          <p:nvPr>
            <p:ph type="body" sz="quarter" idx="14"/>
          </p:nvPr>
        </p:nvSpPr>
        <p:spPr>
          <a:xfrm>
            <a:off x="7269141" y="1262592"/>
            <a:ext cx="3292475" cy="429683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dirty="0"/>
          </a:p>
        </p:txBody>
      </p:sp>
      <p:sp>
        <p:nvSpPr>
          <p:cNvPr id="4" name="Rectangle 3">
            <a:extLst>
              <a:ext uri="{FF2B5EF4-FFF2-40B4-BE49-F238E27FC236}">
                <a16:creationId xmlns:a16="http://schemas.microsoft.com/office/drawing/2014/main" id="{81EE017B-1E6F-4206-BCBD-97EAC2046E15}"/>
              </a:ext>
            </a:extLst>
          </p:cNvPr>
          <p:cNvSpPr/>
          <p:nvPr userDrawn="1"/>
        </p:nvSpPr>
        <p:spPr>
          <a:xfrm>
            <a:off x="9647767" y="4941358"/>
            <a:ext cx="2544233" cy="161925"/>
          </a:xfrm>
          <a:prstGeom prst="rect">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31511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F9AFA-F1A4-4219-979B-6CECB1B293EF}"/>
              </a:ext>
            </a:extLst>
          </p:cNvPr>
          <p:cNvSpPr>
            <a:spLocks noGrp="1"/>
          </p:cNvSpPr>
          <p:nvPr>
            <p:ph type="title" hasCustomPrompt="1"/>
          </p:nvPr>
        </p:nvSpPr>
        <p:spPr>
          <a:xfrm>
            <a:off x="7523922" y="3429000"/>
            <a:ext cx="3823528" cy="1645189"/>
          </a:xfrm>
        </p:spPr>
        <p:txBody>
          <a:bodyPr anchor="b"/>
          <a:lstStyle>
            <a:lvl1pPr>
              <a:defRPr sz="6000">
                <a:solidFill>
                  <a:schemeClr val="tx1">
                    <a:lumMod val="75000"/>
                  </a:schemeClr>
                </a:solidFill>
              </a:defRPr>
            </a:lvl1pPr>
          </a:lstStyle>
          <a:p>
            <a:r>
              <a:rPr lang="en-US" dirty="0"/>
              <a:t>section one</a:t>
            </a:r>
            <a:endParaRPr lang="en-ID" dirty="0"/>
          </a:p>
        </p:txBody>
      </p:sp>
      <p:sp>
        <p:nvSpPr>
          <p:cNvPr id="3" name="Text Placeholder 2">
            <a:extLst>
              <a:ext uri="{FF2B5EF4-FFF2-40B4-BE49-F238E27FC236}">
                <a16:creationId xmlns:a16="http://schemas.microsoft.com/office/drawing/2014/main" id="{F350B6C0-F851-4755-8DFC-C25496DDE406}"/>
              </a:ext>
            </a:extLst>
          </p:cNvPr>
          <p:cNvSpPr>
            <a:spLocks noGrp="1"/>
          </p:cNvSpPr>
          <p:nvPr>
            <p:ph type="body" idx="1" hasCustomPrompt="1"/>
          </p:nvPr>
        </p:nvSpPr>
        <p:spPr>
          <a:xfrm>
            <a:off x="7523922" y="5101177"/>
            <a:ext cx="3823528" cy="548145"/>
          </a:xfrm>
        </p:spPr>
        <p:txBody>
          <a:bodyPr/>
          <a:lstStyle>
            <a:lvl1pPr marL="0" indent="0">
              <a:buNone/>
              <a:defRPr sz="2400">
                <a:solidFill>
                  <a:srgbClr val="76838B"/>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subtitle</a:t>
            </a:r>
          </a:p>
        </p:txBody>
      </p:sp>
      <p:sp>
        <p:nvSpPr>
          <p:cNvPr id="4" name="Date Placeholder 3">
            <a:extLst>
              <a:ext uri="{FF2B5EF4-FFF2-40B4-BE49-F238E27FC236}">
                <a16:creationId xmlns:a16="http://schemas.microsoft.com/office/drawing/2014/main" id="{E81DE03B-7B5E-468E-A317-7B5F0B33C537}"/>
              </a:ext>
            </a:extLst>
          </p:cNvPr>
          <p:cNvSpPr>
            <a:spLocks noGrp="1"/>
          </p:cNvSpPr>
          <p:nvPr>
            <p:ph type="dt" sz="half" idx="10"/>
          </p:nvPr>
        </p:nvSpPr>
        <p:spPr/>
        <p:txBody>
          <a:bodyPr/>
          <a:lstStyle>
            <a:lvl1pPr>
              <a:defRPr>
                <a:solidFill>
                  <a:srgbClr val="636852"/>
                </a:solidFill>
              </a:defRPr>
            </a:lvl1pPr>
          </a:lstStyle>
          <a:p>
            <a:fld id="{79AA9DB5-A1F6-4624-970D-0BADA959D4A3}" type="datetimeFigureOut">
              <a:rPr lang="en-ID" smtClean="0"/>
              <a:pPr/>
              <a:t>31/07/25</a:t>
            </a:fld>
            <a:endParaRPr lang="en-ID" dirty="0"/>
          </a:p>
        </p:txBody>
      </p:sp>
      <p:sp>
        <p:nvSpPr>
          <p:cNvPr id="5" name="Footer Placeholder 4">
            <a:extLst>
              <a:ext uri="{FF2B5EF4-FFF2-40B4-BE49-F238E27FC236}">
                <a16:creationId xmlns:a16="http://schemas.microsoft.com/office/drawing/2014/main" id="{A8F3C55C-16DA-450F-AED0-FF4EEBF3BA37}"/>
              </a:ext>
            </a:extLst>
          </p:cNvPr>
          <p:cNvSpPr>
            <a:spLocks noGrp="1"/>
          </p:cNvSpPr>
          <p:nvPr>
            <p:ph type="ftr" sz="quarter" idx="11"/>
          </p:nvPr>
        </p:nvSpPr>
        <p:spPr/>
        <p:txBody>
          <a:bodyPr/>
          <a:lstStyle>
            <a:lvl1pPr>
              <a:defRPr>
                <a:solidFill>
                  <a:srgbClr val="636852"/>
                </a:solidFill>
              </a:defRPr>
            </a:lvl1pPr>
          </a:lstStyle>
          <a:p>
            <a:endParaRPr lang="en-ID">
              <a:solidFill>
                <a:srgbClr val="636852"/>
              </a:solidFill>
            </a:endParaRPr>
          </a:p>
        </p:txBody>
      </p:sp>
      <p:sp>
        <p:nvSpPr>
          <p:cNvPr id="6" name="Slide Number Placeholder 5">
            <a:extLst>
              <a:ext uri="{FF2B5EF4-FFF2-40B4-BE49-F238E27FC236}">
                <a16:creationId xmlns:a16="http://schemas.microsoft.com/office/drawing/2014/main" id="{5A3D4842-8D05-4CC8-A307-EDD41A31844F}"/>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11" name="Rectangle 10">
            <a:extLst>
              <a:ext uri="{FF2B5EF4-FFF2-40B4-BE49-F238E27FC236}">
                <a16:creationId xmlns:a16="http://schemas.microsoft.com/office/drawing/2014/main" id="{46E026D4-5A09-4BF1-92DC-7B7C5907F5F4}"/>
              </a:ext>
            </a:extLst>
          </p:cNvPr>
          <p:cNvSpPr/>
          <p:nvPr userDrawn="1"/>
        </p:nvSpPr>
        <p:spPr>
          <a:xfrm>
            <a:off x="2641602" y="0"/>
            <a:ext cx="1346200" cy="52681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6FB9FB54-2CFF-4F2A-8435-00E9AC2BAB52}"/>
              </a:ext>
            </a:extLst>
          </p:cNvPr>
          <p:cNvSpPr/>
          <p:nvPr userDrawn="1"/>
        </p:nvSpPr>
        <p:spPr>
          <a:xfrm>
            <a:off x="3133142" y="1481495"/>
            <a:ext cx="2226259" cy="2119494"/>
          </a:xfrm>
          <a:prstGeom prst="ellipse">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 Placeholder 7">
            <a:extLst>
              <a:ext uri="{FF2B5EF4-FFF2-40B4-BE49-F238E27FC236}">
                <a16:creationId xmlns:a16="http://schemas.microsoft.com/office/drawing/2014/main" id="{AD891652-7A20-4E89-A6F3-F4466C0F1244}"/>
              </a:ext>
            </a:extLst>
          </p:cNvPr>
          <p:cNvSpPr>
            <a:spLocks noGrp="1"/>
          </p:cNvSpPr>
          <p:nvPr>
            <p:ph type="body" sz="quarter" idx="13" hasCustomPrompt="1"/>
          </p:nvPr>
        </p:nvSpPr>
        <p:spPr>
          <a:xfrm>
            <a:off x="4479342" y="2888186"/>
            <a:ext cx="1600201" cy="1081627"/>
          </a:xfrm>
        </p:spPr>
        <p:txBody>
          <a:bodyPr>
            <a:noAutofit/>
          </a:bodyPr>
          <a:lstStyle>
            <a:lvl1pPr>
              <a:buNone/>
              <a:defRPr sz="7200">
                <a:latin typeface="+mj-lt"/>
              </a:defRPr>
            </a:lvl1pPr>
          </a:lstStyle>
          <a:p>
            <a:pPr lvl="0"/>
            <a:r>
              <a:rPr lang="en-US" dirty="0"/>
              <a:t>01.</a:t>
            </a:r>
            <a:endParaRPr lang="en-ID" dirty="0"/>
          </a:p>
        </p:txBody>
      </p:sp>
    </p:spTree>
    <p:extLst>
      <p:ext uri="{BB962C8B-B14F-4D97-AF65-F5344CB8AC3E}">
        <p14:creationId xmlns:p14="http://schemas.microsoft.com/office/powerpoint/2010/main" val="383850713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A733045-AE48-4203-B7B6-A2CEF026459C}"/>
              </a:ext>
            </a:extLst>
          </p:cNvPr>
          <p:cNvSpPr/>
          <p:nvPr userDrawn="1"/>
        </p:nvSpPr>
        <p:spPr>
          <a:xfrm>
            <a:off x="9667874" y="1005191"/>
            <a:ext cx="2524125" cy="5050367"/>
          </a:xfrm>
          <a:prstGeom prst="rect">
            <a:avLst/>
          </a:prstGeom>
          <a:solidFill>
            <a:srgbClr val="656A5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 name="Content Placeholder 2">
            <a:extLst>
              <a:ext uri="{FF2B5EF4-FFF2-40B4-BE49-F238E27FC236}">
                <a16:creationId xmlns:a16="http://schemas.microsoft.com/office/drawing/2014/main" id="{42C2D448-C2E1-4A6B-A6C4-73B446CAC706}"/>
              </a:ext>
            </a:extLst>
          </p:cNvPr>
          <p:cNvSpPr>
            <a:spLocks noGrp="1"/>
          </p:cNvSpPr>
          <p:nvPr>
            <p:ph idx="1" hasCustomPrompt="1"/>
          </p:nvPr>
        </p:nvSpPr>
        <p:spPr>
          <a:xfrm>
            <a:off x="1500982" y="576471"/>
            <a:ext cx="7474054" cy="5050366"/>
          </a:xfrm>
        </p:spPr>
        <p:txBody>
          <a:bodyPr/>
          <a:lstStyle>
            <a:lvl1pPr>
              <a:defRPr>
                <a:solidFill>
                  <a:schemeClr val="tx1">
                    <a:lumMod val="75000"/>
                  </a:schemeClr>
                </a:solidFill>
                <a:latin typeface="+mn-lt"/>
              </a:defRPr>
            </a:lvl1pPr>
            <a:lvl2pPr>
              <a:defRPr>
                <a:solidFill>
                  <a:schemeClr val="tx1">
                    <a:lumMod val="75000"/>
                  </a:schemeClr>
                </a:solidFill>
                <a:latin typeface="+mn-lt"/>
              </a:defRPr>
            </a:lvl2pPr>
            <a:lvl3pPr>
              <a:defRPr>
                <a:solidFill>
                  <a:schemeClr val="tx1">
                    <a:lumMod val="75000"/>
                  </a:schemeClr>
                </a:solidFill>
                <a:latin typeface="+mn-lt"/>
              </a:defRPr>
            </a:lvl3pPr>
            <a:lvl4pPr>
              <a:defRPr>
                <a:solidFill>
                  <a:schemeClr val="tx1">
                    <a:lumMod val="75000"/>
                  </a:schemeClr>
                </a:solidFill>
                <a:latin typeface="+mn-lt"/>
              </a:defRPr>
            </a:lvl4pPr>
            <a:lvl5pPr>
              <a:defRPr>
                <a:solidFill>
                  <a:schemeClr val="tx1">
                    <a:lumMod val="75000"/>
                  </a:schemeClr>
                </a:solidFill>
                <a:latin typeface="+mn-lt"/>
              </a:defRPr>
            </a:lvl5pPr>
          </a:lstStyle>
          <a:p>
            <a:pPr lvl="0"/>
            <a:r>
              <a:rPr lang="en-US" dirty="0"/>
              <a:t>Pointers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4" name="Date Placeholder 3">
            <a:extLst>
              <a:ext uri="{FF2B5EF4-FFF2-40B4-BE49-F238E27FC236}">
                <a16:creationId xmlns:a16="http://schemas.microsoft.com/office/drawing/2014/main" id="{DFF1C679-03E4-4643-B26D-F3D99C7898F8}"/>
              </a:ext>
            </a:extLst>
          </p:cNvPr>
          <p:cNvSpPr>
            <a:spLocks noGrp="1"/>
          </p:cNvSpPr>
          <p:nvPr>
            <p:ph type="dt" sz="half" idx="10"/>
          </p:nvPr>
        </p:nvSpPr>
        <p:spPr/>
        <p:txBody>
          <a:bodyPr/>
          <a:lstStyle>
            <a:lvl1pPr>
              <a:defRPr>
                <a:solidFill>
                  <a:srgbClr val="636852"/>
                </a:solidFill>
                <a:latin typeface="Playfair Display" panose="00000500000000000000" pitchFamily="2" charset="0"/>
              </a:defRPr>
            </a:lvl1pPr>
          </a:lstStyle>
          <a:p>
            <a:fld id="{79AA9DB5-A1F6-4624-970D-0BADA959D4A3}" type="datetimeFigureOut">
              <a:rPr lang="en-ID" smtClean="0"/>
              <a:pPr/>
              <a:t>31/07/25</a:t>
            </a:fld>
            <a:endParaRPr lang="en-ID" dirty="0"/>
          </a:p>
        </p:txBody>
      </p:sp>
      <p:sp>
        <p:nvSpPr>
          <p:cNvPr id="5" name="Footer Placeholder 4">
            <a:extLst>
              <a:ext uri="{FF2B5EF4-FFF2-40B4-BE49-F238E27FC236}">
                <a16:creationId xmlns:a16="http://schemas.microsoft.com/office/drawing/2014/main" id="{9C8BC614-E49F-441E-974F-448840036121}"/>
              </a:ext>
            </a:extLst>
          </p:cNvPr>
          <p:cNvSpPr>
            <a:spLocks noGrp="1"/>
          </p:cNvSpPr>
          <p:nvPr>
            <p:ph type="ftr" sz="quarter" idx="11"/>
          </p:nvPr>
        </p:nvSpPr>
        <p:spPr/>
        <p:txBody>
          <a:bodyPr/>
          <a:lstStyle>
            <a:lvl1pPr>
              <a:defRPr>
                <a:solidFill>
                  <a:srgbClr val="636852"/>
                </a:solidFill>
              </a:defRPr>
            </a:lvl1pPr>
          </a:lstStyle>
          <a:p>
            <a:endParaRPr lang="en-ID" dirty="0">
              <a:solidFill>
                <a:srgbClr val="636852"/>
              </a:solidFill>
            </a:endParaRPr>
          </a:p>
        </p:txBody>
      </p:sp>
      <p:sp>
        <p:nvSpPr>
          <p:cNvPr id="6" name="Slide Number Placeholder 5">
            <a:extLst>
              <a:ext uri="{FF2B5EF4-FFF2-40B4-BE49-F238E27FC236}">
                <a16:creationId xmlns:a16="http://schemas.microsoft.com/office/drawing/2014/main" id="{0AA91D14-5274-4886-B3C8-4071E75F8F73}"/>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2" name="Title 1">
            <a:extLst>
              <a:ext uri="{FF2B5EF4-FFF2-40B4-BE49-F238E27FC236}">
                <a16:creationId xmlns:a16="http://schemas.microsoft.com/office/drawing/2014/main" id="{96B971A7-BCA4-40C3-A04E-80F58FC23AC0}"/>
              </a:ext>
            </a:extLst>
          </p:cNvPr>
          <p:cNvSpPr>
            <a:spLocks noGrp="1"/>
          </p:cNvSpPr>
          <p:nvPr>
            <p:ph type="title" hasCustomPrompt="1"/>
          </p:nvPr>
        </p:nvSpPr>
        <p:spPr>
          <a:xfrm rot="16200000">
            <a:off x="-2416728" y="2803765"/>
            <a:ext cx="6509855" cy="1325563"/>
          </a:xfrm>
        </p:spPr>
        <p:txBody>
          <a:bodyPr/>
          <a:lstStyle>
            <a:lvl1pPr algn="ctr">
              <a:defRPr sz="6600">
                <a:solidFill>
                  <a:schemeClr val="tx1">
                    <a:lumMod val="75000"/>
                  </a:schemeClr>
                </a:solidFill>
                <a:latin typeface="+mj-lt"/>
              </a:defRPr>
            </a:lvl1pPr>
          </a:lstStyle>
          <a:p>
            <a:r>
              <a:rPr lang="en-US" dirty="0"/>
              <a:t>headlines</a:t>
            </a:r>
            <a:endParaRPr lang="en-ID" dirty="0"/>
          </a:p>
        </p:txBody>
      </p:sp>
    </p:spTree>
    <p:extLst>
      <p:ext uri="{BB962C8B-B14F-4D97-AF65-F5344CB8AC3E}">
        <p14:creationId xmlns:p14="http://schemas.microsoft.com/office/powerpoint/2010/main" val="1853439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 with Tex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F1C679-03E4-4643-B26D-F3D99C7898F8}"/>
              </a:ext>
            </a:extLst>
          </p:cNvPr>
          <p:cNvSpPr>
            <a:spLocks noGrp="1"/>
          </p:cNvSpPr>
          <p:nvPr>
            <p:ph type="dt" sz="half" idx="10"/>
          </p:nvPr>
        </p:nvSpPr>
        <p:spPr/>
        <p:txBody>
          <a:bodyPr/>
          <a:lstStyle>
            <a:lvl1pPr>
              <a:defRPr>
                <a:solidFill>
                  <a:srgbClr val="636852"/>
                </a:solidFill>
                <a:latin typeface="Playfair Display" panose="00000500000000000000" pitchFamily="2" charset="0"/>
              </a:defRPr>
            </a:lvl1pPr>
          </a:lstStyle>
          <a:p>
            <a:fld id="{79AA9DB5-A1F6-4624-970D-0BADA959D4A3}" type="datetimeFigureOut">
              <a:rPr lang="en-ID" smtClean="0"/>
              <a:pPr/>
              <a:t>31/07/25</a:t>
            </a:fld>
            <a:endParaRPr lang="en-ID" dirty="0"/>
          </a:p>
        </p:txBody>
      </p:sp>
      <p:sp>
        <p:nvSpPr>
          <p:cNvPr id="5" name="Footer Placeholder 4">
            <a:extLst>
              <a:ext uri="{FF2B5EF4-FFF2-40B4-BE49-F238E27FC236}">
                <a16:creationId xmlns:a16="http://schemas.microsoft.com/office/drawing/2014/main" id="{9C8BC614-E49F-441E-974F-448840036121}"/>
              </a:ext>
            </a:extLst>
          </p:cNvPr>
          <p:cNvSpPr>
            <a:spLocks noGrp="1"/>
          </p:cNvSpPr>
          <p:nvPr>
            <p:ph type="ftr" sz="quarter" idx="11"/>
          </p:nvPr>
        </p:nvSpPr>
        <p:spPr/>
        <p:txBody>
          <a:bodyPr/>
          <a:lstStyle>
            <a:lvl1pPr>
              <a:defRPr>
                <a:solidFill>
                  <a:srgbClr val="636852"/>
                </a:solidFill>
              </a:defRPr>
            </a:lvl1pPr>
          </a:lstStyle>
          <a:p>
            <a:endParaRPr lang="en-ID" dirty="0">
              <a:solidFill>
                <a:srgbClr val="636852"/>
              </a:solidFill>
            </a:endParaRPr>
          </a:p>
        </p:txBody>
      </p:sp>
      <p:sp>
        <p:nvSpPr>
          <p:cNvPr id="6" name="Slide Number Placeholder 5">
            <a:extLst>
              <a:ext uri="{FF2B5EF4-FFF2-40B4-BE49-F238E27FC236}">
                <a16:creationId xmlns:a16="http://schemas.microsoft.com/office/drawing/2014/main" id="{0AA91D14-5274-4886-B3C8-4071E75F8F73}"/>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2" name="Title 1">
            <a:extLst>
              <a:ext uri="{FF2B5EF4-FFF2-40B4-BE49-F238E27FC236}">
                <a16:creationId xmlns:a16="http://schemas.microsoft.com/office/drawing/2014/main" id="{96B971A7-BCA4-40C3-A04E-80F58FC23AC0}"/>
              </a:ext>
            </a:extLst>
          </p:cNvPr>
          <p:cNvSpPr>
            <a:spLocks noGrp="1"/>
          </p:cNvSpPr>
          <p:nvPr>
            <p:ph type="title" hasCustomPrompt="1"/>
          </p:nvPr>
        </p:nvSpPr>
        <p:spPr>
          <a:xfrm>
            <a:off x="725078" y="604440"/>
            <a:ext cx="2856321" cy="1373447"/>
          </a:xfrm>
          <a:solidFill>
            <a:schemeClr val="bg2"/>
          </a:solidFill>
        </p:spPr>
        <p:txBody>
          <a:bodyPr>
            <a:noAutofit/>
          </a:bodyPr>
          <a:lstStyle>
            <a:lvl1pPr>
              <a:defRPr sz="5000" baseline="0">
                <a:solidFill>
                  <a:schemeClr val="tx1">
                    <a:lumMod val="75000"/>
                  </a:schemeClr>
                </a:solidFill>
                <a:latin typeface="+mj-lt"/>
              </a:defRPr>
            </a:lvl1pPr>
          </a:lstStyle>
          <a:p>
            <a:r>
              <a:rPr lang="en-US" dirty="0"/>
              <a:t>Title</a:t>
            </a:r>
            <a:endParaRPr lang="en-ID" dirty="0"/>
          </a:p>
        </p:txBody>
      </p:sp>
      <p:sp>
        <p:nvSpPr>
          <p:cNvPr id="8" name="Rectangle 7">
            <a:extLst>
              <a:ext uri="{FF2B5EF4-FFF2-40B4-BE49-F238E27FC236}">
                <a16:creationId xmlns:a16="http://schemas.microsoft.com/office/drawing/2014/main" id="{B2EEB17F-2A02-4B77-A3AA-8A73C43E030C}"/>
              </a:ext>
            </a:extLst>
          </p:cNvPr>
          <p:cNvSpPr/>
          <p:nvPr userDrawn="1"/>
        </p:nvSpPr>
        <p:spPr>
          <a:xfrm>
            <a:off x="11857038" y="1643061"/>
            <a:ext cx="334962" cy="3571875"/>
          </a:xfrm>
          <a:prstGeom prst="rect">
            <a:avLst/>
          </a:prstGeom>
          <a:solidFill>
            <a:srgbClr val="3536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0" name="Rectangle 9">
            <a:extLst>
              <a:ext uri="{FF2B5EF4-FFF2-40B4-BE49-F238E27FC236}">
                <a16:creationId xmlns:a16="http://schemas.microsoft.com/office/drawing/2014/main" id="{61EAFA92-5BC4-4C76-AB3A-F07382CE2FE7}"/>
              </a:ext>
            </a:extLst>
          </p:cNvPr>
          <p:cNvSpPr/>
          <p:nvPr userDrawn="1"/>
        </p:nvSpPr>
        <p:spPr>
          <a:xfrm>
            <a:off x="1" y="1643061"/>
            <a:ext cx="334962" cy="3571875"/>
          </a:xfrm>
          <a:prstGeom prst="rect">
            <a:avLst/>
          </a:prstGeom>
          <a:solidFill>
            <a:srgbClr val="6368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Content Placeholder 6">
            <a:extLst>
              <a:ext uri="{FF2B5EF4-FFF2-40B4-BE49-F238E27FC236}">
                <a16:creationId xmlns:a16="http://schemas.microsoft.com/office/drawing/2014/main" id="{B0D047C3-3A14-48B9-97EF-583EA3664C2B}"/>
              </a:ext>
            </a:extLst>
          </p:cNvPr>
          <p:cNvSpPr>
            <a:spLocks noGrp="1"/>
          </p:cNvSpPr>
          <p:nvPr>
            <p:ph sz="quarter" idx="13"/>
          </p:nvPr>
        </p:nvSpPr>
        <p:spPr>
          <a:xfrm>
            <a:off x="3946525" y="604838"/>
            <a:ext cx="7175500" cy="4981575"/>
          </a:xfrm>
        </p:spPr>
        <p:txBody>
          <a:bodyPr/>
          <a:lstStyle>
            <a:lvl1pPr>
              <a:defRPr>
                <a:solidFill>
                  <a:schemeClr val="tx1">
                    <a:lumMod val="75000"/>
                  </a:schemeClr>
                </a:solidFill>
              </a:defRPr>
            </a:lvl1pPr>
            <a:lvl2pPr>
              <a:defRPr>
                <a:solidFill>
                  <a:schemeClr val="tx1">
                    <a:lumMod val="75000"/>
                  </a:schemeClr>
                </a:solidFill>
              </a:defRPr>
            </a:lvl2pPr>
            <a:lvl3pPr>
              <a:defRPr>
                <a:solidFill>
                  <a:schemeClr val="tx1">
                    <a:lumMod val="75000"/>
                  </a:schemeClr>
                </a:solidFill>
              </a:defRPr>
            </a:lvl3pPr>
            <a:lvl4pPr>
              <a:defRPr>
                <a:solidFill>
                  <a:schemeClr val="tx1">
                    <a:lumMod val="75000"/>
                  </a:schemeClr>
                </a:solidFill>
              </a:defRPr>
            </a:lvl4pPr>
            <a:lvl5pPr>
              <a:defRPr>
                <a:solidFill>
                  <a:schemeClr val="tx1">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
        <p:nvSpPr>
          <p:cNvPr id="12" name="Text Placeholder 11">
            <a:extLst>
              <a:ext uri="{FF2B5EF4-FFF2-40B4-BE49-F238E27FC236}">
                <a16:creationId xmlns:a16="http://schemas.microsoft.com/office/drawing/2014/main" id="{EA3E29AE-4369-4A02-9329-B575450E55BC}"/>
              </a:ext>
            </a:extLst>
          </p:cNvPr>
          <p:cNvSpPr>
            <a:spLocks noGrp="1"/>
          </p:cNvSpPr>
          <p:nvPr>
            <p:ph type="body" sz="quarter" idx="14" hasCustomPrompt="1"/>
          </p:nvPr>
        </p:nvSpPr>
        <p:spPr>
          <a:xfrm>
            <a:off x="725488" y="2157413"/>
            <a:ext cx="2855912" cy="3429000"/>
          </a:xfrm>
        </p:spPr>
        <p:txBody>
          <a:bodyPr>
            <a:normAutofit/>
          </a:bodyPr>
          <a:lstStyle>
            <a:lvl1pPr>
              <a:defRPr sz="2000">
                <a:solidFill>
                  <a:schemeClr val="tx1">
                    <a:lumMod val="75000"/>
                  </a:schemeClr>
                </a:solidFill>
              </a:defRPr>
            </a:lvl1pPr>
            <a:lvl2pPr>
              <a:defRPr sz="1800">
                <a:solidFill>
                  <a:schemeClr val="tx1">
                    <a:lumMod val="75000"/>
                  </a:schemeClr>
                </a:solidFill>
              </a:defRPr>
            </a:lvl2pPr>
            <a:lvl3pPr>
              <a:defRPr sz="1600">
                <a:solidFill>
                  <a:schemeClr val="tx1">
                    <a:lumMod val="75000"/>
                  </a:schemeClr>
                </a:solidFill>
              </a:defRPr>
            </a:lvl3pPr>
            <a:lvl4pPr>
              <a:defRPr sz="1400">
                <a:solidFill>
                  <a:schemeClr val="tx1">
                    <a:lumMod val="75000"/>
                  </a:schemeClr>
                </a:solidFill>
              </a:defRPr>
            </a:lvl4pPr>
            <a:lvl5pPr>
              <a:defRPr sz="1400">
                <a:solidFill>
                  <a:schemeClr val="tx1">
                    <a:lumMod val="75000"/>
                  </a:schemeClr>
                </a:solidFill>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1240387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F1C679-03E4-4643-B26D-F3D99C7898F8}"/>
              </a:ext>
            </a:extLst>
          </p:cNvPr>
          <p:cNvSpPr>
            <a:spLocks noGrp="1"/>
          </p:cNvSpPr>
          <p:nvPr>
            <p:ph type="dt" sz="half" idx="10"/>
          </p:nvPr>
        </p:nvSpPr>
        <p:spPr/>
        <p:txBody>
          <a:bodyPr/>
          <a:lstStyle>
            <a:lvl1pPr>
              <a:defRPr>
                <a:solidFill>
                  <a:srgbClr val="636852"/>
                </a:solidFill>
                <a:latin typeface="Playfair Display" panose="00000500000000000000" pitchFamily="2" charset="0"/>
              </a:defRPr>
            </a:lvl1pPr>
          </a:lstStyle>
          <a:p>
            <a:fld id="{79AA9DB5-A1F6-4624-970D-0BADA959D4A3}" type="datetimeFigureOut">
              <a:rPr lang="en-ID" smtClean="0"/>
              <a:pPr/>
              <a:t>31/07/25</a:t>
            </a:fld>
            <a:endParaRPr lang="en-ID" dirty="0"/>
          </a:p>
        </p:txBody>
      </p:sp>
      <p:sp>
        <p:nvSpPr>
          <p:cNvPr id="5" name="Footer Placeholder 4">
            <a:extLst>
              <a:ext uri="{FF2B5EF4-FFF2-40B4-BE49-F238E27FC236}">
                <a16:creationId xmlns:a16="http://schemas.microsoft.com/office/drawing/2014/main" id="{9C8BC614-E49F-441E-974F-448840036121}"/>
              </a:ext>
            </a:extLst>
          </p:cNvPr>
          <p:cNvSpPr>
            <a:spLocks noGrp="1"/>
          </p:cNvSpPr>
          <p:nvPr>
            <p:ph type="ftr" sz="quarter" idx="11"/>
          </p:nvPr>
        </p:nvSpPr>
        <p:spPr/>
        <p:txBody>
          <a:bodyPr/>
          <a:lstStyle>
            <a:lvl1pPr>
              <a:defRPr>
                <a:solidFill>
                  <a:srgbClr val="636852"/>
                </a:solidFill>
              </a:defRPr>
            </a:lvl1pPr>
          </a:lstStyle>
          <a:p>
            <a:endParaRPr lang="en-ID" dirty="0">
              <a:solidFill>
                <a:srgbClr val="636852"/>
              </a:solidFill>
            </a:endParaRPr>
          </a:p>
        </p:txBody>
      </p:sp>
      <p:sp>
        <p:nvSpPr>
          <p:cNvPr id="6" name="Slide Number Placeholder 5">
            <a:extLst>
              <a:ext uri="{FF2B5EF4-FFF2-40B4-BE49-F238E27FC236}">
                <a16:creationId xmlns:a16="http://schemas.microsoft.com/office/drawing/2014/main" id="{0AA91D14-5274-4886-B3C8-4071E75F8F73}"/>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
        <p:nvSpPr>
          <p:cNvPr id="2" name="Title 1">
            <a:extLst>
              <a:ext uri="{FF2B5EF4-FFF2-40B4-BE49-F238E27FC236}">
                <a16:creationId xmlns:a16="http://schemas.microsoft.com/office/drawing/2014/main" id="{96B971A7-BCA4-40C3-A04E-80F58FC23AC0}"/>
              </a:ext>
            </a:extLst>
          </p:cNvPr>
          <p:cNvSpPr>
            <a:spLocks noGrp="1"/>
          </p:cNvSpPr>
          <p:nvPr>
            <p:ph type="title" hasCustomPrompt="1"/>
          </p:nvPr>
        </p:nvSpPr>
        <p:spPr>
          <a:xfrm>
            <a:off x="1047751" y="561766"/>
            <a:ext cx="4505326" cy="1325563"/>
          </a:xfrm>
          <a:solidFill>
            <a:schemeClr val="bg2"/>
          </a:solidFill>
        </p:spPr>
        <p:txBody>
          <a:bodyPr anchor="b">
            <a:normAutofit/>
          </a:bodyPr>
          <a:lstStyle>
            <a:lvl1pPr algn="r">
              <a:defRPr sz="5400">
                <a:solidFill>
                  <a:srgbClr val="636852"/>
                </a:solidFill>
                <a:latin typeface="+mj-lt"/>
              </a:defRPr>
            </a:lvl1pPr>
          </a:lstStyle>
          <a:p>
            <a:r>
              <a:rPr lang="en-US" dirty="0"/>
              <a:t>Caption</a:t>
            </a:r>
            <a:endParaRPr lang="en-ID" dirty="0"/>
          </a:p>
        </p:txBody>
      </p:sp>
      <p:sp>
        <p:nvSpPr>
          <p:cNvPr id="7" name="Text Placeholder 6">
            <a:extLst>
              <a:ext uri="{FF2B5EF4-FFF2-40B4-BE49-F238E27FC236}">
                <a16:creationId xmlns:a16="http://schemas.microsoft.com/office/drawing/2014/main" id="{9F605E1E-A41F-4026-B324-E493E8629835}"/>
              </a:ext>
            </a:extLst>
          </p:cNvPr>
          <p:cNvSpPr>
            <a:spLocks noGrp="1"/>
          </p:cNvSpPr>
          <p:nvPr>
            <p:ph type="body" sz="quarter" idx="14"/>
          </p:nvPr>
        </p:nvSpPr>
        <p:spPr>
          <a:xfrm>
            <a:off x="1047751" y="2013916"/>
            <a:ext cx="4505326" cy="3571875"/>
          </a:xfrm>
        </p:spPr>
        <p:txBody>
          <a:bodyPr anchor="t">
            <a:normAutofit/>
          </a:bodyPr>
          <a:lstStyle>
            <a:lvl1pPr algn="r">
              <a:defRPr sz="2400"/>
            </a:lvl1pPr>
            <a:lvl2pPr algn="r">
              <a:defRPr sz="2000"/>
            </a:lvl2pPr>
            <a:lvl3pPr algn="r">
              <a:defRPr sz="1800"/>
            </a:lvl3pPr>
            <a:lvl4pPr algn="r">
              <a:defRPr sz="1600"/>
            </a:lvl4pPr>
            <a:lvl5pPr alg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8" name="Rectangle 7">
            <a:extLst>
              <a:ext uri="{FF2B5EF4-FFF2-40B4-BE49-F238E27FC236}">
                <a16:creationId xmlns:a16="http://schemas.microsoft.com/office/drawing/2014/main" id="{FB5A69C2-8380-4B7A-AF27-D3663FC0B534}"/>
              </a:ext>
            </a:extLst>
          </p:cNvPr>
          <p:cNvSpPr/>
          <p:nvPr userDrawn="1"/>
        </p:nvSpPr>
        <p:spPr>
          <a:xfrm>
            <a:off x="1" y="1643061"/>
            <a:ext cx="334962" cy="3571875"/>
          </a:xfrm>
          <a:prstGeom prst="rect">
            <a:avLst/>
          </a:prstGeom>
          <a:solidFill>
            <a:srgbClr val="6368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0" name="Content Placeholder 9">
            <a:extLst>
              <a:ext uri="{FF2B5EF4-FFF2-40B4-BE49-F238E27FC236}">
                <a16:creationId xmlns:a16="http://schemas.microsoft.com/office/drawing/2014/main" id="{09E118BF-7505-45FF-92D5-F46BE289494B}"/>
              </a:ext>
            </a:extLst>
          </p:cNvPr>
          <p:cNvSpPr>
            <a:spLocks noGrp="1"/>
          </p:cNvSpPr>
          <p:nvPr>
            <p:ph sz="quarter" idx="15"/>
          </p:nvPr>
        </p:nvSpPr>
        <p:spPr>
          <a:xfrm>
            <a:off x="6096001" y="561766"/>
            <a:ext cx="5741988" cy="50240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3029098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abl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17E9D182-679B-449F-AB58-AE0696AF19FC}"/>
              </a:ext>
            </a:extLst>
          </p:cNvPr>
          <p:cNvSpPr/>
          <p:nvPr userDrawn="1"/>
        </p:nvSpPr>
        <p:spPr>
          <a:xfrm>
            <a:off x="6388100" y="1019703"/>
            <a:ext cx="2582333" cy="2582333"/>
          </a:xfrm>
          <a:prstGeom prst="ellipse">
            <a:avLst/>
          </a:prstGeom>
          <a:solidFill>
            <a:srgbClr val="636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8">
            <a:extLst>
              <a:ext uri="{FF2B5EF4-FFF2-40B4-BE49-F238E27FC236}">
                <a16:creationId xmlns:a16="http://schemas.microsoft.com/office/drawing/2014/main" id="{1991818F-A3F6-4729-A6E3-846786BC5639}"/>
              </a:ext>
            </a:extLst>
          </p:cNvPr>
          <p:cNvSpPr/>
          <p:nvPr userDrawn="1"/>
        </p:nvSpPr>
        <p:spPr>
          <a:xfrm>
            <a:off x="8610600" y="0"/>
            <a:ext cx="3581400" cy="6858000"/>
          </a:xfrm>
          <a:prstGeom prst="rect">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BE450614-111B-481D-B661-7F1BC0215216}"/>
              </a:ext>
            </a:extLst>
          </p:cNvPr>
          <p:cNvSpPr>
            <a:spLocks noGrp="1"/>
          </p:cNvSpPr>
          <p:nvPr>
            <p:ph type="title" hasCustomPrompt="1"/>
          </p:nvPr>
        </p:nvSpPr>
        <p:spPr>
          <a:xfrm>
            <a:off x="808103" y="223091"/>
            <a:ext cx="5394193" cy="1185916"/>
          </a:xfrm>
        </p:spPr>
        <p:txBody>
          <a:bodyPr anchor="b"/>
          <a:lstStyle>
            <a:lvl1pPr>
              <a:defRPr sz="6000">
                <a:solidFill>
                  <a:srgbClr val="353638"/>
                </a:solidFill>
              </a:defRPr>
            </a:lvl1pPr>
          </a:lstStyle>
          <a:p>
            <a:r>
              <a:rPr lang="en-US" dirty="0"/>
              <a:t>heading</a:t>
            </a:r>
            <a:endParaRPr lang="en-ID" dirty="0"/>
          </a:p>
        </p:txBody>
      </p:sp>
      <p:sp>
        <p:nvSpPr>
          <p:cNvPr id="5" name="Date Placeholder 4">
            <a:extLst>
              <a:ext uri="{FF2B5EF4-FFF2-40B4-BE49-F238E27FC236}">
                <a16:creationId xmlns:a16="http://schemas.microsoft.com/office/drawing/2014/main" id="{3436262B-23B8-4AB8-A52A-A96F9FF6F7C5}"/>
              </a:ext>
            </a:extLst>
          </p:cNvPr>
          <p:cNvSpPr>
            <a:spLocks noGrp="1"/>
          </p:cNvSpPr>
          <p:nvPr>
            <p:ph type="dt" sz="half" idx="10"/>
          </p:nvPr>
        </p:nvSpPr>
        <p:spPr/>
        <p:txBody>
          <a:bodyPr/>
          <a:lstStyle>
            <a:lvl1pPr>
              <a:defRPr>
                <a:solidFill>
                  <a:srgbClr val="353638"/>
                </a:solidFill>
              </a:defRPr>
            </a:lvl1pPr>
          </a:lstStyle>
          <a:p>
            <a:fld id="{79AA9DB5-A1F6-4624-970D-0BADA959D4A3}" type="datetimeFigureOut">
              <a:rPr lang="en-ID" smtClean="0"/>
              <a:pPr/>
              <a:t>31/07/25</a:t>
            </a:fld>
            <a:endParaRPr lang="en-ID" dirty="0"/>
          </a:p>
        </p:txBody>
      </p:sp>
      <p:sp>
        <p:nvSpPr>
          <p:cNvPr id="6" name="Footer Placeholder 5">
            <a:extLst>
              <a:ext uri="{FF2B5EF4-FFF2-40B4-BE49-F238E27FC236}">
                <a16:creationId xmlns:a16="http://schemas.microsoft.com/office/drawing/2014/main" id="{25DB139A-A351-4040-A6D4-8C0AC653C6D4}"/>
              </a:ext>
            </a:extLst>
          </p:cNvPr>
          <p:cNvSpPr>
            <a:spLocks noGrp="1"/>
          </p:cNvSpPr>
          <p:nvPr>
            <p:ph type="ftr" sz="quarter" idx="11"/>
          </p:nvPr>
        </p:nvSpPr>
        <p:spPr/>
        <p:txBody>
          <a:bodyPr/>
          <a:lstStyle>
            <a:lvl1pPr>
              <a:defRPr>
                <a:solidFill>
                  <a:srgbClr val="353638"/>
                </a:solidFill>
              </a:defRPr>
            </a:lvl1pPr>
          </a:lstStyle>
          <a:p>
            <a:endParaRPr lang="en-ID" dirty="0">
              <a:solidFill>
                <a:srgbClr val="353638"/>
              </a:solidFill>
            </a:endParaRPr>
          </a:p>
        </p:txBody>
      </p:sp>
      <p:sp>
        <p:nvSpPr>
          <p:cNvPr id="7" name="Slide Number Placeholder 6">
            <a:extLst>
              <a:ext uri="{FF2B5EF4-FFF2-40B4-BE49-F238E27FC236}">
                <a16:creationId xmlns:a16="http://schemas.microsoft.com/office/drawing/2014/main" id="{20A01873-32A3-4CC1-8939-73F0B43D5C56}"/>
              </a:ext>
            </a:extLst>
          </p:cNvPr>
          <p:cNvSpPr>
            <a:spLocks noGrp="1"/>
          </p:cNvSpPr>
          <p:nvPr>
            <p:ph type="sldNum" sz="quarter" idx="12"/>
          </p:nvPr>
        </p:nvSpPr>
        <p:spPr/>
        <p:txBody>
          <a:bodyPr/>
          <a:lstStyle>
            <a:lvl1pPr>
              <a:defRPr>
                <a:solidFill>
                  <a:srgbClr val="353638"/>
                </a:solidFill>
              </a:defRPr>
            </a:lvl1pPr>
          </a:lstStyle>
          <a:p>
            <a:fld id="{356B735F-8457-406A-A744-FC5DA5F22371}" type="slidenum">
              <a:rPr lang="en-ID" smtClean="0"/>
              <a:pPr/>
              <a:t>‹#›</a:t>
            </a:fld>
            <a:endParaRPr lang="en-ID"/>
          </a:p>
        </p:txBody>
      </p:sp>
      <p:sp>
        <p:nvSpPr>
          <p:cNvPr id="13" name="Table Placeholder 12">
            <a:extLst>
              <a:ext uri="{FF2B5EF4-FFF2-40B4-BE49-F238E27FC236}">
                <a16:creationId xmlns:a16="http://schemas.microsoft.com/office/drawing/2014/main" id="{5FDF9DBB-F6E4-49E6-91A7-3787355D4A10}"/>
              </a:ext>
            </a:extLst>
          </p:cNvPr>
          <p:cNvSpPr>
            <a:spLocks noGrp="1"/>
          </p:cNvSpPr>
          <p:nvPr>
            <p:ph type="tbl" sz="quarter" idx="13"/>
          </p:nvPr>
        </p:nvSpPr>
        <p:spPr>
          <a:xfrm>
            <a:off x="808102" y="1554481"/>
            <a:ext cx="5394193" cy="4615286"/>
          </a:xfrm>
        </p:spPr>
        <p:txBody>
          <a:bodyPr/>
          <a:lstStyle/>
          <a:p>
            <a:r>
              <a:rPr lang="en-US"/>
              <a:t>Click icon to add table</a:t>
            </a:r>
            <a:endParaRPr lang="en-ID"/>
          </a:p>
        </p:txBody>
      </p:sp>
      <p:sp>
        <p:nvSpPr>
          <p:cNvPr id="15" name="Rectangle 14">
            <a:extLst>
              <a:ext uri="{FF2B5EF4-FFF2-40B4-BE49-F238E27FC236}">
                <a16:creationId xmlns:a16="http://schemas.microsoft.com/office/drawing/2014/main" id="{802544C3-7AB9-446F-B7CB-6EC90ED4D621}"/>
              </a:ext>
            </a:extLst>
          </p:cNvPr>
          <p:cNvSpPr/>
          <p:nvPr userDrawn="1"/>
        </p:nvSpPr>
        <p:spPr>
          <a:xfrm>
            <a:off x="7469714" y="2175403"/>
            <a:ext cx="2142067" cy="135467"/>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89020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EE02BF-95CD-4681-9CD4-193772568AB0}"/>
              </a:ext>
            </a:extLst>
          </p:cNvPr>
          <p:cNvSpPr/>
          <p:nvPr userDrawn="1"/>
        </p:nvSpPr>
        <p:spPr>
          <a:xfrm>
            <a:off x="0" y="1977887"/>
            <a:ext cx="1346200" cy="43784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5FC24A95-F3A6-4009-9B14-091B146F5000}"/>
              </a:ext>
            </a:extLst>
          </p:cNvPr>
          <p:cNvSpPr>
            <a:spLocks noGrp="1"/>
          </p:cNvSpPr>
          <p:nvPr>
            <p:ph type="dt" sz="half" idx="10"/>
          </p:nvPr>
        </p:nvSpPr>
        <p:spPr/>
        <p:txBody>
          <a:bodyPr/>
          <a:lstStyle/>
          <a:p>
            <a:fld id="{79AA9DB5-A1F6-4624-970D-0BADA959D4A3}" type="datetimeFigureOut">
              <a:rPr lang="en-ID" smtClean="0"/>
              <a:t>31/07/25</a:t>
            </a:fld>
            <a:endParaRPr lang="en-ID"/>
          </a:p>
        </p:txBody>
      </p:sp>
      <p:sp>
        <p:nvSpPr>
          <p:cNvPr id="4" name="Footer Placeholder 3">
            <a:extLst>
              <a:ext uri="{FF2B5EF4-FFF2-40B4-BE49-F238E27FC236}">
                <a16:creationId xmlns:a16="http://schemas.microsoft.com/office/drawing/2014/main" id="{22706536-94BF-4A7B-A629-1E4C5D3C99E4}"/>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8E20CA9-CEDE-4609-BDD5-29AC30C263AE}"/>
              </a:ext>
            </a:extLst>
          </p:cNvPr>
          <p:cNvSpPr>
            <a:spLocks noGrp="1"/>
          </p:cNvSpPr>
          <p:nvPr>
            <p:ph type="sldNum" sz="quarter" idx="12"/>
          </p:nvPr>
        </p:nvSpPr>
        <p:spPr/>
        <p:txBody>
          <a:bodyPr/>
          <a:lstStyle/>
          <a:p>
            <a:fld id="{356B735F-8457-406A-A744-FC5DA5F22371}" type="slidenum">
              <a:rPr lang="en-ID" smtClean="0"/>
              <a:t>‹#›</a:t>
            </a:fld>
            <a:endParaRPr lang="en-ID"/>
          </a:p>
        </p:txBody>
      </p:sp>
      <p:sp>
        <p:nvSpPr>
          <p:cNvPr id="7" name="Picture Placeholder 6">
            <a:extLst>
              <a:ext uri="{FF2B5EF4-FFF2-40B4-BE49-F238E27FC236}">
                <a16:creationId xmlns:a16="http://schemas.microsoft.com/office/drawing/2014/main" id="{539C5DDE-7DF8-4141-A25B-797D71AB3A99}"/>
              </a:ext>
            </a:extLst>
          </p:cNvPr>
          <p:cNvSpPr>
            <a:spLocks noGrp="1"/>
          </p:cNvSpPr>
          <p:nvPr>
            <p:ph type="pic" sz="quarter" idx="13"/>
          </p:nvPr>
        </p:nvSpPr>
        <p:spPr>
          <a:xfrm>
            <a:off x="3218328" y="403692"/>
            <a:ext cx="8650941" cy="5566802"/>
          </a:xfrm>
        </p:spPr>
        <p:txBody>
          <a:bodyPr/>
          <a:lstStyle/>
          <a:p>
            <a:r>
              <a:rPr lang="en-US"/>
              <a:t>Click icon to add picture</a:t>
            </a:r>
            <a:endParaRPr lang="en-NZ" dirty="0"/>
          </a:p>
        </p:txBody>
      </p:sp>
      <p:sp>
        <p:nvSpPr>
          <p:cNvPr id="8" name="Rectangle 7">
            <a:extLst>
              <a:ext uri="{FF2B5EF4-FFF2-40B4-BE49-F238E27FC236}">
                <a16:creationId xmlns:a16="http://schemas.microsoft.com/office/drawing/2014/main" id="{81C51530-0D98-4F9E-AD07-640FAF20AF4F}"/>
              </a:ext>
            </a:extLst>
          </p:cNvPr>
          <p:cNvSpPr/>
          <p:nvPr userDrawn="1"/>
        </p:nvSpPr>
        <p:spPr>
          <a:xfrm>
            <a:off x="11857038" y="1643061"/>
            <a:ext cx="334962" cy="3571875"/>
          </a:xfrm>
          <a:prstGeom prst="rect">
            <a:avLst/>
          </a:prstGeom>
          <a:solidFill>
            <a:srgbClr val="3536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9" name="Title 1">
            <a:extLst>
              <a:ext uri="{FF2B5EF4-FFF2-40B4-BE49-F238E27FC236}">
                <a16:creationId xmlns:a16="http://schemas.microsoft.com/office/drawing/2014/main" id="{B6A9FDC3-F541-464C-AD32-6B0F5284AF17}"/>
              </a:ext>
            </a:extLst>
          </p:cNvPr>
          <p:cNvSpPr>
            <a:spLocks noGrp="1"/>
          </p:cNvSpPr>
          <p:nvPr>
            <p:ph type="title" hasCustomPrompt="1"/>
          </p:nvPr>
        </p:nvSpPr>
        <p:spPr>
          <a:xfrm>
            <a:off x="232019" y="403692"/>
            <a:ext cx="2856321" cy="1574195"/>
          </a:xfrm>
        </p:spPr>
        <p:txBody>
          <a:bodyPr>
            <a:normAutofit/>
          </a:bodyPr>
          <a:lstStyle>
            <a:lvl1pPr>
              <a:defRPr sz="5400">
                <a:solidFill>
                  <a:srgbClr val="636852"/>
                </a:solidFill>
                <a:latin typeface="+mj-lt"/>
              </a:defRPr>
            </a:lvl1pPr>
          </a:lstStyle>
          <a:p>
            <a:r>
              <a:rPr lang="en-US" dirty="0"/>
              <a:t>Picture Title</a:t>
            </a:r>
            <a:endParaRPr lang="en-ID" dirty="0"/>
          </a:p>
        </p:txBody>
      </p:sp>
      <p:sp>
        <p:nvSpPr>
          <p:cNvPr id="11" name="Oval 10">
            <a:extLst>
              <a:ext uri="{FF2B5EF4-FFF2-40B4-BE49-F238E27FC236}">
                <a16:creationId xmlns:a16="http://schemas.microsoft.com/office/drawing/2014/main" id="{15C31BCC-2FC0-42D9-B311-222BD6C547E3}"/>
              </a:ext>
            </a:extLst>
          </p:cNvPr>
          <p:cNvSpPr/>
          <p:nvPr userDrawn="1"/>
        </p:nvSpPr>
        <p:spPr>
          <a:xfrm>
            <a:off x="232019" y="3187093"/>
            <a:ext cx="2226259" cy="2119494"/>
          </a:xfrm>
          <a:prstGeom prst="ellipse">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18033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13F92-5DF7-41CB-BA05-FEC39036209B}"/>
              </a:ext>
            </a:extLst>
          </p:cNvPr>
          <p:cNvSpPr/>
          <p:nvPr userDrawn="1"/>
        </p:nvSpPr>
        <p:spPr>
          <a:xfrm>
            <a:off x="266700" y="268817"/>
            <a:ext cx="11658600" cy="6332008"/>
          </a:xfrm>
          <a:prstGeom prst="rect">
            <a:avLst/>
          </a:prstGeom>
          <a:solidFill>
            <a:srgbClr val="353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A57BFD46-59E1-4F55-AC46-F453E1B06B67}"/>
              </a:ext>
            </a:extLst>
          </p:cNvPr>
          <p:cNvSpPr>
            <a:spLocks noGrp="1"/>
          </p:cNvSpPr>
          <p:nvPr>
            <p:ph type="title" hasCustomPrompt="1"/>
          </p:nvPr>
        </p:nvSpPr>
        <p:spPr>
          <a:xfrm>
            <a:off x="2496672" y="1355179"/>
            <a:ext cx="7611034" cy="3444874"/>
          </a:xfrm>
        </p:spPr>
        <p:txBody>
          <a:bodyPr>
            <a:noAutofit/>
          </a:bodyPr>
          <a:lstStyle>
            <a:lvl1pPr algn="ctr">
              <a:defRPr sz="4800">
                <a:solidFill>
                  <a:srgbClr val="EFEFEF"/>
                </a:solidFill>
              </a:defRPr>
            </a:lvl1pPr>
          </a:lstStyle>
          <a:p>
            <a:r>
              <a:rPr lang="en-US" dirty="0"/>
              <a:t>quote</a:t>
            </a:r>
            <a:endParaRPr lang="en-ID" dirty="0"/>
          </a:p>
        </p:txBody>
      </p:sp>
      <p:sp>
        <p:nvSpPr>
          <p:cNvPr id="3" name="Date Placeholder 2">
            <a:extLst>
              <a:ext uri="{FF2B5EF4-FFF2-40B4-BE49-F238E27FC236}">
                <a16:creationId xmlns:a16="http://schemas.microsoft.com/office/drawing/2014/main" id="{21C66221-AADF-4726-9FA1-2CB4F0C22E22}"/>
              </a:ext>
            </a:extLst>
          </p:cNvPr>
          <p:cNvSpPr>
            <a:spLocks noGrp="1"/>
          </p:cNvSpPr>
          <p:nvPr>
            <p:ph type="dt" sz="half" idx="10"/>
          </p:nvPr>
        </p:nvSpPr>
        <p:spPr>
          <a:xfrm>
            <a:off x="838200" y="6086110"/>
            <a:ext cx="2743200" cy="365125"/>
          </a:xfrm>
        </p:spPr>
        <p:txBody>
          <a:bodyPr/>
          <a:lstStyle>
            <a:lvl1pPr>
              <a:defRPr>
                <a:solidFill>
                  <a:srgbClr val="EFEFEF"/>
                </a:solidFill>
              </a:defRPr>
            </a:lvl1pPr>
          </a:lstStyle>
          <a:p>
            <a:fld id="{79AA9DB5-A1F6-4624-970D-0BADA959D4A3}" type="datetimeFigureOut">
              <a:rPr lang="en-ID" smtClean="0"/>
              <a:pPr/>
              <a:t>31/07/25</a:t>
            </a:fld>
            <a:endParaRPr lang="en-ID" dirty="0"/>
          </a:p>
        </p:txBody>
      </p:sp>
      <p:sp>
        <p:nvSpPr>
          <p:cNvPr id="4" name="Footer Placeholder 3">
            <a:extLst>
              <a:ext uri="{FF2B5EF4-FFF2-40B4-BE49-F238E27FC236}">
                <a16:creationId xmlns:a16="http://schemas.microsoft.com/office/drawing/2014/main" id="{7B8143C5-1D4B-46C8-A783-9D7353BCCBDE}"/>
              </a:ext>
            </a:extLst>
          </p:cNvPr>
          <p:cNvSpPr>
            <a:spLocks noGrp="1"/>
          </p:cNvSpPr>
          <p:nvPr>
            <p:ph type="ftr" sz="quarter" idx="11"/>
          </p:nvPr>
        </p:nvSpPr>
        <p:spPr>
          <a:xfrm>
            <a:off x="4038600" y="6086110"/>
            <a:ext cx="4114800" cy="365125"/>
          </a:xfrm>
        </p:spPr>
        <p:txBody>
          <a:bodyPr/>
          <a:lstStyle>
            <a:lvl1pPr>
              <a:defRPr>
                <a:solidFill>
                  <a:srgbClr val="EFEFEF"/>
                </a:solidFill>
              </a:defRPr>
            </a:lvl1pPr>
          </a:lstStyle>
          <a:p>
            <a:endParaRPr lang="en-ID">
              <a:solidFill>
                <a:srgbClr val="EFEFEF"/>
              </a:solidFill>
            </a:endParaRPr>
          </a:p>
        </p:txBody>
      </p:sp>
      <p:sp>
        <p:nvSpPr>
          <p:cNvPr id="5" name="Slide Number Placeholder 4">
            <a:extLst>
              <a:ext uri="{FF2B5EF4-FFF2-40B4-BE49-F238E27FC236}">
                <a16:creationId xmlns:a16="http://schemas.microsoft.com/office/drawing/2014/main" id="{61DB84BE-8FE3-4C31-9AE1-41C645ACE5D2}"/>
              </a:ext>
            </a:extLst>
          </p:cNvPr>
          <p:cNvSpPr>
            <a:spLocks noGrp="1"/>
          </p:cNvSpPr>
          <p:nvPr>
            <p:ph type="sldNum" sz="quarter" idx="12"/>
          </p:nvPr>
        </p:nvSpPr>
        <p:spPr>
          <a:xfrm>
            <a:off x="8610600" y="6086110"/>
            <a:ext cx="2743200" cy="365125"/>
          </a:xfrm>
        </p:spPr>
        <p:txBody>
          <a:bodyPr/>
          <a:lstStyle>
            <a:lvl1pPr>
              <a:defRPr>
                <a:solidFill>
                  <a:srgbClr val="EFEFEF"/>
                </a:solidFill>
              </a:defRPr>
            </a:lvl1pPr>
          </a:lstStyle>
          <a:p>
            <a:fld id="{356B735F-8457-406A-A744-FC5DA5F22371}" type="slidenum">
              <a:rPr lang="en-ID" smtClean="0"/>
              <a:pPr/>
              <a:t>‹#›</a:t>
            </a:fld>
            <a:endParaRPr lang="en-ID"/>
          </a:p>
        </p:txBody>
      </p:sp>
      <p:sp>
        <p:nvSpPr>
          <p:cNvPr id="15" name="Text Placeholder 14">
            <a:extLst>
              <a:ext uri="{FF2B5EF4-FFF2-40B4-BE49-F238E27FC236}">
                <a16:creationId xmlns:a16="http://schemas.microsoft.com/office/drawing/2014/main" id="{B9A8ED02-4B65-47C9-A125-EB2355B93AE2}"/>
              </a:ext>
            </a:extLst>
          </p:cNvPr>
          <p:cNvSpPr>
            <a:spLocks noGrp="1"/>
          </p:cNvSpPr>
          <p:nvPr>
            <p:ph type="body" sz="quarter" idx="17" hasCustomPrompt="1"/>
          </p:nvPr>
        </p:nvSpPr>
        <p:spPr>
          <a:xfrm>
            <a:off x="6095999" y="5337358"/>
            <a:ext cx="2609850" cy="463367"/>
          </a:xfrm>
        </p:spPr>
        <p:txBody>
          <a:bodyPr anchor="t">
            <a:normAutofit/>
          </a:bodyPr>
          <a:lstStyle>
            <a:lvl1pPr algn="r">
              <a:buNone/>
              <a:defRPr sz="2800">
                <a:solidFill>
                  <a:srgbClr val="76838B"/>
                </a:solidFill>
                <a:latin typeface="+mj-lt"/>
              </a:defRPr>
            </a:lvl1pPr>
          </a:lstStyle>
          <a:p>
            <a:pPr lvl="0"/>
            <a:r>
              <a:rPr lang="en-US" dirty="0"/>
              <a:t>- author</a:t>
            </a:r>
            <a:endParaRPr lang="en-ID" dirty="0"/>
          </a:p>
        </p:txBody>
      </p:sp>
      <p:sp>
        <p:nvSpPr>
          <p:cNvPr id="10" name="TextBox 9">
            <a:extLst>
              <a:ext uri="{FF2B5EF4-FFF2-40B4-BE49-F238E27FC236}">
                <a16:creationId xmlns:a16="http://schemas.microsoft.com/office/drawing/2014/main" id="{5175F29E-4C36-40B4-A4AE-4B16EEA6E266}"/>
              </a:ext>
            </a:extLst>
          </p:cNvPr>
          <p:cNvSpPr txBox="1"/>
          <p:nvPr userDrawn="1"/>
        </p:nvSpPr>
        <p:spPr>
          <a:xfrm>
            <a:off x="1409380" y="1016950"/>
            <a:ext cx="990977" cy="2246769"/>
          </a:xfrm>
          <a:prstGeom prst="rect">
            <a:avLst/>
          </a:prstGeom>
          <a:noFill/>
        </p:spPr>
        <p:txBody>
          <a:bodyPr wrap="none" rtlCol="0">
            <a:spAutoFit/>
          </a:bodyPr>
          <a:lstStyle/>
          <a:p>
            <a:r>
              <a:rPr lang="en-US" sz="14000" dirty="0">
                <a:solidFill>
                  <a:srgbClr val="76838B"/>
                </a:solidFill>
              </a:rPr>
              <a:t>“</a:t>
            </a:r>
            <a:endParaRPr lang="en-ID" sz="14000" dirty="0">
              <a:solidFill>
                <a:srgbClr val="76838B"/>
              </a:solidFill>
            </a:endParaRPr>
          </a:p>
        </p:txBody>
      </p:sp>
      <p:sp>
        <p:nvSpPr>
          <p:cNvPr id="14" name="TextBox 13">
            <a:extLst>
              <a:ext uri="{FF2B5EF4-FFF2-40B4-BE49-F238E27FC236}">
                <a16:creationId xmlns:a16="http://schemas.microsoft.com/office/drawing/2014/main" id="{4A668F2E-85D4-46F6-9DAC-5164D0D5E5E4}"/>
              </a:ext>
            </a:extLst>
          </p:cNvPr>
          <p:cNvSpPr txBox="1"/>
          <p:nvPr userDrawn="1"/>
        </p:nvSpPr>
        <p:spPr>
          <a:xfrm rot="10800000">
            <a:off x="10184336" y="2923352"/>
            <a:ext cx="990977" cy="2246769"/>
          </a:xfrm>
          <a:prstGeom prst="rect">
            <a:avLst/>
          </a:prstGeom>
          <a:noFill/>
        </p:spPr>
        <p:txBody>
          <a:bodyPr wrap="none" rtlCol="0">
            <a:spAutoFit/>
          </a:bodyPr>
          <a:lstStyle/>
          <a:p>
            <a:r>
              <a:rPr lang="en-US" sz="14000" dirty="0">
                <a:solidFill>
                  <a:srgbClr val="76838B"/>
                </a:solidFill>
              </a:rPr>
              <a:t>“</a:t>
            </a:r>
            <a:endParaRPr lang="en-ID" sz="14000" dirty="0">
              <a:solidFill>
                <a:srgbClr val="76838B"/>
              </a:solidFill>
            </a:endParaRPr>
          </a:p>
        </p:txBody>
      </p:sp>
    </p:spTree>
    <p:extLst>
      <p:ext uri="{BB962C8B-B14F-4D97-AF65-F5344CB8AC3E}">
        <p14:creationId xmlns:p14="http://schemas.microsoft.com/office/powerpoint/2010/main" val="2550186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03F4D9-F45E-4139-83D5-0A3803216E42}"/>
              </a:ext>
            </a:extLst>
          </p:cNvPr>
          <p:cNvSpPr>
            <a:spLocks noGrp="1"/>
          </p:cNvSpPr>
          <p:nvPr>
            <p:ph type="dt" sz="half" idx="10"/>
          </p:nvPr>
        </p:nvSpPr>
        <p:spPr/>
        <p:txBody>
          <a:bodyPr/>
          <a:lstStyle>
            <a:lvl1pPr>
              <a:defRPr>
                <a:solidFill>
                  <a:srgbClr val="636852"/>
                </a:solidFill>
              </a:defRPr>
            </a:lvl1pPr>
          </a:lstStyle>
          <a:p>
            <a:fld id="{79AA9DB5-A1F6-4624-970D-0BADA959D4A3}" type="datetimeFigureOut">
              <a:rPr lang="en-ID" smtClean="0"/>
              <a:pPr/>
              <a:t>31/07/25</a:t>
            </a:fld>
            <a:endParaRPr lang="en-ID" dirty="0"/>
          </a:p>
        </p:txBody>
      </p:sp>
      <p:sp>
        <p:nvSpPr>
          <p:cNvPr id="3" name="Footer Placeholder 2">
            <a:extLst>
              <a:ext uri="{FF2B5EF4-FFF2-40B4-BE49-F238E27FC236}">
                <a16:creationId xmlns:a16="http://schemas.microsoft.com/office/drawing/2014/main" id="{0B6FFC3C-1755-45B8-9A15-FA947DE49BFD}"/>
              </a:ext>
            </a:extLst>
          </p:cNvPr>
          <p:cNvSpPr>
            <a:spLocks noGrp="1"/>
          </p:cNvSpPr>
          <p:nvPr>
            <p:ph type="ftr" sz="quarter" idx="11"/>
          </p:nvPr>
        </p:nvSpPr>
        <p:spPr/>
        <p:txBody>
          <a:bodyPr/>
          <a:lstStyle>
            <a:lvl1pPr>
              <a:defRPr>
                <a:solidFill>
                  <a:srgbClr val="636852"/>
                </a:solidFill>
              </a:defRPr>
            </a:lvl1pPr>
          </a:lstStyle>
          <a:p>
            <a:endParaRPr lang="en-ID">
              <a:solidFill>
                <a:srgbClr val="636852"/>
              </a:solidFill>
            </a:endParaRPr>
          </a:p>
        </p:txBody>
      </p:sp>
      <p:sp>
        <p:nvSpPr>
          <p:cNvPr id="4" name="Slide Number Placeholder 3">
            <a:extLst>
              <a:ext uri="{FF2B5EF4-FFF2-40B4-BE49-F238E27FC236}">
                <a16:creationId xmlns:a16="http://schemas.microsoft.com/office/drawing/2014/main" id="{8497CD62-6ACA-41C3-A1AF-76FB3AAEF7E9}"/>
              </a:ext>
            </a:extLst>
          </p:cNvPr>
          <p:cNvSpPr>
            <a:spLocks noGrp="1"/>
          </p:cNvSpPr>
          <p:nvPr>
            <p:ph type="sldNum" sz="quarter" idx="12"/>
          </p:nvPr>
        </p:nvSpPr>
        <p:spPr/>
        <p:txBody>
          <a:bodyPr/>
          <a:lstStyle>
            <a:lvl1pPr>
              <a:defRPr>
                <a:solidFill>
                  <a:srgbClr val="636852"/>
                </a:solidFill>
              </a:defRPr>
            </a:lvl1pPr>
          </a:lstStyle>
          <a:p>
            <a:fld id="{356B735F-8457-406A-A744-FC5DA5F22371}" type="slidenum">
              <a:rPr lang="en-ID" smtClean="0"/>
              <a:pPr/>
              <a:t>‹#›</a:t>
            </a:fld>
            <a:endParaRPr lang="en-ID"/>
          </a:p>
        </p:txBody>
      </p:sp>
    </p:spTree>
    <p:extLst>
      <p:ext uri="{BB962C8B-B14F-4D97-AF65-F5344CB8AC3E}">
        <p14:creationId xmlns:p14="http://schemas.microsoft.com/office/powerpoint/2010/main" val="3752377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7/31/25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grpSp>
        <p:nvGrpSpPr>
          <p:cNvPr id="8" name="Group 7">
            <a:extLst>
              <a:ext uri="{FF2B5EF4-FFF2-40B4-BE49-F238E27FC236}">
                <a16:creationId xmlns:a16="http://schemas.microsoft.com/office/drawing/2014/main" id="{17DC3A75-2E69-4202-8A5D-347C4A844EEA}"/>
              </a:ext>
            </a:extLst>
          </p:cNvPr>
          <p:cNvGrpSpPr/>
          <p:nvPr userDrawn="1"/>
        </p:nvGrpSpPr>
        <p:grpSpPr>
          <a:xfrm>
            <a:off x="0" y="6588034"/>
            <a:ext cx="12200164" cy="278130"/>
            <a:chOff x="0" y="6588034"/>
            <a:chExt cx="12200164" cy="278130"/>
          </a:xfrm>
        </p:grpSpPr>
        <p:sp>
          <p:nvSpPr>
            <p:cNvPr id="9" name="Rectangle 8">
              <a:extLst>
                <a:ext uri="{FF2B5EF4-FFF2-40B4-BE49-F238E27FC236}">
                  <a16:creationId xmlns:a16="http://schemas.microsoft.com/office/drawing/2014/main" id="{32F3E22B-FD16-497A-8EC3-6B330D327CB8}"/>
                </a:ext>
              </a:extLst>
            </p:cNvPr>
            <p:cNvSpPr/>
            <p:nvPr userDrawn="1"/>
          </p:nvSpPr>
          <p:spPr>
            <a:xfrm>
              <a:off x="0" y="6604907"/>
              <a:ext cx="12192000" cy="253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A2FC31E6-D6A1-4E9E-9D53-7BE73776413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09514" y="6588034"/>
              <a:ext cx="1390650" cy="278130"/>
            </a:xfrm>
            <a:prstGeom prst="rect">
              <a:avLst/>
            </a:prstGeom>
          </p:spPr>
        </p:pic>
      </p:grpSp>
    </p:spTree>
    <p:extLst>
      <p:ext uri="{BB962C8B-B14F-4D97-AF65-F5344CB8AC3E}">
        <p14:creationId xmlns:p14="http://schemas.microsoft.com/office/powerpoint/2010/main" val="129039480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83DA2-AB58-40A9-9F27-C89AC8614EB3}"/>
              </a:ext>
            </a:extLst>
          </p:cNvPr>
          <p:cNvSpPr>
            <a:spLocks noGrp="1"/>
          </p:cNvSpPr>
          <p:nvPr>
            <p:ph type="title"/>
          </p:nvPr>
        </p:nvSpPr>
        <p:spPr>
          <a:xfrm>
            <a:off x="1797080" y="365125"/>
            <a:ext cx="8119917" cy="1325563"/>
          </a:xfrm>
          <a:prstGeom prst="rect">
            <a:avLst/>
          </a:prstGeom>
        </p:spPr>
        <p:txBody>
          <a:bodyPr vert="horz" lIns="91440" tIns="45720" rIns="91440" bIns="45720" rtlCol="0" anchor="ctr">
            <a:normAutofit/>
          </a:bodyPr>
          <a:lstStyle/>
          <a:p>
            <a:r>
              <a:rPr lang="en-US"/>
              <a:t>Click to edit Master title style</a:t>
            </a:r>
            <a:endParaRPr lang="en-ID" dirty="0"/>
          </a:p>
        </p:txBody>
      </p:sp>
      <p:sp>
        <p:nvSpPr>
          <p:cNvPr id="3" name="Text Placeholder 2">
            <a:extLst>
              <a:ext uri="{FF2B5EF4-FFF2-40B4-BE49-F238E27FC236}">
                <a16:creationId xmlns:a16="http://schemas.microsoft.com/office/drawing/2014/main" id="{9E7AB1CE-4A8A-481A-9353-A480D26348AE}"/>
              </a:ext>
            </a:extLst>
          </p:cNvPr>
          <p:cNvSpPr>
            <a:spLocks noGrp="1"/>
          </p:cNvSpPr>
          <p:nvPr>
            <p:ph type="body" idx="1"/>
          </p:nvPr>
        </p:nvSpPr>
        <p:spPr>
          <a:xfrm>
            <a:off x="1797080" y="1825625"/>
            <a:ext cx="81199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dirty="0"/>
          </a:p>
        </p:txBody>
      </p:sp>
      <p:sp>
        <p:nvSpPr>
          <p:cNvPr id="4" name="Date Placeholder 3">
            <a:extLst>
              <a:ext uri="{FF2B5EF4-FFF2-40B4-BE49-F238E27FC236}">
                <a16:creationId xmlns:a16="http://schemas.microsoft.com/office/drawing/2014/main" id="{3AF92708-E52D-4103-9A98-C480CDECD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AA9DB5-A1F6-4624-970D-0BADA959D4A3}" type="datetimeFigureOut">
              <a:rPr lang="en-ID" smtClean="0"/>
              <a:t>31/07/25</a:t>
            </a:fld>
            <a:endParaRPr lang="en-ID"/>
          </a:p>
        </p:txBody>
      </p:sp>
      <p:sp>
        <p:nvSpPr>
          <p:cNvPr id="5" name="Footer Placeholder 4">
            <a:extLst>
              <a:ext uri="{FF2B5EF4-FFF2-40B4-BE49-F238E27FC236}">
                <a16:creationId xmlns:a16="http://schemas.microsoft.com/office/drawing/2014/main" id="{7E3B8837-B0F6-4426-8862-F133D501E4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B332B1A-B0B9-4218-96CA-0C74E02900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B735F-8457-406A-A744-FC5DA5F22371}" type="slidenum">
              <a:rPr lang="en-ID" smtClean="0"/>
              <a:t>‹#›</a:t>
            </a:fld>
            <a:endParaRPr lang="en-ID"/>
          </a:p>
        </p:txBody>
      </p:sp>
    </p:spTree>
    <p:extLst>
      <p:ext uri="{BB962C8B-B14F-4D97-AF65-F5344CB8AC3E}">
        <p14:creationId xmlns:p14="http://schemas.microsoft.com/office/powerpoint/2010/main" val="2001766041"/>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5" r:id="rId3"/>
    <p:sldLayoutId id="2147483657" r:id="rId4"/>
    <p:sldLayoutId id="2147483661" r:id="rId5"/>
    <p:sldLayoutId id="2147483651" r:id="rId6"/>
    <p:sldLayoutId id="2147483650" r:id="rId7"/>
    <p:sldLayoutId id="2147483658" r:id="rId8"/>
    <p:sldLayoutId id="2147483659" r:id="rId9"/>
    <p:sldLayoutId id="2147483663" r:id="rId10"/>
    <p:sldLayoutId id="2147483664" r:id="rId11"/>
    <p:sldLayoutId id="2147483662" r:id="rId12"/>
    <p:sldLayoutId id="2147483655" r:id="rId13"/>
    <p:sldLayoutId id="2147483666" r:id="rId14"/>
  </p:sldLayoutIdLst>
  <p:txStyles>
    <p:titleStyle>
      <a:lvl1pPr algn="l" defTabSz="914400" rtl="0" eaLnBrk="1" latinLnBrk="0" hangingPunct="1">
        <a:lnSpc>
          <a:spcPct val="90000"/>
        </a:lnSpc>
        <a:spcBef>
          <a:spcPct val="0"/>
        </a:spcBef>
        <a:buNone/>
        <a:defRPr sz="4400" kern="1200">
          <a:solidFill>
            <a:srgbClr val="63685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tabLst>
          <a:tab pos="1885950" algn="l"/>
        </a:tabLst>
        <a:defRPr sz="2800" kern="1200">
          <a:solidFill>
            <a:srgbClr val="76838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tabLst>
          <a:tab pos="1885950" algn="l"/>
        </a:tabLst>
        <a:defRPr sz="2400" kern="1200">
          <a:solidFill>
            <a:srgbClr val="76838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tabLst>
          <a:tab pos="1885950" algn="l"/>
        </a:tabLst>
        <a:defRPr sz="2000" kern="1200">
          <a:solidFill>
            <a:srgbClr val="76838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tabLst>
          <a:tab pos="1885950" algn="l"/>
        </a:tabLst>
        <a:defRPr sz="1800" kern="1200">
          <a:solidFill>
            <a:srgbClr val="76838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tabLst>
          <a:tab pos="1885950" algn="l"/>
        </a:tabLst>
        <a:defRPr sz="1800" kern="1200">
          <a:solidFill>
            <a:srgbClr val="76838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0.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31.jpeg"/><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8.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8.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8.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8.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8.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8.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9.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8.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8.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52804-6FAD-2174-F41D-7174360E4921}"/>
              </a:ext>
            </a:extLst>
          </p:cNvPr>
          <p:cNvSpPr>
            <a:spLocks noGrp="1"/>
          </p:cNvSpPr>
          <p:nvPr>
            <p:ph type="ctrTitle"/>
          </p:nvPr>
        </p:nvSpPr>
        <p:spPr/>
        <p:txBody>
          <a:bodyPr/>
          <a:lstStyle/>
          <a:p>
            <a:r>
              <a:rPr lang="en-NZ" dirty="0"/>
              <a:t>115.113 Lecture 4</a:t>
            </a:r>
          </a:p>
        </p:txBody>
      </p:sp>
      <p:sp>
        <p:nvSpPr>
          <p:cNvPr id="3" name="Subtitle 2">
            <a:extLst>
              <a:ext uri="{FF2B5EF4-FFF2-40B4-BE49-F238E27FC236}">
                <a16:creationId xmlns:a16="http://schemas.microsoft.com/office/drawing/2014/main" id="{9BC4878E-BE37-9D3F-A372-44FB80AC5EC8}"/>
              </a:ext>
            </a:extLst>
          </p:cNvPr>
          <p:cNvSpPr>
            <a:spLocks noGrp="1"/>
          </p:cNvSpPr>
          <p:nvPr>
            <p:ph type="subTitle" idx="1"/>
          </p:nvPr>
        </p:nvSpPr>
        <p:spPr>
          <a:xfrm>
            <a:off x="7582486" y="5490105"/>
            <a:ext cx="3771314" cy="699680"/>
          </a:xfrm>
        </p:spPr>
        <p:txBody>
          <a:bodyPr>
            <a:normAutofit/>
          </a:bodyPr>
          <a:lstStyle/>
          <a:p>
            <a:r>
              <a:rPr lang="en-NZ" sz="1600" dirty="0"/>
              <a:t>Inflation, Unemployment and Monetary Policy</a:t>
            </a:r>
          </a:p>
        </p:txBody>
      </p:sp>
      <p:pic>
        <p:nvPicPr>
          <p:cNvPr id="8" name="Picture Placeholder 7" descr="A hand holding a stack of coins&#10;&#10;Description automatically generated with low confidence">
            <a:extLst>
              <a:ext uri="{FF2B5EF4-FFF2-40B4-BE49-F238E27FC236}">
                <a16:creationId xmlns:a16="http://schemas.microsoft.com/office/drawing/2014/main" id="{4CD7B8D0-4A3E-05C2-2DA3-B76A94D4435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38" r="25338"/>
          <a:stretch>
            <a:fillRect/>
          </a:stretch>
        </p:blipFill>
        <p:spPr/>
      </p:pic>
    </p:spTree>
    <p:extLst>
      <p:ext uri="{BB962C8B-B14F-4D97-AF65-F5344CB8AC3E}">
        <p14:creationId xmlns:p14="http://schemas.microsoft.com/office/powerpoint/2010/main" val="92806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2614771-9A9B-BA84-BADB-42236D13D444}"/>
              </a:ext>
            </a:extLst>
          </p:cNvPr>
          <p:cNvSpPr>
            <a:spLocks noGrp="1"/>
          </p:cNvSpPr>
          <p:nvPr>
            <p:ph type="title"/>
          </p:nvPr>
        </p:nvSpPr>
        <p:spPr/>
        <p:txBody>
          <a:bodyPr/>
          <a:lstStyle/>
          <a:p>
            <a:r>
              <a:rPr lang="en-US" dirty="0"/>
              <a:t>Recap</a:t>
            </a:r>
          </a:p>
        </p:txBody>
      </p:sp>
      <p:sp>
        <p:nvSpPr>
          <p:cNvPr id="10" name="Text Placeholder 9">
            <a:extLst>
              <a:ext uri="{FF2B5EF4-FFF2-40B4-BE49-F238E27FC236}">
                <a16:creationId xmlns:a16="http://schemas.microsoft.com/office/drawing/2014/main" id="{D53F6AFD-37A5-53CF-EC3C-0212876342C1}"/>
              </a:ext>
            </a:extLst>
          </p:cNvPr>
          <p:cNvSpPr>
            <a:spLocks noGrp="1"/>
          </p:cNvSpPr>
          <p:nvPr>
            <p:ph type="body" idx="1"/>
          </p:nvPr>
        </p:nvSpPr>
        <p:spPr/>
        <p:txBody>
          <a:bodyPr/>
          <a:lstStyle/>
          <a:p>
            <a:r>
              <a:rPr lang="en-US" dirty="0"/>
              <a:t>Fiscal Policy</a:t>
            </a:r>
          </a:p>
        </p:txBody>
      </p:sp>
      <p:sp>
        <p:nvSpPr>
          <p:cNvPr id="11" name="Text Placeholder 10">
            <a:extLst>
              <a:ext uri="{FF2B5EF4-FFF2-40B4-BE49-F238E27FC236}">
                <a16:creationId xmlns:a16="http://schemas.microsoft.com/office/drawing/2014/main" id="{CE7AC860-6E4C-3FE0-9528-8251D4835EA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561701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B55A63-0FA6-6B18-870F-874BED6E766F}"/>
              </a:ext>
            </a:extLst>
          </p:cNvPr>
          <p:cNvSpPr>
            <a:spLocks noGrp="1"/>
          </p:cNvSpPr>
          <p:nvPr>
            <p:ph type="title"/>
          </p:nvPr>
        </p:nvSpPr>
        <p:spPr/>
        <p:txBody>
          <a:bodyPr/>
          <a:lstStyle/>
          <a:p>
            <a:r>
              <a:rPr lang="en-US" dirty="0"/>
              <a:t>Recap</a:t>
            </a:r>
          </a:p>
        </p:txBody>
      </p:sp>
      <p:pic>
        <p:nvPicPr>
          <p:cNvPr id="12" name="Fiscal Stimulus.mp4">
            <a:hlinkClick r:id="" action="ppaction://media"/>
            <a:extLst>
              <a:ext uri="{FF2B5EF4-FFF2-40B4-BE49-F238E27FC236}">
                <a16:creationId xmlns:a16="http://schemas.microsoft.com/office/drawing/2014/main" id="{37D8E111-BEE9-B1CD-DF7B-CE5A61AEFC2C}"/>
              </a:ext>
            </a:extLst>
          </p:cNvPr>
          <p:cNvPicPr>
            <a:picLocks noGrp="1" noChangeAspect="1"/>
          </p:cNvPicPr>
          <p:nvPr>
            <p:ph sz="quarter" idx="13"/>
            <a:videoFile r:link="rId2"/>
            <p:extLst>
              <p:ext uri="{DAA4B4D4-6D71-4841-9C94-3DE7FCFB9230}">
                <p14:media xmlns:p14="http://schemas.microsoft.com/office/powerpoint/2010/main" r:embed="rId1"/>
              </p:ext>
            </p:extLst>
          </p:nvPr>
        </p:nvPicPr>
        <p:blipFill>
          <a:blip r:embed="rId4"/>
          <a:stretch>
            <a:fillRect/>
          </a:stretch>
        </p:blipFill>
        <p:spPr>
          <a:xfrm>
            <a:off x="4213225" y="604838"/>
            <a:ext cx="6642100" cy="4981575"/>
          </a:xfrm>
        </p:spPr>
      </p:pic>
      <p:sp>
        <p:nvSpPr>
          <p:cNvPr id="11" name="Text Placeholder 10">
            <a:extLst>
              <a:ext uri="{FF2B5EF4-FFF2-40B4-BE49-F238E27FC236}">
                <a16:creationId xmlns:a16="http://schemas.microsoft.com/office/drawing/2014/main" id="{78766CF2-4E0F-18A7-B099-58E87C0F0782}"/>
              </a:ext>
            </a:extLst>
          </p:cNvPr>
          <p:cNvSpPr>
            <a:spLocks noGrp="1"/>
          </p:cNvSpPr>
          <p:nvPr>
            <p:ph type="body" sz="quarter" idx="14"/>
          </p:nvPr>
        </p:nvSpPr>
        <p:spPr/>
        <p:txBody>
          <a:bodyPr/>
          <a:lstStyle/>
          <a:p>
            <a:r>
              <a:rPr lang="en-US" dirty="0"/>
              <a:t>In a recession, Governments can use a fiscal stimulus to increase growth.</a:t>
            </a:r>
          </a:p>
          <a:p>
            <a:r>
              <a:rPr lang="en-US" dirty="0"/>
              <a:t>This means increasing G and/or reducing t</a:t>
            </a:r>
          </a:p>
        </p:txBody>
      </p:sp>
    </p:spTree>
    <p:extLst>
      <p:ext uri="{BB962C8B-B14F-4D97-AF65-F5344CB8AC3E}">
        <p14:creationId xmlns:p14="http://schemas.microsoft.com/office/powerpoint/2010/main" val="176644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5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B259-38B2-E0A5-4E3F-A3A8699A82C9}"/>
              </a:ext>
            </a:extLst>
          </p:cNvPr>
          <p:cNvSpPr>
            <a:spLocks noGrp="1"/>
          </p:cNvSpPr>
          <p:nvPr>
            <p:ph type="title"/>
          </p:nvPr>
        </p:nvSpPr>
        <p:spPr/>
        <p:txBody>
          <a:bodyPr/>
          <a:lstStyle/>
          <a:p>
            <a:r>
              <a:rPr lang="en-US" dirty="0"/>
              <a:t>Increasing G</a:t>
            </a:r>
          </a:p>
        </p:txBody>
      </p:sp>
      <p:pic>
        <p:nvPicPr>
          <p:cNvPr id="6" name="Content Placeholder 5" descr="A diagram of a financial graph&#10;&#10;AI-generated content may be incorrect.">
            <a:extLst>
              <a:ext uri="{FF2B5EF4-FFF2-40B4-BE49-F238E27FC236}">
                <a16:creationId xmlns:a16="http://schemas.microsoft.com/office/drawing/2014/main" id="{4277A1B6-E2D3-FFD0-6772-16757DAE01A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946525" y="1077516"/>
            <a:ext cx="7175500" cy="4036218"/>
          </a:xfrm>
        </p:spPr>
      </p:pic>
      <p:sp>
        <p:nvSpPr>
          <p:cNvPr id="4" name="Text Placeholder 3">
            <a:extLst>
              <a:ext uri="{FF2B5EF4-FFF2-40B4-BE49-F238E27FC236}">
                <a16:creationId xmlns:a16="http://schemas.microsoft.com/office/drawing/2014/main" id="{1173B820-EEC6-EB51-B760-1D1AE3A87051}"/>
              </a:ext>
            </a:extLst>
          </p:cNvPr>
          <p:cNvSpPr>
            <a:spLocks noGrp="1"/>
          </p:cNvSpPr>
          <p:nvPr>
            <p:ph type="body" sz="quarter" idx="14"/>
          </p:nvPr>
        </p:nvSpPr>
        <p:spPr/>
        <p:txBody>
          <a:bodyPr/>
          <a:lstStyle/>
          <a:p>
            <a:r>
              <a:rPr lang="en-US" dirty="0"/>
              <a:t>Any increase in any autonomous (exogenous) item in the AD equation will increase Y</a:t>
            </a:r>
          </a:p>
        </p:txBody>
      </p:sp>
    </p:spTree>
    <p:extLst>
      <p:ext uri="{BB962C8B-B14F-4D97-AF65-F5344CB8AC3E}">
        <p14:creationId xmlns:p14="http://schemas.microsoft.com/office/powerpoint/2010/main" val="4242820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3F901-0C34-413B-6B2A-DB831896FD1B}"/>
              </a:ext>
            </a:extLst>
          </p:cNvPr>
          <p:cNvSpPr>
            <a:spLocks noGrp="1"/>
          </p:cNvSpPr>
          <p:nvPr>
            <p:ph type="title"/>
          </p:nvPr>
        </p:nvSpPr>
        <p:spPr/>
        <p:txBody>
          <a:bodyPr/>
          <a:lstStyle/>
          <a:p>
            <a:r>
              <a:rPr lang="en-US" dirty="0"/>
              <a:t>Multiplier</a:t>
            </a:r>
          </a:p>
        </p:txBody>
      </p:sp>
      <p:pic>
        <p:nvPicPr>
          <p:cNvPr id="6" name="Content Placeholder 5" descr="A diagram of a financial graph&#10;&#10;AI-generated content may be incorrect.">
            <a:extLst>
              <a:ext uri="{FF2B5EF4-FFF2-40B4-BE49-F238E27FC236}">
                <a16:creationId xmlns:a16="http://schemas.microsoft.com/office/drawing/2014/main" id="{40660147-D944-1F92-1AA5-E6249D21FEED}"/>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946525" y="1077516"/>
            <a:ext cx="7175500" cy="4036218"/>
          </a:xfrm>
        </p:spPr>
      </p:pic>
      <p:sp>
        <p:nvSpPr>
          <p:cNvPr id="4" name="Text Placeholder 3">
            <a:extLst>
              <a:ext uri="{FF2B5EF4-FFF2-40B4-BE49-F238E27FC236}">
                <a16:creationId xmlns:a16="http://schemas.microsoft.com/office/drawing/2014/main" id="{D82B44B1-2CD8-D029-01A0-E132062E79A4}"/>
              </a:ext>
            </a:extLst>
          </p:cNvPr>
          <p:cNvSpPr>
            <a:spLocks noGrp="1"/>
          </p:cNvSpPr>
          <p:nvPr>
            <p:ph type="body" sz="quarter" idx="14"/>
          </p:nvPr>
        </p:nvSpPr>
        <p:spPr/>
        <p:txBody>
          <a:bodyPr>
            <a:normAutofit lnSpcReduction="10000"/>
          </a:bodyPr>
          <a:lstStyle/>
          <a:p>
            <a:r>
              <a:rPr lang="en-US" dirty="0"/>
              <a:t>Any reduction in </a:t>
            </a:r>
            <a:r>
              <a:rPr lang="en-US" i="1" dirty="0"/>
              <a:t>t</a:t>
            </a:r>
            <a:r>
              <a:rPr lang="en-US" dirty="0"/>
              <a:t> or </a:t>
            </a:r>
            <a:r>
              <a:rPr lang="en-US" i="1" dirty="0"/>
              <a:t>m</a:t>
            </a:r>
            <a:r>
              <a:rPr lang="en-US" dirty="0"/>
              <a:t>, increases Y</a:t>
            </a:r>
          </a:p>
          <a:p>
            <a:r>
              <a:rPr lang="en-US" dirty="0"/>
              <a:t>Any increase in </a:t>
            </a:r>
            <a:r>
              <a:rPr lang="en-US" i="1" dirty="0"/>
              <a:t>c</a:t>
            </a:r>
            <a:r>
              <a:rPr lang="en-US" i="1" baseline="-25000" dirty="0"/>
              <a:t>0</a:t>
            </a:r>
            <a:r>
              <a:rPr lang="en-US" dirty="0"/>
              <a:t>, increases Y</a:t>
            </a:r>
          </a:p>
          <a:p>
            <a:r>
              <a:rPr lang="en-US" dirty="0"/>
              <a:t>The terms t or m have an overall positive sign in the multiplier denominator</a:t>
            </a:r>
          </a:p>
          <a:p>
            <a:r>
              <a:rPr lang="en-US" dirty="0"/>
              <a:t>The term c</a:t>
            </a:r>
            <a:r>
              <a:rPr lang="en-US" baseline="-25000" dirty="0"/>
              <a:t>0</a:t>
            </a:r>
            <a:r>
              <a:rPr lang="en-US" dirty="0"/>
              <a:t> has a negative sign</a:t>
            </a:r>
          </a:p>
        </p:txBody>
      </p:sp>
    </p:spTree>
    <p:extLst>
      <p:ext uri="{BB962C8B-B14F-4D97-AF65-F5344CB8AC3E}">
        <p14:creationId xmlns:p14="http://schemas.microsoft.com/office/powerpoint/2010/main" val="1659420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077FAB-DC1B-3070-9F9E-E6DE718EF627}"/>
              </a:ext>
            </a:extLst>
          </p:cNvPr>
          <p:cNvSpPr>
            <a:spLocks noGrp="1"/>
          </p:cNvSpPr>
          <p:nvPr>
            <p:ph type="title"/>
          </p:nvPr>
        </p:nvSpPr>
        <p:spPr/>
        <p:txBody>
          <a:bodyPr/>
          <a:lstStyle/>
          <a:p>
            <a:r>
              <a:rPr lang="en-US" dirty="0"/>
              <a:t>Quiz 1</a:t>
            </a:r>
          </a:p>
        </p:txBody>
      </p:sp>
      <p:sp>
        <p:nvSpPr>
          <p:cNvPr id="6" name="Text Placeholder 5">
            <a:extLst>
              <a:ext uri="{FF2B5EF4-FFF2-40B4-BE49-F238E27FC236}">
                <a16:creationId xmlns:a16="http://schemas.microsoft.com/office/drawing/2014/main" id="{C2ED7515-ACB8-03AE-D394-60C58A78C91E}"/>
              </a:ext>
            </a:extLst>
          </p:cNvPr>
          <p:cNvSpPr>
            <a:spLocks noGrp="1"/>
          </p:cNvSpPr>
          <p:nvPr>
            <p:ph type="body" idx="1"/>
          </p:nvPr>
        </p:nvSpPr>
        <p:spPr/>
        <p:txBody>
          <a:bodyPr/>
          <a:lstStyle/>
          <a:p>
            <a:r>
              <a:rPr lang="en-US" dirty="0"/>
              <a:t>Revision</a:t>
            </a:r>
          </a:p>
        </p:txBody>
      </p:sp>
      <p:sp>
        <p:nvSpPr>
          <p:cNvPr id="7" name="Text Placeholder 6">
            <a:extLst>
              <a:ext uri="{FF2B5EF4-FFF2-40B4-BE49-F238E27FC236}">
                <a16:creationId xmlns:a16="http://schemas.microsoft.com/office/drawing/2014/main" id="{2814BB3A-F2A4-C418-1D28-38BC0E8EEF03}"/>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79951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3BF8EB-B9B5-32BA-202E-FF06671CC63D}"/>
              </a:ext>
            </a:extLst>
          </p:cNvPr>
          <p:cNvSpPr>
            <a:spLocks noGrp="1"/>
          </p:cNvSpPr>
          <p:nvPr>
            <p:ph type="title"/>
          </p:nvPr>
        </p:nvSpPr>
        <p:spPr/>
        <p:txBody>
          <a:bodyPr/>
          <a:lstStyle/>
          <a:p>
            <a:r>
              <a:rPr lang="en-US" sz="4800" dirty="0"/>
              <a:t>Question 1</a:t>
            </a:r>
          </a:p>
        </p:txBody>
      </p:sp>
      <p:pic>
        <p:nvPicPr>
          <p:cNvPr id="8" name="Content Placeholder 7">
            <a:extLst>
              <a:ext uri="{FF2B5EF4-FFF2-40B4-BE49-F238E27FC236}">
                <a16:creationId xmlns:a16="http://schemas.microsoft.com/office/drawing/2014/main" id="{4E169B32-34CC-385C-A263-3C7758123C7C}"/>
              </a:ext>
            </a:extLst>
          </p:cNvPr>
          <p:cNvPicPr>
            <a:picLocks noGrp="1" noChangeAspect="1"/>
          </p:cNvPicPr>
          <p:nvPr>
            <p:ph sz="quarter" idx="13"/>
          </p:nvPr>
        </p:nvPicPr>
        <p:blipFill>
          <a:blip r:embed="rId2"/>
          <a:stretch>
            <a:fillRect/>
          </a:stretch>
        </p:blipFill>
        <p:spPr>
          <a:xfrm>
            <a:off x="3946525" y="734841"/>
            <a:ext cx="7175500" cy="4721568"/>
          </a:xfrm>
          <a:prstGeom prst="rect">
            <a:avLst/>
          </a:prstGeom>
        </p:spPr>
      </p:pic>
      <p:sp>
        <p:nvSpPr>
          <p:cNvPr id="7" name="Text Placeholder 6">
            <a:extLst>
              <a:ext uri="{FF2B5EF4-FFF2-40B4-BE49-F238E27FC236}">
                <a16:creationId xmlns:a16="http://schemas.microsoft.com/office/drawing/2014/main" id="{67510AD5-413E-18BA-9197-235B5C6EEAD0}"/>
              </a:ext>
            </a:extLst>
          </p:cNvPr>
          <p:cNvSpPr>
            <a:spLocks noGrp="1"/>
          </p:cNvSpPr>
          <p:nvPr>
            <p:ph type="body" sz="quarter" idx="14"/>
          </p:nvPr>
        </p:nvSpPr>
        <p:spPr/>
        <p:txBody>
          <a:bodyPr>
            <a:normAutofit lnSpcReduction="10000"/>
          </a:bodyPr>
          <a:lstStyle/>
          <a:p>
            <a:pPr marL="0" indent="0">
              <a:buNone/>
            </a:pPr>
            <a:r>
              <a:rPr lang="en-US" dirty="0"/>
              <a:t>Recall:</a:t>
            </a:r>
          </a:p>
          <a:p>
            <a:r>
              <a:rPr lang="en-US" dirty="0"/>
              <a:t>U/E Rate = unemployed/</a:t>
            </a:r>
            <a:r>
              <a:rPr lang="en-US" dirty="0" err="1"/>
              <a:t>labour</a:t>
            </a:r>
            <a:r>
              <a:rPr lang="en-US" dirty="0"/>
              <a:t> force</a:t>
            </a:r>
          </a:p>
          <a:p>
            <a:r>
              <a:rPr lang="en-US" dirty="0"/>
              <a:t>Participation Rate = </a:t>
            </a:r>
            <a:r>
              <a:rPr lang="en-US" dirty="0" err="1"/>
              <a:t>labour</a:t>
            </a:r>
            <a:r>
              <a:rPr lang="en-US" dirty="0"/>
              <a:t> force/working age population</a:t>
            </a:r>
          </a:p>
          <a:p>
            <a:r>
              <a:rPr lang="en-US" dirty="0"/>
              <a:t>Employment rate = Employed/working age population</a:t>
            </a:r>
          </a:p>
          <a:p>
            <a:pPr marL="0" indent="0">
              <a:buNone/>
            </a:pPr>
            <a:endParaRPr lang="en-US" dirty="0"/>
          </a:p>
        </p:txBody>
      </p:sp>
    </p:spTree>
    <p:extLst>
      <p:ext uri="{BB962C8B-B14F-4D97-AF65-F5344CB8AC3E}">
        <p14:creationId xmlns:p14="http://schemas.microsoft.com/office/powerpoint/2010/main" val="3070724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85BA3-1560-6C57-0F94-EC5D48F788FF}"/>
              </a:ext>
            </a:extLst>
          </p:cNvPr>
          <p:cNvSpPr>
            <a:spLocks noGrp="1"/>
          </p:cNvSpPr>
          <p:nvPr>
            <p:ph type="title"/>
          </p:nvPr>
        </p:nvSpPr>
        <p:spPr/>
        <p:txBody>
          <a:bodyPr/>
          <a:lstStyle/>
          <a:p>
            <a:r>
              <a:rPr lang="en-US" sz="4800" dirty="0"/>
              <a:t>Question 2</a:t>
            </a:r>
          </a:p>
        </p:txBody>
      </p:sp>
      <p:pic>
        <p:nvPicPr>
          <p:cNvPr id="5" name="Content Placeholder 4">
            <a:extLst>
              <a:ext uri="{FF2B5EF4-FFF2-40B4-BE49-F238E27FC236}">
                <a16:creationId xmlns:a16="http://schemas.microsoft.com/office/drawing/2014/main" id="{B067FC00-7D1F-E124-1D0A-5992E891C388}"/>
              </a:ext>
            </a:extLst>
          </p:cNvPr>
          <p:cNvPicPr>
            <a:picLocks noGrp="1" noChangeAspect="1"/>
          </p:cNvPicPr>
          <p:nvPr>
            <p:ph sz="quarter" idx="13"/>
          </p:nvPr>
        </p:nvPicPr>
        <p:blipFill>
          <a:blip r:embed="rId2"/>
          <a:stretch>
            <a:fillRect/>
          </a:stretch>
        </p:blipFill>
        <p:spPr>
          <a:xfrm>
            <a:off x="4131627" y="604838"/>
            <a:ext cx="6805296" cy="4981575"/>
          </a:xfrm>
          <a:prstGeom prst="rect">
            <a:avLst/>
          </a:prstGeom>
        </p:spPr>
      </p:pic>
      <p:sp>
        <p:nvSpPr>
          <p:cNvPr id="4" name="Text Placeholder 3">
            <a:extLst>
              <a:ext uri="{FF2B5EF4-FFF2-40B4-BE49-F238E27FC236}">
                <a16:creationId xmlns:a16="http://schemas.microsoft.com/office/drawing/2014/main" id="{A068B8DF-4EE8-7792-CB03-D234F30B0F54}"/>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735639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Quiz 1"/>
          <p:cNvSpPr txBox="1">
            <a:spLocks noGrp="1"/>
          </p:cNvSpPr>
          <p:nvPr>
            <p:ph type="title"/>
          </p:nvPr>
        </p:nvSpPr>
        <p:spPr>
          <a:xfrm>
            <a:off x="7523922" y="3429000"/>
            <a:ext cx="3823528" cy="1645189"/>
          </a:xfrm>
        </p:spPr>
        <p:txBody>
          <a:bodyPr anchor="b">
            <a:normAutofit/>
          </a:bodyPr>
          <a:lstStyle/>
          <a:p>
            <a:r>
              <a:t>Quiz 1</a:t>
            </a:r>
          </a:p>
        </p:txBody>
      </p:sp>
      <p:sp>
        <p:nvSpPr>
          <p:cNvPr id="138" name="Question 1"/>
          <p:cNvSpPr txBox="1">
            <a:spLocks noGrp="1"/>
          </p:cNvSpPr>
          <p:nvPr>
            <p:ph type="body" idx="1"/>
          </p:nvPr>
        </p:nvSpPr>
        <p:spPr>
          <a:xfrm>
            <a:off x="7523922" y="5101177"/>
            <a:ext cx="3823528" cy="548145"/>
          </a:xfrm>
        </p:spPr>
        <p:txBody>
          <a:bodyPr>
            <a:normAutofit/>
          </a:bodyPr>
          <a:lstStyle/>
          <a:p>
            <a:r>
              <a:t>Question 1</a:t>
            </a:r>
          </a:p>
        </p:txBody>
      </p:sp>
      <p:sp>
        <p:nvSpPr>
          <p:cNvPr id="143" name="Text Placeholder 3">
            <a:extLst>
              <a:ext uri="{FF2B5EF4-FFF2-40B4-BE49-F238E27FC236}">
                <a16:creationId xmlns:a16="http://schemas.microsoft.com/office/drawing/2014/main" id="{24AD99ED-5FEB-F65B-E222-3E5597FBB18D}"/>
              </a:ext>
            </a:extLst>
          </p:cNvPr>
          <p:cNvSpPr>
            <a:spLocks noGrp="1"/>
          </p:cNvSpPr>
          <p:nvPr>
            <p:ph type="body" sz="quarter" idx="13"/>
          </p:nvPr>
        </p:nvSpPr>
        <p:spPr>
          <a:xfrm>
            <a:off x="4479342" y="2888186"/>
            <a:ext cx="1600201" cy="1081627"/>
          </a:xfrm>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Economy A’s Employed"/>
          <p:cNvSpPr txBox="1"/>
          <p:nvPr/>
        </p:nvSpPr>
        <p:spPr>
          <a:xfrm>
            <a:off x="589484" y="499278"/>
            <a:ext cx="6860888"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r>
              <a:rPr sz="3200"/>
              <a:t>Economy A’s Employed</a:t>
            </a:r>
          </a:p>
        </p:txBody>
      </p:sp>
      <mc:AlternateContent xmlns:mc="http://schemas.openxmlformats.org/markup-compatibility/2006">
        <mc:Choice xmlns:a14="http://schemas.microsoft.com/office/drawing/2010/main" Requires="a14">
          <p:sp>
            <p:nvSpPr>
              <p:cNvPr id="141" name="Equation"/>
              <p:cNvSpPr txBox="1"/>
              <p:nvPr/>
            </p:nvSpPr>
            <p:spPr>
              <a:xfrm>
                <a:off x="913221" y="1124715"/>
                <a:ext cx="5867953" cy="1021370"/>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ar-AE" sz="3200" i="1">
                          <a:solidFill>
                            <a:srgbClr val="858585"/>
                          </a:solidFill>
                          <a:latin typeface="Cambria Math" panose="02040503050406030204" pitchFamily="18" charset="0"/>
                        </a:rPr>
                        <m:t>87.5=</m:t>
                      </m:r>
                      <m:f>
                        <m:fPr>
                          <m:ctrlPr>
                            <a:rPr lang="ar-AE" sz="3200" i="1">
                              <a:solidFill>
                                <a:srgbClr val="858585"/>
                              </a:solidFill>
                              <a:latin typeface="Cambria Math" panose="02040503050406030204" pitchFamily="18" charset="0"/>
                            </a:rPr>
                          </m:ctrlPr>
                        </m:fPr>
                        <m:num>
                          <m:r>
                            <a:rPr lang="ar-AE" sz="3200" i="1">
                              <a:solidFill>
                                <a:srgbClr val="858585"/>
                              </a:solidFill>
                              <a:latin typeface="Cambria Math" panose="02040503050406030204" pitchFamily="18" charset="0"/>
                            </a:rPr>
                            <m:t>𝑒𝑚𝑝𝑙𝑜𝑦𝑒𝑑</m:t>
                          </m:r>
                        </m:num>
                        <m:den>
                          <m:r>
                            <a:rPr lang="ar-AE" sz="3200" i="1">
                              <a:solidFill>
                                <a:srgbClr val="858585"/>
                              </a:solidFill>
                              <a:latin typeface="Cambria Math" panose="02040503050406030204" pitchFamily="18" charset="0"/>
                            </a:rPr>
                            <m:t>𝑤𝑜𝑟𝑘𝑖𝑛𝑔</m:t>
                          </m:r>
                          <m:r>
                            <a:rPr lang="ar-AE"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𝑎𝑔𝑒</m:t>
                          </m:r>
                          <m:r>
                            <a:rPr lang="mi-NZ"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𝑝𝑜𝑝𝑢𝑙𝑎𝑡𝑖𝑜𝑛</m:t>
                          </m:r>
                        </m:den>
                      </m:f>
                    </m:oMath>
                  </m:oMathPara>
                </a14:m>
                <a:endParaRPr sz="3200" dirty="0">
                  <a:solidFill>
                    <a:srgbClr val="858585"/>
                  </a:solidFill>
                </a:endParaRPr>
              </a:p>
            </p:txBody>
          </p:sp>
        </mc:Choice>
        <mc:Fallback>
          <p:sp>
            <p:nvSpPr>
              <p:cNvPr id="141" name="Equation"/>
              <p:cNvSpPr txBox="1">
                <a:spLocks noRot="1" noChangeAspect="1" noMove="1" noResize="1" noEditPoints="1" noAdjustHandles="1" noChangeArrowheads="1" noChangeShapeType="1" noTextEdit="1"/>
              </p:cNvSpPr>
              <p:nvPr/>
            </p:nvSpPr>
            <p:spPr>
              <a:xfrm>
                <a:off x="913221" y="1124715"/>
                <a:ext cx="5867953" cy="1021370"/>
              </a:xfrm>
              <a:prstGeom prst="rect">
                <a:avLst/>
              </a:prstGeom>
              <a:blipFill>
                <a:blip r:embed="rId2"/>
                <a:stretch>
                  <a:fillRect l="-1299" t="-3704" r="-1732" b="-19753"/>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2" name="Equation"/>
              <p:cNvSpPr txBox="1"/>
              <p:nvPr/>
            </p:nvSpPr>
            <p:spPr>
              <a:xfrm>
                <a:off x="984882" y="2493918"/>
                <a:ext cx="3440622" cy="935000"/>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0.875=</m:t>
                      </m:r>
                      <m:f>
                        <m:fPr>
                          <m:ctrlPr>
                            <a:rPr sz="3200" i="1">
                              <a:solidFill>
                                <a:srgbClr val="858585"/>
                              </a:solidFill>
                              <a:latin typeface="Cambria Math" panose="02040503050406030204" pitchFamily="18" charset="0"/>
                            </a:rPr>
                          </m:ctrlPr>
                        </m:fPr>
                        <m:num>
                          <m:r>
                            <a:rPr sz="3200" i="1">
                              <a:solidFill>
                                <a:srgbClr val="858585"/>
                              </a:solidFill>
                              <a:latin typeface="Cambria Math" panose="02040503050406030204" pitchFamily="18" charset="0"/>
                            </a:rPr>
                            <m:t>𝑒𝑚𝑝𝑙𝑜𝑦𝑒𝑑</m:t>
                          </m:r>
                        </m:num>
                        <m:den>
                          <m:r>
                            <a:rPr sz="3200" i="1">
                              <a:solidFill>
                                <a:srgbClr val="858585"/>
                              </a:solidFill>
                              <a:latin typeface="Cambria Math" panose="02040503050406030204" pitchFamily="18" charset="0"/>
                            </a:rPr>
                            <m:t>32.0</m:t>
                          </m:r>
                        </m:den>
                      </m:f>
                    </m:oMath>
                  </m:oMathPara>
                </a14:m>
                <a:endParaRPr sz="3200">
                  <a:solidFill>
                    <a:srgbClr val="858585"/>
                  </a:solidFill>
                </a:endParaRPr>
              </a:p>
            </p:txBody>
          </p:sp>
        </mc:Choice>
        <mc:Fallback>
          <p:sp>
            <p:nvSpPr>
              <p:cNvPr id="142" name="Equation"/>
              <p:cNvSpPr txBox="1">
                <a:spLocks noRot="1" noChangeAspect="1" noMove="1" noResize="1" noEditPoints="1" noAdjustHandles="1" noChangeArrowheads="1" noChangeShapeType="1" noTextEdit="1"/>
              </p:cNvSpPr>
              <p:nvPr/>
            </p:nvSpPr>
            <p:spPr>
              <a:xfrm>
                <a:off x="984882" y="2493918"/>
                <a:ext cx="3440622" cy="935000"/>
              </a:xfrm>
              <a:prstGeom prst="rect">
                <a:avLst/>
              </a:prstGeom>
              <a:blipFill>
                <a:blip r:embed="rId3"/>
                <a:stretch>
                  <a:fillRect l="-2206" t="-4054" r="-2941" b="-13514"/>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3" name="Equation"/>
              <p:cNvSpPr txBox="1"/>
              <p:nvPr/>
            </p:nvSpPr>
            <p:spPr>
              <a:xfrm>
                <a:off x="950495" y="3785092"/>
                <a:ext cx="5652958"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m:t>
                      </m:r>
                      <m:r>
                        <a:rPr sz="3200" i="1">
                          <a:solidFill>
                            <a:srgbClr val="858585"/>
                          </a:solidFill>
                          <a:latin typeface="Cambria Math" panose="02040503050406030204" pitchFamily="18" charset="0"/>
                        </a:rPr>
                        <m:t>𝑒𝑚𝑝𝑙𝑜𝑦𝑒𝑑</m:t>
                      </m:r>
                      <m:r>
                        <a:rPr sz="3200" i="1">
                          <a:solidFill>
                            <a:srgbClr val="858585"/>
                          </a:solidFill>
                          <a:latin typeface="Cambria Math" panose="02040503050406030204" pitchFamily="18" charset="0"/>
                        </a:rPr>
                        <m:t>=0.875⋅32=28</m:t>
                      </m:r>
                    </m:oMath>
                  </m:oMathPara>
                </a14:m>
                <a:endParaRPr sz="3200">
                  <a:solidFill>
                    <a:srgbClr val="858585"/>
                  </a:solidFill>
                </a:endParaRPr>
              </a:p>
            </p:txBody>
          </p:sp>
        </mc:Choice>
        <mc:Fallback>
          <p:sp>
            <p:nvSpPr>
              <p:cNvPr id="143" name="Equation"/>
              <p:cNvSpPr txBox="1">
                <a:spLocks noRot="1" noChangeAspect="1" noMove="1" noResize="1" noEditPoints="1" noAdjustHandles="1" noChangeArrowheads="1" noChangeShapeType="1" noTextEdit="1"/>
              </p:cNvSpPr>
              <p:nvPr/>
            </p:nvSpPr>
            <p:spPr>
              <a:xfrm>
                <a:off x="950495" y="3785092"/>
                <a:ext cx="5652958" cy="492443"/>
              </a:xfrm>
              <a:prstGeom prst="rect">
                <a:avLst/>
              </a:prstGeom>
              <a:blipFill>
                <a:blip r:embed="rId4"/>
                <a:stretch>
                  <a:fillRect l="-448" r="-1345" b="-35897"/>
                </a:stretch>
              </a:blipFill>
              <a:ln w="12700">
                <a:miter lim="400000"/>
              </a:ln>
            </p:spPr>
            <p:txBody>
              <a:bodyPr/>
              <a:lstStyle/>
              <a:p>
                <a:r>
                  <a:rPr lang="en-US">
                    <a:noFill/>
                  </a:rPr>
                  <a:t> </a:t>
                </a:r>
              </a:p>
            </p:txBody>
          </p:sp>
        </mc:Fallback>
      </mc:AlternateContent>
      <p:sp>
        <p:nvSpPr>
          <p:cNvPr id="144" name="Labour force = employed + unemployed"/>
          <p:cNvSpPr txBox="1"/>
          <p:nvPr/>
        </p:nvSpPr>
        <p:spPr>
          <a:xfrm>
            <a:off x="842465" y="4540796"/>
            <a:ext cx="7742504"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a:t>Labour force = employed + unemployed</a:t>
            </a:r>
          </a:p>
        </p:txBody>
      </p:sp>
      <p:sp>
        <p:nvSpPr>
          <p:cNvPr id="145" name="∴ Unemployed = Labour Force - Employed"/>
          <p:cNvSpPr txBox="1"/>
          <p:nvPr/>
        </p:nvSpPr>
        <p:spPr>
          <a:xfrm>
            <a:off x="656432" y="5352344"/>
            <a:ext cx="8124019"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dirty="0"/>
              <a:t>∴ Unemployed = </a:t>
            </a:r>
            <a:r>
              <a:rPr sz="3200" dirty="0" err="1"/>
              <a:t>Labour</a:t>
            </a:r>
            <a:r>
              <a:rPr sz="3200" dirty="0"/>
              <a:t> Force - Employed</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p:tmAbs val="0"/>
                                  </p:iterate>
                                  <p:childTnLst>
                                    <p:set>
                                      <p:cBhvr>
                                        <p:cTn id="6" fill="hold"/>
                                        <p:tgtEl>
                                          <p:spTgt spid="141"/>
                                        </p:tgtEl>
                                        <p:attrNameLst>
                                          <p:attrName>style.visibility</p:attrName>
                                        </p:attrNameLst>
                                      </p:cBhvr>
                                      <p:to>
                                        <p:strVal val="visible"/>
                                      </p:to>
                                    </p:set>
                                    <p:animEffect transition="in" filter="wipe(left)">
                                      <p:cBhvr>
                                        <p:cTn id="7" dur="10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p:tmAbs val="0"/>
                                  </p:iterate>
                                  <p:childTnLst>
                                    <p:set>
                                      <p:cBhvr>
                                        <p:cTn id="11" fill="hold"/>
                                        <p:tgtEl>
                                          <p:spTgt spid="142"/>
                                        </p:tgtEl>
                                        <p:attrNameLst>
                                          <p:attrName>style.visibility</p:attrName>
                                        </p:attrNameLst>
                                      </p:cBhvr>
                                      <p:to>
                                        <p:strVal val="visible"/>
                                      </p:to>
                                    </p:set>
                                    <p:animEffect transition="in" filter="wipe(left)">
                                      <p:cBhvr>
                                        <p:cTn id="12" dur="10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p:tmAbs val="0"/>
                                  </p:iterate>
                                  <p:childTnLst>
                                    <p:set>
                                      <p:cBhvr>
                                        <p:cTn id="16" fill="hold"/>
                                        <p:tgtEl>
                                          <p:spTgt spid="143"/>
                                        </p:tgtEl>
                                        <p:attrNameLst>
                                          <p:attrName>style.visibility</p:attrName>
                                        </p:attrNameLst>
                                      </p:cBhvr>
                                      <p:to>
                                        <p:strVal val="visible"/>
                                      </p:to>
                                    </p:set>
                                    <p:animEffect transition="in" filter="wipe(left)">
                                      <p:cBhvr>
                                        <p:cTn id="17" dur="1000"/>
                                        <p:tgtEl>
                                          <p:spTgt spid="14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100"/>
                                  </p:iterate>
                                  <p:childTnLst>
                                    <p:set>
                                      <p:cBhvr>
                                        <p:cTn id="21" fill="hold"/>
                                        <p:tgtEl>
                                          <p:spTgt spid="14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type="lt">
                                    <p:tmAbs val="100"/>
                                  </p:iterate>
                                  <p:childTnLst>
                                    <p:set>
                                      <p:cBhvr>
                                        <p:cTn id="25" fill="hold"/>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advAuto="0"/>
      <p:bldP spid="142" grpId="0" animBg="1" advAuto="0"/>
      <p:bldP spid="143" grpId="0" animBg="1" advAuto="0"/>
      <p:bldP spid="144" grpId="0" animBg="1" advAuto="0"/>
      <p:bldP spid="145"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Substituting"/>
          <p:cNvSpPr txBox="1"/>
          <p:nvPr/>
        </p:nvSpPr>
        <p:spPr>
          <a:xfrm>
            <a:off x="964875" y="423316"/>
            <a:ext cx="2285882"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dirty="0"/>
              <a:t>Substituting</a:t>
            </a:r>
          </a:p>
        </p:txBody>
      </p:sp>
      <mc:AlternateContent xmlns:mc="http://schemas.openxmlformats.org/markup-compatibility/2006">
        <mc:Choice xmlns:a14="http://schemas.microsoft.com/office/drawing/2010/main" Requires="a14">
          <p:sp>
            <p:nvSpPr>
              <p:cNvPr id="148" name="Equation"/>
              <p:cNvSpPr txBox="1"/>
              <p:nvPr/>
            </p:nvSpPr>
            <p:spPr>
              <a:xfrm>
                <a:off x="1070415" y="1265319"/>
                <a:ext cx="5123775"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𝑈𝑛𝑒𝑚𝑝𝑙𝑜𝑦𝑒𝑑</m:t>
                      </m:r>
                      <m:r>
                        <a:rPr sz="3200" i="1">
                          <a:solidFill>
                            <a:srgbClr val="858585"/>
                          </a:solidFill>
                          <a:latin typeface="Cambria Math" panose="02040503050406030204" pitchFamily="18" charset="0"/>
                        </a:rPr>
                        <m:t>=32−28=2</m:t>
                      </m:r>
                    </m:oMath>
                  </m:oMathPara>
                </a14:m>
                <a:endParaRPr sz="3200">
                  <a:solidFill>
                    <a:srgbClr val="858585"/>
                  </a:solidFill>
                </a:endParaRPr>
              </a:p>
            </p:txBody>
          </p:sp>
        </mc:Choice>
        <mc:Fallback>
          <p:sp>
            <p:nvSpPr>
              <p:cNvPr id="148" name="Equation"/>
              <p:cNvSpPr txBox="1">
                <a:spLocks noRot="1" noChangeAspect="1" noMove="1" noResize="1" noEditPoints="1" noAdjustHandles="1" noChangeArrowheads="1" noChangeShapeType="1" noTextEdit="1"/>
              </p:cNvSpPr>
              <p:nvPr/>
            </p:nvSpPr>
            <p:spPr>
              <a:xfrm>
                <a:off x="1070415" y="1265319"/>
                <a:ext cx="5123775" cy="492443"/>
              </a:xfrm>
              <a:prstGeom prst="rect">
                <a:avLst/>
              </a:prstGeom>
              <a:blipFill>
                <a:blip r:embed="rId2"/>
                <a:stretch>
                  <a:fillRect l="-2228" r="-1238" b="-35000"/>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9" name="Equation"/>
              <p:cNvSpPr txBox="1"/>
              <p:nvPr/>
            </p:nvSpPr>
            <p:spPr>
              <a:xfrm>
                <a:off x="1027129" y="2044067"/>
                <a:ext cx="7486217"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en-NZ" sz="3200" i="1">
                          <a:solidFill>
                            <a:srgbClr val="858585"/>
                          </a:solidFill>
                          <a:latin typeface="Cambria Math" panose="02040503050406030204" pitchFamily="18" charset="0"/>
                        </a:rPr>
                        <m:t>𝑈𝑛𝑒𝑚𝑝𝑙𝑜𝑦𝑚𝑒𝑛𝑡</m:t>
                      </m:r>
                      <m:r>
                        <a:rPr lang="en-NZ" sz="3200" i="1">
                          <a:solidFill>
                            <a:srgbClr val="858585"/>
                          </a:solidFill>
                          <a:latin typeface="Cambria Math" panose="02040503050406030204" pitchFamily="18" charset="0"/>
                        </a:rPr>
                        <m:t> </m:t>
                      </m:r>
                      <m:r>
                        <a:rPr lang="en-NZ" sz="3200" i="1">
                          <a:solidFill>
                            <a:srgbClr val="858585"/>
                          </a:solidFill>
                          <a:latin typeface="Cambria Math" panose="02040503050406030204" pitchFamily="18" charset="0"/>
                        </a:rPr>
                        <m:t>𝑅𝑎𝑡𝑒</m:t>
                      </m:r>
                      <m:r>
                        <a:rPr lang="en-NZ" sz="3200" i="1">
                          <a:solidFill>
                            <a:srgbClr val="858585"/>
                          </a:solidFill>
                          <a:latin typeface="Cambria Math" panose="02040503050406030204" pitchFamily="18" charset="0"/>
                        </a:rPr>
                        <m:t>=2÷30=6.667%</m:t>
                      </m:r>
                    </m:oMath>
                  </m:oMathPara>
                </a14:m>
                <a:endParaRPr sz="3200" dirty="0">
                  <a:solidFill>
                    <a:srgbClr val="858585"/>
                  </a:solidFill>
                </a:endParaRPr>
              </a:p>
            </p:txBody>
          </p:sp>
        </mc:Choice>
        <mc:Fallback>
          <p:sp>
            <p:nvSpPr>
              <p:cNvPr id="149" name="Equation"/>
              <p:cNvSpPr txBox="1">
                <a:spLocks noRot="1" noChangeAspect="1" noMove="1" noResize="1" noEditPoints="1" noAdjustHandles="1" noChangeArrowheads="1" noChangeShapeType="1" noTextEdit="1"/>
              </p:cNvSpPr>
              <p:nvPr/>
            </p:nvSpPr>
            <p:spPr>
              <a:xfrm>
                <a:off x="1027129" y="2044067"/>
                <a:ext cx="7486217" cy="492443"/>
              </a:xfrm>
              <a:prstGeom prst="rect">
                <a:avLst/>
              </a:prstGeom>
              <a:blipFill>
                <a:blip r:embed="rId3"/>
                <a:stretch>
                  <a:fillRect l="-1354" t="-5000" r="-846" b="-40000"/>
                </a:stretch>
              </a:blipFill>
              <a:ln w="12700">
                <a:miter lim="400000"/>
              </a:ln>
            </p:spPr>
            <p:txBody>
              <a:bodyPr/>
              <a:lstStyle/>
              <a:p>
                <a:r>
                  <a:rPr lang="en-US">
                    <a:noFill/>
                  </a:rPr>
                  <a:t> </a:t>
                </a:r>
              </a:p>
            </p:txBody>
          </p:sp>
        </mc:Fallback>
      </mc:AlternateContent>
      <p:sp>
        <p:nvSpPr>
          <p:cNvPr id="150" name="Economy B"/>
          <p:cNvSpPr txBox="1"/>
          <p:nvPr/>
        </p:nvSpPr>
        <p:spPr>
          <a:xfrm>
            <a:off x="1005678" y="2732778"/>
            <a:ext cx="2183290"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dirty="0"/>
              <a:t>Economy</a:t>
            </a:r>
            <a:r>
              <a:rPr lang="mi-NZ" sz="3200" dirty="0"/>
              <a:t> </a:t>
            </a:r>
            <a:r>
              <a:rPr sz="900" dirty="0"/>
              <a:t> </a:t>
            </a:r>
            <a:r>
              <a:rPr sz="3200" dirty="0"/>
              <a:t>B</a:t>
            </a:r>
          </a:p>
        </p:txBody>
      </p:sp>
      <mc:AlternateContent xmlns:mc="http://schemas.openxmlformats.org/markup-compatibility/2006">
        <mc:Choice xmlns:a14="http://schemas.microsoft.com/office/drawing/2010/main" Requires="a14">
          <p:sp>
            <p:nvSpPr>
              <p:cNvPr id="151" name="Equation"/>
              <p:cNvSpPr txBox="1"/>
              <p:nvPr/>
            </p:nvSpPr>
            <p:spPr>
              <a:xfrm>
                <a:off x="978123" y="3295446"/>
                <a:ext cx="8698856" cy="1021370"/>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ar-AE" sz="3200" i="1">
                          <a:solidFill>
                            <a:srgbClr val="858585"/>
                          </a:solidFill>
                          <a:latin typeface="Cambria Math" panose="02040503050406030204" pitchFamily="18" charset="0"/>
                        </a:rPr>
                        <m:t>𝑃𝑎𝑟𝑡𝑖𝑐𝑖𝑝𝑎𝑡𝑖𝑜𝑛</m:t>
                      </m:r>
                      <m:r>
                        <a:rPr lang="mi-NZ"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𝑅𝑎𝑡𝑒</m:t>
                      </m:r>
                      <m:r>
                        <a:rPr lang="ar-AE" sz="3200" i="1">
                          <a:solidFill>
                            <a:srgbClr val="858585"/>
                          </a:solidFill>
                          <a:latin typeface="Cambria Math" panose="02040503050406030204" pitchFamily="18" charset="0"/>
                        </a:rPr>
                        <m:t>=</m:t>
                      </m:r>
                      <m:f>
                        <m:fPr>
                          <m:ctrlPr>
                            <a:rPr lang="ar-AE" sz="3200" i="1">
                              <a:solidFill>
                                <a:srgbClr val="858585"/>
                              </a:solidFill>
                              <a:latin typeface="Cambria Math" panose="02040503050406030204" pitchFamily="18" charset="0"/>
                            </a:rPr>
                          </m:ctrlPr>
                        </m:fPr>
                        <m:num>
                          <m:r>
                            <a:rPr lang="ar-AE" sz="3200" i="1">
                              <a:solidFill>
                                <a:srgbClr val="858585"/>
                              </a:solidFill>
                              <a:latin typeface="Cambria Math" panose="02040503050406030204" pitchFamily="18" charset="0"/>
                            </a:rPr>
                            <m:t>𝐿𝑎𝑏𝑜𝑢𝑟</m:t>
                          </m:r>
                          <m:r>
                            <a:rPr lang="ar-AE"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𝐹𝑜𝑟𝑐𝑒</m:t>
                          </m:r>
                        </m:num>
                        <m:den>
                          <m:r>
                            <a:rPr lang="ar-AE" sz="3200" i="1">
                              <a:solidFill>
                                <a:srgbClr val="858585"/>
                              </a:solidFill>
                              <a:latin typeface="Cambria Math" panose="02040503050406030204" pitchFamily="18" charset="0"/>
                            </a:rPr>
                            <m:t>𝑊𝑜𝑟𝑘𝑖𝑛𝑔</m:t>
                          </m:r>
                          <m:r>
                            <a:rPr lang="mi-NZ"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𝐴𝑔𝑒</m:t>
                          </m:r>
                          <m:r>
                            <a:rPr lang="mi-NZ"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𝑃𝑜𝑝𝑢𝑙𝑎𝑡𝑖𝑜𝑛</m:t>
                          </m:r>
                        </m:den>
                      </m:f>
                    </m:oMath>
                  </m:oMathPara>
                </a14:m>
                <a:endParaRPr sz="3200" dirty="0">
                  <a:solidFill>
                    <a:srgbClr val="858585"/>
                  </a:solidFill>
                </a:endParaRPr>
              </a:p>
            </p:txBody>
          </p:sp>
        </mc:Choice>
        <mc:Fallback>
          <p:sp>
            <p:nvSpPr>
              <p:cNvPr id="151" name="Equation"/>
              <p:cNvSpPr txBox="1">
                <a:spLocks noRot="1" noChangeAspect="1" noMove="1" noResize="1" noEditPoints="1" noAdjustHandles="1" noChangeArrowheads="1" noChangeShapeType="1" noTextEdit="1"/>
              </p:cNvSpPr>
              <p:nvPr/>
            </p:nvSpPr>
            <p:spPr>
              <a:xfrm>
                <a:off x="978123" y="3295446"/>
                <a:ext cx="8698856" cy="1021370"/>
              </a:xfrm>
              <a:prstGeom prst="rect">
                <a:avLst/>
              </a:prstGeom>
              <a:blipFill>
                <a:blip r:embed="rId4"/>
                <a:stretch>
                  <a:fillRect l="-875" t="-8642" r="-1020" b="-19753"/>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2" name="Equation"/>
              <p:cNvSpPr txBox="1"/>
              <p:nvPr/>
            </p:nvSpPr>
            <p:spPr>
              <a:xfrm>
                <a:off x="1450767" y="4444308"/>
                <a:ext cx="3658887" cy="935000"/>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ar-AE" sz="3200" i="1">
                          <a:solidFill>
                            <a:srgbClr val="858585"/>
                          </a:solidFill>
                          <a:latin typeface="Cambria Math" panose="02040503050406030204" pitchFamily="18" charset="0"/>
                        </a:rPr>
                        <m:t>0.8=</m:t>
                      </m:r>
                      <m:f>
                        <m:fPr>
                          <m:ctrlPr>
                            <a:rPr lang="ar-AE" sz="3200" i="1">
                              <a:solidFill>
                                <a:srgbClr val="858585"/>
                              </a:solidFill>
                              <a:latin typeface="Cambria Math" panose="02040503050406030204" pitchFamily="18" charset="0"/>
                            </a:rPr>
                          </m:ctrlPr>
                        </m:fPr>
                        <m:num>
                          <m:r>
                            <a:rPr lang="ar-AE" sz="3200" i="1">
                              <a:solidFill>
                                <a:srgbClr val="858585"/>
                              </a:solidFill>
                              <a:latin typeface="Cambria Math" panose="02040503050406030204" pitchFamily="18" charset="0"/>
                            </a:rPr>
                            <m:t>𝐿𝑎𝑏𝑜𝑢𝑟</m:t>
                          </m:r>
                          <m:r>
                            <a:rPr lang="ar-AE"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𝐹𝑜𝑟𝑐𝑒</m:t>
                          </m:r>
                        </m:num>
                        <m:den>
                          <m:r>
                            <a:rPr lang="ar-AE" sz="3200" i="1">
                              <a:solidFill>
                                <a:srgbClr val="858585"/>
                              </a:solidFill>
                              <a:latin typeface="Cambria Math" panose="02040503050406030204" pitchFamily="18" charset="0"/>
                            </a:rPr>
                            <m:t>5</m:t>
                          </m:r>
                        </m:den>
                      </m:f>
                    </m:oMath>
                  </m:oMathPara>
                </a14:m>
                <a:endParaRPr sz="3200" dirty="0">
                  <a:solidFill>
                    <a:srgbClr val="858585"/>
                  </a:solidFill>
                </a:endParaRPr>
              </a:p>
            </p:txBody>
          </p:sp>
        </mc:Choice>
        <mc:Fallback>
          <p:sp>
            <p:nvSpPr>
              <p:cNvPr id="152" name="Equation"/>
              <p:cNvSpPr txBox="1">
                <a:spLocks noRot="1" noChangeAspect="1" noMove="1" noResize="1" noEditPoints="1" noAdjustHandles="1" noChangeArrowheads="1" noChangeShapeType="1" noTextEdit="1"/>
              </p:cNvSpPr>
              <p:nvPr/>
            </p:nvSpPr>
            <p:spPr>
              <a:xfrm>
                <a:off x="1450767" y="4444308"/>
                <a:ext cx="3658887" cy="935000"/>
              </a:xfrm>
              <a:prstGeom prst="rect">
                <a:avLst/>
              </a:prstGeom>
              <a:blipFill>
                <a:blip r:embed="rId5"/>
                <a:stretch>
                  <a:fillRect l="-2076" t="-8000" r="-1730" b="-13333"/>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3" name="Equation"/>
              <p:cNvSpPr txBox="1"/>
              <p:nvPr/>
            </p:nvSpPr>
            <p:spPr>
              <a:xfrm>
                <a:off x="1077013" y="5718225"/>
                <a:ext cx="4946098"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en-NZ" sz="3200" i="1">
                          <a:solidFill>
                            <a:srgbClr val="858585"/>
                          </a:solidFill>
                          <a:latin typeface="Cambria Math" panose="02040503050406030204" pitchFamily="18" charset="0"/>
                        </a:rPr>
                        <m:t>𝐿𝑎𝑏𝑜𝑢𝑟</m:t>
                      </m:r>
                      <m:r>
                        <a:rPr lang="en-NZ" sz="3200" i="1">
                          <a:solidFill>
                            <a:srgbClr val="858585"/>
                          </a:solidFill>
                          <a:latin typeface="Cambria Math" panose="02040503050406030204" pitchFamily="18" charset="0"/>
                        </a:rPr>
                        <m:t> </m:t>
                      </m:r>
                      <m:r>
                        <a:rPr lang="en-NZ" sz="3200" i="1">
                          <a:solidFill>
                            <a:srgbClr val="858585"/>
                          </a:solidFill>
                          <a:latin typeface="Cambria Math" panose="02040503050406030204" pitchFamily="18" charset="0"/>
                        </a:rPr>
                        <m:t>𝐹𝑜𝑟𝑐𝑒</m:t>
                      </m:r>
                      <m:r>
                        <a:rPr lang="en-NZ" sz="3200" i="1">
                          <a:solidFill>
                            <a:srgbClr val="858585"/>
                          </a:solidFill>
                          <a:latin typeface="Cambria Math" panose="02040503050406030204" pitchFamily="18" charset="0"/>
                        </a:rPr>
                        <m:t>=0.8⋅5=4</m:t>
                      </m:r>
                    </m:oMath>
                  </m:oMathPara>
                </a14:m>
                <a:endParaRPr sz="3200" dirty="0">
                  <a:solidFill>
                    <a:srgbClr val="858585"/>
                  </a:solidFill>
                </a:endParaRPr>
              </a:p>
            </p:txBody>
          </p:sp>
        </mc:Choice>
        <mc:Fallback>
          <p:sp>
            <p:nvSpPr>
              <p:cNvPr id="153" name="Equation"/>
              <p:cNvSpPr txBox="1">
                <a:spLocks noRot="1" noChangeAspect="1" noMove="1" noResize="1" noEditPoints="1" noAdjustHandles="1" noChangeArrowheads="1" noChangeShapeType="1" noTextEdit="1"/>
              </p:cNvSpPr>
              <p:nvPr/>
            </p:nvSpPr>
            <p:spPr>
              <a:xfrm>
                <a:off x="1077013" y="5718225"/>
                <a:ext cx="4946098" cy="492443"/>
              </a:xfrm>
              <a:prstGeom prst="rect">
                <a:avLst/>
              </a:prstGeom>
              <a:blipFill>
                <a:blip r:embed="rId6"/>
                <a:stretch>
                  <a:fillRect l="-1279" t="-5000" r="-1279" b="-37500"/>
                </a:stretch>
              </a:blipFill>
              <a:ln w="12700">
                <a:miter lim="400000"/>
              </a:ln>
            </p:spPr>
            <p:txBody>
              <a:bodyPr/>
              <a:lstStyle/>
              <a:p>
                <a:r>
                  <a:rPr lang="en-US">
                    <a:noFill/>
                  </a:rPr>
                  <a:t> </a:t>
                </a:r>
              </a:p>
            </p:txBody>
          </p:sp>
        </mc:Fallback>
      </mc:AlternateContent>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p:tmAbs val="0"/>
                                  </p:iterate>
                                  <p:childTnLst>
                                    <p:set>
                                      <p:cBhvr>
                                        <p:cTn id="6" fill="hold"/>
                                        <p:tgtEl>
                                          <p:spTgt spid="148"/>
                                        </p:tgtEl>
                                        <p:attrNameLst>
                                          <p:attrName>style.visibility</p:attrName>
                                        </p:attrNameLst>
                                      </p:cBhvr>
                                      <p:to>
                                        <p:strVal val="visible"/>
                                      </p:to>
                                    </p:set>
                                    <p:animEffect transition="in" filter="wipe(left)">
                                      <p:cBhvr>
                                        <p:cTn id="7" dur="1000"/>
                                        <p:tgtEl>
                                          <p:spTgt spid="1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p:tmAbs val="0"/>
                                  </p:iterate>
                                  <p:childTnLst>
                                    <p:set>
                                      <p:cBhvr>
                                        <p:cTn id="11" fill="hold"/>
                                        <p:tgtEl>
                                          <p:spTgt spid="149"/>
                                        </p:tgtEl>
                                        <p:attrNameLst>
                                          <p:attrName>style.visibility</p:attrName>
                                        </p:attrNameLst>
                                      </p:cBhvr>
                                      <p:to>
                                        <p:strVal val="visible"/>
                                      </p:to>
                                    </p:set>
                                    <p:animEffect transition="in" filter="wipe(left)">
                                      <p:cBhvr>
                                        <p:cTn id="12" dur="10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100"/>
                                  </p:iterate>
                                  <p:childTnLst>
                                    <p:set>
                                      <p:cBhvr>
                                        <p:cTn id="16" fill="hold"/>
                                        <p:tgtEl>
                                          <p:spTgt spid="1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p:tmAbs val="0"/>
                                  </p:iterate>
                                  <p:childTnLst>
                                    <p:set>
                                      <p:cBhvr>
                                        <p:cTn id="20" fill="hold"/>
                                        <p:tgtEl>
                                          <p:spTgt spid="151"/>
                                        </p:tgtEl>
                                        <p:attrNameLst>
                                          <p:attrName>style.visibility</p:attrName>
                                        </p:attrNameLst>
                                      </p:cBhvr>
                                      <p:to>
                                        <p:strVal val="visible"/>
                                      </p:to>
                                    </p:set>
                                    <p:animEffect transition="in" filter="wipe(left)">
                                      <p:cBhvr>
                                        <p:cTn id="21" dur="1000"/>
                                        <p:tgtEl>
                                          <p:spTgt spid="15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p:tmAbs val="0"/>
                                  </p:iterate>
                                  <p:childTnLst>
                                    <p:set>
                                      <p:cBhvr>
                                        <p:cTn id="25" fill="hold"/>
                                        <p:tgtEl>
                                          <p:spTgt spid="152"/>
                                        </p:tgtEl>
                                        <p:attrNameLst>
                                          <p:attrName>style.visibility</p:attrName>
                                        </p:attrNameLst>
                                      </p:cBhvr>
                                      <p:to>
                                        <p:strVal val="visible"/>
                                      </p:to>
                                    </p:set>
                                    <p:animEffect transition="in" filter="wipe(left)">
                                      <p:cBhvr>
                                        <p:cTn id="26" dur="1000"/>
                                        <p:tgtEl>
                                          <p:spTgt spid="15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p:tmAbs val="0"/>
                                  </p:iterate>
                                  <p:childTnLst>
                                    <p:set>
                                      <p:cBhvr>
                                        <p:cTn id="30" fill="hold"/>
                                        <p:tgtEl>
                                          <p:spTgt spid="153"/>
                                        </p:tgtEl>
                                        <p:attrNameLst>
                                          <p:attrName>style.visibility</p:attrName>
                                        </p:attrNameLst>
                                      </p:cBhvr>
                                      <p:to>
                                        <p:strVal val="visible"/>
                                      </p:to>
                                    </p:set>
                                    <p:animEffect transition="in" filter="wipe(left)">
                                      <p:cBhvr>
                                        <p:cTn id="31" dur="1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animBg="1" advAuto="0"/>
      <p:bldP spid="149" grpId="0" animBg="1" advAuto="0"/>
      <p:bldP spid="150" grpId="0" animBg="1" advAuto="0"/>
      <p:bldP spid="151" grpId="0" animBg="1" advAuto="0"/>
      <p:bldP spid="152" grpId="0" animBg="1" advAuto="0"/>
      <p:bldP spid="153"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5" name="Equation"/>
              <p:cNvSpPr txBox="1"/>
              <p:nvPr/>
            </p:nvSpPr>
            <p:spPr>
              <a:xfrm>
                <a:off x="552928" y="284169"/>
                <a:ext cx="8560805" cy="1021370"/>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ar-AE" sz="3200" i="1">
                          <a:solidFill>
                            <a:srgbClr val="858585"/>
                          </a:solidFill>
                          <a:latin typeface="Cambria Math" panose="02040503050406030204" pitchFamily="18" charset="0"/>
                        </a:rPr>
                        <m:t>𝐸𝑚𝑝𝑙𝑜𝑦𝑚𝑒𝑛𝑡</m:t>
                      </m:r>
                      <m:r>
                        <a:rPr lang="ar-AE"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𝑅𝑎𝑡𝑒</m:t>
                      </m:r>
                      <m:r>
                        <a:rPr lang="ar-AE" sz="3200" i="1">
                          <a:solidFill>
                            <a:srgbClr val="858585"/>
                          </a:solidFill>
                          <a:latin typeface="Cambria Math" panose="02040503050406030204" pitchFamily="18" charset="0"/>
                        </a:rPr>
                        <m:t>=</m:t>
                      </m:r>
                      <m:f>
                        <m:fPr>
                          <m:ctrlPr>
                            <a:rPr lang="ar-AE" sz="3200" i="1">
                              <a:solidFill>
                                <a:srgbClr val="858585"/>
                              </a:solidFill>
                              <a:latin typeface="Cambria Math" panose="02040503050406030204" pitchFamily="18" charset="0"/>
                            </a:rPr>
                          </m:ctrlPr>
                        </m:fPr>
                        <m:num>
                          <m:r>
                            <a:rPr lang="ar-AE" sz="3200" i="1">
                              <a:solidFill>
                                <a:srgbClr val="858585"/>
                              </a:solidFill>
                              <a:latin typeface="Cambria Math" panose="02040503050406030204" pitchFamily="18" charset="0"/>
                            </a:rPr>
                            <m:t>𝐸𝑚𝑝𝑙𝑜𝑦𝑒𝑑</m:t>
                          </m:r>
                        </m:num>
                        <m:den>
                          <m:r>
                            <a:rPr lang="ar-AE" sz="3200" i="1">
                              <a:solidFill>
                                <a:srgbClr val="858585"/>
                              </a:solidFill>
                              <a:latin typeface="Cambria Math" panose="02040503050406030204" pitchFamily="18" charset="0"/>
                            </a:rPr>
                            <m:t>𝑊𝑜𝑟𝑘𝑖𝑛𝑔</m:t>
                          </m:r>
                          <m:r>
                            <a:rPr lang="mi-NZ"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𝐴𝑔𝑒</m:t>
                          </m:r>
                          <m:r>
                            <a:rPr lang="mi-NZ"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𝑃𝑜𝑝𝑢𝑙𝑎𝑡𝑖𝑜𝑛</m:t>
                          </m:r>
                        </m:den>
                      </m:f>
                    </m:oMath>
                  </m:oMathPara>
                </a14:m>
                <a:endParaRPr sz="3200" dirty="0">
                  <a:solidFill>
                    <a:srgbClr val="858585"/>
                  </a:solidFill>
                </a:endParaRPr>
              </a:p>
            </p:txBody>
          </p:sp>
        </mc:Choice>
        <mc:Fallback>
          <p:sp>
            <p:nvSpPr>
              <p:cNvPr id="155" name="Equation"/>
              <p:cNvSpPr txBox="1">
                <a:spLocks noRot="1" noChangeAspect="1" noMove="1" noResize="1" noEditPoints="1" noAdjustHandles="1" noChangeArrowheads="1" noChangeShapeType="1" noTextEdit="1"/>
              </p:cNvSpPr>
              <p:nvPr/>
            </p:nvSpPr>
            <p:spPr>
              <a:xfrm>
                <a:off x="552928" y="284169"/>
                <a:ext cx="8560805" cy="1021370"/>
              </a:xfrm>
              <a:prstGeom prst="rect">
                <a:avLst/>
              </a:prstGeom>
              <a:blipFill>
                <a:blip r:embed="rId2"/>
                <a:stretch>
                  <a:fillRect l="-1037" t="-3704" r="-1037" b="-19753"/>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6" name="Equation"/>
              <p:cNvSpPr txBox="1"/>
              <p:nvPr/>
            </p:nvSpPr>
            <p:spPr>
              <a:xfrm>
                <a:off x="714644" y="1646996"/>
                <a:ext cx="3265894" cy="935000"/>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0.75=</m:t>
                      </m:r>
                      <m:f>
                        <m:fPr>
                          <m:ctrlPr>
                            <a:rPr sz="3200" i="1">
                              <a:solidFill>
                                <a:srgbClr val="858585"/>
                              </a:solidFill>
                              <a:latin typeface="Cambria Math" panose="02040503050406030204" pitchFamily="18" charset="0"/>
                            </a:rPr>
                          </m:ctrlPr>
                        </m:fPr>
                        <m:num>
                          <m:r>
                            <a:rPr sz="3200" i="1">
                              <a:solidFill>
                                <a:srgbClr val="858585"/>
                              </a:solidFill>
                              <a:latin typeface="Cambria Math" panose="02040503050406030204" pitchFamily="18" charset="0"/>
                            </a:rPr>
                            <m:t>𝐸𝑚𝑝𝑙𝑜𝑦𝑒𝑑</m:t>
                          </m:r>
                        </m:num>
                        <m:den>
                          <m:r>
                            <a:rPr sz="3200" i="1">
                              <a:solidFill>
                                <a:srgbClr val="858585"/>
                              </a:solidFill>
                              <a:latin typeface="Cambria Math" panose="02040503050406030204" pitchFamily="18" charset="0"/>
                            </a:rPr>
                            <m:t>5</m:t>
                          </m:r>
                        </m:den>
                      </m:f>
                    </m:oMath>
                  </m:oMathPara>
                </a14:m>
                <a:endParaRPr sz="3200">
                  <a:solidFill>
                    <a:srgbClr val="858585"/>
                  </a:solidFill>
                </a:endParaRPr>
              </a:p>
            </p:txBody>
          </p:sp>
        </mc:Choice>
        <mc:Fallback>
          <p:sp>
            <p:nvSpPr>
              <p:cNvPr id="156" name="Equation"/>
              <p:cNvSpPr txBox="1">
                <a:spLocks noRot="1" noChangeAspect="1" noMove="1" noResize="1" noEditPoints="1" noAdjustHandles="1" noChangeArrowheads="1" noChangeShapeType="1" noTextEdit="1"/>
              </p:cNvSpPr>
              <p:nvPr/>
            </p:nvSpPr>
            <p:spPr>
              <a:xfrm>
                <a:off x="714644" y="1646996"/>
                <a:ext cx="3265894" cy="935000"/>
              </a:xfrm>
              <a:prstGeom prst="rect">
                <a:avLst/>
              </a:prstGeom>
              <a:blipFill>
                <a:blip r:embed="rId3"/>
                <a:stretch>
                  <a:fillRect l="-2326" t="-2667" r="-3488" b="-13333"/>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7" name="Equation"/>
              <p:cNvSpPr txBox="1"/>
              <p:nvPr/>
            </p:nvSpPr>
            <p:spPr>
              <a:xfrm>
                <a:off x="4849678" y="1902622"/>
                <a:ext cx="5093317"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𝐸𝑚𝑝𝑙𝑜𝑦𝑒𝑑</m:t>
                      </m:r>
                      <m:r>
                        <a:rPr sz="3200" i="1">
                          <a:solidFill>
                            <a:srgbClr val="858585"/>
                          </a:solidFill>
                          <a:latin typeface="Cambria Math" panose="02040503050406030204" pitchFamily="18" charset="0"/>
                        </a:rPr>
                        <m:t>=0.75⋅5=3.75</m:t>
                      </m:r>
                    </m:oMath>
                  </m:oMathPara>
                </a14:m>
                <a:endParaRPr sz="3200">
                  <a:solidFill>
                    <a:srgbClr val="858585"/>
                  </a:solidFill>
                </a:endParaRPr>
              </a:p>
            </p:txBody>
          </p:sp>
        </mc:Choice>
        <mc:Fallback>
          <p:sp>
            <p:nvSpPr>
              <p:cNvPr id="157" name="Equation"/>
              <p:cNvSpPr txBox="1">
                <a:spLocks noRot="1" noChangeAspect="1" noMove="1" noResize="1" noEditPoints="1" noAdjustHandles="1" noChangeArrowheads="1" noChangeShapeType="1" noTextEdit="1"/>
              </p:cNvSpPr>
              <p:nvPr/>
            </p:nvSpPr>
            <p:spPr>
              <a:xfrm>
                <a:off x="4849678" y="1902622"/>
                <a:ext cx="5093317" cy="492443"/>
              </a:xfrm>
              <a:prstGeom prst="rect">
                <a:avLst/>
              </a:prstGeom>
              <a:blipFill>
                <a:blip r:embed="rId4"/>
                <a:stretch>
                  <a:fillRect l="-2494" r="-1496" b="-35000"/>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8" name="Equation"/>
              <p:cNvSpPr txBox="1"/>
              <p:nvPr/>
            </p:nvSpPr>
            <p:spPr>
              <a:xfrm>
                <a:off x="690689" y="2931795"/>
                <a:ext cx="5748946"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𝑈𝑛𝑒𝑚𝑝𝑙𝑜𝑦𝑒𝑑</m:t>
                      </m:r>
                      <m:r>
                        <a:rPr sz="3200" i="1">
                          <a:solidFill>
                            <a:srgbClr val="858585"/>
                          </a:solidFill>
                          <a:latin typeface="Cambria Math" panose="02040503050406030204" pitchFamily="18" charset="0"/>
                        </a:rPr>
                        <m:t>=4−3.75=0.25</m:t>
                      </m:r>
                    </m:oMath>
                  </m:oMathPara>
                </a14:m>
                <a:endParaRPr sz="3200">
                  <a:solidFill>
                    <a:srgbClr val="858585"/>
                  </a:solidFill>
                </a:endParaRPr>
              </a:p>
            </p:txBody>
          </p:sp>
        </mc:Choice>
        <mc:Fallback>
          <p:sp>
            <p:nvSpPr>
              <p:cNvPr id="158" name="Equation"/>
              <p:cNvSpPr txBox="1">
                <a:spLocks noRot="1" noChangeAspect="1" noMove="1" noResize="1" noEditPoints="1" noAdjustHandles="1" noChangeArrowheads="1" noChangeShapeType="1" noTextEdit="1"/>
              </p:cNvSpPr>
              <p:nvPr/>
            </p:nvSpPr>
            <p:spPr>
              <a:xfrm>
                <a:off x="690689" y="2931795"/>
                <a:ext cx="5748946" cy="492443"/>
              </a:xfrm>
              <a:prstGeom prst="rect">
                <a:avLst/>
              </a:prstGeom>
              <a:blipFill>
                <a:blip r:embed="rId5"/>
                <a:stretch>
                  <a:fillRect l="-1987" r="-1325" b="-35000"/>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9" name="Equation"/>
              <p:cNvSpPr txBox="1"/>
              <p:nvPr/>
            </p:nvSpPr>
            <p:spPr>
              <a:xfrm>
                <a:off x="656493" y="3705342"/>
                <a:ext cx="6855018" cy="931986"/>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ar-AE" sz="3200" i="1">
                          <a:solidFill>
                            <a:srgbClr val="858585"/>
                          </a:solidFill>
                          <a:latin typeface="Cambria Math" panose="02040503050406030204" pitchFamily="18" charset="0"/>
                        </a:rPr>
                        <m:t>𝑈𝑛𝑒𝑚𝑝𝑙𝑜𝑦𝑚𝑒𝑛𝑡</m:t>
                      </m:r>
                      <m:r>
                        <a:rPr lang="ar-AE"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𝑅𝑎𝑡𝑒</m:t>
                      </m:r>
                      <m:r>
                        <a:rPr lang="ar-AE" sz="3200" i="1">
                          <a:solidFill>
                            <a:srgbClr val="858585"/>
                          </a:solidFill>
                          <a:latin typeface="Cambria Math" panose="02040503050406030204" pitchFamily="18" charset="0"/>
                        </a:rPr>
                        <m:t>=</m:t>
                      </m:r>
                      <m:f>
                        <m:fPr>
                          <m:ctrlPr>
                            <a:rPr lang="ar-AE" sz="3200" i="1">
                              <a:solidFill>
                                <a:srgbClr val="858585"/>
                              </a:solidFill>
                              <a:latin typeface="Cambria Math" panose="02040503050406030204" pitchFamily="18" charset="0"/>
                            </a:rPr>
                          </m:ctrlPr>
                        </m:fPr>
                        <m:num>
                          <m:r>
                            <a:rPr lang="ar-AE" sz="3200" i="1">
                              <a:solidFill>
                                <a:srgbClr val="858585"/>
                              </a:solidFill>
                              <a:latin typeface="Cambria Math" panose="02040503050406030204" pitchFamily="18" charset="0"/>
                            </a:rPr>
                            <m:t>0.25</m:t>
                          </m:r>
                        </m:num>
                        <m:den>
                          <m:r>
                            <a:rPr lang="ar-AE" sz="3200" i="1">
                              <a:solidFill>
                                <a:srgbClr val="858585"/>
                              </a:solidFill>
                              <a:latin typeface="Cambria Math" panose="02040503050406030204" pitchFamily="18" charset="0"/>
                            </a:rPr>
                            <m:t>4</m:t>
                          </m:r>
                        </m:den>
                      </m:f>
                      <m:r>
                        <a:rPr lang="ar-AE" sz="3200" i="1">
                          <a:solidFill>
                            <a:srgbClr val="858585"/>
                          </a:solidFill>
                          <a:latin typeface="Cambria Math" panose="02040503050406030204" pitchFamily="18" charset="0"/>
                        </a:rPr>
                        <m:t>=6.25%</m:t>
                      </m:r>
                    </m:oMath>
                  </m:oMathPara>
                </a14:m>
                <a:endParaRPr sz="3200" dirty="0">
                  <a:solidFill>
                    <a:srgbClr val="858585"/>
                  </a:solidFill>
                </a:endParaRPr>
              </a:p>
            </p:txBody>
          </p:sp>
        </mc:Choice>
        <mc:Fallback>
          <p:sp>
            <p:nvSpPr>
              <p:cNvPr id="159" name="Equation"/>
              <p:cNvSpPr txBox="1">
                <a:spLocks noRot="1" noChangeAspect="1" noMove="1" noResize="1" noEditPoints="1" noAdjustHandles="1" noChangeArrowheads="1" noChangeShapeType="1" noTextEdit="1"/>
              </p:cNvSpPr>
              <p:nvPr/>
            </p:nvSpPr>
            <p:spPr>
              <a:xfrm>
                <a:off x="656493" y="3705342"/>
                <a:ext cx="6855018" cy="931986"/>
              </a:xfrm>
              <a:prstGeom prst="rect">
                <a:avLst/>
              </a:prstGeom>
              <a:blipFill>
                <a:blip r:embed="rId6"/>
                <a:stretch>
                  <a:fillRect l="-1479" t="-1333" r="-1109" b="-13333"/>
                </a:stretch>
              </a:blipFill>
              <a:ln w="12700">
                <a:miter lim="400000"/>
              </a:ln>
            </p:spPr>
            <p:txBody>
              <a:bodyPr/>
              <a:lstStyle/>
              <a:p>
                <a:r>
                  <a:rPr lang="en-US">
                    <a:noFill/>
                  </a:rPr>
                  <a:t> </a:t>
                </a:r>
              </a:p>
            </p:txBody>
          </p:sp>
        </mc:Fallback>
      </mc:AlternateContent>
      <p:sp>
        <p:nvSpPr>
          <p:cNvPr id="160" name="B has lowest unemployment rate"/>
          <p:cNvSpPr txBox="1"/>
          <p:nvPr/>
        </p:nvSpPr>
        <p:spPr>
          <a:xfrm>
            <a:off x="597646" y="4962264"/>
            <a:ext cx="6306214"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a:t>B has lowest unemployment rate  </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p:tmAbs val="0"/>
                                  </p:iterate>
                                  <p:childTnLst>
                                    <p:set>
                                      <p:cBhvr>
                                        <p:cTn id="6" fill="hold"/>
                                        <p:tgtEl>
                                          <p:spTgt spid="155"/>
                                        </p:tgtEl>
                                        <p:attrNameLst>
                                          <p:attrName>style.visibility</p:attrName>
                                        </p:attrNameLst>
                                      </p:cBhvr>
                                      <p:to>
                                        <p:strVal val="visible"/>
                                      </p:to>
                                    </p:set>
                                    <p:animEffect transition="in" filter="wipe(left)">
                                      <p:cBhvr>
                                        <p:cTn id="7" dur="10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p:tmAbs val="0"/>
                                  </p:iterate>
                                  <p:childTnLst>
                                    <p:set>
                                      <p:cBhvr>
                                        <p:cTn id="11" fill="hold"/>
                                        <p:tgtEl>
                                          <p:spTgt spid="156"/>
                                        </p:tgtEl>
                                        <p:attrNameLst>
                                          <p:attrName>style.visibility</p:attrName>
                                        </p:attrNameLst>
                                      </p:cBhvr>
                                      <p:to>
                                        <p:strVal val="visible"/>
                                      </p:to>
                                    </p:set>
                                    <p:animEffect transition="in" filter="wipe(left)">
                                      <p:cBhvr>
                                        <p:cTn id="12" dur="10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p:tmAbs val="0"/>
                                  </p:iterate>
                                  <p:childTnLst>
                                    <p:set>
                                      <p:cBhvr>
                                        <p:cTn id="16" fill="hold"/>
                                        <p:tgtEl>
                                          <p:spTgt spid="157"/>
                                        </p:tgtEl>
                                        <p:attrNameLst>
                                          <p:attrName>style.visibility</p:attrName>
                                        </p:attrNameLst>
                                      </p:cBhvr>
                                      <p:to>
                                        <p:strVal val="visible"/>
                                      </p:to>
                                    </p:set>
                                    <p:animEffect transition="in" filter="wipe(left)">
                                      <p:cBhvr>
                                        <p:cTn id="17" dur="1000"/>
                                        <p:tgtEl>
                                          <p:spTgt spid="1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p:tmAbs val="0"/>
                                  </p:iterate>
                                  <p:childTnLst>
                                    <p:set>
                                      <p:cBhvr>
                                        <p:cTn id="21" fill="hold"/>
                                        <p:tgtEl>
                                          <p:spTgt spid="158"/>
                                        </p:tgtEl>
                                        <p:attrNameLst>
                                          <p:attrName>style.visibility</p:attrName>
                                        </p:attrNameLst>
                                      </p:cBhvr>
                                      <p:to>
                                        <p:strVal val="visible"/>
                                      </p:to>
                                    </p:set>
                                    <p:animEffect transition="in" filter="wipe(left)">
                                      <p:cBhvr>
                                        <p:cTn id="22" dur="1000"/>
                                        <p:tgtEl>
                                          <p:spTgt spid="1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p:tmAbs val="0"/>
                                  </p:iterate>
                                  <p:childTnLst>
                                    <p:set>
                                      <p:cBhvr>
                                        <p:cTn id="26" fill="hold"/>
                                        <p:tgtEl>
                                          <p:spTgt spid="159"/>
                                        </p:tgtEl>
                                        <p:attrNameLst>
                                          <p:attrName>style.visibility</p:attrName>
                                        </p:attrNameLst>
                                      </p:cBhvr>
                                      <p:to>
                                        <p:strVal val="visible"/>
                                      </p:to>
                                    </p:set>
                                    <p:animEffect transition="in" filter="wipe(left)">
                                      <p:cBhvr>
                                        <p:cTn id="27" dur="1000"/>
                                        <p:tgtEl>
                                          <p:spTgt spid="15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100"/>
                                  </p:iterate>
                                  <p:childTnLst>
                                    <p:set>
                                      <p:cBhvr>
                                        <p:cTn id="31" fill="hold"/>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advAuto="0"/>
      <p:bldP spid="156" grpId="0" animBg="1" advAuto="0"/>
      <p:bldP spid="157" grpId="0" animBg="1" advAuto="0"/>
      <p:bldP spid="158" grpId="0" animBg="1" advAuto="0"/>
      <p:bldP spid="159" grpId="0" animBg="1" advAuto="0"/>
      <p:bldP spid="160" grpId="0"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Quiz 1"/>
          <p:cNvSpPr txBox="1">
            <a:spLocks noGrp="1"/>
          </p:cNvSpPr>
          <p:nvPr>
            <p:ph type="title"/>
          </p:nvPr>
        </p:nvSpPr>
        <p:spPr>
          <a:xfrm>
            <a:off x="7523922" y="3429000"/>
            <a:ext cx="3823528" cy="1645189"/>
          </a:xfrm>
        </p:spPr>
        <p:txBody>
          <a:bodyPr anchor="b">
            <a:normAutofit/>
          </a:bodyPr>
          <a:lstStyle/>
          <a:p>
            <a:r>
              <a:t>Quiz 1</a:t>
            </a:r>
          </a:p>
        </p:txBody>
      </p:sp>
      <p:sp>
        <p:nvSpPr>
          <p:cNvPr id="163" name="Question 2"/>
          <p:cNvSpPr txBox="1">
            <a:spLocks noGrp="1"/>
          </p:cNvSpPr>
          <p:nvPr>
            <p:ph type="body" idx="1"/>
          </p:nvPr>
        </p:nvSpPr>
        <p:spPr>
          <a:xfrm>
            <a:off x="7523922" y="5101177"/>
            <a:ext cx="3823528" cy="548145"/>
          </a:xfrm>
        </p:spPr>
        <p:txBody>
          <a:bodyPr>
            <a:normAutofit/>
          </a:bodyPr>
          <a:lstStyle/>
          <a:p>
            <a:r>
              <a:t>Question 2</a:t>
            </a:r>
          </a:p>
        </p:txBody>
      </p:sp>
      <p:sp>
        <p:nvSpPr>
          <p:cNvPr id="165" name="Text Placeholder 3">
            <a:extLst>
              <a:ext uri="{FF2B5EF4-FFF2-40B4-BE49-F238E27FC236}">
                <a16:creationId xmlns:a16="http://schemas.microsoft.com/office/drawing/2014/main" id="{530975E9-2275-AC79-3473-85B639399F55}"/>
              </a:ext>
            </a:extLst>
          </p:cNvPr>
          <p:cNvSpPr>
            <a:spLocks noGrp="1"/>
          </p:cNvSpPr>
          <p:nvPr>
            <p:ph type="body" sz="quarter" idx="13"/>
          </p:nvPr>
        </p:nvSpPr>
        <p:spPr>
          <a:xfrm>
            <a:off x="4479342" y="2888186"/>
            <a:ext cx="1600201" cy="1081627"/>
          </a:xfrm>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Malaysia and Okun’s Law"/>
          <p:cNvSpPr txBox="1"/>
          <p:nvPr/>
        </p:nvSpPr>
        <p:spPr>
          <a:xfrm>
            <a:off x="997517" y="439637"/>
            <a:ext cx="4765151"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a:t>Malaysia and Okun’s Law</a:t>
            </a:r>
          </a:p>
        </p:txBody>
      </p:sp>
      <mc:AlternateContent xmlns:mc="http://schemas.openxmlformats.org/markup-compatibility/2006">
        <mc:Choice xmlns:a14="http://schemas.microsoft.com/office/drawing/2010/main" Requires="a14">
          <p:sp>
            <p:nvSpPr>
              <p:cNvPr id="166" name="Equation"/>
              <p:cNvSpPr txBox="1"/>
              <p:nvPr/>
            </p:nvSpPr>
            <p:spPr>
              <a:xfrm>
                <a:off x="1229837" y="1403034"/>
                <a:ext cx="3810530"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𝑦</m:t>
                      </m:r>
                      <m:r>
                        <a:rPr sz="3200" i="1">
                          <a:solidFill>
                            <a:srgbClr val="858585"/>
                          </a:solidFill>
                          <a:latin typeface="Cambria Math" panose="02040503050406030204" pitchFamily="18" charset="0"/>
                        </a:rPr>
                        <m:t>=0.3176−0.511</m:t>
                      </m:r>
                      <m:r>
                        <a:rPr sz="3200" i="1">
                          <a:solidFill>
                            <a:srgbClr val="858585"/>
                          </a:solidFill>
                          <a:latin typeface="Cambria Math" panose="02040503050406030204" pitchFamily="18" charset="0"/>
                        </a:rPr>
                        <m:t>𝑥</m:t>
                      </m:r>
                    </m:oMath>
                  </m:oMathPara>
                </a14:m>
                <a:endParaRPr sz="3200">
                  <a:solidFill>
                    <a:srgbClr val="858585"/>
                  </a:solidFill>
                </a:endParaRPr>
              </a:p>
            </p:txBody>
          </p:sp>
        </mc:Choice>
        <mc:Fallback>
          <p:sp>
            <p:nvSpPr>
              <p:cNvPr id="166" name="Equation"/>
              <p:cNvSpPr txBox="1">
                <a:spLocks noRot="1" noChangeAspect="1" noMove="1" noResize="1" noEditPoints="1" noAdjustHandles="1" noChangeArrowheads="1" noChangeShapeType="1" noTextEdit="1"/>
              </p:cNvSpPr>
              <p:nvPr/>
            </p:nvSpPr>
            <p:spPr>
              <a:xfrm>
                <a:off x="1229837" y="1403034"/>
                <a:ext cx="3810530" cy="492443"/>
              </a:xfrm>
              <a:prstGeom prst="rect">
                <a:avLst/>
              </a:prstGeom>
              <a:blipFill>
                <a:blip r:embed="rId2"/>
                <a:stretch>
                  <a:fillRect l="-1661" r="-1661" b="-25000"/>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7" name="Equation"/>
              <p:cNvSpPr txBox="1"/>
              <p:nvPr/>
            </p:nvSpPr>
            <p:spPr>
              <a:xfrm>
                <a:off x="1226274" y="2210234"/>
                <a:ext cx="3378297"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𝐼𝑛𝑡𝑒𝑟𝑐𝑒𝑝𝑡</m:t>
                      </m:r>
                      <m:r>
                        <a:rPr sz="3200" i="1">
                          <a:solidFill>
                            <a:srgbClr val="858585"/>
                          </a:solidFill>
                          <a:latin typeface="Cambria Math" panose="02040503050406030204" pitchFamily="18" charset="0"/>
                        </a:rPr>
                        <m:t>=0.318</m:t>
                      </m:r>
                    </m:oMath>
                  </m:oMathPara>
                </a14:m>
                <a:endParaRPr sz="3200">
                  <a:solidFill>
                    <a:srgbClr val="858585"/>
                  </a:solidFill>
                </a:endParaRPr>
              </a:p>
            </p:txBody>
          </p:sp>
        </mc:Choice>
        <mc:Fallback>
          <p:sp>
            <p:nvSpPr>
              <p:cNvPr id="167" name="Equation"/>
              <p:cNvSpPr txBox="1">
                <a:spLocks noRot="1" noChangeAspect="1" noMove="1" noResize="1" noEditPoints="1" noAdjustHandles="1" noChangeArrowheads="1" noChangeShapeType="1" noTextEdit="1"/>
              </p:cNvSpPr>
              <p:nvPr/>
            </p:nvSpPr>
            <p:spPr>
              <a:xfrm>
                <a:off x="1226274" y="2210234"/>
                <a:ext cx="3378297" cy="492443"/>
              </a:xfrm>
              <a:prstGeom prst="rect">
                <a:avLst/>
              </a:prstGeom>
              <a:blipFill>
                <a:blip r:embed="rId3"/>
                <a:stretch>
                  <a:fillRect l="-3371" r="-2247" b="-35897"/>
                </a:stretch>
              </a:blipFill>
              <a:ln w="12700">
                <a:miter lim="4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8" name="Equation"/>
              <p:cNvSpPr txBox="1"/>
              <p:nvPr/>
            </p:nvSpPr>
            <p:spPr>
              <a:xfrm>
                <a:off x="4752159" y="2207389"/>
                <a:ext cx="5465022"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lang="ar-AE" sz="3200" i="1">
                          <a:solidFill>
                            <a:srgbClr val="858585"/>
                          </a:solidFill>
                          <a:latin typeface="Cambria Math" panose="02040503050406030204" pitchFamily="18" charset="0"/>
                        </a:rPr>
                        <m:t>𝑂𝑘𝑢</m:t>
                      </m:r>
                      <m:sSup>
                        <m:sSupPr>
                          <m:ctrlPr>
                            <a:rPr lang="ar-AE" sz="3200" i="1">
                              <a:solidFill>
                                <a:srgbClr val="858585"/>
                              </a:solidFill>
                              <a:latin typeface="Cambria Math" panose="02040503050406030204" pitchFamily="18" charset="0"/>
                            </a:rPr>
                          </m:ctrlPr>
                        </m:sSupPr>
                        <m:e>
                          <m:r>
                            <a:rPr lang="ar-AE" sz="3200" i="1">
                              <a:solidFill>
                                <a:srgbClr val="858585"/>
                              </a:solidFill>
                              <a:latin typeface="Cambria Math" panose="02040503050406030204" pitchFamily="18" charset="0"/>
                            </a:rPr>
                            <m:t>𝑛</m:t>
                          </m:r>
                        </m:e>
                        <m:sup>
                          <m:r>
                            <a:rPr lang="ar-AE" sz="3200" i="1">
                              <a:solidFill>
                                <a:srgbClr val="858585"/>
                              </a:solidFill>
                              <a:latin typeface="Cambria Math" panose="02040503050406030204" pitchFamily="18" charset="0"/>
                            </a:rPr>
                            <m:t>′</m:t>
                          </m:r>
                        </m:sup>
                      </m:sSup>
                      <m:r>
                        <a:rPr lang="ar-AE" sz="3200" i="1">
                          <a:solidFill>
                            <a:srgbClr val="858585"/>
                          </a:solidFill>
                          <a:latin typeface="Cambria Math" panose="02040503050406030204" pitchFamily="18" charset="0"/>
                        </a:rPr>
                        <m:t>𝑠</m:t>
                      </m:r>
                      <m:r>
                        <a:rPr lang="ar-AE" sz="3200" i="1">
                          <a:solidFill>
                            <a:srgbClr val="858585"/>
                          </a:solidFill>
                          <a:latin typeface="Cambria Math" panose="02040503050406030204" pitchFamily="18" charset="0"/>
                        </a:rPr>
                        <m:t> </m:t>
                      </m:r>
                      <m:r>
                        <a:rPr lang="ar-AE" sz="3200" i="1">
                          <a:solidFill>
                            <a:srgbClr val="858585"/>
                          </a:solidFill>
                          <a:latin typeface="Cambria Math" panose="02040503050406030204" pitchFamily="18" charset="0"/>
                        </a:rPr>
                        <m:t>𝑐𝑜𝑒𝑓𝑓𝑖𝑐𝑖𝑒𝑛𝑡</m:t>
                      </m:r>
                      <m:r>
                        <a:rPr lang="ar-AE" sz="3200" i="1">
                          <a:solidFill>
                            <a:srgbClr val="858585"/>
                          </a:solidFill>
                          <a:latin typeface="Cambria Math" panose="02040503050406030204" pitchFamily="18" charset="0"/>
                        </a:rPr>
                        <m:t>=−0.051</m:t>
                      </m:r>
                    </m:oMath>
                  </m:oMathPara>
                </a14:m>
                <a:endParaRPr sz="3200" dirty="0">
                  <a:solidFill>
                    <a:srgbClr val="858585"/>
                  </a:solidFill>
                </a:endParaRPr>
              </a:p>
            </p:txBody>
          </p:sp>
        </mc:Choice>
        <mc:Fallback>
          <p:sp>
            <p:nvSpPr>
              <p:cNvPr id="168" name="Equation"/>
              <p:cNvSpPr txBox="1">
                <a:spLocks noRot="1" noChangeAspect="1" noMove="1" noResize="1" noEditPoints="1" noAdjustHandles="1" noChangeArrowheads="1" noChangeShapeType="1" noTextEdit="1"/>
              </p:cNvSpPr>
              <p:nvPr/>
            </p:nvSpPr>
            <p:spPr>
              <a:xfrm>
                <a:off x="4752159" y="2207389"/>
                <a:ext cx="5465022" cy="492443"/>
              </a:xfrm>
              <a:prstGeom prst="rect">
                <a:avLst/>
              </a:prstGeom>
              <a:blipFill>
                <a:blip r:embed="rId4"/>
                <a:stretch>
                  <a:fillRect l="-1160" t="-5000" r="-1160" b="-40000"/>
                </a:stretch>
              </a:blipFill>
              <a:ln w="12700">
                <a:miter lim="400000"/>
              </a:ln>
            </p:spPr>
            <p:txBody>
              <a:bodyPr/>
              <a:lstStyle/>
              <a:p>
                <a:r>
                  <a:rPr lang="en-US">
                    <a:noFill/>
                  </a:rPr>
                  <a:t> </a:t>
                </a:r>
              </a:p>
            </p:txBody>
          </p:sp>
        </mc:Fallback>
      </mc:AlternateContent>
      <p:sp>
        <p:nvSpPr>
          <p:cNvPr id="169" name="Suppose GDP growth (x) ⬆︎7%"/>
          <p:cNvSpPr txBox="1"/>
          <p:nvPr/>
        </p:nvSpPr>
        <p:spPr>
          <a:xfrm>
            <a:off x="1234176" y="2855187"/>
            <a:ext cx="5849358"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dirty="0"/>
              <a:t>Suppose GDP growth (x) ⬆︎7%</a:t>
            </a:r>
          </a:p>
        </p:txBody>
      </p:sp>
      <mc:AlternateContent xmlns:mc="http://schemas.openxmlformats.org/markup-compatibility/2006">
        <mc:Choice xmlns:a14="http://schemas.microsoft.com/office/drawing/2010/main" Requires="a14">
          <p:sp>
            <p:nvSpPr>
              <p:cNvPr id="170" name="Equation"/>
              <p:cNvSpPr txBox="1"/>
              <p:nvPr/>
            </p:nvSpPr>
            <p:spPr>
              <a:xfrm>
                <a:off x="1355900" y="3819350"/>
                <a:ext cx="6697346"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𝑈</m:t>
                      </m:r>
                      <m:r>
                        <a:rPr sz="3200" i="1">
                          <a:solidFill>
                            <a:srgbClr val="858585"/>
                          </a:solidFill>
                          <a:latin typeface="Cambria Math" panose="02040503050406030204" pitchFamily="18" charset="0"/>
                        </a:rPr>
                        <m:t>/</m:t>
                      </m:r>
                      <m:r>
                        <a:rPr sz="3200" i="1">
                          <a:solidFill>
                            <a:srgbClr val="858585"/>
                          </a:solidFill>
                          <a:latin typeface="Cambria Math" panose="02040503050406030204" pitchFamily="18" charset="0"/>
                        </a:rPr>
                        <m:t>𝐸</m:t>
                      </m:r>
                      <m:r>
                        <a:rPr sz="3200" i="1">
                          <a:solidFill>
                            <a:srgbClr val="858585"/>
                          </a:solidFill>
                          <a:latin typeface="Cambria Math" panose="02040503050406030204" pitchFamily="18" charset="0"/>
                        </a:rPr>
                        <m:t>=0.3176−0.0511⋅7=−0.040</m:t>
                      </m:r>
                    </m:oMath>
                  </m:oMathPara>
                </a14:m>
                <a:endParaRPr sz="3200">
                  <a:solidFill>
                    <a:srgbClr val="858585"/>
                  </a:solidFill>
                </a:endParaRPr>
              </a:p>
            </p:txBody>
          </p:sp>
        </mc:Choice>
        <mc:Fallback>
          <p:sp>
            <p:nvSpPr>
              <p:cNvPr id="170" name="Equation"/>
              <p:cNvSpPr txBox="1">
                <a:spLocks noRot="1" noChangeAspect="1" noMove="1" noResize="1" noEditPoints="1" noAdjustHandles="1" noChangeArrowheads="1" noChangeShapeType="1" noTextEdit="1"/>
              </p:cNvSpPr>
              <p:nvPr/>
            </p:nvSpPr>
            <p:spPr>
              <a:xfrm>
                <a:off x="1355900" y="3819350"/>
                <a:ext cx="6697346" cy="492443"/>
              </a:xfrm>
              <a:prstGeom prst="rect">
                <a:avLst/>
              </a:prstGeom>
              <a:blipFill>
                <a:blip r:embed="rId5"/>
                <a:stretch>
                  <a:fillRect l="-756" r="-756" b="-35000"/>
                </a:stretch>
              </a:blipFill>
              <a:ln w="12700">
                <a:miter lim="400000"/>
              </a:ln>
            </p:spPr>
            <p:txBody>
              <a:bodyPr/>
              <a:lstStyle/>
              <a:p>
                <a:r>
                  <a:rPr lang="en-US">
                    <a:noFill/>
                  </a:rPr>
                  <a:t> </a:t>
                </a:r>
              </a:p>
            </p:txBody>
          </p:sp>
        </mc:Fallback>
      </mc:AlternateContent>
      <p:sp>
        <p:nvSpPr>
          <p:cNvPr id="171" name="Suppose GDP growth (x) ⬇︎1.8%"/>
          <p:cNvSpPr txBox="1"/>
          <p:nvPr/>
        </p:nvSpPr>
        <p:spPr>
          <a:xfrm>
            <a:off x="1234176" y="4526692"/>
            <a:ext cx="6192401"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dirty="0"/>
              <a:t>Suppose GDP growth (x) ⬇︎1.8%</a:t>
            </a:r>
          </a:p>
        </p:txBody>
      </p:sp>
      <mc:AlternateContent xmlns:mc="http://schemas.openxmlformats.org/markup-compatibility/2006">
        <mc:Choice xmlns:a14="http://schemas.microsoft.com/office/drawing/2010/main" Requires="a14">
          <p:sp>
            <p:nvSpPr>
              <p:cNvPr id="172" name="Equation"/>
              <p:cNvSpPr txBox="1"/>
              <p:nvPr/>
            </p:nvSpPr>
            <p:spPr>
              <a:xfrm>
                <a:off x="1231705" y="5357345"/>
                <a:ext cx="7009932" cy="492443"/>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r>
                        <a:rPr sz="3200" i="1">
                          <a:solidFill>
                            <a:srgbClr val="858585"/>
                          </a:solidFill>
                          <a:latin typeface="Cambria Math" panose="02040503050406030204" pitchFamily="18" charset="0"/>
                        </a:rPr>
                        <m:t>𝑈</m:t>
                      </m:r>
                      <m:r>
                        <a:rPr sz="3200" i="1">
                          <a:solidFill>
                            <a:srgbClr val="858585"/>
                          </a:solidFill>
                          <a:latin typeface="Cambria Math" panose="02040503050406030204" pitchFamily="18" charset="0"/>
                        </a:rPr>
                        <m:t>/</m:t>
                      </m:r>
                      <m:r>
                        <a:rPr sz="3200" i="1">
                          <a:solidFill>
                            <a:srgbClr val="858585"/>
                          </a:solidFill>
                          <a:latin typeface="Cambria Math" panose="02040503050406030204" pitchFamily="18" charset="0"/>
                        </a:rPr>
                        <m:t>𝐸</m:t>
                      </m:r>
                      <m:r>
                        <a:rPr sz="3200" i="1">
                          <a:solidFill>
                            <a:srgbClr val="858585"/>
                          </a:solidFill>
                          <a:latin typeface="Cambria Math" panose="02040503050406030204" pitchFamily="18" charset="0"/>
                        </a:rPr>
                        <m:t>=0.3176−0.0511⋅−1.8=0.410</m:t>
                      </m:r>
                    </m:oMath>
                  </m:oMathPara>
                </a14:m>
                <a:endParaRPr sz="3200">
                  <a:solidFill>
                    <a:srgbClr val="858585"/>
                  </a:solidFill>
                </a:endParaRPr>
              </a:p>
            </p:txBody>
          </p:sp>
        </mc:Choice>
        <mc:Fallback>
          <p:sp>
            <p:nvSpPr>
              <p:cNvPr id="172" name="Equation"/>
              <p:cNvSpPr txBox="1">
                <a:spLocks noRot="1" noChangeAspect="1" noMove="1" noResize="1" noEditPoints="1" noAdjustHandles="1" noChangeArrowheads="1" noChangeShapeType="1" noTextEdit="1"/>
              </p:cNvSpPr>
              <p:nvPr/>
            </p:nvSpPr>
            <p:spPr>
              <a:xfrm>
                <a:off x="1231705" y="5357345"/>
                <a:ext cx="7009932" cy="492443"/>
              </a:xfrm>
              <a:prstGeom prst="rect">
                <a:avLst/>
              </a:prstGeom>
              <a:blipFill>
                <a:blip r:embed="rId6"/>
                <a:stretch>
                  <a:fillRect l="-723" r="-904" b="-35000"/>
                </a:stretch>
              </a:blipFill>
              <a:ln w="12700">
                <a:miter lim="400000"/>
              </a:ln>
            </p:spPr>
            <p:txBody>
              <a:bodyPr/>
              <a:lstStyle/>
              <a:p>
                <a:r>
                  <a:rPr lang="en-US">
                    <a:noFill/>
                  </a:rPr>
                  <a:t> </a:t>
                </a:r>
              </a:p>
            </p:txBody>
          </p:sp>
        </mc:Fallback>
      </mc:AlternateContent>
      <p:sp>
        <p:nvSpPr>
          <p:cNvPr id="173" name="⊖"/>
          <p:cNvSpPr txBox="1"/>
          <p:nvPr/>
        </p:nvSpPr>
        <p:spPr>
          <a:xfrm>
            <a:off x="8321097" y="3789731"/>
            <a:ext cx="469432"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r>
              <a:rPr sz="3200" dirty="0"/>
              <a:t>⊖</a:t>
            </a:r>
          </a:p>
        </p:txBody>
      </p:sp>
      <p:sp>
        <p:nvSpPr>
          <p:cNvPr id="174" name="⊕"/>
          <p:cNvSpPr txBox="1"/>
          <p:nvPr/>
        </p:nvSpPr>
        <p:spPr>
          <a:xfrm>
            <a:off x="8389101" y="5297110"/>
            <a:ext cx="460062" cy="543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3200" dirty="0"/>
              <a:t>⊕</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p:tmAbs val="0"/>
                                  </p:iterate>
                                  <p:childTnLst>
                                    <p:set>
                                      <p:cBhvr>
                                        <p:cTn id="6" fill="hold"/>
                                        <p:tgtEl>
                                          <p:spTgt spid="166"/>
                                        </p:tgtEl>
                                        <p:attrNameLst>
                                          <p:attrName>style.visibility</p:attrName>
                                        </p:attrNameLst>
                                      </p:cBhvr>
                                      <p:to>
                                        <p:strVal val="visible"/>
                                      </p:to>
                                    </p:set>
                                    <p:animEffect transition="in" filter="wipe(left)">
                                      <p:cBhvr>
                                        <p:cTn id="7" dur="10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p:tmAbs val="0"/>
                                  </p:iterate>
                                  <p:childTnLst>
                                    <p:set>
                                      <p:cBhvr>
                                        <p:cTn id="11" fill="hold"/>
                                        <p:tgtEl>
                                          <p:spTgt spid="167"/>
                                        </p:tgtEl>
                                        <p:attrNameLst>
                                          <p:attrName>style.visibility</p:attrName>
                                        </p:attrNameLst>
                                      </p:cBhvr>
                                      <p:to>
                                        <p:strVal val="visible"/>
                                      </p:to>
                                    </p:set>
                                    <p:animEffect transition="in" filter="wipe(left)">
                                      <p:cBhvr>
                                        <p:cTn id="12" dur="1000"/>
                                        <p:tgtEl>
                                          <p:spTgt spid="1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p:tmAbs val="0"/>
                                  </p:iterate>
                                  <p:childTnLst>
                                    <p:set>
                                      <p:cBhvr>
                                        <p:cTn id="16" fill="hold"/>
                                        <p:tgtEl>
                                          <p:spTgt spid="168"/>
                                        </p:tgtEl>
                                        <p:attrNameLst>
                                          <p:attrName>style.visibility</p:attrName>
                                        </p:attrNameLst>
                                      </p:cBhvr>
                                      <p:to>
                                        <p:strVal val="visible"/>
                                      </p:to>
                                    </p:set>
                                    <p:animEffect transition="in" filter="wipe(left)">
                                      <p:cBhvr>
                                        <p:cTn id="17" dur="1000"/>
                                        <p:tgtEl>
                                          <p:spTgt spid="16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type="lt">
                                    <p:tmAbs val="100"/>
                                  </p:iterate>
                                  <p:childTnLst>
                                    <p:set>
                                      <p:cBhvr>
                                        <p:cTn id="21" fill="hold"/>
                                        <p:tgtEl>
                                          <p:spTgt spid="16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p:tmAbs val="0"/>
                                  </p:iterate>
                                  <p:childTnLst>
                                    <p:set>
                                      <p:cBhvr>
                                        <p:cTn id="25" fill="hold"/>
                                        <p:tgtEl>
                                          <p:spTgt spid="170"/>
                                        </p:tgtEl>
                                        <p:attrNameLst>
                                          <p:attrName>style.visibility</p:attrName>
                                        </p:attrNameLst>
                                      </p:cBhvr>
                                      <p:to>
                                        <p:strVal val="visible"/>
                                      </p:to>
                                    </p:set>
                                    <p:animEffect transition="in" filter="wipe(left)">
                                      <p:cBhvr>
                                        <p:cTn id="26" dur="1000"/>
                                        <p:tgtEl>
                                          <p:spTgt spid="17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100"/>
                                  </p:iterate>
                                  <p:childTnLst>
                                    <p:set>
                                      <p:cBhvr>
                                        <p:cTn id="30" fill="hold"/>
                                        <p:tgtEl>
                                          <p:spTgt spid="1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100"/>
                                  </p:iterate>
                                  <p:childTnLst>
                                    <p:set>
                                      <p:cBhvr>
                                        <p:cTn id="34" fill="hold"/>
                                        <p:tgtEl>
                                          <p:spTgt spid="1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p:tmAbs val="0"/>
                                  </p:iterate>
                                  <p:childTnLst>
                                    <p:set>
                                      <p:cBhvr>
                                        <p:cTn id="38" fill="hold"/>
                                        <p:tgtEl>
                                          <p:spTgt spid="172"/>
                                        </p:tgtEl>
                                        <p:attrNameLst>
                                          <p:attrName>style.visibility</p:attrName>
                                        </p:attrNameLst>
                                      </p:cBhvr>
                                      <p:to>
                                        <p:strVal val="visible"/>
                                      </p:to>
                                    </p:set>
                                    <p:animEffect transition="in" filter="wipe(left)">
                                      <p:cBhvr>
                                        <p:cTn id="39" dur="1000"/>
                                        <p:tgtEl>
                                          <p:spTgt spid="17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100"/>
                                  </p:iterate>
                                  <p:childTnLst>
                                    <p:set>
                                      <p:cBhvr>
                                        <p:cTn id="43" fill="hold"/>
                                        <p:tgtEl>
                                          <p:spTgt spid="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nimBg="1" advAuto="0"/>
      <p:bldP spid="167" grpId="0" animBg="1" advAuto="0"/>
      <p:bldP spid="168" grpId="0" animBg="1" advAuto="0"/>
      <p:bldP spid="169" grpId="0" animBg="1" advAuto="0"/>
      <p:bldP spid="170" grpId="0" animBg="1" advAuto="0"/>
      <p:bldP spid="171" grpId="0" animBg="1" advAuto="0"/>
      <p:bldP spid="172" grpId="0" animBg="1" advAuto="0"/>
      <p:bldP spid="173" grpId="0" animBg="1" advAuto="0"/>
      <p:bldP spid="174" grpId="0"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CADE9-A847-E6E2-2B6D-00396836E97D}"/>
              </a:ext>
            </a:extLst>
          </p:cNvPr>
          <p:cNvSpPr>
            <a:spLocks noGrp="1"/>
          </p:cNvSpPr>
          <p:nvPr>
            <p:ph type="title"/>
          </p:nvPr>
        </p:nvSpPr>
        <p:spPr/>
        <p:txBody>
          <a:bodyPr/>
          <a:lstStyle/>
          <a:p>
            <a:r>
              <a:rPr lang="en-NZ" dirty="0"/>
              <a:t>Inflation</a:t>
            </a:r>
          </a:p>
        </p:txBody>
      </p:sp>
      <p:sp>
        <p:nvSpPr>
          <p:cNvPr id="3" name="Text Placeholder 2">
            <a:extLst>
              <a:ext uri="{FF2B5EF4-FFF2-40B4-BE49-F238E27FC236}">
                <a16:creationId xmlns:a16="http://schemas.microsoft.com/office/drawing/2014/main" id="{C22980BA-75EA-6E33-E056-F9C8986346AA}"/>
              </a:ext>
            </a:extLst>
          </p:cNvPr>
          <p:cNvSpPr>
            <a:spLocks noGrp="1"/>
          </p:cNvSpPr>
          <p:nvPr>
            <p:ph type="body" idx="1"/>
          </p:nvPr>
        </p:nvSpPr>
        <p:spPr/>
        <p:txBody>
          <a:bodyPr/>
          <a:lstStyle/>
          <a:p>
            <a:r>
              <a:rPr lang="en-NZ" dirty="0"/>
              <a:t>What is it?</a:t>
            </a:r>
          </a:p>
        </p:txBody>
      </p:sp>
      <p:sp>
        <p:nvSpPr>
          <p:cNvPr id="4" name="Text Placeholder 3">
            <a:extLst>
              <a:ext uri="{FF2B5EF4-FFF2-40B4-BE49-F238E27FC236}">
                <a16:creationId xmlns:a16="http://schemas.microsoft.com/office/drawing/2014/main" id="{61ED190B-9DE9-4D9D-13FC-49A4C9C3096C}"/>
              </a:ext>
            </a:extLst>
          </p:cNvPr>
          <p:cNvSpPr>
            <a:spLocks noGrp="1"/>
          </p:cNvSpPr>
          <p:nvPr>
            <p:ph type="body" sz="quarter" idx="13"/>
          </p:nvPr>
        </p:nvSpPr>
        <p:spPr/>
        <p:txBody>
          <a:bodyPr/>
          <a:lstStyle/>
          <a:p>
            <a:endParaRPr lang="en-NZ"/>
          </a:p>
        </p:txBody>
      </p:sp>
    </p:spTree>
    <p:extLst>
      <p:ext uri="{BB962C8B-B14F-4D97-AF65-F5344CB8AC3E}">
        <p14:creationId xmlns:p14="http://schemas.microsoft.com/office/powerpoint/2010/main" val="1987017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5349-130F-B3B7-A9EA-33DCD7D7F8ED}"/>
              </a:ext>
            </a:extLst>
          </p:cNvPr>
          <p:cNvSpPr>
            <a:spLocks noGrp="1"/>
          </p:cNvSpPr>
          <p:nvPr>
            <p:ph type="title"/>
          </p:nvPr>
        </p:nvSpPr>
        <p:spPr/>
        <p:txBody>
          <a:bodyPr/>
          <a:lstStyle/>
          <a:p>
            <a:r>
              <a:rPr lang="en-NZ" dirty="0"/>
              <a:t>An increase in the general price level in the economy. Usually measured over a year.</a:t>
            </a:r>
          </a:p>
        </p:txBody>
      </p:sp>
      <p:sp>
        <p:nvSpPr>
          <p:cNvPr id="3" name="Text Placeholder 2">
            <a:extLst>
              <a:ext uri="{FF2B5EF4-FFF2-40B4-BE49-F238E27FC236}">
                <a16:creationId xmlns:a16="http://schemas.microsoft.com/office/drawing/2014/main" id="{33EC52B6-07DE-89E8-1E5D-C2F0CD79CB28}"/>
              </a:ext>
            </a:extLst>
          </p:cNvPr>
          <p:cNvSpPr>
            <a:spLocks noGrp="1"/>
          </p:cNvSpPr>
          <p:nvPr>
            <p:ph type="body" sz="quarter" idx="17"/>
          </p:nvPr>
        </p:nvSpPr>
        <p:spPr/>
        <p:txBody>
          <a:bodyPr>
            <a:normAutofit fontScale="92500"/>
          </a:bodyPr>
          <a:lstStyle/>
          <a:p>
            <a:r>
              <a:rPr lang="en-NZ" dirty="0"/>
              <a:t>Inflation Definition</a:t>
            </a:r>
          </a:p>
        </p:txBody>
      </p:sp>
    </p:spTree>
    <p:extLst>
      <p:ext uri="{BB962C8B-B14F-4D97-AF65-F5344CB8AC3E}">
        <p14:creationId xmlns:p14="http://schemas.microsoft.com/office/powerpoint/2010/main" val="1852343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Chart, histogram&#10;&#10;Description automatically generated">
            <a:extLst>
              <a:ext uri="{FF2B5EF4-FFF2-40B4-BE49-F238E27FC236}">
                <a16:creationId xmlns:a16="http://schemas.microsoft.com/office/drawing/2014/main" id="{06C3B20B-A1E5-604D-84EC-E59B23058462}"/>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386" r="2654" b="2"/>
          <a:stretch/>
        </p:blipFill>
        <p:spPr>
          <a:xfrm>
            <a:off x="3218328" y="403692"/>
            <a:ext cx="8650941" cy="5566802"/>
          </a:xfrm>
          <a:noFill/>
        </p:spPr>
      </p:pic>
      <p:sp>
        <p:nvSpPr>
          <p:cNvPr id="6" name="Title 5">
            <a:extLst>
              <a:ext uri="{FF2B5EF4-FFF2-40B4-BE49-F238E27FC236}">
                <a16:creationId xmlns:a16="http://schemas.microsoft.com/office/drawing/2014/main" id="{B441AFD1-4750-4DF9-8461-A5009816BF31}"/>
              </a:ext>
            </a:extLst>
          </p:cNvPr>
          <p:cNvSpPr>
            <a:spLocks noGrp="1"/>
          </p:cNvSpPr>
          <p:nvPr>
            <p:ph type="title"/>
          </p:nvPr>
        </p:nvSpPr>
        <p:spPr>
          <a:xfrm>
            <a:off x="232019" y="403692"/>
            <a:ext cx="2856321" cy="1574195"/>
          </a:xfrm>
        </p:spPr>
        <p:txBody>
          <a:bodyPr vert="horz" lIns="91440" tIns="45720" rIns="91440" bIns="45720" rtlCol="0" anchor="ctr">
            <a:normAutofit/>
          </a:bodyPr>
          <a:lstStyle/>
          <a:p>
            <a:r>
              <a:rPr lang="en-US"/>
              <a:t>NZ Inflation</a:t>
            </a:r>
          </a:p>
        </p:txBody>
      </p:sp>
    </p:spTree>
    <p:extLst>
      <p:ext uri="{BB962C8B-B14F-4D97-AF65-F5344CB8AC3E}">
        <p14:creationId xmlns:p14="http://schemas.microsoft.com/office/powerpoint/2010/main" val="1322539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900" dirty="0"/>
              <a:t>Inflation</a:t>
            </a:r>
          </a:p>
        </p:txBody>
      </p:sp>
      <p:sp>
        <p:nvSpPr>
          <p:cNvPr id="8" name="Text Placeholder 3">
            <a:extLst>
              <a:ext uri="{FF2B5EF4-FFF2-40B4-BE49-F238E27FC236}">
                <a16:creationId xmlns:a16="http://schemas.microsoft.com/office/drawing/2014/main" id="{40B559E4-9794-C526-76B1-1C56147CAE9F}"/>
              </a:ext>
            </a:extLst>
          </p:cNvPr>
          <p:cNvSpPr>
            <a:spLocks noGrp="1"/>
          </p:cNvSpPr>
          <p:nvPr>
            <p:ph type="body" sz="quarter" idx="14"/>
          </p:nvPr>
        </p:nvSpPr>
        <p:spPr>
          <a:xfrm>
            <a:off x="725488" y="2157413"/>
            <a:ext cx="2855912" cy="3429000"/>
          </a:xfrm>
        </p:spPr>
        <p:txBody>
          <a:bodyPr/>
          <a:lstStyle/>
          <a:p>
            <a:r>
              <a:rPr lang="en-US" dirty="0"/>
              <a:t>Ways we can describe inflation</a:t>
            </a:r>
          </a:p>
        </p:txBody>
      </p:sp>
      <p:graphicFrame>
        <p:nvGraphicFramePr>
          <p:cNvPr id="3" name="Diagram 2">
            <a:extLst>
              <a:ext uri="{FF2B5EF4-FFF2-40B4-BE49-F238E27FC236}">
                <a16:creationId xmlns:a16="http://schemas.microsoft.com/office/drawing/2014/main" id="{A63C98E6-7E4F-4811-B535-FFBB7DB371B4}"/>
              </a:ext>
            </a:extLst>
          </p:cNvPr>
          <p:cNvGraphicFramePr/>
          <p:nvPr>
            <p:extLst>
              <p:ext uri="{D42A27DB-BD31-4B8C-83A1-F6EECF244321}">
                <p14:modId xmlns:p14="http://schemas.microsoft.com/office/powerpoint/2010/main" val="2300929756"/>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3399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500"/>
              <a:t>What’s wrong with inflation?</a:t>
            </a:r>
          </a:p>
        </p:txBody>
      </p:sp>
      <p:sp>
        <p:nvSpPr>
          <p:cNvPr id="8" name="Text Placeholder 3">
            <a:extLst>
              <a:ext uri="{FF2B5EF4-FFF2-40B4-BE49-F238E27FC236}">
                <a16:creationId xmlns:a16="http://schemas.microsoft.com/office/drawing/2014/main" id="{47BF7E15-2CB8-4677-818B-1BFD77FF4E6C}"/>
              </a:ext>
            </a:extLst>
          </p:cNvPr>
          <p:cNvSpPr>
            <a:spLocks noGrp="1"/>
          </p:cNvSpPr>
          <p:nvPr>
            <p:ph type="body" sz="quarter" idx="14"/>
          </p:nvPr>
        </p:nvSpPr>
        <p:spPr>
          <a:xfrm>
            <a:off x="725488" y="2157413"/>
            <a:ext cx="2855912" cy="3429000"/>
          </a:xfrm>
        </p:spPr>
        <p:txBody>
          <a:bodyPr/>
          <a:lstStyle/>
          <a:p>
            <a:r>
              <a:rPr lang="en-US" dirty="0"/>
              <a:t>Inflation has costs.</a:t>
            </a:r>
          </a:p>
          <a:p>
            <a:r>
              <a:rPr lang="en-US" dirty="0"/>
              <a:t>Some people benefit from inflation</a:t>
            </a:r>
          </a:p>
        </p:txBody>
      </p:sp>
      <p:graphicFrame>
        <p:nvGraphicFramePr>
          <p:cNvPr id="3" name="Diagram 2">
            <a:extLst>
              <a:ext uri="{FF2B5EF4-FFF2-40B4-BE49-F238E27FC236}">
                <a16:creationId xmlns:a16="http://schemas.microsoft.com/office/drawing/2014/main" id="{1522E5B7-DC7F-4009-899A-0CA8BB4519A0}"/>
              </a:ext>
            </a:extLst>
          </p:cNvPr>
          <p:cNvGraphicFramePr/>
          <p:nvPr>
            <p:extLst>
              <p:ext uri="{D42A27DB-BD31-4B8C-83A1-F6EECF244321}">
                <p14:modId xmlns:p14="http://schemas.microsoft.com/office/powerpoint/2010/main" val="1792269006"/>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4296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1" y="561766"/>
            <a:ext cx="4505326" cy="1325563"/>
          </a:xfrm>
        </p:spPr>
        <p:txBody>
          <a:bodyPr anchor="b">
            <a:normAutofit/>
          </a:bodyPr>
          <a:lstStyle/>
          <a:p>
            <a:r>
              <a:rPr lang="en-GB" sz="4200"/>
              <a:t>Inflation: Key Concepts</a:t>
            </a:r>
          </a:p>
        </p:txBody>
      </p:sp>
      <p:sp>
        <p:nvSpPr>
          <p:cNvPr id="8" name="Text Placeholder 2">
            <a:extLst>
              <a:ext uri="{FF2B5EF4-FFF2-40B4-BE49-F238E27FC236}">
                <a16:creationId xmlns:a16="http://schemas.microsoft.com/office/drawing/2014/main" id="{95E9FD5A-160B-2568-5BC8-C8A952087A7E}"/>
              </a:ext>
            </a:extLst>
          </p:cNvPr>
          <p:cNvSpPr>
            <a:spLocks noGrp="1"/>
          </p:cNvSpPr>
          <p:nvPr>
            <p:ph type="body" sz="quarter" idx="14"/>
          </p:nvPr>
        </p:nvSpPr>
        <p:spPr>
          <a:xfrm>
            <a:off x="1047751" y="2013916"/>
            <a:ext cx="4505326" cy="3571875"/>
          </a:xfrm>
        </p:spPr>
        <p:txBody>
          <a:bodyPr/>
          <a:lstStyle/>
          <a:p>
            <a:r>
              <a:rPr lang="en-US" dirty="0"/>
              <a:t>The real interest rate corrects for inflation. </a:t>
            </a:r>
          </a:p>
        </p:txBody>
      </p:sp>
      <p:graphicFrame>
        <p:nvGraphicFramePr>
          <p:cNvPr id="3" name="Diagram 2">
            <a:extLst>
              <a:ext uri="{FF2B5EF4-FFF2-40B4-BE49-F238E27FC236}">
                <a16:creationId xmlns:a16="http://schemas.microsoft.com/office/drawing/2014/main" id="{02850525-11F1-4280-BAE0-96FF1D901FB3}"/>
              </a:ext>
            </a:extLst>
          </p:cNvPr>
          <p:cNvGraphicFramePr/>
          <p:nvPr>
            <p:extLst>
              <p:ext uri="{D42A27DB-BD31-4B8C-83A1-F6EECF244321}">
                <p14:modId xmlns:p14="http://schemas.microsoft.com/office/powerpoint/2010/main" val="212741894"/>
              </p:ext>
            </p:extLst>
          </p:nvPr>
        </p:nvGraphicFramePr>
        <p:xfrm>
          <a:off x="6096001" y="561766"/>
          <a:ext cx="5741988" cy="5024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6252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500"/>
              <a:t>What’s wrong with inflation?</a:t>
            </a:r>
          </a:p>
        </p:txBody>
      </p:sp>
      <p:sp>
        <p:nvSpPr>
          <p:cNvPr id="8" name="Text Placeholder 3">
            <a:extLst>
              <a:ext uri="{FF2B5EF4-FFF2-40B4-BE49-F238E27FC236}">
                <a16:creationId xmlns:a16="http://schemas.microsoft.com/office/drawing/2014/main" id="{D86D5912-FBC9-AF1C-633F-66AA79D2FBD3}"/>
              </a:ext>
            </a:extLst>
          </p:cNvPr>
          <p:cNvSpPr>
            <a:spLocks noGrp="1"/>
          </p:cNvSpPr>
          <p:nvPr>
            <p:ph type="body" sz="quarter" idx="14"/>
          </p:nvPr>
        </p:nvSpPr>
        <p:spPr>
          <a:xfrm>
            <a:off x="725488" y="2157413"/>
            <a:ext cx="2855912" cy="3429000"/>
          </a:xfrm>
        </p:spPr>
        <p:txBody>
          <a:bodyPr/>
          <a:lstStyle/>
          <a:p>
            <a:r>
              <a:rPr lang="en-US" dirty="0"/>
              <a:t>High inflation rates tend to reduce GDP growth.</a:t>
            </a:r>
          </a:p>
          <a:p>
            <a:r>
              <a:rPr lang="en-US" dirty="0"/>
              <a:t>Markets make more “mistakes” allocating resources</a:t>
            </a:r>
          </a:p>
        </p:txBody>
      </p:sp>
      <p:graphicFrame>
        <p:nvGraphicFramePr>
          <p:cNvPr id="3" name="Diagram 2">
            <a:extLst>
              <a:ext uri="{FF2B5EF4-FFF2-40B4-BE49-F238E27FC236}">
                <a16:creationId xmlns:a16="http://schemas.microsoft.com/office/drawing/2014/main" id="{186A06DB-E887-4381-8D87-4D7C5A095D97}"/>
              </a:ext>
            </a:extLst>
          </p:cNvPr>
          <p:cNvGraphicFramePr/>
          <p:nvPr>
            <p:extLst>
              <p:ext uri="{D42A27DB-BD31-4B8C-83A1-F6EECF244321}">
                <p14:modId xmlns:p14="http://schemas.microsoft.com/office/powerpoint/2010/main" val="3220689630"/>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3050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500"/>
              <a:t>What’s wrong with deflation?</a:t>
            </a:r>
          </a:p>
        </p:txBody>
      </p:sp>
      <p:sp>
        <p:nvSpPr>
          <p:cNvPr id="8" name="Text Placeholder 3">
            <a:extLst>
              <a:ext uri="{FF2B5EF4-FFF2-40B4-BE49-F238E27FC236}">
                <a16:creationId xmlns:a16="http://schemas.microsoft.com/office/drawing/2014/main" id="{9EC675EC-1411-2111-9C35-6E277E643595}"/>
              </a:ext>
            </a:extLst>
          </p:cNvPr>
          <p:cNvSpPr>
            <a:spLocks noGrp="1"/>
          </p:cNvSpPr>
          <p:nvPr>
            <p:ph type="body" sz="quarter" idx="14"/>
          </p:nvPr>
        </p:nvSpPr>
        <p:spPr>
          <a:xfrm>
            <a:off x="725488" y="2157413"/>
            <a:ext cx="2855912" cy="3429000"/>
          </a:xfrm>
        </p:spPr>
        <p:txBody>
          <a:bodyPr/>
          <a:lstStyle/>
          <a:p>
            <a:r>
              <a:rPr lang="en-US" dirty="0"/>
              <a:t>Deflation can reduce Aggregate Demand</a:t>
            </a:r>
          </a:p>
        </p:txBody>
      </p:sp>
      <p:graphicFrame>
        <p:nvGraphicFramePr>
          <p:cNvPr id="3" name="Diagram 2">
            <a:extLst>
              <a:ext uri="{FF2B5EF4-FFF2-40B4-BE49-F238E27FC236}">
                <a16:creationId xmlns:a16="http://schemas.microsoft.com/office/drawing/2014/main" id="{2D1B02B8-1664-4771-B21E-E8C548C8BCB9}"/>
              </a:ext>
            </a:extLst>
          </p:cNvPr>
          <p:cNvGraphicFramePr/>
          <p:nvPr>
            <p:extLst>
              <p:ext uri="{D42A27DB-BD31-4B8C-83A1-F6EECF244321}">
                <p14:modId xmlns:p14="http://schemas.microsoft.com/office/powerpoint/2010/main" val="2340142757"/>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862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500"/>
              <a:t>What’s wrong with deflation?</a:t>
            </a:r>
          </a:p>
        </p:txBody>
      </p:sp>
      <p:sp>
        <p:nvSpPr>
          <p:cNvPr id="8" name="Text Placeholder 3">
            <a:extLst>
              <a:ext uri="{FF2B5EF4-FFF2-40B4-BE49-F238E27FC236}">
                <a16:creationId xmlns:a16="http://schemas.microsoft.com/office/drawing/2014/main" id="{9EC675EC-1411-2111-9C35-6E277E643595}"/>
              </a:ext>
            </a:extLst>
          </p:cNvPr>
          <p:cNvSpPr>
            <a:spLocks noGrp="1"/>
          </p:cNvSpPr>
          <p:nvPr>
            <p:ph type="body" sz="quarter" idx="14"/>
          </p:nvPr>
        </p:nvSpPr>
        <p:spPr>
          <a:xfrm>
            <a:off x="725488" y="2157413"/>
            <a:ext cx="2855912" cy="3429000"/>
          </a:xfrm>
        </p:spPr>
        <p:txBody>
          <a:bodyPr/>
          <a:lstStyle/>
          <a:p>
            <a:r>
              <a:rPr lang="en-US" dirty="0"/>
              <a:t>Changes to wealth and expectations cause a consumption shock to the economy</a:t>
            </a:r>
          </a:p>
        </p:txBody>
      </p:sp>
      <p:graphicFrame>
        <p:nvGraphicFramePr>
          <p:cNvPr id="3" name="Diagram 2">
            <a:extLst>
              <a:ext uri="{FF2B5EF4-FFF2-40B4-BE49-F238E27FC236}">
                <a16:creationId xmlns:a16="http://schemas.microsoft.com/office/drawing/2014/main" id="{2D1B02B8-1664-4771-B21E-E8C548C8BCB9}"/>
              </a:ext>
            </a:extLst>
          </p:cNvPr>
          <p:cNvGraphicFramePr/>
          <p:nvPr>
            <p:extLst>
              <p:ext uri="{D42A27DB-BD31-4B8C-83A1-F6EECF244321}">
                <p14:modId xmlns:p14="http://schemas.microsoft.com/office/powerpoint/2010/main" val="2819112060"/>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8236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B579-7DF2-26F4-F0BE-F495C542522F}"/>
              </a:ext>
            </a:extLst>
          </p:cNvPr>
          <p:cNvSpPr>
            <a:spLocks noGrp="1"/>
          </p:cNvSpPr>
          <p:nvPr>
            <p:ph type="title"/>
          </p:nvPr>
        </p:nvSpPr>
        <p:spPr/>
        <p:txBody>
          <a:bodyPr>
            <a:normAutofit fontScale="90000"/>
          </a:bodyPr>
          <a:lstStyle/>
          <a:p>
            <a:r>
              <a:rPr lang="en-NZ" dirty="0"/>
              <a:t>The Phillips Curve</a:t>
            </a:r>
          </a:p>
        </p:txBody>
      </p:sp>
      <p:sp>
        <p:nvSpPr>
          <p:cNvPr id="3" name="Text Placeholder 2">
            <a:extLst>
              <a:ext uri="{FF2B5EF4-FFF2-40B4-BE49-F238E27FC236}">
                <a16:creationId xmlns:a16="http://schemas.microsoft.com/office/drawing/2014/main" id="{45D27524-0DBB-525D-33F7-737353666E12}"/>
              </a:ext>
            </a:extLst>
          </p:cNvPr>
          <p:cNvSpPr>
            <a:spLocks noGrp="1"/>
          </p:cNvSpPr>
          <p:nvPr>
            <p:ph type="body" idx="1"/>
          </p:nvPr>
        </p:nvSpPr>
        <p:spPr/>
        <p:txBody>
          <a:bodyPr>
            <a:normAutofit fontScale="92500"/>
          </a:bodyPr>
          <a:lstStyle/>
          <a:p>
            <a:r>
              <a:rPr lang="en-NZ" dirty="0"/>
              <a:t>Inflation and Unemployment</a:t>
            </a:r>
          </a:p>
        </p:txBody>
      </p:sp>
      <p:sp>
        <p:nvSpPr>
          <p:cNvPr id="4" name="Text Placeholder 3">
            <a:extLst>
              <a:ext uri="{FF2B5EF4-FFF2-40B4-BE49-F238E27FC236}">
                <a16:creationId xmlns:a16="http://schemas.microsoft.com/office/drawing/2014/main" id="{3AC0C629-29B1-9DED-4B5A-7F640AD42754}"/>
              </a:ext>
            </a:extLst>
          </p:cNvPr>
          <p:cNvSpPr>
            <a:spLocks noGrp="1"/>
          </p:cNvSpPr>
          <p:nvPr>
            <p:ph type="body" sz="quarter" idx="13"/>
          </p:nvPr>
        </p:nvSpPr>
        <p:spPr/>
        <p:txBody>
          <a:bodyPr/>
          <a:lstStyle/>
          <a:p>
            <a:r>
              <a:rPr lang="en-NZ" dirty="0"/>
              <a:t>02.</a:t>
            </a:r>
          </a:p>
        </p:txBody>
      </p:sp>
    </p:spTree>
    <p:extLst>
      <p:ext uri="{BB962C8B-B14F-4D97-AF65-F5344CB8AC3E}">
        <p14:creationId xmlns:p14="http://schemas.microsoft.com/office/powerpoint/2010/main" val="227856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72EDD2C-81F5-4B35-4FC4-19D5BC0AB115}"/>
              </a:ext>
            </a:extLst>
          </p:cNvPr>
          <p:cNvSpPr>
            <a:spLocks noGrp="1"/>
          </p:cNvSpPr>
          <p:nvPr>
            <p:ph type="title"/>
          </p:nvPr>
        </p:nvSpPr>
        <p:spPr/>
        <p:txBody>
          <a:bodyPr/>
          <a:lstStyle/>
          <a:p>
            <a:r>
              <a:rPr lang="en-US" dirty="0"/>
              <a:t>Bill Phillips</a:t>
            </a:r>
          </a:p>
        </p:txBody>
      </p:sp>
      <p:sp>
        <p:nvSpPr>
          <p:cNvPr id="13" name="Text Placeholder 12">
            <a:extLst>
              <a:ext uri="{FF2B5EF4-FFF2-40B4-BE49-F238E27FC236}">
                <a16:creationId xmlns:a16="http://schemas.microsoft.com/office/drawing/2014/main" id="{797D965D-C1D6-6423-4E22-F75FB836F09E}"/>
              </a:ext>
            </a:extLst>
          </p:cNvPr>
          <p:cNvSpPr>
            <a:spLocks noGrp="1"/>
          </p:cNvSpPr>
          <p:nvPr>
            <p:ph type="body" sz="quarter" idx="14"/>
          </p:nvPr>
        </p:nvSpPr>
        <p:spPr/>
        <p:txBody>
          <a:bodyPr/>
          <a:lstStyle/>
          <a:p>
            <a:r>
              <a:rPr lang="en-US" dirty="0"/>
              <a:t>NZ Economist</a:t>
            </a:r>
          </a:p>
          <a:p>
            <a:r>
              <a:rPr lang="en-US" dirty="0"/>
              <a:t>Also was a crocodile hunter in Australia, an engineer, and a pilot during World War Two</a:t>
            </a:r>
          </a:p>
        </p:txBody>
      </p:sp>
      <p:pic>
        <p:nvPicPr>
          <p:cNvPr id="16" name="Content Placeholder 15" descr="A person in a suit and tie&#10;&#10;Description automatically generated">
            <a:extLst>
              <a:ext uri="{FF2B5EF4-FFF2-40B4-BE49-F238E27FC236}">
                <a16:creationId xmlns:a16="http://schemas.microsoft.com/office/drawing/2014/main" id="{48097EE9-A35A-D5FB-7CD6-5DF4C936EDB4}"/>
              </a:ext>
            </a:extLst>
          </p:cNvPr>
          <p:cNvPicPr>
            <a:picLocks noGrp="1" noChangeAspect="1"/>
          </p:cNvPicPr>
          <p:nvPr>
            <p:ph sz="quarter" idx="15"/>
          </p:nvPr>
        </p:nvPicPr>
        <p:blipFill>
          <a:blip r:embed="rId2">
            <a:extLst>
              <a:ext uri="{28A0092B-C50C-407E-A947-70E740481C1C}">
                <a14:useLocalDpi xmlns:a14="http://schemas.microsoft.com/office/drawing/2010/main" val="0"/>
              </a:ext>
            </a:extLst>
          </a:blip>
          <a:stretch>
            <a:fillRect/>
          </a:stretch>
        </p:blipFill>
        <p:spPr>
          <a:xfrm>
            <a:off x="6454775" y="561975"/>
            <a:ext cx="5024438" cy="5024438"/>
          </a:xfrm>
        </p:spPr>
      </p:pic>
    </p:spTree>
    <p:extLst>
      <p:ext uri="{BB962C8B-B14F-4D97-AF65-F5344CB8AC3E}">
        <p14:creationId xmlns:p14="http://schemas.microsoft.com/office/powerpoint/2010/main" val="469968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sz="2400"/>
              <a:t>Inflation and employment</a:t>
            </a:r>
          </a:p>
        </p:txBody>
      </p:sp>
      <p:pic>
        <p:nvPicPr>
          <p:cNvPr id="8" name="Content Placeholder 7" descr="Chart, scatter chart&#10;&#10;Description automatically generated">
            <a:extLst>
              <a:ext uri="{FF2B5EF4-FFF2-40B4-BE49-F238E27FC236}">
                <a16:creationId xmlns:a16="http://schemas.microsoft.com/office/drawing/2014/main" id="{27A53847-9C70-E343-586B-21F375E89006}"/>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705475" y="1223963"/>
            <a:ext cx="4630016" cy="4738532"/>
          </a:xfrm>
        </p:spPr>
      </p:pic>
      <p:sp>
        <p:nvSpPr>
          <p:cNvPr id="5" name="Text Placeholder 4">
            <a:extLst>
              <a:ext uri="{FF2B5EF4-FFF2-40B4-BE49-F238E27FC236}">
                <a16:creationId xmlns:a16="http://schemas.microsoft.com/office/drawing/2014/main" id="{6A4AB5D3-A913-31DB-42B3-0D04B5F1DB66}"/>
              </a:ext>
            </a:extLst>
          </p:cNvPr>
          <p:cNvSpPr>
            <a:spLocks noGrp="1"/>
          </p:cNvSpPr>
          <p:nvPr>
            <p:ph type="body" sz="quarter" idx="14"/>
          </p:nvPr>
        </p:nvSpPr>
        <p:spPr/>
        <p:txBody>
          <a:bodyPr/>
          <a:lstStyle/>
          <a:p>
            <a:r>
              <a:rPr lang="en-NZ" dirty="0"/>
              <a:t>Higher employment (lower unemployment) may result in inflation</a:t>
            </a:r>
          </a:p>
        </p:txBody>
      </p:sp>
    </p:spTree>
    <p:extLst>
      <p:ext uri="{BB962C8B-B14F-4D97-AF65-F5344CB8AC3E}">
        <p14:creationId xmlns:p14="http://schemas.microsoft.com/office/powerpoint/2010/main" val="4186822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r>
              <a:rPr lang="en-US" sz="2400"/>
              <a:t>Inflation and employment</a:t>
            </a:r>
          </a:p>
        </p:txBody>
      </p:sp>
      <p:sp>
        <p:nvSpPr>
          <p:cNvPr id="5" name="Text Placeholder 4">
            <a:extLst>
              <a:ext uri="{FF2B5EF4-FFF2-40B4-BE49-F238E27FC236}">
                <a16:creationId xmlns:a16="http://schemas.microsoft.com/office/drawing/2014/main" id="{6A4AB5D3-A913-31DB-42B3-0D04B5F1DB66}"/>
              </a:ext>
            </a:extLst>
          </p:cNvPr>
          <p:cNvSpPr>
            <a:spLocks noGrp="1"/>
          </p:cNvSpPr>
          <p:nvPr>
            <p:ph type="body" sz="quarter" idx="14"/>
          </p:nvPr>
        </p:nvSpPr>
        <p:spPr/>
        <p:txBody>
          <a:bodyPr>
            <a:normAutofit fontScale="92500" lnSpcReduction="10000"/>
          </a:bodyPr>
          <a:lstStyle/>
          <a:p>
            <a:pPr lvl="0"/>
            <a:r>
              <a:rPr lang="en-US" dirty="0"/>
              <a:t>It increases workers’ bargaining position → higher wages → higher cost of production → higher prices</a:t>
            </a:r>
          </a:p>
          <a:p>
            <a:pPr lvl="0"/>
            <a:r>
              <a:rPr lang="en-US" dirty="0">
                <a:solidFill>
                  <a:srgbClr val="FF0000"/>
                </a:solidFill>
              </a:rPr>
              <a:t>Note this graph reverses direction of unemployment rate from previous slide. </a:t>
            </a:r>
          </a:p>
          <a:p>
            <a:pPr lvl="0"/>
            <a:r>
              <a:rPr lang="en-US" dirty="0">
                <a:solidFill>
                  <a:srgbClr val="FF0000"/>
                </a:solidFill>
              </a:rPr>
              <a:t>Watch unemployment (x-axis)</a:t>
            </a:r>
            <a:endParaRPr lang="en-NZ" dirty="0">
              <a:solidFill>
                <a:srgbClr val="FF0000"/>
              </a:solidFill>
            </a:endParaRPr>
          </a:p>
        </p:txBody>
      </p:sp>
      <p:pic>
        <p:nvPicPr>
          <p:cNvPr id="7" name="Content Placeholder 6" descr="figure-15-03.jpg">
            <a:extLst>
              <a:ext uri="{FF2B5EF4-FFF2-40B4-BE49-F238E27FC236}">
                <a16:creationId xmlns:a16="http://schemas.microsoft.com/office/drawing/2014/main" id="{A5E63379-3443-9853-8CC8-5C86376A6347}"/>
              </a:ext>
            </a:extLst>
          </p:cNvPr>
          <p:cNvPicPr>
            <a:picLocks noGrp="1" noChangeAspect="1"/>
          </p:cNvPicPr>
          <p:nvPr>
            <p:ph sz="quarter" idx="13"/>
          </p:nvPr>
        </p:nvPicPr>
        <p:blipFill>
          <a:blip r:embed="rId2"/>
          <a:stretch>
            <a:fillRect/>
          </a:stretch>
        </p:blipFill>
        <p:spPr>
          <a:xfrm>
            <a:off x="4451926" y="767847"/>
            <a:ext cx="6380547" cy="481856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473809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6210E-5A37-FE78-356C-DF77EA0824BA}"/>
              </a:ext>
            </a:extLst>
          </p:cNvPr>
          <p:cNvSpPr>
            <a:spLocks noGrp="1"/>
          </p:cNvSpPr>
          <p:nvPr>
            <p:ph type="title"/>
          </p:nvPr>
        </p:nvSpPr>
        <p:spPr/>
        <p:txBody>
          <a:bodyPr/>
          <a:lstStyle/>
          <a:p>
            <a:r>
              <a:rPr lang="en-NZ" dirty="0"/>
              <a:t>The nominal wage (W) adjusted to take into account changes in prices between different periods.</a:t>
            </a:r>
          </a:p>
        </p:txBody>
      </p:sp>
      <p:sp>
        <p:nvSpPr>
          <p:cNvPr id="3" name="Text Placeholder 2">
            <a:extLst>
              <a:ext uri="{FF2B5EF4-FFF2-40B4-BE49-F238E27FC236}">
                <a16:creationId xmlns:a16="http://schemas.microsoft.com/office/drawing/2014/main" id="{598B0C9D-F223-6CE8-6409-CBC00946CE1C}"/>
              </a:ext>
            </a:extLst>
          </p:cNvPr>
          <p:cNvSpPr>
            <a:spLocks noGrp="1"/>
          </p:cNvSpPr>
          <p:nvPr>
            <p:ph type="body" sz="quarter" idx="17"/>
          </p:nvPr>
        </p:nvSpPr>
        <p:spPr/>
        <p:txBody>
          <a:bodyPr>
            <a:normAutofit fontScale="70000" lnSpcReduction="20000"/>
          </a:bodyPr>
          <a:lstStyle/>
          <a:p>
            <a:r>
              <a:rPr lang="en-NZ" dirty="0"/>
              <a:t>Definition: Real Wage</a:t>
            </a:r>
          </a:p>
        </p:txBody>
      </p:sp>
    </p:spTree>
    <p:extLst>
      <p:ext uri="{BB962C8B-B14F-4D97-AF65-F5344CB8AC3E}">
        <p14:creationId xmlns:p14="http://schemas.microsoft.com/office/powerpoint/2010/main" val="357140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E83A901-EEB2-E28A-7A75-9D46879F2B30}"/>
              </a:ext>
            </a:extLst>
          </p:cNvPr>
          <p:cNvGraphicFramePr>
            <a:graphicFrameLocks noGrp="1"/>
          </p:cNvGraphicFramePr>
          <p:nvPr>
            <p:ph idx="1"/>
            <p:extLst>
              <p:ext uri="{D42A27DB-BD31-4B8C-83A1-F6EECF244321}">
                <p14:modId xmlns:p14="http://schemas.microsoft.com/office/powerpoint/2010/main" val="3264212535"/>
              </p:ext>
            </p:extLst>
          </p:nvPr>
        </p:nvGraphicFramePr>
        <p:xfrm>
          <a:off x="1500982" y="576471"/>
          <a:ext cx="7474054" cy="50503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4DB9120E-FE51-ACE9-902E-59C04E5BA735}"/>
              </a:ext>
            </a:extLst>
          </p:cNvPr>
          <p:cNvSpPr>
            <a:spLocks noGrp="1"/>
          </p:cNvSpPr>
          <p:nvPr>
            <p:ph type="title"/>
          </p:nvPr>
        </p:nvSpPr>
        <p:spPr/>
        <p:txBody>
          <a:bodyPr/>
          <a:lstStyle/>
          <a:p>
            <a:r>
              <a:rPr lang="en-NZ" dirty="0"/>
              <a:t>Wage Setting</a:t>
            </a:r>
          </a:p>
        </p:txBody>
      </p:sp>
    </p:spTree>
    <p:extLst>
      <p:ext uri="{BB962C8B-B14F-4D97-AF65-F5344CB8AC3E}">
        <p14:creationId xmlns:p14="http://schemas.microsoft.com/office/powerpoint/2010/main" val="233413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03" y="223091"/>
            <a:ext cx="5394193" cy="1185916"/>
          </a:xfrm>
        </p:spPr>
        <p:txBody>
          <a:bodyPr anchor="b">
            <a:normAutofit/>
          </a:bodyPr>
          <a:lstStyle/>
          <a:p>
            <a:r>
              <a:rPr lang="en-GB" sz="3800"/>
              <a:t>Inflation and aggregate demand</a:t>
            </a:r>
          </a:p>
        </p:txBody>
      </p:sp>
      <p:graphicFrame>
        <p:nvGraphicFramePr>
          <p:cNvPr id="3" name="Diagram 2">
            <a:extLst>
              <a:ext uri="{FF2B5EF4-FFF2-40B4-BE49-F238E27FC236}">
                <a16:creationId xmlns:a16="http://schemas.microsoft.com/office/drawing/2014/main" id="{AD4008C7-9960-4B8B-B778-04743BC65182}"/>
              </a:ext>
            </a:extLst>
          </p:cNvPr>
          <p:cNvGraphicFramePr/>
          <p:nvPr>
            <p:extLst>
              <p:ext uri="{D42A27DB-BD31-4B8C-83A1-F6EECF244321}">
                <p14:modId xmlns:p14="http://schemas.microsoft.com/office/powerpoint/2010/main" val="3347639490"/>
              </p:ext>
            </p:extLst>
          </p:nvPr>
        </p:nvGraphicFramePr>
        <p:xfrm>
          <a:off x="808102" y="1554481"/>
          <a:ext cx="5394193" cy="4615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6921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019" y="403692"/>
            <a:ext cx="3638017" cy="1574195"/>
          </a:xfrm>
        </p:spPr>
        <p:txBody>
          <a:bodyPr>
            <a:normAutofit fontScale="90000"/>
          </a:bodyPr>
          <a:lstStyle/>
          <a:p>
            <a:pPr algn="ctr"/>
            <a:r>
              <a:rPr lang="en-GB" sz="4800" dirty="0">
                <a:latin typeface="+mn-lt"/>
              </a:rPr>
              <a:t>Inflation and aggregate demand</a:t>
            </a:r>
          </a:p>
        </p:txBody>
      </p:sp>
      <p:graphicFrame>
        <p:nvGraphicFramePr>
          <p:cNvPr id="3" name="Diagram 2">
            <a:extLst>
              <a:ext uri="{FF2B5EF4-FFF2-40B4-BE49-F238E27FC236}">
                <a16:creationId xmlns:a16="http://schemas.microsoft.com/office/drawing/2014/main" id="{2F20C1C3-9589-46D6-969B-97F8BEF0AE52}"/>
              </a:ext>
            </a:extLst>
          </p:cNvPr>
          <p:cNvGraphicFramePr/>
          <p:nvPr>
            <p:extLst>
              <p:ext uri="{D42A27DB-BD31-4B8C-83A1-F6EECF244321}">
                <p14:modId xmlns:p14="http://schemas.microsoft.com/office/powerpoint/2010/main" val="2105179201"/>
              </p:ext>
            </p:extLst>
          </p:nvPr>
        </p:nvGraphicFramePr>
        <p:xfrm>
          <a:off x="3251200" y="1485254"/>
          <a:ext cx="8636000" cy="43983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4084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18709-4B6E-2956-8B0F-631C6E3C4385}"/>
              </a:ext>
            </a:extLst>
          </p:cNvPr>
          <p:cNvSpPr>
            <a:spLocks noGrp="1"/>
          </p:cNvSpPr>
          <p:nvPr>
            <p:ph type="title"/>
          </p:nvPr>
        </p:nvSpPr>
        <p:spPr/>
        <p:txBody>
          <a:bodyPr/>
          <a:lstStyle/>
          <a:p>
            <a:r>
              <a:rPr lang="en-NZ" sz="4400" dirty="0"/>
              <a:t>This occurs if an initial increase in wages in the economy is followed by an increase in the price level, which is followed by an increase in wages and so on. </a:t>
            </a:r>
          </a:p>
        </p:txBody>
      </p:sp>
      <p:sp>
        <p:nvSpPr>
          <p:cNvPr id="3" name="Text Placeholder 2">
            <a:extLst>
              <a:ext uri="{FF2B5EF4-FFF2-40B4-BE49-F238E27FC236}">
                <a16:creationId xmlns:a16="http://schemas.microsoft.com/office/drawing/2014/main" id="{C8225682-0548-8294-321C-B7A9DBE49B2F}"/>
              </a:ext>
            </a:extLst>
          </p:cNvPr>
          <p:cNvSpPr>
            <a:spLocks noGrp="1"/>
          </p:cNvSpPr>
          <p:nvPr>
            <p:ph type="body" sz="quarter" idx="17"/>
          </p:nvPr>
        </p:nvSpPr>
        <p:spPr/>
        <p:txBody>
          <a:bodyPr>
            <a:normAutofit fontScale="85000" lnSpcReduction="10000"/>
          </a:bodyPr>
          <a:lstStyle/>
          <a:p>
            <a:r>
              <a:rPr lang="en-NZ" dirty="0"/>
              <a:t>Wage-Price Spiral</a:t>
            </a:r>
          </a:p>
        </p:txBody>
      </p:sp>
    </p:spTree>
    <p:extLst>
      <p:ext uri="{BB962C8B-B14F-4D97-AF65-F5344CB8AC3E}">
        <p14:creationId xmlns:p14="http://schemas.microsoft.com/office/powerpoint/2010/main" val="1729264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114" y="288149"/>
            <a:ext cx="10515600" cy="935641"/>
          </a:xfrm>
        </p:spPr>
        <p:txBody>
          <a:bodyPr>
            <a:normAutofit/>
          </a:bodyPr>
          <a:lstStyle/>
          <a:p>
            <a:pPr algn="ctr"/>
            <a:r>
              <a:rPr lang="en-GB" sz="4800" dirty="0">
                <a:latin typeface="+mn-lt"/>
              </a:rPr>
              <a:t>The Phillips Curve Over Time</a:t>
            </a:r>
          </a:p>
        </p:txBody>
      </p:sp>
      <p:graphicFrame>
        <p:nvGraphicFramePr>
          <p:cNvPr id="3" name="Diagram 2">
            <a:extLst>
              <a:ext uri="{FF2B5EF4-FFF2-40B4-BE49-F238E27FC236}">
                <a16:creationId xmlns:a16="http://schemas.microsoft.com/office/drawing/2014/main" id="{9EB75785-A072-F32F-3E9E-3B8BD40C7E71}"/>
              </a:ext>
            </a:extLst>
          </p:cNvPr>
          <p:cNvGraphicFramePr/>
          <p:nvPr>
            <p:extLst>
              <p:ext uri="{D42A27DB-BD31-4B8C-83A1-F6EECF244321}">
                <p14:modId xmlns:p14="http://schemas.microsoft.com/office/powerpoint/2010/main" val="194271036"/>
              </p:ext>
            </p:extLst>
          </p:nvPr>
        </p:nvGraphicFramePr>
        <p:xfrm>
          <a:off x="211658" y="1577988"/>
          <a:ext cx="6619133" cy="48215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figure-15-06-g.jpg"/>
          <p:cNvPicPr>
            <a:picLocks noChangeAspect="1"/>
          </p:cNvPicPr>
          <p:nvPr/>
        </p:nvPicPr>
        <p:blipFill>
          <a:blip r:embed="rId7"/>
          <a:stretch>
            <a:fillRect/>
          </a:stretch>
        </p:blipFill>
        <p:spPr>
          <a:xfrm>
            <a:off x="6743735" y="1301000"/>
            <a:ext cx="5277975" cy="5098580"/>
          </a:xfrm>
          <a:prstGeom prst="rect">
            <a:avLst/>
          </a:prstGeom>
        </p:spPr>
      </p:pic>
    </p:spTree>
    <p:extLst>
      <p:ext uri="{BB962C8B-B14F-4D97-AF65-F5344CB8AC3E}">
        <p14:creationId xmlns:p14="http://schemas.microsoft.com/office/powerpoint/2010/main" val="279783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FDA0-CF30-45BF-74B0-58CFECA67AC5}"/>
              </a:ext>
            </a:extLst>
          </p:cNvPr>
          <p:cNvSpPr>
            <a:spLocks noGrp="1"/>
          </p:cNvSpPr>
          <p:nvPr>
            <p:ph type="title"/>
          </p:nvPr>
        </p:nvSpPr>
        <p:spPr/>
        <p:txBody>
          <a:bodyPr>
            <a:normAutofit fontScale="90000"/>
          </a:bodyPr>
          <a:lstStyle/>
          <a:p>
            <a:r>
              <a:rPr lang="en-NZ" dirty="0"/>
              <a:t>Monetary Policy</a:t>
            </a:r>
          </a:p>
        </p:txBody>
      </p:sp>
      <p:sp>
        <p:nvSpPr>
          <p:cNvPr id="3" name="Text Placeholder 2">
            <a:extLst>
              <a:ext uri="{FF2B5EF4-FFF2-40B4-BE49-F238E27FC236}">
                <a16:creationId xmlns:a16="http://schemas.microsoft.com/office/drawing/2014/main" id="{75F4112E-8B58-744A-CBEE-0578D69BA916}"/>
              </a:ext>
            </a:extLst>
          </p:cNvPr>
          <p:cNvSpPr>
            <a:spLocks noGrp="1"/>
          </p:cNvSpPr>
          <p:nvPr>
            <p:ph type="body" idx="1"/>
          </p:nvPr>
        </p:nvSpPr>
        <p:spPr/>
        <p:txBody>
          <a:bodyPr/>
          <a:lstStyle/>
          <a:p>
            <a:endParaRPr lang="en-NZ"/>
          </a:p>
        </p:txBody>
      </p:sp>
      <p:sp>
        <p:nvSpPr>
          <p:cNvPr id="4" name="Text Placeholder 3">
            <a:extLst>
              <a:ext uri="{FF2B5EF4-FFF2-40B4-BE49-F238E27FC236}">
                <a16:creationId xmlns:a16="http://schemas.microsoft.com/office/drawing/2014/main" id="{F7BE4776-5B27-C8C3-0DA5-40F86E509C3C}"/>
              </a:ext>
            </a:extLst>
          </p:cNvPr>
          <p:cNvSpPr>
            <a:spLocks noGrp="1"/>
          </p:cNvSpPr>
          <p:nvPr>
            <p:ph type="body" sz="quarter" idx="13"/>
          </p:nvPr>
        </p:nvSpPr>
        <p:spPr/>
        <p:txBody>
          <a:bodyPr/>
          <a:lstStyle/>
          <a:p>
            <a:r>
              <a:rPr lang="en-NZ" dirty="0"/>
              <a:t>02.</a:t>
            </a:r>
          </a:p>
        </p:txBody>
      </p:sp>
    </p:spTree>
    <p:extLst>
      <p:ext uri="{BB962C8B-B14F-4D97-AF65-F5344CB8AC3E}">
        <p14:creationId xmlns:p14="http://schemas.microsoft.com/office/powerpoint/2010/main" val="3157908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100" dirty="0"/>
              <a:t>Monetary policy in New Zealand</a:t>
            </a:r>
          </a:p>
        </p:txBody>
      </p:sp>
      <p:sp>
        <p:nvSpPr>
          <p:cNvPr id="8" name="Text Placeholder 3">
            <a:extLst>
              <a:ext uri="{FF2B5EF4-FFF2-40B4-BE49-F238E27FC236}">
                <a16:creationId xmlns:a16="http://schemas.microsoft.com/office/drawing/2014/main" id="{687B460C-504F-481F-080A-885700D7E71F}"/>
              </a:ext>
            </a:extLst>
          </p:cNvPr>
          <p:cNvSpPr>
            <a:spLocks noGrp="1"/>
          </p:cNvSpPr>
          <p:nvPr>
            <p:ph type="body" sz="quarter" idx="14"/>
          </p:nvPr>
        </p:nvSpPr>
        <p:spPr>
          <a:xfrm>
            <a:off x="725488" y="2157413"/>
            <a:ext cx="2855912" cy="3429000"/>
          </a:xfrm>
        </p:spPr>
        <p:txBody>
          <a:bodyPr/>
          <a:lstStyle/>
          <a:p>
            <a:r>
              <a:rPr lang="en-US" dirty="0"/>
              <a:t>Monetary Policy in NZ is conducted by the Reserve Bank of New Zealand (RBNZ)</a:t>
            </a:r>
          </a:p>
        </p:txBody>
      </p:sp>
      <p:graphicFrame>
        <p:nvGraphicFramePr>
          <p:cNvPr id="3" name="Diagram 2">
            <a:extLst>
              <a:ext uri="{FF2B5EF4-FFF2-40B4-BE49-F238E27FC236}">
                <a16:creationId xmlns:a16="http://schemas.microsoft.com/office/drawing/2014/main" id="{AEA0A3C7-8D79-463F-BBE3-3EE62309A2FD}"/>
              </a:ext>
            </a:extLst>
          </p:cNvPr>
          <p:cNvGraphicFramePr/>
          <p:nvPr>
            <p:extLst>
              <p:ext uri="{D42A27DB-BD31-4B8C-83A1-F6EECF244321}">
                <p14:modId xmlns:p14="http://schemas.microsoft.com/office/powerpoint/2010/main" val="624894991"/>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3395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100"/>
              <a:t>Monetary policy in new </a:t>
            </a:r>
            <a:r>
              <a:rPr lang="en-GB" sz="3100" err="1"/>
              <a:t>zealand</a:t>
            </a:r>
            <a:endParaRPr lang="en-GB" sz="3100"/>
          </a:p>
        </p:txBody>
      </p:sp>
      <p:sp>
        <p:nvSpPr>
          <p:cNvPr id="8" name="Text Placeholder 3">
            <a:extLst>
              <a:ext uri="{FF2B5EF4-FFF2-40B4-BE49-F238E27FC236}">
                <a16:creationId xmlns:a16="http://schemas.microsoft.com/office/drawing/2014/main" id="{0CED00ED-763C-1F9B-212D-E284D0862DA6}"/>
              </a:ext>
            </a:extLst>
          </p:cNvPr>
          <p:cNvSpPr>
            <a:spLocks noGrp="1"/>
          </p:cNvSpPr>
          <p:nvPr>
            <p:ph type="body" sz="quarter" idx="14"/>
          </p:nvPr>
        </p:nvSpPr>
        <p:spPr>
          <a:xfrm>
            <a:off x="725488" y="2157413"/>
            <a:ext cx="2855912" cy="3429000"/>
          </a:xfrm>
        </p:spPr>
        <p:txBody>
          <a:bodyPr/>
          <a:lstStyle/>
          <a:p>
            <a:r>
              <a:rPr lang="en-US" dirty="0"/>
              <a:t>The OCR is the policy rate referred to in your textbook.</a:t>
            </a:r>
          </a:p>
        </p:txBody>
      </p:sp>
      <p:graphicFrame>
        <p:nvGraphicFramePr>
          <p:cNvPr id="3" name="Diagram 2">
            <a:extLst>
              <a:ext uri="{FF2B5EF4-FFF2-40B4-BE49-F238E27FC236}">
                <a16:creationId xmlns:a16="http://schemas.microsoft.com/office/drawing/2014/main" id="{0ED4E467-FCCB-45FD-90CC-F17F7A03732D}"/>
              </a:ext>
            </a:extLst>
          </p:cNvPr>
          <p:cNvGraphicFramePr/>
          <p:nvPr>
            <p:extLst>
              <p:ext uri="{D42A27DB-BD31-4B8C-83A1-F6EECF244321}">
                <p14:modId xmlns:p14="http://schemas.microsoft.com/office/powerpoint/2010/main" val="3594670856"/>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8907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4800" dirty="0">
                <a:latin typeface="+mn-lt"/>
              </a:rPr>
              <a:t>The OCR over time</a:t>
            </a:r>
          </a:p>
        </p:txBody>
      </p:sp>
      <p:sp>
        <p:nvSpPr>
          <p:cNvPr id="6" name="TextBox 5">
            <a:extLst>
              <a:ext uri="{FF2B5EF4-FFF2-40B4-BE49-F238E27FC236}">
                <a16:creationId xmlns:a16="http://schemas.microsoft.com/office/drawing/2014/main" id="{984762D9-C877-41AC-8747-7D1847523F88}"/>
              </a:ext>
            </a:extLst>
          </p:cNvPr>
          <p:cNvSpPr txBox="1"/>
          <p:nvPr/>
        </p:nvSpPr>
        <p:spPr>
          <a:xfrm>
            <a:off x="3413847" y="6131609"/>
            <a:ext cx="8455891" cy="646331"/>
          </a:xfrm>
          <a:prstGeom prst="rect">
            <a:avLst/>
          </a:prstGeom>
          <a:noFill/>
        </p:spPr>
        <p:txBody>
          <a:bodyPr wrap="square" rtlCol="0">
            <a:spAutoFit/>
          </a:bodyPr>
          <a:lstStyle/>
          <a:p>
            <a:r>
              <a:rPr lang="en-NZ" dirty="0"/>
              <a:t>Source: https://www.rbnz.govt.nz/monetary-policy/about-monetary-policy/what-is-the-official-cash-rate</a:t>
            </a:r>
          </a:p>
        </p:txBody>
      </p:sp>
      <p:pic>
        <p:nvPicPr>
          <p:cNvPr id="7" name="Picture Placeholder 6">
            <a:extLst>
              <a:ext uri="{FF2B5EF4-FFF2-40B4-BE49-F238E27FC236}">
                <a16:creationId xmlns:a16="http://schemas.microsoft.com/office/drawing/2014/main" id="{BA32E376-FD27-AE9D-B116-9BBB149F9A5A}"/>
              </a:ext>
            </a:extLst>
          </p:cNvPr>
          <p:cNvPicPr>
            <a:picLocks noGrp="1" noChangeAspect="1"/>
          </p:cNvPicPr>
          <p:nvPr>
            <p:ph type="pic" sz="quarter" idx="13"/>
          </p:nvPr>
        </p:nvPicPr>
        <p:blipFill>
          <a:blip r:embed="rId2"/>
          <a:srcRect t="3692" b="3692"/>
          <a:stretch>
            <a:fillRect/>
          </a:stretch>
        </p:blipFill>
        <p:spPr>
          <a:xfrm>
            <a:off x="3217863" y="403225"/>
            <a:ext cx="8651875" cy="5567363"/>
          </a:xfrm>
          <a:prstGeom prst="rect">
            <a:avLst/>
          </a:prstGeom>
        </p:spPr>
      </p:pic>
    </p:spTree>
    <p:extLst>
      <p:ext uri="{BB962C8B-B14F-4D97-AF65-F5344CB8AC3E}">
        <p14:creationId xmlns:p14="http://schemas.microsoft.com/office/powerpoint/2010/main" val="689875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vert="horz" lIns="91440" tIns="45720" rIns="91440" bIns="45720" rtlCol="0" anchor="ctr">
            <a:normAutofit/>
          </a:bodyPr>
          <a:lstStyle/>
          <a:p>
            <a:r>
              <a:rPr lang="en-GB" sz="4300"/>
              <a:t>Transmission mechanisms</a:t>
            </a:r>
          </a:p>
        </p:txBody>
      </p:sp>
      <p:pic>
        <p:nvPicPr>
          <p:cNvPr id="5" name="Picture 4" descr="figure-15-14.jpg"/>
          <p:cNvPicPr>
            <a:picLocks noChangeAspect="1"/>
          </p:cNvPicPr>
          <p:nvPr/>
        </p:nvPicPr>
        <p:blipFill>
          <a:blip r:embed="rId2"/>
          <a:stretch>
            <a:fillRect/>
          </a:stretch>
        </p:blipFill>
        <p:spPr>
          <a:xfrm>
            <a:off x="3946525" y="611109"/>
            <a:ext cx="7175500" cy="4969033"/>
          </a:xfrm>
          <a:prstGeom prst="rect">
            <a:avLst/>
          </a:prstGeom>
          <a:solidFill>
            <a:schemeClr val="tx2">
              <a:lumMod val="40000"/>
              <a:lumOff val="60000"/>
            </a:schemeClr>
          </a:solidFill>
        </p:spPr>
      </p:pic>
      <p:sp>
        <p:nvSpPr>
          <p:cNvPr id="8" name="TextBox 5"/>
          <p:cNvSpPr txBox="1"/>
          <p:nvPr/>
        </p:nvSpPr>
        <p:spPr>
          <a:xfrm>
            <a:off x="725488" y="2157413"/>
            <a:ext cx="2855912" cy="34290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tabLst>
                <a:tab pos="1885950" algn="l"/>
              </a:tabLst>
            </a:pPr>
            <a:r>
              <a:rPr lang="en-US" sz="2000">
                <a:solidFill>
                  <a:schemeClr val="tx1">
                    <a:lumMod val="75000"/>
                  </a:schemeClr>
                </a:solidFill>
              </a:rPr>
              <a:t>The Central Bank sets an inflation target (usually 2%).</a:t>
            </a:r>
          </a:p>
        </p:txBody>
      </p:sp>
    </p:spTree>
    <p:extLst>
      <p:ext uri="{BB962C8B-B14F-4D97-AF65-F5344CB8AC3E}">
        <p14:creationId xmlns:p14="http://schemas.microsoft.com/office/powerpoint/2010/main" val="192255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900"/>
              <a:t>Market interest rates</a:t>
            </a:r>
          </a:p>
        </p:txBody>
      </p:sp>
      <p:sp>
        <p:nvSpPr>
          <p:cNvPr id="11" name="Text Placeholder 3">
            <a:extLst>
              <a:ext uri="{FF2B5EF4-FFF2-40B4-BE49-F238E27FC236}">
                <a16:creationId xmlns:a16="http://schemas.microsoft.com/office/drawing/2014/main" id="{E67F7198-1D49-6145-D7F0-A11A9E9D654A}"/>
              </a:ext>
            </a:extLst>
          </p:cNvPr>
          <p:cNvSpPr>
            <a:spLocks noGrp="1"/>
          </p:cNvSpPr>
          <p:nvPr>
            <p:ph type="body" sz="quarter" idx="14"/>
          </p:nvPr>
        </p:nvSpPr>
        <p:spPr>
          <a:xfrm>
            <a:off x="725488" y="2157413"/>
            <a:ext cx="2855912" cy="3429000"/>
          </a:xfrm>
        </p:spPr>
        <p:txBody>
          <a:bodyPr/>
          <a:lstStyle/>
          <a:p>
            <a:r>
              <a:rPr lang="en-GB" dirty="0"/>
              <a:t>To set the policy rate, the central bank will work backwards:</a:t>
            </a:r>
            <a:endParaRPr lang="en-NZ" dirty="0"/>
          </a:p>
          <a:p>
            <a:pPr marL="0" indent="0">
              <a:buNone/>
            </a:pPr>
            <a:endParaRPr lang="en-US" dirty="0"/>
          </a:p>
        </p:txBody>
      </p:sp>
      <p:graphicFrame>
        <p:nvGraphicFramePr>
          <p:cNvPr id="3" name="Diagram 2">
            <a:extLst>
              <a:ext uri="{FF2B5EF4-FFF2-40B4-BE49-F238E27FC236}">
                <a16:creationId xmlns:a16="http://schemas.microsoft.com/office/drawing/2014/main" id="{316D5C0D-9F8A-D2F4-83C8-A25AE9EFB2AB}"/>
              </a:ext>
            </a:extLst>
          </p:cNvPr>
          <p:cNvGraphicFramePr/>
          <p:nvPr>
            <p:extLst>
              <p:ext uri="{D42A27DB-BD31-4B8C-83A1-F6EECF244321}">
                <p14:modId xmlns:p14="http://schemas.microsoft.com/office/powerpoint/2010/main" val="1746883156"/>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0191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4600"/>
              <a:t>Asset prices</a:t>
            </a:r>
          </a:p>
        </p:txBody>
      </p:sp>
      <p:sp>
        <p:nvSpPr>
          <p:cNvPr id="8" name="Text Placeholder 3">
            <a:extLst>
              <a:ext uri="{FF2B5EF4-FFF2-40B4-BE49-F238E27FC236}">
                <a16:creationId xmlns:a16="http://schemas.microsoft.com/office/drawing/2014/main" id="{1F144B60-52FC-9288-1E70-36CF41355C70}"/>
              </a:ext>
            </a:extLst>
          </p:cNvPr>
          <p:cNvSpPr>
            <a:spLocks noGrp="1"/>
          </p:cNvSpPr>
          <p:nvPr>
            <p:ph type="body" sz="quarter" idx="14"/>
          </p:nvPr>
        </p:nvSpPr>
        <p:spPr>
          <a:xfrm>
            <a:off x="725488" y="2157413"/>
            <a:ext cx="2855912" cy="3429000"/>
          </a:xfrm>
        </p:spPr>
        <p:txBody>
          <a:bodyPr/>
          <a:lstStyle/>
          <a:p>
            <a:r>
              <a:rPr lang="en-US" dirty="0"/>
              <a:t>Changes to the policy rate (OCR) affects asset prices.</a:t>
            </a:r>
          </a:p>
        </p:txBody>
      </p:sp>
      <p:graphicFrame>
        <p:nvGraphicFramePr>
          <p:cNvPr id="3" name="Diagram 2">
            <a:extLst>
              <a:ext uri="{FF2B5EF4-FFF2-40B4-BE49-F238E27FC236}">
                <a16:creationId xmlns:a16="http://schemas.microsoft.com/office/drawing/2014/main" id="{A30FD6F5-2B7B-4C66-BA7A-76926FCC603F}"/>
              </a:ext>
            </a:extLst>
          </p:cNvPr>
          <p:cNvGraphicFramePr/>
          <p:nvPr>
            <p:extLst>
              <p:ext uri="{D42A27DB-BD31-4B8C-83A1-F6EECF244321}">
                <p14:modId xmlns:p14="http://schemas.microsoft.com/office/powerpoint/2010/main" val="125905268"/>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45072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anchor="ctr">
            <a:normAutofit/>
          </a:bodyPr>
          <a:lstStyle/>
          <a:p>
            <a:r>
              <a:rPr lang="en-GB" sz="3900"/>
              <a:t>Profit expectations</a:t>
            </a:r>
          </a:p>
        </p:txBody>
      </p:sp>
      <p:sp>
        <p:nvSpPr>
          <p:cNvPr id="8" name="Text Placeholder 3">
            <a:extLst>
              <a:ext uri="{FF2B5EF4-FFF2-40B4-BE49-F238E27FC236}">
                <a16:creationId xmlns:a16="http://schemas.microsoft.com/office/drawing/2014/main" id="{C3F0F2D5-38E0-24BD-251B-1F7C281AFAEC}"/>
              </a:ext>
            </a:extLst>
          </p:cNvPr>
          <p:cNvSpPr>
            <a:spLocks noGrp="1"/>
          </p:cNvSpPr>
          <p:nvPr>
            <p:ph type="body" sz="quarter" idx="14"/>
          </p:nvPr>
        </p:nvSpPr>
        <p:spPr>
          <a:xfrm>
            <a:off x="725488" y="2157413"/>
            <a:ext cx="2855912" cy="3429000"/>
          </a:xfrm>
        </p:spPr>
        <p:txBody>
          <a:bodyPr/>
          <a:lstStyle/>
          <a:p>
            <a:r>
              <a:rPr lang="en-US" dirty="0"/>
              <a:t>Confidence in the Reserve Bank is important. </a:t>
            </a:r>
          </a:p>
        </p:txBody>
      </p:sp>
      <p:graphicFrame>
        <p:nvGraphicFramePr>
          <p:cNvPr id="3" name="Diagram 2">
            <a:extLst>
              <a:ext uri="{FF2B5EF4-FFF2-40B4-BE49-F238E27FC236}">
                <a16:creationId xmlns:a16="http://schemas.microsoft.com/office/drawing/2014/main" id="{60D5094C-C516-40B4-ACB6-6B54CA96F0A7}"/>
              </a:ext>
            </a:extLst>
          </p:cNvPr>
          <p:cNvGraphicFramePr/>
          <p:nvPr>
            <p:extLst>
              <p:ext uri="{D42A27DB-BD31-4B8C-83A1-F6EECF244321}">
                <p14:modId xmlns:p14="http://schemas.microsoft.com/office/powerpoint/2010/main" val="992789099"/>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6125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vert="horz" lIns="91440" tIns="45720" rIns="91440" bIns="45720" rtlCol="0" anchor="ctr">
            <a:normAutofit/>
          </a:bodyPr>
          <a:lstStyle/>
          <a:p>
            <a:r>
              <a:rPr lang="en-GB" sz="3100"/>
              <a:t>Monetary policy in the multiplier model</a:t>
            </a:r>
          </a:p>
        </p:txBody>
      </p:sp>
      <p:pic>
        <p:nvPicPr>
          <p:cNvPr id="6" name="Picture 5" descr="figure-15-15-c.jpg"/>
          <p:cNvPicPr>
            <a:picLocks noChangeAspect="1"/>
          </p:cNvPicPr>
          <p:nvPr/>
        </p:nvPicPr>
        <p:blipFill>
          <a:blip r:embed="rId2"/>
          <a:stretch>
            <a:fillRect/>
          </a:stretch>
        </p:blipFill>
        <p:spPr>
          <a:xfrm>
            <a:off x="3946525" y="646986"/>
            <a:ext cx="7175500" cy="4897278"/>
          </a:xfrm>
          <a:prstGeom prst="rect">
            <a:avLst/>
          </a:prstGeom>
          <a:noFill/>
        </p:spPr>
      </p:pic>
      <p:sp>
        <p:nvSpPr>
          <p:cNvPr id="5" name="Obdĺžnik 4"/>
          <p:cNvSpPr/>
          <p:nvPr/>
        </p:nvSpPr>
        <p:spPr>
          <a:xfrm>
            <a:off x="725488" y="2157413"/>
            <a:ext cx="2855912" cy="34290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tabLst>
                <a:tab pos="1885950" algn="l"/>
              </a:tabLst>
            </a:pPr>
            <a:r>
              <a:rPr lang="en-GB" sz="2000" dirty="0">
                <a:solidFill>
                  <a:schemeClr val="tx1">
                    <a:lumMod val="75000"/>
                  </a:schemeClr>
                </a:solidFill>
              </a:rPr>
              <a:t>To stabilize the economy, the central bank stimulates investment by lowering the real interest rate. </a:t>
            </a:r>
          </a:p>
          <a:p>
            <a:pPr indent="-228600">
              <a:lnSpc>
                <a:spcPct val="90000"/>
              </a:lnSpc>
              <a:spcAft>
                <a:spcPts val="600"/>
              </a:spcAft>
              <a:buFont typeface="Arial" panose="020B0604020202020204" pitchFamily="34" charset="0"/>
              <a:buChar char="•"/>
              <a:tabLst>
                <a:tab pos="1885950" algn="l"/>
              </a:tabLst>
            </a:pPr>
            <a:r>
              <a:rPr lang="en-GB" sz="2000" dirty="0">
                <a:solidFill>
                  <a:schemeClr val="tx1">
                    <a:lumMod val="75000"/>
                  </a:schemeClr>
                </a:solidFill>
              </a:rPr>
              <a:t>This shifts the aggregate demand curve upward. </a:t>
            </a:r>
          </a:p>
        </p:txBody>
      </p:sp>
    </p:spTree>
    <p:extLst>
      <p:ext uri="{BB962C8B-B14F-4D97-AF65-F5344CB8AC3E}">
        <p14:creationId xmlns:p14="http://schemas.microsoft.com/office/powerpoint/2010/main" val="31635783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vert="horz" lIns="91440" tIns="45720" rIns="91440" bIns="45720" rtlCol="0" anchor="ctr">
            <a:normAutofit/>
          </a:bodyPr>
          <a:lstStyle/>
          <a:p>
            <a:r>
              <a:rPr lang="en-GB" sz="3100"/>
              <a:t>Monetary Policy: Limitations</a:t>
            </a:r>
          </a:p>
        </p:txBody>
      </p:sp>
      <p:graphicFrame>
        <p:nvGraphicFramePr>
          <p:cNvPr id="4" name="Diagram 3">
            <a:extLst>
              <a:ext uri="{FF2B5EF4-FFF2-40B4-BE49-F238E27FC236}">
                <a16:creationId xmlns:a16="http://schemas.microsoft.com/office/drawing/2014/main" id="{1455FA1C-F271-6222-E5D5-C2F23CDB21A2}"/>
              </a:ext>
            </a:extLst>
          </p:cNvPr>
          <p:cNvGraphicFramePr/>
          <p:nvPr>
            <p:extLst>
              <p:ext uri="{D42A27DB-BD31-4B8C-83A1-F6EECF244321}">
                <p14:modId xmlns:p14="http://schemas.microsoft.com/office/powerpoint/2010/main" val="3174758862"/>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3">
            <a:extLst>
              <a:ext uri="{FF2B5EF4-FFF2-40B4-BE49-F238E27FC236}">
                <a16:creationId xmlns:a16="http://schemas.microsoft.com/office/drawing/2014/main" id="{094ED28C-9CB0-0BC8-9F37-40A8708A5C44}"/>
              </a:ext>
            </a:extLst>
          </p:cNvPr>
          <p:cNvSpPr>
            <a:spLocks noGrp="1"/>
          </p:cNvSpPr>
          <p:nvPr>
            <p:ph type="body" sz="quarter" idx="14"/>
          </p:nvPr>
        </p:nvSpPr>
        <p:spPr>
          <a:xfrm>
            <a:off x="725488" y="2157413"/>
            <a:ext cx="2855912" cy="3429000"/>
          </a:xfrm>
        </p:spPr>
        <p:txBody>
          <a:bodyPr/>
          <a:lstStyle/>
          <a:p>
            <a:r>
              <a:rPr lang="en-US" dirty="0"/>
              <a:t>Monetary policy effectiveness can be hampered by two main issues.</a:t>
            </a:r>
          </a:p>
        </p:txBody>
      </p:sp>
    </p:spTree>
    <p:extLst>
      <p:ext uri="{BB962C8B-B14F-4D97-AF65-F5344CB8AC3E}">
        <p14:creationId xmlns:p14="http://schemas.microsoft.com/office/powerpoint/2010/main" val="12569546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1" y="561766"/>
            <a:ext cx="4505326" cy="1325563"/>
          </a:xfrm>
        </p:spPr>
        <p:txBody>
          <a:bodyPr vert="horz" lIns="91440" tIns="45720" rIns="91440" bIns="45720" rtlCol="0" anchor="b">
            <a:normAutofit/>
          </a:bodyPr>
          <a:lstStyle/>
          <a:p>
            <a:r>
              <a:rPr lang="en-GB" sz="4200"/>
              <a:t>Monetary Policy: Limitations</a:t>
            </a:r>
          </a:p>
        </p:txBody>
      </p:sp>
      <p:sp>
        <p:nvSpPr>
          <p:cNvPr id="3" name="TextBox 2"/>
          <p:cNvSpPr txBox="1"/>
          <p:nvPr/>
        </p:nvSpPr>
        <p:spPr>
          <a:xfrm>
            <a:off x="1047751" y="2013916"/>
            <a:ext cx="4505326" cy="3571875"/>
          </a:xfrm>
          <a:prstGeom prst="rect">
            <a:avLst/>
          </a:prstGeom>
        </p:spPr>
        <p:txBody>
          <a:bodyPr vert="horz" lIns="91440" tIns="45720" rIns="91440" bIns="45720" rtlCol="0" anchor="t">
            <a:normAutofit/>
          </a:bodyPr>
          <a:lstStyle/>
          <a:p>
            <a:pPr indent="-228600" algn="r">
              <a:lnSpc>
                <a:spcPct val="90000"/>
              </a:lnSpc>
              <a:spcAft>
                <a:spcPts val="600"/>
              </a:spcAft>
              <a:buFont typeface="Arial" panose="020B0604020202020204" pitchFamily="34" charset="0"/>
              <a:buChar char="•"/>
              <a:tabLst>
                <a:tab pos="1885950" algn="l"/>
              </a:tabLst>
            </a:pPr>
            <a:r>
              <a:rPr lang="en-GB" sz="2400" dirty="0">
                <a:solidFill>
                  <a:srgbClr val="76838B"/>
                </a:solidFill>
              </a:rPr>
              <a:t>A country without its own currency does not have its own monetary policy</a:t>
            </a:r>
          </a:p>
        </p:txBody>
      </p:sp>
      <p:graphicFrame>
        <p:nvGraphicFramePr>
          <p:cNvPr id="4" name="Content Placeholder 3">
            <a:extLst>
              <a:ext uri="{FF2B5EF4-FFF2-40B4-BE49-F238E27FC236}">
                <a16:creationId xmlns:a16="http://schemas.microsoft.com/office/drawing/2014/main" id="{ECD08918-C651-695A-4D9F-DBE720203C08}"/>
              </a:ext>
            </a:extLst>
          </p:cNvPr>
          <p:cNvGraphicFramePr>
            <a:graphicFrameLocks noGrp="1"/>
          </p:cNvGraphicFramePr>
          <p:nvPr>
            <p:ph sz="quarter" idx="15"/>
            <p:extLst>
              <p:ext uri="{D42A27DB-BD31-4B8C-83A1-F6EECF244321}">
                <p14:modId xmlns:p14="http://schemas.microsoft.com/office/powerpoint/2010/main" val="1286648110"/>
              </p:ext>
            </p:extLst>
          </p:nvPr>
        </p:nvGraphicFramePr>
        <p:xfrm>
          <a:off x="6096001" y="561766"/>
          <a:ext cx="5741988" cy="5024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900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921C2-3E69-CA0C-E93E-5C9DF8798935}"/>
              </a:ext>
            </a:extLst>
          </p:cNvPr>
          <p:cNvSpPr>
            <a:spLocks noGrp="1"/>
          </p:cNvSpPr>
          <p:nvPr>
            <p:ph type="title"/>
          </p:nvPr>
        </p:nvSpPr>
        <p:spPr/>
        <p:txBody>
          <a:bodyPr>
            <a:normAutofit fontScale="90000"/>
          </a:bodyPr>
          <a:lstStyle/>
          <a:p>
            <a:r>
              <a:rPr lang="en-NZ" dirty="0"/>
              <a:t>The Open Economy</a:t>
            </a:r>
          </a:p>
        </p:txBody>
      </p:sp>
      <p:sp>
        <p:nvSpPr>
          <p:cNvPr id="3" name="Text Placeholder 2">
            <a:extLst>
              <a:ext uri="{FF2B5EF4-FFF2-40B4-BE49-F238E27FC236}">
                <a16:creationId xmlns:a16="http://schemas.microsoft.com/office/drawing/2014/main" id="{AC105B8A-8518-42FF-C8FF-A8D59DC213B8}"/>
              </a:ext>
            </a:extLst>
          </p:cNvPr>
          <p:cNvSpPr>
            <a:spLocks noGrp="1"/>
          </p:cNvSpPr>
          <p:nvPr>
            <p:ph type="body" idx="1"/>
          </p:nvPr>
        </p:nvSpPr>
        <p:spPr/>
        <p:txBody>
          <a:bodyPr/>
          <a:lstStyle/>
          <a:p>
            <a:r>
              <a:rPr lang="en-NZ" dirty="0"/>
              <a:t>Exchange Rate Effects</a:t>
            </a:r>
          </a:p>
        </p:txBody>
      </p:sp>
      <p:sp>
        <p:nvSpPr>
          <p:cNvPr id="4" name="Text Placeholder 3">
            <a:extLst>
              <a:ext uri="{FF2B5EF4-FFF2-40B4-BE49-F238E27FC236}">
                <a16:creationId xmlns:a16="http://schemas.microsoft.com/office/drawing/2014/main" id="{C74D9545-CC92-533D-2C88-9FD48E540E9C}"/>
              </a:ext>
            </a:extLst>
          </p:cNvPr>
          <p:cNvSpPr>
            <a:spLocks noGrp="1"/>
          </p:cNvSpPr>
          <p:nvPr>
            <p:ph type="body" sz="quarter" idx="13"/>
          </p:nvPr>
        </p:nvSpPr>
        <p:spPr/>
        <p:txBody>
          <a:bodyPr/>
          <a:lstStyle/>
          <a:p>
            <a:r>
              <a:rPr lang="en-NZ" dirty="0"/>
              <a:t>03.</a:t>
            </a:r>
          </a:p>
        </p:txBody>
      </p:sp>
    </p:spTree>
    <p:extLst>
      <p:ext uri="{BB962C8B-B14F-4D97-AF65-F5344CB8AC3E}">
        <p14:creationId xmlns:p14="http://schemas.microsoft.com/office/powerpoint/2010/main" val="1806851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EBBEB-A451-5736-9154-D107EAD1FF45}"/>
              </a:ext>
            </a:extLst>
          </p:cNvPr>
          <p:cNvSpPr>
            <a:spLocks noGrp="1"/>
          </p:cNvSpPr>
          <p:nvPr>
            <p:ph type="title"/>
          </p:nvPr>
        </p:nvSpPr>
        <p:spPr/>
        <p:txBody>
          <a:bodyPr/>
          <a:lstStyle/>
          <a:p>
            <a:r>
              <a:rPr lang="en-NZ" dirty="0"/>
              <a:t>Exchange Rate</a:t>
            </a:r>
          </a:p>
        </p:txBody>
      </p:sp>
      <p:graphicFrame>
        <p:nvGraphicFramePr>
          <p:cNvPr id="5" name="Content Placeholder 4">
            <a:extLst>
              <a:ext uri="{FF2B5EF4-FFF2-40B4-BE49-F238E27FC236}">
                <a16:creationId xmlns:a16="http://schemas.microsoft.com/office/drawing/2014/main" id="{4911E189-D7D7-90D4-C6E6-8BC1A887C0D8}"/>
              </a:ext>
            </a:extLst>
          </p:cNvPr>
          <p:cNvGraphicFramePr>
            <a:graphicFrameLocks noGrp="1"/>
          </p:cNvGraphicFramePr>
          <p:nvPr>
            <p:ph sz="quarter" idx="13"/>
            <p:extLst>
              <p:ext uri="{D42A27DB-BD31-4B8C-83A1-F6EECF244321}">
                <p14:modId xmlns:p14="http://schemas.microsoft.com/office/powerpoint/2010/main" val="1238055386"/>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CEBD62B5-D771-DC80-D542-DE0E77F923B5}"/>
              </a:ext>
            </a:extLst>
          </p:cNvPr>
          <p:cNvSpPr>
            <a:spLocks noGrp="1"/>
          </p:cNvSpPr>
          <p:nvPr>
            <p:ph type="body" sz="quarter" idx="14"/>
          </p:nvPr>
        </p:nvSpPr>
        <p:spPr/>
        <p:txBody>
          <a:bodyPr/>
          <a:lstStyle/>
          <a:p>
            <a:r>
              <a:rPr lang="en-NZ" dirty="0"/>
              <a:t>The price of foreign currency in terms of buying one unit of foreign currency*</a:t>
            </a:r>
          </a:p>
          <a:p>
            <a:endParaRPr lang="en-NZ" dirty="0"/>
          </a:p>
          <a:p>
            <a:r>
              <a:rPr lang="en-NZ" dirty="0"/>
              <a:t>Unless you’re in NZ where it is quoted the </a:t>
            </a:r>
            <a:r>
              <a:rPr lang="en-NZ"/>
              <a:t>wrong way!</a:t>
            </a:r>
            <a:endParaRPr lang="en-NZ" dirty="0"/>
          </a:p>
        </p:txBody>
      </p:sp>
    </p:spTree>
    <p:extLst>
      <p:ext uri="{BB962C8B-B14F-4D97-AF65-F5344CB8AC3E}">
        <p14:creationId xmlns:p14="http://schemas.microsoft.com/office/powerpoint/2010/main" val="1178947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vert="horz" lIns="91440" tIns="45720" rIns="91440" bIns="45720" rtlCol="0" anchor="ctr">
            <a:normAutofit/>
          </a:bodyPr>
          <a:lstStyle/>
          <a:p>
            <a:r>
              <a:rPr lang="en-GB" sz="4600"/>
              <a:t>Exchange rate</a:t>
            </a:r>
          </a:p>
        </p:txBody>
      </p:sp>
      <p:graphicFrame>
        <p:nvGraphicFramePr>
          <p:cNvPr id="4" name="Diagram 3">
            <a:extLst>
              <a:ext uri="{FF2B5EF4-FFF2-40B4-BE49-F238E27FC236}">
                <a16:creationId xmlns:a16="http://schemas.microsoft.com/office/drawing/2014/main" id="{B12EB65C-3FD2-D17C-343D-01A9ED0BA724}"/>
              </a:ext>
            </a:extLst>
          </p:cNvPr>
          <p:cNvGraphicFramePr/>
          <p:nvPr>
            <p:extLst>
              <p:ext uri="{D42A27DB-BD31-4B8C-83A1-F6EECF244321}">
                <p14:modId xmlns:p14="http://schemas.microsoft.com/office/powerpoint/2010/main" val="3453186744"/>
              </p:ext>
            </p:extLst>
          </p:nvPr>
        </p:nvGraphicFramePr>
        <p:xfrm>
          <a:off x="3946525" y="604838"/>
          <a:ext cx="7175500" cy="4981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3">
            <a:extLst>
              <a:ext uri="{FF2B5EF4-FFF2-40B4-BE49-F238E27FC236}">
                <a16:creationId xmlns:a16="http://schemas.microsoft.com/office/drawing/2014/main" id="{5EBB4479-EAA2-B1E9-E977-935E45048899}"/>
              </a:ext>
            </a:extLst>
          </p:cNvPr>
          <p:cNvSpPr>
            <a:spLocks noGrp="1"/>
          </p:cNvSpPr>
          <p:nvPr>
            <p:ph type="body" sz="quarter" idx="14"/>
          </p:nvPr>
        </p:nvSpPr>
        <p:spPr>
          <a:xfrm>
            <a:off x="725488" y="2157413"/>
            <a:ext cx="2855912" cy="3429000"/>
          </a:xfrm>
        </p:spPr>
        <p:txBody>
          <a:bodyPr/>
          <a:lstStyle/>
          <a:p>
            <a:r>
              <a:rPr lang="en-US" dirty="0"/>
              <a:t>Interest rates affect exchange rates.</a:t>
            </a:r>
          </a:p>
          <a:p>
            <a:r>
              <a:rPr lang="en-US" dirty="0"/>
              <a:t>Exchange rates affect exports and imports.</a:t>
            </a:r>
          </a:p>
        </p:txBody>
      </p:sp>
    </p:spTree>
    <p:extLst>
      <p:ext uri="{BB962C8B-B14F-4D97-AF65-F5344CB8AC3E}">
        <p14:creationId xmlns:p14="http://schemas.microsoft.com/office/powerpoint/2010/main" val="17440692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078" y="604440"/>
            <a:ext cx="2856321" cy="1373447"/>
          </a:xfrm>
        </p:spPr>
        <p:txBody>
          <a:bodyPr vert="horz" lIns="91440" tIns="45720" rIns="91440" bIns="45720" rtlCol="0" anchor="ctr">
            <a:normAutofit/>
          </a:bodyPr>
          <a:lstStyle/>
          <a:p>
            <a:r>
              <a:rPr lang="en-GB" sz="3100"/>
              <a:t>Exchange rate transmission mechanism</a:t>
            </a:r>
          </a:p>
        </p:txBody>
      </p:sp>
      <p:sp>
        <p:nvSpPr>
          <p:cNvPr id="3" name="TextBox 2"/>
          <p:cNvSpPr txBox="1"/>
          <p:nvPr/>
        </p:nvSpPr>
        <p:spPr>
          <a:xfrm>
            <a:off x="3946525" y="604838"/>
            <a:ext cx="7175500" cy="4981575"/>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Consider the case of a boom in the New Zealand economy (which creates inflationary pressures): </a:t>
            </a:r>
          </a:p>
          <a:p>
            <a:pPr marL="457200"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RBNZ increases the OCR</a:t>
            </a:r>
          </a:p>
          <a:p>
            <a:pPr marL="457200"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NZ financial assets become more attractive to international investors</a:t>
            </a:r>
          </a:p>
          <a:p>
            <a:pPr marL="457200"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Demand for NZD rises (as there is greater demand for NZ financial assets)</a:t>
            </a:r>
          </a:p>
          <a:p>
            <a:pPr marL="457200"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Value (price) of NZD increases – an </a:t>
            </a:r>
            <a:r>
              <a:rPr lang="en-US" sz="2400" b="1" dirty="0">
                <a:solidFill>
                  <a:schemeClr val="tx1">
                    <a:lumMod val="75000"/>
                  </a:schemeClr>
                </a:solidFill>
              </a:rPr>
              <a:t>appreciation</a:t>
            </a:r>
            <a:r>
              <a:rPr lang="en-US" sz="2400" dirty="0">
                <a:solidFill>
                  <a:schemeClr val="tx1">
                    <a:lumMod val="75000"/>
                  </a:schemeClr>
                </a:solidFill>
              </a:rPr>
              <a:t> of the NZD</a:t>
            </a:r>
          </a:p>
          <a:p>
            <a:pPr marL="457200"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Reduces demand for NZ exports (from overseas) and increases demand for imports (by </a:t>
            </a:r>
            <a:r>
              <a:rPr lang="en-US" sz="2400" dirty="0" err="1">
                <a:solidFill>
                  <a:schemeClr val="tx1">
                    <a:lumMod val="75000"/>
                  </a:schemeClr>
                </a:solidFill>
              </a:rPr>
              <a:t>NZers</a:t>
            </a:r>
            <a:r>
              <a:rPr lang="en-US" sz="2400" dirty="0">
                <a:solidFill>
                  <a:schemeClr val="tx1">
                    <a:lumMod val="75000"/>
                  </a:schemeClr>
                </a:solidFill>
              </a:rPr>
              <a:t>)</a:t>
            </a:r>
          </a:p>
          <a:p>
            <a:pPr marL="457200" indent="-228600">
              <a:lnSpc>
                <a:spcPct val="90000"/>
              </a:lnSpc>
              <a:spcAft>
                <a:spcPts val="600"/>
              </a:spcAft>
              <a:buFont typeface="Arial" panose="020B0604020202020204" pitchFamily="34" charset="0"/>
              <a:buChar char="•"/>
              <a:tabLst>
                <a:tab pos="1885950" algn="l"/>
              </a:tabLst>
            </a:pPr>
            <a:r>
              <a:rPr lang="en-US" sz="2400" dirty="0">
                <a:solidFill>
                  <a:schemeClr val="tx1">
                    <a:lumMod val="75000"/>
                  </a:schemeClr>
                </a:solidFill>
              </a:rPr>
              <a:t>AD falls!</a:t>
            </a:r>
          </a:p>
        </p:txBody>
      </p:sp>
      <p:sp>
        <p:nvSpPr>
          <p:cNvPr id="8" name="Text Placeholder 3">
            <a:extLst>
              <a:ext uri="{FF2B5EF4-FFF2-40B4-BE49-F238E27FC236}">
                <a16:creationId xmlns:a16="http://schemas.microsoft.com/office/drawing/2014/main" id="{FAA10CE3-2218-50CF-FC22-6B4285BBBC66}"/>
              </a:ext>
            </a:extLst>
          </p:cNvPr>
          <p:cNvSpPr>
            <a:spLocks noGrp="1"/>
          </p:cNvSpPr>
          <p:nvPr>
            <p:ph type="body" sz="quarter" idx="14"/>
          </p:nvPr>
        </p:nvSpPr>
        <p:spPr>
          <a:xfrm>
            <a:off x="725488" y="2157413"/>
            <a:ext cx="2855912" cy="3429000"/>
          </a:xfrm>
        </p:spPr>
        <p:txBody>
          <a:bodyPr/>
          <a:lstStyle/>
          <a:p>
            <a:r>
              <a:rPr lang="en-US" dirty="0"/>
              <a:t>Monetary policy is more effective in an open economy.</a:t>
            </a:r>
          </a:p>
          <a:p>
            <a:r>
              <a:rPr lang="en-US" dirty="0"/>
              <a:t>Increases in interest rates reduce investment and exports.</a:t>
            </a:r>
          </a:p>
          <a:p>
            <a:r>
              <a:rPr lang="en-US" dirty="0"/>
              <a:t>Decreases in interest rates increase investment and exports. </a:t>
            </a:r>
          </a:p>
        </p:txBody>
      </p:sp>
    </p:spTree>
    <p:extLst>
      <p:ext uri="{BB962C8B-B14F-4D97-AF65-F5344CB8AC3E}">
        <p14:creationId xmlns:p14="http://schemas.microsoft.com/office/powerpoint/2010/main" val="276478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light minimalist">
      <a:dk1>
        <a:srgbClr val="353638"/>
      </a:dk1>
      <a:lt1>
        <a:srgbClr val="EFEFEF"/>
      </a:lt1>
      <a:dk2>
        <a:srgbClr val="656A56"/>
      </a:dk2>
      <a:lt2>
        <a:srgbClr val="D7DAE1"/>
      </a:lt2>
      <a:accent1>
        <a:srgbClr val="737E84"/>
      </a:accent1>
      <a:accent2>
        <a:srgbClr val="353638"/>
      </a:accent2>
      <a:accent3>
        <a:srgbClr val="BBBCB7"/>
      </a:accent3>
      <a:accent4>
        <a:srgbClr val="D7DAE1"/>
      </a:accent4>
      <a:accent5>
        <a:srgbClr val="748189"/>
      </a:accent5>
      <a:accent6>
        <a:srgbClr val="353638"/>
      </a:accent6>
      <a:hlink>
        <a:srgbClr val="EFEFEF"/>
      </a:hlink>
      <a:folHlink>
        <a:srgbClr val="656A56"/>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15113 Lecture 11 Game Theory" id="{6A3A2FF9-C1F2-4C6B-81AA-36D5BAC0ECEB}" vid="{C2B1A1D8-4DC2-49F2-B7FA-19257A7DC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1149</TotalTime>
  <Words>1622</Words>
  <Application>Microsoft Macintosh PowerPoint</Application>
  <PresentationFormat>Widescreen</PresentationFormat>
  <Paragraphs>204</Paragraphs>
  <Slides>48</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Cambria Math</vt:lpstr>
      <vt:lpstr>Playfair Display</vt:lpstr>
      <vt:lpstr>Rockwell</vt:lpstr>
      <vt:lpstr>Tw Cen MT</vt:lpstr>
      <vt:lpstr>Office Theme</vt:lpstr>
      <vt:lpstr>115.113 Lecture 4</vt:lpstr>
      <vt:lpstr>Recap</vt:lpstr>
      <vt:lpstr>Recap</vt:lpstr>
      <vt:lpstr>Increasing G</vt:lpstr>
      <vt:lpstr>Multiplier</vt:lpstr>
      <vt:lpstr>Quiz 1</vt:lpstr>
      <vt:lpstr>Question 1</vt:lpstr>
      <vt:lpstr>Question 2</vt:lpstr>
      <vt:lpstr>Quiz 1</vt:lpstr>
      <vt:lpstr>PowerPoint Presentation</vt:lpstr>
      <vt:lpstr>PowerPoint Presentation</vt:lpstr>
      <vt:lpstr>PowerPoint Presentation</vt:lpstr>
      <vt:lpstr>Quiz 1</vt:lpstr>
      <vt:lpstr>PowerPoint Presentation</vt:lpstr>
      <vt:lpstr>Inflation</vt:lpstr>
      <vt:lpstr>An increase in the general price level in the economy. Usually measured over a year.</vt:lpstr>
      <vt:lpstr>NZ Inflation</vt:lpstr>
      <vt:lpstr>Inflation</vt:lpstr>
      <vt:lpstr>What’s wrong with inflation?</vt:lpstr>
      <vt:lpstr>Inflation: Key Concepts</vt:lpstr>
      <vt:lpstr>What’s wrong with inflation?</vt:lpstr>
      <vt:lpstr>What’s wrong with deflation?</vt:lpstr>
      <vt:lpstr>What’s wrong with deflation?</vt:lpstr>
      <vt:lpstr>The Phillips Curve</vt:lpstr>
      <vt:lpstr>Bill Phillips</vt:lpstr>
      <vt:lpstr>Inflation and employment</vt:lpstr>
      <vt:lpstr>Inflation and employment</vt:lpstr>
      <vt:lpstr>The nominal wage (W) adjusted to take into account changes in prices between different periods.</vt:lpstr>
      <vt:lpstr>Wage Setting</vt:lpstr>
      <vt:lpstr>Inflation and aggregate demand</vt:lpstr>
      <vt:lpstr>Inflation and aggregate demand</vt:lpstr>
      <vt:lpstr>This occurs if an initial increase in wages in the economy is followed by an increase in the price level, which is followed by an increase in wages and so on. </vt:lpstr>
      <vt:lpstr>The Phillips Curve Over Time</vt:lpstr>
      <vt:lpstr>Monetary Policy</vt:lpstr>
      <vt:lpstr>Monetary policy in New Zealand</vt:lpstr>
      <vt:lpstr>Monetary policy in new zealand</vt:lpstr>
      <vt:lpstr>The OCR over time</vt:lpstr>
      <vt:lpstr>Transmission mechanisms</vt:lpstr>
      <vt:lpstr>Market interest rates</vt:lpstr>
      <vt:lpstr>Asset prices</vt:lpstr>
      <vt:lpstr>Profit expectations</vt:lpstr>
      <vt:lpstr>Monetary policy in the multiplier model</vt:lpstr>
      <vt:lpstr>Monetary Policy: Limitations</vt:lpstr>
      <vt:lpstr>Monetary Policy: Limitations</vt:lpstr>
      <vt:lpstr>The Open Economy</vt:lpstr>
      <vt:lpstr>Exchange Rate</vt:lpstr>
      <vt:lpstr>Exchange rate</vt:lpstr>
      <vt:lpstr>Exchange rate transmission mechanism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115.113 Lecture 11</dc:title>
  <dc:creator>Brendan Moyle</dc:creator>
  <cp:lastModifiedBy>Brendan Moyle</cp:lastModifiedBy>
  <cp:revision>18</cp:revision>
  <dcterms:created xsi:type="dcterms:W3CDTF">2021-09-30T01:10:51Z</dcterms:created>
  <dcterms:modified xsi:type="dcterms:W3CDTF">2025-07-31T03:17:58Z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9e4d68-54d0-40a5-8c9a-85a36c87352c_Enabled">
    <vt:lpwstr>true</vt:lpwstr>
  </property>
  <property fmtid="{D5CDD505-2E9C-101B-9397-08002B2CF9AE}" pid="3" name="MSIP_Label_bd9e4d68-54d0-40a5-8c9a-85a36c87352c_SetDate">
    <vt:lpwstr>2022-01-25T01:36:49Z</vt:lpwstr>
  </property>
  <property fmtid="{D5CDD505-2E9C-101B-9397-08002B2CF9AE}" pid="4" name="MSIP_Label_bd9e4d68-54d0-40a5-8c9a-85a36c87352c_Method">
    <vt:lpwstr>Privileged</vt:lpwstr>
  </property>
  <property fmtid="{D5CDD505-2E9C-101B-9397-08002B2CF9AE}" pid="5" name="MSIP_Label_bd9e4d68-54d0-40a5-8c9a-85a36c87352c_Name">
    <vt:lpwstr>Unclassified</vt:lpwstr>
  </property>
  <property fmtid="{D5CDD505-2E9C-101B-9397-08002B2CF9AE}" pid="6" name="MSIP_Label_bd9e4d68-54d0-40a5-8c9a-85a36c87352c_SiteId">
    <vt:lpwstr>388728e1-bbd0-4378-98dc-f8682e644300</vt:lpwstr>
  </property>
  <property fmtid="{D5CDD505-2E9C-101B-9397-08002B2CF9AE}" pid="7" name="MSIP_Label_bd9e4d68-54d0-40a5-8c9a-85a36c87352c_ActionId">
    <vt:lpwstr>33b0c11e-6a5a-4ae7-a410-e7add87a2217</vt:lpwstr>
  </property>
  <property fmtid="{D5CDD505-2E9C-101B-9397-08002B2CF9AE}" pid="8" name="MSIP_Label_bd9e4d68-54d0-40a5-8c9a-85a36c87352c_ContentBits">
    <vt:lpwstr>0</vt:lpwstr>
  </property>
</Properties>
</file>