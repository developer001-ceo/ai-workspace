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9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10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1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2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3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4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5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6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7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8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9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20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1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2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3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4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5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6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7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8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9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30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1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2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3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4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5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6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7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8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9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40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1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2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3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4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5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6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7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8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9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50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6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257" r:id="rId2"/>
    <p:sldId id="351" r:id="rId3"/>
    <p:sldId id="259" r:id="rId4"/>
    <p:sldId id="359" r:id="rId5"/>
    <p:sldId id="265" r:id="rId6"/>
    <p:sldId id="261" r:id="rId7"/>
    <p:sldId id="360" r:id="rId8"/>
    <p:sldId id="262" r:id="rId9"/>
    <p:sldId id="361" r:id="rId10"/>
    <p:sldId id="263" r:id="rId11"/>
    <p:sldId id="362" r:id="rId12"/>
    <p:sldId id="363" r:id="rId13"/>
    <p:sldId id="364" r:id="rId14"/>
    <p:sldId id="365" r:id="rId15"/>
    <p:sldId id="356" r:id="rId16"/>
    <p:sldId id="380" r:id="rId17"/>
    <p:sldId id="381" r:id="rId18"/>
    <p:sldId id="264" r:id="rId19"/>
    <p:sldId id="354" r:id="rId20"/>
    <p:sldId id="267" r:id="rId21"/>
    <p:sldId id="366" r:id="rId22"/>
    <p:sldId id="268" r:id="rId23"/>
    <p:sldId id="269" r:id="rId24"/>
    <p:sldId id="270" r:id="rId25"/>
    <p:sldId id="367" r:id="rId26"/>
    <p:sldId id="368" r:id="rId27"/>
    <p:sldId id="271" r:id="rId28"/>
    <p:sldId id="272" r:id="rId29"/>
    <p:sldId id="273" r:id="rId30"/>
    <p:sldId id="372" r:id="rId31"/>
    <p:sldId id="373" r:id="rId32"/>
    <p:sldId id="374" r:id="rId33"/>
    <p:sldId id="275" r:id="rId34"/>
    <p:sldId id="274" r:id="rId35"/>
    <p:sldId id="377" r:id="rId36"/>
    <p:sldId id="352" r:id="rId37"/>
    <p:sldId id="375" r:id="rId38"/>
    <p:sldId id="277" r:id="rId39"/>
    <p:sldId id="286" r:id="rId40"/>
    <p:sldId id="378" r:id="rId41"/>
    <p:sldId id="369" r:id="rId42"/>
    <p:sldId id="278" r:id="rId43"/>
    <p:sldId id="379" r:id="rId44"/>
    <p:sldId id="279" r:id="rId45"/>
    <p:sldId id="353" r:id="rId46"/>
    <p:sldId id="370" r:id="rId47"/>
    <p:sldId id="281" r:id="rId48"/>
    <p:sldId id="371" r:id="rId49"/>
    <p:sldId id="282" r:id="rId50"/>
    <p:sldId id="382" r:id="rId51"/>
    <p:sldId id="383" r:id="rId52"/>
    <p:sldId id="260" r:id="rId53"/>
    <p:sldId id="283" r:id="rId54"/>
    <p:sldId id="376" r:id="rId55"/>
    <p:sldId id="284" r:id="rId56"/>
    <p:sldId id="285" r:id="rId57"/>
    <p:sldId id="355" r:id="rId58"/>
    <p:sldId id="358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53638"/>
    <a:srgbClr val="636852"/>
    <a:srgbClr val="EFEFEF"/>
    <a:srgbClr val="76838B"/>
    <a:srgbClr val="656A56"/>
    <a:srgbClr val="FBE0CF"/>
    <a:srgbClr val="F9EDD7"/>
    <a:srgbClr val="EABB40"/>
    <a:srgbClr val="DE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9EA0D-D677-4904-AB8C-52265B33616C}" v="10" dt="2023-08-13T21:36:37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6416" autoAdjust="0"/>
  </p:normalViewPr>
  <p:slideViewPr>
    <p:cSldViewPr snapToGrid="0">
      <p:cViewPr varScale="1">
        <p:scale>
          <a:sx n="91" d="100"/>
          <a:sy n="91" d="100"/>
        </p:scale>
        <p:origin x="49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95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oyle" userId="9db00287-5c56-4665-94af-5607db0aa80e" providerId="ADAL" clId="{0E79EA0D-D677-4904-AB8C-52265B33616C}"/>
    <pc:docChg chg="delSld modSld">
      <pc:chgData name="Brendan Moyle" userId="9db00287-5c56-4665-94af-5607db0aa80e" providerId="ADAL" clId="{0E79EA0D-D677-4904-AB8C-52265B33616C}" dt="2023-08-13T21:40:32.984" v="40" actId="20577"/>
      <pc:docMkLst>
        <pc:docMk/>
      </pc:docMkLst>
      <pc:sldChg chg="modSp">
        <pc:chgData name="Brendan Moyle" userId="9db00287-5c56-4665-94af-5607db0aa80e" providerId="ADAL" clId="{0E79EA0D-D677-4904-AB8C-52265B33616C}" dt="2023-08-13T21:36:37.765" v="10" actId="20577"/>
        <pc:sldMkLst>
          <pc:docMk/>
          <pc:sldMk cId="3581156654" sldId="356"/>
        </pc:sldMkLst>
        <pc:graphicFrameChg chg="mod">
          <ac:chgData name="Brendan Moyle" userId="9db00287-5c56-4665-94af-5607db0aa80e" providerId="ADAL" clId="{0E79EA0D-D677-4904-AB8C-52265B33616C}" dt="2023-08-13T21:36:37.765" v="10" actId="20577"/>
          <ac:graphicFrameMkLst>
            <pc:docMk/>
            <pc:sldMk cId="3581156654" sldId="356"/>
            <ac:graphicFrameMk id="5" creationId="{FD954B2F-9CE6-CD38-1184-B09B025BCD12}"/>
          </ac:graphicFrameMkLst>
        </pc:graphicFrameChg>
      </pc:sldChg>
      <pc:sldChg chg="del">
        <pc:chgData name="Brendan Moyle" userId="9db00287-5c56-4665-94af-5607db0aa80e" providerId="ADAL" clId="{0E79EA0D-D677-4904-AB8C-52265B33616C}" dt="2023-08-13T21:35:42.295" v="0" actId="47"/>
        <pc:sldMkLst>
          <pc:docMk/>
          <pc:sldMk cId="332720173" sldId="357"/>
        </pc:sldMkLst>
      </pc:sldChg>
      <pc:sldChg chg="modSp mod">
        <pc:chgData name="Brendan Moyle" userId="9db00287-5c56-4665-94af-5607db0aa80e" providerId="ADAL" clId="{0E79EA0D-D677-4904-AB8C-52265B33616C}" dt="2023-08-13T21:37:18.457" v="17" actId="20577"/>
        <pc:sldMkLst>
          <pc:docMk/>
          <pc:sldMk cId="3846047949" sldId="380"/>
        </pc:sldMkLst>
        <pc:spChg chg="mod">
          <ac:chgData name="Brendan Moyle" userId="9db00287-5c56-4665-94af-5607db0aa80e" providerId="ADAL" clId="{0E79EA0D-D677-4904-AB8C-52265B33616C}" dt="2023-08-13T21:37:18.457" v="17" actId="20577"/>
          <ac:spMkLst>
            <pc:docMk/>
            <pc:sldMk cId="3846047949" sldId="380"/>
            <ac:spMk id="5" creationId="{306F147A-E722-964C-FEEC-8AB3E54CA8AE}"/>
          </ac:spMkLst>
        </pc:spChg>
      </pc:sldChg>
      <pc:sldChg chg="modSp mod">
        <pc:chgData name="Brendan Moyle" userId="9db00287-5c56-4665-94af-5607db0aa80e" providerId="ADAL" clId="{0E79EA0D-D677-4904-AB8C-52265B33616C}" dt="2023-08-13T21:37:25.429" v="24" actId="20577"/>
        <pc:sldMkLst>
          <pc:docMk/>
          <pc:sldMk cId="850902227" sldId="381"/>
        </pc:sldMkLst>
        <pc:spChg chg="mod">
          <ac:chgData name="Brendan Moyle" userId="9db00287-5c56-4665-94af-5607db0aa80e" providerId="ADAL" clId="{0E79EA0D-D677-4904-AB8C-52265B33616C}" dt="2023-08-13T21:37:25.429" v="24" actId="20577"/>
          <ac:spMkLst>
            <pc:docMk/>
            <pc:sldMk cId="850902227" sldId="381"/>
            <ac:spMk id="5" creationId="{306F147A-E722-964C-FEEC-8AB3E54CA8AE}"/>
          </ac:spMkLst>
        </pc:spChg>
      </pc:sldChg>
      <pc:sldChg chg="modSp mod">
        <pc:chgData name="Brendan Moyle" userId="9db00287-5c56-4665-94af-5607db0aa80e" providerId="ADAL" clId="{0E79EA0D-D677-4904-AB8C-52265B33616C}" dt="2023-08-13T21:40:20.241" v="33" actId="20577"/>
        <pc:sldMkLst>
          <pc:docMk/>
          <pc:sldMk cId="3628992867" sldId="382"/>
        </pc:sldMkLst>
        <pc:spChg chg="mod">
          <ac:chgData name="Brendan Moyle" userId="9db00287-5c56-4665-94af-5607db0aa80e" providerId="ADAL" clId="{0E79EA0D-D677-4904-AB8C-52265B33616C}" dt="2023-08-13T21:40:20.241" v="33" actId="20577"/>
          <ac:spMkLst>
            <pc:docMk/>
            <pc:sldMk cId="3628992867" sldId="382"/>
            <ac:spMk id="4" creationId="{D471A927-48CD-CA46-207A-601E537A744D}"/>
          </ac:spMkLst>
        </pc:spChg>
      </pc:sldChg>
      <pc:sldChg chg="modSp mod">
        <pc:chgData name="Brendan Moyle" userId="9db00287-5c56-4665-94af-5607db0aa80e" providerId="ADAL" clId="{0E79EA0D-D677-4904-AB8C-52265B33616C}" dt="2023-08-13T21:40:32.984" v="40" actId="20577"/>
        <pc:sldMkLst>
          <pc:docMk/>
          <pc:sldMk cId="2902721891" sldId="383"/>
        </pc:sldMkLst>
        <pc:spChg chg="mod">
          <ac:chgData name="Brendan Moyle" userId="9db00287-5c56-4665-94af-5607db0aa80e" providerId="ADAL" clId="{0E79EA0D-D677-4904-AB8C-52265B33616C}" dt="2023-08-13T21:40:32.984" v="40" actId="20577"/>
          <ac:spMkLst>
            <pc:docMk/>
            <pc:sldMk cId="2902721891" sldId="383"/>
            <ac:spMk id="4" creationId="{D471A927-48CD-CA46-207A-601E537A744D}"/>
          </ac:spMkLst>
        </pc:spChg>
      </pc:sldChg>
    </pc:docChg>
  </pc:docChgLst>
</pc:chgInfo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CD0FD9-BBD9-43EE-96C8-0DDC08D4AB0E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C341FCF-DA1A-4280-A1DC-A036D4AA98D5}">
      <dgm:prSet/>
      <dgm:spPr/>
      <dgm:t>
        <a:bodyPr/>
        <a:lstStyle/>
        <a:p>
          <a:r>
            <a:rPr lang="en-NZ" dirty="0"/>
            <a:t>Governments and Central Banks are usually able to stabilise economic shocks.</a:t>
          </a:r>
          <a:endParaRPr lang="en-US" dirty="0"/>
        </a:p>
      </dgm:t>
    </dgm:pt>
    <dgm:pt modelId="{D8F2C98E-D27A-4BF4-A39B-2F5C36E594CB}" type="parTrans" cxnId="{3BA52D45-4A3A-46CA-A7F5-AF584181AFFE}">
      <dgm:prSet/>
      <dgm:spPr/>
      <dgm:t>
        <a:bodyPr/>
        <a:lstStyle/>
        <a:p>
          <a:endParaRPr lang="en-US"/>
        </a:p>
      </dgm:t>
    </dgm:pt>
    <dgm:pt modelId="{389A36E4-7A05-42DC-B7C5-A1E4480BCB9D}" type="sibTrans" cxnId="{3BA52D45-4A3A-46CA-A7F5-AF584181AFFE}">
      <dgm:prSet/>
      <dgm:spPr/>
      <dgm:t>
        <a:bodyPr/>
        <a:lstStyle/>
        <a:p>
          <a:endParaRPr lang="en-US"/>
        </a:p>
      </dgm:t>
    </dgm:pt>
    <dgm:pt modelId="{8E40B29D-F53D-401D-BC40-6E4D6DF2D9FA}">
      <dgm:prSet/>
      <dgm:spPr/>
      <dgm:t>
        <a:bodyPr/>
        <a:lstStyle/>
        <a:p>
          <a:r>
            <a:rPr lang="en-NZ" dirty="0"/>
            <a:t>E.g. The Christchurch Earthquake (2011) led to a large loss of life and economic damage. </a:t>
          </a:r>
          <a:endParaRPr lang="en-US" dirty="0"/>
        </a:p>
      </dgm:t>
    </dgm:pt>
    <dgm:pt modelId="{AB1DDDE8-8617-4ECC-8388-C8C97183CEB1}" type="parTrans" cxnId="{F3097182-5DE8-46C4-9F43-85B67667C03C}">
      <dgm:prSet/>
      <dgm:spPr/>
      <dgm:t>
        <a:bodyPr/>
        <a:lstStyle/>
        <a:p>
          <a:endParaRPr lang="en-US"/>
        </a:p>
      </dgm:t>
    </dgm:pt>
    <dgm:pt modelId="{68B7D3E7-45E4-4E3F-87AB-FC1A34D79671}" type="sibTrans" cxnId="{F3097182-5DE8-46C4-9F43-85B67667C03C}">
      <dgm:prSet/>
      <dgm:spPr/>
      <dgm:t>
        <a:bodyPr/>
        <a:lstStyle/>
        <a:p>
          <a:endParaRPr lang="en-US"/>
        </a:p>
      </dgm:t>
    </dgm:pt>
    <dgm:pt modelId="{2A6292FD-43F2-4929-A11F-1773D72804C9}">
      <dgm:prSet/>
      <dgm:spPr/>
      <dgm:t>
        <a:bodyPr/>
        <a:lstStyle/>
        <a:p>
          <a:r>
            <a:rPr lang="en-NZ"/>
            <a:t>Sometimes shocks create crises at regional (e.g. Asian Financial Crisis) and Global levels (e.g. Global Financial Crisis or GFC).</a:t>
          </a:r>
          <a:endParaRPr lang="en-US"/>
        </a:p>
      </dgm:t>
    </dgm:pt>
    <dgm:pt modelId="{F941AFE9-A7F4-43E5-9F28-3B6F5EBA2CBA}" type="parTrans" cxnId="{B3203A75-D580-452F-AC62-B7F82B2A4DF1}">
      <dgm:prSet/>
      <dgm:spPr/>
      <dgm:t>
        <a:bodyPr/>
        <a:lstStyle/>
        <a:p>
          <a:endParaRPr lang="en-US"/>
        </a:p>
      </dgm:t>
    </dgm:pt>
    <dgm:pt modelId="{08EB64E0-2312-4A1C-B999-623C2CAD7A0B}" type="sibTrans" cxnId="{B3203A75-D580-452F-AC62-B7F82B2A4DF1}">
      <dgm:prSet/>
      <dgm:spPr/>
      <dgm:t>
        <a:bodyPr/>
        <a:lstStyle/>
        <a:p>
          <a:endParaRPr lang="en-US"/>
        </a:p>
      </dgm:t>
    </dgm:pt>
    <dgm:pt modelId="{F9D32DA4-6E6C-473F-BAD1-1E07435686E1}">
      <dgm:prSet/>
      <dgm:spPr/>
      <dgm:t>
        <a:bodyPr/>
        <a:lstStyle/>
        <a:p>
          <a:r>
            <a:rPr lang="en-NZ"/>
            <a:t>These shocks are much harder to stabilise. </a:t>
          </a:r>
          <a:endParaRPr lang="en-US"/>
        </a:p>
      </dgm:t>
    </dgm:pt>
    <dgm:pt modelId="{F2718566-8189-4828-889C-D245BDAB846B}" type="parTrans" cxnId="{8680F37F-6F91-4798-AEA0-06BF6BA56091}">
      <dgm:prSet/>
      <dgm:spPr/>
      <dgm:t>
        <a:bodyPr/>
        <a:lstStyle/>
        <a:p>
          <a:endParaRPr lang="en-US"/>
        </a:p>
      </dgm:t>
    </dgm:pt>
    <dgm:pt modelId="{A0DE8360-3EC7-4EEB-B4EF-3BB6DA161B23}" type="sibTrans" cxnId="{8680F37F-6F91-4798-AEA0-06BF6BA56091}">
      <dgm:prSet/>
      <dgm:spPr/>
      <dgm:t>
        <a:bodyPr/>
        <a:lstStyle/>
        <a:p>
          <a:endParaRPr lang="en-US"/>
        </a:p>
      </dgm:t>
    </dgm:pt>
    <dgm:pt modelId="{72DDD6AB-C2D1-42BB-AF8E-353F841F8BBE}">
      <dgm:prSet/>
      <dgm:spPr/>
      <dgm:t>
        <a:bodyPr/>
        <a:lstStyle/>
        <a:p>
          <a:r>
            <a:rPr lang="en-NZ" dirty="0"/>
            <a:t>The NZ Government and Reserve Bank responses prevented a deep or lengthy contraction.</a:t>
          </a:r>
          <a:endParaRPr lang="en-US" dirty="0"/>
        </a:p>
      </dgm:t>
    </dgm:pt>
    <dgm:pt modelId="{ED928AF2-B037-4BCC-9E5D-E1C76B2594C0}" type="parTrans" cxnId="{1EFD2349-BF21-49CC-B225-2183DC001B1A}">
      <dgm:prSet/>
      <dgm:spPr/>
    </dgm:pt>
    <dgm:pt modelId="{A19E5414-8812-4EE6-A3CD-ABD964B52742}" type="sibTrans" cxnId="{1EFD2349-BF21-49CC-B225-2183DC001B1A}">
      <dgm:prSet/>
      <dgm:spPr/>
    </dgm:pt>
    <dgm:pt modelId="{9A8A74B3-FE6A-464B-AAA8-C4ADCA65EA8E}" type="pres">
      <dgm:prSet presAssocID="{ABCD0FD9-BBD9-43EE-96C8-0DDC08D4AB0E}" presName="Name0" presStyleCnt="0">
        <dgm:presLayoutVars>
          <dgm:dir/>
          <dgm:animLvl val="lvl"/>
          <dgm:resizeHandles val="exact"/>
        </dgm:presLayoutVars>
      </dgm:prSet>
      <dgm:spPr/>
    </dgm:pt>
    <dgm:pt modelId="{4C8A008F-1CAA-C044-B79A-CDE9443E19F5}" type="pres">
      <dgm:prSet presAssocID="{CC341FCF-DA1A-4280-A1DC-A036D4AA98D5}" presName="linNode" presStyleCnt="0"/>
      <dgm:spPr/>
    </dgm:pt>
    <dgm:pt modelId="{F89B71E8-E583-4645-BF76-4C404A84A180}" type="pres">
      <dgm:prSet presAssocID="{CC341FCF-DA1A-4280-A1DC-A036D4AA98D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3D49A62-1D59-2A49-9DB8-1E50D350A0C7}" type="pres">
      <dgm:prSet presAssocID="{CC341FCF-DA1A-4280-A1DC-A036D4AA98D5}" presName="descendantText" presStyleLbl="alignAccFollowNode1" presStyleIdx="0" presStyleCnt="2">
        <dgm:presLayoutVars>
          <dgm:bulletEnabled val="1"/>
        </dgm:presLayoutVars>
      </dgm:prSet>
      <dgm:spPr/>
    </dgm:pt>
    <dgm:pt modelId="{1B4EFE23-78AA-FE44-AE50-532E69C16E2C}" type="pres">
      <dgm:prSet presAssocID="{389A36E4-7A05-42DC-B7C5-A1E4480BCB9D}" presName="sp" presStyleCnt="0"/>
      <dgm:spPr/>
    </dgm:pt>
    <dgm:pt modelId="{582575A6-51D4-4645-A29E-D952ED08BCDD}" type="pres">
      <dgm:prSet presAssocID="{2A6292FD-43F2-4929-A11F-1773D72804C9}" presName="linNode" presStyleCnt="0"/>
      <dgm:spPr/>
    </dgm:pt>
    <dgm:pt modelId="{50D0F4F9-AAA6-9242-B734-FFBF1C9E5FE1}" type="pres">
      <dgm:prSet presAssocID="{2A6292FD-43F2-4929-A11F-1773D72804C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510075DE-6027-2346-A0DB-8E05931A1474}" type="pres">
      <dgm:prSet presAssocID="{2A6292FD-43F2-4929-A11F-1773D72804C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352A1731-95B7-2D43-B4F2-8EBB763CE8A4}" type="presOf" srcId="{F9D32DA4-6E6C-473F-BAD1-1E07435686E1}" destId="{510075DE-6027-2346-A0DB-8E05931A1474}" srcOrd="0" destOrd="0" presId="urn:microsoft.com/office/officeart/2005/8/layout/vList5"/>
    <dgm:cxn modelId="{3BA52D45-4A3A-46CA-A7F5-AF584181AFFE}" srcId="{ABCD0FD9-BBD9-43EE-96C8-0DDC08D4AB0E}" destId="{CC341FCF-DA1A-4280-A1DC-A036D4AA98D5}" srcOrd="0" destOrd="0" parTransId="{D8F2C98E-D27A-4BF4-A39B-2F5C36E594CB}" sibTransId="{389A36E4-7A05-42DC-B7C5-A1E4480BCB9D}"/>
    <dgm:cxn modelId="{1EFD2349-BF21-49CC-B225-2183DC001B1A}" srcId="{CC341FCF-DA1A-4280-A1DC-A036D4AA98D5}" destId="{72DDD6AB-C2D1-42BB-AF8E-353F841F8BBE}" srcOrd="1" destOrd="0" parTransId="{ED928AF2-B037-4BCC-9E5D-E1C76B2594C0}" sibTransId="{A19E5414-8812-4EE6-A3CD-ABD964B52742}"/>
    <dgm:cxn modelId="{B3203A75-D580-452F-AC62-B7F82B2A4DF1}" srcId="{ABCD0FD9-BBD9-43EE-96C8-0DDC08D4AB0E}" destId="{2A6292FD-43F2-4929-A11F-1773D72804C9}" srcOrd="1" destOrd="0" parTransId="{F941AFE9-A7F4-43E5-9F28-3B6F5EBA2CBA}" sibTransId="{08EB64E0-2312-4A1C-B999-623C2CAD7A0B}"/>
    <dgm:cxn modelId="{8680F37F-6F91-4798-AEA0-06BF6BA56091}" srcId="{2A6292FD-43F2-4929-A11F-1773D72804C9}" destId="{F9D32DA4-6E6C-473F-BAD1-1E07435686E1}" srcOrd="0" destOrd="0" parTransId="{F2718566-8189-4828-889C-D245BDAB846B}" sibTransId="{A0DE8360-3EC7-4EEB-B4EF-3BB6DA161B23}"/>
    <dgm:cxn modelId="{F3097182-5DE8-46C4-9F43-85B67667C03C}" srcId="{CC341FCF-DA1A-4280-A1DC-A036D4AA98D5}" destId="{8E40B29D-F53D-401D-BC40-6E4D6DF2D9FA}" srcOrd="0" destOrd="0" parTransId="{AB1DDDE8-8617-4ECC-8388-C8C97183CEB1}" sibTransId="{68B7D3E7-45E4-4E3F-87AB-FC1A34D79671}"/>
    <dgm:cxn modelId="{D50286D4-04C2-7148-99C5-51ABA12F255B}" type="presOf" srcId="{2A6292FD-43F2-4929-A11F-1773D72804C9}" destId="{50D0F4F9-AAA6-9242-B734-FFBF1C9E5FE1}" srcOrd="0" destOrd="0" presId="urn:microsoft.com/office/officeart/2005/8/layout/vList5"/>
    <dgm:cxn modelId="{24DFA8D6-5D90-9547-86EA-F937E0E03A33}" type="presOf" srcId="{CC341FCF-DA1A-4280-A1DC-A036D4AA98D5}" destId="{F89B71E8-E583-4645-BF76-4C404A84A180}" srcOrd="0" destOrd="0" presId="urn:microsoft.com/office/officeart/2005/8/layout/vList5"/>
    <dgm:cxn modelId="{2DE289DD-8245-D346-81F8-6255E2D7BA24}" type="presOf" srcId="{ABCD0FD9-BBD9-43EE-96C8-0DDC08D4AB0E}" destId="{9A8A74B3-FE6A-464B-AAA8-C4ADCA65EA8E}" srcOrd="0" destOrd="0" presId="urn:microsoft.com/office/officeart/2005/8/layout/vList5"/>
    <dgm:cxn modelId="{B9376BFF-6F1C-4148-A2F4-57BFDF8F7FA8}" type="presOf" srcId="{72DDD6AB-C2D1-42BB-AF8E-353F841F8BBE}" destId="{C3D49A62-1D59-2A49-9DB8-1E50D350A0C7}" srcOrd="0" destOrd="1" presId="urn:microsoft.com/office/officeart/2005/8/layout/vList5"/>
    <dgm:cxn modelId="{5C089EFF-8D05-7140-851F-A6CD614561EB}" type="presOf" srcId="{8E40B29D-F53D-401D-BC40-6E4D6DF2D9FA}" destId="{C3D49A62-1D59-2A49-9DB8-1E50D350A0C7}" srcOrd="0" destOrd="0" presId="urn:microsoft.com/office/officeart/2005/8/layout/vList5"/>
    <dgm:cxn modelId="{D8AD723A-8814-0E49-BB76-32A2636E3383}" type="presParOf" srcId="{9A8A74B3-FE6A-464B-AAA8-C4ADCA65EA8E}" destId="{4C8A008F-1CAA-C044-B79A-CDE9443E19F5}" srcOrd="0" destOrd="0" presId="urn:microsoft.com/office/officeart/2005/8/layout/vList5"/>
    <dgm:cxn modelId="{E11849AF-72E6-F649-AFA1-80A1C2E8D7D9}" type="presParOf" srcId="{4C8A008F-1CAA-C044-B79A-CDE9443E19F5}" destId="{F89B71E8-E583-4645-BF76-4C404A84A180}" srcOrd="0" destOrd="0" presId="urn:microsoft.com/office/officeart/2005/8/layout/vList5"/>
    <dgm:cxn modelId="{6EFFA316-883F-8149-8137-E7BA05EDFD38}" type="presParOf" srcId="{4C8A008F-1CAA-C044-B79A-CDE9443E19F5}" destId="{C3D49A62-1D59-2A49-9DB8-1E50D350A0C7}" srcOrd="1" destOrd="0" presId="urn:microsoft.com/office/officeart/2005/8/layout/vList5"/>
    <dgm:cxn modelId="{F60EC3A8-11A7-214A-8BAF-F65B87C03818}" type="presParOf" srcId="{9A8A74B3-FE6A-464B-AAA8-C4ADCA65EA8E}" destId="{1B4EFE23-78AA-FE44-AE50-532E69C16E2C}" srcOrd="1" destOrd="0" presId="urn:microsoft.com/office/officeart/2005/8/layout/vList5"/>
    <dgm:cxn modelId="{5DE18ED0-8563-3448-9657-677700485E7B}" type="presParOf" srcId="{9A8A74B3-FE6A-464B-AAA8-C4ADCA65EA8E}" destId="{582575A6-51D4-4645-A29E-D952ED08BCDD}" srcOrd="2" destOrd="0" presId="urn:microsoft.com/office/officeart/2005/8/layout/vList5"/>
    <dgm:cxn modelId="{E02BC269-912C-E643-8B57-10B467EA42E3}" type="presParOf" srcId="{582575A6-51D4-4645-A29E-D952ED08BCDD}" destId="{50D0F4F9-AAA6-9242-B734-FFBF1C9E5FE1}" srcOrd="0" destOrd="0" presId="urn:microsoft.com/office/officeart/2005/8/layout/vList5"/>
    <dgm:cxn modelId="{73C25193-DDBE-F74E-99E9-E70F4D299726}" type="presParOf" srcId="{582575A6-51D4-4645-A29E-D952ED08BCDD}" destId="{510075DE-6027-2346-A0DB-8E05931A147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D7B55A-505F-4052-BA64-C374C3A92C08}" type="doc">
      <dgm:prSet loTypeId="urn:microsoft.com/office/officeart/2005/8/layout/cycle1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B95BFDDF-B01C-4B4E-B488-A1BDAD1D8366}">
      <dgm:prSet/>
      <dgm:spPr/>
      <dgm:t>
        <a:bodyPr/>
        <a:lstStyle/>
        <a:p>
          <a:r>
            <a:rPr lang="en-NZ" b="1" dirty="0"/>
            <a:t>A decline in asset prices</a:t>
          </a:r>
        </a:p>
      </dgm:t>
    </dgm:pt>
    <dgm:pt modelId="{2E34A117-344C-416B-9B66-4F1E11FF083B}" type="parTrans" cxnId="{D0553D6A-ABBC-4520-9A1A-DD3386124D1C}">
      <dgm:prSet/>
      <dgm:spPr/>
      <dgm:t>
        <a:bodyPr/>
        <a:lstStyle/>
        <a:p>
          <a:endParaRPr lang="en-NZ"/>
        </a:p>
      </dgm:t>
    </dgm:pt>
    <dgm:pt modelId="{4684459C-1BD0-4CC0-8200-15B5BCCA2B12}" type="sibTrans" cxnId="{D0553D6A-ABBC-4520-9A1A-DD3386124D1C}">
      <dgm:prSet/>
      <dgm:spPr/>
      <dgm:t>
        <a:bodyPr/>
        <a:lstStyle/>
        <a:p>
          <a:endParaRPr lang="en-NZ"/>
        </a:p>
      </dgm:t>
    </dgm:pt>
    <dgm:pt modelId="{E0937439-E168-4DFA-9E7D-62A87C385ED7}">
      <dgm:prSet/>
      <dgm:spPr/>
      <dgm:t>
        <a:bodyPr/>
        <a:lstStyle/>
        <a:p>
          <a:r>
            <a:rPr lang="en-NZ"/>
            <a:t>Widespread insolvencies in financial institutions</a:t>
          </a:r>
        </a:p>
      </dgm:t>
    </dgm:pt>
    <dgm:pt modelId="{6E8AC393-6406-4ECE-A4BD-FCEE2A9E0AA3}" type="parTrans" cxnId="{4550EA50-A3E5-4878-9AC1-3763461838EA}">
      <dgm:prSet/>
      <dgm:spPr/>
      <dgm:t>
        <a:bodyPr/>
        <a:lstStyle/>
        <a:p>
          <a:endParaRPr lang="en-NZ"/>
        </a:p>
      </dgm:t>
    </dgm:pt>
    <dgm:pt modelId="{872CE76A-ABA8-4E0E-A722-BA303BA644A2}" type="sibTrans" cxnId="{4550EA50-A3E5-4878-9AC1-3763461838EA}">
      <dgm:prSet/>
      <dgm:spPr/>
      <dgm:t>
        <a:bodyPr/>
        <a:lstStyle/>
        <a:p>
          <a:endParaRPr lang="en-NZ"/>
        </a:p>
      </dgm:t>
    </dgm:pt>
    <dgm:pt modelId="{BF671F0F-EAC2-4716-9EB8-3F91B4C142D7}">
      <dgm:prSet/>
      <dgm:spPr/>
      <dgm:t>
        <a:bodyPr/>
        <a:lstStyle/>
        <a:p>
          <a:r>
            <a:rPr lang="en-NZ"/>
            <a:t>A loss of confidence in financial institutions</a:t>
          </a:r>
        </a:p>
      </dgm:t>
    </dgm:pt>
    <dgm:pt modelId="{50581022-5D11-4BFF-B55E-9C97800766D2}" type="parTrans" cxnId="{AF75BD66-67DE-4AC2-8D74-E7CB81F8CBE5}">
      <dgm:prSet/>
      <dgm:spPr/>
      <dgm:t>
        <a:bodyPr/>
        <a:lstStyle/>
        <a:p>
          <a:endParaRPr lang="en-NZ"/>
        </a:p>
      </dgm:t>
    </dgm:pt>
    <dgm:pt modelId="{BD189914-887F-4BC7-BEAE-1CBC01B9E6B4}" type="sibTrans" cxnId="{AF75BD66-67DE-4AC2-8D74-E7CB81F8CBE5}">
      <dgm:prSet/>
      <dgm:spPr/>
      <dgm:t>
        <a:bodyPr/>
        <a:lstStyle/>
        <a:p>
          <a:endParaRPr lang="en-NZ"/>
        </a:p>
      </dgm:t>
    </dgm:pt>
    <dgm:pt modelId="{18A71829-54D0-4F72-BAF8-097B84725D11}">
      <dgm:prSet/>
      <dgm:spPr/>
      <dgm:t>
        <a:bodyPr/>
        <a:lstStyle/>
        <a:p>
          <a:r>
            <a:rPr lang="en-NZ"/>
            <a:t>A credit-crunch</a:t>
          </a:r>
        </a:p>
      </dgm:t>
    </dgm:pt>
    <dgm:pt modelId="{FC7EA39E-EA6A-460C-B628-C08E2754F81A}" type="parTrans" cxnId="{2DF3D3AF-E683-4738-98BE-607E237AC7C1}">
      <dgm:prSet/>
      <dgm:spPr/>
      <dgm:t>
        <a:bodyPr/>
        <a:lstStyle/>
        <a:p>
          <a:endParaRPr lang="en-NZ"/>
        </a:p>
      </dgm:t>
    </dgm:pt>
    <dgm:pt modelId="{891CF6B6-4384-45F3-AEAD-ED7FF376ABF5}" type="sibTrans" cxnId="{2DF3D3AF-E683-4738-98BE-607E237AC7C1}">
      <dgm:prSet/>
      <dgm:spPr/>
      <dgm:t>
        <a:bodyPr/>
        <a:lstStyle/>
        <a:p>
          <a:endParaRPr lang="en-NZ"/>
        </a:p>
      </dgm:t>
    </dgm:pt>
    <dgm:pt modelId="{D24783DC-5450-4C43-801A-2FD32F66DB59}">
      <dgm:prSet/>
      <dgm:spPr/>
      <dgm:t>
        <a:bodyPr/>
        <a:lstStyle/>
        <a:p>
          <a:r>
            <a:rPr lang="en-NZ"/>
            <a:t>Economic downturn</a:t>
          </a:r>
        </a:p>
      </dgm:t>
    </dgm:pt>
    <dgm:pt modelId="{FE4D31D5-10F2-459A-B7E3-9802DCA876E9}" type="parTrans" cxnId="{19B0B7DE-E2C8-4C6F-9935-EC4F17041C23}">
      <dgm:prSet/>
      <dgm:spPr/>
      <dgm:t>
        <a:bodyPr/>
        <a:lstStyle/>
        <a:p>
          <a:endParaRPr lang="en-NZ"/>
        </a:p>
      </dgm:t>
    </dgm:pt>
    <dgm:pt modelId="{1DB8D615-A949-4E2A-9003-7696BEA9F5B1}" type="sibTrans" cxnId="{19B0B7DE-E2C8-4C6F-9935-EC4F17041C23}">
      <dgm:prSet/>
      <dgm:spPr/>
      <dgm:t>
        <a:bodyPr/>
        <a:lstStyle/>
        <a:p>
          <a:endParaRPr lang="en-NZ"/>
        </a:p>
      </dgm:t>
    </dgm:pt>
    <dgm:pt modelId="{08CCDFA8-675E-4F83-AAEA-5900F81A24E1}" type="pres">
      <dgm:prSet presAssocID="{E4D7B55A-505F-4052-BA64-C374C3A92C08}" presName="cycle" presStyleCnt="0">
        <dgm:presLayoutVars>
          <dgm:dir/>
          <dgm:resizeHandles val="exact"/>
        </dgm:presLayoutVars>
      </dgm:prSet>
      <dgm:spPr/>
    </dgm:pt>
    <dgm:pt modelId="{A89A4374-2551-4AD1-BE0C-8CDD3CE62AA3}" type="pres">
      <dgm:prSet presAssocID="{B95BFDDF-B01C-4B4E-B488-A1BDAD1D8366}" presName="dummy" presStyleCnt="0"/>
      <dgm:spPr/>
    </dgm:pt>
    <dgm:pt modelId="{9C95DA6D-CA0C-49B4-8B71-D7D77F9FB26E}" type="pres">
      <dgm:prSet presAssocID="{B95BFDDF-B01C-4B4E-B488-A1BDAD1D8366}" presName="node" presStyleLbl="revTx" presStyleIdx="0" presStyleCnt="5">
        <dgm:presLayoutVars>
          <dgm:bulletEnabled val="1"/>
        </dgm:presLayoutVars>
      </dgm:prSet>
      <dgm:spPr/>
    </dgm:pt>
    <dgm:pt modelId="{11C0ADDA-CA41-4C47-90B6-590CF07BF1FD}" type="pres">
      <dgm:prSet presAssocID="{4684459C-1BD0-4CC0-8200-15B5BCCA2B12}" presName="sibTrans" presStyleLbl="node1" presStyleIdx="0" presStyleCnt="5"/>
      <dgm:spPr/>
    </dgm:pt>
    <dgm:pt modelId="{3BBC6F4C-8DFC-4A7B-8420-3E04AFB61C16}" type="pres">
      <dgm:prSet presAssocID="{E0937439-E168-4DFA-9E7D-62A87C385ED7}" presName="dummy" presStyleCnt="0"/>
      <dgm:spPr/>
    </dgm:pt>
    <dgm:pt modelId="{CEEED274-2641-4B30-A037-F6B95B05F463}" type="pres">
      <dgm:prSet presAssocID="{E0937439-E168-4DFA-9E7D-62A87C385ED7}" presName="node" presStyleLbl="revTx" presStyleIdx="1" presStyleCnt="5">
        <dgm:presLayoutVars>
          <dgm:bulletEnabled val="1"/>
        </dgm:presLayoutVars>
      </dgm:prSet>
      <dgm:spPr/>
    </dgm:pt>
    <dgm:pt modelId="{3BA5EE5E-EFC3-440B-9F4C-EF627C09753B}" type="pres">
      <dgm:prSet presAssocID="{872CE76A-ABA8-4E0E-A722-BA303BA644A2}" presName="sibTrans" presStyleLbl="node1" presStyleIdx="1" presStyleCnt="5"/>
      <dgm:spPr/>
    </dgm:pt>
    <dgm:pt modelId="{84EC719C-96B8-4B1B-9179-D70E1CDE1053}" type="pres">
      <dgm:prSet presAssocID="{BF671F0F-EAC2-4716-9EB8-3F91B4C142D7}" presName="dummy" presStyleCnt="0"/>
      <dgm:spPr/>
    </dgm:pt>
    <dgm:pt modelId="{5D7B953D-98B5-4FC9-B48A-9BA0D4407FF8}" type="pres">
      <dgm:prSet presAssocID="{BF671F0F-EAC2-4716-9EB8-3F91B4C142D7}" presName="node" presStyleLbl="revTx" presStyleIdx="2" presStyleCnt="5">
        <dgm:presLayoutVars>
          <dgm:bulletEnabled val="1"/>
        </dgm:presLayoutVars>
      </dgm:prSet>
      <dgm:spPr/>
    </dgm:pt>
    <dgm:pt modelId="{46429C63-952E-4479-A8A7-1AC275A4BC02}" type="pres">
      <dgm:prSet presAssocID="{BD189914-887F-4BC7-BEAE-1CBC01B9E6B4}" presName="sibTrans" presStyleLbl="node1" presStyleIdx="2" presStyleCnt="5"/>
      <dgm:spPr/>
    </dgm:pt>
    <dgm:pt modelId="{B2439839-BB48-4804-B5BD-7F59AB31547C}" type="pres">
      <dgm:prSet presAssocID="{18A71829-54D0-4F72-BAF8-097B84725D11}" presName="dummy" presStyleCnt="0"/>
      <dgm:spPr/>
    </dgm:pt>
    <dgm:pt modelId="{72DACF8C-F476-4C43-84E5-25516B87624F}" type="pres">
      <dgm:prSet presAssocID="{18A71829-54D0-4F72-BAF8-097B84725D11}" presName="node" presStyleLbl="revTx" presStyleIdx="3" presStyleCnt="5">
        <dgm:presLayoutVars>
          <dgm:bulletEnabled val="1"/>
        </dgm:presLayoutVars>
      </dgm:prSet>
      <dgm:spPr/>
    </dgm:pt>
    <dgm:pt modelId="{592A6677-3B6C-4510-A59D-23C590C02883}" type="pres">
      <dgm:prSet presAssocID="{891CF6B6-4384-45F3-AEAD-ED7FF376ABF5}" presName="sibTrans" presStyleLbl="node1" presStyleIdx="3" presStyleCnt="5"/>
      <dgm:spPr/>
    </dgm:pt>
    <dgm:pt modelId="{CF1DC7F9-01FB-4AD6-8B03-9713BE4FD24B}" type="pres">
      <dgm:prSet presAssocID="{D24783DC-5450-4C43-801A-2FD32F66DB59}" presName="dummy" presStyleCnt="0"/>
      <dgm:spPr/>
    </dgm:pt>
    <dgm:pt modelId="{89908F0D-FA30-409F-B74C-3BEF5D0AA74D}" type="pres">
      <dgm:prSet presAssocID="{D24783DC-5450-4C43-801A-2FD32F66DB59}" presName="node" presStyleLbl="revTx" presStyleIdx="4" presStyleCnt="5">
        <dgm:presLayoutVars>
          <dgm:bulletEnabled val="1"/>
        </dgm:presLayoutVars>
      </dgm:prSet>
      <dgm:spPr/>
    </dgm:pt>
    <dgm:pt modelId="{6FE77346-9A96-4014-95BB-D483B53BFAAC}" type="pres">
      <dgm:prSet presAssocID="{1DB8D615-A949-4E2A-9003-7696BEA9F5B1}" presName="sibTrans" presStyleLbl="node1" presStyleIdx="4" presStyleCnt="5"/>
      <dgm:spPr/>
    </dgm:pt>
  </dgm:ptLst>
  <dgm:cxnLst>
    <dgm:cxn modelId="{A0064512-EBB6-4A31-AA11-BE2D750AD660}" type="presOf" srcId="{BD189914-887F-4BC7-BEAE-1CBC01B9E6B4}" destId="{46429C63-952E-4479-A8A7-1AC275A4BC02}" srcOrd="0" destOrd="0" presId="urn:microsoft.com/office/officeart/2005/8/layout/cycle1"/>
    <dgm:cxn modelId="{255B1F26-8D03-4781-AFA2-ED851929FE8A}" type="presOf" srcId="{E4D7B55A-505F-4052-BA64-C374C3A92C08}" destId="{08CCDFA8-675E-4F83-AAEA-5900F81A24E1}" srcOrd="0" destOrd="0" presId="urn:microsoft.com/office/officeart/2005/8/layout/cycle1"/>
    <dgm:cxn modelId="{DA300061-305F-41D6-AA9E-B73B723B9061}" type="presOf" srcId="{D24783DC-5450-4C43-801A-2FD32F66DB59}" destId="{89908F0D-FA30-409F-B74C-3BEF5D0AA74D}" srcOrd="0" destOrd="0" presId="urn:microsoft.com/office/officeart/2005/8/layout/cycle1"/>
    <dgm:cxn modelId="{AF75BD66-67DE-4AC2-8D74-E7CB81F8CBE5}" srcId="{E4D7B55A-505F-4052-BA64-C374C3A92C08}" destId="{BF671F0F-EAC2-4716-9EB8-3F91B4C142D7}" srcOrd="2" destOrd="0" parTransId="{50581022-5D11-4BFF-B55E-9C97800766D2}" sibTransId="{BD189914-887F-4BC7-BEAE-1CBC01B9E6B4}"/>
    <dgm:cxn modelId="{D0553D6A-ABBC-4520-9A1A-DD3386124D1C}" srcId="{E4D7B55A-505F-4052-BA64-C374C3A92C08}" destId="{B95BFDDF-B01C-4B4E-B488-A1BDAD1D8366}" srcOrd="0" destOrd="0" parTransId="{2E34A117-344C-416B-9B66-4F1E11FF083B}" sibTransId="{4684459C-1BD0-4CC0-8200-15B5BCCA2B12}"/>
    <dgm:cxn modelId="{EB96C84A-E18E-4706-9351-F4C171F87957}" type="presOf" srcId="{BF671F0F-EAC2-4716-9EB8-3F91B4C142D7}" destId="{5D7B953D-98B5-4FC9-B48A-9BA0D4407FF8}" srcOrd="0" destOrd="0" presId="urn:microsoft.com/office/officeart/2005/8/layout/cycle1"/>
    <dgm:cxn modelId="{4550EA50-A3E5-4878-9AC1-3763461838EA}" srcId="{E4D7B55A-505F-4052-BA64-C374C3A92C08}" destId="{E0937439-E168-4DFA-9E7D-62A87C385ED7}" srcOrd="1" destOrd="0" parTransId="{6E8AC393-6406-4ECE-A4BD-FCEE2A9E0AA3}" sibTransId="{872CE76A-ABA8-4E0E-A722-BA303BA644A2}"/>
    <dgm:cxn modelId="{E5970451-CD7B-4C36-9DE8-747F682AB73B}" type="presOf" srcId="{891CF6B6-4384-45F3-AEAD-ED7FF376ABF5}" destId="{592A6677-3B6C-4510-A59D-23C590C02883}" srcOrd="0" destOrd="0" presId="urn:microsoft.com/office/officeart/2005/8/layout/cycle1"/>
    <dgm:cxn modelId="{F946B37F-12EE-4E79-B4E6-DA75E6ADC447}" type="presOf" srcId="{1DB8D615-A949-4E2A-9003-7696BEA9F5B1}" destId="{6FE77346-9A96-4014-95BB-D483B53BFAAC}" srcOrd="0" destOrd="0" presId="urn:microsoft.com/office/officeart/2005/8/layout/cycle1"/>
    <dgm:cxn modelId="{24D2D4A3-FD35-48B9-AA1B-264FA04E9085}" type="presOf" srcId="{E0937439-E168-4DFA-9E7D-62A87C385ED7}" destId="{CEEED274-2641-4B30-A037-F6B95B05F463}" srcOrd="0" destOrd="0" presId="urn:microsoft.com/office/officeart/2005/8/layout/cycle1"/>
    <dgm:cxn modelId="{AB3DA0AE-4D58-4EE9-9C3D-C5B65072AC1C}" type="presOf" srcId="{872CE76A-ABA8-4E0E-A722-BA303BA644A2}" destId="{3BA5EE5E-EFC3-440B-9F4C-EF627C09753B}" srcOrd="0" destOrd="0" presId="urn:microsoft.com/office/officeart/2005/8/layout/cycle1"/>
    <dgm:cxn modelId="{2DF3D3AF-E683-4738-98BE-607E237AC7C1}" srcId="{E4D7B55A-505F-4052-BA64-C374C3A92C08}" destId="{18A71829-54D0-4F72-BAF8-097B84725D11}" srcOrd="3" destOrd="0" parTransId="{FC7EA39E-EA6A-460C-B628-C08E2754F81A}" sibTransId="{891CF6B6-4384-45F3-AEAD-ED7FF376ABF5}"/>
    <dgm:cxn modelId="{AA41F7AF-BCED-41B0-91B8-0CAF0104B8FB}" type="presOf" srcId="{4684459C-1BD0-4CC0-8200-15B5BCCA2B12}" destId="{11C0ADDA-CA41-4C47-90B6-590CF07BF1FD}" srcOrd="0" destOrd="0" presId="urn:microsoft.com/office/officeart/2005/8/layout/cycle1"/>
    <dgm:cxn modelId="{592532BA-F764-4CC3-8E11-8D1ACF214FFE}" type="presOf" srcId="{B95BFDDF-B01C-4B4E-B488-A1BDAD1D8366}" destId="{9C95DA6D-CA0C-49B4-8B71-D7D77F9FB26E}" srcOrd="0" destOrd="0" presId="urn:microsoft.com/office/officeart/2005/8/layout/cycle1"/>
    <dgm:cxn modelId="{19B0B7DE-E2C8-4C6F-9935-EC4F17041C23}" srcId="{E4D7B55A-505F-4052-BA64-C374C3A92C08}" destId="{D24783DC-5450-4C43-801A-2FD32F66DB59}" srcOrd="4" destOrd="0" parTransId="{FE4D31D5-10F2-459A-B7E3-9802DCA876E9}" sibTransId="{1DB8D615-A949-4E2A-9003-7696BEA9F5B1}"/>
    <dgm:cxn modelId="{B07D3EF2-8B3B-4993-B85D-95E0EDDD5726}" type="presOf" srcId="{18A71829-54D0-4F72-BAF8-097B84725D11}" destId="{72DACF8C-F476-4C43-84E5-25516B87624F}" srcOrd="0" destOrd="0" presId="urn:microsoft.com/office/officeart/2005/8/layout/cycle1"/>
    <dgm:cxn modelId="{02C5FAEE-8E23-4B45-B20F-08229EE9A72E}" type="presParOf" srcId="{08CCDFA8-675E-4F83-AAEA-5900F81A24E1}" destId="{A89A4374-2551-4AD1-BE0C-8CDD3CE62AA3}" srcOrd="0" destOrd="0" presId="urn:microsoft.com/office/officeart/2005/8/layout/cycle1"/>
    <dgm:cxn modelId="{76333C94-C894-4385-B759-9E6FDE7D38CF}" type="presParOf" srcId="{08CCDFA8-675E-4F83-AAEA-5900F81A24E1}" destId="{9C95DA6D-CA0C-49B4-8B71-D7D77F9FB26E}" srcOrd="1" destOrd="0" presId="urn:microsoft.com/office/officeart/2005/8/layout/cycle1"/>
    <dgm:cxn modelId="{61186872-0360-4050-B2A1-30279D3FBC34}" type="presParOf" srcId="{08CCDFA8-675E-4F83-AAEA-5900F81A24E1}" destId="{11C0ADDA-CA41-4C47-90B6-590CF07BF1FD}" srcOrd="2" destOrd="0" presId="urn:microsoft.com/office/officeart/2005/8/layout/cycle1"/>
    <dgm:cxn modelId="{8955389F-A995-49AF-8CB2-5FC41F583EC5}" type="presParOf" srcId="{08CCDFA8-675E-4F83-AAEA-5900F81A24E1}" destId="{3BBC6F4C-8DFC-4A7B-8420-3E04AFB61C16}" srcOrd="3" destOrd="0" presId="urn:microsoft.com/office/officeart/2005/8/layout/cycle1"/>
    <dgm:cxn modelId="{0EBDD070-B990-4DDF-8393-ED263237C6F5}" type="presParOf" srcId="{08CCDFA8-675E-4F83-AAEA-5900F81A24E1}" destId="{CEEED274-2641-4B30-A037-F6B95B05F463}" srcOrd="4" destOrd="0" presId="urn:microsoft.com/office/officeart/2005/8/layout/cycle1"/>
    <dgm:cxn modelId="{9C6A5017-DD5F-45AD-A90F-CD96462EF03D}" type="presParOf" srcId="{08CCDFA8-675E-4F83-AAEA-5900F81A24E1}" destId="{3BA5EE5E-EFC3-440B-9F4C-EF627C09753B}" srcOrd="5" destOrd="0" presId="urn:microsoft.com/office/officeart/2005/8/layout/cycle1"/>
    <dgm:cxn modelId="{B9595299-D3EE-46BC-8E38-12431E945A32}" type="presParOf" srcId="{08CCDFA8-675E-4F83-AAEA-5900F81A24E1}" destId="{84EC719C-96B8-4B1B-9179-D70E1CDE1053}" srcOrd="6" destOrd="0" presId="urn:microsoft.com/office/officeart/2005/8/layout/cycle1"/>
    <dgm:cxn modelId="{FBADFABE-2246-49BF-853C-B8DC8F4DA09F}" type="presParOf" srcId="{08CCDFA8-675E-4F83-AAEA-5900F81A24E1}" destId="{5D7B953D-98B5-4FC9-B48A-9BA0D4407FF8}" srcOrd="7" destOrd="0" presId="urn:microsoft.com/office/officeart/2005/8/layout/cycle1"/>
    <dgm:cxn modelId="{32963B50-8D50-4F1B-B21B-1C2BF7C5B74E}" type="presParOf" srcId="{08CCDFA8-675E-4F83-AAEA-5900F81A24E1}" destId="{46429C63-952E-4479-A8A7-1AC275A4BC02}" srcOrd="8" destOrd="0" presId="urn:microsoft.com/office/officeart/2005/8/layout/cycle1"/>
    <dgm:cxn modelId="{85038FE7-43D2-419C-BA97-692DABD639BA}" type="presParOf" srcId="{08CCDFA8-675E-4F83-AAEA-5900F81A24E1}" destId="{B2439839-BB48-4804-B5BD-7F59AB31547C}" srcOrd="9" destOrd="0" presId="urn:microsoft.com/office/officeart/2005/8/layout/cycle1"/>
    <dgm:cxn modelId="{F5401770-CC9A-47EA-B1A9-BC65ED288C18}" type="presParOf" srcId="{08CCDFA8-675E-4F83-AAEA-5900F81A24E1}" destId="{72DACF8C-F476-4C43-84E5-25516B87624F}" srcOrd="10" destOrd="0" presId="urn:microsoft.com/office/officeart/2005/8/layout/cycle1"/>
    <dgm:cxn modelId="{DB4A61D3-116F-47AF-B97F-B2C7D26BCB08}" type="presParOf" srcId="{08CCDFA8-675E-4F83-AAEA-5900F81A24E1}" destId="{592A6677-3B6C-4510-A59D-23C590C02883}" srcOrd="11" destOrd="0" presId="urn:microsoft.com/office/officeart/2005/8/layout/cycle1"/>
    <dgm:cxn modelId="{5846D0D2-0253-40CD-9C57-C86133B04B30}" type="presParOf" srcId="{08CCDFA8-675E-4F83-AAEA-5900F81A24E1}" destId="{CF1DC7F9-01FB-4AD6-8B03-9713BE4FD24B}" srcOrd="12" destOrd="0" presId="urn:microsoft.com/office/officeart/2005/8/layout/cycle1"/>
    <dgm:cxn modelId="{8E45E50F-1DA1-4BC9-935F-A23DEFBB10AC}" type="presParOf" srcId="{08CCDFA8-675E-4F83-AAEA-5900F81A24E1}" destId="{89908F0D-FA30-409F-B74C-3BEF5D0AA74D}" srcOrd="13" destOrd="0" presId="urn:microsoft.com/office/officeart/2005/8/layout/cycle1"/>
    <dgm:cxn modelId="{02478ABB-8EB1-493E-94E1-A050AA0FCFE4}" type="presParOf" srcId="{08CCDFA8-675E-4F83-AAEA-5900F81A24E1}" destId="{6FE77346-9A96-4014-95BB-D483B53BFAAC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F2CC52-1A15-4AC8-AEBD-625AF424851B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551FD500-744C-4C39-B5A0-2B395F1973AF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From 1995 house prices increased significantly </a:t>
          </a:r>
          <a:endParaRPr lang="en-US" dirty="0"/>
        </a:p>
      </dgm:t>
    </dgm:pt>
    <dgm:pt modelId="{D068C50A-CE38-4ABE-BE3C-FAEAD00E897B}" type="parTrans" cxnId="{E0B13F76-A8C5-4D39-9185-6FCDC200C645}">
      <dgm:prSet/>
      <dgm:spPr/>
      <dgm:t>
        <a:bodyPr/>
        <a:lstStyle/>
        <a:p>
          <a:endParaRPr lang="en-US"/>
        </a:p>
      </dgm:t>
    </dgm:pt>
    <dgm:pt modelId="{75116B1E-6943-43A7-857F-E5B8D72123CF}" type="sibTrans" cxnId="{E0B13F76-A8C5-4D39-9185-6FCDC200C645}">
      <dgm:prSet/>
      <dgm:spPr/>
      <dgm:t>
        <a:bodyPr/>
        <a:lstStyle/>
        <a:p>
          <a:endParaRPr lang="en-US"/>
        </a:p>
      </dgm:t>
    </dgm:pt>
    <dgm:pt modelId="{5CADD6C8-344B-4EFB-B404-D6545122CC8F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From 1996-2006 real house prices rose 80% in the USA, 110% in France and 185% in the UK.</a:t>
          </a:r>
          <a:endParaRPr lang="en-US" dirty="0"/>
        </a:p>
      </dgm:t>
    </dgm:pt>
    <dgm:pt modelId="{9FC248F8-718A-4856-9134-B13C629D3D5A}" type="parTrans" cxnId="{1F286573-04FB-4604-8AAD-64C80C2B0A3A}">
      <dgm:prSet/>
      <dgm:spPr/>
      <dgm:t>
        <a:bodyPr/>
        <a:lstStyle/>
        <a:p>
          <a:endParaRPr lang="en-US"/>
        </a:p>
      </dgm:t>
    </dgm:pt>
    <dgm:pt modelId="{AA949A9C-1559-409C-A7D0-C218C12B7544}" type="sibTrans" cxnId="{1F286573-04FB-4604-8AAD-64C80C2B0A3A}">
      <dgm:prSet/>
      <dgm:spPr/>
      <dgm:t>
        <a:bodyPr/>
        <a:lstStyle/>
        <a:p>
          <a:endParaRPr lang="en-US"/>
        </a:p>
      </dgm:t>
    </dgm:pt>
    <dgm:pt modelId="{8E8AA446-5F40-402B-A663-3B01A7F7D88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What were the factors behind it?</a:t>
          </a:r>
          <a:endParaRPr lang="en-US" dirty="0"/>
        </a:p>
      </dgm:t>
    </dgm:pt>
    <dgm:pt modelId="{04277141-EFA5-48F0-A920-86F51554F145}" type="parTrans" cxnId="{18E56EB6-9A53-457F-B43B-B9EB73F1BABB}">
      <dgm:prSet/>
      <dgm:spPr/>
      <dgm:t>
        <a:bodyPr/>
        <a:lstStyle/>
        <a:p>
          <a:endParaRPr lang="en-US"/>
        </a:p>
      </dgm:t>
    </dgm:pt>
    <dgm:pt modelId="{D2E46F71-907C-4F07-8BF5-0A1CAD2E8537}" type="sibTrans" cxnId="{18E56EB6-9A53-457F-B43B-B9EB73F1BABB}">
      <dgm:prSet/>
      <dgm:spPr/>
      <dgm:t>
        <a:bodyPr/>
        <a:lstStyle/>
        <a:p>
          <a:endParaRPr lang="en-US"/>
        </a:p>
      </dgm:t>
    </dgm:pt>
    <dgm:pt modelId="{296B3579-E5F2-4518-9DCC-9CDBA50AA122}" type="pres">
      <dgm:prSet presAssocID="{1BF2CC52-1A15-4AC8-AEBD-625AF424851B}" presName="linear" presStyleCnt="0">
        <dgm:presLayoutVars>
          <dgm:animLvl val="lvl"/>
          <dgm:resizeHandles val="exact"/>
        </dgm:presLayoutVars>
      </dgm:prSet>
      <dgm:spPr/>
    </dgm:pt>
    <dgm:pt modelId="{D63BF745-DB76-4CC4-B8F9-482EA24DE7AB}" type="pres">
      <dgm:prSet presAssocID="{551FD500-744C-4C39-B5A0-2B395F1973A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DF21FB0-ADD9-44AD-AAF8-5085DEA33599}" type="pres">
      <dgm:prSet presAssocID="{75116B1E-6943-43A7-857F-E5B8D72123CF}" presName="spacer" presStyleCnt="0"/>
      <dgm:spPr/>
    </dgm:pt>
    <dgm:pt modelId="{BCDE47A2-6D82-4415-AEFF-191347D62DC6}" type="pres">
      <dgm:prSet presAssocID="{5CADD6C8-344B-4EFB-B404-D6545122CC8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F4D5BF8-93CE-48DE-8F60-798821A7214A}" type="pres">
      <dgm:prSet presAssocID="{AA949A9C-1559-409C-A7D0-C218C12B7544}" presName="spacer" presStyleCnt="0"/>
      <dgm:spPr/>
    </dgm:pt>
    <dgm:pt modelId="{23F1A9DF-6877-4BFE-85F5-7FEEC066ECD4}" type="pres">
      <dgm:prSet presAssocID="{8E8AA446-5F40-402B-A663-3B01A7F7D88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2E47D48-6CED-4011-A73F-25044DA8B3CF}" type="presOf" srcId="{8E8AA446-5F40-402B-A663-3B01A7F7D886}" destId="{23F1A9DF-6877-4BFE-85F5-7FEEC066ECD4}" srcOrd="0" destOrd="0" presId="urn:microsoft.com/office/officeart/2005/8/layout/vList2"/>
    <dgm:cxn modelId="{1F286573-04FB-4604-8AAD-64C80C2B0A3A}" srcId="{1BF2CC52-1A15-4AC8-AEBD-625AF424851B}" destId="{5CADD6C8-344B-4EFB-B404-D6545122CC8F}" srcOrd="1" destOrd="0" parTransId="{9FC248F8-718A-4856-9134-B13C629D3D5A}" sibTransId="{AA949A9C-1559-409C-A7D0-C218C12B7544}"/>
    <dgm:cxn modelId="{E0B13F76-A8C5-4D39-9185-6FCDC200C645}" srcId="{1BF2CC52-1A15-4AC8-AEBD-625AF424851B}" destId="{551FD500-744C-4C39-B5A0-2B395F1973AF}" srcOrd="0" destOrd="0" parTransId="{D068C50A-CE38-4ABE-BE3C-FAEAD00E897B}" sibTransId="{75116B1E-6943-43A7-857F-E5B8D72123CF}"/>
    <dgm:cxn modelId="{18E56EB6-9A53-457F-B43B-B9EB73F1BABB}" srcId="{1BF2CC52-1A15-4AC8-AEBD-625AF424851B}" destId="{8E8AA446-5F40-402B-A663-3B01A7F7D886}" srcOrd="2" destOrd="0" parTransId="{04277141-EFA5-48F0-A920-86F51554F145}" sibTransId="{D2E46F71-907C-4F07-8BF5-0A1CAD2E8537}"/>
    <dgm:cxn modelId="{33EE6BC2-5662-4486-AFE3-61E291B7EA3B}" type="presOf" srcId="{1BF2CC52-1A15-4AC8-AEBD-625AF424851B}" destId="{296B3579-E5F2-4518-9DCC-9CDBA50AA122}" srcOrd="0" destOrd="0" presId="urn:microsoft.com/office/officeart/2005/8/layout/vList2"/>
    <dgm:cxn modelId="{DE6118D5-E725-4C3B-8BB3-C5C1A984C1F1}" type="presOf" srcId="{5CADD6C8-344B-4EFB-B404-D6545122CC8F}" destId="{BCDE47A2-6D82-4415-AEFF-191347D62DC6}" srcOrd="0" destOrd="0" presId="urn:microsoft.com/office/officeart/2005/8/layout/vList2"/>
    <dgm:cxn modelId="{4FF394ED-D1B5-4585-B1F6-BEB1309B9E46}" type="presOf" srcId="{551FD500-744C-4C39-B5A0-2B395F1973AF}" destId="{D63BF745-DB76-4CC4-B8F9-482EA24DE7AB}" srcOrd="0" destOrd="0" presId="urn:microsoft.com/office/officeart/2005/8/layout/vList2"/>
    <dgm:cxn modelId="{2CF80679-0812-4B9F-8ED3-C54D83E82742}" type="presParOf" srcId="{296B3579-E5F2-4518-9DCC-9CDBA50AA122}" destId="{D63BF745-DB76-4CC4-B8F9-482EA24DE7AB}" srcOrd="0" destOrd="0" presId="urn:microsoft.com/office/officeart/2005/8/layout/vList2"/>
    <dgm:cxn modelId="{E6996353-D795-404C-9A8B-177E296D292F}" type="presParOf" srcId="{296B3579-E5F2-4518-9DCC-9CDBA50AA122}" destId="{BDF21FB0-ADD9-44AD-AAF8-5085DEA33599}" srcOrd="1" destOrd="0" presId="urn:microsoft.com/office/officeart/2005/8/layout/vList2"/>
    <dgm:cxn modelId="{8E4D7A72-A6F0-4413-8822-13EE65D6E7F1}" type="presParOf" srcId="{296B3579-E5F2-4518-9DCC-9CDBA50AA122}" destId="{BCDE47A2-6D82-4415-AEFF-191347D62DC6}" srcOrd="2" destOrd="0" presId="urn:microsoft.com/office/officeart/2005/8/layout/vList2"/>
    <dgm:cxn modelId="{143A6C5E-89B4-4DCC-8410-1A01E7F590D6}" type="presParOf" srcId="{296B3579-E5F2-4518-9DCC-9CDBA50AA122}" destId="{7F4D5BF8-93CE-48DE-8F60-798821A7214A}" srcOrd="3" destOrd="0" presId="urn:microsoft.com/office/officeart/2005/8/layout/vList2"/>
    <dgm:cxn modelId="{31D7B355-34F7-4683-A66C-FE38B0514B9C}" type="presParOf" srcId="{296B3579-E5F2-4518-9DCC-9CDBA50AA122}" destId="{23F1A9DF-6877-4BFE-85F5-7FEEC066ECD4}" srcOrd="4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205E205-7683-4075-AB50-CF81948A0428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A4F607A5-9AB2-4D62-A393-CFF880E9B90B}">
      <dgm:prSet/>
      <dgm:spPr/>
      <dgm:t>
        <a:bodyPr/>
        <a:lstStyle/>
        <a:p>
          <a:r>
            <a:rPr lang="en-NZ"/>
            <a:t>Leverage Ratio</a:t>
          </a:r>
        </a:p>
      </dgm:t>
    </dgm:pt>
    <dgm:pt modelId="{9A35A0C2-3A9D-4CBE-9D0E-9FBBFA5222CF}" type="parTrans" cxnId="{21F0137B-2F6B-439E-9093-04B555DABA60}">
      <dgm:prSet/>
      <dgm:spPr/>
      <dgm:t>
        <a:bodyPr/>
        <a:lstStyle/>
        <a:p>
          <a:endParaRPr lang="en-NZ"/>
        </a:p>
      </dgm:t>
    </dgm:pt>
    <dgm:pt modelId="{CDCABAED-8771-431A-92F2-355AFB57E0B4}" type="sibTrans" cxnId="{21F0137B-2F6B-439E-9093-04B555DABA60}">
      <dgm:prSet/>
      <dgm:spPr/>
      <dgm:t>
        <a:bodyPr/>
        <a:lstStyle/>
        <a:p>
          <a:endParaRPr lang="en-NZ"/>
        </a:p>
      </dgm:t>
    </dgm:pt>
    <dgm:pt modelId="{D8646318-58F7-4D59-BD51-C116BBEA00DB}">
      <dgm:prSet/>
      <dgm:spPr/>
      <dgm:t>
        <a:bodyPr/>
        <a:lstStyle/>
        <a:p>
          <a:r>
            <a:rPr lang="en-NZ"/>
            <a:t>The proportion of debt relative to the equity the home-owner has.</a:t>
          </a:r>
        </a:p>
      </dgm:t>
    </dgm:pt>
    <dgm:pt modelId="{E80C95B4-B9AE-48EF-88D8-4F2ACDDA26A6}" type="parTrans" cxnId="{CD6665DB-ABA9-40EA-93A4-733ABE5F57AE}">
      <dgm:prSet/>
      <dgm:spPr/>
      <dgm:t>
        <a:bodyPr/>
        <a:lstStyle/>
        <a:p>
          <a:endParaRPr lang="en-NZ"/>
        </a:p>
      </dgm:t>
    </dgm:pt>
    <dgm:pt modelId="{C6E24F93-5904-48EC-9437-54A6145ED4B4}" type="sibTrans" cxnId="{CD6665DB-ABA9-40EA-93A4-733ABE5F57AE}">
      <dgm:prSet/>
      <dgm:spPr/>
      <dgm:t>
        <a:bodyPr/>
        <a:lstStyle/>
        <a:p>
          <a:endParaRPr lang="en-NZ"/>
        </a:p>
      </dgm:t>
    </dgm:pt>
    <dgm:pt modelId="{8F4EBF42-654B-4BF1-BB37-6B12F329488F}">
      <dgm:prSet/>
      <dgm:spPr/>
      <dgm:t>
        <a:bodyPr/>
        <a:lstStyle/>
        <a:p>
          <a:r>
            <a:rPr lang="en-NZ"/>
            <a:t>If your leverage ratio was 8:1, you could borrow $8 for every $1 of equity you had.  </a:t>
          </a:r>
        </a:p>
      </dgm:t>
    </dgm:pt>
    <dgm:pt modelId="{4F88B92F-26C4-4A09-AF8B-2B7B0F25AE76}" type="parTrans" cxnId="{DC2A76E3-88F4-4764-BE0F-A314257040A1}">
      <dgm:prSet/>
      <dgm:spPr/>
      <dgm:t>
        <a:bodyPr/>
        <a:lstStyle/>
        <a:p>
          <a:endParaRPr lang="en-NZ"/>
        </a:p>
      </dgm:t>
    </dgm:pt>
    <dgm:pt modelId="{F1FFD9D8-83D3-4DE8-A0E4-ED88A05A09F4}" type="sibTrans" cxnId="{DC2A76E3-88F4-4764-BE0F-A314257040A1}">
      <dgm:prSet/>
      <dgm:spPr/>
      <dgm:t>
        <a:bodyPr/>
        <a:lstStyle/>
        <a:p>
          <a:endParaRPr lang="en-NZ"/>
        </a:p>
      </dgm:t>
    </dgm:pt>
    <dgm:pt modelId="{72574898-4136-4E83-B762-C0180D7A362F}" type="pres">
      <dgm:prSet presAssocID="{0205E205-7683-4075-AB50-CF81948A0428}" presName="Name0" presStyleCnt="0">
        <dgm:presLayoutVars>
          <dgm:dir/>
          <dgm:animLvl val="lvl"/>
          <dgm:resizeHandles val="exact"/>
        </dgm:presLayoutVars>
      </dgm:prSet>
      <dgm:spPr/>
    </dgm:pt>
    <dgm:pt modelId="{1B577CD2-D377-41B7-8406-20149241A2DB}" type="pres">
      <dgm:prSet presAssocID="{A4F607A5-9AB2-4D62-A393-CFF880E9B90B}" presName="vertFlow" presStyleCnt="0"/>
      <dgm:spPr/>
    </dgm:pt>
    <dgm:pt modelId="{78FD03FD-675A-4559-9EDF-335BEE4FBAEE}" type="pres">
      <dgm:prSet presAssocID="{A4F607A5-9AB2-4D62-A393-CFF880E9B90B}" presName="header" presStyleLbl="node1" presStyleIdx="0" presStyleCnt="1"/>
      <dgm:spPr/>
    </dgm:pt>
    <dgm:pt modelId="{22ADD498-4E50-4D5D-9DC4-9F9578159448}" type="pres">
      <dgm:prSet presAssocID="{E80C95B4-B9AE-48EF-88D8-4F2ACDDA26A6}" presName="parTrans" presStyleLbl="sibTrans2D1" presStyleIdx="0" presStyleCnt="2"/>
      <dgm:spPr/>
    </dgm:pt>
    <dgm:pt modelId="{70A22B5C-3153-48C4-B8B8-00E8B1AEF39A}" type="pres">
      <dgm:prSet presAssocID="{D8646318-58F7-4D59-BD51-C116BBEA00DB}" presName="child" presStyleLbl="alignAccFollowNode1" presStyleIdx="0" presStyleCnt="2">
        <dgm:presLayoutVars>
          <dgm:chMax val="0"/>
          <dgm:bulletEnabled val="1"/>
        </dgm:presLayoutVars>
      </dgm:prSet>
      <dgm:spPr/>
    </dgm:pt>
    <dgm:pt modelId="{B2139D4A-973F-44F9-B941-636D1C18462E}" type="pres">
      <dgm:prSet presAssocID="{C6E24F93-5904-48EC-9437-54A6145ED4B4}" presName="sibTrans" presStyleLbl="sibTrans2D1" presStyleIdx="1" presStyleCnt="2"/>
      <dgm:spPr/>
    </dgm:pt>
    <dgm:pt modelId="{8F3AFB5F-C1E6-4D99-971F-2D8EF78CC729}" type="pres">
      <dgm:prSet presAssocID="{8F4EBF42-654B-4BF1-BB37-6B12F329488F}" presName="child" presStyleLbl="alignAccFollowNode1" presStyleIdx="1" presStyleCnt="2">
        <dgm:presLayoutVars>
          <dgm:chMax val="0"/>
          <dgm:bulletEnabled val="1"/>
        </dgm:presLayoutVars>
      </dgm:prSet>
      <dgm:spPr/>
    </dgm:pt>
  </dgm:ptLst>
  <dgm:cxnLst>
    <dgm:cxn modelId="{4649A800-F9EC-4320-A57A-7315099CD1ED}" type="presOf" srcId="{A4F607A5-9AB2-4D62-A393-CFF880E9B90B}" destId="{78FD03FD-675A-4559-9EDF-335BEE4FBAEE}" srcOrd="0" destOrd="0" presId="urn:microsoft.com/office/officeart/2005/8/layout/lProcess1"/>
    <dgm:cxn modelId="{DA5D9813-1C7F-4A3D-8C7D-084F347809B3}" type="presOf" srcId="{C6E24F93-5904-48EC-9437-54A6145ED4B4}" destId="{B2139D4A-973F-44F9-B941-636D1C18462E}" srcOrd="0" destOrd="0" presId="urn:microsoft.com/office/officeart/2005/8/layout/lProcess1"/>
    <dgm:cxn modelId="{DA14AF73-1299-49B5-8BF8-217AB1EA46C2}" type="presOf" srcId="{8F4EBF42-654B-4BF1-BB37-6B12F329488F}" destId="{8F3AFB5F-C1E6-4D99-971F-2D8EF78CC729}" srcOrd="0" destOrd="0" presId="urn:microsoft.com/office/officeart/2005/8/layout/lProcess1"/>
    <dgm:cxn modelId="{21F0137B-2F6B-439E-9093-04B555DABA60}" srcId="{0205E205-7683-4075-AB50-CF81948A0428}" destId="{A4F607A5-9AB2-4D62-A393-CFF880E9B90B}" srcOrd="0" destOrd="0" parTransId="{9A35A0C2-3A9D-4CBE-9D0E-9FBBFA5222CF}" sibTransId="{CDCABAED-8771-431A-92F2-355AFB57E0B4}"/>
    <dgm:cxn modelId="{B1A06592-A6CD-47B4-8DE4-A350CC0D91EF}" type="presOf" srcId="{0205E205-7683-4075-AB50-CF81948A0428}" destId="{72574898-4136-4E83-B762-C0180D7A362F}" srcOrd="0" destOrd="0" presId="urn:microsoft.com/office/officeart/2005/8/layout/lProcess1"/>
    <dgm:cxn modelId="{69AB6E9A-AF74-4476-9480-EBFD9488EDD4}" type="presOf" srcId="{E80C95B4-B9AE-48EF-88D8-4F2ACDDA26A6}" destId="{22ADD498-4E50-4D5D-9DC4-9F9578159448}" srcOrd="0" destOrd="0" presId="urn:microsoft.com/office/officeart/2005/8/layout/lProcess1"/>
    <dgm:cxn modelId="{CD6665DB-ABA9-40EA-93A4-733ABE5F57AE}" srcId="{A4F607A5-9AB2-4D62-A393-CFF880E9B90B}" destId="{D8646318-58F7-4D59-BD51-C116BBEA00DB}" srcOrd="0" destOrd="0" parTransId="{E80C95B4-B9AE-48EF-88D8-4F2ACDDA26A6}" sibTransId="{C6E24F93-5904-48EC-9437-54A6145ED4B4}"/>
    <dgm:cxn modelId="{DC2A76E3-88F4-4764-BE0F-A314257040A1}" srcId="{A4F607A5-9AB2-4D62-A393-CFF880E9B90B}" destId="{8F4EBF42-654B-4BF1-BB37-6B12F329488F}" srcOrd="1" destOrd="0" parTransId="{4F88B92F-26C4-4A09-AF8B-2B7B0F25AE76}" sibTransId="{F1FFD9D8-83D3-4DE8-A0E4-ED88A05A09F4}"/>
    <dgm:cxn modelId="{9ED363E4-5594-4E3D-AC82-A6F8A2A08088}" type="presOf" srcId="{D8646318-58F7-4D59-BD51-C116BBEA00DB}" destId="{70A22B5C-3153-48C4-B8B8-00E8B1AEF39A}" srcOrd="0" destOrd="0" presId="urn:microsoft.com/office/officeart/2005/8/layout/lProcess1"/>
    <dgm:cxn modelId="{C6B6352B-B6B4-49BB-B208-6C99ECEEDC28}" type="presParOf" srcId="{72574898-4136-4E83-B762-C0180D7A362F}" destId="{1B577CD2-D377-41B7-8406-20149241A2DB}" srcOrd="0" destOrd="0" presId="urn:microsoft.com/office/officeart/2005/8/layout/lProcess1"/>
    <dgm:cxn modelId="{A267E137-FEB2-46B7-8967-38D472A5B3B5}" type="presParOf" srcId="{1B577CD2-D377-41B7-8406-20149241A2DB}" destId="{78FD03FD-675A-4559-9EDF-335BEE4FBAEE}" srcOrd="0" destOrd="0" presId="urn:microsoft.com/office/officeart/2005/8/layout/lProcess1"/>
    <dgm:cxn modelId="{71D2DE95-4575-4024-B5F2-45E2B4D333E2}" type="presParOf" srcId="{1B577CD2-D377-41B7-8406-20149241A2DB}" destId="{22ADD498-4E50-4D5D-9DC4-9F9578159448}" srcOrd="1" destOrd="0" presId="urn:microsoft.com/office/officeart/2005/8/layout/lProcess1"/>
    <dgm:cxn modelId="{E76F199C-5986-4908-8629-BCCDA8B2AD01}" type="presParOf" srcId="{1B577CD2-D377-41B7-8406-20149241A2DB}" destId="{70A22B5C-3153-48C4-B8B8-00E8B1AEF39A}" srcOrd="2" destOrd="0" presId="urn:microsoft.com/office/officeart/2005/8/layout/lProcess1"/>
    <dgm:cxn modelId="{BB7C361F-0D4D-4BD9-95D5-95D09804D0FE}" type="presParOf" srcId="{1B577CD2-D377-41B7-8406-20149241A2DB}" destId="{B2139D4A-973F-44F9-B941-636D1C18462E}" srcOrd="3" destOrd="0" presId="urn:microsoft.com/office/officeart/2005/8/layout/lProcess1"/>
    <dgm:cxn modelId="{E1197FCC-AE3F-4E52-8F23-BB727A757B2D}" type="presParOf" srcId="{1B577CD2-D377-41B7-8406-20149241A2DB}" destId="{8F3AFB5F-C1E6-4D99-971F-2D8EF78CC729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203B0A6-0492-439A-89C5-45652D2FF0FB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7813D78F-E158-470A-AFBA-D9EC7DDB0529}">
      <dgm:prSet/>
      <dgm:spPr/>
      <dgm:t>
        <a:bodyPr/>
        <a:lstStyle/>
        <a:p>
          <a:r>
            <a:rPr lang="en-NZ"/>
            <a:t>Return to Equity</a:t>
          </a:r>
        </a:p>
      </dgm:t>
    </dgm:pt>
    <dgm:pt modelId="{238008B1-CBC4-4BAB-A61F-F65787F261D4}" type="parTrans" cxnId="{9629696C-DAE0-4F97-88E2-FFB1C87728DB}">
      <dgm:prSet/>
      <dgm:spPr/>
      <dgm:t>
        <a:bodyPr/>
        <a:lstStyle/>
        <a:p>
          <a:endParaRPr lang="en-NZ"/>
        </a:p>
      </dgm:t>
    </dgm:pt>
    <dgm:pt modelId="{736196D8-677D-4B9E-B0AF-A8092AE3407B}" type="sibTrans" cxnId="{9629696C-DAE0-4F97-88E2-FFB1C87728DB}">
      <dgm:prSet/>
      <dgm:spPr/>
      <dgm:t>
        <a:bodyPr/>
        <a:lstStyle/>
        <a:p>
          <a:endParaRPr lang="en-NZ"/>
        </a:p>
      </dgm:t>
    </dgm:pt>
    <dgm:pt modelId="{7BE6DCAB-7BFB-4F6F-895F-1AFDCFD3C41F}">
      <dgm:prSet/>
      <dgm:spPr/>
      <dgm:t>
        <a:bodyPr/>
        <a:lstStyle/>
        <a:p>
          <a:r>
            <a:rPr lang="en-NZ"/>
            <a:t>The equity is the amount of money the home-owner has paid.</a:t>
          </a:r>
        </a:p>
      </dgm:t>
    </dgm:pt>
    <dgm:pt modelId="{733886E5-7322-4046-9C76-AE1420C11C1E}" type="parTrans" cxnId="{176F20CE-AB3C-4F8B-8759-E334665E92FB}">
      <dgm:prSet/>
      <dgm:spPr/>
      <dgm:t>
        <a:bodyPr/>
        <a:lstStyle/>
        <a:p>
          <a:endParaRPr lang="en-NZ"/>
        </a:p>
      </dgm:t>
    </dgm:pt>
    <dgm:pt modelId="{42409264-89D4-4F39-8BC4-F3AE423C8112}" type="sibTrans" cxnId="{176F20CE-AB3C-4F8B-8759-E334665E92FB}">
      <dgm:prSet/>
      <dgm:spPr/>
      <dgm:t>
        <a:bodyPr/>
        <a:lstStyle/>
        <a:p>
          <a:endParaRPr lang="en-NZ"/>
        </a:p>
      </dgm:t>
    </dgm:pt>
    <dgm:pt modelId="{13D8BE74-F9ED-4A7E-8CFC-7F69C88A26F2}">
      <dgm:prSet/>
      <dgm:spPr/>
      <dgm:t>
        <a:bodyPr/>
        <a:lstStyle/>
        <a:p>
          <a:r>
            <a:rPr lang="en-NZ"/>
            <a:t>The return to equity is:</a:t>
          </a:r>
        </a:p>
      </dgm:t>
    </dgm:pt>
    <dgm:pt modelId="{53E8FE6C-C3E5-4159-98D7-13E0C25A9A62}" type="parTrans" cxnId="{F4A4EC41-7ACC-4BF8-9FB3-6E49A67FC8E7}">
      <dgm:prSet/>
      <dgm:spPr/>
      <dgm:t>
        <a:bodyPr/>
        <a:lstStyle/>
        <a:p>
          <a:endParaRPr lang="en-NZ"/>
        </a:p>
      </dgm:t>
    </dgm:pt>
    <dgm:pt modelId="{582D9D90-8AA5-4863-9725-0E0CD3A16F62}" type="sibTrans" cxnId="{F4A4EC41-7ACC-4BF8-9FB3-6E49A67FC8E7}">
      <dgm:prSet/>
      <dgm:spPr/>
      <dgm:t>
        <a:bodyPr/>
        <a:lstStyle/>
        <a:p>
          <a:endParaRPr lang="en-NZ"/>
        </a:p>
      </dgm:t>
    </dgm:pt>
    <mc:AlternateContent xmlns:mc="http://schemas.openxmlformats.org/markup-compatibility/2006" xmlns:a14="http://schemas.microsoft.com/office/drawing/2010/main">
      <mc:Choice Requires="a14">
        <dgm:pt modelId="{56F241C0-40B0-40D8-87ED-9473671DC99D}">
          <dgm:prSet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f>
                      <m:fPr>
                        <m:ctrlPr>
                          <a:rPr lang="en-NZ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NZ" b="0" i="1">
                            <a:latin typeface="Cambria Math" panose="02040503050406030204" pitchFamily="18" charset="0"/>
                          </a:rPr>
                          <m:t>𝑐h𝑎𝑛𝑔𝑒</m:t>
                        </m:r>
                        <m:r>
                          <a:rPr lang="en-NZ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b="0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NZ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b="0" i="1">
                            <a:latin typeface="Cambria Math" panose="02040503050406030204" pitchFamily="18" charset="0"/>
                          </a:rPr>
                          <m:t>𝑣𝑎𝑙𝑢𝑒</m:t>
                        </m:r>
                        <m:r>
                          <a:rPr lang="en-NZ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b="0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NZ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b="0" i="1">
                            <a:latin typeface="Cambria Math" panose="02040503050406030204" pitchFamily="18" charset="0"/>
                          </a:rPr>
                          <m:t>h𝑜𝑢𝑠𝑒</m:t>
                        </m:r>
                      </m:num>
                      <m:den>
                        <m:r>
                          <a:rPr lang="en-NZ" b="0" i="1">
                            <a:latin typeface="Cambria Math" panose="02040503050406030204" pitchFamily="18" charset="0"/>
                          </a:rPr>
                          <m:t>𝑒𝑞𝑢𝑖𝑡𝑦</m:t>
                        </m:r>
                        <m:r>
                          <a:rPr lang="en-NZ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b="0" i="1">
                            <a:latin typeface="Cambria Math" panose="02040503050406030204" pitchFamily="18" charset="0"/>
                          </a:rPr>
                          <m:t>𝑝𝑎𝑖𝑑</m:t>
                        </m:r>
                      </m:den>
                    </m:f>
                  </m:oMath>
                </m:oMathPara>
              </a14:m>
              <a:endParaRPr lang="en-NZ"/>
            </a:p>
          </dgm:t>
        </dgm:pt>
      </mc:Choice>
      <mc:Fallback xmlns="">
        <dgm:pt modelId="{56F241C0-40B0-40D8-87ED-9473671DC99D}">
          <dgm:prSet/>
          <dgm:spPr/>
          <dgm:t>
            <a:bodyPr/>
            <a:lstStyle/>
            <a:p>
              <a:r>
                <a:rPr lang="en-NZ" i="0"/>
                <a:t>(</a:t>
              </a:r>
              <a:r>
                <a:rPr lang="en-NZ" b="0" i="0"/>
                <a:t>𝑐ℎ𝑎𝑛𝑔𝑒 𝑖𝑛 𝑣𝑎𝑙𝑢𝑒 𝑖𝑛 ℎ𝑜𝑢𝑠𝑒)/(𝑒𝑞𝑢𝑖𝑡𝑦 𝑝𝑎𝑖𝑑)</a:t>
              </a:r>
              <a:endParaRPr lang="en-NZ"/>
            </a:p>
          </dgm:t>
        </dgm:pt>
      </mc:Fallback>
    </mc:AlternateContent>
    <dgm:pt modelId="{6EE4E0BD-634F-4C0A-862A-CE4DEFC673B6}" type="parTrans" cxnId="{9BC82960-690C-443A-90A6-0C4D7442EE04}">
      <dgm:prSet/>
      <dgm:spPr/>
      <dgm:t>
        <a:bodyPr/>
        <a:lstStyle/>
        <a:p>
          <a:endParaRPr lang="en-NZ"/>
        </a:p>
      </dgm:t>
    </dgm:pt>
    <dgm:pt modelId="{EF0FCEF2-450F-44D8-B165-1BE9C1EDB761}" type="sibTrans" cxnId="{9BC82960-690C-443A-90A6-0C4D7442EE04}">
      <dgm:prSet/>
      <dgm:spPr/>
      <dgm:t>
        <a:bodyPr/>
        <a:lstStyle/>
        <a:p>
          <a:endParaRPr lang="en-NZ"/>
        </a:p>
      </dgm:t>
    </dgm:pt>
    <dgm:pt modelId="{FC728F35-FE1F-4F9E-B431-C6442024152E}" type="pres">
      <dgm:prSet presAssocID="{1203B0A6-0492-439A-89C5-45652D2FF0FB}" presName="Name0" presStyleCnt="0">
        <dgm:presLayoutVars>
          <dgm:dir/>
          <dgm:animLvl val="lvl"/>
          <dgm:resizeHandles val="exact"/>
        </dgm:presLayoutVars>
      </dgm:prSet>
      <dgm:spPr/>
    </dgm:pt>
    <dgm:pt modelId="{2EC8D091-CDAA-4B61-974C-D005BC10CFD3}" type="pres">
      <dgm:prSet presAssocID="{7813D78F-E158-470A-AFBA-D9EC7DDB0529}" presName="vertFlow" presStyleCnt="0"/>
      <dgm:spPr/>
    </dgm:pt>
    <dgm:pt modelId="{8885FC49-1B6A-4419-9E67-76948B63D945}" type="pres">
      <dgm:prSet presAssocID="{7813D78F-E158-470A-AFBA-D9EC7DDB0529}" presName="header" presStyleLbl="node1" presStyleIdx="0" presStyleCnt="1"/>
      <dgm:spPr/>
    </dgm:pt>
    <dgm:pt modelId="{FB9BCBE1-48BF-40EA-9BCA-0B0444DFCA77}" type="pres">
      <dgm:prSet presAssocID="{733886E5-7322-4046-9C76-AE1420C11C1E}" presName="parTrans" presStyleLbl="sibTrans2D1" presStyleIdx="0" presStyleCnt="3"/>
      <dgm:spPr/>
    </dgm:pt>
    <dgm:pt modelId="{97CE2D05-666F-436B-81DE-E7E1C0248317}" type="pres">
      <dgm:prSet presAssocID="{7BE6DCAB-7BFB-4F6F-895F-1AFDCFD3C41F}" presName="child" presStyleLbl="alignAccFollowNode1" presStyleIdx="0" presStyleCnt="3">
        <dgm:presLayoutVars>
          <dgm:chMax val="0"/>
          <dgm:bulletEnabled val="1"/>
        </dgm:presLayoutVars>
      </dgm:prSet>
      <dgm:spPr/>
    </dgm:pt>
    <dgm:pt modelId="{FB4B6FC5-E58B-4D9B-A0FD-72CD1CFA1857}" type="pres">
      <dgm:prSet presAssocID="{42409264-89D4-4F39-8BC4-F3AE423C8112}" presName="sibTrans" presStyleLbl="sibTrans2D1" presStyleIdx="1" presStyleCnt="3"/>
      <dgm:spPr/>
    </dgm:pt>
    <dgm:pt modelId="{9BD247E0-99FF-4207-85C3-5F06C3D4A5DA}" type="pres">
      <dgm:prSet presAssocID="{13D8BE74-F9ED-4A7E-8CFC-7F69C88A26F2}" presName="child" presStyleLbl="alignAccFollowNode1" presStyleIdx="1" presStyleCnt="3">
        <dgm:presLayoutVars>
          <dgm:chMax val="0"/>
          <dgm:bulletEnabled val="1"/>
        </dgm:presLayoutVars>
      </dgm:prSet>
      <dgm:spPr/>
    </dgm:pt>
    <dgm:pt modelId="{8A829ABB-E7EF-4DB1-85F3-81684E474763}" type="pres">
      <dgm:prSet presAssocID="{582D9D90-8AA5-4863-9725-0E0CD3A16F62}" presName="sibTrans" presStyleLbl="sibTrans2D1" presStyleIdx="2" presStyleCnt="3"/>
      <dgm:spPr/>
    </dgm:pt>
    <dgm:pt modelId="{56D6D431-55FE-4F03-A3FC-BE504B1EA574}" type="pres">
      <dgm:prSet presAssocID="{56F241C0-40B0-40D8-87ED-9473671DC99D}" presName="child" presStyleLbl="alignAccFollowNode1" presStyleIdx="2" presStyleCnt="3">
        <dgm:presLayoutVars>
          <dgm:chMax val="0"/>
          <dgm:bulletEnabled val="1"/>
        </dgm:presLayoutVars>
      </dgm:prSet>
      <dgm:spPr/>
    </dgm:pt>
  </dgm:ptLst>
  <dgm:cxnLst>
    <dgm:cxn modelId="{726B1626-05F7-4336-8D65-0A745CD30964}" type="presOf" srcId="{7813D78F-E158-470A-AFBA-D9EC7DDB0529}" destId="{8885FC49-1B6A-4419-9E67-76948B63D945}" srcOrd="0" destOrd="0" presId="urn:microsoft.com/office/officeart/2005/8/layout/lProcess1"/>
    <dgm:cxn modelId="{D4B7B72D-8C82-4639-901C-AD4BF3588249}" type="presOf" srcId="{13D8BE74-F9ED-4A7E-8CFC-7F69C88A26F2}" destId="{9BD247E0-99FF-4207-85C3-5F06C3D4A5DA}" srcOrd="0" destOrd="0" presId="urn:microsoft.com/office/officeart/2005/8/layout/lProcess1"/>
    <dgm:cxn modelId="{9BC82960-690C-443A-90A6-0C4D7442EE04}" srcId="{7813D78F-E158-470A-AFBA-D9EC7DDB0529}" destId="{56F241C0-40B0-40D8-87ED-9473671DC99D}" srcOrd="2" destOrd="0" parTransId="{6EE4E0BD-634F-4C0A-862A-CE4DEFC673B6}" sibTransId="{EF0FCEF2-450F-44D8-B165-1BE9C1EDB761}"/>
    <dgm:cxn modelId="{F4A4EC41-7ACC-4BF8-9FB3-6E49A67FC8E7}" srcId="{7813D78F-E158-470A-AFBA-D9EC7DDB0529}" destId="{13D8BE74-F9ED-4A7E-8CFC-7F69C88A26F2}" srcOrd="1" destOrd="0" parTransId="{53E8FE6C-C3E5-4159-98D7-13E0C25A9A62}" sibTransId="{582D9D90-8AA5-4863-9725-0E0CD3A16F62}"/>
    <dgm:cxn modelId="{9629696C-DAE0-4F97-88E2-FFB1C87728DB}" srcId="{1203B0A6-0492-439A-89C5-45652D2FF0FB}" destId="{7813D78F-E158-470A-AFBA-D9EC7DDB0529}" srcOrd="0" destOrd="0" parTransId="{238008B1-CBC4-4BAB-A61F-F65787F261D4}" sibTransId="{736196D8-677D-4B9E-B0AF-A8092AE3407B}"/>
    <dgm:cxn modelId="{9509536D-C974-49AA-8ED2-85D20E19BA54}" type="presOf" srcId="{56F241C0-40B0-40D8-87ED-9473671DC99D}" destId="{56D6D431-55FE-4F03-A3FC-BE504B1EA574}" srcOrd="0" destOrd="0" presId="urn:microsoft.com/office/officeart/2005/8/layout/lProcess1"/>
    <dgm:cxn modelId="{8264A58A-8647-42A2-B556-B00F6321D969}" type="presOf" srcId="{42409264-89D4-4F39-8BC4-F3AE423C8112}" destId="{FB4B6FC5-E58B-4D9B-A0FD-72CD1CFA1857}" srcOrd="0" destOrd="0" presId="urn:microsoft.com/office/officeart/2005/8/layout/lProcess1"/>
    <dgm:cxn modelId="{E0B31799-A9E4-4F1E-89D2-0792E0317DA5}" type="presOf" srcId="{582D9D90-8AA5-4863-9725-0E0CD3A16F62}" destId="{8A829ABB-E7EF-4DB1-85F3-81684E474763}" srcOrd="0" destOrd="0" presId="urn:microsoft.com/office/officeart/2005/8/layout/lProcess1"/>
    <dgm:cxn modelId="{9731D0B5-D2EB-4C4C-8F7F-A24CE56904F3}" type="presOf" srcId="{1203B0A6-0492-439A-89C5-45652D2FF0FB}" destId="{FC728F35-FE1F-4F9E-B431-C6442024152E}" srcOrd="0" destOrd="0" presId="urn:microsoft.com/office/officeart/2005/8/layout/lProcess1"/>
    <dgm:cxn modelId="{CA836FB6-F54C-49A7-AD14-950EE4A42BF8}" type="presOf" srcId="{7BE6DCAB-7BFB-4F6F-895F-1AFDCFD3C41F}" destId="{97CE2D05-666F-436B-81DE-E7E1C0248317}" srcOrd="0" destOrd="0" presId="urn:microsoft.com/office/officeart/2005/8/layout/lProcess1"/>
    <dgm:cxn modelId="{176F20CE-AB3C-4F8B-8759-E334665E92FB}" srcId="{7813D78F-E158-470A-AFBA-D9EC7DDB0529}" destId="{7BE6DCAB-7BFB-4F6F-895F-1AFDCFD3C41F}" srcOrd="0" destOrd="0" parTransId="{733886E5-7322-4046-9C76-AE1420C11C1E}" sibTransId="{42409264-89D4-4F39-8BC4-F3AE423C8112}"/>
    <dgm:cxn modelId="{A64F7CF9-52A4-4376-912B-1637C63940FA}" type="presOf" srcId="{733886E5-7322-4046-9C76-AE1420C11C1E}" destId="{FB9BCBE1-48BF-40EA-9BCA-0B0444DFCA77}" srcOrd="0" destOrd="0" presId="urn:microsoft.com/office/officeart/2005/8/layout/lProcess1"/>
    <dgm:cxn modelId="{0E2B7DD6-EC1C-4FC4-A9A8-457DBA57DF8E}" type="presParOf" srcId="{FC728F35-FE1F-4F9E-B431-C6442024152E}" destId="{2EC8D091-CDAA-4B61-974C-D005BC10CFD3}" srcOrd="0" destOrd="0" presId="urn:microsoft.com/office/officeart/2005/8/layout/lProcess1"/>
    <dgm:cxn modelId="{AB93FEC2-5B5A-490D-B46F-3ABE1AA827F9}" type="presParOf" srcId="{2EC8D091-CDAA-4B61-974C-D005BC10CFD3}" destId="{8885FC49-1B6A-4419-9E67-76948B63D945}" srcOrd="0" destOrd="0" presId="urn:microsoft.com/office/officeart/2005/8/layout/lProcess1"/>
    <dgm:cxn modelId="{A3E53CD0-E1BE-4703-B5C3-E2EF81F76380}" type="presParOf" srcId="{2EC8D091-CDAA-4B61-974C-D005BC10CFD3}" destId="{FB9BCBE1-48BF-40EA-9BCA-0B0444DFCA77}" srcOrd="1" destOrd="0" presId="urn:microsoft.com/office/officeart/2005/8/layout/lProcess1"/>
    <dgm:cxn modelId="{EF3464A3-E995-4738-BD77-37B705C9D822}" type="presParOf" srcId="{2EC8D091-CDAA-4B61-974C-D005BC10CFD3}" destId="{97CE2D05-666F-436B-81DE-E7E1C0248317}" srcOrd="2" destOrd="0" presId="urn:microsoft.com/office/officeart/2005/8/layout/lProcess1"/>
    <dgm:cxn modelId="{A5877B11-9AA7-4D63-B9DE-91D2F84C88FF}" type="presParOf" srcId="{2EC8D091-CDAA-4B61-974C-D005BC10CFD3}" destId="{FB4B6FC5-E58B-4D9B-A0FD-72CD1CFA1857}" srcOrd="3" destOrd="0" presId="urn:microsoft.com/office/officeart/2005/8/layout/lProcess1"/>
    <dgm:cxn modelId="{293C3856-6B87-4072-BD0A-27AB2B70BCF4}" type="presParOf" srcId="{2EC8D091-CDAA-4B61-974C-D005BC10CFD3}" destId="{9BD247E0-99FF-4207-85C3-5F06C3D4A5DA}" srcOrd="4" destOrd="0" presId="urn:microsoft.com/office/officeart/2005/8/layout/lProcess1"/>
    <dgm:cxn modelId="{50BB8307-DB82-406A-9AA0-93181D9E11B9}" type="presParOf" srcId="{2EC8D091-CDAA-4B61-974C-D005BC10CFD3}" destId="{8A829ABB-E7EF-4DB1-85F3-81684E474763}" srcOrd="5" destOrd="0" presId="urn:microsoft.com/office/officeart/2005/8/layout/lProcess1"/>
    <dgm:cxn modelId="{02F141FD-417F-4B24-B8F8-932CE330B498}" type="presParOf" srcId="{2EC8D091-CDAA-4B61-974C-D005BC10CFD3}" destId="{56D6D431-55FE-4F03-A3FC-BE504B1EA574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03B0A6-0492-439A-89C5-45652D2FF0FB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7813D78F-E158-470A-AFBA-D9EC7DDB0529}">
      <dgm:prSet/>
      <dgm:spPr/>
      <dgm:t>
        <a:bodyPr/>
        <a:lstStyle/>
        <a:p>
          <a:r>
            <a:rPr lang="en-NZ"/>
            <a:t>Return to Equity</a:t>
          </a:r>
        </a:p>
      </dgm:t>
    </dgm:pt>
    <dgm:pt modelId="{238008B1-CBC4-4BAB-A61F-F65787F261D4}" type="parTrans" cxnId="{9629696C-DAE0-4F97-88E2-FFB1C87728DB}">
      <dgm:prSet/>
      <dgm:spPr/>
      <dgm:t>
        <a:bodyPr/>
        <a:lstStyle/>
        <a:p>
          <a:endParaRPr lang="en-NZ"/>
        </a:p>
      </dgm:t>
    </dgm:pt>
    <dgm:pt modelId="{736196D8-677D-4B9E-B0AF-A8092AE3407B}" type="sibTrans" cxnId="{9629696C-DAE0-4F97-88E2-FFB1C87728DB}">
      <dgm:prSet/>
      <dgm:spPr/>
      <dgm:t>
        <a:bodyPr/>
        <a:lstStyle/>
        <a:p>
          <a:endParaRPr lang="en-NZ"/>
        </a:p>
      </dgm:t>
    </dgm:pt>
    <dgm:pt modelId="{7BE6DCAB-7BFB-4F6F-895F-1AFDCFD3C41F}">
      <dgm:prSet/>
      <dgm:spPr/>
      <dgm:t>
        <a:bodyPr/>
        <a:lstStyle/>
        <a:p>
          <a:r>
            <a:rPr lang="en-NZ"/>
            <a:t>The equity is the amount of money the home-owner has paid.</a:t>
          </a:r>
        </a:p>
      </dgm:t>
    </dgm:pt>
    <dgm:pt modelId="{733886E5-7322-4046-9C76-AE1420C11C1E}" type="parTrans" cxnId="{176F20CE-AB3C-4F8B-8759-E334665E92FB}">
      <dgm:prSet/>
      <dgm:spPr/>
      <dgm:t>
        <a:bodyPr/>
        <a:lstStyle/>
        <a:p>
          <a:endParaRPr lang="en-NZ"/>
        </a:p>
      </dgm:t>
    </dgm:pt>
    <dgm:pt modelId="{42409264-89D4-4F39-8BC4-F3AE423C8112}" type="sibTrans" cxnId="{176F20CE-AB3C-4F8B-8759-E334665E92FB}">
      <dgm:prSet/>
      <dgm:spPr/>
      <dgm:t>
        <a:bodyPr/>
        <a:lstStyle/>
        <a:p>
          <a:endParaRPr lang="en-NZ"/>
        </a:p>
      </dgm:t>
    </dgm:pt>
    <dgm:pt modelId="{13D8BE74-F9ED-4A7E-8CFC-7F69C88A26F2}">
      <dgm:prSet/>
      <dgm:spPr/>
      <dgm:t>
        <a:bodyPr/>
        <a:lstStyle/>
        <a:p>
          <a:r>
            <a:rPr lang="en-NZ"/>
            <a:t>The return to equity is:</a:t>
          </a:r>
        </a:p>
      </dgm:t>
    </dgm:pt>
    <dgm:pt modelId="{53E8FE6C-C3E5-4159-98D7-13E0C25A9A62}" type="parTrans" cxnId="{F4A4EC41-7ACC-4BF8-9FB3-6E49A67FC8E7}">
      <dgm:prSet/>
      <dgm:spPr/>
      <dgm:t>
        <a:bodyPr/>
        <a:lstStyle/>
        <a:p>
          <a:endParaRPr lang="en-NZ"/>
        </a:p>
      </dgm:t>
    </dgm:pt>
    <dgm:pt modelId="{582D9D90-8AA5-4863-9725-0E0CD3A16F62}" type="sibTrans" cxnId="{F4A4EC41-7ACC-4BF8-9FB3-6E49A67FC8E7}">
      <dgm:prSet/>
      <dgm:spPr/>
      <dgm:t>
        <a:bodyPr/>
        <a:lstStyle/>
        <a:p>
          <a:endParaRPr lang="en-NZ"/>
        </a:p>
      </dgm:t>
    </dgm:pt>
    <dgm:pt modelId="{56F241C0-40B0-40D8-87ED-9473671DC99D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NZ">
              <a:noFill/>
            </a:rPr>
            <a:t> </a:t>
          </a:r>
        </a:p>
      </dgm:t>
    </dgm:pt>
    <dgm:pt modelId="{6EE4E0BD-634F-4C0A-862A-CE4DEFC673B6}" type="parTrans" cxnId="{9BC82960-690C-443A-90A6-0C4D7442EE04}">
      <dgm:prSet/>
      <dgm:spPr/>
      <dgm:t>
        <a:bodyPr/>
        <a:lstStyle/>
        <a:p>
          <a:endParaRPr lang="en-NZ"/>
        </a:p>
      </dgm:t>
    </dgm:pt>
    <dgm:pt modelId="{EF0FCEF2-450F-44D8-B165-1BE9C1EDB761}" type="sibTrans" cxnId="{9BC82960-690C-443A-90A6-0C4D7442EE04}">
      <dgm:prSet/>
      <dgm:spPr/>
      <dgm:t>
        <a:bodyPr/>
        <a:lstStyle/>
        <a:p>
          <a:endParaRPr lang="en-NZ"/>
        </a:p>
      </dgm:t>
    </dgm:pt>
    <dgm:pt modelId="{FC728F35-FE1F-4F9E-B431-C6442024152E}" type="pres">
      <dgm:prSet presAssocID="{1203B0A6-0492-439A-89C5-45652D2FF0FB}" presName="Name0" presStyleCnt="0">
        <dgm:presLayoutVars>
          <dgm:dir/>
          <dgm:animLvl val="lvl"/>
          <dgm:resizeHandles val="exact"/>
        </dgm:presLayoutVars>
      </dgm:prSet>
      <dgm:spPr/>
    </dgm:pt>
    <dgm:pt modelId="{2EC8D091-CDAA-4B61-974C-D005BC10CFD3}" type="pres">
      <dgm:prSet presAssocID="{7813D78F-E158-470A-AFBA-D9EC7DDB0529}" presName="vertFlow" presStyleCnt="0"/>
      <dgm:spPr/>
    </dgm:pt>
    <dgm:pt modelId="{8885FC49-1B6A-4419-9E67-76948B63D945}" type="pres">
      <dgm:prSet presAssocID="{7813D78F-E158-470A-AFBA-D9EC7DDB0529}" presName="header" presStyleLbl="node1" presStyleIdx="0" presStyleCnt="1"/>
      <dgm:spPr/>
    </dgm:pt>
    <dgm:pt modelId="{FB9BCBE1-48BF-40EA-9BCA-0B0444DFCA77}" type="pres">
      <dgm:prSet presAssocID="{733886E5-7322-4046-9C76-AE1420C11C1E}" presName="parTrans" presStyleLbl="sibTrans2D1" presStyleIdx="0" presStyleCnt="3"/>
      <dgm:spPr/>
    </dgm:pt>
    <dgm:pt modelId="{97CE2D05-666F-436B-81DE-E7E1C0248317}" type="pres">
      <dgm:prSet presAssocID="{7BE6DCAB-7BFB-4F6F-895F-1AFDCFD3C41F}" presName="child" presStyleLbl="alignAccFollowNode1" presStyleIdx="0" presStyleCnt="3">
        <dgm:presLayoutVars>
          <dgm:chMax val="0"/>
          <dgm:bulletEnabled val="1"/>
        </dgm:presLayoutVars>
      </dgm:prSet>
      <dgm:spPr/>
    </dgm:pt>
    <dgm:pt modelId="{FB4B6FC5-E58B-4D9B-A0FD-72CD1CFA1857}" type="pres">
      <dgm:prSet presAssocID="{42409264-89D4-4F39-8BC4-F3AE423C8112}" presName="sibTrans" presStyleLbl="sibTrans2D1" presStyleIdx="1" presStyleCnt="3"/>
      <dgm:spPr/>
    </dgm:pt>
    <dgm:pt modelId="{9BD247E0-99FF-4207-85C3-5F06C3D4A5DA}" type="pres">
      <dgm:prSet presAssocID="{13D8BE74-F9ED-4A7E-8CFC-7F69C88A26F2}" presName="child" presStyleLbl="alignAccFollowNode1" presStyleIdx="1" presStyleCnt="3">
        <dgm:presLayoutVars>
          <dgm:chMax val="0"/>
          <dgm:bulletEnabled val="1"/>
        </dgm:presLayoutVars>
      </dgm:prSet>
      <dgm:spPr/>
    </dgm:pt>
    <dgm:pt modelId="{8A829ABB-E7EF-4DB1-85F3-81684E474763}" type="pres">
      <dgm:prSet presAssocID="{582D9D90-8AA5-4863-9725-0E0CD3A16F62}" presName="sibTrans" presStyleLbl="sibTrans2D1" presStyleIdx="2" presStyleCnt="3"/>
      <dgm:spPr/>
    </dgm:pt>
    <dgm:pt modelId="{56D6D431-55FE-4F03-A3FC-BE504B1EA574}" type="pres">
      <dgm:prSet presAssocID="{56F241C0-40B0-40D8-87ED-9473671DC99D}" presName="child" presStyleLbl="alignAccFollowNode1" presStyleIdx="2" presStyleCnt="3">
        <dgm:presLayoutVars>
          <dgm:chMax val="0"/>
          <dgm:bulletEnabled val="1"/>
        </dgm:presLayoutVars>
      </dgm:prSet>
      <dgm:spPr/>
    </dgm:pt>
  </dgm:ptLst>
  <dgm:cxnLst>
    <dgm:cxn modelId="{726B1626-05F7-4336-8D65-0A745CD30964}" type="presOf" srcId="{7813D78F-E158-470A-AFBA-D9EC7DDB0529}" destId="{8885FC49-1B6A-4419-9E67-76948B63D945}" srcOrd="0" destOrd="0" presId="urn:microsoft.com/office/officeart/2005/8/layout/lProcess1"/>
    <dgm:cxn modelId="{D4B7B72D-8C82-4639-901C-AD4BF3588249}" type="presOf" srcId="{13D8BE74-F9ED-4A7E-8CFC-7F69C88A26F2}" destId="{9BD247E0-99FF-4207-85C3-5F06C3D4A5DA}" srcOrd="0" destOrd="0" presId="urn:microsoft.com/office/officeart/2005/8/layout/lProcess1"/>
    <dgm:cxn modelId="{9BC82960-690C-443A-90A6-0C4D7442EE04}" srcId="{7813D78F-E158-470A-AFBA-D9EC7DDB0529}" destId="{56F241C0-40B0-40D8-87ED-9473671DC99D}" srcOrd="2" destOrd="0" parTransId="{6EE4E0BD-634F-4C0A-862A-CE4DEFC673B6}" sibTransId="{EF0FCEF2-450F-44D8-B165-1BE9C1EDB761}"/>
    <dgm:cxn modelId="{F4A4EC41-7ACC-4BF8-9FB3-6E49A67FC8E7}" srcId="{7813D78F-E158-470A-AFBA-D9EC7DDB0529}" destId="{13D8BE74-F9ED-4A7E-8CFC-7F69C88A26F2}" srcOrd="1" destOrd="0" parTransId="{53E8FE6C-C3E5-4159-98D7-13E0C25A9A62}" sibTransId="{582D9D90-8AA5-4863-9725-0E0CD3A16F62}"/>
    <dgm:cxn modelId="{9629696C-DAE0-4F97-88E2-FFB1C87728DB}" srcId="{1203B0A6-0492-439A-89C5-45652D2FF0FB}" destId="{7813D78F-E158-470A-AFBA-D9EC7DDB0529}" srcOrd="0" destOrd="0" parTransId="{238008B1-CBC4-4BAB-A61F-F65787F261D4}" sibTransId="{736196D8-677D-4B9E-B0AF-A8092AE3407B}"/>
    <dgm:cxn modelId="{9509536D-C974-49AA-8ED2-85D20E19BA54}" type="presOf" srcId="{56F241C0-40B0-40D8-87ED-9473671DC99D}" destId="{56D6D431-55FE-4F03-A3FC-BE504B1EA574}" srcOrd="0" destOrd="0" presId="urn:microsoft.com/office/officeart/2005/8/layout/lProcess1"/>
    <dgm:cxn modelId="{8264A58A-8647-42A2-B556-B00F6321D969}" type="presOf" srcId="{42409264-89D4-4F39-8BC4-F3AE423C8112}" destId="{FB4B6FC5-E58B-4D9B-A0FD-72CD1CFA1857}" srcOrd="0" destOrd="0" presId="urn:microsoft.com/office/officeart/2005/8/layout/lProcess1"/>
    <dgm:cxn modelId="{E0B31799-A9E4-4F1E-89D2-0792E0317DA5}" type="presOf" srcId="{582D9D90-8AA5-4863-9725-0E0CD3A16F62}" destId="{8A829ABB-E7EF-4DB1-85F3-81684E474763}" srcOrd="0" destOrd="0" presId="urn:microsoft.com/office/officeart/2005/8/layout/lProcess1"/>
    <dgm:cxn modelId="{9731D0B5-D2EB-4C4C-8F7F-A24CE56904F3}" type="presOf" srcId="{1203B0A6-0492-439A-89C5-45652D2FF0FB}" destId="{FC728F35-FE1F-4F9E-B431-C6442024152E}" srcOrd="0" destOrd="0" presId="urn:microsoft.com/office/officeart/2005/8/layout/lProcess1"/>
    <dgm:cxn modelId="{CA836FB6-F54C-49A7-AD14-950EE4A42BF8}" type="presOf" srcId="{7BE6DCAB-7BFB-4F6F-895F-1AFDCFD3C41F}" destId="{97CE2D05-666F-436B-81DE-E7E1C0248317}" srcOrd="0" destOrd="0" presId="urn:microsoft.com/office/officeart/2005/8/layout/lProcess1"/>
    <dgm:cxn modelId="{176F20CE-AB3C-4F8B-8759-E334665E92FB}" srcId="{7813D78F-E158-470A-AFBA-D9EC7DDB0529}" destId="{7BE6DCAB-7BFB-4F6F-895F-1AFDCFD3C41F}" srcOrd="0" destOrd="0" parTransId="{733886E5-7322-4046-9C76-AE1420C11C1E}" sibTransId="{42409264-89D4-4F39-8BC4-F3AE423C8112}"/>
    <dgm:cxn modelId="{A64F7CF9-52A4-4376-912B-1637C63940FA}" type="presOf" srcId="{733886E5-7322-4046-9C76-AE1420C11C1E}" destId="{FB9BCBE1-48BF-40EA-9BCA-0B0444DFCA77}" srcOrd="0" destOrd="0" presId="urn:microsoft.com/office/officeart/2005/8/layout/lProcess1"/>
    <dgm:cxn modelId="{0E2B7DD6-EC1C-4FC4-A9A8-457DBA57DF8E}" type="presParOf" srcId="{FC728F35-FE1F-4F9E-B431-C6442024152E}" destId="{2EC8D091-CDAA-4B61-974C-D005BC10CFD3}" srcOrd="0" destOrd="0" presId="urn:microsoft.com/office/officeart/2005/8/layout/lProcess1"/>
    <dgm:cxn modelId="{AB93FEC2-5B5A-490D-B46F-3ABE1AA827F9}" type="presParOf" srcId="{2EC8D091-CDAA-4B61-974C-D005BC10CFD3}" destId="{8885FC49-1B6A-4419-9E67-76948B63D945}" srcOrd="0" destOrd="0" presId="urn:microsoft.com/office/officeart/2005/8/layout/lProcess1"/>
    <dgm:cxn modelId="{A3E53CD0-E1BE-4703-B5C3-E2EF81F76380}" type="presParOf" srcId="{2EC8D091-CDAA-4B61-974C-D005BC10CFD3}" destId="{FB9BCBE1-48BF-40EA-9BCA-0B0444DFCA77}" srcOrd="1" destOrd="0" presId="urn:microsoft.com/office/officeart/2005/8/layout/lProcess1"/>
    <dgm:cxn modelId="{EF3464A3-E995-4738-BD77-37B705C9D822}" type="presParOf" srcId="{2EC8D091-CDAA-4B61-974C-D005BC10CFD3}" destId="{97CE2D05-666F-436B-81DE-E7E1C0248317}" srcOrd="2" destOrd="0" presId="urn:microsoft.com/office/officeart/2005/8/layout/lProcess1"/>
    <dgm:cxn modelId="{A5877B11-9AA7-4D63-B9DE-91D2F84C88FF}" type="presParOf" srcId="{2EC8D091-CDAA-4B61-974C-D005BC10CFD3}" destId="{FB4B6FC5-E58B-4D9B-A0FD-72CD1CFA1857}" srcOrd="3" destOrd="0" presId="urn:microsoft.com/office/officeart/2005/8/layout/lProcess1"/>
    <dgm:cxn modelId="{293C3856-6B87-4072-BD0A-27AB2B70BCF4}" type="presParOf" srcId="{2EC8D091-CDAA-4B61-974C-D005BC10CFD3}" destId="{9BD247E0-99FF-4207-85C3-5F06C3D4A5DA}" srcOrd="4" destOrd="0" presId="urn:microsoft.com/office/officeart/2005/8/layout/lProcess1"/>
    <dgm:cxn modelId="{50BB8307-DB82-406A-9AA0-93181D9E11B9}" type="presParOf" srcId="{2EC8D091-CDAA-4B61-974C-D005BC10CFD3}" destId="{8A829ABB-E7EF-4DB1-85F3-81684E474763}" srcOrd="5" destOrd="0" presId="urn:microsoft.com/office/officeart/2005/8/layout/lProcess1"/>
    <dgm:cxn modelId="{02F141FD-417F-4B24-B8F8-932CE330B498}" type="presParOf" srcId="{2EC8D091-CDAA-4B61-974C-D005BC10CFD3}" destId="{56D6D431-55FE-4F03-A3FC-BE504B1EA574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6788027-9D7D-43B6-998E-7835624A8688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5DA582FF-DDCD-4921-8F66-44CDFBA5091E}">
      <dgm:prSet/>
      <dgm:spPr>
        <a:solidFill>
          <a:schemeClr val="accent4">
            <a:lumMod val="90000"/>
          </a:schemeClr>
        </a:solidFill>
      </dgm:spPr>
      <dgm:t>
        <a:bodyPr/>
        <a:lstStyle/>
        <a:p>
          <a:r>
            <a:rPr lang="en-NZ" b="0" dirty="0"/>
            <a:t>Household Expectations</a:t>
          </a:r>
        </a:p>
      </dgm:t>
    </dgm:pt>
    <dgm:pt modelId="{3FD324AE-87FD-4427-98F5-C0235EC86B6D}" type="parTrans" cxnId="{27F94B21-6471-43A8-AA40-9A0ED5B36F36}">
      <dgm:prSet/>
      <dgm:spPr/>
      <dgm:t>
        <a:bodyPr/>
        <a:lstStyle/>
        <a:p>
          <a:endParaRPr lang="en-NZ"/>
        </a:p>
      </dgm:t>
    </dgm:pt>
    <dgm:pt modelId="{C8414012-A703-438E-8D70-976FC43E2E0F}" type="sibTrans" cxnId="{27F94B21-6471-43A8-AA40-9A0ED5B36F36}">
      <dgm:prSet/>
      <dgm:spPr/>
      <dgm:t>
        <a:bodyPr/>
        <a:lstStyle/>
        <a:p>
          <a:endParaRPr lang="en-NZ"/>
        </a:p>
      </dgm:t>
    </dgm:pt>
    <dgm:pt modelId="{6FCD9703-3267-4BE3-AB76-06A258F38DE1}" type="pres">
      <dgm:prSet presAssocID="{D6788027-9D7D-43B6-998E-7835624A8688}" presName="linear" presStyleCnt="0">
        <dgm:presLayoutVars>
          <dgm:animLvl val="lvl"/>
          <dgm:resizeHandles val="exact"/>
        </dgm:presLayoutVars>
      </dgm:prSet>
      <dgm:spPr/>
    </dgm:pt>
    <dgm:pt modelId="{D5601326-D190-4980-8D83-F05E24CE83DD}" type="pres">
      <dgm:prSet presAssocID="{5DA582FF-DDCD-4921-8F66-44CDFBA5091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7F94B21-6471-43A8-AA40-9A0ED5B36F36}" srcId="{D6788027-9D7D-43B6-998E-7835624A8688}" destId="{5DA582FF-DDCD-4921-8F66-44CDFBA5091E}" srcOrd="0" destOrd="0" parTransId="{3FD324AE-87FD-4427-98F5-C0235EC86B6D}" sibTransId="{C8414012-A703-438E-8D70-976FC43E2E0F}"/>
    <dgm:cxn modelId="{3499FA4E-E828-4ABB-8860-BA4116BD56AB}" type="presOf" srcId="{D6788027-9D7D-43B6-998E-7835624A8688}" destId="{6FCD9703-3267-4BE3-AB76-06A258F38DE1}" srcOrd="0" destOrd="0" presId="urn:microsoft.com/office/officeart/2005/8/layout/vList2"/>
    <dgm:cxn modelId="{D3F72D88-61B6-4703-BFE3-F9E3D91A931B}" type="presOf" srcId="{5DA582FF-DDCD-4921-8F66-44CDFBA5091E}" destId="{D5601326-D190-4980-8D83-F05E24CE83DD}" srcOrd="0" destOrd="0" presId="urn:microsoft.com/office/officeart/2005/8/layout/vList2"/>
    <dgm:cxn modelId="{F66C9E72-5428-455E-8F90-860F18286247}" type="presParOf" srcId="{6FCD9703-3267-4BE3-AB76-06A258F38DE1}" destId="{D5601326-D190-4980-8D83-F05E24CE83D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CFF6153-4FCB-4180-A736-63439406B110}" type="doc">
      <dgm:prSet loTypeId="urn:microsoft.com/office/officeart/2005/8/layout/lProcess1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24F34257-6547-4F7D-9FC1-C3F3091CFE12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If house prices are expected to rise, households increase their borrowing.</a:t>
          </a:r>
        </a:p>
      </dgm:t>
    </dgm:pt>
    <dgm:pt modelId="{7C6BE829-5D1C-4DBE-8611-213B0F05B967}" type="parTrans" cxnId="{8BB7B277-4556-4A57-84BA-6667DA1994A9}">
      <dgm:prSet/>
      <dgm:spPr/>
      <dgm:t>
        <a:bodyPr/>
        <a:lstStyle/>
        <a:p>
          <a:endParaRPr lang="en-NZ"/>
        </a:p>
      </dgm:t>
    </dgm:pt>
    <dgm:pt modelId="{58A44FCD-F2BF-477A-A4CF-910744A5D82A}" type="sibTrans" cxnId="{8BB7B277-4556-4A57-84BA-6667DA1994A9}">
      <dgm:prSet/>
      <dgm:spPr/>
      <dgm:t>
        <a:bodyPr/>
        <a:lstStyle/>
        <a:p>
          <a:endParaRPr lang="en-NZ"/>
        </a:p>
      </dgm:t>
    </dgm:pt>
    <dgm:pt modelId="{8E0DBB49-7D16-4C49-9589-65D51685DED8}">
      <dgm:prSet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NZ"/>
            <a:t>If a house costs $200k and household pays $20k, its leverage ratio is 200/20 or 10</a:t>
          </a:r>
        </a:p>
      </dgm:t>
    </dgm:pt>
    <dgm:pt modelId="{5889BD4D-010A-4E9F-9F5E-0E49A4C563AE}" type="parTrans" cxnId="{A14B9CC0-069A-43E0-BE8E-228AD6501D04}">
      <dgm:prSet/>
      <dgm:spPr/>
      <dgm:t>
        <a:bodyPr/>
        <a:lstStyle/>
        <a:p>
          <a:endParaRPr lang="en-NZ"/>
        </a:p>
      </dgm:t>
    </dgm:pt>
    <dgm:pt modelId="{466EF6AF-0573-45D6-8853-E50DF6304DA2}" type="sibTrans" cxnId="{A14B9CC0-069A-43E0-BE8E-228AD6501D04}">
      <dgm:prSet/>
      <dgm:spPr/>
      <dgm:t>
        <a:bodyPr/>
        <a:lstStyle/>
        <a:p>
          <a:endParaRPr lang="en-NZ"/>
        </a:p>
      </dgm:t>
    </dgm:pt>
    <dgm:pt modelId="{BC38184C-B193-41EF-B2A8-025934A71A39}">
      <dgm:prSet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NZ"/>
            <a:t>If house rises to $220k, the return to equity is 100%</a:t>
          </a:r>
        </a:p>
      </dgm:t>
    </dgm:pt>
    <dgm:pt modelId="{DCFC1A3A-C625-467D-869D-05DB2AD50D2F}" type="parTrans" cxnId="{7100936A-7BE5-45F2-8017-A61DAAF3D2A1}">
      <dgm:prSet/>
      <dgm:spPr/>
      <dgm:t>
        <a:bodyPr/>
        <a:lstStyle/>
        <a:p>
          <a:endParaRPr lang="en-NZ"/>
        </a:p>
      </dgm:t>
    </dgm:pt>
    <dgm:pt modelId="{F53BCA37-B2BD-431C-8218-490D68E2DA1E}" type="sibTrans" cxnId="{7100936A-7BE5-45F2-8017-A61DAAF3D2A1}">
      <dgm:prSet/>
      <dgm:spPr/>
      <dgm:t>
        <a:bodyPr/>
        <a:lstStyle/>
        <a:p>
          <a:endParaRPr lang="en-NZ"/>
        </a:p>
      </dgm:t>
    </dgm:pt>
    <dgm:pt modelId="{2DFC3B25-18C8-4461-80DB-B13FC5A2E6C3}">
      <dgm:prSet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NZ"/>
            <a:t>Household has more collateral </a:t>
          </a:r>
        </a:p>
      </dgm:t>
    </dgm:pt>
    <dgm:pt modelId="{BD4B5B9D-22F8-4A60-B209-B6A0E8A91FF1}" type="parTrans" cxnId="{B7083E67-B5C0-434D-A85D-036A67A1A9D5}">
      <dgm:prSet/>
      <dgm:spPr/>
      <dgm:t>
        <a:bodyPr/>
        <a:lstStyle/>
        <a:p>
          <a:endParaRPr lang="en-NZ"/>
        </a:p>
      </dgm:t>
    </dgm:pt>
    <dgm:pt modelId="{BA6C78FD-8CEF-4DEB-BBDB-1FD64AAA9389}" type="sibTrans" cxnId="{B7083E67-B5C0-434D-A85D-036A67A1A9D5}">
      <dgm:prSet/>
      <dgm:spPr/>
      <dgm:t>
        <a:bodyPr/>
        <a:lstStyle/>
        <a:p>
          <a:endParaRPr lang="en-NZ"/>
        </a:p>
      </dgm:t>
    </dgm:pt>
    <dgm:pt modelId="{254521F0-2216-4A50-86E5-BA9102B67804}" type="pres">
      <dgm:prSet presAssocID="{1CFF6153-4FCB-4180-A736-63439406B110}" presName="Name0" presStyleCnt="0">
        <dgm:presLayoutVars>
          <dgm:dir/>
          <dgm:animLvl val="lvl"/>
          <dgm:resizeHandles val="exact"/>
        </dgm:presLayoutVars>
      </dgm:prSet>
      <dgm:spPr/>
    </dgm:pt>
    <dgm:pt modelId="{D0EAC6B8-C763-41F3-9B66-257193E15926}" type="pres">
      <dgm:prSet presAssocID="{24F34257-6547-4F7D-9FC1-C3F3091CFE12}" presName="vertFlow" presStyleCnt="0"/>
      <dgm:spPr/>
    </dgm:pt>
    <dgm:pt modelId="{1533EF0F-3591-442E-BEE1-E3EB6482C812}" type="pres">
      <dgm:prSet presAssocID="{24F34257-6547-4F7D-9FC1-C3F3091CFE12}" presName="header" presStyleLbl="node1" presStyleIdx="0" presStyleCnt="1"/>
      <dgm:spPr/>
    </dgm:pt>
    <dgm:pt modelId="{FECA6FB8-86EE-4535-B406-4E8F5FAB4049}" type="pres">
      <dgm:prSet presAssocID="{5889BD4D-010A-4E9F-9F5E-0E49A4C563AE}" presName="parTrans" presStyleLbl="sibTrans2D1" presStyleIdx="0" presStyleCnt="3"/>
      <dgm:spPr/>
    </dgm:pt>
    <dgm:pt modelId="{074B5DFD-2EAE-4BED-A8C1-CEE7E7FD2F9C}" type="pres">
      <dgm:prSet presAssocID="{8E0DBB49-7D16-4C49-9589-65D51685DED8}" presName="child" presStyleLbl="alignAccFollowNode1" presStyleIdx="0" presStyleCnt="3">
        <dgm:presLayoutVars>
          <dgm:chMax val="0"/>
          <dgm:bulletEnabled val="1"/>
        </dgm:presLayoutVars>
      </dgm:prSet>
      <dgm:spPr/>
    </dgm:pt>
    <dgm:pt modelId="{E2FA7ED5-8D3A-4325-8EF4-F1AB70729AA8}" type="pres">
      <dgm:prSet presAssocID="{466EF6AF-0573-45D6-8853-E50DF6304DA2}" presName="sibTrans" presStyleLbl="sibTrans2D1" presStyleIdx="1" presStyleCnt="3"/>
      <dgm:spPr/>
    </dgm:pt>
    <dgm:pt modelId="{383192CD-1C55-4EB6-9010-1AE3BDAF7EFF}" type="pres">
      <dgm:prSet presAssocID="{BC38184C-B193-41EF-B2A8-025934A71A39}" presName="child" presStyleLbl="alignAccFollowNode1" presStyleIdx="1" presStyleCnt="3">
        <dgm:presLayoutVars>
          <dgm:chMax val="0"/>
          <dgm:bulletEnabled val="1"/>
        </dgm:presLayoutVars>
      </dgm:prSet>
      <dgm:spPr/>
    </dgm:pt>
    <dgm:pt modelId="{1FC70BB0-CC86-438A-A923-0687C736AD3C}" type="pres">
      <dgm:prSet presAssocID="{F53BCA37-B2BD-431C-8218-490D68E2DA1E}" presName="sibTrans" presStyleLbl="sibTrans2D1" presStyleIdx="2" presStyleCnt="3"/>
      <dgm:spPr/>
    </dgm:pt>
    <dgm:pt modelId="{D89E26CF-854C-4495-81B9-9628F00B911E}" type="pres">
      <dgm:prSet presAssocID="{2DFC3B25-18C8-4461-80DB-B13FC5A2E6C3}" presName="child" presStyleLbl="alignAccFollowNode1" presStyleIdx="2" presStyleCnt="3">
        <dgm:presLayoutVars>
          <dgm:chMax val="0"/>
          <dgm:bulletEnabled val="1"/>
        </dgm:presLayoutVars>
      </dgm:prSet>
      <dgm:spPr/>
    </dgm:pt>
  </dgm:ptLst>
  <dgm:cxnLst>
    <dgm:cxn modelId="{17CE7D0A-7208-431F-A603-28A83084DF85}" type="presOf" srcId="{466EF6AF-0573-45D6-8853-E50DF6304DA2}" destId="{E2FA7ED5-8D3A-4325-8EF4-F1AB70729AA8}" srcOrd="0" destOrd="0" presId="urn:microsoft.com/office/officeart/2005/8/layout/lProcess1"/>
    <dgm:cxn modelId="{CD56621E-01BC-4578-8F25-6D5173DCB7D9}" type="presOf" srcId="{5889BD4D-010A-4E9F-9F5E-0E49A4C563AE}" destId="{FECA6FB8-86EE-4535-B406-4E8F5FAB4049}" srcOrd="0" destOrd="0" presId="urn:microsoft.com/office/officeart/2005/8/layout/lProcess1"/>
    <dgm:cxn modelId="{B7083E67-B5C0-434D-A85D-036A67A1A9D5}" srcId="{24F34257-6547-4F7D-9FC1-C3F3091CFE12}" destId="{2DFC3B25-18C8-4461-80DB-B13FC5A2E6C3}" srcOrd="2" destOrd="0" parTransId="{BD4B5B9D-22F8-4A60-B209-B6A0E8A91FF1}" sibTransId="{BA6C78FD-8CEF-4DEB-BBDB-1FD64AAA9389}"/>
    <dgm:cxn modelId="{7100936A-7BE5-45F2-8017-A61DAAF3D2A1}" srcId="{24F34257-6547-4F7D-9FC1-C3F3091CFE12}" destId="{BC38184C-B193-41EF-B2A8-025934A71A39}" srcOrd="1" destOrd="0" parTransId="{DCFC1A3A-C625-467D-869D-05DB2AD50D2F}" sibTransId="{F53BCA37-B2BD-431C-8218-490D68E2DA1E}"/>
    <dgm:cxn modelId="{C966966B-2D6D-49EE-B063-A0C1940B099D}" type="presOf" srcId="{24F34257-6547-4F7D-9FC1-C3F3091CFE12}" destId="{1533EF0F-3591-442E-BEE1-E3EB6482C812}" srcOrd="0" destOrd="0" presId="urn:microsoft.com/office/officeart/2005/8/layout/lProcess1"/>
    <dgm:cxn modelId="{8BB7B277-4556-4A57-84BA-6667DA1994A9}" srcId="{1CFF6153-4FCB-4180-A736-63439406B110}" destId="{24F34257-6547-4F7D-9FC1-C3F3091CFE12}" srcOrd="0" destOrd="0" parTransId="{7C6BE829-5D1C-4DBE-8611-213B0F05B967}" sibTransId="{58A44FCD-F2BF-477A-A4CF-910744A5D82A}"/>
    <dgm:cxn modelId="{16E427A7-8C1B-40E6-A876-0ADCE24215EE}" type="presOf" srcId="{8E0DBB49-7D16-4C49-9589-65D51685DED8}" destId="{074B5DFD-2EAE-4BED-A8C1-CEE7E7FD2F9C}" srcOrd="0" destOrd="0" presId="urn:microsoft.com/office/officeart/2005/8/layout/lProcess1"/>
    <dgm:cxn modelId="{5E9FE1AF-564F-42D6-9281-77A28FCED38C}" type="presOf" srcId="{2DFC3B25-18C8-4461-80DB-B13FC5A2E6C3}" destId="{D89E26CF-854C-4495-81B9-9628F00B911E}" srcOrd="0" destOrd="0" presId="urn:microsoft.com/office/officeart/2005/8/layout/lProcess1"/>
    <dgm:cxn modelId="{B2E675B1-C18E-4866-AC51-BF93FA8A726D}" type="presOf" srcId="{F53BCA37-B2BD-431C-8218-490D68E2DA1E}" destId="{1FC70BB0-CC86-438A-A923-0687C736AD3C}" srcOrd="0" destOrd="0" presId="urn:microsoft.com/office/officeart/2005/8/layout/lProcess1"/>
    <dgm:cxn modelId="{A14B9CC0-069A-43E0-BE8E-228AD6501D04}" srcId="{24F34257-6547-4F7D-9FC1-C3F3091CFE12}" destId="{8E0DBB49-7D16-4C49-9589-65D51685DED8}" srcOrd="0" destOrd="0" parTransId="{5889BD4D-010A-4E9F-9F5E-0E49A4C563AE}" sibTransId="{466EF6AF-0573-45D6-8853-E50DF6304DA2}"/>
    <dgm:cxn modelId="{17598BD9-B4FA-4291-BD39-B71A82C03DC8}" type="presOf" srcId="{1CFF6153-4FCB-4180-A736-63439406B110}" destId="{254521F0-2216-4A50-86E5-BA9102B67804}" srcOrd="0" destOrd="0" presId="urn:microsoft.com/office/officeart/2005/8/layout/lProcess1"/>
    <dgm:cxn modelId="{FCB390E0-A953-4B5C-A605-340E27B33AA7}" type="presOf" srcId="{BC38184C-B193-41EF-B2A8-025934A71A39}" destId="{383192CD-1C55-4EB6-9010-1AE3BDAF7EFF}" srcOrd="0" destOrd="0" presId="urn:microsoft.com/office/officeart/2005/8/layout/lProcess1"/>
    <dgm:cxn modelId="{9C54B724-91C9-4658-B8A5-5FDB69C730B1}" type="presParOf" srcId="{254521F0-2216-4A50-86E5-BA9102B67804}" destId="{D0EAC6B8-C763-41F3-9B66-257193E15926}" srcOrd="0" destOrd="0" presId="urn:microsoft.com/office/officeart/2005/8/layout/lProcess1"/>
    <dgm:cxn modelId="{20017A6A-79F2-47BA-A784-B22824905B3C}" type="presParOf" srcId="{D0EAC6B8-C763-41F3-9B66-257193E15926}" destId="{1533EF0F-3591-442E-BEE1-E3EB6482C812}" srcOrd="0" destOrd="0" presId="urn:microsoft.com/office/officeart/2005/8/layout/lProcess1"/>
    <dgm:cxn modelId="{47172504-2650-4DE7-BD00-24246C95972D}" type="presParOf" srcId="{D0EAC6B8-C763-41F3-9B66-257193E15926}" destId="{FECA6FB8-86EE-4535-B406-4E8F5FAB4049}" srcOrd="1" destOrd="0" presId="urn:microsoft.com/office/officeart/2005/8/layout/lProcess1"/>
    <dgm:cxn modelId="{CC05508F-418B-40F4-8AB1-3F5B2342D0B3}" type="presParOf" srcId="{D0EAC6B8-C763-41F3-9B66-257193E15926}" destId="{074B5DFD-2EAE-4BED-A8C1-CEE7E7FD2F9C}" srcOrd="2" destOrd="0" presId="urn:microsoft.com/office/officeart/2005/8/layout/lProcess1"/>
    <dgm:cxn modelId="{900FD428-E56C-48F7-B955-9221BA312A69}" type="presParOf" srcId="{D0EAC6B8-C763-41F3-9B66-257193E15926}" destId="{E2FA7ED5-8D3A-4325-8EF4-F1AB70729AA8}" srcOrd="3" destOrd="0" presId="urn:microsoft.com/office/officeart/2005/8/layout/lProcess1"/>
    <dgm:cxn modelId="{B755952B-36AC-47F1-8E8C-669F2AF53830}" type="presParOf" srcId="{D0EAC6B8-C763-41F3-9B66-257193E15926}" destId="{383192CD-1C55-4EB6-9010-1AE3BDAF7EFF}" srcOrd="4" destOrd="0" presId="urn:microsoft.com/office/officeart/2005/8/layout/lProcess1"/>
    <dgm:cxn modelId="{602A3A1B-AAF9-41F8-9347-61ACB8AFB10E}" type="presParOf" srcId="{D0EAC6B8-C763-41F3-9B66-257193E15926}" destId="{1FC70BB0-CC86-438A-A923-0687C736AD3C}" srcOrd="5" destOrd="0" presId="urn:microsoft.com/office/officeart/2005/8/layout/lProcess1"/>
    <dgm:cxn modelId="{ABF56169-18EB-4995-80B5-94439B5A2228}" type="presParOf" srcId="{D0EAC6B8-C763-41F3-9B66-257193E15926}" destId="{D89E26CF-854C-4495-81B9-9628F00B911E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8E9B671-3F91-4D77-82B5-5665E420900A}" type="doc">
      <dgm:prSet loTypeId="urn:microsoft.com/office/officeart/2005/8/layout/cycle2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NZ"/>
        </a:p>
      </dgm:t>
    </dgm:pt>
    <dgm:pt modelId="{ED2F9124-DD63-477E-8142-02EBD4C5149A}">
      <dgm:prSet/>
      <dgm:spPr/>
      <dgm:t>
        <a:bodyPr/>
        <a:lstStyle/>
        <a:p>
          <a:r>
            <a:rPr lang="en-NZ"/>
            <a:t>House prices rise</a:t>
          </a:r>
        </a:p>
      </dgm:t>
    </dgm:pt>
    <dgm:pt modelId="{B82E14F2-7330-4FBC-9404-72D5AB5E121E}" type="parTrans" cxnId="{7E6075DC-02D8-4477-81B7-1E6C809E89A8}">
      <dgm:prSet/>
      <dgm:spPr/>
      <dgm:t>
        <a:bodyPr/>
        <a:lstStyle/>
        <a:p>
          <a:endParaRPr lang="en-NZ"/>
        </a:p>
      </dgm:t>
    </dgm:pt>
    <dgm:pt modelId="{0119677B-B9DA-4179-8231-408069D8EAF7}" type="sibTrans" cxnId="{7E6075DC-02D8-4477-81B7-1E6C809E89A8}">
      <dgm:prSet/>
      <dgm:spPr/>
      <dgm:t>
        <a:bodyPr/>
        <a:lstStyle/>
        <a:p>
          <a:endParaRPr lang="en-NZ"/>
        </a:p>
      </dgm:t>
    </dgm:pt>
    <dgm:pt modelId="{0487FE3F-68EE-4499-94B4-3745C3E68977}">
      <dgm:prSet/>
      <dgm:spPr/>
      <dgm:t>
        <a:bodyPr/>
        <a:lstStyle/>
        <a:p>
          <a:r>
            <a:rPr lang="en-NZ"/>
            <a:t>Equity in house increases</a:t>
          </a:r>
        </a:p>
      </dgm:t>
    </dgm:pt>
    <dgm:pt modelId="{BD256FE1-7CA1-4D31-A356-4CABD98B7FDC}" type="parTrans" cxnId="{E39D9800-7426-4AF7-B692-DE5D6141665E}">
      <dgm:prSet/>
      <dgm:spPr/>
      <dgm:t>
        <a:bodyPr/>
        <a:lstStyle/>
        <a:p>
          <a:endParaRPr lang="en-NZ"/>
        </a:p>
      </dgm:t>
    </dgm:pt>
    <dgm:pt modelId="{19D3FBE1-1ED7-47E6-974B-E4BFD3823302}" type="sibTrans" cxnId="{E39D9800-7426-4AF7-B692-DE5D6141665E}">
      <dgm:prSet/>
      <dgm:spPr/>
      <dgm:t>
        <a:bodyPr/>
        <a:lstStyle/>
        <a:p>
          <a:endParaRPr lang="en-NZ"/>
        </a:p>
      </dgm:t>
    </dgm:pt>
    <dgm:pt modelId="{2BBD25F4-E064-4899-839F-C3E0AB06C0A3}">
      <dgm:prSet/>
      <dgm:spPr/>
      <dgm:t>
        <a:bodyPr/>
        <a:lstStyle/>
        <a:p>
          <a:r>
            <a:rPr lang="en-NZ" dirty="0"/>
            <a:t>Value of collateral rises</a:t>
          </a:r>
        </a:p>
      </dgm:t>
    </dgm:pt>
    <dgm:pt modelId="{85ED7343-D465-4F5C-87F1-FAEA68A88A10}" type="parTrans" cxnId="{D82AA2F3-B272-4A75-8E61-CCFCA1DFFE5E}">
      <dgm:prSet/>
      <dgm:spPr/>
      <dgm:t>
        <a:bodyPr/>
        <a:lstStyle/>
        <a:p>
          <a:endParaRPr lang="en-NZ"/>
        </a:p>
      </dgm:t>
    </dgm:pt>
    <dgm:pt modelId="{FCBBFF2F-0B8D-4E46-8B1D-D5499D1DC6F5}" type="sibTrans" cxnId="{D82AA2F3-B272-4A75-8E61-CCFCA1DFFE5E}">
      <dgm:prSet/>
      <dgm:spPr/>
      <dgm:t>
        <a:bodyPr/>
        <a:lstStyle/>
        <a:p>
          <a:endParaRPr lang="en-NZ"/>
        </a:p>
      </dgm:t>
    </dgm:pt>
    <dgm:pt modelId="{23E29E5A-B5E5-477C-831D-5980E3AB0324}">
      <dgm:prSet/>
      <dgm:spPr/>
      <dgm:t>
        <a:bodyPr/>
        <a:lstStyle/>
        <a:p>
          <a:r>
            <a:rPr lang="en-NZ" dirty="0"/>
            <a:t>Borrowing rises</a:t>
          </a:r>
        </a:p>
      </dgm:t>
    </dgm:pt>
    <dgm:pt modelId="{E358AD9E-AA56-4541-A43A-8AA16FCD2B1D}" type="parTrans" cxnId="{1DC55210-674D-4763-9B3B-B6CCEA7E3E9C}">
      <dgm:prSet/>
      <dgm:spPr/>
      <dgm:t>
        <a:bodyPr/>
        <a:lstStyle/>
        <a:p>
          <a:endParaRPr lang="en-NZ"/>
        </a:p>
      </dgm:t>
    </dgm:pt>
    <dgm:pt modelId="{8F16C7AF-D603-4E13-9A6A-5487081BFC22}" type="sibTrans" cxnId="{1DC55210-674D-4763-9B3B-B6CCEA7E3E9C}">
      <dgm:prSet/>
      <dgm:spPr/>
      <dgm:t>
        <a:bodyPr/>
        <a:lstStyle/>
        <a:p>
          <a:endParaRPr lang="en-NZ"/>
        </a:p>
      </dgm:t>
    </dgm:pt>
    <dgm:pt modelId="{97F41C3C-2668-4F77-B07D-934CF8610CD7}" type="pres">
      <dgm:prSet presAssocID="{28E9B671-3F91-4D77-82B5-5665E420900A}" presName="cycle" presStyleCnt="0">
        <dgm:presLayoutVars>
          <dgm:dir/>
          <dgm:resizeHandles val="exact"/>
        </dgm:presLayoutVars>
      </dgm:prSet>
      <dgm:spPr/>
    </dgm:pt>
    <dgm:pt modelId="{1BE22B27-7BA5-41E5-BE34-FFF4737D30BE}" type="pres">
      <dgm:prSet presAssocID="{ED2F9124-DD63-477E-8142-02EBD4C5149A}" presName="node" presStyleLbl="node1" presStyleIdx="0" presStyleCnt="4">
        <dgm:presLayoutVars>
          <dgm:bulletEnabled val="1"/>
        </dgm:presLayoutVars>
      </dgm:prSet>
      <dgm:spPr/>
    </dgm:pt>
    <dgm:pt modelId="{745B33BF-A4EA-4B5A-BD4A-BD04B0D3AA0B}" type="pres">
      <dgm:prSet presAssocID="{0119677B-B9DA-4179-8231-408069D8EAF7}" presName="sibTrans" presStyleLbl="sibTrans2D1" presStyleIdx="0" presStyleCnt="4"/>
      <dgm:spPr/>
    </dgm:pt>
    <dgm:pt modelId="{336A9496-82E0-4BC1-AC74-0D269514FF19}" type="pres">
      <dgm:prSet presAssocID="{0119677B-B9DA-4179-8231-408069D8EAF7}" presName="connectorText" presStyleLbl="sibTrans2D1" presStyleIdx="0" presStyleCnt="4"/>
      <dgm:spPr/>
    </dgm:pt>
    <dgm:pt modelId="{89016C18-F9BC-4E7F-B329-589D89B90514}" type="pres">
      <dgm:prSet presAssocID="{0487FE3F-68EE-4499-94B4-3745C3E68977}" presName="node" presStyleLbl="node1" presStyleIdx="1" presStyleCnt="4">
        <dgm:presLayoutVars>
          <dgm:bulletEnabled val="1"/>
        </dgm:presLayoutVars>
      </dgm:prSet>
      <dgm:spPr/>
    </dgm:pt>
    <dgm:pt modelId="{74E36B28-8A09-4C5E-AF4C-1F24AB3B3F53}" type="pres">
      <dgm:prSet presAssocID="{19D3FBE1-1ED7-47E6-974B-E4BFD3823302}" presName="sibTrans" presStyleLbl="sibTrans2D1" presStyleIdx="1" presStyleCnt="4"/>
      <dgm:spPr/>
    </dgm:pt>
    <dgm:pt modelId="{C84F6EC5-28BA-47D8-BC19-F20642D1BC28}" type="pres">
      <dgm:prSet presAssocID="{19D3FBE1-1ED7-47E6-974B-E4BFD3823302}" presName="connectorText" presStyleLbl="sibTrans2D1" presStyleIdx="1" presStyleCnt="4"/>
      <dgm:spPr/>
    </dgm:pt>
    <dgm:pt modelId="{2950855F-BF17-41E1-8378-69955CCCA3E7}" type="pres">
      <dgm:prSet presAssocID="{2BBD25F4-E064-4899-839F-C3E0AB06C0A3}" presName="node" presStyleLbl="node1" presStyleIdx="2" presStyleCnt="4">
        <dgm:presLayoutVars>
          <dgm:bulletEnabled val="1"/>
        </dgm:presLayoutVars>
      </dgm:prSet>
      <dgm:spPr/>
    </dgm:pt>
    <dgm:pt modelId="{6AD88E73-25ED-42AD-84C0-A02FD6D30196}" type="pres">
      <dgm:prSet presAssocID="{FCBBFF2F-0B8D-4E46-8B1D-D5499D1DC6F5}" presName="sibTrans" presStyleLbl="sibTrans2D1" presStyleIdx="2" presStyleCnt="4"/>
      <dgm:spPr/>
    </dgm:pt>
    <dgm:pt modelId="{79AD33F3-3A84-4FD0-9C0D-FBBDB2B54CA5}" type="pres">
      <dgm:prSet presAssocID="{FCBBFF2F-0B8D-4E46-8B1D-D5499D1DC6F5}" presName="connectorText" presStyleLbl="sibTrans2D1" presStyleIdx="2" presStyleCnt="4"/>
      <dgm:spPr/>
    </dgm:pt>
    <dgm:pt modelId="{B94156C5-BA31-49E3-AAD7-EA5CCAFE965F}" type="pres">
      <dgm:prSet presAssocID="{23E29E5A-B5E5-477C-831D-5980E3AB0324}" presName="node" presStyleLbl="node1" presStyleIdx="3" presStyleCnt="4">
        <dgm:presLayoutVars>
          <dgm:bulletEnabled val="1"/>
        </dgm:presLayoutVars>
      </dgm:prSet>
      <dgm:spPr/>
    </dgm:pt>
    <dgm:pt modelId="{6FCDC007-93E7-4D99-87EA-ADF8B574781E}" type="pres">
      <dgm:prSet presAssocID="{8F16C7AF-D603-4E13-9A6A-5487081BFC22}" presName="sibTrans" presStyleLbl="sibTrans2D1" presStyleIdx="3" presStyleCnt="4"/>
      <dgm:spPr/>
    </dgm:pt>
    <dgm:pt modelId="{B74B630F-3B8E-42B1-860E-B412077CA370}" type="pres">
      <dgm:prSet presAssocID="{8F16C7AF-D603-4E13-9A6A-5487081BFC22}" presName="connectorText" presStyleLbl="sibTrans2D1" presStyleIdx="3" presStyleCnt="4"/>
      <dgm:spPr/>
    </dgm:pt>
  </dgm:ptLst>
  <dgm:cxnLst>
    <dgm:cxn modelId="{E39D9800-7426-4AF7-B692-DE5D6141665E}" srcId="{28E9B671-3F91-4D77-82B5-5665E420900A}" destId="{0487FE3F-68EE-4499-94B4-3745C3E68977}" srcOrd="1" destOrd="0" parTransId="{BD256FE1-7CA1-4D31-A356-4CABD98B7FDC}" sibTransId="{19D3FBE1-1ED7-47E6-974B-E4BFD3823302}"/>
    <dgm:cxn modelId="{C50E190F-1056-426B-8E73-F1E65852E70B}" type="presOf" srcId="{ED2F9124-DD63-477E-8142-02EBD4C5149A}" destId="{1BE22B27-7BA5-41E5-BE34-FFF4737D30BE}" srcOrd="0" destOrd="0" presId="urn:microsoft.com/office/officeart/2005/8/layout/cycle2"/>
    <dgm:cxn modelId="{1DC55210-674D-4763-9B3B-B6CCEA7E3E9C}" srcId="{28E9B671-3F91-4D77-82B5-5665E420900A}" destId="{23E29E5A-B5E5-477C-831D-5980E3AB0324}" srcOrd="3" destOrd="0" parTransId="{E358AD9E-AA56-4541-A43A-8AA16FCD2B1D}" sibTransId="{8F16C7AF-D603-4E13-9A6A-5487081BFC22}"/>
    <dgm:cxn modelId="{5EFE4518-5623-4DA2-99DE-751E719BD29F}" type="presOf" srcId="{0119677B-B9DA-4179-8231-408069D8EAF7}" destId="{336A9496-82E0-4BC1-AC74-0D269514FF19}" srcOrd="1" destOrd="0" presId="urn:microsoft.com/office/officeart/2005/8/layout/cycle2"/>
    <dgm:cxn modelId="{AFAF132B-6C59-46AE-8EA6-4BD6F7BDA10E}" type="presOf" srcId="{8F16C7AF-D603-4E13-9A6A-5487081BFC22}" destId="{6FCDC007-93E7-4D99-87EA-ADF8B574781E}" srcOrd="0" destOrd="0" presId="urn:microsoft.com/office/officeart/2005/8/layout/cycle2"/>
    <dgm:cxn modelId="{39372B66-ADFD-47F5-8199-42F8F2BF284B}" type="presOf" srcId="{0487FE3F-68EE-4499-94B4-3745C3E68977}" destId="{89016C18-F9BC-4E7F-B329-589D89B90514}" srcOrd="0" destOrd="0" presId="urn:microsoft.com/office/officeart/2005/8/layout/cycle2"/>
    <dgm:cxn modelId="{32609851-35C7-48BD-885B-373F081EA10F}" type="presOf" srcId="{FCBBFF2F-0B8D-4E46-8B1D-D5499D1DC6F5}" destId="{79AD33F3-3A84-4FD0-9C0D-FBBDB2B54CA5}" srcOrd="1" destOrd="0" presId="urn:microsoft.com/office/officeart/2005/8/layout/cycle2"/>
    <dgm:cxn modelId="{52837C7B-829D-49C1-BBF9-36D2BE2A766B}" type="presOf" srcId="{FCBBFF2F-0B8D-4E46-8B1D-D5499D1DC6F5}" destId="{6AD88E73-25ED-42AD-84C0-A02FD6D30196}" srcOrd="0" destOrd="0" presId="urn:microsoft.com/office/officeart/2005/8/layout/cycle2"/>
    <dgm:cxn modelId="{562D3183-1C81-4663-9E3C-F1B82C277855}" type="presOf" srcId="{2BBD25F4-E064-4899-839F-C3E0AB06C0A3}" destId="{2950855F-BF17-41E1-8378-69955CCCA3E7}" srcOrd="0" destOrd="0" presId="urn:microsoft.com/office/officeart/2005/8/layout/cycle2"/>
    <dgm:cxn modelId="{EDA90293-FC74-462C-82C5-169D99DC7537}" type="presOf" srcId="{19D3FBE1-1ED7-47E6-974B-E4BFD3823302}" destId="{74E36B28-8A09-4C5E-AF4C-1F24AB3B3F53}" srcOrd="0" destOrd="0" presId="urn:microsoft.com/office/officeart/2005/8/layout/cycle2"/>
    <dgm:cxn modelId="{3BFB44D3-2019-416B-BFCD-1E4D31C30D9A}" type="presOf" srcId="{0119677B-B9DA-4179-8231-408069D8EAF7}" destId="{745B33BF-A4EA-4B5A-BD4A-BD04B0D3AA0B}" srcOrd="0" destOrd="0" presId="urn:microsoft.com/office/officeart/2005/8/layout/cycle2"/>
    <dgm:cxn modelId="{771A12DB-0142-43B3-9163-4D2291417A33}" type="presOf" srcId="{23E29E5A-B5E5-477C-831D-5980E3AB0324}" destId="{B94156C5-BA31-49E3-AAD7-EA5CCAFE965F}" srcOrd="0" destOrd="0" presId="urn:microsoft.com/office/officeart/2005/8/layout/cycle2"/>
    <dgm:cxn modelId="{7E6075DC-02D8-4477-81B7-1E6C809E89A8}" srcId="{28E9B671-3F91-4D77-82B5-5665E420900A}" destId="{ED2F9124-DD63-477E-8142-02EBD4C5149A}" srcOrd="0" destOrd="0" parTransId="{B82E14F2-7330-4FBC-9404-72D5AB5E121E}" sibTransId="{0119677B-B9DA-4179-8231-408069D8EAF7}"/>
    <dgm:cxn modelId="{5B222FE1-0570-4BF5-B31B-1CFDC99FC683}" type="presOf" srcId="{8F16C7AF-D603-4E13-9A6A-5487081BFC22}" destId="{B74B630F-3B8E-42B1-860E-B412077CA370}" srcOrd="1" destOrd="0" presId="urn:microsoft.com/office/officeart/2005/8/layout/cycle2"/>
    <dgm:cxn modelId="{FE0D1EE5-CAAD-40AE-9BBA-21EE9A6BA9E1}" type="presOf" srcId="{28E9B671-3F91-4D77-82B5-5665E420900A}" destId="{97F41C3C-2668-4F77-B07D-934CF8610CD7}" srcOrd="0" destOrd="0" presId="urn:microsoft.com/office/officeart/2005/8/layout/cycle2"/>
    <dgm:cxn modelId="{D82AA2F3-B272-4A75-8E61-CCFCA1DFFE5E}" srcId="{28E9B671-3F91-4D77-82B5-5665E420900A}" destId="{2BBD25F4-E064-4899-839F-C3E0AB06C0A3}" srcOrd="2" destOrd="0" parTransId="{85ED7343-D465-4F5C-87F1-FAEA68A88A10}" sibTransId="{FCBBFF2F-0B8D-4E46-8B1D-D5499D1DC6F5}"/>
    <dgm:cxn modelId="{B34B75F7-D9A7-43F4-AAD7-A75AF95FA20B}" type="presOf" srcId="{19D3FBE1-1ED7-47E6-974B-E4BFD3823302}" destId="{C84F6EC5-28BA-47D8-BC19-F20642D1BC28}" srcOrd="1" destOrd="0" presId="urn:microsoft.com/office/officeart/2005/8/layout/cycle2"/>
    <dgm:cxn modelId="{5A2561F5-3F4F-42B3-9AA6-7F3595C396D0}" type="presParOf" srcId="{97F41C3C-2668-4F77-B07D-934CF8610CD7}" destId="{1BE22B27-7BA5-41E5-BE34-FFF4737D30BE}" srcOrd="0" destOrd="0" presId="urn:microsoft.com/office/officeart/2005/8/layout/cycle2"/>
    <dgm:cxn modelId="{DFD04640-FD40-44E6-8C12-FD1D3A793382}" type="presParOf" srcId="{97F41C3C-2668-4F77-B07D-934CF8610CD7}" destId="{745B33BF-A4EA-4B5A-BD4A-BD04B0D3AA0B}" srcOrd="1" destOrd="0" presId="urn:microsoft.com/office/officeart/2005/8/layout/cycle2"/>
    <dgm:cxn modelId="{854C46D3-4E97-4C47-A113-BFEB3352E792}" type="presParOf" srcId="{745B33BF-A4EA-4B5A-BD4A-BD04B0D3AA0B}" destId="{336A9496-82E0-4BC1-AC74-0D269514FF19}" srcOrd="0" destOrd="0" presId="urn:microsoft.com/office/officeart/2005/8/layout/cycle2"/>
    <dgm:cxn modelId="{6B8E07BF-4DDE-4630-A165-CA34E1489982}" type="presParOf" srcId="{97F41C3C-2668-4F77-B07D-934CF8610CD7}" destId="{89016C18-F9BC-4E7F-B329-589D89B90514}" srcOrd="2" destOrd="0" presId="urn:microsoft.com/office/officeart/2005/8/layout/cycle2"/>
    <dgm:cxn modelId="{C66671A2-52A1-4F20-A8A2-1158DF2A2F26}" type="presParOf" srcId="{97F41C3C-2668-4F77-B07D-934CF8610CD7}" destId="{74E36B28-8A09-4C5E-AF4C-1F24AB3B3F53}" srcOrd="3" destOrd="0" presId="urn:microsoft.com/office/officeart/2005/8/layout/cycle2"/>
    <dgm:cxn modelId="{EBDF8E62-DEEB-4E55-AE2A-BA1A88C909D3}" type="presParOf" srcId="{74E36B28-8A09-4C5E-AF4C-1F24AB3B3F53}" destId="{C84F6EC5-28BA-47D8-BC19-F20642D1BC28}" srcOrd="0" destOrd="0" presId="urn:microsoft.com/office/officeart/2005/8/layout/cycle2"/>
    <dgm:cxn modelId="{D0D0E5C0-92AB-4FFC-AA47-BE2597CCDBFE}" type="presParOf" srcId="{97F41C3C-2668-4F77-B07D-934CF8610CD7}" destId="{2950855F-BF17-41E1-8378-69955CCCA3E7}" srcOrd="4" destOrd="0" presId="urn:microsoft.com/office/officeart/2005/8/layout/cycle2"/>
    <dgm:cxn modelId="{091A8487-3994-4BE7-B752-A869CAB47BC5}" type="presParOf" srcId="{97F41C3C-2668-4F77-B07D-934CF8610CD7}" destId="{6AD88E73-25ED-42AD-84C0-A02FD6D30196}" srcOrd="5" destOrd="0" presId="urn:microsoft.com/office/officeart/2005/8/layout/cycle2"/>
    <dgm:cxn modelId="{6DCC7C15-03C3-42AD-883B-DFEB9BF11C6E}" type="presParOf" srcId="{6AD88E73-25ED-42AD-84C0-A02FD6D30196}" destId="{79AD33F3-3A84-4FD0-9C0D-FBBDB2B54CA5}" srcOrd="0" destOrd="0" presId="urn:microsoft.com/office/officeart/2005/8/layout/cycle2"/>
    <dgm:cxn modelId="{1BC93C55-F45E-4A75-9D8A-70E22723BB52}" type="presParOf" srcId="{97F41C3C-2668-4F77-B07D-934CF8610CD7}" destId="{B94156C5-BA31-49E3-AAD7-EA5CCAFE965F}" srcOrd="6" destOrd="0" presId="urn:microsoft.com/office/officeart/2005/8/layout/cycle2"/>
    <dgm:cxn modelId="{811AB529-EE7D-4F49-93A6-4F00FF9E6088}" type="presParOf" srcId="{97F41C3C-2668-4F77-B07D-934CF8610CD7}" destId="{6FCDC007-93E7-4D99-87EA-ADF8B574781E}" srcOrd="7" destOrd="0" presId="urn:microsoft.com/office/officeart/2005/8/layout/cycle2"/>
    <dgm:cxn modelId="{E849FB8E-9BF0-4531-BB9A-DF0EB9B33AA3}" type="presParOf" srcId="{6FCDC007-93E7-4D99-87EA-ADF8B574781E}" destId="{B74B630F-3B8E-42B1-860E-B412077CA37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2A809EA-C1C0-46B5-A015-DD5AFECEC7FC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NZ"/>
        </a:p>
      </dgm:t>
    </dgm:pt>
    <dgm:pt modelId="{1C7393FA-9C22-49C8-90B9-E71EA7393345}">
      <dgm:prSet/>
      <dgm:spPr/>
      <dgm:t>
        <a:bodyPr/>
        <a:lstStyle/>
        <a:p>
          <a:r>
            <a:rPr lang="en-NZ" b="0"/>
            <a:t>Causes behind the asset bubble</a:t>
          </a:r>
        </a:p>
      </dgm:t>
    </dgm:pt>
    <dgm:pt modelId="{24D1A073-1DFE-4EAF-858B-7D8215789D88}" type="parTrans" cxnId="{B2C9AD8D-7450-4D41-A020-52A463DD3789}">
      <dgm:prSet/>
      <dgm:spPr/>
      <dgm:t>
        <a:bodyPr/>
        <a:lstStyle/>
        <a:p>
          <a:endParaRPr lang="en-NZ"/>
        </a:p>
      </dgm:t>
    </dgm:pt>
    <dgm:pt modelId="{EC298A7A-7C8C-42FE-B6EA-2CF49856FBFF}" type="sibTrans" cxnId="{B2C9AD8D-7450-4D41-A020-52A463DD3789}">
      <dgm:prSet/>
      <dgm:spPr/>
      <dgm:t>
        <a:bodyPr/>
        <a:lstStyle/>
        <a:p>
          <a:endParaRPr lang="en-NZ"/>
        </a:p>
      </dgm:t>
    </dgm:pt>
    <dgm:pt modelId="{80773028-7AA2-49F9-9F53-D9E0CC1F7C53}" type="pres">
      <dgm:prSet presAssocID="{12A809EA-C1C0-46B5-A015-DD5AFECEC7FC}" presName="linear" presStyleCnt="0">
        <dgm:presLayoutVars>
          <dgm:animLvl val="lvl"/>
          <dgm:resizeHandles val="exact"/>
        </dgm:presLayoutVars>
      </dgm:prSet>
      <dgm:spPr/>
    </dgm:pt>
    <dgm:pt modelId="{4CCA56F6-C7FD-4C8D-A034-ED8036890075}" type="pres">
      <dgm:prSet presAssocID="{1C7393FA-9C22-49C8-90B9-E71EA739334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7600472-71D5-482A-9242-6EA9E5EB515B}" type="presOf" srcId="{1C7393FA-9C22-49C8-90B9-E71EA7393345}" destId="{4CCA56F6-C7FD-4C8D-A034-ED8036890075}" srcOrd="0" destOrd="0" presId="urn:microsoft.com/office/officeart/2005/8/layout/vList2"/>
    <dgm:cxn modelId="{B6D4F152-A735-4793-A05E-D14743F5C3F6}" type="presOf" srcId="{12A809EA-C1C0-46B5-A015-DD5AFECEC7FC}" destId="{80773028-7AA2-49F9-9F53-D9E0CC1F7C53}" srcOrd="0" destOrd="0" presId="urn:microsoft.com/office/officeart/2005/8/layout/vList2"/>
    <dgm:cxn modelId="{B2C9AD8D-7450-4D41-A020-52A463DD3789}" srcId="{12A809EA-C1C0-46B5-A015-DD5AFECEC7FC}" destId="{1C7393FA-9C22-49C8-90B9-E71EA7393345}" srcOrd="0" destOrd="0" parTransId="{24D1A073-1DFE-4EAF-858B-7D8215789D88}" sibTransId="{EC298A7A-7C8C-42FE-B6EA-2CF49856FBFF}"/>
    <dgm:cxn modelId="{BA47A699-E503-4CE4-A936-BBF58EFE213F}" type="presParOf" srcId="{80773028-7AA2-49F9-9F53-D9E0CC1F7C53}" destId="{4CCA56F6-C7FD-4C8D-A034-ED803689007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000EDE0-10CD-448D-B45E-59DE8767C4C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1EE846-1701-4CC3-BFD8-A59EF89AAB1B}">
      <dgm:prSet/>
      <dgm:spPr/>
      <dgm:t>
        <a:bodyPr/>
        <a:lstStyle/>
        <a:p>
          <a:r>
            <a:rPr lang="en-NZ"/>
            <a:t>Households borrowed to sustain house-price increases</a:t>
          </a:r>
          <a:endParaRPr lang="en-US"/>
        </a:p>
      </dgm:t>
    </dgm:pt>
    <dgm:pt modelId="{4277BC80-E030-45D1-9344-1198519D0486}" type="parTrans" cxnId="{866D5423-8E84-4855-86AF-54DB11522BCD}">
      <dgm:prSet/>
      <dgm:spPr/>
      <dgm:t>
        <a:bodyPr/>
        <a:lstStyle/>
        <a:p>
          <a:endParaRPr lang="en-US"/>
        </a:p>
      </dgm:t>
    </dgm:pt>
    <dgm:pt modelId="{936A63AE-D9B4-4A68-A86F-7CB79F3D9FB8}" type="sibTrans" cxnId="{866D5423-8E84-4855-86AF-54DB11522BCD}">
      <dgm:prSet/>
      <dgm:spPr/>
      <dgm:t>
        <a:bodyPr/>
        <a:lstStyle/>
        <a:p>
          <a:endParaRPr lang="en-US"/>
        </a:p>
      </dgm:t>
    </dgm:pt>
    <dgm:pt modelId="{C99A9350-E53D-4529-818B-A4AC06CD9E60}">
      <dgm:prSet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NZ"/>
            <a:t>Household debt in US rose to 135% prior to the crisis (Figure 17.9)</a:t>
          </a:r>
          <a:endParaRPr lang="en-US"/>
        </a:p>
      </dgm:t>
    </dgm:pt>
    <dgm:pt modelId="{48A54C80-6A69-4A2A-9ACC-D68EE35854FC}" type="parTrans" cxnId="{6D0F2C7E-D2EB-4B78-AD27-A5DDEADFD1E1}">
      <dgm:prSet/>
      <dgm:spPr/>
      <dgm:t>
        <a:bodyPr/>
        <a:lstStyle/>
        <a:p>
          <a:endParaRPr lang="en-US"/>
        </a:p>
      </dgm:t>
    </dgm:pt>
    <dgm:pt modelId="{26C98C47-D87C-4D75-8B7B-82BBFE031009}" type="sibTrans" cxnId="{6D0F2C7E-D2EB-4B78-AD27-A5DDEADFD1E1}">
      <dgm:prSet/>
      <dgm:spPr/>
      <dgm:t>
        <a:bodyPr/>
        <a:lstStyle/>
        <a:p>
          <a:endParaRPr lang="en-US"/>
        </a:p>
      </dgm:t>
    </dgm:pt>
    <dgm:pt modelId="{4DB68729-6FF5-477D-BBF4-948D1D9E1BBF}">
      <dgm:prSet/>
      <dgm:spPr/>
      <dgm:t>
        <a:bodyPr/>
        <a:lstStyle/>
        <a:p>
          <a:r>
            <a:rPr lang="en-NZ"/>
            <a:t>Financial deregulation and financial innovation</a:t>
          </a:r>
          <a:endParaRPr lang="en-US"/>
        </a:p>
      </dgm:t>
    </dgm:pt>
    <dgm:pt modelId="{452C9E23-8526-421D-99BC-3D24BC936EB6}" type="parTrans" cxnId="{8E0ACFC3-43D7-4168-B82F-635477BE3807}">
      <dgm:prSet/>
      <dgm:spPr/>
      <dgm:t>
        <a:bodyPr/>
        <a:lstStyle/>
        <a:p>
          <a:endParaRPr lang="en-US"/>
        </a:p>
      </dgm:t>
    </dgm:pt>
    <dgm:pt modelId="{565AE156-1F93-4D4C-B3AA-83549C8F8F8E}" type="sibTrans" cxnId="{8E0ACFC3-43D7-4168-B82F-635477BE3807}">
      <dgm:prSet/>
      <dgm:spPr/>
      <dgm:t>
        <a:bodyPr/>
        <a:lstStyle/>
        <a:p>
          <a:endParaRPr lang="en-US"/>
        </a:p>
      </dgm:t>
    </dgm:pt>
    <dgm:pt modelId="{E06FBCB5-EAC6-4CFB-BB41-3761DC7D58CF}">
      <dgm:prSet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NZ"/>
            <a:t>Banks extended more loans expecting house-prices to rise</a:t>
          </a:r>
          <a:endParaRPr lang="en-US"/>
        </a:p>
      </dgm:t>
    </dgm:pt>
    <dgm:pt modelId="{8BC3CE14-A24C-4A45-8EBE-33D01B48E882}" type="parTrans" cxnId="{A6338A6D-694C-4D52-B899-5E9F9CE6E9F4}">
      <dgm:prSet/>
      <dgm:spPr/>
      <dgm:t>
        <a:bodyPr/>
        <a:lstStyle/>
        <a:p>
          <a:endParaRPr lang="en-US"/>
        </a:p>
      </dgm:t>
    </dgm:pt>
    <dgm:pt modelId="{93A51CF1-9370-42B7-A1A2-021D0C84540C}" type="sibTrans" cxnId="{A6338A6D-694C-4D52-B899-5E9F9CE6E9F4}">
      <dgm:prSet/>
      <dgm:spPr/>
      <dgm:t>
        <a:bodyPr/>
        <a:lstStyle/>
        <a:p>
          <a:endParaRPr lang="en-US"/>
        </a:p>
      </dgm:t>
    </dgm:pt>
    <dgm:pt modelId="{C84B398D-40D8-44B2-A02A-5AD96C83A6A6}">
      <dgm:prSet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NZ"/>
            <a:t>Financial innovation led to new financial instruments based on mortgage securitisation</a:t>
          </a:r>
          <a:endParaRPr lang="en-US"/>
        </a:p>
      </dgm:t>
    </dgm:pt>
    <dgm:pt modelId="{877D0A0C-A2D2-4E1D-A7C1-E3A4463DFE06}" type="parTrans" cxnId="{2B210EFC-B60D-439C-918F-E803914483BC}">
      <dgm:prSet/>
      <dgm:spPr/>
      <dgm:t>
        <a:bodyPr/>
        <a:lstStyle/>
        <a:p>
          <a:endParaRPr lang="en-US"/>
        </a:p>
      </dgm:t>
    </dgm:pt>
    <dgm:pt modelId="{DADCED9F-18EB-41BB-9A20-DFDD58A9EEBD}" type="sibTrans" cxnId="{2B210EFC-B60D-439C-918F-E803914483BC}">
      <dgm:prSet/>
      <dgm:spPr/>
      <dgm:t>
        <a:bodyPr/>
        <a:lstStyle/>
        <a:p>
          <a:endParaRPr lang="en-US"/>
        </a:p>
      </dgm:t>
    </dgm:pt>
    <dgm:pt modelId="{0F3BC277-7F7C-4A3F-AE96-A346574B9328}">
      <dgm:prSet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NZ"/>
            <a:t>This expanded the lending to subprime borrowers</a:t>
          </a:r>
          <a:endParaRPr lang="en-US"/>
        </a:p>
      </dgm:t>
    </dgm:pt>
    <dgm:pt modelId="{F9332B5F-F0AE-4013-8467-93C88A4B58DC}" type="parTrans" cxnId="{EF9069F3-2604-4EF9-8A61-746EEE0562F2}">
      <dgm:prSet/>
      <dgm:spPr/>
      <dgm:t>
        <a:bodyPr/>
        <a:lstStyle/>
        <a:p>
          <a:endParaRPr lang="en-US"/>
        </a:p>
      </dgm:t>
    </dgm:pt>
    <dgm:pt modelId="{C0345063-989F-4EBA-BB18-1A33CA1CBDD1}" type="sibTrans" cxnId="{EF9069F3-2604-4EF9-8A61-746EEE0562F2}">
      <dgm:prSet/>
      <dgm:spPr/>
      <dgm:t>
        <a:bodyPr/>
        <a:lstStyle/>
        <a:p>
          <a:endParaRPr lang="en-US"/>
        </a:p>
      </dgm:t>
    </dgm:pt>
    <dgm:pt modelId="{56056748-779C-4404-911E-F0D8F54E8603}">
      <dgm:prSet/>
      <dgm:spPr>
        <a:solidFill>
          <a:schemeClr val="tx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NZ"/>
            <a:t>Subprime borrowers are riskier as they have less assets and income</a:t>
          </a:r>
          <a:endParaRPr lang="en-US"/>
        </a:p>
      </dgm:t>
    </dgm:pt>
    <dgm:pt modelId="{0504558A-3BD9-4DEC-A947-FD5EFA737F33}" type="parTrans" cxnId="{A38B4FA0-3C6C-4AE1-9594-F92FFFDE04A7}">
      <dgm:prSet/>
      <dgm:spPr/>
      <dgm:t>
        <a:bodyPr/>
        <a:lstStyle/>
        <a:p>
          <a:endParaRPr lang="en-US"/>
        </a:p>
      </dgm:t>
    </dgm:pt>
    <dgm:pt modelId="{C60A4F8B-A534-41E4-B49A-E1789D8C65C1}" type="sibTrans" cxnId="{A38B4FA0-3C6C-4AE1-9594-F92FFFDE04A7}">
      <dgm:prSet/>
      <dgm:spPr/>
      <dgm:t>
        <a:bodyPr/>
        <a:lstStyle/>
        <a:p>
          <a:endParaRPr lang="en-US"/>
        </a:p>
      </dgm:t>
    </dgm:pt>
    <dgm:pt modelId="{386C8824-6DAC-4BF4-9CFE-E8D681C462E5}" type="pres">
      <dgm:prSet presAssocID="{9000EDE0-10CD-448D-B45E-59DE8767C4CB}" presName="linear" presStyleCnt="0">
        <dgm:presLayoutVars>
          <dgm:dir/>
          <dgm:animLvl val="lvl"/>
          <dgm:resizeHandles val="exact"/>
        </dgm:presLayoutVars>
      </dgm:prSet>
      <dgm:spPr/>
    </dgm:pt>
    <dgm:pt modelId="{5E53D19D-884B-4E2C-AA0D-D85D05AD5972}" type="pres">
      <dgm:prSet presAssocID="{BA1EE846-1701-4CC3-BFD8-A59EF89AAB1B}" presName="parentLin" presStyleCnt="0"/>
      <dgm:spPr/>
    </dgm:pt>
    <dgm:pt modelId="{B7BA3C69-3244-47C5-9588-E2C2DA364ECA}" type="pres">
      <dgm:prSet presAssocID="{BA1EE846-1701-4CC3-BFD8-A59EF89AAB1B}" presName="parentLeftMargin" presStyleLbl="node1" presStyleIdx="0" presStyleCnt="2"/>
      <dgm:spPr/>
    </dgm:pt>
    <dgm:pt modelId="{1C90B0C7-BD5F-47C1-AB51-4C19347F52B6}" type="pres">
      <dgm:prSet presAssocID="{BA1EE846-1701-4CC3-BFD8-A59EF89AAB1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1ABA3F9-B91C-416D-91EA-845E2F09A8C9}" type="pres">
      <dgm:prSet presAssocID="{BA1EE846-1701-4CC3-BFD8-A59EF89AAB1B}" presName="negativeSpace" presStyleCnt="0"/>
      <dgm:spPr/>
    </dgm:pt>
    <dgm:pt modelId="{3D6566C6-2001-420A-A06C-3CA9B5B9DE6A}" type="pres">
      <dgm:prSet presAssocID="{BA1EE846-1701-4CC3-BFD8-A59EF89AAB1B}" presName="childText" presStyleLbl="conFgAcc1" presStyleIdx="0" presStyleCnt="2">
        <dgm:presLayoutVars>
          <dgm:bulletEnabled val="1"/>
        </dgm:presLayoutVars>
      </dgm:prSet>
      <dgm:spPr/>
    </dgm:pt>
    <dgm:pt modelId="{BF195CD2-3C32-4C6A-91D0-A41C5089EF0A}" type="pres">
      <dgm:prSet presAssocID="{936A63AE-D9B4-4A68-A86F-7CB79F3D9FB8}" presName="spaceBetweenRectangles" presStyleCnt="0"/>
      <dgm:spPr/>
    </dgm:pt>
    <dgm:pt modelId="{FFA08F4C-63D7-4C03-BDFD-CF9E89B20BA0}" type="pres">
      <dgm:prSet presAssocID="{4DB68729-6FF5-477D-BBF4-948D1D9E1BBF}" presName="parentLin" presStyleCnt="0"/>
      <dgm:spPr/>
    </dgm:pt>
    <dgm:pt modelId="{DA1470C8-754E-44C5-82B2-1CBDD4CA0CE8}" type="pres">
      <dgm:prSet presAssocID="{4DB68729-6FF5-477D-BBF4-948D1D9E1BBF}" presName="parentLeftMargin" presStyleLbl="node1" presStyleIdx="0" presStyleCnt="2"/>
      <dgm:spPr/>
    </dgm:pt>
    <dgm:pt modelId="{395AC6AE-0281-4721-B61D-1FF47B31D6AF}" type="pres">
      <dgm:prSet presAssocID="{4DB68729-6FF5-477D-BBF4-948D1D9E1BB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BCAF00B-5B04-412A-9D36-CE4773F8BD59}" type="pres">
      <dgm:prSet presAssocID="{4DB68729-6FF5-477D-BBF4-948D1D9E1BBF}" presName="negativeSpace" presStyleCnt="0"/>
      <dgm:spPr/>
    </dgm:pt>
    <dgm:pt modelId="{52ACB143-0D4E-4F66-B23A-5C83C337ABBE}" type="pres">
      <dgm:prSet presAssocID="{4DB68729-6FF5-477D-BBF4-948D1D9E1BB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32BE20C-3702-4C8F-9240-A0604A7A5C02}" type="presOf" srcId="{BA1EE846-1701-4CC3-BFD8-A59EF89AAB1B}" destId="{B7BA3C69-3244-47C5-9588-E2C2DA364ECA}" srcOrd="0" destOrd="0" presId="urn:microsoft.com/office/officeart/2005/8/layout/list1"/>
    <dgm:cxn modelId="{C32CA30E-911D-473D-A3F2-36DB1FCF6386}" type="presOf" srcId="{C99A9350-E53D-4529-818B-A4AC06CD9E60}" destId="{3D6566C6-2001-420A-A06C-3CA9B5B9DE6A}" srcOrd="0" destOrd="0" presId="urn:microsoft.com/office/officeart/2005/8/layout/list1"/>
    <dgm:cxn modelId="{866D5423-8E84-4855-86AF-54DB11522BCD}" srcId="{9000EDE0-10CD-448D-B45E-59DE8767C4CB}" destId="{BA1EE846-1701-4CC3-BFD8-A59EF89AAB1B}" srcOrd="0" destOrd="0" parTransId="{4277BC80-E030-45D1-9344-1198519D0486}" sibTransId="{936A63AE-D9B4-4A68-A86F-7CB79F3D9FB8}"/>
    <dgm:cxn modelId="{2A4B695C-FAA4-4E8A-BB14-5A4E29CC8869}" type="presOf" srcId="{C84B398D-40D8-44B2-A02A-5AD96C83A6A6}" destId="{52ACB143-0D4E-4F66-B23A-5C83C337ABBE}" srcOrd="0" destOrd="1" presId="urn:microsoft.com/office/officeart/2005/8/layout/list1"/>
    <dgm:cxn modelId="{A6338A6D-694C-4D52-B899-5E9F9CE6E9F4}" srcId="{4DB68729-6FF5-477D-BBF4-948D1D9E1BBF}" destId="{E06FBCB5-EAC6-4CFB-BB41-3761DC7D58CF}" srcOrd="0" destOrd="0" parTransId="{8BC3CE14-A24C-4A45-8EBE-33D01B48E882}" sibTransId="{93A51CF1-9370-42B7-A1A2-021D0C84540C}"/>
    <dgm:cxn modelId="{0708167A-D25E-47F0-A3CB-839216D31EC6}" type="presOf" srcId="{9000EDE0-10CD-448D-B45E-59DE8767C4CB}" destId="{386C8824-6DAC-4BF4-9CFE-E8D681C462E5}" srcOrd="0" destOrd="0" presId="urn:microsoft.com/office/officeart/2005/8/layout/list1"/>
    <dgm:cxn modelId="{6D0F2C7E-D2EB-4B78-AD27-A5DDEADFD1E1}" srcId="{BA1EE846-1701-4CC3-BFD8-A59EF89AAB1B}" destId="{C99A9350-E53D-4529-818B-A4AC06CD9E60}" srcOrd="0" destOrd="0" parTransId="{48A54C80-6A69-4A2A-9ACC-D68EE35854FC}" sibTransId="{26C98C47-D87C-4D75-8B7B-82BBFE031009}"/>
    <dgm:cxn modelId="{B3A7058A-1561-4CC0-9167-9FFB04200C74}" type="presOf" srcId="{4DB68729-6FF5-477D-BBF4-948D1D9E1BBF}" destId="{395AC6AE-0281-4721-B61D-1FF47B31D6AF}" srcOrd="1" destOrd="0" presId="urn:microsoft.com/office/officeart/2005/8/layout/list1"/>
    <dgm:cxn modelId="{A38B4FA0-3C6C-4AE1-9594-F92FFFDE04A7}" srcId="{0F3BC277-7F7C-4A3F-AE96-A346574B9328}" destId="{56056748-779C-4404-911E-F0D8F54E8603}" srcOrd="0" destOrd="0" parTransId="{0504558A-3BD9-4DEC-A947-FD5EFA737F33}" sibTransId="{C60A4F8B-A534-41E4-B49A-E1789D8C65C1}"/>
    <dgm:cxn modelId="{1DAA2BA3-4CE4-4EAC-A32D-A02DFF099071}" type="presOf" srcId="{E06FBCB5-EAC6-4CFB-BB41-3761DC7D58CF}" destId="{52ACB143-0D4E-4F66-B23A-5C83C337ABBE}" srcOrd="0" destOrd="0" presId="urn:microsoft.com/office/officeart/2005/8/layout/list1"/>
    <dgm:cxn modelId="{59B5A7B6-1C63-4A0A-9B0C-E1D339ECBE83}" type="presOf" srcId="{0F3BC277-7F7C-4A3F-AE96-A346574B9328}" destId="{52ACB143-0D4E-4F66-B23A-5C83C337ABBE}" srcOrd="0" destOrd="2" presId="urn:microsoft.com/office/officeart/2005/8/layout/list1"/>
    <dgm:cxn modelId="{8E0ACFC3-43D7-4168-B82F-635477BE3807}" srcId="{9000EDE0-10CD-448D-B45E-59DE8767C4CB}" destId="{4DB68729-6FF5-477D-BBF4-948D1D9E1BBF}" srcOrd="1" destOrd="0" parTransId="{452C9E23-8526-421D-99BC-3D24BC936EB6}" sibTransId="{565AE156-1F93-4D4C-B3AA-83549C8F8F8E}"/>
    <dgm:cxn modelId="{2A3B7BD2-4E80-45CA-A893-C9FDEC4800D2}" type="presOf" srcId="{4DB68729-6FF5-477D-BBF4-948D1D9E1BBF}" destId="{DA1470C8-754E-44C5-82B2-1CBDD4CA0CE8}" srcOrd="0" destOrd="0" presId="urn:microsoft.com/office/officeart/2005/8/layout/list1"/>
    <dgm:cxn modelId="{9D8949F2-09E1-410C-B1D5-ADA4F3A04E81}" type="presOf" srcId="{56056748-779C-4404-911E-F0D8F54E8603}" destId="{52ACB143-0D4E-4F66-B23A-5C83C337ABBE}" srcOrd="0" destOrd="3" presId="urn:microsoft.com/office/officeart/2005/8/layout/list1"/>
    <dgm:cxn modelId="{EF9069F3-2604-4EF9-8A61-746EEE0562F2}" srcId="{4DB68729-6FF5-477D-BBF4-948D1D9E1BBF}" destId="{0F3BC277-7F7C-4A3F-AE96-A346574B9328}" srcOrd="2" destOrd="0" parTransId="{F9332B5F-F0AE-4013-8467-93C88A4B58DC}" sibTransId="{C0345063-989F-4EBA-BB18-1A33CA1CBDD1}"/>
    <dgm:cxn modelId="{9A142DF5-5EA2-4CD9-8D59-D52D99A59706}" type="presOf" srcId="{BA1EE846-1701-4CC3-BFD8-A59EF89AAB1B}" destId="{1C90B0C7-BD5F-47C1-AB51-4C19347F52B6}" srcOrd="1" destOrd="0" presId="urn:microsoft.com/office/officeart/2005/8/layout/list1"/>
    <dgm:cxn modelId="{2B210EFC-B60D-439C-918F-E803914483BC}" srcId="{4DB68729-6FF5-477D-BBF4-948D1D9E1BBF}" destId="{C84B398D-40D8-44B2-A02A-5AD96C83A6A6}" srcOrd="1" destOrd="0" parTransId="{877D0A0C-A2D2-4E1D-A7C1-E3A4463DFE06}" sibTransId="{DADCED9F-18EB-41BB-9A20-DFDD58A9EEBD}"/>
    <dgm:cxn modelId="{7539DBE7-7E47-481D-8931-D0881BA597C1}" type="presParOf" srcId="{386C8824-6DAC-4BF4-9CFE-E8D681C462E5}" destId="{5E53D19D-884B-4E2C-AA0D-D85D05AD5972}" srcOrd="0" destOrd="0" presId="urn:microsoft.com/office/officeart/2005/8/layout/list1"/>
    <dgm:cxn modelId="{373A13FC-03D6-4E9D-AD6F-42333355A96B}" type="presParOf" srcId="{5E53D19D-884B-4E2C-AA0D-D85D05AD5972}" destId="{B7BA3C69-3244-47C5-9588-E2C2DA364ECA}" srcOrd="0" destOrd="0" presId="urn:microsoft.com/office/officeart/2005/8/layout/list1"/>
    <dgm:cxn modelId="{1B03EEA0-0179-463E-AE56-01CD235941E8}" type="presParOf" srcId="{5E53D19D-884B-4E2C-AA0D-D85D05AD5972}" destId="{1C90B0C7-BD5F-47C1-AB51-4C19347F52B6}" srcOrd="1" destOrd="0" presId="urn:microsoft.com/office/officeart/2005/8/layout/list1"/>
    <dgm:cxn modelId="{08FE2758-10D8-40C8-9800-D46D8C83B7E0}" type="presParOf" srcId="{386C8824-6DAC-4BF4-9CFE-E8D681C462E5}" destId="{91ABA3F9-B91C-416D-91EA-845E2F09A8C9}" srcOrd="1" destOrd="0" presId="urn:microsoft.com/office/officeart/2005/8/layout/list1"/>
    <dgm:cxn modelId="{051966A7-E86A-4408-8669-B7F39FB1D6E9}" type="presParOf" srcId="{386C8824-6DAC-4BF4-9CFE-E8D681C462E5}" destId="{3D6566C6-2001-420A-A06C-3CA9B5B9DE6A}" srcOrd="2" destOrd="0" presId="urn:microsoft.com/office/officeart/2005/8/layout/list1"/>
    <dgm:cxn modelId="{9AD04BD9-96F8-4716-BBBE-A8696099C42C}" type="presParOf" srcId="{386C8824-6DAC-4BF4-9CFE-E8D681C462E5}" destId="{BF195CD2-3C32-4C6A-91D0-A41C5089EF0A}" srcOrd="3" destOrd="0" presId="urn:microsoft.com/office/officeart/2005/8/layout/list1"/>
    <dgm:cxn modelId="{C52E9811-8F79-42E2-A737-1074ABFE2A57}" type="presParOf" srcId="{386C8824-6DAC-4BF4-9CFE-E8D681C462E5}" destId="{FFA08F4C-63D7-4C03-BDFD-CF9E89B20BA0}" srcOrd="4" destOrd="0" presId="urn:microsoft.com/office/officeart/2005/8/layout/list1"/>
    <dgm:cxn modelId="{189FFF60-F28B-43D0-BB9B-D3C816E07CC6}" type="presParOf" srcId="{FFA08F4C-63D7-4C03-BDFD-CF9E89B20BA0}" destId="{DA1470C8-754E-44C5-82B2-1CBDD4CA0CE8}" srcOrd="0" destOrd="0" presId="urn:microsoft.com/office/officeart/2005/8/layout/list1"/>
    <dgm:cxn modelId="{FEF707D8-9F0A-4AE8-A7BC-D9B810B59CE8}" type="presParOf" srcId="{FFA08F4C-63D7-4C03-BDFD-CF9E89B20BA0}" destId="{395AC6AE-0281-4721-B61D-1FF47B31D6AF}" srcOrd="1" destOrd="0" presId="urn:microsoft.com/office/officeart/2005/8/layout/list1"/>
    <dgm:cxn modelId="{09B4BD85-EEA7-4878-8A83-824A070057B2}" type="presParOf" srcId="{386C8824-6DAC-4BF4-9CFE-E8D681C462E5}" destId="{ABCAF00B-5B04-412A-9D36-CE4773F8BD59}" srcOrd="5" destOrd="0" presId="urn:microsoft.com/office/officeart/2005/8/layout/list1"/>
    <dgm:cxn modelId="{2E9BF58E-DE78-4F1F-A156-12D9836877B5}" type="presParOf" srcId="{386C8824-6DAC-4BF4-9CFE-E8D681C462E5}" destId="{52ACB143-0D4E-4F66-B23A-5C83C337ABB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C36F369-B3B1-4DAB-AA41-FA58BDC78C76}" type="doc">
      <dgm:prSet loTypeId="urn:microsoft.com/office/officeart/2005/8/layout/process4" loCatId="process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NZ"/>
        </a:p>
      </dgm:t>
    </dgm:pt>
    <dgm:pt modelId="{F3D877B6-EB73-4BC8-ADD2-0AE2A4083566}">
      <dgm:prSet/>
      <dgm:spPr/>
      <dgm:t>
        <a:bodyPr/>
        <a:lstStyle/>
        <a:p>
          <a:r>
            <a:rPr lang="en-NZ"/>
            <a:t>Banks (and related Financial Intermediaries) have, compared to other firms, very high levels of debt.</a:t>
          </a:r>
        </a:p>
      </dgm:t>
    </dgm:pt>
    <dgm:pt modelId="{4D4475AA-A45D-478D-BA54-8F721650D0A3}" type="parTrans" cxnId="{CF8C6DC1-100A-4AB9-80F9-4474B07A9C6E}">
      <dgm:prSet/>
      <dgm:spPr/>
      <dgm:t>
        <a:bodyPr/>
        <a:lstStyle/>
        <a:p>
          <a:endParaRPr lang="en-NZ"/>
        </a:p>
      </dgm:t>
    </dgm:pt>
    <dgm:pt modelId="{5E69E790-ADBC-4786-A9A1-0A90A99CDFDE}" type="sibTrans" cxnId="{CF8C6DC1-100A-4AB9-80F9-4474B07A9C6E}">
      <dgm:prSet/>
      <dgm:spPr/>
      <dgm:t>
        <a:bodyPr/>
        <a:lstStyle/>
        <a:p>
          <a:endParaRPr lang="en-NZ"/>
        </a:p>
      </dgm:t>
    </dgm:pt>
    <dgm:pt modelId="{AC04CCCC-6E1A-4CB6-8E12-16DDD112EF73}">
      <dgm:prSet/>
      <dgm:spPr/>
      <dgm:t>
        <a:bodyPr/>
        <a:lstStyle/>
        <a:p>
          <a:r>
            <a:rPr lang="en-NZ"/>
            <a:t>All their deposits are debt.</a:t>
          </a:r>
        </a:p>
      </dgm:t>
    </dgm:pt>
    <dgm:pt modelId="{AD610911-88E1-4DD8-9946-B88EB2E65B0A}" type="parTrans" cxnId="{7BBA7877-04DB-4C90-B6BB-138D12A1D160}">
      <dgm:prSet/>
      <dgm:spPr/>
      <dgm:t>
        <a:bodyPr/>
        <a:lstStyle/>
        <a:p>
          <a:endParaRPr lang="en-NZ"/>
        </a:p>
      </dgm:t>
    </dgm:pt>
    <dgm:pt modelId="{96D9B616-AD6C-4006-BFB5-4CBE33F3CA26}" type="sibTrans" cxnId="{7BBA7877-04DB-4C90-B6BB-138D12A1D160}">
      <dgm:prSet/>
      <dgm:spPr/>
      <dgm:t>
        <a:bodyPr/>
        <a:lstStyle/>
        <a:p>
          <a:endParaRPr lang="en-NZ"/>
        </a:p>
      </dgm:t>
    </dgm:pt>
    <dgm:pt modelId="{7D42063E-B746-4DDA-B00C-C5F3E136F00C}">
      <dgm:prSet/>
      <dgm:spPr/>
      <dgm:t>
        <a:bodyPr/>
        <a:lstStyle/>
        <a:p>
          <a:r>
            <a:rPr lang="en-NZ"/>
            <a:t>They must repay these deposits on demand.  </a:t>
          </a:r>
        </a:p>
      </dgm:t>
    </dgm:pt>
    <dgm:pt modelId="{95330D6B-2487-40FA-9E80-EAC45A4C4A98}" type="parTrans" cxnId="{F636934D-4831-423A-9B46-05832005DAF5}">
      <dgm:prSet/>
      <dgm:spPr/>
      <dgm:t>
        <a:bodyPr/>
        <a:lstStyle/>
        <a:p>
          <a:endParaRPr lang="en-NZ"/>
        </a:p>
      </dgm:t>
    </dgm:pt>
    <dgm:pt modelId="{DAE78EAA-F22E-436B-B996-06EAD88ED24A}" type="sibTrans" cxnId="{F636934D-4831-423A-9B46-05832005DAF5}">
      <dgm:prSet/>
      <dgm:spPr/>
      <dgm:t>
        <a:bodyPr/>
        <a:lstStyle/>
        <a:p>
          <a:endParaRPr lang="en-NZ"/>
        </a:p>
      </dgm:t>
    </dgm:pt>
    <dgm:pt modelId="{6710B069-4197-4C21-8BB4-76CB6632893F}" type="pres">
      <dgm:prSet presAssocID="{4C36F369-B3B1-4DAB-AA41-FA58BDC78C76}" presName="Name0" presStyleCnt="0">
        <dgm:presLayoutVars>
          <dgm:dir/>
          <dgm:animLvl val="lvl"/>
          <dgm:resizeHandles val="exact"/>
        </dgm:presLayoutVars>
      </dgm:prSet>
      <dgm:spPr/>
    </dgm:pt>
    <dgm:pt modelId="{A23BB59A-8CAE-454D-859E-B6FDFD898A9D}" type="pres">
      <dgm:prSet presAssocID="{7D42063E-B746-4DDA-B00C-C5F3E136F00C}" presName="boxAndChildren" presStyleCnt="0"/>
      <dgm:spPr/>
    </dgm:pt>
    <dgm:pt modelId="{8D2B4C1C-F690-4681-A920-440CE3CE8700}" type="pres">
      <dgm:prSet presAssocID="{7D42063E-B746-4DDA-B00C-C5F3E136F00C}" presName="parentTextBox" presStyleLbl="node1" presStyleIdx="0" presStyleCnt="3"/>
      <dgm:spPr/>
    </dgm:pt>
    <dgm:pt modelId="{1F3547F3-81E9-4A3B-9B53-2E955A4BE104}" type="pres">
      <dgm:prSet presAssocID="{96D9B616-AD6C-4006-BFB5-4CBE33F3CA26}" presName="sp" presStyleCnt="0"/>
      <dgm:spPr/>
    </dgm:pt>
    <dgm:pt modelId="{87711874-96F0-4512-86F2-19DD423AF71E}" type="pres">
      <dgm:prSet presAssocID="{AC04CCCC-6E1A-4CB6-8E12-16DDD112EF73}" presName="arrowAndChildren" presStyleCnt="0"/>
      <dgm:spPr/>
    </dgm:pt>
    <dgm:pt modelId="{EF516E91-BEE2-4C92-8EAB-E255FC89792B}" type="pres">
      <dgm:prSet presAssocID="{AC04CCCC-6E1A-4CB6-8E12-16DDD112EF73}" presName="parentTextArrow" presStyleLbl="node1" presStyleIdx="1" presStyleCnt="3"/>
      <dgm:spPr/>
    </dgm:pt>
    <dgm:pt modelId="{24ED725D-703D-4ABF-A840-25217445EA4F}" type="pres">
      <dgm:prSet presAssocID="{5E69E790-ADBC-4786-A9A1-0A90A99CDFDE}" presName="sp" presStyleCnt="0"/>
      <dgm:spPr/>
    </dgm:pt>
    <dgm:pt modelId="{33D9D882-DCF6-441D-BDA8-6EA83C700534}" type="pres">
      <dgm:prSet presAssocID="{F3D877B6-EB73-4BC8-ADD2-0AE2A4083566}" presName="arrowAndChildren" presStyleCnt="0"/>
      <dgm:spPr/>
    </dgm:pt>
    <dgm:pt modelId="{9BA16D36-14E9-41F6-8D18-50C39B68FE33}" type="pres">
      <dgm:prSet presAssocID="{F3D877B6-EB73-4BC8-ADD2-0AE2A4083566}" presName="parentTextArrow" presStyleLbl="node1" presStyleIdx="2" presStyleCnt="3"/>
      <dgm:spPr/>
    </dgm:pt>
  </dgm:ptLst>
  <dgm:cxnLst>
    <dgm:cxn modelId="{60D20E33-53D2-4A54-B482-EB720E53DE75}" type="presOf" srcId="{AC04CCCC-6E1A-4CB6-8E12-16DDD112EF73}" destId="{EF516E91-BEE2-4C92-8EAB-E255FC89792B}" srcOrd="0" destOrd="0" presId="urn:microsoft.com/office/officeart/2005/8/layout/process4"/>
    <dgm:cxn modelId="{F636934D-4831-423A-9B46-05832005DAF5}" srcId="{4C36F369-B3B1-4DAB-AA41-FA58BDC78C76}" destId="{7D42063E-B746-4DDA-B00C-C5F3E136F00C}" srcOrd="2" destOrd="0" parTransId="{95330D6B-2487-40FA-9E80-EAC45A4C4A98}" sibTransId="{DAE78EAA-F22E-436B-B996-06EAD88ED24A}"/>
    <dgm:cxn modelId="{7BBA7877-04DB-4C90-B6BB-138D12A1D160}" srcId="{4C36F369-B3B1-4DAB-AA41-FA58BDC78C76}" destId="{AC04CCCC-6E1A-4CB6-8E12-16DDD112EF73}" srcOrd="1" destOrd="0" parTransId="{AD610911-88E1-4DD8-9946-B88EB2E65B0A}" sibTransId="{96D9B616-AD6C-4006-BFB5-4CBE33F3CA26}"/>
    <dgm:cxn modelId="{0B79CA84-D4C7-4F3B-8389-7ACA1EF76F0B}" type="presOf" srcId="{F3D877B6-EB73-4BC8-ADD2-0AE2A4083566}" destId="{9BA16D36-14E9-41F6-8D18-50C39B68FE33}" srcOrd="0" destOrd="0" presId="urn:microsoft.com/office/officeart/2005/8/layout/process4"/>
    <dgm:cxn modelId="{2203349B-82C3-46E9-9E23-73ADFB2F2593}" type="presOf" srcId="{4C36F369-B3B1-4DAB-AA41-FA58BDC78C76}" destId="{6710B069-4197-4C21-8BB4-76CB6632893F}" srcOrd="0" destOrd="0" presId="urn:microsoft.com/office/officeart/2005/8/layout/process4"/>
    <dgm:cxn modelId="{464382B5-FEAE-4C21-A416-6A415A45C5DC}" type="presOf" srcId="{7D42063E-B746-4DDA-B00C-C5F3E136F00C}" destId="{8D2B4C1C-F690-4681-A920-440CE3CE8700}" srcOrd="0" destOrd="0" presId="urn:microsoft.com/office/officeart/2005/8/layout/process4"/>
    <dgm:cxn modelId="{CF8C6DC1-100A-4AB9-80F9-4474B07A9C6E}" srcId="{4C36F369-B3B1-4DAB-AA41-FA58BDC78C76}" destId="{F3D877B6-EB73-4BC8-ADD2-0AE2A4083566}" srcOrd="0" destOrd="0" parTransId="{4D4475AA-A45D-478D-BA54-8F721650D0A3}" sibTransId="{5E69E790-ADBC-4786-A9A1-0A90A99CDFDE}"/>
    <dgm:cxn modelId="{46E94EAF-0E6E-48D5-AE9E-C4601852D4A7}" type="presParOf" srcId="{6710B069-4197-4C21-8BB4-76CB6632893F}" destId="{A23BB59A-8CAE-454D-859E-B6FDFD898A9D}" srcOrd="0" destOrd="0" presId="urn:microsoft.com/office/officeart/2005/8/layout/process4"/>
    <dgm:cxn modelId="{7D05F78C-F45B-4206-A051-6EF5A58C264B}" type="presParOf" srcId="{A23BB59A-8CAE-454D-859E-B6FDFD898A9D}" destId="{8D2B4C1C-F690-4681-A920-440CE3CE8700}" srcOrd="0" destOrd="0" presId="urn:microsoft.com/office/officeart/2005/8/layout/process4"/>
    <dgm:cxn modelId="{7074C144-B001-47F4-93AB-6E359A233899}" type="presParOf" srcId="{6710B069-4197-4C21-8BB4-76CB6632893F}" destId="{1F3547F3-81E9-4A3B-9B53-2E955A4BE104}" srcOrd="1" destOrd="0" presId="urn:microsoft.com/office/officeart/2005/8/layout/process4"/>
    <dgm:cxn modelId="{A867C243-937F-4C2A-ADD8-7416949BD0B2}" type="presParOf" srcId="{6710B069-4197-4C21-8BB4-76CB6632893F}" destId="{87711874-96F0-4512-86F2-19DD423AF71E}" srcOrd="2" destOrd="0" presId="urn:microsoft.com/office/officeart/2005/8/layout/process4"/>
    <dgm:cxn modelId="{CD83A1A7-7A21-4434-8695-BE55E80DD4F3}" type="presParOf" srcId="{87711874-96F0-4512-86F2-19DD423AF71E}" destId="{EF516E91-BEE2-4C92-8EAB-E255FC89792B}" srcOrd="0" destOrd="0" presId="urn:microsoft.com/office/officeart/2005/8/layout/process4"/>
    <dgm:cxn modelId="{972DAF61-3EFE-4609-8009-0FB28873D375}" type="presParOf" srcId="{6710B069-4197-4C21-8BB4-76CB6632893F}" destId="{24ED725D-703D-4ABF-A840-25217445EA4F}" srcOrd="3" destOrd="0" presId="urn:microsoft.com/office/officeart/2005/8/layout/process4"/>
    <dgm:cxn modelId="{9056EC0C-0D5E-4831-ABC1-2808F6260BBE}" type="presParOf" srcId="{6710B069-4197-4C21-8BB4-76CB6632893F}" destId="{33D9D882-DCF6-441D-BDA8-6EA83C700534}" srcOrd="4" destOrd="0" presId="urn:microsoft.com/office/officeart/2005/8/layout/process4"/>
    <dgm:cxn modelId="{5003F1B3-2DEE-45CF-ADCC-99B176BF4864}" type="presParOf" srcId="{33D9D882-DCF6-441D-BDA8-6EA83C700534}" destId="{9BA16D36-14E9-41F6-8D18-50C39B68FE3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AB113D1-1954-40F1-942F-5871BF66A43B}" type="doc">
      <dgm:prSet loTypeId="urn:microsoft.com/office/officeart/2005/8/layout/vProcess5" loCatId="process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NZ"/>
        </a:p>
      </dgm:t>
    </dgm:pt>
    <dgm:pt modelId="{8069B1B2-13C7-48F3-82E8-3841C2A4390B}">
      <dgm:prSet/>
      <dgm:spPr/>
      <dgm:t>
        <a:bodyPr/>
        <a:lstStyle/>
        <a:p>
          <a:r>
            <a:rPr lang="en-NZ" dirty="0"/>
            <a:t>Banks take many </a:t>
          </a:r>
          <a:r>
            <a:rPr lang="en-NZ" dirty="0">
              <a:solidFill>
                <a:srgbClr val="FF0000"/>
              </a:solidFill>
            </a:rPr>
            <a:t>small</a:t>
          </a:r>
          <a:r>
            <a:rPr lang="en-NZ" dirty="0"/>
            <a:t> deposits and convert them into </a:t>
          </a:r>
          <a:r>
            <a:rPr lang="en-NZ" dirty="0">
              <a:solidFill>
                <a:srgbClr val="FF0000"/>
              </a:solidFill>
            </a:rPr>
            <a:t>larger</a:t>
          </a:r>
          <a:r>
            <a:rPr lang="en-NZ" dirty="0"/>
            <a:t>, long-term loans.</a:t>
          </a:r>
        </a:p>
      </dgm:t>
    </dgm:pt>
    <dgm:pt modelId="{ADA045C6-CB39-402A-A725-85A0C540FABC}" type="parTrans" cxnId="{E19C3F24-D90C-4934-9CD3-9D718A9C5A1F}">
      <dgm:prSet/>
      <dgm:spPr/>
      <dgm:t>
        <a:bodyPr/>
        <a:lstStyle/>
        <a:p>
          <a:endParaRPr lang="en-NZ"/>
        </a:p>
      </dgm:t>
    </dgm:pt>
    <dgm:pt modelId="{2766A7D4-A78C-4B8F-A67D-165C23209996}" type="sibTrans" cxnId="{E19C3F24-D90C-4934-9CD3-9D718A9C5A1F}">
      <dgm:prSet/>
      <dgm:spPr/>
      <dgm:t>
        <a:bodyPr/>
        <a:lstStyle/>
        <a:p>
          <a:endParaRPr lang="en-NZ"/>
        </a:p>
      </dgm:t>
    </dgm:pt>
    <dgm:pt modelId="{7026F8BE-E262-4D1D-842F-8D129C895185}">
      <dgm:prSet/>
      <dgm:spPr/>
      <dgm:t>
        <a:bodyPr/>
        <a:lstStyle/>
        <a:p>
          <a:r>
            <a:rPr lang="en-NZ"/>
            <a:t>They must pay interest on their deposits (cost).</a:t>
          </a:r>
        </a:p>
      </dgm:t>
    </dgm:pt>
    <dgm:pt modelId="{50AC3867-B94A-4558-8101-E38F980411F0}" type="parTrans" cxnId="{EECE11F1-A198-4B4E-9252-32ED31181E5F}">
      <dgm:prSet/>
      <dgm:spPr/>
      <dgm:t>
        <a:bodyPr/>
        <a:lstStyle/>
        <a:p>
          <a:endParaRPr lang="en-NZ"/>
        </a:p>
      </dgm:t>
    </dgm:pt>
    <dgm:pt modelId="{04941DCD-AC6D-40B1-8F58-99E54497F14D}" type="sibTrans" cxnId="{EECE11F1-A198-4B4E-9252-32ED31181E5F}">
      <dgm:prSet/>
      <dgm:spPr/>
      <dgm:t>
        <a:bodyPr/>
        <a:lstStyle/>
        <a:p>
          <a:endParaRPr lang="en-NZ"/>
        </a:p>
      </dgm:t>
    </dgm:pt>
    <dgm:pt modelId="{8D63C393-31A0-4153-8DA5-9BBD89E6C5FB}">
      <dgm:prSet/>
      <dgm:spPr/>
      <dgm:t>
        <a:bodyPr/>
        <a:lstStyle/>
        <a:p>
          <a:r>
            <a:rPr lang="en-NZ"/>
            <a:t>Their revenue comes from the interest on their loans.</a:t>
          </a:r>
        </a:p>
      </dgm:t>
    </dgm:pt>
    <dgm:pt modelId="{9D9E57B3-F287-41A1-8B09-A0ECF8125CA5}" type="parTrans" cxnId="{901219FE-E3FE-4056-AADD-553EB611F4F9}">
      <dgm:prSet/>
      <dgm:spPr/>
      <dgm:t>
        <a:bodyPr/>
        <a:lstStyle/>
        <a:p>
          <a:endParaRPr lang="en-NZ"/>
        </a:p>
      </dgm:t>
    </dgm:pt>
    <dgm:pt modelId="{7C206619-1A75-4A6A-B3B4-B5B5341D2235}" type="sibTrans" cxnId="{901219FE-E3FE-4056-AADD-553EB611F4F9}">
      <dgm:prSet/>
      <dgm:spPr/>
      <dgm:t>
        <a:bodyPr/>
        <a:lstStyle/>
        <a:p>
          <a:endParaRPr lang="en-NZ"/>
        </a:p>
      </dgm:t>
    </dgm:pt>
    <dgm:pt modelId="{6CA5A1ED-D4EF-4D20-849E-5A11DDB5780E}" type="pres">
      <dgm:prSet presAssocID="{9AB113D1-1954-40F1-942F-5871BF66A43B}" presName="outerComposite" presStyleCnt="0">
        <dgm:presLayoutVars>
          <dgm:chMax val="5"/>
          <dgm:dir/>
          <dgm:resizeHandles val="exact"/>
        </dgm:presLayoutVars>
      </dgm:prSet>
      <dgm:spPr/>
    </dgm:pt>
    <dgm:pt modelId="{33386BDA-2E96-4667-A1FB-FF131C6A2157}" type="pres">
      <dgm:prSet presAssocID="{9AB113D1-1954-40F1-942F-5871BF66A43B}" presName="dummyMaxCanvas" presStyleCnt="0">
        <dgm:presLayoutVars/>
      </dgm:prSet>
      <dgm:spPr/>
    </dgm:pt>
    <dgm:pt modelId="{C0778A7B-E8C1-4C0C-A00E-C16FA99D1F59}" type="pres">
      <dgm:prSet presAssocID="{9AB113D1-1954-40F1-942F-5871BF66A43B}" presName="ThreeNodes_1" presStyleLbl="node1" presStyleIdx="0" presStyleCnt="3">
        <dgm:presLayoutVars>
          <dgm:bulletEnabled val="1"/>
        </dgm:presLayoutVars>
      </dgm:prSet>
      <dgm:spPr/>
    </dgm:pt>
    <dgm:pt modelId="{74EC206E-4AEF-40AC-8620-12ECB53AD6DD}" type="pres">
      <dgm:prSet presAssocID="{9AB113D1-1954-40F1-942F-5871BF66A43B}" presName="ThreeNodes_2" presStyleLbl="node1" presStyleIdx="1" presStyleCnt="3">
        <dgm:presLayoutVars>
          <dgm:bulletEnabled val="1"/>
        </dgm:presLayoutVars>
      </dgm:prSet>
      <dgm:spPr/>
    </dgm:pt>
    <dgm:pt modelId="{CE095796-3789-43BA-B387-91DBD9A7C961}" type="pres">
      <dgm:prSet presAssocID="{9AB113D1-1954-40F1-942F-5871BF66A43B}" presName="ThreeNodes_3" presStyleLbl="node1" presStyleIdx="2" presStyleCnt="3">
        <dgm:presLayoutVars>
          <dgm:bulletEnabled val="1"/>
        </dgm:presLayoutVars>
      </dgm:prSet>
      <dgm:spPr/>
    </dgm:pt>
    <dgm:pt modelId="{B09AFB72-4EAC-4128-95C8-692A52008B94}" type="pres">
      <dgm:prSet presAssocID="{9AB113D1-1954-40F1-942F-5871BF66A43B}" presName="ThreeConn_1-2" presStyleLbl="fgAccFollowNode1" presStyleIdx="0" presStyleCnt="2">
        <dgm:presLayoutVars>
          <dgm:bulletEnabled val="1"/>
        </dgm:presLayoutVars>
      </dgm:prSet>
      <dgm:spPr/>
    </dgm:pt>
    <dgm:pt modelId="{2043048A-0CEE-4BB6-A9A9-A46A3B986269}" type="pres">
      <dgm:prSet presAssocID="{9AB113D1-1954-40F1-942F-5871BF66A43B}" presName="ThreeConn_2-3" presStyleLbl="fgAccFollowNode1" presStyleIdx="1" presStyleCnt="2">
        <dgm:presLayoutVars>
          <dgm:bulletEnabled val="1"/>
        </dgm:presLayoutVars>
      </dgm:prSet>
      <dgm:spPr/>
    </dgm:pt>
    <dgm:pt modelId="{FE47E9EE-8B1C-4243-A746-527E16D473FD}" type="pres">
      <dgm:prSet presAssocID="{9AB113D1-1954-40F1-942F-5871BF66A43B}" presName="ThreeNodes_1_text" presStyleLbl="node1" presStyleIdx="2" presStyleCnt="3">
        <dgm:presLayoutVars>
          <dgm:bulletEnabled val="1"/>
        </dgm:presLayoutVars>
      </dgm:prSet>
      <dgm:spPr/>
    </dgm:pt>
    <dgm:pt modelId="{1A40A833-C611-485B-93F4-881E38ECF659}" type="pres">
      <dgm:prSet presAssocID="{9AB113D1-1954-40F1-942F-5871BF66A43B}" presName="ThreeNodes_2_text" presStyleLbl="node1" presStyleIdx="2" presStyleCnt="3">
        <dgm:presLayoutVars>
          <dgm:bulletEnabled val="1"/>
        </dgm:presLayoutVars>
      </dgm:prSet>
      <dgm:spPr/>
    </dgm:pt>
    <dgm:pt modelId="{DB7E2C1F-F634-44D4-9D66-C9E54E9C1CD0}" type="pres">
      <dgm:prSet presAssocID="{9AB113D1-1954-40F1-942F-5871BF66A43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B9BF103-067C-4984-AA6F-D69BFF60FDC7}" type="presOf" srcId="{8D63C393-31A0-4153-8DA5-9BBD89E6C5FB}" destId="{DB7E2C1F-F634-44D4-9D66-C9E54E9C1CD0}" srcOrd="1" destOrd="0" presId="urn:microsoft.com/office/officeart/2005/8/layout/vProcess5"/>
    <dgm:cxn modelId="{E19C3F24-D90C-4934-9CD3-9D718A9C5A1F}" srcId="{9AB113D1-1954-40F1-942F-5871BF66A43B}" destId="{8069B1B2-13C7-48F3-82E8-3841C2A4390B}" srcOrd="0" destOrd="0" parTransId="{ADA045C6-CB39-402A-A725-85A0C540FABC}" sibTransId="{2766A7D4-A78C-4B8F-A67D-165C23209996}"/>
    <dgm:cxn modelId="{61237162-590A-4EDD-8D55-9A0560EAA7A1}" type="presOf" srcId="{04941DCD-AC6D-40B1-8F58-99E54497F14D}" destId="{2043048A-0CEE-4BB6-A9A9-A46A3B986269}" srcOrd="0" destOrd="0" presId="urn:microsoft.com/office/officeart/2005/8/layout/vProcess5"/>
    <dgm:cxn modelId="{383CDFA3-0CE7-4C9D-8040-4CFF6FBE5764}" type="presOf" srcId="{8069B1B2-13C7-48F3-82E8-3841C2A4390B}" destId="{FE47E9EE-8B1C-4243-A746-527E16D473FD}" srcOrd="1" destOrd="0" presId="urn:microsoft.com/office/officeart/2005/8/layout/vProcess5"/>
    <dgm:cxn modelId="{FF67EAA5-BDCA-4B55-938A-F48EC057374C}" type="presOf" srcId="{8069B1B2-13C7-48F3-82E8-3841C2A4390B}" destId="{C0778A7B-E8C1-4C0C-A00E-C16FA99D1F59}" srcOrd="0" destOrd="0" presId="urn:microsoft.com/office/officeart/2005/8/layout/vProcess5"/>
    <dgm:cxn modelId="{586075BA-F83E-4B66-981B-FA68144EC776}" type="presOf" srcId="{7026F8BE-E262-4D1D-842F-8D129C895185}" destId="{1A40A833-C611-485B-93F4-881E38ECF659}" srcOrd="1" destOrd="0" presId="urn:microsoft.com/office/officeart/2005/8/layout/vProcess5"/>
    <dgm:cxn modelId="{3B42F5C8-F07E-450C-B0B7-1428B4F6D63D}" type="presOf" srcId="{8D63C393-31A0-4153-8DA5-9BBD89E6C5FB}" destId="{CE095796-3789-43BA-B387-91DBD9A7C961}" srcOrd="0" destOrd="0" presId="urn:microsoft.com/office/officeart/2005/8/layout/vProcess5"/>
    <dgm:cxn modelId="{074BDBCB-E2FC-42E0-988F-3B3FBBDBDC7D}" type="presOf" srcId="{7026F8BE-E262-4D1D-842F-8D129C895185}" destId="{74EC206E-4AEF-40AC-8620-12ECB53AD6DD}" srcOrd="0" destOrd="0" presId="urn:microsoft.com/office/officeart/2005/8/layout/vProcess5"/>
    <dgm:cxn modelId="{F7D55CCF-659E-4B93-BDB2-556BA56B1DF8}" type="presOf" srcId="{9AB113D1-1954-40F1-942F-5871BF66A43B}" destId="{6CA5A1ED-D4EF-4D20-849E-5A11DDB5780E}" srcOrd="0" destOrd="0" presId="urn:microsoft.com/office/officeart/2005/8/layout/vProcess5"/>
    <dgm:cxn modelId="{A1A554EB-CDCF-4A59-B746-22557F5D4F18}" type="presOf" srcId="{2766A7D4-A78C-4B8F-A67D-165C23209996}" destId="{B09AFB72-4EAC-4128-95C8-692A52008B94}" srcOrd="0" destOrd="0" presId="urn:microsoft.com/office/officeart/2005/8/layout/vProcess5"/>
    <dgm:cxn modelId="{EECE11F1-A198-4B4E-9252-32ED31181E5F}" srcId="{9AB113D1-1954-40F1-942F-5871BF66A43B}" destId="{7026F8BE-E262-4D1D-842F-8D129C895185}" srcOrd="1" destOrd="0" parTransId="{50AC3867-B94A-4558-8101-E38F980411F0}" sibTransId="{04941DCD-AC6D-40B1-8F58-99E54497F14D}"/>
    <dgm:cxn modelId="{901219FE-E3FE-4056-AADD-553EB611F4F9}" srcId="{9AB113D1-1954-40F1-942F-5871BF66A43B}" destId="{8D63C393-31A0-4153-8DA5-9BBD89E6C5FB}" srcOrd="2" destOrd="0" parTransId="{9D9E57B3-F287-41A1-8B09-A0ECF8125CA5}" sibTransId="{7C206619-1A75-4A6A-B3B4-B5B5341D2235}"/>
    <dgm:cxn modelId="{9FE95149-F8DE-4F35-9C3F-8DB9825C1CF7}" type="presParOf" srcId="{6CA5A1ED-D4EF-4D20-849E-5A11DDB5780E}" destId="{33386BDA-2E96-4667-A1FB-FF131C6A2157}" srcOrd="0" destOrd="0" presId="urn:microsoft.com/office/officeart/2005/8/layout/vProcess5"/>
    <dgm:cxn modelId="{17880E09-8005-4196-9E27-39EF15DF45A0}" type="presParOf" srcId="{6CA5A1ED-D4EF-4D20-849E-5A11DDB5780E}" destId="{C0778A7B-E8C1-4C0C-A00E-C16FA99D1F59}" srcOrd="1" destOrd="0" presId="urn:microsoft.com/office/officeart/2005/8/layout/vProcess5"/>
    <dgm:cxn modelId="{DD9C85C9-2B5C-467D-81D1-558CF9C255C3}" type="presParOf" srcId="{6CA5A1ED-D4EF-4D20-849E-5A11DDB5780E}" destId="{74EC206E-4AEF-40AC-8620-12ECB53AD6DD}" srcOrd="2" destOrd="0" presId="urn:microsoft.com/office/officeart/2005/8/layout/vProcess5"/>
    <dgm:cxn modelId="{30ED5FD1-63C3-4261-8225-2C1F0FB316C2}" type="presParOf" srcId="{6CA5A1ED-D4EF-4D20-849E-5A11DDB5780E}" destId="{CE095796-3789-43BA-B387-91DBD9A7C961}" srcOrd="3" destOrd="0" presId="urn:microsoft.com/office/officeart/2005/8/layout/vProcess5"/>
    <dgm:cxn modelId="{58A6ACDA-2354-4903-885A-280235A2E592}" type="presParOf" srcId="{6CA5A1ED-D4EF-4D20-849E-5A11DDB5780E}" destId="{B09AFB72-4EAC-4128-95C8-692A52008B94}" srcOrd="4" destOrd="0" presId="urn:microsoft.com/office/officeart/2005/8/layout/vProcess5"/>
    <dgm:cxn modelId="{2DF94D0A-F610-42E8-81EF-40E263A9F949}" type="presParOf" srcId="{6CA5A1ED-D4EF-4D20-849E-5A11DDB5780E}" destId="{2043048A-0CEE-4BB6-A9A9-A46A3B986269}" srcOrd="5" destOrd="0" presId="urn:microsoft.com/office/officeart/2005/8/layout/vProcess5"/>
    <dgm:cxn modelId="{13CD5A17-F246-428F-8C8E-BF2F12D7CFF5}" type="presParOf" srcId="{6CA5A1ED-D4EF-4D20-849E-5A11DDB5780E}" destId="{FE47E9EE-8B1C-4243-A746-527E16D473FD}" srcOrd="6" destOrd="0" presId="urn:microsoft.com/office/officeart/2005/8/layout/vProcess5"/>
    <dgm:cxn modelId="{72D6D385-C123-49F2-BC9C-6E4596B67E3B}" type="presParOf" srcId="{6CA5A1ED-D4EF-4D20-849E-5A11DDB5780E}" destId="{1A40A833-C611-485B-93F4-881E38ECF659}" srcOrd="7" destOrd="0" presId="urn:microsoft.com/office/officeart/2005/8/layout/vProcess5"/>
    <dgm:cxn modelId="{58AB919F-AC94-4EF8-B519-C33519C987A6}" type="presParOf" srcId="{6CA5A1ED-D4EF-4D20-849E-5A11DDB5780E}" destId="{DB7E2C1F-F634-44D4-9D66-C9E54E9C1CD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43AC7CB-A0C1-4135-9D86-7F43EDF3AA6B}" type="doc">
      <dgm:prSet loTypeId="urn:microsoft.com/office/officeart/2005/8/layout/process4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FB2878D8-91AF-4BDA-A99C-00AE46C26FB4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Loan repayments (interest) fund the depositors (debt owners) interest payments.</a:t>
          </a:r>
          <a:endParaRPr lang="en-NZ" dirty="0"/>
        </a:p>
      </dgm:t>
    </dgm:pt>
    <dgm:pt modelId="{3AAB4E3B-A15D-4ADC-83A3-C5A5D5CC5CDD}" type="parTrans" cxnId="{D79E6DA7-123F-4CDD-BA10-A961FE97CFAE}">
      <dgm:prSet/>
      <dgm:spPr/>
      <dgm:t>
        <a:bodyPr/>
        <a:lstStyle/>
        <a:p>
          <a:endParaRPr lang="en-NZ"/>
        </a:p>
      </dgm:t>
    </dgm:pt>
    <dgm:pt modelId="{EC91EA70-7E7C-4E8D-BEBE-380138EA5032}" type="sibTrans" cxnId="{D79E6DA7-123F-4CDD-BA10-A961FE97CFAE}">
      <dgm:prSet/>
      <dgm:spPr/>
      <dgm:t>
        <a:bodyPr/>
        <a:lstStyle/>
        <a:p>
          <a:endParaRPr lang="en-NZ"/>
        </a:p>
      </dgm:t>
    </dgm:pt>
    <dgm:pt modelId="{9A669023-CC04-4A0A-BDB5-5D7EF9C3496A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If loans cannot be repaid, the FI liquidates collateral to repay their </a:t>
          </a:r>
          <a:r>
            <a:rPr lang="en-US" dirty="0" err="1"/>
            <a:t>depositers</a:t>
          </a:r>
          <a:r>
            <a:rPr lang="en-US" dirty="0"/>
            <a:t>.</a:t>
          </a:r>
          <a:endParaRPr lang="en-NZ" dirty="0"/>
        </a:p>
      </dgm:t>
    </dgm:pt>
    <dgm:pt modelId="{360E2A93-0CC9-4235-A36B-A7CAAEA4A2F1}" type="parTrans" cxnId="{6A2031E1-67B0-4F39-A208-D10A40E3A171}">
      <dgm:prSet/>
      <dgm:spPr/>
      <dgm:t>
        <a:bodyPr/>
        <a:lstStyle/>
        <a:p>
          <a:endParaRPr lang="en-NZ"/>
        </a:p>
      </dgm:t>
    </dgm:pt>
    <dgm:pt modelId="{0B9793D4-CC57-4F9D-B43C-412C9C3E5382}" type="sibTrans" cxnId="{6A2031E1-67B0-4F39-A208-D10A40E3A171}">
      <dgm:prSet/>
      <dgm:spPr/>
      <dgm:t>
        <a:bodyPr/>
        <a:lstStyle/>
        <a:p>
          <a:endParaRPr lang="en-NZ"/>
        </a:p>
      </dgm:t>
    </dgm:pt>
    <dgm:pt modelId="{3B79E0E1-29B7-47DA-9BB1-A89069F63C1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If the collateral and loan repayments exceed the deposits the FI is solvent.</a:t>
          </a:r>
          <a:endParaRPr lang="en-NZ" dirty="0"/>
        </a:p>
      </dgm:t>
    </dgm:pt>
    <dgm:pt modelId="{5658DF92-2228-4D46-AC36-D0C73A8AEE28}" type="parTrans" cxnId="{D1DC6806-F427-4720-B96C-EDF46F0203C9}">
      <dgm:prSet/>
      <dgm:spPr/>
      <dgm:t>
        <a:bodyPr/>
        <a:lstStyle/>
        <a:p>
          <a:endParaRPr lang="en-NZ"/>
        </a:p>
      </dgm:t>
    </dgm:pt>
    <dgm:pt modelId="{3A287F82-842D-45B6-A4DE-82D82F050C21}" type="sibTrans" cxnId="{D1DC6806-F427-4720-B96C-EDF46F0203C9}">
      <dgm:prSet/>
      <dgm:spPr/>
      <dgm:t>
        <a:bodyPr/>
        <a:lstStyle/>
        <a:p>
          <a:endParaRPr lang="en-NZ"/>
        </a:p>
      </dgm:t>
    </dgm:pt>
    <dgm:pt modelId="{F51CCFD3-90DC-4BCA-B63D-0E5ECB69CBAF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If the collateral loses value and loan repayments drop, the FI can quickly become insolvent. </a:t>
          </a:r>
          <a:endParaRPr lang="en-NZ" dirty="0"/>
        </a:p>
      </dgm:t>
    </dgm:pt>
    <dgm:pt modelId="{36CB17F6-97A6-4D2B-ACCD-6F14DFA3E840}" type="parTrans" cxnId="{0B5B764F-698F-4E78-A3CF-5FA65B28B19F}">
      <dgm:prSet/>
      <dgm:spPr/>
      <dgm:t>
        <a:bodyPr/>
        <a:lstStyle/>
        <a:p>
          <a:endParaRPr lang="en-NZ"/>
        </a:p>
      </dgm:t>
    </dgm:pt>
    <dgm:pt modelId="{20AA33CB-E941-4F45-AFC2-91F7A570E108}" type="sibTrans" cxnId="{0B5B764F-698F-4E78-A3CF-5FA65B28B19F}">
      <dgm:prSet/>
      <dgm:spPr/>
      <dgm:t>
        <a:bodyPr/>
        <a:lstStyle/>
        <a:p>
          <a:endParaRPr lang="en-NZ"/>
        </a:p>
      </dgm:t>
    </dgm:pt>
    <dgm:pt modelId="{0A6CCD78-0DB1-48E9-9AC0-2D741197F0B1}" type="pres">
      <dgm:prSet presAssocID="{A43AC7CB-A0C1-4135-9D86-7F43EDF3AA6B}" presName="Name0" presStyleCnt="0">
        <dgm:presLayoutVars>
          <dgm:dir/>
          <dgm:animLvl val="lvl"/>
          <dgm:resizeHandles val="exact"/>
        </dgm:presLayoutVars>
      </dgm:prSet>
      <dgm:spPr/>
    </dgm:pt>
    <dgm:pt modelId="{694CE6BC-C884-4CF9-BA0D-1C61B347D786}" type="pres">
      <dgm:prSet presAssocID="{F51CCFD3-90DC-4BCA-B63D-0E5ECB69CBAF}" presName="boxAndChildren" presStyleCnt="0"/>
      <dgm:spPr/>
    </dgm:pt>
    <dgm:pt modelId="{60DB3AE9-D1B2-4282-A954-195D8E083EDE}" type="pres">
      <dgm:prSet presAssocID="{F51CCFD3-90DC-4BCA-B63D-0E5ECB69CBAF}" presName="parentTextBox" presStyleLbl="node1" presStyleIdx="0" presStyleCnt="4"/>
      <dgm:spPr/>
    </dgm:pt>
    <dgm:pt modelId="{106BA153-939B-4581-92E9-A50B7896F70A}" type="pres">
      <dgm:prSet presAssocID="{3A287F82-842D-45B6-A4DE-82D82F050C21}" presName="sp" presStyleCnt="0"/>
      <dgm:spPr/>
    </dgm:pt>
    <dgm:pt modelId="{1A52C6C4-55AA-41DE-A089-C8EC07B973C5}" type="pres">
      <dgm:prSet presAssocID="{3B79E0E1-29B7-47DA-9BB1-A89069F63C16}" presName="arrowAndChildren" presStyleCnt="0"/>
      <dgm:spPr/>
    </dgm:pt>
    <dgm:pt modelId="{354ED365-2131-4E84-9518-B328CB4E1E51}" type="pres">
      <dgm:prSet presAssocID="{3B79E0E1-29B7-47DA-9BB1-A89069F63C16}" presName="parentTextArrow" presStyleLbl="node1" presStyleIdx="1" presStyleCnt="4"/>
      <dgm:spPr/>
    </dgm:pt>
    <dgm:pt modelId="{CBBF365F-BAAF-4452-8353-1E247485064B}" type="pres">
      <dgm:prSet presAssocID="{0B9793D4-CC57-4F9D-B43C-412C9C3E5382}" presName="sp" presStyleCnt="0"/>
      <dgm:spPr/>
    </dgm:pt>
    <dgm:pt modelId="{9565DB29-75F5-416B-ACF8-812E0E89B7EA}" type="pres">
      <dgm:prSet presAssocID="{9A669023-CC04-4A0A-BDB5-5D7EF9C3496A}" presName="arrowAndChildren" presStyleCnt="0"/>
      <dgm:spPr/>
    </dgm:pt>
    <dgm:pt modelId="{75AD0CD4-28A7-43A7-AF62-25104BB84A63}" type="pres">
      <dgm:prSet presAssocID="{9A669023-CC04-4A0A-BDB5-5D7EF9C3496A}" presName="parentTextArrow" presStyleLbl="node1" presStyleIdx="2" presStyleCnt="4"/>
      <dgm:spPr/>
    </dgm:pt>
    <dgm:pt modelId="{F5319F80-F5A8-4419-AB24-8EA96764AA55}" type="pres">
      <dgm:prSet presAssocID="{EC91EA70-7E7C-4E8D-BEBE-380138EA5032}" presName="sp" presStyleCnt="0"/>
      <dgm:spPr/>
    </dgm:pt>
    <dgm:pt modelId="{DBC7E63A-0B4A-4F01-BD25-63CC46EB6425}" type="pres">
      <dgm:prSet presAssocID="{FB2878D8-91AF-4BDA-A99C-00AE46C26FB4}" presName="arrowAndChildren" presStyleCnt="0"/>
      <dgm:spPr/>
    </dgm:pt>
    <dgm:pt modelId="{A9DE6900-EE9C-4611-8EF5-6126515806C5}" type="pres">
      <dgm:prSet presAssocID="{FB2878D8-91AF-4BDA-A99C-00AE46C26FB4}" presName="parentTextArrow" presStyleLbl="node1" presStyleIdx="3" presStyleCnt="4"/>
      <dgm:spPr/>
    </dgm:pt>
  </dgm:ptLst>
  <dgm:cxnLst>
    <dgm:cxn modelId="{D1DC6806-F427-4720-B96C-EDF46F0203C9}" srcId="{A43AC7CB-A0C1-4135-9D86-7F43EDF3AA6B}" destId="{3B79E0E1-29B7-47DA-9BB1-A89069F63C16}" srcOrd="2" destOrd="0" parTransId="{5658DF92-2228-4D46-AC36-D0C73A8AEE28}" sibTransId="{3A287F82-842D-45B6-A4DE-82D82F050C21}"/>
    <dgm:cxn modelId="{6025D40B-1CF5-4724-A3BA-5B29E19CDCB1}" type="presOf" srcId="{FB2878D8-91AF-4BDA-A99C-00AE46C26FB4}" destId="{A9DE6900-EE9C-4611-8EF5-6126515806C5}" srcOrd="0" destOrd="0" presId="urn:microsoft.com/office/officeart/2005/8/layout/process4"/>
    <dgm:cxn modelId="{1FCC8C5B-33C1-492A-BAEE-17027A577CC5}" type="presOf" srcId="{3B79E0E1-29B7-47DA-9BB1-A89069F63C16}" destId="{354ED365-2131-4E84-9518-B328CB4E1E51}" srcOrd="0" destOrd="0" presId="urn:microsoft.com/office/officeart/2005/8/layout/process4"/>
    <dgm:cxn modelId="{2F96386F-1340-4D23-BB0F-DD014E85FB06}" type="presOf" srcId="{F51CCFD3-90DC-4BCA-B63D-0E5ECB69CBAF}" destId="{60DB3AE9-D1B2-4282-A954-195D8E083EDE}" srcOrd="0" destOrd="0" presId="urn:microsoft.com/office/officeart/2005/8/layout/process4"/>
    <dgm:cxn modelId="{0B5B764F-698F-4E78-A3CF-5FA65B28B19F}" srcId="{A43AC7CB-A0C1-4135-9D86-7F43EDF3AA6B}" destId="{F51CCFD3-90DC-4BCA-B63D-0E5ECB69CBAF}" srcOrd="3" destOrd="0" parTransId="{36CB17F6-97A6-4D2B-ACCD-6F14DFA3E840}" sibTransId="{20AA33CB-E941-4F45-AFC2-91F7A570E108}"/>
    <dgm:cxn modelId="{BB34F791-83BA-4F15-8FF4-A3FCF2DE21B6}" type="presOf" srcId="{9A669023-CC04-4A0A-BDB5-5D7EF9C3496A}" destId="{75AD0CD4-28A7-43A7-AF62-25104BB84A63}" srcOrd="0" destOrd="0" presId="urn:microsoft.com/office/officeart/2005/8/layout/process4"/>
    <dgm:cxn modelId="{D79E6DA7-123F-4CDD-BA10-A961FE97CFAE}" srcId="{A43AC7CB-A0C1-4135-9D86-7F43EDF3AA6B}" destId="{FB2878D8-91AF-4BDA-A99C-00AE46C26FB4}" srcOrd="0" destOrd="0" parTransId="{3AAB4E3B-A15D-4ADC-83A3-C5A5D5CC5CDD}" sibTransId="{EC91EA70-7E7C-4E8D-BEBE-380138EA5032}"/>
    <dgm:cxn modelId="{6A2031E1-67B0-4F39-A208-D10A40E3A171}" srcId="{A43AC7CB-A0C1-4135-9D86-7F43EDF3AA6B}" destId="{9A669023-CC04-4A0A-BDB5-5D7EF9C3496A}" srcOrd="1" destOrd="0" parTransId="{360E2A93-0CC9-4235-A36B-A7CAAEA4A2F1}" sibTransId="{0B9793D4-CC57-4F9D-B43C-412C9C3E5382}"/>
    <dgm:cxn modelId="{9BF38BEE-209F-4524-A875-9E0A68C10249}" type="presOf" srcId="{A43AC7CB-A0C1-4135-9D86-7F43EDF3AA6B}" destId="{0A6CCD78-0DB1-48E9-9AC0-2D741197F0B1}" srcOrd="0" destOrd="0" presId="urn:microsoft.com/office/officeart/2005/8/layout/process4"/>
    <dgm:cxn modelId="{77B8AD8D-FF27-4738-B4B0-6EBAE524B5B4}" type="presParOf" srcId="{0A6CCD78-0DB1-48E9-9AC0-2D741197F0B1}" destId="{694CE6BC-C884-4CF9-BA0D-1C61B347D786}" srcOrd="0" destOrd="0" presId="urn:microsoft.com/office/officeart/2005/8/layout/process4"/>
    <dgm:cxn modelId="{961B3A0D-7023-4D98-A4DC-24164F311E50}" type="presParOf" srcId="{694CE6BC-C884-4CF9-BA0D-1C61B347D786}" destId="{60DB3AE9-D1B2-4282-A954-195D8E083EDE}" srcOrd="0" destOrd="0" presId="urn:microsoft.com/office/officeart/2005/8/layout/process4"/>
    <dgm:cxn modelId="{3E8F9478-7C84-41E6-8E40-1C4C3403E4A1}" type="presParOf" srcId="{0A6CCD78-0DB1-48E9-9AC0-2D741197F0B1}" destId="{106BA153-939B-4581-92E9-A50B7896F70A}" srcOrd="1" destOrd="0" presId="urn:microsoft.com/office/officeart/2005/8/layout/process4"/>
    <dgm:cxn modelId="{D7A61023-29E7-4610-ACE4-7DFA48B1FFBF}" type="presParOf" srcId="{0A6CCD78-0DB1-48E9-9AC0-2D741197F0B1}" destId="{1A52C6C4-55AA-41DE-A089-C8EC07B973C5}" srcOrd="2" destOrd="0" presId="urn:microsoft.com/office/officeart/2005/8/layout/process4"/>
    <dgm:cxn modelId="{6071E442-93AC-4D54-B22C-0A31A63AEADB}" type="presParOf" srcId="{1A52C6C4-55AA-41DE-A089-C8EC07B973C5}" destId="{354ED365-2131-4E84-9518-B328CB4E1E51}" srcOrd="0" destOrd="0" presId="urn:microsoft.com/office/officeart/2005/8/layout/process4"/>
    <dgm:cxn modelId="{63B20321-A825-4EC9-9BC5-24E81743DD51}" type="presParOf" srcId="{0A6CCD78-0DB1-48E9-9AC0-2D741197F0B1}" destId="{CBBF365F-BAAF-4452-8353-1E247485064B}" srcOrd="3" destOrd="0" presId="urn:microsoft.com/office/officeart/2005/8/layout/process4"/>
    <dgm:cxn modelId="{EA84B447-918C-4D62-B696-317D0431F9CA}" type="presParOf" srcId="{0A6CCD78-0DB1-48E9-9AC0-2D741197F0B1}" destId="{9565DB29-75F5-416B-ACF8-812E0E89B7EA}" srcOrd="4" destOrd="0" presId="urn:microsoft.com/office/officeart/2005/8/layout/process4"/>
    <dgm:cxn modelId="{57233DE2-C67F-4E7A-8CD7-99ACD1A59C6F}" type="presParOf" srcId="{9565DB29-75F5-416B-ACF8-812E0E89B7EA}" destId="{75AD0CD4-28A7-43A7-AF62-25104BB84A63}" srcOrd="0" destOrd="0" presId="urn:microsoft.com/office/officeart/2005/8/layout/process4"/>
    <dgm:cxn modelId="{1561A40F-AFD3-4C33-97DB-2F4290F2455A}" type="presParOf" srcId="{0A6CCD78-0DB1-48E9-9AC0-2D741197F0B1}" destId="{F5319F80-F5A8-4419-AB24-8EA96764AA55}" srcOrd="5" destOrd="0" presId="urn:microsoft.com/office/officeart/2005/8/layout/process4"/>
    <dgm:cxn modelId="{261715BA-C176-429B-9AAC-0B73D9F17EEE}" type="presParOf" srcId="{0A6CCD78-0DB1-48E9-9AC0-2D741197F0B1}" destId="{DBC7E63A-0B4A-4F01-BD25-63CC46EB6425}" srcOrd="6" destOrd="0" presId="urn:microsoft.com/office/officeart/2005/8/layout/process4"/>
    <dgm:cxn modelId="{C39C708B-F5B3-483A-8023-D4DF0D1351B6}" type="presParOf" srcId="{DBC7E63A-0B4A-4F01-BD25-63CC46EB6425}" destId="{A9DE6900-EE9C-4611-8EF5-6126515806C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08186E2-C34B-426B-9D17-359C40FA7E6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6CBCB0C-548D-4AA2-AE7E-AE468C16BFA0}">
      <dgm:prSet/>
      <dgm:spPr/>
      <dgm:t>
        <a:bodyPr/>
        <a:lstStyle/>
        <a:p>
          <a:r>
            <a:rPr lang="en-NZ"/>
            <a:t>Demand for loans has to be met by supply.</a:t>
          </a:r>
          <a:endParaRPr lang="en-US"/>
        </a:p>
      </dgm:t>
    </dgm:pt>
    <dgm:pt modelId="{2B1EE10A-ED69-4E41-B3B8-EBBEE7624C07}" type="parTrans" cxnId="{868FB919-FDB3-402A-BCD7-2E4F65FD4807}">
      <dgm:prSet/>
      <dgm:spPr/>
      <dgm:t>
        <a:bodyPr/>
        <a:lstStyle/>
        <a:p>
          <a:endParaRPr lang="en-US"/>
        </a:p>
      </dgm:t>
    </dgm:pt>
    <dgm:pt modelId="{5FD32571-2FC4-49F1-AC42-94C06CA0B640}" type="sibTrans" cxnId="{868FB919-FDB3-402A-BCD7-2E4F65FD4807}">
      <dgm:prSet/>
      <dgm:spPr/>
      <dgm:t>
        <a:bodyPr/>
        <a:lstStyle/>
        <a:p>
          <a:endParaRPr lang="en-US"/>
        </a:p>
      </dgm:t>
    </dgm:pt>
    <dgm:pt modelId="{04F7F46A-5521-4F5E-8597-8484655157C8}">
      <dgm:prSet/>
      <dgm:spPr/>
      <dgm:t>
        <a:bodyPr/>
        <a:lstStyle/>
        <a:p>
          <a:r>
            <a:rPr lang="en-NZ"/>
            <a:t>Banks and related Financial Intermediaries were willing to supply more loans</a:t>
          </a:r>
          <a:endParaRPr lang="en-US"/>
        </a:p>
      </dgm:t>
    </dgm:pt>
    <dgm:pt modelId="{50BC0F7C-AFAD-4B6B-BD20-09A76B5A6EDD}" type="parTrans" cxnId="{E7A49456-DAE0-42D6-ABAB-169D11823D77}">
      <dgm:prSet/>
      <dgm:spPr/>
      <dgm:t>
        <a:bodyPr/>
        <a:lstStyle/>
        <a:p>
          <a:endParaRPr lang="en-US"/>
        </a:p>
      </dgm:t>
    </dgm:pt>
    <dgm:pt modelId="{86CD813B-6CF7-4428-939D-5C1694BD1723}" type="sibTrans" cxnId="{E7A49456-DAE0-42D6-ABAB-169D11823D77}">
      <dgm:prSet/>
      <dgm:spPr/>
      <dgm:t>
        <a:bodyPr/>
        <a:lstStyle/>
        <a:p>
          <a:endParaRPr lang="en-US"/>
        </a:p>
      </dgm:t>
    </dgm:pt>
    <dgm:pt modelId="{3EAC3B99-A42B-4D9E-89B8-84FDCB0DBBFE}">
      <dgm:prSet/>
      <dgm:spPr/>
      <dgm:t>
        <a:bodyPr/>
        <a:lstStyle/>
        <a:p>
          <a:r>
            <a:rPr lang="en-NZ"/>
            <a:t>Mortgage Securitisation was a way to reduce the risk of lending to subprime borrowers.</a:t>
          </a:r>
          <a:endParaRPr lang="en-US"/>
        </a:p>
      </dgm:t>
    </dgm:pt>
    <dgm:pt modelId="{CEE4BA03-E4FD-4375-820A-AF6E39E2E199}" type="parTrans" cxnId="{9DE0128D-AB78-41A1-BCA2-E2FE714FFA37}">
      <dgm:prSet/>
      <dgm:spPr/>
      <dgm:t>
        <a:bodyPr/>
        <a:lstStyle/>
        <a:p>
          <a:endParaRPr lang="en-US"/>
        </a:p>
      </dgm:t>
    </dgm:pt>
    <dgm:pt modelId="{DA443EE6-7171-40E1-A4E1-F8DAD2018F40}" type="sibTrans" cxnId="{9DE0128D-AB78-41A1-BCA2-E2FE714FFA37}">
      <dgm:prSet/>
      <dgm:spPr/>
      <dgm:t>
        <a:bodyPr/>
        <a:lstStyle/>
        <a:p>
          <a:endParaRPr lang="en-US"/>
        </a:p>
      </dgm:t>
    </dgm:pt>
    <dgm:pt modelId="{EF5F203B-7910-471A-A416-E6150D8D0C75}">
      <dgm:prSet/>
      <dgm:spPr/>
      <dgm:t>
        <a:bodyPr/>
        <a:lstStyle/>
        <a:p>
          <a:r>
            <a:rPr lang="en-NZ"/>
            <a:t>Collaterilized Debt Obligations (CDOs) reduced the risks to Banks from lending to subprime lenders, including NINJAS</a:t>
          </a:r>
          <a:endParaRPr lang="en-US"/>
        </a:p>
      </dgm:t>
    </dgm:pt>
    <dgm:pt modelId="{333D10C8-5991-4E09-8EBD-CC5407CE708A}" type="parTrans" cxnId="{90637E87-5DEC-4F6F-87D1-44E6242B5520}">
      <dgm:prSet/>
      <dgm:spPr/>
      <dgm:t>
        <a:bodyPr/>
        <a:lstStyle/>
        <a:p>
          <a:endParaRPr lang="en-US"/>
        </a:p>
      </dgm:t>
    </dgm:pt>
    <dgm:pt modelId="{AE4A86D5-9256-4CCA-A5D1-629344AFA017}" type="sibTrans" cxnId="{90637E87-5DEC-4F6F-87D1-44E6242B5520}">
      <dgm:prSet/>
      <dgm:spPr/>
      <dgm:t>
        <a:bodyPr/>
        <a:lstStyle/>
        <a:p>
          <a:endParaRPr lang="en-US"/>
        </a:p>
      </dgm:t>
    </dgm:pt>
    <dgm:pt modelId="{BA76467C-2D55-4018-B47B-36A3FAE0B056}">
      <dgm:prSet/>
      <dgm:spPr/>
      <dgm:t>
        <a:bodyPr/>
        <a:lstStyle/>
        <a:p>
          <a:r>
            <a:rPr lang="en-NZ"/>
            <a:t>NINJA- a subprime borrower with No Income, No Jobs or Assets.</a:t>
          </a:r>
          <a:endParaRPr lang="en-US"/>
        </a:p>
      </dgm:t>
    </dgm:pt>
    <dgm:pt modelId="{3FC2F247-AC73-4214-8E2F-CD2505AB3EBD}" type="parTrans" cxnId="{326A855B-3F4E-4DC6-B5FF-D8DD6861A72B}">
      <dgm:prSet/>
      <dgm:spPr/>
      <dgm:t>
        <a:bodyPr/>
        <a:lstStyle/>
        <a:p>
          <a:endParaRPr lang="en-US"/>
        </a:p>
      </dgm:t>
    </dgm:pt>
    <dgm:pt modelId="{BF81FE2C-2AD7-4CA2-96D0-A2212177A2A6}" type="sibTrans" cxnId="{326A855B-3F4E-4DC6-B5FF-D8DD6861A72B}">
      <dgm:prSet/>
      <dgm:spPr/>
      <dgm:t>
        <a:bodyPr/>
        <a:lstStyle/>
        <a:p>
          <a:endParaRPr lang="en-US"/>
        </a:p>
      </dgm:t>
    </dgm:pt>
    <dgm:pt modelId="{F980B93B-73A9-4064-BF59-8A3773C5ACF5}" type="pres">
      <dgm:prSet presAssocID="{908186E2-C34B-426B-9D17-359C40FA7E6E}" presName="root" presStyleCnt="0">
        <dgm:presLayoutVars>
          <dgm:dir/>
          <dgm:resizeHandles val="exact"/>
        </dgm:presLayoutVars>
      </dgm:prSet>
      <dgm:spPr/>
    </dgm:pt>
    <dgm:pt modelId="{FBEE4DA3-EB07-4473-8D71-697FD5A23B31}" type="pres">
      <dgm:prSet presAssocID="{D6CBCB0C-548D-4AA2-AE7E-AE468C16BFA0}" presName="compNode" presStyleCnt="0"/>
      <dgm:spPr/>
    </dgm:pt>
    <dgm:pt modelId="{4ACC2BED-935F-4233-8322-1C683460EC28}" type="pres">
      <dgm:prSet presAssocID="{D6CBCB0C-548D-4AA2-AE7E-AE468C16BFA0}" presName="bgRect" presStyleLbl="bgShp" presStyleIdx="0" presStyleCnt="4"/>
      <dgm:spPr/>
    </dgm:pt>
    <dgm:pt modelId="{7A3B0414-2287-4127-B92D-67A804022A35}" type="pres">
      <dgm:prSet presAssocID="{D6CBCB0C-548D-4AA2-AE7E-AE468C16BF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4DB4441-CD9B-4BF1-9712-A9CF669CCAC0}" type="pres">
      <dgm:prSet presAssocID="{D6CBCB0C-548D-4AA2-AE7E-AE468C16BFA0}" presName="spaceRect" presStyleCnt="0"/>
      <dgm:spPr/>
    </dgm:pt>
    <dgm:pt modelId="{85852E85-BC25-4F99-86B1-064024616B5C}" type="pres">
      <dgm:prSet presAssocID="{D6CBCB0C-548D-4AA2-AE7E-AE468C16BFA0}" presName="parTx" presStyleLbl="revTx" presStyleIdx="0" presStyleCnt="5">
        <dgm:presLayoutVars>
          <dgm:chMax val="0"/>
          <dgm:chPref val="0"/>
        </dgm:presLayoutVars>
      </dgm:prSet>
      <dgm:spPr/>
    </dgm:pt>
    <dgm:pt modelId="{47198843-79F3-495B-9026-53DF4B1CBDC3}" type="pres">
      <dgm:prSet presAssocID="{5FD32571-2FC4-49F1-AC42-94C06CA0B640}" presName="sibTrans" presStyleCnt="0"/>
      <dgm:spPr/>
    </dgm:pt>
    <dgm:pt modelId="{E2C1688B-586A-44B0-960A-081D3D739BD6}" type="pres">
      <dgm:prSet presAssocID="{04F7F46A-5521-4F5E-8597-8484655157C8}" presName="compNode" presStyleCnt="0"/>
      <dgm:spPr/>
    </dgm:pt>
    <dgm:pt modelId="{CBA2CDED-610C-4A55-98F9-308E7828C88C}" type="pres">
      <dgm:prSet presAssocID="{04F7F46A-5521-4F5E-8597-8484655157C8}" presName="bgRect" presStyleLbl="bgShp" presStyleIdx="1" presStyleCnt="4"/>
      <dgm:spPr/>
    </dgm:pt>
    <dgm:pt modelId="{6BACCEC4-094F-464F-9D62-09E48C05BE43}" type="pres">
      <dgm:prSet presAssocID="{04F7F46A-5521-4F5E-8597-8484655157C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6534A6F2-BE31-4DA7-93FA-80967C90DC31}" type="pres">
      <dgm:prSet presAssocID="{04F7F46A-5521-4F5E-8597-8484655157C8}" presName="spaceRect" presStyleCnt="0"/>
      <dgm:spPr/>
    </dgm:pt>
    <dgm:pt modelId="{AF7C3C56-6568-4A74-B6FC-DD3FAF1CE9BC}" type="pres">
      <dgm:prSet presAssocID="{04F7F46A-5521-4F5E-8597-8484655157C8}" presName="parTx" presStyleLbl="revTx" presStyleIdx="1" presStyleCnt="5">
        <dgm:presLayoutVars>
          <dgm:chMax val="0"/>
          <dgm:chPref val="0"/>
        </dgm:presLayoutVars>
      </dgm:prSet>
      <dgm:spPr/>
    </dgm:pt>
    <dgm:pt modelId="{833F7B8B-57A8-4399-B1F9-5331F1161858}" type="pres">
      <dgm:prSet presAssocID="{86CD813B-6CF7-4428-939D-5C1694BD1723}" presName="sibTrans" presStyleCnt="0"/>
      <dgm:spPr/>
    </dgm:pt>
    <dgm:pt modelId="{17DC2F6D-0528-4303-A449-201DEA431038}" type="pres">
      <dgm:prSet presAssocID="{3EAC3B99-A42B-4D9E-89B8-84FDCB0DBBFE}" presName="compNode" presStyleCnt="0"/>
      <dgm:spPr/>
    </dgm:pt>
    <dgm:pt modelId="{3F595759-7862-4188-B483-C522EEC1F3A9}" type="pres">
      <dgm:prSet presAssocID="{3EAC3B99-A42B-4D9E-89B8-84FDCB0DBBFE}" presName="bgRect" presStyleLbl="bgShp" presStyleIdx="2" presStyleCnt="4"/>
      <dgm:spPr/>
    </dgm:pt>
    <dgm:pt modelId="{690AF7D4-A76C-4305-8DC5-5ED03C5DFA83}" type="pres">
      <dgm:prSet presAssocID="{3EAC3B99-A42B-4D9E-89B8-84FDCB0DBBF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D79AE63C-9786-4E29-B4CA-91B6B092EE56}" type="pres">
      <dgm:prSet presAssocID="{3EAC3B99-A42B-4D9E-89B8-84FDCB0DBBFE}" presName="spaceRect" presStyleCnt="0"/>
      <dgm:spPr/>
    </dgm:pt>
    <dgm:pt modelId="{9ECAC0A8-FB0D-4E75-B442-350AF20E1F6E}" type="pres">
      <dgm:prSet presAssocID="{3EAC3B99-A42B-4D9E-89B8-84FDCB0DBBFE}" presName="parTx" presStyleLbl="revTx" presStyleIdx="2" presStyleCnt="5">
        <dgm:presLayoutVars>
          <dgm:chMax val="0"/>
          <dgm:chPref val="0"/>
        </dgm:presLayoutVars>
      </dgm:prSet>
      <dgm:spPr/>
    </dgm:pt>
    <dgm:pt modelId="{FD387FCC-7C3F-4A5A-B975-9222DC426A55}" type="pres">
      <dgm:prSet presAssocID="{3EAC3B99-A42B-4D9E-89B8-84FDCB0DBBFE}" presName="desTx" presStyleLbl="revTx" presStyleIdx="3" presStyleCnt="5">
        <dgm:presLayoutVars/>
      </dgm:prSet>
      <dgm:spPr/>
    </dgm:pt>
    <dgm:pt modelId="{515A3E52-A897-4EED-8272-037C1E42E6C5}" type="pres">
      <dgm:prSet presAssocID="{DA443EE6-7171-40E1-A4E1-F8DAD2018F40}" presName="sibTrans" presStyleCnt="0"/>
      <dgm:spPr/>
    </dgm:pt>
    <dgm:pt modelId="{22E5D8EA-CEBC-4349-BE23-ED1655434287}" type="pres">
      <dgm:prSet presAssocID="{BA76467C-2D55-4018-B47B-36A3FAE0B056}" presName="compNode" presStyleCnt="0"/>
      <dgm:spPr/>
    </dgm:pt>
    <dgm:pt modelId="{A0A76827-2790-4525-A9EA-7147457B44AF}" type="pres">
      <dgm:prSet presAssocID="{BA76467C-2D55-4018-B47B-36A3FAE0B056}" presName="bgRect" presStyleLbl="bgShp" presStyleIdx="3" presStyleCnt="4"/>
      <dgm:spPr/>
    </dgm:pt>
    <dgm:pt modelId="{1AF68909-BB35-42DA-BF8F-941AB009264D}" type="pres">
      <dgm:prSet presAssocID="{BA76467C-2D55-4018-B47B-36A3FAE0B05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ger"/>
        </a:ext>
      </dgm:extLst>
    </dgm:pt>
    <dgm:pt modelId="{D2694F57-6015-4E79-B36E-6367C412770C}" type="pres">
      <dgm:prSet presAssocID="{BA76467C-2D55-4018-B47B-36A3FAE0B056}" presName="spaceRect" presStyleCnt="0"/>
      <dgm:spPr/>
    </dgm:pt>
    <dgm:pt modelId="{4EDA4C2D-86DB-4FCB-9F30-A81EDAEEAB03}" type="pres">
      <dgm:prSet presAssocID="{BA76467C-2D55-4018-B47B-36A3FAE0B05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68FB919-FDB3-402A-BCD7-2E4F65FD4807}" srcId="{908186E2-C34B-426B-9D17-359C40FA7E6E}" destId="{D6CBCB0C-548D-4AA2-AE7E-AE468C16BFA0}" srcOrd="0" destOrd="0" parTransId="{2B1EE10A-ED69-4E41-B3B8-EBBEE7624C07}" sibTransId="{5FD32571-2FC4-49F1-AC42-94C06CA0B640}"/>
    <dgm:cxn modelId="{0178221D-F52C-445B-B6BB-D9ADC45F6765}" type="presOf" srcId="{D6CBCB0C-548D-4AA2-AE7E-AE468C16BFA0}" destId="{85852E85-BC25-4F99-86B1-064024616B5C}" srcOrd="0" destOrd="0" presId="urn:microsoft.com/office/officeart/2018/2/layout/IconVerticalSolidList"/>
    <dgm:cxn modelId="{326A855B-3F4E-4DC6-B5FF-D8DD6861A72B}" srcId="{908186E2-C34B-426B-9D17-359C40FA7E6E}" destId="{BA76467C-2D55-4018-B47B-36A3FAE0B056}" srcOrd="3" destOrd="0" parTransId="{3FC2F247-AC73-4214-8E2F-CD2505AB3EBD}" sibTransId="{BF81FE2C-2AD7-4CA2-96D0-A2212177A2A6}"/>
    <dgm:cxn modelId="{E7A49456-DAE0-42D6-ABAB-169D11823D77}" srcId="{908186E2-C34B-426B-9D17-359C40FA7E6E}" destId="{04F7F46A-5521-4F5E-8597-8484655157C8}" srcOrd="1" destOrd="0" parTransId="{50BC0F7C-AFAD-4B6B-BD20-09A76B5A6EDD}" sibTransId="{86CD813B-6CF7-4428-939D-5C1694BD1723}"/>
    <dgm:cxn modelId="{205BD357-AA63-4DDD-B90C-B4A7C6ACFA31}" type="presOf" srcId="{908186E2-C34B-426B-9D17-359C40FA7E6E}" destId="{F980B93B-73A9-4064-BF59-8A3773C5ACF5}" srcOrd="0" destOrd="0" presId="urn:microsoft.com/office/officeart/2018/2/layout/IconVerticalSolidList"/>
    <dgm:cxn modelId="{90637E87-5DEC-4F6F-87D1-44E6242B5520}" srcId="{3EAC3B99-A42B-4D9E-89B8-84FDCB0DBBFE}" destId="{EF5F203B-7910-471A-A416-E6150D8D0C75}" srcOrd="0" destOrd="0" parTransId="{333D10C8-5991-4E09-8EBD-CC5407CE708A}" sibTransId="{AE4A86D5-9256-4CCA-A5D1-629344AFA017}"/>
    <dgm:cxn modelId="{9DE0128D-AB78-41A1-BCA2-E2FE714FFA37}" srcId="{908186E2-C34B-426B-9D17-359C40FA7E6E}" destId="{3EAC3B99-A42B-4D9E-89B8-84FDCB0DBBFE}" srcOrd="2" destOrd="0" parTransId="{CEE4BA03-E4FD-4375-820A-AF6E39E2E199}" sibTransId="{DA443EE6-7171-40E1-A4E1-F8DAD2018F40}"/>
    <dgm:cxn modelId="{4EBE67C6-0FE9-443D-A23D-0577CF33B5B1}" type="presOf" srcId="{04F7F46A-5521-4F5E-8597-8484655157C8}" destId="{AF7C3C56-6568-4A74-B6FC-DD3FAF1CE9BC}" srcOrd="0" destOrd="0" presId="urn:microsoft.com/office/officeart/2018/2/layout/IconVerticalSolidList"/>
    <dgm:cxn modelId="{0348B0CA-0E9A-4DA1-8ABF-9B0E8F763126}" type="presOf" srcId="{3EAC3B99-A42B-4D9E-89B8-84FDCB0DBBFE}" destId="{9ECAC0A8-FB0D-4E75-B442-350AF20E1F6E}" srcOrd="0" destOrd="0" presId="urn:microsoft.com/office/officeart/2018/2/layout/IconVerticalSolidList"/>
    <dgm:cxn modelId="{34C018CD-DB4E-41F3-A38E-03F8B83A2B8B}" type="presOf" srcId="{BA76467C-2D55-4018-B47B-36A3FAE0B056}" destId="{4EDA4C2D-86DB-4FCB-9F30-A81EDAEEAB03}" srcOrd="0" destOrd="0" presId="urn:microsoft.com/office/officeart/2018/2/layout/IconVerticalSolidList"/>
    <dgm:cxn modelId="{9BB2DBD1-4A94-4893-9F1A-746329C26136}" type="presOf" srcId="{EF5F203B-7910-471A-A416-E6150D8D0C75}" destId="{FD387FCC-7C3F-4A5A-B975-9222DC426A55}" srcOrd="0" destOrd="0" presId="urn:microsoft.com/office/officeart/2018/2/layout/IconVerticalSolidList"/>
    <dgm:cxn modelId="{9BAEE5F2-AEBB-468C-AE4C-EAD59B170A2D}" type="presParOf" srcId="{F980B93B-73A9-4064-BF59-8A3773C5ACF5}" destId="{FBEE4DA3-EB07-4473-8D71-697FD5A23B31}" srcOrd="0" destOrd="0" presId="urn:microsoft.com/office/officeart/2018/2/layout/IconVerticalSolidList"/>
    <dgm:cxn modelId="{92E07889-7853-4CC8-AA22-D5CD14B1F38B}" type="presParOf" srcId="{FBEE4DA3-EB07-4473-8D71-697FD5A23B31}" destId="{4ACC2BED-935F-4233-8322-1C683460EC28}" srcOrd="0" destOrd="0" presId="urn:microsoft.com/office/officeart/2018/2/layout/IconVerticalSolidList"/>
    <dgm:cxn modelId="{D702B70D-FEF6-40A7-A77C-7E9B656A2FA7}" type="presParOf" srcId="{FBEE4DA3-EB07-4473-8D71-697FD5A23B31}" destId="{7A3B0414-2287-4127-B92D-67A804022A35}" srcOrd="1" destOrd="0" presId="urn:microsoft.com/office/officeart/2018/2/layout/IconVerticalSolidList"/>
    <dgm:cxn modelId="{AEBF362B-FFF6-4822-AB7B-54A9D2C0374E}" type="presParOf" srcId="{FBEE4DA3-EB07-4473-8D71-697FD5A23B31}" destId="{A4DB4441-CD9B-4BF1-9712-A9CF669CCAC0}" srcOrd="2" destOrd="0" presId="urn:microsoft.com/office/officeart/2018/2/layout/IconVerticalSolidList"/>
    <dgm:cxn modelId="{B2105DD7-211C-4969-B1D8-EAADA6685906}" type="presParOf" srcId="{FBEE4DA3-EB07-4473-8D71-697FD5A23B31}" destId="{85852E85-BC25-4F99-86B1-064024616B5C}" srcOrd="3" destOrd="0" presId="urn:microsoft.com/office/officeart/2018/2/layout/IconVerticalSolidList"/>
    <dgm:cxn modelId="{1E3771CA-3F31-4F58-BF4A-F9237A6E5B34}" type="presParOf" srcId="{F980B93B-73A9-4064-BF59-8A3773C5ACF5}" destId="{47198843-79F3-495B-9026-53DF4B1CBDC3}" srcOrd="1" destOrd="0" presId="urn:microsoft.com/office/officeart/2018/2/layout/IconVerticalSolidList"/>
    <dgm:cxn modelId="{BB1F1B42-E36E-41EA-927D-6905A8C3BED9}" type="presParOf" srcId="{F980B93B-73A9-4064-BF59-8A3773C5ACF5}" destId="{E2C1688B-586A-44B0-960A-081D3D739BD6}" srcOrd="2" destOrd="0" presId="urn:microsoft.com/office/officeart/2018/2/layout/IconVerticalSolidList"/>
    <dgm:cxn modelId="{59EFBF80-1EA7-4A55-AA9B-47E40F35872C}" type="presParOf" srcId="{E2C1688B-586A-44B0-960A-081D3D739BD6}" destId="{CBA2CDED-610C-4A55-98F9-308E7828C88C}" srcOrd="0" destOrd="0" presId="urn:microsoft.com/office/officeart/2018/2/layout/IconVerticalSolidList"/>
    <dgm:cxn modelId="{0793A315-3424-465B-BF29-CD7340943924}" type="presParOf" srcId="{E2C1688B-586A-44B0-960A-081D3D739BD6}" destId="{6BACCEC4-094F-464F-9D62-09E48C05BE43}" srcOrd="1" destOrd="0" presId="urn:microsoft.com/office/officeart/2018/2/layout/IconVerticalSolidList"/>
    <dgm:cxn modelId="{62754F05-EA02-4B1C-AC66-B01CE64CC4CD}" type="presParOf" srcId="{E2C1688B-586A-44B0-960A-081D3D739BD6}" destId="{6534A6F2-BE31-4DA7-93FA-80967C90DC31}" srcOrd="2" destOrd="0" presId="urn:microsoft.com/office/officeart/2018/2/layout/IconVerticalSolidList"/>
    <dgm:cxn modelId="{BECB24F6-8C3A-4BBF-A3FE-24C454A4E3F3}" type="presParOf" srcId="{E2C1688B-586A-44B0-960A-081D3D739BD6}" destId="{AF7C3C56-6568-4A74-B6FC-DD3FAF1CE9BC}" srcOrd="3" destOrd="0" presId="urn:microsoft.com/office/officeart/2018/2/layout/IconVerticalSolidList"/>
    <dgm:cxn modelId="{30BED2A9-4742-49AA-A0AB-EE2BDBFFFF39}" type="presParOf" srcId="{F980B93B-73A9-4064-BF59-8A3773C5ACF5}" destId="{833F7B8B-57A8-4399-B1F9-5331F1161858}" srcOrd="3" destOrd="0" presId="urn:microsoft.com/office/officeart/2018/2/layout/IconVerticalSolidList"/>
    <dgm:cxn modelId="{C922D315-1E60-4238-A1E0-96F46606B828}" type="presParOf" srcId="{F980B93B-73A9-4064-BF59-8A3773C5ACF5}" destId="{17DC2F6D-0528-4303-A449-201DEA431038}" srcOrd="4" destOrd="0" presId="urn:microsoft.com/office/officeart/2018/2/layout/IconVerticalSolidList"/>
    <dgm:cxn modelId="{D4112BF7-B837-4A12-842B-6DFAE57C0D71}" type="presParOf" srcId="{17DC2F6D-0528-4303-A449-201DEA431038}" destId="{3F595759-7862-4188-B483-C522EEC1F3A9}" srcOrd="0" destOrd="0" presId="urn:microsoft.com/office/officeart/2018/2/layout/IconVerticalSolidList"/>
    <dgm:cxn modelId="{7DE0F07C-C171-4C09-AF61-26007D16B106}" type="presParOf" srcId="{17DC2F6D-0528-4303-A449-201DEA431038}" destId="{690AF7D4-A76C-4305-8DC5-5ED03C5DFA83}" srcOrd="1" destOrd="0" presId="urn:microsoft.com/office/officeart/2018/2/layout/IconVerticalSolidList"/>
    <dgm:cxn modelId="{41C82A28-F250-460C-B20C-14D5C33C9778}" type="presParOf" srcId="{17DC2F6D-0528-4303-A449-201DEA431038}" destId="{D79AE63C-9786-4E29-B4CA-91B6B092EE56}" srcOrd="2" destOrd="0" presId="urn:microsoft.com/office/officeart/2018/2/layout/IconVerticalSolidList"/>
    <dgm:cxn modelId="{5285F822-F274-4641-AC3E-E0DD33BCA5CA}" type="presParOf" srcId="{17DC2F6D-0528-4303-A449-201DEA431038}" destId="{9ECAC0A8-FB0D-4E75-B442-350AF20E1F6E}" srcOrd="3" destOrd="0" presId="urn:microsoft.com/office/officeart/2018/2/layout/IconVerticalSolidList"/>
    <dgm:cxn modelId="{9EBE4BEA-5E39-4FF4-8903-D871B36CB83C}" type="presParOf" srcId="{17DC2F6D-0528-4303-A449-201DEA431038}" destId="{FD387FCC-7C3F-4A5A-B975-9222DC426A55}" srcOrd="4" destOrd="0" presId="urn:microsoft.com/office/officeart/2018/2/layout/IconVerticalSolidList"/>
    <dgm:cxn modelId="{C4255AC8-6E33-43C4-A808-46760D6E04FC}" type="presParOf" srcId="{F980B93B-73A9-4064-BF59-8A3773C5ACF5}" destId="{515A3E52-A897-4EED-8272-037C1E42E6C5}" srcOrd="5" destOrd="0" presId="urn:microsoft.com/office/officeart/2018/2/layout/IconVerticalSolidList"/>
    <dgm:cxn modelId="{11E7E9F1-8753-4A37-97DE-DDA0D6ECB4AB}" type="presParOf" srcId="{F980B93B-73A9-4064-BF59-8A3773C5ACF5}" destId="{22E5D8EA-CEBC-4349-BE23-ED1655434287}" srcOrd="6" destOrd="0" presId="urn:microsoft.com/office/officeart/2018/2/layout/IconVerticalSolidList"/>
    <dgm:cxn modelId="{334EC2F5-3EA8-40A2-9F41-8D216706B1AD}" type="presParOf" srcId="{22E5D8EA-CEBC-4349-BE23-ED1655434287}" destId="{A0A76827-2790-4525-A9EA-7147457B44AF}" srcOrd="0" destOrd="0" presId="urn:microsoft.com/office/officeart/2018/2/layout/IconVerticalSolidList"/>
    <dgm:cxn modelId="{B6A55EB9-1CE7-440F-B842-84E69F3BDF2A}" type="presParOf" srcId="{22E5D8EA-CEBC-4349-BE23-ED1655434287}" destId="{1AF68909-BB35-42DA-BF8F-941AB009264D}" srcOrd="1" destOrd="0" presId="urn:microsoft.com/office/officeart/2018/2/layout/IconVerticalSolidList"/>
    <dgm:cxn modelId="{B9369C77-FEC9-480D-82B9-7AA5F156F8AD}" type="presParOf" srcId="{22E5D8EA-CEBC-4349-BE23-ED1655434287}" destId="{D2694F57-6015-4E79-B36E-6367C412770C}" srcOrd="2" destOrd="0" presId="urn:microsoft.com/office/officeart/2018/2/layout/IconVerticalSolidList"/>
    <dgm:cxn modelId="{1840A111-1768-4D74-86E1-F65F96766D79}" type="presParOf" srcId="{22E5D8EA-CEBC-4349-BE23-ED1655434287}" destId="{4EDA4C2D-86DB-4FCB-9F30-A81EDAEEAB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6105EF5-8DC5-4FFD-982B-E545E779E576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73378C3E-D7FD-4369-BC4B-26B829E096DE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A mortgage-backed security is created</a:t>
          </a:r>
          <a:endParaRPr lang="en-US"/>
        </a:p>
      </dgm:t>
    </dgm:pt>
    <dgm:pt modelId="{A476AFD6-D266-4000-91EC-6B25461A45C2}" type="parTrans" cxnId="{C374E59E-B339-4B42-9E8C-A5FA284F6013}">
      <dgm:prSet/>
      <dgm:spPr/>
      <dgm:t>
        <a:bodyPr/>
        <a:lstStyle/>
        <a:p>
          <a:endParaRPr lang="en-US"/>
        </a:p>
      </dgm:t>
    </dgm:pt>
    <dgm:pt modelId="{410B053B-336E-431E-9898-10B69C8CC8F1}" type="sibTrans" cxnId="{C374E59E-B339-4B42-9E8C-A5FA284F6013}">
      <dgm:prSet/>
      <dgm:spPr/>
      <dgm:t>
        <a:bodyPr/>
        <a:lstStyle/>
        <a:p>
          <a:endParaRPr lang="en-US"/>
        </a:p>
      </dgm:t>
    </dgm:pt>
    <dgm:pt modelId="{CF1A1188-FD07-4C99-80B9-8FBB64E03509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This collects many subprime mortgages together.</a:t>
          </a:r>
          <a:endParaRPr lang="en-US"/>
        </a:p>
      </dgm:t>
    </dgm:pt>
    <dgm:pt modelId="{809213B1-5BCD-436C-AD42-A3C996A32606}" type="parTrans" cxnId="{B82A6E82-337E-45AE-9ECE-3B384B7DB06E}">
      <dgm:prSet/>
      <dgm:spPr/>
      <dgm:t>
        <a:bodyPr/>
        <a:lstStyle/>
        <a:p>
          <a:endParaRPr lang="en-US"/>
        </a:p>
      </dgm:t>
    </dgm:pt>
    <dgm:pt modelId="{9534AC04-5B81-4B17-83EE-458FEA32B86B}" type="sibTrans" cxnId="{B82A6E82-337E-45AE-9ECE-3B384B7DB06E}">
      <dgm:prSet/>
      <dgm:spPr/>
      <dgm:t>
        <a:bodyPr/>
        <a:lstStyle/>
        <a:p>
          <a:endParaRPr lang="en-US"/>
        </a:p>
      </dgm:t>
    </dgm:pt>
    <dgm:pt modelId="{E9AAA3F4-D561-4043-AD39-0E5E80F0DB75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These are separated into categories (tranches)</a:t>
          </a:r>
          <a:endParaRPr lang="en-US"/>
        </a:p>
      </dgm:t>
    </dgm:pt>
    <dgm:pt modelId="{900D1DAA-1678-4E38-9900-F8BFE340C317}" type="parTrans" cxnId="{66082A2B-558B-4EE6-BFBF-22FAC97A30B0}">
      <dgm:prSet/>
      <dgm:spPr/>
      <dgm:t>
        <a:bodyPr/>
        <a:lstStyle/>
        <a:p>
          <a:endParaRPr lang="en-US"/>
        </a:p>
      </dgm:t>
    </dgm:pt>
    <dgm:pt modelId="{095CDBBB-BDB5-4263-86C4-7CF9C8A7C83C}" type="sibTrans" cxnId="{66082A2B-558B-4EE6-BFBF-22FAC97A30B0}">
      <dgm:prSet/>
      <dgm:spPr/>
      <dgm:t>
        <a:bodyPr/>
        <a:lstStyle/>
        <a:p>
          <a:endParaRPr lang="en-US"/>
        </a:p>
      </dgm:t>
    </dgm:pt>
    <dgm:pt modelId="{31213959-F83D-4526-ADA7-D8BEDB1D4D44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The tranches reflect risk (AAA= safest, B= riskiest)</a:t>
          </a:r>
          <a:endParaRPr lang="en-US" dirty="0"/>
        </a:p>
      </dgm:t>
    </dgm:pt>
    <dgm:pt modelId="{020254AB-DA12-4439-A5A4-99C576963AA4}" type="parTrans" cxnId="{5FD2BEF5-6D07-4A5B-AD03-EFFA107AA884}">
      <dgm:prSet/>
      <dgm:spPr/>
      <dgm:t>
        <a:bodyPr/>
        <a:lstStyle/>
        <a:p>
          <a:endParaRPr lang="en-US"/>
        </a:p>
      </dgm:t>
    </dgm:pt>
    <dgm:pt modelId="{8788F227-3CB6-44BC-AE08-B9DFF903F647}" type="sibTrans" cxnId="{5FD2BEF5-6D07-4A5B-AD03-EFFA107AA884}">
      <dgm:prSet/>
      <dgm:spPr/>
      <dgm:t>
        <a:bodyPr/>
        <a:lstStyle/>
        <a:p>
          <a:endParaRPr lang="en-US"/>
        </a:p>
      </dgm:t>
    </dgm:pt>
    <dgm:pt modelId="{9D048022-0D29-4C58-AA2F-944E1CA664B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The CDO receives revenue from the mortgage payments. FIs used these to repay their investors.</a:t>
          </a:r>
          <a:endParaRPr lang="en-US"/>
        </a:p>
      </dgm:t>
    </dgm:pt>
    <dgm:pt modelId="{F5C37C16-C460-4827-8C96-1073E6835118}" type="parTrans" cxnId="{51092F61-E51C-41FB-95AD-EC8ECB9B6056}">
      <dgm:prSet/>
      <dgm:spPr/>
      <dgm:t>
        <a:bodyPr/>
        <a:lstStyle/>
        <a:p>
          <a:endParaRPr lang="en-US"/>
        </a:p>
      </dgm:t>
    </dgm:pt>
    <dgm:pt modelId="{EA74919C-4A93-4A4A-B4FB-A50AFE583EA4}" type="sibTrans" cxnId="{51092F61-E51C-41FB-95AD-EC8ECB9B6056}">
      <dgm:prSet/>
      <dgm:spPr/>
      <dgm:t>
        <a:bodyPr/>
        <a:lstStyle/>
        <a:p>
          <a:endParaRPr lang="en-US"/>
        </a:p>
      </dgm:t>
    </dgm:pt>
    <dgm:pt modelId="{C99D1577-ABA6-4436-A883-FE3316E793AA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AAA CDOs get paid out first, then AA and so on </a:t>
          </a:r>
          <a:endParaRPr lang="en-US"/>
        </a:p>
      </dgm:t>
    </dgm:pt>
    <dgm:pt modelId="{59AE10D7-09EA-4199-BC94-CBCBD03A175D}" type="parTrans" cxnId="{4424996E-F59F-41B5-A91E-99C40A22E7CD}">
      <dgm:prSet/>
      <dgm:spPr/>
      <dgm:t>
        <a:bodyPr/>
        <a:lstStyle/>
        <a:p>
          <a:endParaRPr lang="en-US"/>
        </a:p>
      </dgm:t>
    </dgm:pt>
    <dgm:pt modelId="{07E93E18-BB19-48A5-A938-2CBFC5E27D20}" type="sibTrans" cxnId="{4424996E-F59F-41B5-A91E-99C40A22E7CD}">
      <dgm:prSet/>
      <dgm:spPr/>
      <dgm:t>
        <a:bodyPr/>
        <a:lstStyle/>
        <a:p>
          <a:endParaRPr lang="en-US"/>
        </a:p>
      </dgm:t>
    </dgm:pt>
    <dgm:pt modelId="{C503171B-3FC3-4B1F-82CA-28383BAA84CA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If subprime borrowers start defaulting the system is at risk of collapse</a:t>
          </a:r>
          <a:endParaRPr lang="en-US"/>
        </a:p>
      </dgm:t>
    </dgm:pt>
    <dgm:pt modelId="{1286270A-C817-41F7-8EF9-B0910A5EDDA7}" type="parTrans" cxnId="{1F83750F-07F6-4A97-B1B4-7EC8777CD076}">
      <dgm:prSet/>
      <dgm:spPr/>
      <dgm:t>
        <a:bodyPr/>
        <a:lstStyle/>
        <a:p>
          <a:endParaRPr lang="en-US"/>
        </a:p>
      </dgm:t>
    </dgm:pt>
    <dgm:pt modelId="{4713C4F5-5C38-469C-9980-EA42B3549D7D}" type="sibTrans" cxnId="{1F83750F-07F6-4A97-B1B4-7EC8777CD076}">
      <dgm:prSet/>
      <dgm:spPr/>
      <dgm:t>
        <a:bodyPr/>
        <a:lstStyle/>
        <a:p>
          <a:endParaRPr lang="en-US"/>
        </a:p>
      </dgm:t>
    </dgm:pt>
    <dgm:pt modelId="{36D43B82-0512-4F53-9CCD-254DE74E3013}" type="pres">
      <dgm:prSet presAssocID="{C6105EF5-8DC5-4FFD-982B-E545E779E576}" presName="Name0" presStyleCnt="0">
        <dgm:presLayoutVars>
          <dgm:dir/>
          <dgm:resizeHandles val="exact"/>
        </dgm:presLayoutVars>
      </dgm:prSet>
      <dgm:spPr/>
    </dgm:pt>
    <dgm:pt modelId="{0B162B0F-3CD8-4348-89C8-E6D6EC6526A8}" type="pres">
      <dgm:prSet presAssocID="{73378C3E-D7FD-4369-BC4B-26B829E096DE}" presName="node" presStyleLbl="node1" presStyleIdx="0" presStyleCnt="7">
        <dgm:presLayoutVars>
          <dgm:bulletEnabled val="1"/>
        </dgm:presLayoutVars>
      </dgm:prSet>
      <dgm:spPr/>
    </dgm:pt>
    <dgm:pt modelId="{294CB5C4-14E8-4013-99BC-AB0D468F162F}" type="pres">
      <dgm:prSet presAssocID="{410B053B-336E-431E-9898-10B69C8CC8F1}" presName="sibTrans" presStyleLbl="sibTrans1D1" presStyleIdx="0" presStyleCnt="6"/>
      <dgm:spPr/>
    </dgm:pt>
    <dgm:pt modelId="{4D584C4D-6CB3-4CAD-B284-05106B3F382E}" type="pres">
      <dgm:prSet presAssocID="{410B053B-336E-431E-9898-10B69C8CC8F1}" presName="connectorText" presStyleLbl="sibTrans1D1" presStyleIdx="0" presStyleCnt="6"/>
      <dgm:spPr/>
    </dgm:pt>
    <dgm:pt modelId="{2C1AE0CF-FF6E-43D7-A51B-2FC3F6687B00}" type="pres">
      <dgm:prSet presAssocID="{CF1A1188-FD07-4C99-80B9-8FBB64E03509}" presName="node" presStyleLbl="node1" presStyleIdx="1" presStyleCnt="7">
        <dgm:presLayoutVars>
          <dgm:bulletEnabled val="1"/>
        </dgm:presLayoutVars>
      </dgm:prSet>
      <dgm:spPr/>
    </dgm:pt>
    <dgm:pt modelId="{84A91E12-EE93-4B77-A539-0ECF93167271}" type="pres">
      <dgm:prSet presAssocID="{9534AC04-5B81-4B17-83EE-458FEA32B86B}" presName="sibTrans" presStyleLbl="sibTrans1D1" presStyleIdx="1" presStyleCnt="6"/>
      <dgm:spPr/>
    </dgm:pt>
    <dgm:pt modelId="{7B352F0C-9AE0-43BD-AEB6-E502BEF19D9E}" type="pres">
      <dgm:prSet presAssocID="{9534AC04-5B81-4B17-83EE-458FEA32B86B}" presName="connectorText" presStyleLbl="sibTrans1D1" presStyleIdx="1" presStyleCnt="6"/>
      <dgm:spPr/>
    </dgm:pt>
    <dgm:pt modelId="{2578723F-D4BC-4F4F-A510-95BFFDDDA03A}" type="pres">
      <dgm:prSet presAssocID="{E9AAA3F4-D561-4043-AD39-0E5E80F0DB75}" presName="node" presStyleLbl="node1" presStyleIdx="2" presStyleCnt="7">
        <dgm:presLayoutVars>
          <dgm:bulletEnabled val="1"/>
        </dgm:presLayoutVars>
      </dgm:prSet>
      <dgm:spPr/>
    </dgm:pt>
    <dgm:pt modelId="{2062DF85-8A45-45C6-9DCF-2D8ADB167F95}" type="pres">
      <dgm:prSet presAssocID="{095CDBBB-BDB5-4263-86C4-7CF9C8A7C83C}" presName="sibTrans" presStyleLbl="sibTrans1D1" presStyleIdx="2" presStyleCnt="6"/>
      <dgm:spPr/>
    </dgm:pt>
    <dgm:pt modelId="{2A4D644F-F419-4CF3-912B-D69E5B4C4E24}" type="pres">
      <dgm:prSet presAssocID="{095CDBBB-BDB5-4263-86C4-7CF9C8A7C83C}" presName="connectorText" presStyleLbl="sibTrans1D1" presStyleIdx="2" presStyleCnt="6"/>
      <dgm:spPr/>
    </dgm:pt>
    <dgm:pt modelId="{F9A9B95B-9B9C-495D-A16D-3823EE342A7C}" type="pres">
      <dgm:prSet presAssocID="{31213959-F83D-4526-ADA7-D8BEDB1D4D44}" presName="node" presStyleLbl="node1" presStyleIdx="3" presStyleCnt="7">
        <dgm:presLayoutVars>
          <dgm:bulletEnabled val="1"/>
        </dgm:presLayoutVars>
      </dgm:prSet>
      <dgm:spPr/>
    </dgm:pt>
    <dgm:pt modelId="{209A0584-3953-4001-A732-427AEABD0169}" type="pres">
      <dgm:prSet presAssocID="{8788F227-3CB6-44BC-AE08-B9DFF903F647}" presName="sibTrans" presStyleLbl="sibTrans1D1" presStyleIdx="3" presStyleCnt="6"/>
      <dgm:spPr/>
    </dgm:pt>
    <dgm:pt modelId="{10C901D4-02E4-496A-B43D-619ED2BCCF9F}" type="pres">
      <dgm:prSet presAssocID="{8788F227-3CB6-44BC-AE08-B9DFF903F647}" presName="connectorText" presStyleLbl="sibTrans1D1" presStyleIdx="3" presStyleCnt="6"/>
      <dgm:spPr/>
    </dgm:pt>
    <dgm:pt modelId="{ED902000-2B58-43D9-86E9-B5A7E3DFF662}" type="pres">
      <dgm:prSet presAssocID="{9D048022-0D29-4C58-AA2F-944E1CA664BD}" presName="node" presStyleLbl="node1" presStyleIdx="4" presStyleCnt="7">
        <dgm:presLayoutVars>
          <dgm:bulletEnabled val="1"/>
        </dgm:presLayoutVars>
      </dgm:prSet>
      <dgm:spPr/>
    </dgm:pt>
    <dgm:pt modelId="{F68B0002-AAFE-43B8-BBAF-04CB7E222A3C}" type="pres">
      <dgm:prSet presAssocID="{EA74919C-4A93-4A4A-B4FB-A50AFE583EA4}" presName="sibTrans" presStyleLbl="sibTrans1D1" presStyleIdx="4" presStyleCnt="6"/>
      <dgm:spPr/>
    </dgm:pt>
    <dgm:pt modelId="{307394FC-451F-4F69-8B1E-E0CA5D7528DE}" type="pres">
      <dgm:prSet presAssocID="{EA74919C-4A93-4A4A-B4FB-A50AFE583EA4}" presName="connectorText" presStyleLbl="sibTrans1D1" presStyleIdx="4" presStyleCnt="6"/>
      <dgm:spPr/>
    </dgm:pt>
    <dgm:pt modelId="{E2347A75-D61A-4CBE-9D23-C5506F2B15AD}" type="pres">
      <dgm:prSet presAssocID="{C99D1577-ABA6-4436-A883-FE3316E793AA}" presName="node" presStyleLbl="node1" presStyleIdx="5" presStyleCnt="7">
        <dgm:presLayoutVars>
          <dgm:bulletEnabled val="1"/>
        </dgm:presLayoutVars>
      </dgm:prSet>
      <dgm:spPr/>
    </dgm:pt>
    <dgm:pt modelId="{46BF0E2E-F2ED-4048-BBFA-652C926049B4}" type="pres">
      <dgm:prSet presAssocID="{07E93E18-BB19-48A5-A938-2CBFC5E27D20}" presName="sibTrans" presStyleLbl="sibTrans1D1" presStyleIdx="5" presStyleCnt="6"/>
      <dgm:spPr/>
    </dgm:pt>
    <dgm:pt modelId="{DDF8AEC1-28F4-40E6-86D0-5EC79412847B}" type="pres">
      <dgm:prSet presAssocID="{07E93E18-BB19-48A5-A938-2CBFC5E27D20}" presName="connectorText" presStyleLbl="sibTrans1D1" presStyleIdx="5" presStyleCnt="6"/>
      <dgm:spPr/>
    </dgm:pt>
    <dgm:pt modelId="{0F166B91-0365-47FF-9A3C-A7353EBCA00A}" type="pres">
      <dgm:prSet presAssocID="{C503171B-3FC3-4B1F-82CA-28383BAA84CA}" presName="node" presStyleLbl="node1" presStyleIdx="6" presStyleCnt="7">
        <dgm:presLayoutVars>
          <dgm:bulletEnabled val="1"/>
        </dgm:presLayoutVars>
      </dgm:prSet>
      <dgm:spPr/>
    </dgm:pt>
  </dgm:ptLst>
  <dgm:cxnLst>
    <dgm:cxn modelId="{1F83750F-07F6-4A97-B1B4-7EC8777CD076}" srcId="{C6105EF5-8DC5-4FFD-982B-E545E779E576}" destId="{C503171B-3FC3-4B1F-82CA-28383BAA84CA}" srcOrd="6" destOrd="0" parTransId="{1286270A-C817-41F7-8EF9-B0910A5EDDA7}" sibTransId="{4713C4F5-5C38-469C-9980-EA42B3549D7D}"/>
    <dgm:cxn modelId="{1F812422-F022-4E68-AC5B-FE0FCCE4FCA0}" type="presOf" srcId="{9D048022-0D29-4C58-AA2F-944E1CA664BD}" destId="{ED902000-2B58-43D9-86E9-B5A7E3DFF662}" srcOrd="0" destOrd="0" presId="urn:microsoft.com/office/officeart/2016/7/layout/RepeatingBendingProcessNew"/>
    <dgm:cxn modelId="{66082A2B-558B-4EE6-BFBF-22FAC97A30B0}" srcId="{C6105EF5-8DC5-4FFD-982B-E545E779E576}" destId="{E9AAA3F4-D561-4043-AD39-0E5E80F0DB75}" srcOrd="2" destOrd="0" parTransId="{900D1DAA-1678-4E38-9900-F8BFE340C317}" sibTransId="{095CDBBB-BDB5-4263-86C4-7CF9C8A7C83C}"/>
    <dgm:cxn modelId="{D4DD582D-0B6E-4A94-AC0D-5B4AB0686532}" type="presOf" srcId="{CF1A1188-FD07-4C99-80B9-8FBB64E03509}" destId="{2C1AE0CF-FF6E-43D7-A51B-2FC3F6687B00}" srcOrd="0" destOrd="0" presId="urn:microsoft.com/office/officeart/2016/7/layout/RepeatingBendingProcessNew"/>
    <dgm:cxn modelId="{F8F21238-3EC3-4F35-88AA-6A6892A6CFBE}" type="presOf" srcId="{C6105EF5-8DC5-4FFD-982B-E545E779E576}" destId="{36D43B82-0512-4F53-9CCD-254DE74E3013}" srcOrd="0" destOrd="0" presId="urn:microsoft.com/office/officeart/2016/7/layout/RepeatingBendingProcessNew"/>
    <dgm:cxn modelId="{51092F61-E51C-41FB-95AD-EC8ECB9B6056}" srcId="{C6105EF5-8DC5-4FFD-982B-E545E779E576}" destId="{9D048022-0D29-4C58-AA2F-944E1CA664BD}" srcOrd="4" destOrd="0" parTransId="{F5C37C16-C460-4827-8C96-1073E6835118}" sibTransId="{EA74919C-4A93-4A4A-B4FB-A50AFE583EA4}"/>
    <dgm:cxn modelId="{69363642-FEB4-4CDB-9799-D2D66681B7F9}" type="presOf" srcId="{8788F227-3CB6-44BC-AE08-B9DFF903F647}" destId="{209A0584-3953-4001-A732-427AEABD0169}" srcOrd="0" destOrd="0" presId="urn:microsoft.com/office/officeart/2016/7/layout/RepeatingBendingProcessNew"/>
    <dgm:cxn modelId="{4424996E-F59F-41B5-A91E-99C40A22E7CD}" srcId="{C6105EF5-8DC5-4FFD-982B-E545E779E576}" destId="{C99D1577-ABA6-4436-A883-FE3316E793AA}" srcOrd="5" destOrd="0" parTransId="{59AE10D7-09EA-4199-BC94-CBCBD03A175D}" sibTransId="{07E93E18-BB19-48A5-A938-2CBFC5E27D20}"/>
    <dgm:cxn modelId="{C5761070-C9E5-4571-8762-654D113224AE}" type="presOf" srcId="{31213959-F83D-4526-ADA7-D8BEDB1D4D44}" destId="{F9A9B95B-9B9C-495D-A16D-3823EE342A7C}" srcOrd="0" destOrd="0" presId="urn:microsoft.com/office/officeart/2016/7/layout/RepeatingBendingProcessNew"/>
    <dgm:cxn modelId="{23F39570-6025-448C-966F-E196AF8C635F}" type="presOf" srcId="{07E93E18-BB19-48A5-A938-2CBFC5E27D20}" destId="{46BF0E2E-F2ED-4048-BBFA-652C926049B4}" srcOrd="0" destOrd="0" presId="urn:microsoft.com/office/officeart/2016/7/layout/RepeatingBendingProcessNew"/>
    <dgm:cxn modelId="{CE92AA51-14A7-4C10-A6E5-3EC9B2A6A9EE}" type="presOf" srcId="{C99D1577-ABA6-4436-A883-FE3316E793AA}" destId="{E2347A75-D61A-4CBE-9D23-C5506F2B15AD}" srcOrd="0" destOrd="0" presId="urn:microsoft.com/office/officeart/2016/7/layout/RepeatingBendingProcessNew"/>
    <dgm:cxn modelId="{07AF2C75-A07D-45A3-BC90-F6697DCD7D9F}" type="presOf" srcId="{410B053B-336E-431E-9898-10B69C8CC8F1}" destId="{294CB5C4-14E8-4013-99BC-AB0D468F162F}" srcOrd="0" destOrd="0" presId="urn:microsoft.com/office/officeart/2016/7/layout/RepeatingBendingProcessNew"/>
    <dgm:cxn modelId="{6A5AE978-3075-4998-8CBD-3AA1F2640709}" type="presOf" srcId="{9534AC04-5B81-4B17-83EE-458FEA32B86B}" destId="{7B352F0C-9AE0-43BD-AEB6-E502BEF19D9E}" srcOrd="1" destOrd="0" presId="urn:microsoft.com/office/officeart/2016/7/layout/RepeatingBendingProcessNew"/>
    <dgm:cxn modelId="{1F55DB79-D357-495A-814F-0E83A45A2E24}" type="presOf" srcId="{095CDBBB-BDB5-4263-86C4-7CF9C8A7C83C}" destId="{2062DF85-8A45-45C6-9DCF-2D8ADB167F95}" srcOrd="0" destOrd="0" presId="urn:microsoft.com/office/officeart/2016/7/layout/RepeatingBendingProcessNew"/>
    <dgm:cxn modelId="{B82A6E82-337E-45AE-9ECE-3B384B7DB06E}" srcId="{C6105EF5-8DC5-4FFD-982B-E545E779E576}" destId="{CF1A1188-FD07-4C99-80B9-8FBB64E03509}" srcOrd="1" destOrd="0" parTransId="{809213B1-5BCD-436C-AD42-A3C996A32606}" sibTransId="{9534AC04-5B81-4B17-83EE-458FEA32B86B}"/>
    <dgm:cxn modelId="{500FA884-F581-4EFB-8EEB-F9FBA82F18BD}" type="presOf" srcId="{EA74919C-4A93-4A4A-B4FB-A50AFE583EA4}" destId="{F68B0002-AAFE-43B8-BBAF-04CB7E222A3C}" srcOrd="0" destOrd="0" presId="urn:microsoft.com/office/officeart/2016/7/layout/RepeatingBendingProcessNew"/>
    <dgm:cxn modelId="{C374E59E-B339-4B42-9E8C-A5FA284F6013}" srcId="{C6105EF5-8DC5-4FFD-982B-E545E779E576}" destId="{73378C3E-D7FD-4369-BC4B-26B829E096DE}" srcOrd="0" destOrd="0" parTransId="{A476AFD6-D266-4000-91EC-6B25461A45C2}" sibTransId="{410B053B-336E-431E-9898-10B69C8CC8F1}"/>
    <dgm:cxn modelId="{082BF4AB-2AD6-45A6-9982-7F84997EFB8D}" type="presOf" srcId="{8788F227-3CB6-44BC-AE08-B9DFF903F647}" destId="{10C901D4-02E4-496A-B43D-619ED2BCCF9F}" srcOrd="1" destOrd="0" presId="urn:microsoft.com/office/officeart/2016/7/layout/RepeatingBendingProcessNew"/>
    <dgm:cxn modelId="{64DA02B0-981A-4396-A489-ECD0C4D5CF4F}" type="presOf" srcId="{07E93E18-BB19-48A5-A938-2CBFC5E27D20}" destId="{DDF8AEC1-28F4-40E6-86D0-5EC79412847B}" srcOrd="1" destOrd="0" presId="urn:microsoft.com/office/officeart/2016/7/layout/RepeatingBendingProcessNew"/>
    <dgm:cxn modelId="{E523FAB4-90E8-438B-8050-376FB8C7DB4A}" type="presOf" srcId="{73378C3E-D7FD-4369-BC4B-26B829E096DE}" destId="{0B162B0F-3CD8-4348-89C8-E6D6EC6526A8}" srcOrd="0" destOrd="0" presId="urn:microsoft.com/office/officeart/2016/7/layout/RepeatingBendingProcessNew"/>
    <dgm:cxn modelId="{198476C9-771A-458F-9B30-BAA33A438464}" type="presOf" srcId="{E9AAA3F4-D561-4043-AD39-0E5E80F0DB75}" destId="{2578723F-D4BC-4F4F-A510-95BFFDDDA03A}" srcOrd="0" destOrd="0" presId="urn:microsoft.com/office/officeart/2016/7/layout/RepeatingBendingProcessNew"/>
    <dgm:cxn modelId="{208221CC-BEB6-4564-B8C2-DBC721777A3A}" type="presOf" srcId="{410B053B-336E-431E-9898-10B69C8CC8F1}" destId="{4D584C4D-6CB3-4CAD-B284-05106B3F382E}" srcOrd="1" destOrd="0" presId="urn:microsoft.com/office/officeart/2016/7/layout/RepeatingBendingProcessNew"/>
    <dgm:cxn modelId="{066917CE-37CA-4043-9562-916AD0669277}" type="presOf" srcId="{C503171B-3FC3-4B1F-82CA-28383BAA84CA}" destId="{0F166B91-0365-47FF-9A3C-A7353EBCA00A}" srcOrd="0" destOrd="0" presId="urn:microsoft.com/office/officeart/2016/7/layout/RepeatingBendingProcessNew"/>
    <dgm:cxn modelId="{1DDC52CE-53F7-4EDE-A1FF-75EB81A8F118}" type="presOf" srcId="{095CDBBB-BDB5-4263-86C4-7CF9C8A7C83C}" destId="{2A4D644F-F419-4CF3-912B-D69E5B4C4E24}" srcOrd="1" destOrd="0" presId="urn:microsoft.com/office/officeart/2016/7/layout/RepeatingBendingProcessNew"/>
    <dgm:cxn modelId="{A3733DE3-50B0-44D8-B1B3-B2832616B08E}" type="presOf" srcId="{9534AC04-5B81-4B17-83EE-458FEA32B86B}" destId="{84A91E12-EE93-4B77-A539-0ECF93167271}" srcOrd="0" destOrd="0" presId="urn:microsoft.com/office/officeart/2016/7/layout/RepeatingBendingProcessNew"/>
    <dgm:cxn modelId="{EF52F0F4-B925-4976-B738-BEB6A3395E08}" type="presOf" srcId="{EA74919C-4A93-4A4A-B4FB-A50AFE583EA4}" destId="{307394FC-451F-4F69-8B1E-E0CA5D7528DE}" srcOrd="1" destOrd="0" presId="urn:microsoft.com/office/officeart/2016/7/layout/RepeatingBendingProcessNew"/>
    <dgm:cxn modelId="{5FD2BEF5-6D07-4A5B-AD03-EFFA107AA884}" srcId="{C6105EF5-8DC5-4FFD-982B-E545E779E576}" destId="{31213959-F83D-4526-ADA7-D8BEDB1D4D44}" srcOrd="3" destOrd="0" parTransId="{020254AB-DA12-4439-A5A4-99C576963AA4}" sibTransId="{8788F227-3CB6-44BC-AE08-B9DFF903F647}"/>
    <dgm:cxn modelId="{6331D5B3-818A-442C-B9C1-7B8AD4CBDAB7}" type="presParOf" srcId="{36D43B82-0512-4F53-9CCD-254DE74E3013}" destId="{0B162B0F-3CD8-4348-89C8-E6D6EC6526A8}" srcOrd="0" destOrd="0" presId="urn:microsoft.com/office/officeart/2016/7/layout/RepeatingBendingProcessNew"/>
    <dgm:cxn modelId="{CCF6D28D-4F07-4658-B432-DA0AAC2FC230}" type="presParOf" srcId="{36D43B82-0512-4F53-9CCD-254DE74E3013}" destId="{294CB5C4-14E8-4013-99BC-AB0D468F162F}" srcOrd="1" destOrd="0" presId="urn:microsoft.com/office/officeart/2016/7/layout/RepeatingBendingProcessNew"/>
    <dgm:cxn modelId="{571DF8D4-71F5-4E69-8C1D-6EDA5034313E}" type="presParOf" srcId="{294CB5C4-14E8-4013-99BC-AB0D468F162F}" destId="{4D584C4D-6CB3-4CAD-B284-05106B3F382E}" srcOrd="0" destOrd="0" presId="urn:microsoft.com/office/officeart/2016/7/layout/RepeatingBendingProcessNew"/>
    <dgm:cxn modelId="{302F3655-E1EE-4A1C-A168-0C1174542C2E}" type="presParOf" srcId="{36D43B82-0512-4F53-9CCD-254DE74E3013}" destId="{2C1AE0CF-FF6E-43D7-A51B-2FC3F6687B00}" srcOrd="2" destOrd="0" presId="urn:microsoft.com/office/officeart/2016/7/layout/RepeatingBendingProcessNew"/>
    <dgm:cxn modelId="{10AA2E27-3590-4A75-A51E-FA8D506F2898}" type="presParOf" srcId="{36D43B82-0512-4F53-9CCD-254DE74E3013}" destId="{84A91E12-EE93-4B77-A539-0ECF93167271}" srcOrd="3" destOrd="0" presId="urn:microsoft.com/office/officeart/2016/7/layout/RepeatingBendingProcessNew"/>
    <dgm:cxn modelId="{3278DB96-A0BF-4B96-BF5F-9A2A466AE288}" type="presParOf" srcId="{84A91E12-EE93-4B77-A539-0ECF93167271}" destId="{7B352F0C-9AE0-43BD-AEB6-E502BEF19D9E}" srcOrd="0" destOrd="0" presId="urn:microsoft.com/office/officeart/2016/7/layout/RepeatingBendingProcessNew"/>
    <dgm:cxn modelId="{1D77EA88-3F5D-4A00-ADFC-760C864BB478}" type="presParOf" srcId="{36D43B82-0512-4F53-9CCD-254DE74E3013}" destId="{2578723F-D4BC-4F4F-A510-95BFFDDDA03A}" srcOrd="4" destOrd="0" presId="urn:microsoft.com/office/officeart/2016/7/layout/RepeatingBendingProcessNew"/>
    <dgm:cxn modelId="{07F38A32-8008-4C74-A8C5-8594D53853B7}" type="presParOf" srcId="{36D43B82-0512-4F53-9CCD-254DE74E3013}" destId="{2062DF85-8A45-45C6-9DCF-2D8ADB167F95}" srcOrd="5" destOrd="0" presId="urn:microsoft.com/office/officeart/2016/7/layout/RepeatingBendingProcessNew"/>
    <dgm:cxn modelId="{EA22E1E4-4234-42E4-A220-88EC4F383405}" type="presParOf" srcId="{2062DF85-8A45-45C6-9DCF-2D8ADB167F95}" destId="{2A4D644F-F419-4CF3-912B-D69E5B4C4E24}" srcOrd="0" destOrd="0" presId="urn:microsoft.com/office/officeart/2016/7/layout/RepeatingBendingProcessNew"/>
    <dgm:cxn modelId="{9C019BB6-9C96-4636-BFED-D443068D295F}" type="presParOf" srcId="{36D43B82-0512-4F53-9CCD-254DE74E3013}" destId="{F9A9B95B-9B9C-495D-A16D-3823EE342A7C}" srcOrd="6" destOrd="0" presId="urn:microsoft.com/office/officeart/2016/7/layout/RepeatingBendingProcessNew"/>
    <dgm:cxn modelId="{8CD15B07-561C-4A63-A6A9-8C4285074CCD}" type="presParOf" srcId="{36D43B82-0512-4F53-9CCD-254DE74E3013}" destId="{209A0584-3953-4001-A732-427AEABD0169}" srcOrd="7" destOrd="0" presId="urn:microsoft.com/office/officeart/2016/7/layout/RepeatingBendingProcessNew"/>
    <dgm:cxn modelId="{34DC701E-6B7D-4CCD-9EC5-E4A2E04B1064}" type="presParOf" srcId="{209A0584-3953-4001-A732-427AEABD0169}" destId="{10C901D4-02E4-496A-B43D-619ED2BCCF9F}" srcOrd="0" destOrd="0" presId="urn:microsoft.com/office/officeart/2016/7/layout/RepeatingBendingProcessNew"/>
    <dgm:cxn modelId="{560921FB-6F42-4DFF-80EE-42AC3736ADE2}" type="presParOf" srcId="{36D43B82-0512-4F53-9CCD-254DE74E3013}" destId="{ED902000-2B58-43D9-86E9-B5A7E3DFF662}" srcOrd="8" destOrd="0" presId="urn:microsoft.com/office/officeart/2016/7/layout/RepeatingBendingProcessNew"/>
    <dgm:cxn modelId="{CD36E212-AA1D-40D4-865C-721BBF4C6107}" type="presParOf" srcId="{36D43B82-0512-4F53-9CCD-254DE74E3013}" destId="{F68B0002-AAFE-43B8-BBAF-04CB7E222A3C}" srcOrd="9" destOrd="0" presId="urn:microsoft.com/office/officeart/2016/7/layout/RepeatingBendingProcessNew"/>
    <dgm:cxn modelId="{FA408AEE-ED63-4A53-B531-9E21F752DBC7}" type="presParOf" srcId="{F68B0002-AAFE-43B8-BBAF-04CB7E222A3C}" destId="{307394FC-451F-4F69-8B1E-E0CA5D7528DE}" srcOrd="0" destOrd="0" presId="urn:microsoft.com/office/officeart/2016/7/layout/RepeatingBendingProcessNew"/>
    <dgm:cxn modelId="{BDB4B972-931F-49EE-80F9-CE6852B94334}" type="presParOf" srcId="{36D43B82-0512-4F53-9CCD-254DE74E3013}" destId="{E2347A75-D61A-4CBE-9D23-C5506F2B15AD}" srcOrd="10" destOrd="0" presId="urn:microsoft.com/office/officeart/2016/7/layout/RepeatingBendingProcessNew"/>
    <dgm:cxn modelId="{88F9096C-511B-4088-AA35-DFB940211E2D}" type="presParOf" srcId="{36D43B82-0512-4F53-9CCD-254DE74E3013}" destId="{46BF0E2E-F2ED-4048-BBFA-652C926049B4}" srcOrd="11" destOrd="0" presId="urn:microsoft.com/office/officeart/2016/7/layout/RepeatingBendingProcessNew"/>
    <dgm:cxn modelId="{09A9AE6B-582E-4252-8745-A2FB5D56A073}" type="presParOf" srcId="{46BF0E2E-F2ED-4048-BBFA-652C926049B4}" destId="{DDF8AEC1-28F4-40E6-86D0-5EC79412847B}" srcOrd="0" destOrd="0" presId="urn:microsoft.com/office/officeart/2016/7/layout/RepeatingBendingProcessNew"/>
    <dgm:cxn modelId="{00184A7D-BCDA-45B8-88ED-0D72B88DA7DE}" type="presParOf" srcId="{36D43B82-0512-4F53-9CCD-254DE74E3013}" destId="{0F166B91-0365-47FF-9A3C-A7353EBCA00A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69A62D3-D880-554E-B380-CC3D7F45F74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1F60C429-1EC3-2D49-9729-5709376DB79D}">
      <dgm:prSet/>
      <dgm:spPr/>
      <dgm:t>
        <a:bodyPr/>
        <a:lstStyle/>
        <a:p>
          <a:r>
            <a:rPr lang="en-NZ"/>
            <a:t>Default Risk</a:t>
          </a:r>
        </a:p>
      </dgm:t>
    </dgm:pt>
    <dgm:pt modelId="{B3E9DC57-D914-4345-82B3-EC49BFB0187C}" type="parTrans" cxnId="{AE6B85A0-362A-9047-9224-5733A38FB80C}">
      <dgm:prSet/>
      <dgm:spPr/>
      <dgm:t>
        <a:bodyPr/>
        <a:lstStyle/>
        <a:p>
          <a:endParaRPr lang="en-GB"/>
        </a:p>
      </dgm:t>
    </dgm:pt>
    <dgm:pt modelId="{4C98BC94-F230-BA44-8A93-2D2DA4D83086}" type="sibTrans" cxnId="{AE6B85A0-362A-9047-9224-5733A38FB80C}">
      <dgm:prSet/>
      <dgm:spPr/>
      <dgm:t>
        <a:bodyPr/>
        <a:lstStyle/>
        <a:p>
          <a:endParaRPr lang="en-GB"/>
        </a:p>
      </dgm:t>
    </dgm:pt>
    <dgm:pt modelId="{5F18CC41-2938-7740-BC2E-5A347CBEC495}">
      <dgm:prSet/>
      <dgm:spPr/>
      <dgm:t>
        <a:bodyPr/>
        <a:lstStyle/>
        <a:p>
          <a:r>
            <a:rPr lang="en-NZ"/>
            <a:t>The probability an individual borrower will be unable to repay their loan.</a:t>
          </a:r>
        </a:p>
      </dgm:t>
    </dgm:pt>
    <dgm:pt modelId="{20C7720E-D136-1C49-92EC-5EE8A8ABA1B8}" type="parTrans" cxnId="{5DC63F6B-CB30-8D4C-AA99-54582D9C8B81}">
      <dgm:prSet/>
      <dgm:spPr/>
      <dgm:t>
        <a:bodyPr/>
        <a:lstStyle/>
        <a:p>
          <a:endParaRPr lang="en-GB"/>
        </a:p>
      </dgm:t>
    </dgm:pt>
    <dgm:pt modelId="{D46B6F29-BADE-1944-B243-EB81AC19292C}" type="sibTrans" cxnId="{5DC63F6B-CB30-8D4C-AA99-54582D9C8B81}">
      <dgm:prSet/>
      <dgm:spPr/>
      <dgm:t>
        <a:bodyPr/>
        <a:lstStyle/>
        <a:p>
          <a:endParaRPr lang="en-GB"/>
        </a:p>
      </dgm:t>
    </dgm:pt>
    <dgm:pt modelId="{4B8D830F-4DDC-2C4A-AB4A-7770AD9EDC56}">
      <dgm:prSet/>
      <dgm:spPr/>
      <dgm:t>
        <a:bodyPr/>
        <a:lstStyle/>
        <a:p>
          <a:r>
            <a:rPr lang="en-NZ"/>
            <a:t>This risk is not related to the other borrowers.</a:t>
          </a:r>
        </a:p>
      </dgm:t>
    </dgm:pt>
    <dgm:pt modelId="{568F956A-EBE8-5942-BA32-2BBE9CCDF773}" type="parTrans" cxnId="{19848C7E-1544-0D46-8A4E-E9027CC9CA68}">
      <dgm:prSet/>
      <dgm:spPr/>
      <dgm:t>
        <a:bodyPr/>
        <a:lstStyle/>
        <a:p>
          <a:endParaRPr lang="en-GB"/>
        </a:p>
      </dgm:t>
    </dgm:pt>
    <dgm:pt modelId="{184D2EB0-D9E1-A447-8850-8992DD5BE3C2}" type="sibTrans" cxnId="{19848C7E-1544-0D46-8A4E-E9027CC9CA68}">
      <dgm:prSet/>
      <dgm:spPr/>
      <dgm:t>
        <a:bodyPr/>
        <a:lstStyle/>
        <a:p>
          <a:endParaRPr lang="en-GB"/>
        </a:p>
      </dgm:t>
    </dgm:pt>
    <dgm:pt modelId="{361DBDF5-B14D-B346-9921-A09B0A72239D}">
      <dgm:prSet/>
      <dgm:spPr/>
      <dgm:t>
        <a:bodyPr/>
        <a:lstStyle/>
        <a:p>
          <a:r>
            <a:rPr lang="en-NZ"/>
            <a:t>Borrower A’s inability to repay is not related to Borrower B.</a:t>
          </a:r>
        </a:p>
      </dgm:t>
    </dgm:pt>
    <dgm:pt modelId="{67990583-FA9E-844B-B09B-D3EDE0583D3E}" type="parTrans" cxnId="{113D23E5-B4E9-B146-ADE3-AE2EC310B558}">
      <dgm:prSet/>
      <dgm:spPr/>
      <dgm:t>
        <a:bodyPr/>
        <a:lstStyle/>
        <a:p>
          <a:endParaRPr lang="en-GB"/>
        </a:p>
      </dgm:t>
    </dgm:pt>
    <dgm:pt modelId="{9A7FDE26-243E-6747-B9B5-33748022D3C4}" type="sibTrans" cxnId="{113D23E5-B4E9-B146-ADE3-AE2EC310B558}">
      <dgm:prSet/>
      <dgm:spPr/>
      <dgm:t>
        <a:bodyPr/>
        <a:lstStyle/>
        <a:p>
          <a:endParaRPr lang="en-GB"/>
        </a:p>
      </dgm:t>
    </dgm:pt>
    <dgm:pt modelId="{420E0063-0563-DE4E-AC35-B2AC9E2EA652}" type="pres">
      <dgm:prSet presAssocID="{369A62D3-D880-554E-B380-CC3D7F45F741}" presName="linear" presStyleCnt="0">
        <dgm:presLayoutVars>
          <dgm:animLvl val="lvl"/>
          <dgm:resizeHandles val="exact"/>
        </dgm:presLayoutVars>
      </dgm:prSet>
      <dgm:spPr/>
    </dgm:pt>
    <dgm:pt modelId="{212AAAA7-5588-AE4C-ABB4-0968B90FB5C1}" type="pres">
      <dgm:prSet presAssocID="{1F60C429-1EC3-2D49-9729-5709376DB79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12E0E1-9BD2-E34B-98FF-78B76586822A}" type="pres">
      <dgm:prSet presAssocID="{1F60C429-1EC3-2D49-9729-5709376DB79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53B6A14-C1A3-1548-9662-3F8C14F8B169}" type="presOf" srcId="{361DBDF5-B14D-B346-9921-A09B0A72239D}" destId="{DF12E0E1-9BD2-E34B-98FF-78B76586822A}" srcOrd="0" destOrd="2" presId="urn:microsoft.com/office/officeart/2005/8/layout/vList2"/>
    <dgm:cxn modelId="{98FAA523-F88B-6F44-A513-DFFF3EDE6A79}" type="presOf" srcId="{4B8D830F-4DDC-2C4A-AB4A-7770AD9EDC56}" destId="{DF12E0E1-9BD2-E34B-98FF-78B76586822A}" srcOrd="0" destOrd="1" presId="urn:microsoft.com/office/officeart/2005/8/layout/vList2"/>
    <dgm:cxn modelId="{5DC63F6B-CB30-8D4C-AA99-54582D9C8B81}" srcId="{1F60C429-1EC3-2D49-9729-5709376DB79D}" destId="{5F18CC41-2938-7740-BC2E-5A347CBEC495}" srcOrd="0" destOrd="0" parTransId="{20C7720E-D136-1C49-92EC-5EE8A8ABA1B8}" sibTransId="{D46B6F29-BADE-1944-B243-EB81AC19292C}"/>
    <dgm:cxn modelId="{19848C7E-1544-0D46-8A4E-E9027CC9CA68}" srcId="{1F60C429-1EC3-2D49-9729-5709376DB79D}" destId="{4B8D830F-4DDC-2C4A-AB4A-7770AD9EDC56}" srcOrd="1" destOrd="0" parTransId="{568F956A-EBE8-5942-BA32-2BBE9CCDF773}" sibTransId="{184D2EB0-D9E1-A447-8850-8992DD5BE3C2}"/>
    <dgm:cxn modelId="{AE6B85A0-362A-9047-9224-5733A38FB80C}" srcId="{369A62D3-D880-554E-B380-CC3D7F45F741}" destId="{1F60C429-1EC3-2D49-9729-5709376DB79D}" srcOrd="0" destOrd="0" parTransId="{B3E9DC57-D914-4345-82B3-EC49BFB0187C}" sibTransId="{4C98BC94-F230-BA44-8A93-2D2DA4D83086}"/>
    <dgm:cxn modelId="{6554EFCE-42B4-7A4E-BADA-2F1F51E8DF61}" type="presOf" srcId="{1F60C429-1EC3-2D49-9729-5709376DB79D}" destId="{212AAAA7-5588-AE4C-ABB4-0968B90FB5C1}" srcOrd="0" destOrd="0" presId="urn:microsoft.com/office/officeart/2005/8/layout/vList2"/>
    <dgm:cxn modelId="{7685EADA-1B3A-0A48-AD0A-23AECC646235}" type="presOf" srcId="{369A62D3-D880-554E-B380-CC3D7F45F741}" destId="{420E0063-0563-DE4E-AC35-B2AC9E2EA652}" srcOrd="0" destOrd="0" presId="urn:microsoft.com/office/officeart/2005/8/layout/vList2"/>
    <dgm:cxn modelId="{089740DB-001C-6C49-A3ED-4F849CB6EC31}" type="presOf" srcId="{5F18CC41-2938-7740-BC2E-5A347CBEC495}" destId="{DF12E0E1-9BD2-E34B-98FF-78B76586822A}" srcOrd="0" destOrd="0" presId="urn:microsoft.com/office/officeart/2005/8/layout/vList2"/>
    <dgm:cxn modelId="{113D23E5-B4E9-B146-ADE3-AE2EC310B558}" srcId="{1F60C429-1EC3-2D49-9729-5709376DB79D}" destId="{361DBDF5-B14D-B346-9921-A09B0A72239D}" srcOrd="2" destOrd="0" parTransId="{67990583-FA9E-844B-B09B-D3EDE0583D3E}" sibTransId="{9A7FDE26-243E-6747-B9B5-33748022D3C4}"/>
    <dgm:cxn modelId="{00F6594F-A414-8048-8DDC-3432F44E386A}" type="presParOf" srcId="{420E0063-0563-DE4E-AC35-B2AC9E2EA652}" destId="{212AAAA7-5588-AE4C-ABB4-0968B90FB5C1}" srcOrd="0" destOrd="0" presId="urn:microsoft.com/office/officeart/2005/8/layout/vList2"/>
    <dgm:cxn modelId="{9A8CE6C8-7D69-6745-813C-6FE3FEF07DE9}" type="presParOf" srcId="{420E0063-0563-DE4E-AC35-B2AC9E2EA652}" destId="{DF12E0E1-9BD2-E34B-98FF-78B76586822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3DD7984-F85E-C741-83A5-1543BCD3ADF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EDC666B0-0765-0442-BD88-54B83109A67F}">
      <dgm:prSet/>
      <dgm:spPr/>
      <dgm:t>
        <a:bodyPr/>
        <a:lstStyle/>
        <a:p>
          <a:r>
            <a:rPr lang="en-NZ"/>
            <a:t>Systemic Risk</a:t>
          </a:r>
        </a:p>
      </dgm:t>
    </dgm:pt>
    <dgm:pt modelId="{735B590B-A4D2-AF46-A99A-0E883F26F6BE}" type="parTrans" cxnId="{35304BE6-5229-9A42-BFFB-91DBD4487406}">
      <dgm:prSet/>
      <dgm:spPr/>
      <dgm:t>
        <a:bodyPr/>
        <a:lstStyle/>
        <a:p>
          <a:endParaRPr lang="en-GB"/>
        </a:p>
      </dgm:t>
    </dgm:pt>
    <dgm:pt modelId="{2C88ED13-EC52-CE4B-B38D-E9CC88AEEFB0}" type="sibTrans" cxnId="{35304BE6-5229-9A42-BFFB-91DBD4487406}">
      <dgm:prSet/>
      <dgm:spPr/>
      <dgm:t>
        <a:bodyPr/>
        <a:lstStyle/>
        <a:p>
          <a:endParaRPr lang="en-GB"/>
        </a:p>
      </dgm:t>
    </dgm:pt>
    <dgm:pt modelId="{C841052E-6B20-3F43-8AB4-5861137134F4}">
      <dgm:prSet/>
      <dgm:spPr/>
      <dgm:t>
        <a:bodyPr/>
        <a:lstStyle/>
        <a:p>
          <a:r>
            <a:rPr lang="en-NZ"/>
            <a:t>The probability a borrower will be unable to repay their loan based on economy-wide changes.</a:t>
          </a:r>
        </a:p>
      </dgm:t>
    </dgm:pt>
    <dgm:pt modelId="{3C39DAF7-7090-1540-9786-311D000FC72D}" type="parTrans" cxnId="{3745DB04-8A8D-EA44-978A-AFF0CF05C7B5}">
      <dgm:prSet/>
      <dgm:spPr/>
      <dgm:t>
        <a:bodyPr/>
        <a:lstStyle/>
        <a:p>
          <a:endParaRPr lang="en-GB"/>
        </a:p>
      </dgm:t>
    </dgm:pt>
    <dgm:pt modelId="{43C1DEE0-8C8F-394E-B7A1-33D754886E52}" type="sibTrans" cxnId="{3745DB04-8A8D-EA44-978A-AFF0CF05C7B5}">
      <dgm:prSet/>
      <dgm:spPr/>
      <dgm:t>
        <a:bodyPr/>
        <a:lstStyle/>
        <a:p>
          <a:endParaRPr lang="en-GB"/>
        </a:p>
      </dgm:t>
    </dgm:pt>
    <dgm:pt modelId="{5973F3A7-6E0F-E640-89C1-5935DD31AF39}">
      <dgm:prSet/>
      <dgm:spPr/>
      <dgm:t>
        <a:bodyPr/>
        <a:lstStyle/>
        <a:p>
          <a:r>
            <a:rPr lang="en-NZ"/>
            <a:t>This risk is related to other borrowers. </a:t>
          </a:r>
        </a:p>
      </dgm:t>
    </dgm:pt>
    <dgm:pt modelId="{A7D658B6-254C-954D-906C-0E618FFEB8DD}" type="parTrans" cxnId="{26CFA746-612D-324A-967D-4901237C978E}">
      <dgm:prSet/>
      <dgm:spPr/>
      <dgm:t>
        <a:bodyPr/>
        <a:lstStyle/>
        <a:p>
          <a:endParaRPr lang="en-GB"/>
        </a:p>
      </dgm:t>
    </dgm:pt>
    <dgm:pt modelId="{831A9890-C036-9047-9904-9D93ACB0D971}" type="sibTrans" cxnId="{26CFA746-612D-324A-967D-4901237C978E}">
      <dgm:prSet/>
      <dgm:spPr/>
      <dgm:t>
        <a:bodyPr/>
        <a:lstStyle/>
        <a:p>
          <a:endParaRPr lang="en-GB"/>
        </a:p>
      </dgm:t>
    </dgm:pt>
    <dgm:pt modelId="{640300AC-FB7F-2B41-B1D5-4191CF8D03D3}">
      <dgm:prSet/>
      <dgm:spPr/>
      <dgm:t>
        <a:bodyPr/>
        <a:lstStyle/>
        <a:p>
          <a:r>
            <a:rPr lang="en-NZ"/>
            <a:t>If Borrower A cannot repay it is likely Borrower B cannot repay.</a:t>
          </a:r>
        </a:p>
      </dgm:t>
    </dgm:pt>
    <dgm:pt modelId="{62DB4687-9BC3-EA4F-95F3-BCAAD0FE69AF}" type="parTrans" cxnId="{B97CA0B9-130C-DA40-8105-FAB4ABDD5331}">
      <dgm:prSet/>
      <dgm:spPr/>
      <dgm:t>
        <a:bodyPr/>
        <a:lstStyle/>
        <a:p>
          <a:endParaRPr lang="en-GB"/>
        </a:p>
      </dgm:t>
    </dgm:pt>
    <dgm:pt modelId="{86BD99EA-9859-3946-A3D0-DCAB80EAFEEB}" type="sibTrans" cxnId="{B97CA0B9-130C-DA40-8105-FAB4ABDD5331}">
      <dgm:prSet/>
      <dgm:spPr/>
      <dgm:t>
        <a:bodyPr/>
        <a:lstStyle/>
        <a:p>
          <a:endParaRPr lang="en-GB"/>
        </a:p>
      </dgm:t>
    </dgm:pt>
    <dgm:pt modelId="{4DE6544F-F132-EE4E-AD0C-90B180CFFA68}" type="pres">
      <dgm:prSet presAssocID="{C3DD7984-F85E-C741-83A5-1543BCD3ADF6}" presName="linear" presStyleCnt="0">
        <dgm:presLayoutVars>
          <dgm:animLvl val="lvl"/>
          <dgm:resizeHandles val="exact"/>
        </dgm:presLayoutVars>
      </dgm:prSet>
      <dgm:spPr/>
    </dgm:pt>
    <dgm:pt modelId="{9ABBB6B9-772C-AE42-A5AC-7EAC2FF54416}" type="pres">
      <dgm:prSet presAssocID="{EDC666B0-0765-0442-BD88-54B83109A67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AEE168C-3417-3B4C-A62A-DFF6FA2D2EE5}" type="pres">
      <dgm:prSet presAssocID="{EDC666B0-0765-0442-BD88-54B83109A67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745DB04-8A8D-EA44-978A-AFF0CF05C7B5}" srcId="{EDC666B0-0765-0442-BD88-54B83109A67F}" destId="{C841052E-6B20-3F43-8AB4-5861137134F4}" srcOrd="0" destOrd="0" parTransId="{3C39DAF7-7090-1540-9786-311D000FC72D}" sibTransId="{43C1DEE0-8C8F-394E-B7A1-33D754886E52}"/>
    <dgm:cxn modelId="{23C6CF5D-B149-C544-A921-06B5D13337DE}" type="presOf" srcId="{C3DD7984-F85E-C741-83A5-1543BCD3ADF6}" destId="{4DE6544F-F132-EE4E-AD0C-90B180CFFA68}" srcOrd="0" destOrd="0" presId="urn:microsoft.com/office/officeart/2005/8/layout/vList2"/>
    <dgm:cxn modelId="{BB585F66-D3A2-FD44-9566-68F7DF31848F}" type="presOf" srcId="{C841052E-6B20-3F43-8AB4-5861137134F4}" destId="{DAEE168C-3417-3B4C-A62A-DFF6FA2D2EE5}" srcOrd="0" destOrd="0" presId="urn:microsoft.com/office/officeart/2005/8/layout/vList2"/>
    <dgm:cxn modelId="{26CFA746-612D-324A-967D-4901237C978E}" srcId="{EDC666B0-0765-0442-BD88-54B83109A67F}" destId="{5973F3A7-6E0F-E640-89C1-5935DD31AF39}" srcOrd="1" destOrd="0" parTransId="{A7D658B6-254C-954D-906C-0E618FFEB8DD}" sibTransId="{831A9890-C036-9047-9904-9D93ACB0D971}"/>
    <dgm:cxn modelId="{A260A5A9-7C28-3B4B-8692-295F9DDD6479}" type="presOf" srcId="{640300AC-FB7F-2B41-B1D5-4191CF8D03D3}" destId="{DAEE168C-3417-3B4C-A62A-DFF6FA2D2EE5}" srcOrd="0" destOrd="2" presId="urn:microsoft.com/office/officeart/2005/8/layout/vList2"/>
    <dgm:cxn modelId="{B97CA0B9-130C-DA40-8105-FAB4ABDD5331}" srcId="{EDC666B0-0765-0442-BD88-54B83109A67F}" destId="{640300AC-FB7F-2B41-B1D5-4191CF8D03D3}" srcOrd="2" destOrd="0" parTransId="{62DB4687-9BC3-EA4F-95F3-BCAAD0FE69AF}" sibTransId="{86BD99EA-9859-3946-A3D0-DCAB80EAFEEB}"/>
    <dgm:cxn modelId="{7729AFBD-EC6C-5D44-AA24-15CE967E34FB}" type="presOf" srcId="{5973F3A7-6E0F-E640-89C1-5935DD31AF39}" destId="{DAEE168C-3417-3B4C-A62A-DFF6FA2D2EE5}" srcOrd="0" destOrd="1" presId="urn:microsoft.com/office/officeart/2005/8/layout/vList2"/>
    <dgm:cxn modelId="{549A44D1-A953-2D4B-A4D7-594D06846579}" type="presOf" srcId="{EDC666B0-0765-0442-BD88-54B83109A67F}" destId="{9ABBB6B9-772C-AE42-A5AC-7EAC2FF54416}" srcOrd="0" destOrd="0" presId="urn:microsoft.com/office/officeart/2005/8/layout/vList2"/>
    <dgm:cxn modelId="{35304BE6-5229-9A42-BFFB-91DBD4487406}" srcId="{C3DD7984-F85E-C741-83A5-1543BCD3ADF6}" destId="{EDC666B0-0765-0442-BD88-54B83109A67F}" srcOrd="0" destOrd="0" parTransId="{735B590B-A4D2-AF46-A99A-0E883F26F6BE}" sibTransId="{2C88ED13-EC52-CE4B-B38D-E9CC88AEEFB0}"/>
    <dgm:cxn modelId="{0050A10F-AA6D-2043-BAAF-F691FD5CC34A}" type="presParOf" srcId="{4DE6544F-F132-EE4E-AD0C-90B180CFFA68}" destId="{9ABBB6B9-772C-AE42-A5AC-7EAC2FF54416}" srcOrd="0" destOrd="0" presId="urn:microsoft.com/office/officeart/2005/8/layout/vList2"/>
    <dgm:cxn modelId="{78ED827E-8B43-3A41-9FB6-21C2CF755C1B}" type="presParOf" srcId="{4DE6544F-F132-EE4E-AD0C-90B180CFFA68}" destId="{DAEE168C-3417-3B4C-A62A-DFF6FA2D2EE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784B722-2722-4CF6-AB80-37933C0AE59C}" type="doc">
      <dgm:prSet loTypeId="urn:microsoft.com/office/officeart/2005/8/layout/defaul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37273649-7748-4FEE-8039-0249290DE0A2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Between the creation of CDOs and the GFC, CDOs increases in value by 17 times.</a:t>
          </a:r>
        </a:p>
      </dgm:t>
    </dgm:pt>
    <dgm:pt modelId="{342D3455-0DD3-44B3-85EC-85C8B7429611}" type="parTrans" cxnId="{BC00E208-9F9B-4004-A765-6F816E462259}">
      <dgm:prSet/>
      <dgm:spPr/>
      <dgm:t>
        <a:bodyPr/>
        <a:lstStyle/>
        <a:p>
          <a:endParaRPr lang="en-NZ"/>
        </a:p>
      </dgm:t>
    </dgm:pt>
    <dgm:pt modelId="{ABD9005F-E295-4415-AA2A-F6EE43840D17}" type="sibTrans" cxnId="{BC00E208-9F9B-4004-A765-6F816E462259}">
      <dgm:prSet/>
      <dgm:spPr/>
      <dgm:t>
        <a:bodyPr/>
        <a:lstStyle/>
        <a:p>
          <a:endParaRPr lang="en-NZ"/>
        </a:p>
      </dgm:t>
    </dgm:pt>
    <dgm:pt modelId="{D540531F-A3AF-4EA4-A150-1B0C9B406C70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CDOs were priced by 2000 formula developed by investment banker, David Li. </a:t>
          </a:r>
        </a:p>
      </dgm:t>
    </dgm:pt>
    <dgm:pt modelId="{CB008E8C-C727-4CD7-83BE-9073A4AED27C}" type="parTrans" cxnId="{A0D39055-4A64-41C2-9A06-08EBB8BC0803}">
      <dgm:prSet/>
      <dgm:spPr/>
      <dgm:t>
        <a:bodyPr/>
        <a:lstStyle/>
        <a:p>
          <a:endParaRPr lang="en-NZ"/>
        </a:p>
      </dgm:t>
    </dgm:pt>
    <dgm:pt modelId="{96AF006D-5E76-4F48-9A9B-D748313D0707}" type="sibTrans" cxnId="{A0D39055-4A64-41C2-9A06-08EBB8BC0803}">
      <dgm:prSet/>
      <dgm:spPr/>
      <dgm:t>
        <a:bodyPr/>
        <a:lstStyle/>
        <a:p>
          <a:endParaRPr lang="en-NZ"/>
        </a:p>
      </dgm:t>
    </dgm:pt>
    <dgm:pt modelId="{1D80830F-DC76-48FC-81FC-1129AA6BB8AC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This assumed prices of financial assets reflected their </a:t>
          </a:r>
          <a:r>
            <a:rPr lang="en-NZ" dirty="0">
              <a:solidFill>
                <a:srgbClr val="C00000"/>
              </a:solidFill>
            </a:rPr>
            <a:t>default risk</a:t>
          </a:r>
        </a:p>
      </dgm:t>
    </dgm:pt>
    <dgm:pt modelId="{DD884A5B-6B47-481E-A947-C6B01C0EDDAB}" type="parTrans" cxnId="{966207E6-C6C7-4503-B67D-D6ABF8AFAC1F}">
      <dgm:prSet/>
      <dgm:spPr/>
      <dgm:t>
        <a:bodyPr/>
        <a:lstStyle/>
        <a:p>
          <a:endParaRPr lang="en-NZ"/>
        </a:p>
      </dgm:t>
    </dgm:pt>
    <dgm:pt modelId="{1F608675-A33F-428B-8A30-05D4BD83711A}" type="sibTrans" cxnId="{966207E6-C6C7-4503-B67D-D6ABF8AFAC1F}">
      <dgm:prSet/>
      <dgm:spPr/>
      <dgm:t>
        <a:bodyPr/>
        <a:lstStyle/>
        <a:p>
          <a:endParaRPr lang="en-NZ"/>
        </a:p>
      </dgm:t>
    </dgm:pt>
    <dgm:pt modelId="{5789199F-56DC-45D8-BEAF-D58277696672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Also ignored that </a:t>
          </a:r>
          <a:r>
            <a:rPr lang="en-NZ" dirty="0">
              <a:solidFill>
                <a:srgbClr val="C00000"/>
              </a:solidFill>
            </a:rPr>
            <a:t>systemic risks- </a:t>
          </a:r>
          <a:r>
            <a:rPr lang="en-NZ" dirty="0"/>
            <a:t>like house prices going down at a national or global scale</a:t>
          </a:r>
        </a:p>
      </dgm:t>
    </dgm:pt>
    <dgm:pt modelId="{A59DEC5A-FBD9-4DC9-9B99-33F33F0DF28A}" type="parTrans" cxnId="{CAF7EF85-14DD-4FC8-9E90-D0CE79FD1ED0}">
      <dgm:prSet/>
      <dgm:spPr/>
      <dgm:t>
        <a:bodyPr/>
        <a:lstStyle/>
        <a:p>
          <a:endParaRPr lang="en-NZ"/>
        </a:p>
      </dgm:t>
    </dgm:pt>
    <dgm:pt modelId="{66080828-0A3C-4CC2-9767-B4DBBB7BB2B5}" type="sibTrans" cxnId="{CAF7EF85-14DD-4FC8-9E90-D0CE79FD1ED0}">
      <dgm:prSet/>
      <dgm:spPr/>
      <dgm:t>
        <a:bodyPr/>
        <a:lstStyle/>
        <a:p>
          <a:endParaRPr lang="en-NZ"/>
        </a:p>
      </dgm:t>
    </dgm:pt>
    <dgm:pt modelId="{6D348160-D178-4F7E-AE5E-634C9C00E1C6}" type="pres">
      <dgm:prSet presAssocID="{1784B722-2722-4CF6-AB80-37933C0AE59C}" presName="diagram" presStyleCnt="0">
        <dgm:presLayoutVars>
          <dgm:dir/>
          <dgm:resizeHandles val="exact"/>
        </dgm:presLayoutVars>
      </dgm:prSet>
      <dgm:spPr/>
    </dgm:pt>
    <dgm:pt modelId="{D0A13FE5-1201-4432-8A7F-D2CDAAC7FE28}" type="pres">
      <dgm:prSet presAssocID="{37273649-7748-4FEE-8039-0249290DE0A2}" presName="node" presStyleLbl="node1" presStyleIdx="0" presStyleCnt="4">
        <dgm:presLayoutVars>
          <dgm:bulletEnabled val="1"/>
        </dgm:presLayoutVars>
      </dgm:prSet>
      <dgm:spPr/>
    </dgm:pt>
    <dgm:pt modelId="{42DB30D4-2907-4D54-A443-CF866428E74D}" type="pres">
      <dgm:prSet presAssocID="{ABD9005F-E295-4415-AA2A-F6EE43840D17}" presName="sibTrans" presStyleCnt="0"/>
      <dgm:spPr/>
    </dgm:pt>
    <dgm:pt modelId="{D0CD6CDB-3141-4B80-9E54-C258C6E3B3D3}" type="pres">
      <dgm:prSet presAssocID="{D540531F-A3AF-4EA4-A150-1B0C9B406C70}" presName="node" presStyleLbl="node1" presStyleIdx="1" presStyleCnt="4">
        <dgm:presLayoutVars>
          <dgm:bulletEnabled val="1"/>
        </dgm:presLayoutVars>
      </dgm:prSet>
      <dgm:spPr/>
    </dgm:pt>
    <dgm:pt modelId="{6FAFB47E-C097-4F98-830A-0DE1D609F567}" type="pres">
      <dgm:prSet presAssocID="{96AF006D-5E76-4F48-9A9B-D748313D0707}" presName="sibTrans" presStyleCnt="0"/>
      <dgm:spPr/>
    </dgm:pt>
    <dgm:pt modelId="{AEDF95CE-0529-40AD-9593-1894035C9B19}" type="pres">
      <dgm:prSet presAssocID="{1D80830F-DC76-48FC-81FC-1129AA6BB8AC}" presName="node" presStyleLbl="node1" presStyleIdx="2" presStyleCnt="4">
        <dgm:presLayoutVars>
          <dgm:bulletEnabled val="1"/>
        </dgm:presLayoutVars>
      </dgm:prSet>
      <dgm:spPr/>
    </dgm:pt>
    <dgm:pt modelId="{27DCB9B9-3797-49E6-947E-AC3700B60E55}" type="pres">
      <dgm:prSet presAssocID="{1F608675-A33F-428B-8A30-05D4BD83711A}" presName="sibTrans" presStyleCnt="0"/>
      <dgm:spPr/>
    </dgm:pt>
    <dgm:pt modelId="{A8303BA2-A17D-4AA1-8B4E-0E0D283F97F9}" type="pres">
      <dgm:prSet presAssocID="{5789199F-56DC-45D8-BEAF-D58277696672}" presName="node" presStyleLbl="node1" presStyleIdx="3" presStyleCnt="4">
        <dgm:presLayoutVars>
          <dgm:bulletEnabled val="1"/>
        </dgm:presLayoutVars>
      </dgm:prSet>
      <dgm:spPr/>
    </dgm:pt>
  </dgm:ptLst>
  <dgm:cxnLst>
    <dgm:cxn modelId="{61085A01-F88C-484F-AFD0-BE38D0BDE002}" type="presOf" srcId="{D540531F-A3AF-4EA4-A150-1B0C9B406C70}" destId="{D0CD6CDB-3141-4B80-9E54-C258C6E3B3D3}" srcOrd="0" destOrd="0" presId="urn:microsoft.com/office/officeart/2005/8/layout/default"/>
    <dgm:cxn modelId="{BC00E208-9F9B-4004-A765-6F816E462259}" srcId="{1784B722-2722-4CF6-AB80-37933C0AE59C}" destId="{37273649-7748-4FEE-8039-0249290DE0A2}" srcOrd="0" destOrd="0" parTransId="{342D3455-0DD3-44B3-85EC-85C8B7429611}" sibTransId="{ABD9005F-E295-4415-AA2A-F6EE43840D17}"/>
    <dgm:cxn modelId="{651BB621-DDC1-441C-9AAD-01B22B68ED7E}" type="presOf" srcId="{1784B722-2722-4CF6-AB80-37933C0AE59C}" destId="{6D348160-D178-4F7E-AE5E-634C9C00E1C6}" srcOrd="0" destOrd="0" presId="urn:microsoft.com/office/officeart/2005/8/layout/default"/>
    <dgm:cxn modelId="{25FEA447-49BF-4E3C-81B8-C710C5D6FAB8}" type="presOf" srcId="{1D80830F-DC76-48FC-81FC-1129AA6BB8AC}" destId="{AEDF95CE-0529-40AD-9593-1894035C9B19}" srcOrd="0" destOrd="0" presId="urn:microsoft.com/office/officeart/2005/8/layout/default"/>
    <dgm:cxn modelId="{EBD6454E-DE09-43D2-8593-D5BC28281AB5}" type="presOf" srcId="{37273649-7748-4FEE-8039-0249290DE0A2}" destId="{D0A13FE5-1201-4432-8A7F-D2CDAAC7FE28}" srcOrd="0" destOrd="0" presId="urn:microsoft.com/office/officeart/2005/8/layout/default"/>
    <dgm:cxn modelId="{A0D39055-4A64-41C2-9A06-08EBB8BC0803}" srcId="{1784B722-2722-4CF6-AB80-37933C0AE59C}" destId="{D540531F-A3AF-4EA4-A150-1B0C9B406C70}" srcOrd="1" destOrd="0" parTransId="{CB008E8C-C727-4CD7-83BE-9073A4AED27C}" sibTransId="{96AF006D-5E76-4F48-9A9B-D748313D0707}"/>
    <dgm:cxn modelId="{CAF7EF85-14DD-4FC8-9E90-D0CE79FD1ED0}" srcId="{1784B722-2722-4CF6-AB80-37933C0AE59C}" destId="{5789199F-56DC-45D8-BEAF-D58277696672}" srcOrd="3" destOrd="0" parTransId="{A59DEC5A-FBD9-4DC9-9B99-33F33F0DF28A}" sibTransId="{66080828-0A3C-4CC2-9767-B4DBBB7BB2B5}"/>
    <dgm:cxn modelId="{D27398A8-7449-4C18-B0BB-EA1F6188F603}" type="presOf" srcId="{5789199F-56DC-45D8-BEAF-D58277696672}" destId="{A8303BA2-A17D-4AA1-8B4E-0E0D283F97F9}" srcOrd="0" destOrd="0" presId="urn:microsoft.com/office/officeart/2005/8/layout/default"/>
    <dgm:cxn modelId="{966207E6-C6C7-4503-B67D-D6ABF8AFAC1F}" srcId="{1784B722-2722-4CF6-AB80-37933C0AE59C}" destId="{1D80830F-DC76-48FC-81FC-1129AA6BB8AC}" srcOrd="2" destOrd="0" parTransId="{DD884A5B-6B47-481E-A947-C6B01C0EDDAB}" sibTransId="{1F608675-A33F-428B-8A30-05D4BD83711A}"/>
    <dgm:cxn modelId="{B4319FC6-773E-44A5-A006-6F31DE4FBB37}" type="presParOf" srcId="{6D348160-D178-4F7E-AE5E-634C9C00E1C6}" destId="{D0A13FE5-1201-4432-8A7F-D2CDAAC7FE28}" srcOrd="0" destOrd="0" presId="urn:microsoft.com/office/officeart/2005/8/layout/default"/>
    <dgm:cxn modelId="{51FF205F-DFB5-4B33-BDC8-3B77815D6B6D}" type="presParOf" srcId="{6D348160-D178-4F7E-AE5E-634C9C00E1C6}" destId="{42DB30D4-2907-4D54-A443-CF866428E74D}" srcOrd="1" destOrd="0" presId="urn:microsoft.com/office/officeart/2005/8/layout/default"/>
    <dgm:cxn modelId="{187EC231-711E-4804-A36B-8682987CD106}" type="presParOf" srcId="{6D348160-D178-4F7E-AE5E-634C9C00E1C6}" destId="{D0CD6CDB-3141-4B80-9E54-C258C6E3B3D3}" srcOrd="2" destOrd="0" presId="urn:microsoft.com/office/officeart/2005/8/layout/default"/>
    <dgm:cxn modelId="{738295C0-76BB-454C-8C93-A968E8FC8536}" type="presParOf" srcId="{6D348160-D178-4F7E-AE5E-634C9C00E1C6}" destId="{6FAFB47E-C097-4F98-830A-0DE1D609F567}" srcOrd="3" destOrd="0" presId="urn:microsoft.com/office/officeart/2005/8/layout/default"/>
    <dgm:cxn modelId="{365FF930-AC6C-4496-81F4-8B8EC5EAEBBF}" type="presParOf" srcId="{6D348160-D178-4F7E-AE5E-634C9C00E1C6}" destId="{AEDF95CE-0529-40AD-9593-1894035C9B19}" srcOrd="4" destOrd="0" presId="urn:microsoft.com/office/officeart/2005/8/layout/default"/>
    <dgm:cxn modelId="{E4C88000-4A9D-425A-B7AF-37314D3B377E}" type="presParOf" srcId="{6D348160-D178-4F7E-AE5E-634C9C00E1C6}" destId="{27DCB9B9-3797-49E6-947E-AC3700B60E55}" srcOrd="5" destOrd="0" presId="urn:microsoft.com/office/officeart/2005/8/layout/default"/>
    <dgm:cxn modelId="{F05160F8-DFEA-4590-A684-E1869A93481F}" type="presParOf" srcId="{6D348160-D178-4F7E-AE5E-634C9C00E1C6}" destId="{A8303BA2-A17D-4AA1-8B4E-0E0D283F97F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31974DA-B9B2-4D30-9BC4-0E71A780C62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01A8420-1C85-4D2F-B7CC-E15411FAB78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Rating agencies such as Moody’s and Standard and </a:t>
          </a:r>
          <a:r>
            <a:rPr lang="en-NZ" dirty="0" err="1"/>
            <a:t>Poors</a:t>
          </a:r>
          <a:r>
            <a:rPr lang="en-NZ" dirty="0"/>
            <a:t> also contributed</a:t>
          </a:r>
          <a:endParaRPr lang="en-US" dirty="0"/>
        </a:p>
      </dgm:t>
    </dgm:pt>
    <dgm:pt modelId="{176F5A03-01F2-4426-B722-5584C349D3CD}" type="parTrans" cxnId="{8205B0C2-96FE-4AB0-8CD2-91E7B64A1BB6}">
      <dgm:prSet/>
      <dgm:spPr/>
      <dgm:t>
        <a:bodyPr/>
        <a:lstStyle/>
        <a:p>
          <a:endParaRPr lang="en-US"/>
        </a:p>
      </dgm:t>
    </dgm:pt>
    <dgm:pt modelId="{C6C46FC0-16DE-430A-B14A-91FCC7478DC8}" type="sibTrans" cxnId="{8205B0C2-96FE-4AB0-8CD2-91E7B64A1BB6}">
      <dgm:prSet/>
      <dgm:spPr/>
      <dgm:t>
        <a:bodyPr/>
        <a:lstStyle/>
        <a:p>
          <a:endParaRPr lang="en-US"/>
        </a:p>
      </dgm:t>
    </dgm:pt>
    <dgm:pt modelId="{B48AEE6B-32A5-48FB-B12B-9B25A1CB2EBB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Their assessments of the risks of these mortgage securities and the financial institutions that issued them was lax and permissive.</a:t>
          </a:r>
          <a:endParaRPr lang="en-US" dirty="0"/>
        </a:p>
      </dgm:t>
    </dgm:pt>
    <dgm:pt modelId="{889143CB-1B18-48F1-BD54-FD6720E923A5}" type="parTrans" cxnId="{424954FB-2AC5-4C67-8ABC-5E3094C047ED}">
      <dgm:prSet/>
      <dgm:spPr/>
      <dgm:t>
        <a:bodyPr/>
        <a:lstStyle/>
        <a:p>
          <a:endParaRPr lang="en-US"/>
        </a:p>
      </dgm:t>
    </dgm:pt>
    <dgm:pt modelId="{C7A9D876-5F4C-483D-A0AC-94E71F22D67C}" type="sibTrans" cxnId="{424954FB-2AC5-4C67-8ABC-5E3094C047ED}">
      <dgm:prSet/>
      <dgm:spPr/>
      <dgm:t>
        <a:bodyPr/>
        <a:lstStyle/>
        <a:p>
          <a:endParaRPr lang="en-US"/>
        </a:p>
      </dgm:t>
    </dgm:pt>
    <dgm:pt modelId="{38C65514-E274-499C-99F8-E98A34223D9B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Investors using these ratings to make buy these securities were led to believe they were less risky than they truly were.</a:t>
          </a:r>
          <a:endParaRPr lang="en-US" dirty="0"/>
        </a:p>
      </dgm:t>
    </dgm:pt>
    <dgm:pt modelId="{E13556D6-BB6E-4C9B-A763-1AB88F2ECBB1}" type="parTrans" cxnId="{F8229315-278B-448E-B7D7-C6398C8E79E4}">
      <dgm:prSet/>
      <dgm:spPr/>
      <dgm:t>
        <a:bodyPr/>
        <a:lstStyle/>
        <a:p>
          <a:endParaRPr lang="en-US"/>
        </a:p>
      </dgm:t>
    </dgm:pt>
    <dgm:pt modelId="{E7247AEA-F7EF-4305-B190-83E45DD5ECFA}" type="sibTrans" cxnId="{F8229315-278B-448E-B7D7-C6398C8E79E4}">
      <dgm:prSet/>
      <dgm:spPr/>
      <dgm:t>
        <a:bodyPr/>
        <a:lstStyle/>
        <a:p>
          <a:endParaRPr lang="en-US"/>
        </a:p>
      </dgm:t>
    </dgm:pt>
    <dgm:pt modelId="{2C387123-007B-477F-A8BD-99B039B33F77}" type="pres">
      <dgm:prSet presAssocID="{E31974DA-B9B2-4D30-9BC4-0E71A780C622}" presName="linear" presStyleCnt="0">
        <dgm:presLayoutVars>
          <dgm:animLvl val="lvl"/>
          <dgm:resizeHandles val="exact"/>
        </dgm:presLayoutVars>
      </dgm:prSet>
      <dgm:spPr/>
    </dgm:pt>
    <dgm:pt modelId="{C50CB072-67CD-476A-A9FE-1515C391978F}" type="pres">
      <dgm:prSet presAssocID="{501A8420-1C85-4D2F-B7CC-E15411FAB78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46EAA24-79AC-4206-B4C8-919F615791AF}" type="pres">
      <dgm:prSet presAssocID="{C6C46FC0-16DE-430A-B14A-91FCC7478DC8}" presName="spacer" presStyleCnt="0"/>
      <dgm:spPr/>
    </dgm:pt>
    <dgm:pt modelId="{1B49B1D4-C79C-471C-9491-7E267C47D184}" type="pres">
      <dgm:prSet presAssocID="{B48AEE6B-32A5-48FB-B12B-9B25A1CB2EB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EB0BA09-8EF1-4074-BB23-69577AF1CCEB}" type="pres">
      <dgm:prSet presAssocID="{C7A9D876-5F4C-483D-A0AC-94E71F22D67C}" presName="spacer" presStyleCnt="0"/>
      <dgm:spPr/>
    </dgm:pt>
    <dgm:pt modelId="{E771EA93-5095-41EE-99A3-EC986E98B4B2}" type="pres">
      <dgm:prSet presAssocID="{38C65514-E274-499C-99F8-E98A34223D9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8229315-278B-448E-B7D7-C6398C8E79E4}" srcId="{E31974DA-B9B2-4D30-9BC4-0E71A780C622}" destId="{38C65514-E274-499C-99F8-E98A34223D9B}" srcOrd="2" destOrd="0" parTransId="{E13556D6-BB6E-4C9B-A763-1AB88F2ECBB1}" sibTransId="{E7247AEA-F7EF-4305-B190-83E45DD5ECFA}"/>
    <dgm:cxn modelId="{65E2C663-6EDE-489D-B60D-ADF8D7BACA71}" type="presOf" srcId="{B48AEE6B-32A5-48FB-B12B-9B25A1CB2EBB}" destId="{1B49B1D4-C79C-471C-9491-7E267C47D184}" srcOrd="0" destOrd="0" presId="urn:microsoft.com/office/officeart/2005/8/layout/vList2"/>
    <dgm:cxn modelId="{1E0387A9-4BB2-4964-89B2-FDF081C87E4C}" type="presOf" srcId="{E31974DA-B9B2-4D30-9BC4-0E71A780C622}" destId="{2C387123-007B-477F-A8BD-99B039B33F77}" srcOrd="0" destOrd="0" presId="urn:microsoft.com/office/officeart/2005/8/layout/vList2"/>
    <dgm:cxn modelId="{8205B0C2-96FE-4AB0-8CD2-91E7B64A1BB6}" srcId="{E31974DA-B9B2-4D30-9BC4-0E71A780C622}" destId="{501A8420-1C85-4D2F-B7CC-E15411FAB786}" srcOrd="0" destOrd="0" parTransId="{176F5A03-01F2-4426-B722-5584C349D3CD}" sibTransId="{C6C46FC0-16DE-430A-B14A-91FCC7478DC8}"/>
    <dgm:cxn modelId="{F77E0AE8-64AC-4606-937E-3C7BEBB448F6}" type="presOf" srcId="{38C65514-E274-499C-99F8-E98A34223D9B}" destId="{E771EA93-5095-41EE-99A3-EC986E98B4B2}" srcOrd="0" destOrd="0" presId="urn:microsoft.com/office/officeart/2005/8/layout/vList2"/>
    <dgm:cxn modelId="{0CCCF6ED-E732-4848-A5F2-ECF71F8FCADB}" type="presOf" srcId="{501A8420-1C85-4D2F-B7CC-E15411FAB786}" destId="{C50CB072-67CD-476A-A9FE-1515C391978F}" srcOrd="0" destOrd="0" presId="urn:microsoft.com/office/officeart/2005/8/layout/vList2"/>
    <dgm:cxn modelId="{424954FB-2AC5-4C67-8ABC-5E3094C047ED}" srcId="{E31974DA-B9B2-4D30-9BC4-0E71A780C622}" destId="{B48AEE6B-32A5-48FB-B12B-9B25A1CB2EBB}" srcOrd="1" destOrd="0" parTransId="{889143CB-1B18-48F1-BD54-FD6720E923A5}" sibTransId="{C7A9D876-5F4C-483D-A0AC-94E71F22D67C}"/>
    <dgm:cxn modelId="{B9DAF674-2547-421E-BF62-BD83E09536B8}" type="presParOf" srcId="{2C387123-007B-477F-A8BD-99B039B33F77}" destId="{C50CB072-67CD-476A-A9FE-1515C391978F}" srcOrd="0" destOrd="0" presId="urn:microsoft.com/office/officeart/2005/8/layout/vList2"/>
    <dgm:cxn modelId="{AB23F31E-37C6-40E8-8938-5AD11A4DBBB8}" type="presParOf" srcId="{2C387123-007B-477F-A8BD-99B039B33F77}" destId="{246EAA24-79AC-4206-B4C8-919F615791AF}" srcOrd="1" destOrd="0" presId="urn:microsoft.com/office/officeart/2005/8/layout/vList2"/>
    <dgm:cxn modelId="{70F5AF93-D882-4C83-BF9C-317FC6AD6D57}" type="presParOf" srcId="{2C387123-007B-477F-A8BD-99B039B33F77}" destId="{1B49B1D4-C79C-471C-9491-7E267C47D184}" srcOrd="2" destOrd="0" presId="urn:microsoft.com/office/officeart/2005/8/layout/vList2"/>
    <dgm:cxn modelId="{EC1A83C1-4E29-48C7-BD45-3FCC07BD7360}" type="presParOf" srcId="{2C387123-007B-477F-A8BD-99B039B33F77}" destId="{BEB0BA09-8EF1-4074-BB23-69577AF1CCEB}" srcOrd="3" destOrd="0" presId="urn:microsoft.com/office/officeart/2005/8/layout/vList2"/>
    <dgm:cxn modelId="{5D0E46B7-7CA8-4B4D-BB9A-0E1CD5DBC896}" type="presParOf" srcId="{2C387123-007B-477F-A8BD-99B039B33F77}" destId="{E771EA93-5095-41EE-99A3-EC986E98B4B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718606AC-FD26-4A69-9278-D498F8574CC8}" type="doc">
      <dgm:prSet loTypeId="urn:microsoft.com/office/officeart/2005/8/layout/process4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53224D55-972A-48FF-B6F4-58A6595D518F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The increasing rate of home-ownership was seen as desirable by many Governments and supported by policies</a:t>
          </a:r>
          <a:endParaRPr lang="en-US" dirty="0"/>
        </a:p>
      </dgm:t>
    </dgm:pt>
    <dgm:pt modelId="{7499AB76-8DC2-471E-A08F-D1E9FFBEA196}" type="parTrans" cxnId="{EC52AAE1-BDF1-492D-ADC2-018960E7CAD9}">
      <dgm:prSet/>
      <dgm:spPr/>
      <dgm:t>
        <a:bodyPr/>
        <a:lstStyle/>
        <a:p>
          <a:endParaRPr lang="en-US"/>
        </a:p>
      </dgm:t>
    </dgm:pt>
    <dgm:pt modelId="{85265EE0-312D-4EC4-B553-FBCE35252F3D}" type="sibTrans" cxnId="{EC52AAE1-BDF1-492D-ADC2-018960E7CAD9}">
      <dgm:prSet/>
      <dgm:spPr/>
      <dgm:t>
        <a:bodyPr/>
        <a:lstStyle/>
        <a:p>
          <a:endParaRPr lang="en-US"/>
        </a:p>
      </dgm:t>
    </dgm:pt>
    <dgm:pt modelId="{FE031FD6-337B-4686-A78C-0429B8E0A53F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Financial Institutions believed they were “too-big-to-fail” and they could rely on a government bailout. </a:t>
          </a:r>
          <a:endParaRPr lang="en-US"/>
        </a:p>
      </dgm:t>
    </dgm:pt>
    <dgm:pt modelId="{F669AAF4-1DA2-43D5-AB9E-C55557457AD0}" type="sibTrans" cxnId="{938815EF-8A27-4AE5-BC77-22530691C514}">
      <dgm:prSet/>
      <dgm:spPr/>
      <dgm:t>
        <a:bodyPr/>
        <a:lstStyle/>
        <a:p>
          <a:endParaRPr lang="en-US"/>
        </a:p>
      </dgm:t>
    </dgm:pt>
    <dgm:pt modelId="{B85D492F-03E4-4426-ABF0-F2306F6E1DFE}" type="parTrans" cxnId="{938815EF-8A27-4AE5-BC77-22530691C514}">
      <dgm:prSet/>
      <dgm:spPr/>
      <dgm:t>
        <a:bodyPr/>
        <a:lstStyle/>
        <a:p>
          <a:endParaRPr lang="en-US"/>
        </a:p>
      </dgm:t>
    </dgm:pt>
    <dgm:pt modelId="{34B2B325-73AA-47EF-8602-552A1509B8C0}" type="pres">
      <dgm:prSet presAssocID="{718606AC-FD26-4A69-9278-D498F8574CC8}" presName="Name0" presStyleCnt="0">
        <dgm:presLayoutVars>
          <dgm:dir/>
          <dgm:animLvl val="lvl"/>
          <dgm:resizeHandles val="exact"/>
        </dgm:presLayoutVars>
      </dgm:prSet>
      <dgm:spPr/>
    </dgm:pt>
    <dgm:pt modelId="{ECDE793E-F817-4AE2-871C-4898FC311288}" type="pres">
      <dgm:prSet presAssocID="{FE031FD6-337B-4686-A78C-0429B8E0A53F}" presName="boxAndChildren" presStyleCnt="0"/>
      <dgm:spPr/>
    </dgm:pt>
    <dgm:pt modelId="{46423D7E-1F98-4733-B55E-C5F0E7F28850}" type="pres">
      <dgm:prSet presAssocID="{FE031FD6-337B-4686-A78C-0429B8E0A53F}" presName="parentTextBox" presStyleLbl="node1" presStyleIdx="0" presStyleCnt="2"/>
      <dgm:spPr/>
    </dgm:pt>
    <dgm:pt modelId="{65234A42-FEF4-4FC0-A7A3-ECB5621910DB}" type="pres">
      <dgm:prSet presAssocID="{85265EE0-312D-4EC4-B553-FBCE35252F3D}" presName="sp" presStyleCnt="0"/>
      <dgm:spPr/>
    </dgm:pt>
    <dgm:pt modelId="{F3B9C8C4-D664-4799-87AD-5ADF0955DC13}" type="pres">
      <dgm:prSet presAssocID="{53224D55-972A-48FF-B6F4-58A6595D518F}" presName="arrowAndChildren" presStyleCnt="0"/>
      <dgm:spPr/>
    </dgm:pt>
    <dgm:pt modelId="{849E58B4-5915-4792-B6EA-130CDF89703C}" type="pres">
      <dgm:prSet presAssocID="{53224D55-972A-48FF-B6F4-58A6595D518F}" presName="parentTextArrow" presStyleLbl="node1" presStyleIdx="1" presStyleCnt="2"/>
      <dgm:spPr/>
    </dgm:pt>
  </dgm:ptLst>
  <dgm:cxnLst>
    <dgm:cxn modelId="{52E68D41-E89C-43BE-B94A-C5606BE892FF}" type="presOf" srcId="{718606AC-FD26-4A69-9278-D498F8574CC8}" destId="{34B2B325-73AA-47EF-8602-552A1509B8C0}" srcOrd="0" destOrd="0" presId="urn:microsoft.com/office/officeart/2005/8/layout/process4"/>
    <dgm:cxn modelId="{DC85F053-0C8B-459B-8DD9-DA95059A4C38}" type="presOf" srcId="{53224D55-972A-48FF-B6F4-58A6595D518F}" destId="{849E58B4-5915-4792-B6EA-130CDF89703C}" srcOrd="0" destOrd="0" presId="urn:microsoft.com/office/officeart/2005/8/layout/process4"/>
    <dgm:cxn modelId="{983A1B8A-A548-430C-9B3D-7139F53126C9}" type="presOf" srcId="{FE031FD6-337B-4686-A78C-0429B8E0A53F}" destId="{46423D7E-1F98-4733-B55E-C5F0E7F28850}" srcOrd="0" destOrd="0" presId="urn:microsoft.com/office/officeart/2005/8/layout/process4"/>
    <dgm:cxn modelId="{EC52AAE1-BDF1-492D-ADC2-018960E7CAD9}" srcId="{718606AC-FD26-4A69-9278-D498F8574CC8}" destId="{53224D55-972A-48FF-B6F4-58A6595D518F}" srcOrd="0" destOrd="0" parTransId="{7499AB76-8DC2-471E-A08F-D1E9FFBEA196}" sibTransId="{85265EE0-312D-4EC4-B553-FBCE35252F3D}"/>
    <dgm:cxn modelId="{938815EF-8A27-4AE5-BC77-22530691C514}" srcId="{718606AC-FD26-4A69-9278-D498F8574CC8}" destId="{FE031FD6-337B-4686-A78C-0429B8E0A53F}" srcOrd="1" destOrd="0" parTransId="{B85D492F-03E4-4426-ABF0-F2306F6E1DFE}" sibTransId="{F669AAF4-1DA2-43D5-AB9E-C55557457AD0}"/>
    <dgm:cxn modelId="{17423962-4ABF-4564-B442-158F81D89DD3}" type="presParOf" srcId="{34B2B325-73AA-47EF-8602-552A1509B8C0}" destId="{ECDE793E-F817-4AE2-871C-4898FC311288}" srcOrd="0" destOrd="0" presId="urn:microsoft.com/office/officeart/2005/8/layout/process4"/>
    <dgm:cxn modelId="{3A9175CE-EF12-45A1-A747-2B90640721D9}" type="presParOf" srcId="{ECDE793E-F817-4AE2-871C-4898FC311288}" destId="{46423D7E-1F98-4733-B55E-C5F0E7F28850}" srcOrd="0" destOrd="0" presId="urn:microsoft.com/office/officeart/2005/8/layout/process4"/>
    <dgm:cxn modelId="{0F6DEE9C-3875-4C99-94A2-201A2FFABA74}" type="presParOf" srcId="{34B2B325-73AA-47EF-8602-552A1509B8C0}" destId="{65234A42-FEF4-4FC0-A7A3-ECB5621910DB}" srcOrd="1" destOrd="0" presId="urn:microsoft.com/office/officeart/2005/8/layout/process4"/>
    <dgm:cxn modelId="{C1C5BE23-73DA-43A5-8FA8-3EFB3D863098}" type="presParOf" srcId="{34B2B325-73AA-47EF-8602-552A1509B8C0}" destId="{F3B9C8C4-D664-4799-87AD-5ADF0955DC13}" srcOrd="2" destOrd="0" presId="urn:microsoft.com/office/officeart/2005/8/layout/process4"/>
    <dgm:cxn modelId="{CCC96D96-0E8C-4BA9-9A11-870123D5BBD2}" type="presParOf" srcId="{F3B9C8C4-D664-4799-87AD-5ADF0955DC13}" destId="{849E58B4-5915-4792-B6EA-130CDF89703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718606AC-FD26-4A69-9278-D498F8574CC8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ECD525-ED22-431B-9101-41C644866B37}">
      <dgm:prSet/>
      <dgm:spPr/>
      <dgm:t>
        <a:bodyPr/>
        <a:lstStyle/>
        <a:p>
          <a:r>
            <a:rPr lang="en-NZ"/>
            <a:t>Monetary policy in the US was loose following the dot-com bubble</a:t>
          </a:r>
          <a:endParaRPr lang="en-US"/>
        </a:p>
      </dgm:t>
    </dgm:pt>
    <dgm:pt modelId="{2EF6D9CA-CCC5-4FBA-8579-8F0E14F30649}" type="parTrans" cxnId="{EB26E599-0046-444E-B50D-FB2EBF866521}">
      <dgm:prSet/>
      <dgm:spPr/>
      <dgm:t>
        <a:bodyPr/>
        <a:lstStyle/>
        <a:p>
          <a:endParaRPr lang="en-US"/>
        </a:p>
      </dgm:t>
    </dgm:pt>
    <dgm:pt modelId="{21B2E804-0F25-4EB5-808C-054DDBC3B0DC}" type="sibTrans" cxnId="{EB26E599-0046-444E-B50D-FB2EBF866521}">
      <dgm:prSet/>
      <dgm:spPr/>
      <dgm:t>
        <a:bodyPr/>
        <a:lstStyle/>
        <a:p>
          <a:endParaRPr lang="en-US"/>
        </a:p>
      </dgm:t>
    </dgm:pt>
    <dgm:pt modelId="{B051AAE0-FEF5-43F9-998C-A617DA633860}">
      <dgm:prSet/>
      <dgm:spPr/>
      <dgm:t>
        <a:bodyPr/>
        <a:lstStyle/>
        <a:p>
          <a:r>
            <a:rPr lang="en-NZ"/>
            <a:t>Interest rates were dropped from 6% to 2% in 2000-01 and stayed there</a:t>
          </a:r>
          <a:endParaRPr lang="en-US"/>
        </a:p>
      </dgm:t>
    </dgm:pt>
    <dgm:pt modelId="{8F1281B1-E039-484A-81BC-D9084E622C4B}" type="parTrans" cxnId="{27C2D84E-724F-479E-8A2C-41A16589E870}">
      <dgm:prSet/>
      <dgm:spPr/>
      <dgm:t>
        <a:bodyPr/>
        <a:lstStyle/>
        <a:p>
          <a:endParaRPr lang="en-US"/>
        </a:p>
      </dgm:t>
    </dgm:pt>
    <dgm:pt modelId="{813D5B6D-B9DD-4DC8-ACBC-2B7A43F2D60F}" type="sibTrans" cxnId="{27C2D84E-724F-479E-8A2C-41A16589E870}">
      <dgm:prSet/>
      <dgm:spPr/>
      <dgm:t>
        <a:bodyPr/>
        <a:lstStyle/>
        <a:p>
          <a:endParaRPr lang="en-US"/>
        </a:p>
      </dgm:t>
    </dgm:pt>
    <dgm:pt modelId="{58EFD592-A865-4D39-B1B4-6C3733BD4C97}">
      <dgm:prSet/>
      <dgm:spPr/>
      <dgm:t>
        <a:bodyPr/>
        <a:lstStyle/>
        <a:p>
          <a:r>
            <a:rPr lang="en-NZ"/>
            <a:t>Money was relatively ’cheap’ and this (probably) helped the housing bubble started</a:t>
          </a:r>
          <a:endParaRPr lang="en-US"/>
        </a:p>
      </dgm:t>
    </dgm:pt>
    <dgm:pt modelId="{1E80821E-5ED9-4807-85D4-0FCC83937C56}" type="parTrans" cxnId="{8895DE0B-A5FF-4C01-BDE3-2ED32D6529B2}">
      <dgm:prSet/>
      <dgm:spPr/>
      <dgm:t>
        <a:bodyPr/>
        <a:lstStyle/>
        <a:p>
          <a:endParaRPr lang="en-US"/>
        </a:p>
      </dgm:t>
    </dgm:pt>
    <dgm:pt modelId="{FCD70323-B1E6-4A2A-AE80-B95EC1CFF257}" type="sibTrans" cxnId="{8895DE0B-A5FF-4C01-BDE3-2ED32D6529B2}">
      <dgm:prSet/>
      <dgm:spPr/>
      <dgm:t>
        <a:bodyPr/>
        <a:lstStyle/>
        <a:p>
          <a:endParaRPr lang="en-US"/>
        </a:p>
      </dgm:t>
    </dgm:pt>
    <dgm:pt modelId="{7B730E8F-64C5-40C1-920E-61E4C856A652}" type="pres">
      <dgm:prSet presAssocID="{718606AC-FD26-4A69-9278-D498F8574CC8}" presName="Name0" presStyleCnt="0">
        <dgm:presLayoutVars>
          <dgm:dir/>
          <dgm:animLvl val="lvl"/>
          <dgm:resizeHandles val="exact"/>
        </dgm:presLayoutVars>
      </dgm:prSet>
      <dgm:spPr/>
    </dgm:pt>
    <dgm:pt modelId="{851C6878-C349-49CE-B3F0-A1E3E4911437}" type="pres">
      <dgm:prSet presAssocID="{4EECD525-ED22-431B-9101-41C644866B37}" presName="boxAndChildren" presStyleCnt="0"/>
      <dgm:spPr/>
    </dgm:pt>
    <dgm:pt modelId="{9E0C6BBC-D74B-4566-AB9B-E6DB044FE48B}" type="pres">
      <dgm:prSet presAssocID="{4EECD525-ED22-431B-9101-41C644866B37}" presName="parentTextBox" presStyleLbl="node1" presStyleIdx="0" presStyleCnt="1"/>
      <dgm:spPr/>
    </dgm:pt>
    <dgm:pt modelId="{1B84A97A-B770-45F8-ADA8-7075A029599B}" type="pres">
      <dgm:prSet presAssocID="{4EECD525-ED22-431B-9101-41C644866B37}" presName="entireBox" presStyleLbl="node1" presStyleIdx="0" presStyleCnt="1"/>
      <dgm:spPr/>
    </dgm:pt>
    <dgm:pt modelId="{BAA0DD58-3100-478C-B536-016099A21DED}" type="pres">
      <dgm:prSet presAssocID="{4EECD525-ED22-431B-9101-41C644866B37}" presName="descendantBox" presStyleCnt="0"/>
      <dgm:spPr/>
    </dgm:pt>
    <dgm:pt modelId="{307D133F-7CD0-4952-922E-1262780B4EF2}" type="pres">
      <dgm:prSet presAssocID="{B051AAE0-FEF5-43F9-998C-A617DA633860}" presName="childTextBox" presStyleLbl="fgAccFollowNode1" presStyleIdx="0" presStyleCnt="2">
        <dgm:presLayoutVars>
          <dgm:bulletEnabled val="1"/>
        </dgm:presLayoutVars>
      </dgm:prSet>
      <dgm:spPr/>
    </dgm:pt>
    <dgm:pt modelId="{D5CAA78C-3068-4101-9155-F38139D5DB6D}" type="pres">
      <dgm:prSet presAssocID="{58EFD592-A865-4D39-B1B4-6C3733BD4C97}" presName="childTextBox" presStyleLbl="fgAccFollowNode1" presStyleIdx="1" presStyleCnt="2">
        <dgm:presLayoutVars>
          <dgm:bulletEnabled val="1"/>
        </dgm:presLayoutVars>
      </dgm:prSet>
      <dgm:spPr/>
    </dgm:pt>
  </dgm:ptLst>
  <dgm:cxnLst>
    <dgm:cxn modelId="{6BAB3D03-4448-4EAD-90F2-590B54211B9B}" type="presOf" srcId="{58EFD592-A865-4D39-B1B4-6C3733BD4C97}" destId="{D5CAA78C-3068-4101-9155-F38139D5DB6D}" srcOrd="0" destOrd="0" presId="urn:microsoft.com/office/officeart/2005/8/layout/process4"/>
    <dgm:cxn modelId="{8895DE0B-A5FF-4C01-BDE3-2ED32D6529B2}" srcId="{4EECD525-ED22-431B-9101-41C644866B37}" destId="{58EFD592-A865-4D39-B1B4-6C3733BD4C97}" srcOrd="1" destOrd="0" parTransId="{1E80821E-5ED9-4807-85D4-0FCC83937C56}" sibTransId="{FCD70323-B1E6-4A2A-AE80-B95EC1CFF257}"/>
    <dgm:cxn modelId="{19F15D3E-2F81-43B0-9FFB-727C6FF5FDC3}" type="presOf" srcId="{B051AAE0-FEF5-43F9-998C-A617DA633860}" destId="{307D133F-7CD0-4952-922E-1262780B4EF2}" srcOrd="0" destOrd="0" presId="urn:microsoft.com/office/officeart/2005/8/layout/process4"/>
    <dgm:cxn modelId="{2F1A7843-C2D7-4717-BEC1-FABE8F486B39}" type="presOf" srcId="{4EECD525-ED22-431B-9101-41C644866B37}" destId="{1B84A97A-B770-45F8-ADA8-7075A029599B}" srcOrd="1" destOrd="0" presId="urn:microsoft.com/office/officeart/2005/8/layout/process4"/>
    <dgm:cxn modelId="{1FC76446-9DCB-4688-9ED9-05729BB9260E}" type="presOf" srcId="{4EECD525-ED22-431B-9101-41C644866B37}" destId="{9E0C6BBC-D74B-4566-AB9B-E6DB044FE48B}" srcOrd="0" destOrd="0" presId="urn:microsoft.com/office/officeart/2005/8/layout/process4"/>
    <dgm:cxn modelId="{27C2D84E-724F-479E-8A2C-41A16589E870}" srcId="{4EECD525-ED22-431B-9101-41C644866B37}" destId="{B051AAE0-FEF5-43F9-998C-A617DA633860}" srcOrd="0" destOrd="0" parTransId="{8F1281B1-E039-484A-81BC-D9084E622C4B}" sibTransId="{813D5B6D-B9DD-4DC8-ACBC-2B7A43F2D60F}"/>
    <dgm:cxn modelId="{EB26E599-0046-444E-B50D-FB2EBF866521}" srcId="{718606AC-FD26-4A69-9278-D498F8574CC8}" destId="{4EECD525-ED22-431B-9101-41C644866B37}" srcOrd="0" destOrd="0" parTransId="{2EF6D9CA-CCC5-4FBA-8579-8F0E14F30649}" sibTransId="{21B2E804-0F25-4EB5-808C-054DDBC3B0DC}"/>
    <dgm:cxn modelId="{6BE09BD3-FC61-40C9-994A-1CFE72C811E2}" type="presOf" srcId="{718606AC-FD26-4A69-9278-D498F8574CC8}" destId="{7B730E8F-64C5-40C1-920E-61E4C856A652}" srcOrd="0" destOrd="0" presId="urn:microsoft.com/office/officeart/2005/8/layout/process4"/>
    <dgm:cxn modelId="{95370FDB-1583-48EA-A84A-2167610DEB6E}" type="presParOf" srcId="{7B730E8F-64C5-40C1-920E-61E4C856A652}" destId="{851C6878-C349-49CE-B3F0-A1E3E4911437}" srcOrd="0" destOrd="0" presId="urn:microsoft.com/office/officeart/2005/8/layout/process4"/>
    <dgm:cxn modelId="{8466E139-C589-4EA3-B2CE-EC17D8889000}" type="presParOf" srcId="{851C6878-C349-49CE-B3F0-A1E3E4911437}" destId="{9E0C6BBC-D74B-4566-AB9B-E6DB044FE48B}" srcOrd="0" destOrd="0" presId="urn:microsoft.com/office/officeart/2005/8/layout/process4"/>
    <dgm:cxn modelId="{56FB88B8-916F-4F28-B0F3-AE70A120AC55}" type="presParOf" srcId="{851C6878-C349-49CE-B3F0-A1E3E4911437}" destId="{1B84A97A-B770-45F8-ADA8-7075A029599B}" srcOrd="1" destOrd="0" presId="urn:microsoft.com/office/officeart/2005/8/layout/process4"/>
    <dgm:cxn modelId="{DE2B1BF4-00BE-409E-A113-87E94472DE26}" type="presParOf" srcId="{851C6878-C349-49CE-B3F0-A1E3E4911437}" destId="{BAA0DD58-3100-478C-B536-016099A21DED}" srcOrd="2" destOrd="0" presId="urn:microsoft.com/office/officeart/2005/8/layout/process4"/>
    <dgm:cxn modelId="{6F02D7F3-146E-43D4-8335-E74169B9E59D}" type="presParOf" srcId="{BAA0DD58-3100-478C-B536-016099A21DED}" destId="{307D133F-7CD0-4952-922E-1262780B4EF2}" srcOrd="0" destOrd="0" presId="urn:microsoft.com/office/officeart/2005/8/layout/process4"/>
    <dgm:cxn modelId="{C36B7F2E-45A1-4DFD-A5CB-96E49CFB7DC4}" type="presParOf" srcId="{BAA0DD58-3100-478C-B536-016099A21DED}" destId="{D5CAA78C-3068-4101-9155-F38139D5DB6D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8228D47-E9E0-4FFD-8004-E52B10EDEF54}" type="doc">
      <dgm:prSet loTypeId="urn:microsoft.com/office/officeart/2005/8/layout/vProcess5" loCatId="process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E2CE24DB-7DAF-4FE5-8029-D7AB4420469F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US households had gambled on the house-price bubble, fuelled by increasing borrowing was sustainable.</a:t>
          </a:r>
        </a:p>
      </dgm:t>
    </dgm:pt>
    <dgm:pt modelId="{931C2478-5B56-49DF-A7BB-4E1BF3B44CFF}" type="parTrans" cxnId="{B1A0A831-8400-4232-BE2E-5A64C8F582CE}">
      <dgm:prSet/>
      <dgm:spPr/>
      <dgm:t>
        <a:bodyPr/>
        <a:lstStyle/>
        <a:p>
          <a:endParaRPr lang="en-NZ"/>
        </a:p>
      </dgm:t>
    </dgm:pt>
    <dgm:pt modelId="{414630A0-57D9-4E0B-B25F-71BCAD2C3ABB}" type="sibTrans" cxnId="{B1A0A831-8400-4232-BE2E-5A64C8F582CE}">
      <dgm:prSet/>
      <dgm:spPr/>
      <dgm:t>
        <a:bodyPr/>
        <a:lstStyle/>
        <a:p>
          <a:endParaRPr lang="en-NZ"/>
        </a:p>
      </dgm:t>
    </dgm:pt>
    <dgm:pt modelId="{8D068194-5CDF-4C2E-AA2F-03058143AFFB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Banks and other financial intermediaries gambled that house prices would also keep rising.</a:t>
          </a:r>
        </a:p>
      </dgm:t>
    </dgm:pt>
    <dgm:pt modelId="{7F247DAB-E5C9-4CAB-BF8C-2B21C4AD8385}" type="parTrans" cxnId="{92233375-F181-4E28-A13E-09074DA99FEB}">
      <dgm:prSet/>
      <dgm:spPr/>
      <dgm:t>
        <a:bodyPr/>
        <a:lstStyle/>
        <a:p>
          <a:endParaRPr lang="en-NZ"/>
        </a:p>
      </dgm:t>
    </dgm:pt>
    <dgm:pt modelId="{2B31F7AC-7183-4A59-880A-2B6244F5C7FB}" type="sibTrans" cxnId="{92233375-F181-4E28-A13E-09074DA99FEB}">
      <dgm:prSet/>
      <dgm:spPr/>
      <dgm:t>
        <a:bodyPr/>
        <a:lstStyle/>
        <a:p>
          <a:endParaRPr lang="en-NZ"/>
        </a:p>
      </dgm:t>
    </dgm:pt>
    <dgm:pt modelId="{E05C19E0-A9A0-4B74-BE92-C07E3ED4910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The top 5 US Investment banks were $4.1 trillion in debt in 2007 (about 30% of the US GDP)</a:t>
          </a:r>
        </a:p>
      </dgm:t>
    </dgm:pt>
    <dgm:pt modelId="{B2406A4D-87E8-49D8-99B4-6378ABACE7FD}" type="parTrans" cxnId="{29FB749A-A81B-4BE9-8312-B843F38827A6}">
      <dgm:prSet/>
      <dgm:spPr/>
      <dgm:t>
        <a:bodyPr/>
        <a:lstStyle/>
        <a:p>
          <a:endParaRPr lang="en-NZ"/>
        </a:p>
      </dgm:t>
    </dgm:pt>
    <dgm:pt modelId="{ACA9DD41-D02B-4FCA-A268-4FBBC6C9CF35}" type="sibTrans" cxnId="{29FB749A-A81B-4BE9-8312-B843F38827A6}">
      <dgm:prSet/>
      <dgm:spPr/>
      <dgm:t>
        <a:bodyPr/>
        <a:lstStyle/>
        <a:p>
          <a:endParaRPr lang="en-NZ"/>
        </a:p>
      </dgm:t>
    </dgm:pt>
    <dgm:pt modelId="{C9175EF9-E308-413E-81D0-E57CD4383E8F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Until house prices didn’t, subprime borrowers started to default, and bank/holders of CDOs couldn’t pay their lenders back.</a:t>
          </a:r>
        </a:p>
      </dgm:t>
    </dgm:pt>
    <dgm:pt modelId="{6A321F49-295E-41D4-AE6C-BBAAD202889C}" type="parTrans" cxnId="{982D6001-F4D3-4DBD-AF97-6EADD20FFBE4}">
      <dgm:prSet/>
      <dgm:spPr/>
      <dgm:t>
        <a:bodyPr/>
        <a:lstStyle/>
        <a:p>
          <a:endParaRPr lang="en-NZ"/>
        </a:p>
      </dgm:t>
    </dgm:pt>
    <dgm:pt modelId="{267DD320-A017-4BF0-8A41-21E617A029E1}" type="sibTrans" cxnId="{982D6001-F4D3-4DBD-AF97-6EADD20FFBE4}">
      <dgm:prSet/>
      <dgm:spPr/>
      <dgm:t>
        <a:bodyPr/>
        <a:lstStyle/>
        <a:p>
          <a:endParaRPr lang="en-NZ"/>
        </a:p>
      </dgm:t>
    </dgm:pt>
    <dgm:pt modelId="{128E771B-B351-4EAD-8BDD-2C8029D2F6A3}" type="pres">
      <dgm:prSet presAssocID="{78228D47-E9E0-4FFD-8004-E52B10EDEF54}" presName="outerComposite" presStyleCnt="0">
        <dgm:presLayoutVars>
          <dgm:chMax val="5"/>
          <dgm:dir/>
          <dgm:resizeHandles val="exact"/>
        </dgm:presLayoutVars>
      </dgm:prSet>
      <dgm:spPr/>
    </dgm:pt>
    <dgm:pt modelId="{BACC3C72-8474-484B-BD49-FB542157846D}" type="pres">
      <dgm:prSet presAssocID="{78228D47-E9E0-4FFD-8004-E52B10EDEF54}" presName="dummyMaxCanvas" presStyleCnt="0">
        <dgm:presLayoutVars/>
      </dgm:prSet>
      <dgm:spPr/>
    </dgm:pt>
    <dgm:pt modelId="{A1E06C5F-1FF0-46A5-83A7-ED3AA989F7AE}" type="pres">
      <dgm:prSet presAssocID="{78228D47-E9E0-4FFD-8004-E52B10EDEF54}" presName="ThreeNodes_1" presStyleLbl="node1" presStyleIdx="0" presStyleCnt="3">
        <dgm:presLayoutVars>
          <dgm:bulletEnabled val="1"/>
        </dgm:presLayoutVars>
      </dgm:prSet>
      <dgm:spPr/>
    </dgm:pt>
    <dgm:pt modelId="{B8F6B436-A27B-4D1C-A897-5101EC114E0D}" type="pres">
      <dgm:prSet presAssocID="{78228D47-E9E0-4FFD-8004-E52B10EDEF54}" presName="ThreeNodes_2" presStyleLbl="node1" presStyleIdx="1" presStyleCnt="3">
        <dgm:presLayoutVars>
          <dgm:bulletEnabled val="1"/>
        </dgm:presLayoutVars>
      </dgm:prSet>
      <dgm:spPr/>
    </dgm:pt>
    <dgm:pt modelId="{711D955B-1F6A-4FB2-A7EE-A47CE66279B8}" type="pres">
      <dgm:prSet presAssocID="{78228D47-E9E0-4FFD-8004-E52B10EDEF54}" presName="ThreeNodes_3" presStyleLbl="node1" presStyleIdx="2" presStyleCnt="3">
        <dgm:presLayoutVars>
          <dgm:bulletEnabled val="1"/>
        </dgm:presLayoutVars>
      </dgm:prSet>
      <dgm:spPr/>
    </dgm:pt>
    <dgm:pt modelId="{DB72B33C-7A03-4CD1-918B-068020C27DE8}" type="pres">
      <dgm:prSet presAssocID="{78228D47-E9E0-4FFD-8004-E52B10EDEF54}" presName="ThreeConn_1-2" presStyleLbl="fgAccFollowNode1" presStyleIdx="0" presStyleCnt="2">
        <dgm:presLayoutVars>
          <dgm:bulletEnabled val="1"/>
        </dgm:presLayoutVars>
      </dgm:prSet>
      <dgm:spPr/>
    </dgm:pt>
    <dgm:pt modelId="{D79B9D75-7030-4203-9E4C-23227BD619C0}" type="pres">
      <dgm:prSet presAssocID="{78228D47-E9E0-4FFD-8004-E52B10EDEF54}" presName="ThreeConn_2-3" presStyleLbl="fgAccFollowNode1" presStyleIdx="1" presStyleCnt="2">
        <dgm:presLayoutVars>
          <dgm:bulletEnabled val="1"/>
        </dgm:presLayoutVars>
      </dgm:prSet>
      <dgm:spPr/>
    </dgm:pt>
    <dgm:pt modelId="{E858D5E6-82A4-49B4-B252-86DE189E83F6}" type="pres">
      <dgm:prSet presAssocID="{78228D47-E9E0-4FFD-8004-E52B10EDEF54}" presName="ThreeNodes_1_text" presStyleLbl="node1" presStyleIdx="2" presStyleCnt="3">
        <dgm:presLayoutVars>
          <dgm:bulletEnabled val="1"/>
        </dgm:presLayoutVars>
      </dgm:prSet>
      <dgm:spPr/>
    </dgm:pt>
    <dgm:pt modelId="{9A1BBB16-7ED1-4B22-A8CD-FAF6821EEFB1}" type="pres">
      <dgm:prSet presAssocID="{78228D47-E9E0-4FFD-8004-E52B10EDEF54}" presName="ThreeNodes_2_text" presStyleLbl="node1" presStyleIdx="2" presStyleCnt="3">
        <dgm:presLayoutVars>
          <dgm:bulletEnabled val="1"/>
        </dgm:presLayoutVars>
      </dgm:prSet>
      <dgm:spPr/>
    </dgm:pt>
    <dgm:pt modelId="{4885AC76-F175-4183-BA47-729137613122}" type="pres">
      <dgm:prSet presAssocID="{78228D47-E9E0-4FFD-8004-E52B10EDEF5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82D6001-F4D3-4DBD-AF97-6EADD20FFBE4}" srcId="{78228D47-E9E0-4FFD-8004-E52B10EDEF54}" destId="{C9175EF9-E308-413E-81D0-E57CD4383E8F}" srcOrd="2" destOrd="0" parTransId="{6A321F49-295E-41D4-AE6C-BBAAD202889C}" sibTransId="{267DD320-A017-4BF0-8A41-21E617A029E1}"/>
    <dgm:cxn modelId="{6590F617-DDB4-4589-911E-C9BE802D5AA8}" type="presOf" srcId="{E2CE24DB-7DAF-4FE5-8029-D7AB4420469F}" destId="{A1E06C5F-1FF0-46A5-83A7-ED3AA989F7AE}" srcOrd="0" destOrd="0" presId="urn:microsoft.com/office/officeart/2005/8/layout/vProcess5"/>
    <dgm:cxn modelId="{B1A0A831-8400-4232-BE2E-5A64C8F582CE}" srcId="{78228D47-E9E0-4FFD-8004-E52B10EDEF54}" destId="{E2CE24DB-7DAF-4FE5-8029-D7AB4420469F}" srcOrd="0" destOrd="0" parTransId="{931C2478-5B56-49DF-A7BB-4E1BF3B44CFF}" sibTransId="{414630A0-57D9-4E0B-B25F-71BCAD2C3ABB}"/>
    <dgm:cxn modelId="{1079895B-982E-4E2B-B619-B38EF4AF5614}" type="presOf" srcId="{C9175EF9-E308-413E-81D0-E57CD4383E8F}" destId="{711D955B-1F6A-4FB2-A7EE-A47CE66279B8}" srcOrd="0" destOrd="0" presId="urn:microsoft.com/office/officeart/2005/8/layout/vProcess5"/>
    <dgm:cxn modelId="{4C84F55F-D8B6-42B2-B63C-7EFFF6D879CB}" type="presOf" srcId="{8D068194-5CDF-4C2E-AA2F-03058143AFFB}" destId="{9A1BBB16-7ED1-4B22-A8CD-FAF6821EEFB1}" srcOrd="1" destOrd="0" presId="urn:microsoft.com/office/officeart/2005/8/layout/vProcess5"/>
    <dgm:cxn modelId="{9CFC7553-B649-4672-860C-DFA55F703451}" type="presOf" srcId="{C9175EF9-E308-413E-81D0-E57CD4383E8F}" destId="{4885AC76-F175-4183-BA47-729137613122}" srcOrd="1" destOrd="0" presId="urn:microsoft.com/office/officeart/2005/8/layout/vProcess5"/>
    <dgm:cxn modelId="{92233375-F181-4E28-A13E-09074DA99FEB}" srcId="{78228D47-E9E0-4FFD-8004-E52B10EDEF54}" destId="{8D068194-5CDF-4C2E-AA2F-03058143AFFB}" srcOrd="1" destOrd="0" parTransId="{7F247DAB-E5C9-4CAB-BF8C-2B21C4AD8385}" sibTransId="{2B31F7AC-7183-4A59-880A-2B6244F5C7FB}"/>
    <dgm:cxn modelId="{AC33FF75-D4D1-409C-BF76-375A2D432C83}" type="presOf" srcId="{E05C19E0-A9A0-4B74-BE92-C07E3ED4910D}" destId="{B8F6B436-A27B-4D1C-A897-5101EC114E0D}" srcOrd="0" destOrd="1" presId="urn:microsoft.com/office/officeart/2005/8/layout/vProcess5"/>
    <dgm:cxn modelId="{507B0587-EAC9-4287-8B8A-B45909EB03FB}" type="presOf" srcId="{2B31F7AC-7183-4A59-880A-2B6244F5C7FB}" destId="{D79B9D75-7030-4203-9E4C-23227BD619C0}" srcOrd="0" destOrd="0" presId="urn:microsoft.com/office/officeart/2005/8/layout/vProcess5"/>
    <dgm:cxn modelId="{6CBA7495-B07A-4D60-ABDF-C1DDE01E7042}" type="presOf" srcId="{8D068194-5CDF-4C2E-AA2F-03058143AFFB}" destId="{B8F6B436-A27B-4D1C-A897-5101EC114E0D}" srcOrd="0" destOrd="0" presId="urn:microsoft.com/office/officeart/2005/8/layout/vProcess5"/>
    <dgm:cxn modelId="{29FB749A-A81B-4BE9-8312-B843F38827A6}" srcId="{8D068194-5CDF-4C2E-AA2F-03058143AFFB}" destId="{E05C19E0-A9A0-4B74-BE92-C07E3ED4910D}" srcOrd="0" destOrd="0" parTransId="{B2406A4D-87E8-49D8-99B4-6378ABACE7FD}" sibTransId="{ACA9DD41-D02B-4FCA-A268-4FBBC6C9CF35}"/>
    <dgm:cxn modelId="{7A5D14CB-E4FF-4FE3-B4BA-4377AF28A560}" type="presOf" srcId="{E05C19E0-A9A0-4B74-BE92-C07E3ED4910D}" destId="{9A1BBB16-7ED1-4B22-A8CD-FAF6821EEFB1}" srcOrd="1" destOrd="1" presId="urn:microsoft.com/office/officeart/2005/8/layout/vProcess5"/>
    <dgm:cxn modelId="{35CE33E6-DBA8-4476-8C02-37366D5ADFD5}" type="presOf" srcId="{78228D47-E9E0-4FFD-8004-E52B10EDEF54}" destId="{128E771B-B351-4EAD-8BDD-2C8029D2F6A3}" srcOrd="0" destOrd="0" presId="urn:microsoft.com/office/officeart/2005/8/layout/vProcess5"/>
    <dgm:cxn modelId="{4EE371EE-80D3-4823-BC97-47AACC68823F}" type="presOf" srcId="{414630A0-57D9-4E0B-B25F-71BCAD2C3ABB}" destId="{DB72B33C-7A03-4CD1-918B-068020C27DE8}" srcOrd="0" destOrd="0" presId="urn:microsoft.com/office/officeart/2005/8/layout/vProcess5"/>
    <dgm:cxn modelId="{FD04DEF3-3DC2-4FAD-8D64-A7615E969F7E}" type="presOf" srcId="{E2CE24DB-7DAF-4FE5-8029-D7AB4420469F}" destId="{E858D5E6-82A4-49B4-B252-86DE189E83F6}" srcOrd="1" destOrd="0" presId="urn:microsoft.com/office/officeart/2005/8/layout/vProcess5"/>
    <dgm:cxn modelId="{750A95B8-487B-4DCA-A112-20A592AC03DF}" type="presParOf" srcId="{128E771B-B351-4EAD-8BDD-2C8029D2F6A3}" destId="{BACC3C72-8474-484B-BD49-FB542157846D}" srcOrd="0" destOrd="0" presId="urn:microsoft.com/office/officeart/2005/8/layout/vProcess5"/>
    <dgm:cxn modelId="{177B3AC1-641A-4ADB-9DE5-3A9DC75A5605}" type="presParOf" srcId="{128E771B-B351-4EAD-8BDD-2C8029D2F6A3}" destId="{A1E06C5F-1FF0-46A5-83A7-ED3AA989F7AE}" srcOrd="1" destOrd="0" presId="urn:microsoft.com/office/officeart/2005/8/layout/vProcess5"/>
    <dgm:cxn modelId="{0287E563-2F42-4E54-83BE-8FDB39D0DADB}" type="presParOf" srcId="{128E771B-B351-4EAD-8BDD-2C8029D2F6A3}" destId="{B8F6B436-A27B-4D1C-A897-5101EC114E0D}" srcOrd="2" destOrd="0" presId="urn:microsoft.com/office/officeart/2005/8/layout/vProcess5"/>
    <dgm:cxn modelId="{16A7131F-84F6-4050-952E-B9D3AFE1DC7A}" type="presParOf" srcId="{128E771B-B351-4EAD-8BDD-2C8029D2F6A3}" destId="{711D955B-1F6A-4FB2-A7EE-A47CE66279B8}" srcOrd="3" destOrd="0" presId="urn:microsoft.com/office/officeart/2005/8/layout/vProcess5"/>
    <dgm:cxn modelId="{09423BFA-5303-4800-B3D8-B61E8E96303A}" type="presParOf" srcId="{128E771B-B351-4EAD-8BDD-2C8029D2F6A3}" destId="{DB72B33C-7A03-4CD1-918B-068020C27DE8}" srcOrd="4" destOrd="0" presId="urn:microsoft.com/office/officeart/2005/8/layout/vProcess5"/>
    <dgm:cxn modelId="{D932A933-E5BF-4C73-9A53-F8A6A4ABEC0F}" type="presParOf" srcId="{128E771B-B351-4EAD-8BDD-2C8029D2F6A3}" destId="{D79B9D75-7030-4203-9E4C-23227BD619C0}" srcOrd="5" destOrd="0" presId="urn:microsoft.com/office/officeart/2005/8/layout/vProcess5"/>
    <dgm:cxn modelId="{A643FC6C-FDC5-4518-9F6A-5EF16D02901E}" type="presParOf" srcId="{128E771B-B351-4EAD-8BDD-2C8029D2F6A3}" destId="{E858D5E6-82A4-49B4-B252-86DE189E83F6}" srcOrd="6" destOrd="0" presId="urn:microsoft.com/office/officeart/2005/8/layout/vProcess5"/>
    <dgm:cxn modelId="{E680FA20-F0C8-4841-9765-8B0690DA3753}" type="presParOf" srcId="{128E771B-B351-4EAD-8BDD-2C8029D2F6A3}" destId="{9A1BBB16-7ED1-4B22-A8CD-FAF6821EEFB1}" srcOrd="7" destOrd="0" presId="urn:microsoft.com/office/officeart/2005/8/layout/vProcess5"/>
    <dgm:cxn modelId="{64468CC1-837A-4BDD-8ABC-8926703FCA50}" type="presParOf" srcId="{128E771B-B351-4EAD-8BDD-2C8029D2F6A3}" destId="{4885AC76-F175-4183-BA47-72913761312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115E6074-15E5-4165-988D-FC995AEFC61E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877486A-3834-494C-8D96-E085FED25917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US Financial Institutions became distressed</a:t>
          </a:r>
          <a:endParaRPr lang="en-US"/>
        </a:p>
      </dgm:t>
    </dgm:pt>
    <dgm:pt modelId="{95A985C3-446F-41C0-A9B1-CE3E9C29FF29}" type="parTrans" cxnId="{595D6F14-07D5-48E9-9648-62CEAD3DEB6B}">
      <dgm:prSet/>
      <dgm:spPr/>
      <dgm:t>
        <a:bodyPr/>
        <a:lstStyle/>
        <a:p>
          <a:endParaRPr lang="en-US"/>
        </a:p>
      </dgm:t>
    </dgm:pt>
    <dgm:pt modelId="{E78CE9FD-0762-4037-A175-724A16CC6982}" type="sibTrans" cxnId="{595D6F14-07D5-48E9-9648-62CEAD3DEB6B}">
      <dgm:prSet/>
      <dgm:spPr/>
      <dgm:t>
        <a:bodyPr/>
        <a:lstStyle/>
        <a:p>
          <a:endParaRPr lang="en-US"/>
        </a:p>
      </dgm:t>
    </dgm:pt>
    <dgm:pt modelId="{FF15244C-F6A5-4926-AADD-FEC49D6D03BE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Some, e.g. Lehman Brothers AIG, </a:t>
          </a:r>
          <a:r>
            <a:rPr lang="en-NZ" dirty="0" err="1"/>
            <a:t>Fanne</a:t>
          </a:r>
          <a:r>
            <a:rPr lang="en-NZ" dirty="0"/>
            <a:t> Mae and Freddie Mac, went bankrupt. </a:t>
          </a:r>
          <a:endParaRPr lang="en-US" dirty="0"/>
        </a:p>
      </dgm:t>
    </dgm:pt>
    <dgm:pt modelId="{913C8176-2CA5-4FFC-BAC7-2244F1F6EF66}" type="parTrans" cxnId="{5248258D-3B3B-4660-A8BE-8FDF6339E761}">
      <dgm:prSet/>
      <dgm:spPr/>
      <dgm:t>
        <a:bodyPr/>
        <a:lstStyle/>
        <a:p>
          <a:endParaRPr lang="en-US"/>
        </a:p>
      </dgm:t>
    </dgm:pt>
    <dgm:pt modelId="{0FAFC832-BDFD-4EE3-8C88-7636624F3E16}" type="sibTrans" cxnId="{5248258D-3B3B-4660-A8BE-8FDF6339E761}">
      <dgm:prSet/>
      <dgm:spPr/>
      <dgm:t>
        <a:bodyPr/>
        <a:lstStyle/>
        <a:p>
          <a:endParaRPr lang="en-US"/>
        </a:p>
      </dgm:t>
    </dgm:pt>
    <dgm:pt modelId="{AE3768B3-83DC-42AE-A76A-7CCC670495BA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Investors stopped lending to many FIs and their assets were also devalued.</a:t>
          </a:r>
          <a:endParaRPr lang="en-US" dirty="0"/>
        </a:p>
      </dgm:t>
    </dgm:pt>
    <dgm:pt modelId="{4E7FAC00-311D-40A9-8A7C-BD9C4A02D3C5}" type="parTrans" cxnId="{25079221-E8BB-4A6C-B139-3A350C8138D6}">
      <dgm:prSet/>
      <dgm:spPr/>
      <dgm:t>
        <a:bodyPr/>
        <a:lstStyle/>
        <a:p>
          <a:endParaRPr lang="en-US"/>
        </a:p>
      </dgm:t>
    </dgm:pt>
    <dgm:pt modelId="{E2EF8CFE-6232-4A2A-8C76-38941DF6F2FE}" type="sibTrans" cxnId="{25079221-E8BB-4A6C-B139-3A350C8138D6}">
      <dgm:prSet/>
      <dgm:spPr/>
      <dgm:t>
        <a:bodyPr/>
        <a:lstStyle/>
        <a:p>
          <a:endParaRPr lang="en-US"/>
        </a:p>
      </dgm:t>
    </dgm:pt>
    <dgm:pt modelId="{96596D14-DD19-4DFB-979D-DD94590BB2F9}">
      <dgm:prSet/>
      <dgm:spPr/>
      <dgm:t>
        <a:bodyPr/>
        <a:lstStyle/>
        <a:p>
          <a:r>
            <a:rPr lang="en-NZ"/>
            <a:t>Confidence falls</a:t>
          </a:r>
          <a:endParaRPr lang="en-US"/>
        </a:p>
      </dgm:t>
    </dgm:pt>
    <dgm:pt modelId="{9528050E-0FD5-4913-8384-E895746698DC}" type="parTrans" cxnId="{D445F33C-9EB0-4092-95B5-2EFDD8ED4EDC}">
      <dgm:prSet/>
      <dgm:spPr/>
      <dgm:t>
        <a:bodyPr/>
        <a:lstStyle/>
        <a:p>
          <a:endParaRPr lang="en-US"/>
        </a:p>
      </dgm:t>
    </dgm:pt>
    <dgm:pt modelId="{1056CC17-E26C-4C2E-9472-3FB39345EFD9}" type="sibTrans" cxnId="{D445F33C-9EB0-4092-95B5-2EFDD8ED4EDC}">
      <dgm:prSet/>
      <dgm:spPr/>
      <dgm:t>
        <a:bodyPr/>
        <a:lstStyle/>
        <a:p>
          <a:endParaRPr lang="en-US"/>
        </a:p>
      </dgm:t>
    </dgm:pt>
    <dgm:pt modelId="{06A3C73A-F87B-4E1C-B1C1-A3FBCCCF093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The Financial Crisis begins…</a:t>
          </a:r>
          <a:endParaRPr lang="en-US"/>
        </a:p>
      </dgm:t>
    </dgm:pt>
    <dgm:pt modelId="{5BE16A2A-D0AA-4431-A7ED-44EE7E8547A7}" type="parTrans" cxnId="{8FAD96FB-940A-4359-A14F-D2D42D26B870}">
      <dgm:prSet/>
      <dgm:spPr/>
      <dgm:t>
        <a:bodyPr/>
        <a:lstStyle/>
        <a:p>
          <a:endParaRPr lang="en-US"/>
        </a:p>
      </dgm:t>
    </dgm:pt>
    <dgm:pt modelId="{00402CF8-EF81-46E7-8F36-33C2F2C5CF1F}" type="sibTrans" cxnId="{8FAD96FB-940A-4359-A14F-D2D42D26B870}">
      <dgm:prSet/>
      <dgm:spPr/>
      <dgm:t>
        <a:bodyPr/>
        <a:lstStyle/>
        <a:p>
          <a:endParaRPr lang="en-US"/>
        </a:p>
      </dgm:t>
    </dgm:pt>
    <dgm:pt modelId="{87E1814D-1647-49EC-BDDA-35D6A24AF417}" type="pres">
      <dgm:prSet presAssocID="{115E6074-15E5-4165-988D-FC995AEFC61E}" presName="linear" presStyleCnt="0">
        <dgm:presLayoutVars>
          <dgm:animLvl val="lvl"/>
          <dgm:resizeHandles val="exact"/>
        </dgm:presLayoutVars>
      </dgm:prSet>
      <dgm:spPr/>
    </dgm:pt>
    <dgm:pt modelId="{A335EF43-FFB7-4891-A26F-956CFFE8A784}" type="pres">
      <dgm:prSet presAssocID="{3877486A-3834-494C-8D96-E085FED259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6E6065-9051-416E-8D72-1A351CE3226E}" type="pres">
      <dgm:prSet presAssocID="{E78CE9FD-0762-4037-A175-724A16CC6982}" presName="spacer" presStyleCnt="0"/>
      <dgm:spPr/>
    </dgm:pt>
    <dgm:pt modelId="{BA1771D6-F2CE-4F70-BC11-8FD00EC151C4}" type="pres">
      <dgm:prSet presAssocID="{FF15244C-F6A5-4926-AADD-FEC49D6D03B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ACC56D6-F254-4670-BC5C-553B1D716DDD}" type="pres">
      <dgm:prSet presAssocID="{0FAFC832-BDFD-4EE3-8C88-7636624F3E16}" presName="spacer" presStyleCnt="0"/>
      <dgm:spPr/>
    </dgm:pt>
    <dgm:pt modelId="{205C88AC-86EA-4EE0-B53F-0301ABB18354}" type="pres">
      <dgm:prSet presAssocID="{AE3768B3-83DC-42AE-A76A-7CCC670495B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C8FC5E1-9DBE-4736-8326-B4E30A3F9C86}" type="pres">
      <dgm:prSet presAssocID="{AE3768B3-83DC-42AE-A76A-7CCC670495BA}" presName="childText" presStyleLbl="revTx" presStyleIdx="0" presStyleCnt="1">
        <dgm:presLayoutVars>
          <dgm:bulletEnabled val="1"/>
        </dgm:presLayoutVars>
      </dgm:prSet>
      <dgm:spPr/>
    </dgm:pt>
    <dgm:pt modelId="{13F6118A-29D5-4101-ADA5-017099C281E1}" type="pres">
      <dgm:prSet presAssocID="{06A3C73A-F87B-4E1C-B1C1-A3FBCCCF093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06FF90F-4F6E-4974-954D-242985CDBCC8}" type="presOf" srcId="{96596D14-DD19-4DFB-979D-DD94590BB2F9}" destId="{CC8FC5E1-9DBE-4736-8326-B4E30A3F9C86}" srcOrd="0" destOrd="0" presId="urn:microsoft.com/office/officeart/2005/8/layout/vList2"/>
    <dgm:cxn modelId="{B90FB211-B2A8-4DD8-9CCE-C1710172CB38}" type="presOf" srcId="{115E6074-15E5-4165-988D-FC995AEFC61E}" destId="{87E1814D-1647-49EC-BDDA-35D6A24AF417}" srcOrd="0" destOrd="0" presId="urn:microsoft.com/office/officeart/2005/8/layout/vList2"/>
    <dgm:cxn modelId="{595D6F14-07D5-48E9-9648-62CEAD3DEB6B}" srcId="{115E6074-15E5-4165-988D-FC995AEFC61E}" destId="{3877486A-3834-494C-8D96-E085FED25917}" srcOrd="0" destOrd="0" parTransId="{95A985C3-446F-41C0-A9B1-CE3E9C29FF29}" sibTransId="{E78CE9FD-0762-4037-A175-724A16CC6982}"/>
    <dgm:cxn modelId="{25079221-E8BB-4A6C-B139-3A350C8138D6}" srcId="{115E6074-15E5-4165-988D-FC995AEFC61E}" destId="{AE3768B3-83DC-42AE-A76A-7CCC670495BA}" srcOrd="2" destOrd="0" parTransId="{4E7FAC00-311D-40A9-8A7C-BD9C4A02D3C5}" sibTransId="{E2EF8CFE-6232-4A2A-8C76-38941DF6F2FE}"/>
    <dgm:cxn modelId="{D445F33C-9EB0-4092-95B5-2EFDD8ED4EDC}" srcId="{AE3768B3-83DC-42AE-A76A-7CCC670495BA}" destId="{96596D14-DD19-4DFB-979D-DD94590BB2F9}" srcOrd="0" destOrd="0" parTransId="{9528050E-0FD5-4913-8384-E895746698DC}" sibTransId="{1056CC17-E26C-4C2E-9472-3FB39345EFD9}"/>
    <dgm:cxn modelId="{4D6D2862-130C-4587-ACB0-9479989C5725}" type="presOf" srcId="{3877486A-3834-494C-8D96-E085FED25917}" destId="{A335EF43-FFB7-4891-A26F-956CFFE8A784}" srcOrd="0" destOrd="0" presId="urn:microsoft.com/office/officeart/2005/8/layout/vList2"/>
    <dgm:cxn modelId="{5248258D-3B3B-4660-A8BE-8FDF6339E761}" srcId="{115E6074-15E5-4165-988D-FC995AEFC61E}" destId="{FF15244C-F6A5-4926-AADD-FEC49D6D03BE}" srcOrd="1" destOrd="0" parTransId="{913C8176-2CA5-4FFC-BAC7-2244F1F6EF66}" sibTransId="{0FAFC832-BDFD-4EE3-8C88-7636624F3E16}"/>
    <dgm:cxn modelId="{C35AF291-18F6-4122-84D7-BA6432883BA1}" type="presOf" srcId="{06A3C73A-F87B-4E1C-B1C1-A3FBCCCF093D}" destId="{13F6118A-29D5-4101-ADA5-017099C281E1}" srcOrd="0" destOrd="0" presId="urn:microsoft.com/office/officeart/2005/8/layout/vList2"/>
    <dgm:cxn modelId="{6A510EAE-BC11-4DE8-B307-58EE177EBCFA}" type="presOf" srcId="{AE3768B3-83DC-42AE-A76A-7CCC670495BA}" destId="{205C88AC-86EA-4EE0-B53F-0301ABB18354}" srcOrd="0" destOrd="0" presId="urn:microsoft.com/office/officeart/2005/8/layout/vList2"/>
    <dgm:cxn modelId="{F28EBFFA-2F1C-4B37-AB6D-F96509E0A614}" type="presOf" srcId="{FF15244C-F6A5-4926-AADD-FEC49D6D03BE}" destId="{BA1771D6-F2CE-4F70-BC11-8FD00EC151C4}" srcOrd="0" destOrd="0" presId="urn:microsoft.com/office/officeart/2005/8/layout/vList2"/>
    <dgm:cxn modelId="{8FAD96FB-940A-4359-A14F-D2D42D26B870}" srcId="{115E6074-15E5-4165-988D-FC995AEFC61E}" destId="{06A3C73A-F87B-4E1C-B1C1-A3FBCCCF093D}" srcOrd="3" destOrd="0" parTransId="{5BE16A2A-D0AA-4431-A7ED-44EE7E8547A7}" sibTransId="{00402CF8-EF81-46E7-8F36-33C2F2C5CF1F}"/>
    <dgm:cxn modelId="{72069D4F-CD6D-48BC-B6E4-895B8C1FE301}" type="presParOf" srcId="{87E1814D-1647-49EC-BDDA-35D6A24AF417}" destId="{A335EF43-FFB7-4891-A26F-956CFFE8A784}" srcOrd="0" destOrd="0" presId="urn:microsoft.com/office/officeart/2005/8/layout/vList2"/>
    <dgm:cxn modelId="{AB3F4186-304A-46A8-8DA1-6BEEC317CCB4}" type="presParOf" srcId="{87E1814D-1647-49EC-BDDA-35D6A24AF417}" destId="{FC6E6065-9051-416E-8D72-1A351CE3226E}" srcOrd="1" destOrd="0" presId="urn:microsoft.com/office/officeart/2005/8/layout/vList2"/>
    <dgm:cxn modelId="{98AD1121-2FA7-405E-AB8F-E3F919DF577C}" type="presParOf" srcId="{87E1814D-1647-49EC-BDDA-35D6A24AF417}" destId="{BA1771D6-F2CE-4F70-BC11-8FD00EC151C4}" srcOrd="2" destOrd="0" presId="urn:microsoft.com/office/officeart/2005/8/layout/vList2"/>
    <dgm:cxn modelId="{695395DE-A948-4BFA-831D-D6DE61942F34}" type="presParOf" srcId="{87E1814D-1647-49EC-BDDA-35D6A24AF417}" destId="{CACC56D6-F254-4670-BC5C-553B1D716DDD}" srcOrd="3" destOrd="0" presId="urn:microsoft.com/office/officeart/2005/8/layout/vList2"/>
    <dgm:cxn modelId="{8F3E7ABB-C5FD-4A03-B8FF-704ABA5697DF}" type="presParOf" srcId="{87E1814D-1647-49EC-BDDA-35D6A24AF417}" destId="{205C88AC-86EA-4EE0-B53F-0301ABB18354}" srcOrd="4" destOrd="0" presId="urn:microsoft.com/office/officeart/2005/8/layout/vList2"/>
    <dgm:cxn modelId="{3E82F006-2E4F-4949-9322-706EF64B755C}" type="presParOf" srcId="{87E1814D-1647-49EC-BDDA-35D6A24AF417}" destId="{CC8FC5E1-9DBE-4736-8326-B4E30A3F9C86}" srcOrd="5" destOrd="0" presId="urn:microsoft.com/office/officeart/2005/8/layout/vList2"/>
    <dgm:cxn modelId="{AE325D6D-BF8C-4EB1-8A74-FB65DFE2C6F6}" type="presParOf" srcId="{87E1814D-1647-49EC-BDDA-35D6A24AF417}" destId="{13F6118A-29D5-4101-ADA5-017099C281E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2CACDF04-1213-4613-8B0E-5028C1754DF2}" type="doc">
      <dgm:prSet loTypeId="urn:microsoft.com/office/officeart/2005/8/layout/hProcess9" loCatId="process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17D87FC6-D474-4DF6-9B0E-F768587E4F90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Financial Institutions normally direct borrowed money to firms and households to invest.</a:t>
          </a:r>
        </a:p>
      </dgm:t>
    </dgm:pt>
    <dgm:pt modelId="{3E0A20F0-81A9-4F0B-8AA9-FFF7E1F6E653}" type="parTrans" cxnId="{CCB497F8-0778-4211-A282-D86FA8E52911}">
      <dgm:prSet/>
      <dgm:spPr/>
      <dgm:t>
        <a:bodyPr/>
        <a:lstStyle/>
        <a:p>
          <a:endParaRPr lang="en-NZ"/>
        </a:p>
      </dgm:t>
    </dgm:pt>
    <dgm:pt modelId="{2F092EBC-F2F6-4E82-BE9B-8C32BCD0BD90}" type="sibTrans" cxnId="{CCB497F8-0778-4211-A282-D86FA8E52911}">
      <dgm:prSet/>
      <dgm:spPr/>
      <dgm:t>
        <a:bodyPr/>
        <a:lstStyle/>
        <a:p>
          <a:endParaRPr lang="en-NZ"/>
        </a:p>
      </dgm:t>
    </dgm:pt>
    <dgm:pt modelId="{0774557B-C64F-44B4-83C2-B50F6437D129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Panic over who was exposed and how badly, led to financial firms to stop dealing with each other (September 2008)</a:t>
          </a:r>
        </a:p>
      </dgm:t>
    </dgm:pt>
    <dgm:pt modelId="{1F2C8CBB-922F-463E-A8E7-FF4435483670}" type="parTrans" cxnId="{2FECB643-4C6F-401D-B8BB-412046C223C3}">
      <dgm:prSet/>
      <dgm:spPr/>
      <dgm:t>
        <a:bodyPr/>
        <a:lstStyle/>
        <a:p>
          <a:endParaRPr lang="en-NZ"/>
        </a:p>
      </dgm:t>
    </dgm:pt>
    <dgm:pt modelId="{F4CB528B-F7C2-47A4-A4FD-98D0F702DEDD}" type="sibTrans" cxnId="{2FECB643-4C6F-401D-B8BB-412046C223C3}">
      <dgm:prSet/>
      <dgm:spPr/>
      <dgm:t>
        <a:bodyPr/>
        <a:lstStyle/>
        <a:p>
          <a:endParaRPr lang="en-NZ"/>
        </a:p>
      </dgm:t>
    </dgm:pt>
    <dgm:pt modelId="{0BB6BDCF-E74C-43E7-A65F-E775D5017F84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Short-term funding markets shut down</a:t>
          </a:r>
        </a:p>
      </dgm:t>
    </dgm:pt>
    <dgm:pt modelId="{90CB93A2-53D6-4D49-B1DA-F578F86F5635}" type="parTrans" cxnId="{8A95F121-0F5B-4887-85C7-99ACDDAB55D1}">
      <dgm:prSet/>
      <dgm:spPr/>
      <dgm:t>
        <a:bodyPr/>
        <a:lstStyle/>
        <a:p>
          <a:endParaRPr lang="en-NZ"/>
        </a:p>
      </dgm:t>
    </dgm:pt>
    <dgm:pt modelId="{91C76CFB-8EED-4103-AADD-1A76DA429088}" type="sibTrans" cxnId="{8A95F121-0F5B-4887-85C7-99ACDDAB55D1}">
      <dgm:prSet/>
      <dgm:spPr/>
      <dgm:t>
        <a:bodyPr/>
        <a:lstStyle/>
        <a:p>
          <a:endParaRPr lang="en-NZ"/>
        </a:p>
      </dgm:t>
    </dgm:pt>
    <dgm:pt modelId="{77761E4E-B70C-4B78-87B1-DB7C610FAF77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Equity and term funding markets collapsed</a:t>
          </a:r>
        </a:p>
      </dgm:t>
    </dgm:pt>
    <dgm:pt modelId="{DB1EDB9E-55AE-4CC5-A38A-C4DB65405AC0}" type="parTrans" cxnId="{AD0ADFBA-72EC-4B73-86A7-9FF18C57CE2A}">
      <dgm:prSet/>
      <dgm:spPr/>
      <dgm:t>
        <a:bodyPr/>
        <a:lstStyle/>
        <a:p>
          <a:endParaRPr lang="en-NZ"/>
        </a:p>
      </dgm:t>
    </dgm:pt>
    <dgm:pt modelId="{9A6A0D7B-B286-4D06-A81C-A4309269728C}" type="sibTrans" cxnId="{AD0ADFBA-72EC-4B73-86A7-9FF18C57CE2A}">
      <dgm:prSet/>
      <dgm:spPr/>
      <dgm:t>
        <a:bodyPr/>
        <a:lstStyle/>
        <a:p>
          <a:endParaRPr lang="en-NZ"/>
        </a:p>
      </dgm:t>
    </dgm:pt>
    <dgm:pt modelId="{7C27D15A-7F08-4889-89F8-42118B08ACC3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The Credit Crunch hits firms wanting to invest. </a:t>
          </a:r>
        </a:p>
      </dgm:t>
    </dgm:pt>
    <dgm:pt modelId="{220DF24F-4416-431D-B6E1-D82FB185CD60}" type="parTrans" cxnId="{DAA69214-BEA4-4CF0-A6CC-1ACE0D85540A}">
      <dgm:prSet/>
      <dgm:spPr/>
      <dgm:t>
        <a:bodyPr/>
        <a:lstStyle/>
        <a:p>
          <a:endParaRPr lang="en-NZ"/>
        </a:p>
      </dgm:t>
    </dgm:pt>
    <dgm:pt modelId="{5849C8B2-7406-493E-A029-4CA4E45FE3BC}" type="sibTrans" cxnId="{DAA69214-BEA4-4CF0-A6CC-1ACE0D85540A}">
      <dgm:prSet/>
      <dgm:spPr/>
      <dgm:t>
        <a:bodyPr/>
        <a:lstStyle/>
        <a:p>
          <a:endParaRPr lang="en-NZ"/>
        </a:p>
      </dgm:t>
    </dgm:pt>
    <dgm:pt modelId="{B0260FAF-1DEE-49BA-B2D2-5ED5A788557D}" type="pres">
      <dgm:prSet presAssocID="{2CACDF04-1213-4613-8B0E-5028C1754DF2}" presName="CompostProcess" presStyleCnt="0">
        <dgm:presLayoutVars>
          <dgm:dir/>
          <dgm:resizeHandles val="exact"/>
        </dgm:presLayoutVars>
      </dgm:prSet>
      <dgm:spPr/>
    </dgm:pt>
    <dgm:pt modelId="{0ED98302-6F94-4924-85FB-3F1E405CAA88}" type="pres">
      <dgm:prSet presAssocID="{2CACDF04-1213-4613-8B0E-5028C1754DF2}" presName="arrow" presStyleLbl="bgShp" presStyleIdx="0" presStyleCnt="1"/>
      <dgm:spPr/>
    </dgm:pt>
    <dgm:pt modelId="{A245F776-EB7E-4130-AD89-0923162D75BC}" type="pres">
      <dgm:prSet presAssocID="{2CACDF04-1213-4613-8B0E-5028C1754DF2}" presName="linearProcess" presStyleCnt="0"/>
      <dgm:spPr/>
    </dgm:pt>
    <dgm:pt modelId="{944975A9-F0D1-41AE-BC90-7822CC315EA4}" type="pres">
      <dgm:prSet presAssocID="{17D87FC6-D474-4DF6-9B0E-F768587E4F90}" presName="textNode" presStyleLbl="node1" presStyleIdx="0" presStyleCnt="5">
        <dgm:presLayoutVars>
          <dgm:bulletEnabled val="1"/>
        </dgm:presLayoutVars>
      </dgm:prSet>
      <dgm:spPr/>
    </dgm:pt>
    <dgm:pt modelId="{A45C51CF-BBF3-42BE-9ACF-2BD209B337B9}" type="pres">
      <dgm:prSet presAssocID="{2F092EBC-F2F6-4E82-BE9B-8C32BCD0BD90}" presName="sibTrans" presStyleCnt="0"/>
      <dgm:spPr/>
    </dgm:pt>
    <dgm:pt modelId="{CC696F00-3B2C-40DA-A1FE-82306FE4A812}" type="pres">
      <dgm:prSet presAssocID="{0774557B-C64F-44B4-83C2-B50F6437D129}" presName="textNode" presStyleLbl="node1" presStyleIdx="1" presStyleCnt="5">
        <dgm:presLayoutVars>
          <dgm:bulletEnabled val="1"/>
        </dgm:presLayoutVars>
      </dgm:prSet>
      <dgm:spPr/>
    </dgm:pt>
    <dgm:pt modelId="{E2859EEE-E6ED-4CA7-9E95-15C03C010C9A}" type="pres">
      <dgm:prSet presAssocID="{F4CB528B-F7C2-47A4-A4FD-98D0F702DEDD}" presName="sibTrans" presStyleCnt="0"/>
      <dgm:spPr/>
    </dgm:pt>
    <dgm:pt modelId="{F7352CD0-DB69-438D-AD48-EFCFBC03C79D}" type="pres">
      <dgm:prSet presAssocID="{0BB6BDCF-E74C-43E7-A65F-E775D5017F84}" presName="textNode" presStyleLbl="node1" presStyleIdx="2" presStyleCnt="5">
        <dgm:presLayoutVars>
          <dgm:bulletEnabled val="1"/>
        </dgm:presLayoutVars>
      </dgm:prSet>
      <dgm:spPr/>
    </dgm:pt>
    <dgm:pt modelId="{4093D469-F902-4F8F-9E84-76FE8C29E152}" type="pres">
      <dgm:prSet presAssocID="{91C76CFB-8EED-4103-AADD-1A76DA429088}" presName="sibTrans" presStyleCnt="0"/>
      <dgm:spPr/>
    </dgm:pt>
    <dgm:pt modelId="{39DA2076-9381-473B-AC15-81DA156700B5}" type="pres">
      <dgm:prSet presAssocID="{77761E4E-B70C-4B78-87B1-DB7C610FAF77}" presName="textNode" presStyleLbl="node1" presStyleIdx="3" presStyleCnt="5">
        <dgm:presLayoutVars>
          <dgm:bulletEnabled val="1"/>
        </dgm:presLayoutVars>
      </dgm:prSet>
      <dgm:spPr/>
    </dgm:pt>
    <dgm:pt modelId="{75B0ADBD-2451-4991-92F6-9B1D5252D59E}" type="pres">
      <dgm:prSet presAssocID="{9A6A0D7B-B286-4D06-A81C-A4309269728C}" presName="sibTrans" presStyleCnt="0"/>
      <dgm:spPr/>
    </dgm:pt>
    <dgm:pt modelId="{FA67B393-4B7B-4B19-A9BC-6741558F1FC9}" type="pres">
      <dgm:prSet presAssocID="{7C27D15A-7F08-4889-89F8-42118B08ACC3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03956E07-D03F-4FC4-ACF0-32C413E18B08}" type="presOf" srcId="{2CACDF04-1213-4613-8B0E-5028C1754DF2}" destId="{B0260FAF-1DEE-49BA-B2D2-5ED5A788557D}" srcOrd="0" destOrd="0" presId="urn:microsoft.com/office/officeart/2005/8/layout/hProcess9"/>
    <dgm:cxn modelId="{DAA69214-BEA4-4CF0-A6CC-1ACE0D85540A}" srcId="{2CACDF04-1213-4613-8B0E-5028C1754DF2}" destId="{7C27D15A-7F08-4889-89F8-42118B08ACC3}" srcOrd="4" destOrd="0" parTransId="{220DF24F-4416-431D-B6E1-D82FB185CD60}" sibTransId="{5849C8B2-7406-493E-A029-4CA4E45FE3BC}"/>
    <dgm:cxn modelId="{8A95F121-0F5B-4887-85C7-99ACDDAB55D1}" srcId="{2CACDF04-1213-4613-8B0E-5028C1754DF2}" destId="{0BB6BDCF-E74C-43E7-A65F-E775D5017F84}" srcOrd="2" destOrd="0" parTransId="{90CB93A2-53D6-4D49-B1DA-F578F86F5635}" sibTransId="{91C76CFB-8EED-4103-AADD-1A76DA429088}"/>
    <dgm:cxn modelId="{6747DA3F-49A2-4D08-840D-9848B66644AB}" type="presOf" srcId="{77761E4E-B70C-4B78-87B1-DB7C610FAF77}" destId="{39DA2076-9381-473B-AC15-81DA156700B5}" srcOrd="0" destOrd="0" presId="urn:microsoft.com/office/officeart/2005/8/layout/hProcess9"/>
    <dgm:cxn modelId="{19C9A041-4039-4949-BDBE-29A9737B5CE4}" type="presOf" srcId="{17D87FC6-D474-4DF6-9B0E-F768587E4F90}" destId="{944975A9-F0D1-41AE-BC90-7822CC315EA4}" srcOrd="0" destOrd="0" presId="urn:microsoft.com/office/officeart/2005/8/layout/hProcess9"/>
    <dgm:cxn modelId="{2FECB643-4C6F-401D-B8BB-412046C223C3}" srcId="{2CACDF04-1213-4613-8B0E-5028C1754DF2}" destId="{0774557B-C64F-44B4-83C2-B50F6437D129}" srcOrd="1" destOrd="0" parTransId="{1F2C8CBB-922F-463E-A8E7-FF4435483670}" sibTransId="{F4CB528B-F7C2-47A4-A4FD-98D0F702DEDD}"/>
    <dgm:cxn modelId="{CF878D72-4B72-4951-8E3C-CB6B9D66F70C}" type="presOf" srcId="{0774557B-C64F-44B4-83C2-B50F6437D129}" destId="{CC696F00-3B2C-40DA-A1FE-82306FE4A812}" srcOrd="0" destOrd="0" presId="urn:microsoft.com/office/officeart/2005/8/layout/hProcess9"/>
    <dgm:cxn modelId="{AD0ADFBA-72EC-4B73-86A7-9FF18C57CE2A}" srcId="{2CACDF04-1213-4613-8B0E-5028C1754DF2}" destId="{77761E4E-B70C-4B78-87B1-DB7C610FAF77}" srcOrd="3" destOrd="0" parTransId="{DB1EDB9E-55AE-4CC5-A38A-C4DB65405AC0}" sibTransId="{9A6A0D7B-B286-4D06-A81C-A4309269728C}"/>
    <dgm:cxn modelId="{4D97C4BE-19D8-4FC2-90E5-CF38F26B5879}" type="presOf" srcId="{7C27D15A-7F08-4889-89F8-42118B08ACC3}" destId="{FA67B393-4B7B-4B19-A9BC-6741558F1FC9}" srcOrd="0" destOrd="0" presId="urn:microsoft.com/office/officeart/2005/8/layout/hProcess9"/>
    <dgm:cxn modelId="{CCB497F8-0778-4211-A282-D86FA8E52911}" srcId="{2CACDF04-1213-4613-8B0E-5028C1754DF2}" destId="{17D87FC6-D474-4DF6-9B0E-F768587E4F90}" srcOrd="0" destOrd="0" parTransId="{3E0A20F0-81A9-4F0B-8AA9-FFF7E1F6E653}" sibTransId="{2F092EBC-F2F6-4E82-BE9B-8C32BCD0BD90}"/>
    <dgm:cxn modelId="{83C7CBF9-4AF8-46A4-BC5D-1866B0AD3374}" type="presOf" srcId="{0BB6BDCF-E74C-43E7-A65F-E775D5017F84}" destId="{F7352CD0-DB69-438D-AD48-EFCFBC03C79D}" srcOrd="0" destOrd="0" presId="urn:microsoft.com/office/officeart/2005/8/layout/hProcess9"/>
    <dgm:cxn modelId="{E9B0CD52-CB68-43C8-8879-38D645F8018E}" type="presParOf" srcId="{B0260FAF-1DEE-49BA-B2D2-5ED5A788557D}" destId="{0ED98302-6F94-4924-85FB-3F1E405CAA88}" srcOrd="0" destOrd="0" presId="urn:microsoft.com/office/officeart/2005/8/layout/hProcess9"/>
    <dgm:cxn modelId="{293EB5CE-7004-46B8-BD78-68E9311888D7}" type="presParOf" srcId="{B0260FAF-1DEE-49BA-B2D2-5ED5A788557D}" destId="{A245F776-EB7E-4130-AD89-0923162D75BC}" srcOrd="1" destOrd="0" presId="urn:microsoft.com/office/officeart/2005/8/layout/hProcess9"/>
    <dgm:cxn modelId="{744D08C8-FE10-4532-AFF6-5B4AD3BDA6B8}" type="presParOf" srcId="{A245F776-EB7E-4130-AD89-0923162D75BC}" destId="{944975A9-F0D1-41AE-BC90-7822CC315EA4}" srcOrd="0" destOrd="0" presId="urn:microsoft.com/office/officeart/2005/8/layout/hProcess9"/>
    <dgm:cxn modelId="{FC9A52A7-E6CD-4DC3-A3B5-91F5AE5921D3}" type="presParOf" srcId="{A245F776-EB7E-4130-AD89-0923162D75BC}" destId="{A45C51CF-BBF3-42BE-9ACF-2BD209B337B9}" srcOrd="1" destOrd="0" presId="urn:microsoft.com/office/officeart/2005/8/layout/hProcess9"/>
    <dgm:cxn modelId="{52D8D6A2-AEDD-4C9E-A4AA-DE9814F4537F}" type="presParOf" srcId="{A245F776-EB7E-4130-AD89-0923162D75BC}" destId="{CC696F00-3B2C-40DA-A1FE-82306FE4A812}" srcOrd="2" destOrd="0" presId="urn:microsoft.com/office/officeart/2005/8/layout/hProcess9"/>
    <dgm:cxn modelId="{81908000-3F11-4774-9EEB-6B6AAC5874E1}" type="presParOf" srcId="{A245F776-EB7E-4130-AD89-0923162D75BC}" destId="{E2859EEE-E6ED-4CA7-9E95-15C03C010C9A}" srcOrd="3" destOrd="0" presId="urn:microsoft.com/office/officeart/2005/8/layout/hProcess9"/>
    <dgm:cxn modelId="{1C5BDF70-D811-435B-84A4-049DD9AE447B}" type="presParOf" srcId="{A245F776-EB7E-4130-AD89-0923162D75BC}" destId="{F7352CD0-DB69-438D-AD48-EFCFBC03C79D}" srcOrd="4" destOrd="0" presId="urn:microsoft.com/office/officeart/2005/8/layout/hProcess9"/>
    <dgm:cxn modelId="{197FBE45-8FB4-4FF8-97D0-D2248D4797F5}" type="presParOf" srcId="{A245F776-EB7E-4130-AD89-0923162D75BC}" destId="{4093D469-F902-4F8F-9E84-76FE8C29E152}" srcOrd="5" destOrd="0" presId="urn:microsoft.com/office/officeart/2005/8/layout/hProcess9"/>
    <dgm:cxn modelId="{CBD73259-D9AE-4FBE-85D8-658BE3EE7469}" type="presParOf" srcId="{A245F776-EB7E-4130-AD89-0923162D75BC}" destId="{39DA2076-9381-473B-AC15-81DA156700B5}" srcOrd="6" destOrd="0" presId="urn:microsoft.com/office/officeart/2005/8/layout/hProcess9"/>
    <dgm:cxn modelId="{A8BD7070-D652-4838-AC84-BDB595B23F78}" type="presParOf" srcId="{A245F776-EB7E-4130-AD89-0923162D75BC}" destId="{75B0ADBD-2451-4991-92F6-9B1D5252D59E}" srcOrd="7" destOrd="0" presId="urn:microsoft.com/office/officeart/2005/8/layout/hProcess9"/>
    <dgm:cxn modelId="{8BE52118-E226-477F-AD07-7331E2280A5A}" type="presParOf" srcId="{A245F776-EB7E-4130-AD89-0923162D75BC}" destId="{FA67B393-4B7B-4B19-A9BC-6741558F1FC9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55AF74B3-E270-4425-BA06-821474CCD81D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88D6DA67-A955-460F-A00E-3FD9FC78473E}">
      <dgm:prSet/>
      <dgm:spPr/>
      <dgm:t>
        <a:bodyPr/>
        <a:lstStyle/>
        <a:p>
          <a:r>
            <a:rPr lang="en-NZ"/>
            <a:t>Low growth in Germany resulted in</a:t>
          </a:r>
        </a:p>
      </dgm:t>
    </dgm:pt>
    <dgm:pt modelId="{14164899-C1E9-4386-BEAD-9BA7D2D3E79D}" type="parTrans" cxnId="{20D0CFC5-867F-4C83-A12E-F412444E7D7C}">
      <dgm:prSet/>
      <dgm:spPr/>
      <dgm:t>
        <a:bodyPr/>
        <a:lstStyle/>
        <a:p>
          <a:endParaRPr lang="en-NZ"/>
        </a:p>
      </dgm:t>
    </dgm:pt>
    <dgm:pt modelId="{332F4C94-7CA2-4C45-8210-E8237A58E1E5}" type="sibTrans" cxnId="{20D0CFC5-867F-4C83-A12E-F412444E7D7C}">
      <dgm:prSet/>
      <dgm:spPr/>
      <dgm:t>
        <a:bodyPr/>
        <a:lstStyle/>
        <a:p>
          <a:endParaRPr lang="en-NZ"/>
        </a:p>
      </dgm:t>
    </dgm:pt>
    <dgm:pt modelId="{155A39C4-0259-4E3D-B934-AE553BAA2486}">
      <dgm:prSet/>
      <dgm:spPr/>
      <dgm:t>
        <a:bodyPr/>
        <a:lstStyle/>
        <a:p>
          <a:r>
            <a:rPr lang="en-NZ"/>
            <a:t>ECB setting interest rates low to stimulate growth in German economy</a:t>
          </a:r>
        </a:p>
      </dgm:t>
    </dgm:pt>
    <dgm:pt modelId="{1409B5AE-7CFF-48C9-B746-4E1C9959C0F6}" type="parTrans" cxnId="{00A1F8FB-0363-4500-AC62-889D1A6A4ADF}">
      <dgm:prSet/>
      <dgm:spPr/>
      <dgm:t>
        <a:bodyPr/>
        <a:lstStyle/>
        <a:p>
          <a:endParaRPr lang="en-NZ"/>
        </a:p>
      </dgm:t>
    </dgm:pt>
    <dgm:pt modelId="{2CA45586-828F-4F45-965B-3AAB99582019}" type="sibTrans" cxnId="{00A1F8FB-0363-4500-AC62-889D1A6A4ADF}">
      <dgm:prSet/>
      <dgm:spPr/>
      <dgm:t>
        <a:bodyPr/>
        <a:lstStyle/>
        <a:p>
          <a:endParaRPr lang="en-NZ"/>
        </a:p>
      </dgm:t>
    </dgm:pt>
    <dgm:pt modelId="{BAF53F5F-246A-4800-97DD-0D2609A15B6C}">
      <dgm:prSet/>
      <dgm:spPr/>
      <dgm:t>
        <a:bodyPr/>
        <a:lstStyle/>
        <a:p>
          <a:r>
            <a:rPr lang="en-NZ"/>
            <a:t>This over-stimulated economies like Spain</a:t>
          </a:r>
        </a:p>
      </dgm:t>
    </dgm:pt>
    <dgm:pt modelId="{5CC8F113-9712-4CA7-9108-291CA8114E6F}" type="parTrans" cxnId="{ECC1F026-37BF-4BD7-933A-78F755503E06}">
      <dgm:prSet/>
      <dgm:spPr/>
      <dgm:t>
        <a:bodyPr/>
        <a:lstStyle/>
        <a:p>
          <a:endParaRPr lang="en-NZ"/>
        </a:p>
      </dgm:t>
    </dgm:pt>
    <dgm:pt modelId="{2DB2662C-3229-41E8-9D85-08B1879440CD}" type="sibTrans" cxnId="{ECC1F026-37BF-4BD7-933A-78F755503E06}">
      <dgm:prSet/>
      <dgm:spPr/>
      <dgm:t>
        <a:bodyPr/>
        <a:lstStyle/>
        <a:p>
          <a:endParaRPr lang="en-NZ"/>
        </a:p>
      </dgm:t>
    </dgm:pt>
    <dgm:pt modelId="{13154BA0-C9B8-47FA-952F-9D37BB5C23E1}">
      <dgm:prSet/>
      <dgm:spPr/>
      <dgm:t>
        <a:bodyPr/>
        <a:lstStyle/>
        <a:p>
          <a:r>
            <a:rPr lang="en-NZ"/>
            <a:t>Funds flowed from countries like Germany to countries like Spain, inflating housing bubbles.</a:t>
          </a:r>
        </a:p>
      </dgm:t>
    </dgm:pt>
    <dgm:pt modelId="{A30F8AE2-D5AE-4376-81F8-AB5D9EB33BB7}" type="parTrans" cxnId="{52A81EBE-E79C-4673-9D1A-471FF3595734}">
      <dgm:prSet/>
      <dgm:spPr/>
      <dgm:t>
        <a:bodyPr/>
        <a:lstStyle/>
        <a:p>
          <a:endParaRPr lang="en-NZ"/>
        </a:p>
      </dgm:t>
    </dgm:pt>
    <dgm:pt modelId="{2E0594AB-65EF-4730-AAD5-9C9760D11C21}" type="sibTrans" cxnId="{52A81EBE-E79C-4673-9D1A-471FF3595734}">
      <dgm:prSet/>
      <dgm:spPr/>
      <dgm:t>
        <a:bodyPr/>
        <a:lstStyle/>
        <a:p>
          <a:endParaRPr lang="en-NZ"/>
        </a:p>
      </dgm:t>
    </dgm:pt>
    <dgm:pt modelId="{C11CDD06-4514-497B-88F0-9CFB66FA676F}">
      <dgm:prSet/>
      <dgm:spPr/>
      <dgm:t>
        <a:bodyPr/>
        <a:lstStyle/>
        <a:p>
          <a:r>
            <a:rPr lang="en-NZ"/>
            <a:t>Consumer demand rose in countries like Spain, creating a trade deficit</a:t>
          </a:r>
        </a:p>
      </dgm:t>
    </dgm:pt>
    <dgm:pt modelId="{071063E1-4261-43BC-B43D-D49A33367309}" type="parTrans" cxnId="{D4882262-7DA1-47A2-8854-593B97D68C08}">
      <dgm:prSet/>
      <dgm:spPr/>
      <dgm:t>
        <a:bodyPr/>
        <a:lstStyle/>
        <a:p>
          <a:endParaRPr lang="en-NZ"/>
        </a:p>
      </dgm:t>
    </dgm:pt>
    <dgm:pt modelId="{10A490FB-A7D0-49CD-9741-2AC13657BB97}" type="sibTrans" cxnId="{D4882262-7DA1-47A2-8854-593B97D68C08}">
      <dgm:prSet/>
      <dgm:spPr/>
      <dgm:t>
        <a:bodyPr/>
        <a:lstStyle/>
        <a:p>
          <a:endParaRPr lang="en-NZ"/>
        </a:p>
      </dgm:t>
    </dgm:pt>
    <dgm:pt modelId="{C87658A1-928C-4C8B-8C26-1880269B381B}">
      <dgm:prSet/>
      <dgm:spPr/>
      <dgm:t>
        <a:bodyPr/>
        <a:lstStyle/>
        <a:p>
          <a:r>
            <a:rPr lang="en-NZ"/>
            <a:t>Spain’s currency could not depreciate because it was the same as Germany’s.</a:t>
          </a:r>
        </a:p>
      </dgm:t>
    </dgm:pt>
    <dgm:pt modelId="{718D1EC9-5390-4F86-8D5D-AAFF5092A12B}" type="parTrans" cxnId="{B6D1ADD1-2C30-4688-830B-84A822B998EB}">
      <dgm:prSet/>
      <dgm:spPr/>
      <dgm:t>
        <a:bodyPr/>
        <a:lstStyle/>
        <a:p>
          <a:endParaRPr lang="en-NZ"/>
        </a:p>
      </dgm:t>
    </dgm:pt>
    <dgm:pt modelId="{45118C8E-C425-4C00-878A-EBC8B143B737}" type="sibTrans" cxnId="{B6D1ADD1-2C30-4688-830B-84A822B998EB}">
      <dgm:prSet/>
      <dgm:spPr/>
      <dgm:t>
        <a:bodyPr/>
        <a:lstStyle/>
        <a:p>
          <a:endParaRPr lang="en-NZ"/>
        </a:p>
      </dgm:t>
    </dgm:pt>
    <dgm:pt modelId="{4C7D6EFF-8AFE-48A3-B29B-FF7A252EC498}" type="pres">
      <dgm:prSet presAssocID="{55AF74B3-E270-4425-BA06-821474CCD81D}" presName="Name0" presStyleCnt="0">
        <dgm:presLayoutVars>
          <dgm:dir/>
          <dgm:animLvl val="lvl"/>
          <dgm:resizeHandles val="exact"/>
        </dgm:presLayoutVars>
      </dgm:prSet>
      <dgm:spPr/>
    </dgm:pt>
    <dgm:pt modelId="{5D6D5CA4-71E7-4C2D-A295-44C9AB951E43}" type="pres">
      <dgm:prSet presAssocID="{88D6DA67-A955-460F-A00E-3FD9FC78473E}" presName="linNode" presStyleCnt="0"/>
      <dgm:spPr/>
    </dgm:pt>
    <dgm:pt modelId="{B1C22059-B84F-4E8C-966C-FCA6B2A28D33}" type="pres">
      <dgm:prSet presAssocID="{88D6DA67-A955-460F-A00E-3FD9FC78473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16348DDC-C008-445B-A23F-F1F2FAADFB67}" type="pres">
      <dgm:prSet presAssocID="{88D6DA67-A955-460F-A00E-3FD9FC78473E}" presName="descendantText" presStyleLbl="alignAccFollowNode1" presStyleIdx="0" presStyleCnt="3">
        <dgm:presLayoutVars>
          <dgm:bulletEnabled val="1"/>
        </dgm:presLayoutVars>
      </dgm:prSet>
      <dgm:spPr/>
    </dgm:pt>
    <dgm:pt modelId="{EB7716D6-C079-414B-8C01-662E0232B98D}" type="pres">
      <dgm:prSet presAssocID="{332F4C94-7CA2-4C45-8210-E8237A58E1E5}" presName="sp" presStyleCnt="0"/>
      <dgm:spPr/>
    </dgm:pt>
    <dgm:pt modelId="{7D274BA2-B8EF-4B2D-A40C-4BFA227D74E4}" type="pres">
      <dgm:prSet presAssocID="{BAF53F5F-246A-4800-97DD-0D2609A15B6C}" presName="linNode" presStyleCnt="0"/>
      <dgm:spPr/>
    </dgm:pt>
    <dgm:pt modelId="{40681911-2355-46B3-AEF8-FC27ED0B8AC9}" type="pres">
      <dgm:prSet presAssocID="{BAF53F5F-246A-4800-97DD-0D2609A15B6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C9E26597-CD71-48ED-8D2D-3513EE41A767}" type="pres">
      <dgm:prSet presAssocID="{BAF53F5F-246A-4800-97DD-0D2609A15B6C}" presName="descendantText" presStyleLbl="alignAccFollowNode1" presStyleIdx="1" presStyleCnt="3">
        <dgm:presLayoutVars>
          <dgm:bulletEnabled val="1"/>
        </dgm:presLayoutVars>
      </dgm:prSet>
      <dgm:spPr/>
    </dgm:pt>
    <dgm:pt modelId="{CB717C46-57D5-4BC0-8FEC-461787644511}" type="pres">
      <dgm:prSet presAssocID="{2DB2662C-3229-41E8-9D85-08B1879440CD}" presName="sp" presStyleCnt="0"/>
      <dgm:spPr/>
    </dgm:pt>
    <dgm:pt modelId="{FB38D1DB-3F10-4124-B8B9-CDA32C187AD3}" type="pres">
      <dgm:prSet presAssocID="{C11CDD06-4514-497B-88F0-9CFB66FA676F}" presName="linNode" presStyleCnt="0"/>
      <dgm:spPr/>
    </dgm:pt>
    <dgm:pt modelId="{6AE1A0E9-42C1-44BD-AEAD-F428C451036F}" type="pres">
      <dgm:prSet presAssocID="{C11CDD06-4514-497B-88F0-9CFB66FA676F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AD44D657-E588-4541-9CB9-43420DBCA0C2}" type="pres">
      <dgm:prSet presAssocID="{C11CDD06-4514-497B-88F0-9CFB66FA676F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58E57D10-F386-42AB-B1BA-4F8AB18C26B4}" type="presOf" srcId="{13154BA0-C9B8-47FA-952F-9D37BB5C23E1}" destId="{C9E26597-CD71-48ED-8D2D-3513EE41A767}" srcOrd="0" destOrd="0" presId="urn:microsoft.com/office/officeart/2005/8/layout/vList5"/>
    <dgm:cxn modelId="{32EB331F-6B6C-4491-8D05-9674ABECE7E2}" type="presOf" srcId="{C87658A1-928C-4C8B-8C26-1880269B381B}" destId="{AD44D657-E588-4541-9CB9-43420DBCA0C2}" srcOrd="0" destOrd="0" presId="urn:microsoft.com/office/officeart/2005/8/layout/vList5"/>
    <dgm:cxn modelId="{ECC1F026-37BF-4BD7-933A-78F755503E06}" srcId="{55AF74B3-E270-4425-BA06-821474CCD81D}" destId="{BAF53F5F-246A-4800-97DD-0D2609A15B6C}" srcOrd="1" destOrd="0" parTransId="{5CC8F113-9712-4CA7-9108-291CA8114E6F}" sibTransId="{2DB2662C-3229-41E8-9D85-08B1879440CD}"/>
    <dgm:cxn modelId="{0A179161-0403-43B3-B389-5DB86A37A643}" type="presOf" srcId="{C11CDD06-4514-497B-88F0-9CFB66FA676F}" destId="{6AE1A0E9-42C1-44BD-AEAD-F428C451036F}" srcOrd="0" destOrd="0" presId="urn:microsoft.com/office/officeart/2005/8/layout/vList5"/>
    <dgm:cxn modelId="{D4882262-7DA1-47A2-8854-593B97D68C08}" srcId="{55AF74B3-E270-4425-BA06-821474CCD81D}" destId="{C11CDD06-4514-497B-88F0-9CFB66FA676F}" srcOrd="2" destOrd="0" parTransId="{071063E1-4261-43BC-B43D-D49A33367309}" sibTransId="{10A490FB-A7D0-49CD-9741-2AC13657BB97}"/>
    <dgm:cxn modelId="{431D8D4A-8F9B-4534-9A01-C3D2D439C43F}" type="presOf" srcId="{55AF74B3-E270-4425-BA06-821474CCD81D}" destId="{4C7D6EFF-8AFE-48A3-B29B-FF7A252EC498}" srcOrd="0" destOrd="0" presId="urn:microsoft.com/office/officeart/2005/8/layout/vList5"/>
    <dgm:cxn modelId="{7D285051-ED08-41C5-AE9F-7AAE63201CA7}" type="presOf" srcId="{88D6DA67-A955-460F-A00E-3FD9FC78473E}" destId="{B1C22059-B84F-4E8C-966C-FCA6B2A28D33}" srcOrd="0" destOrd="0" presId="urn:microsoft.com/office/officeart/2005/8/layout/vList5"/>
    <dgm:cxn modelId="{EF1D9F79-39D2-418A-9123-B2DFC4223471}" type="presOf" srcId="{BAF53F5F-246A-4800-97DD-0D2609A15B6C}" destId="{40681911-2355-46B3-AEF8-FC27ED0B8AC9}" srcOrd="0" destOrd="0" presId="urn:microsoft.com/office/officeart/2005/8/layout/vList5"/>
    <dgm:cxn modelId="{D49CF6B5-C906-4A35-8F06-59D43EAA6F13}" type="presOf" srcId="{155A39C4-0259-4E3D-B934-AE553BAA2486}" destId="{16348DDC-C008-445B-A23F-F1F2FAADFB67}" srcOrd="0" destOrd="0" presId="urn:microsoft.com/office/officeart/2005/8/layout/vList5"/>
    <dgm:cxn modelId="{52A81EBE-E79C-4673-9D1A-471FF3595734}" srcId="{BAF53F5F-246A-4800-97DD-0D2609A15B6C}" destId="{13154BA0-C9B8-47FA-952F-9D37BB5C23E1}" srcOrd="0" destOrd="0" parTransId="{A30F8AE2-D5AE-4376-81F8-AB5D9EB33BB7}" sibTransId="{2E0594AB-65EF-4730-AAD5-9C9760D11C21}"/>
    <dgm:cxn modelId="{20D0CFC5-867F-4C83-A12E-F412444E7D7C}" srcId="{55AF74B3-E270-4425-BA06-821474CCD81D}" destId="{88D6DA67-A955-460F-A00E-3FD9FC78473E}" srcOrd="0" destOrd="0" parTransId="{14164899-C1E9-4386-BEAD-9BA7D2D3E79D}" sibTransId="{332F4C94-7CA2-4C45-8210-E8237A58E1E5}"/>
    <dgm:cxn modelId="{B6D1ADD1-2C30-4688-830B-84A822B998EB}" srcId="{C11CDD06-4514-497B-88F0-9CFB66FA676F}" destId="{C87658A1-928C-4C8B-8C26-1880269B381B}" srcOrd="0" destOrd="0" parTransId="{718D1EC9-5390-4F86-8D5D-AAFF5092A12B}" sibTransId="{45118C8E-C425-4C00-878A-EBC8B143B737}"/>
    <dgm:cxn modelId="{00A1F8FB-0363-4500-AC62-889D1A6A4ADF}" srcId="{88D6DA67-A955-460F-A00E-3FD9FC78473E}" destId="{155A39C4-0259-4E3D-B934-AE553BAA2486}" srcOrd="0" destOrd="0" parTransId="{1409B5AE-7CFF-48C9-B746-4E1C9959C0F6}" sibTransId="{2CA45586-828F-4F45-965B-3AAB99582019}"/>
    <dgm:cxn modelId="{5D9ABBF7-36EA-4D61-985C-D58720E0D912}" type="presParOf" srcId="{4C7D6EFF-8AFE-48A3-B29B-FF7A252EC498}" destId="{5D6D5CA4-71E7-4C2D-A295-44C9AB951E43}" srcOrd="0" destOrd="0" presId="urn:microsoft.com/office/officeart/2005/8/layout/vList5"/>
    <dgm:cxn modelId="{74E50433-9805-450B-A9FE-D67954208A5C}" type="presParOf" srcId="{5D6D5CA4-71E7-4C2D-A295-44C9AB951E43}" destId="{B1C22059-B84F-4E8C-966C-FCA6B2A28D33}" srcOrd="0" destOrd="0" presId="urn:microsoft.com/office/officeart/2005/8/layout/vList5"/>
    <dgm:cxn modelId="{B7B60536-1D37-4954-A475-AA9D922B0FF2}" type="presParOf" srcId="{5D6D5CA4-71E7-4C2D-A295-44C9AB951E43}" destId="{16348DDC-C008-445B-A23F-F1F2FAADFB67}" srcOrd="1" destOrd="0" presId="urn:microsoft.com/office/officeart/2005/8/layout/vList5"/>
    <dgm:cxn modelId="{017221C6-AA88-4BC3-B817-D152C44AB4BE}" type="presParOf" srcId="{4C7D6EFF-8AFE-48A3-B29B-FF7A252EC498}" destId="{EB7716D6-C079-414B-8C01-662E0232B98D}" srcOrd="1" destOrd="0" presId="urn:microsoft.com/office/officeart/2005/8/layout/vList5"/>
    <dgm:cxn modelId="{AE1FB24E-61E8-4C88-B865-82EBF304F5AD}" type="presParOf" srcId="{4C7D6EFF-8AFE-48A3-B29B-FF7A252EC498}" destId="{7D274BA2-B8EF-4B2D-A40C-4BFA227D74E4}" srcOrd="2" destOrd="0" presId="urn:microsoft.com/office/officeart/2005/8/layout/vList5"/>
    <dgm:cxn modelId="{A22028D5-0191-42E0-ACBA-CDFD6AE85DBC}" type="presParOf" srcId="{7D274BA2-B8EF-4B2D-A40C-4BFA227D74E4}" destId="{40681911-2355-46B3-AEF8-FC27ED0B8AC9}" srcOrd="0" destOrd="0" presId="urn:microsoft.com/office/officeart/2005/8/layout/vList5"/>
    <dgm:cxn modelId="{1C4E5BCC-851E-4C50-AAEC-A53425497C42}" type="presParOf" srcId="{7D274BA2-B8EF-4B2D-A40C-4BFA227D74E4}" destId="{C9E26597-CD71-48ED-8D2D-3513EE41A767}" srcOrd="1" destOrd="0" presId="urn:microsoft.com/office/officeart/2005/8/layout/vList5"/>
    <dgm:cxn modelId="{B364C20D-B2D1-40A3-B520-3291F06CD772}" type="presParOf" srcId="{4C7D6EFF-8AFE-48A3-B29B-FF7A252EC498}" destId="{CB717C46-57D5-4BC0-8FEC-461787644511}" srcOrd="3" destOrd="0" presId="urn:microsoft.com/office/officeart/2005/8/layout/vList5"/>
    <dgm:cxn modelId="{96B3998B-DDD4-46E9-BE0F-3019826CF626}" type="presParOf" srcId="{4C7D6EFF-8AFE-48A3-B29B-FF7A252EC498}" destId="{FB38D1DB-3F10-4124-B8B9-CDA32C187AD3}" srcOrd="4" destOrd="0" presId="urn:microsoft.com/office/officeart/2005/8/layout/vList5"/>
    <dgm:cxn modelId="{ECAF3B4C-3DDF-4133-855A-89B6599B07CE}" type="presParOf" srcId="{FB38D1DB-3F10-4124-B8B9-CDA32C187AD3}" destId="{6AE1A0E9-42C1-44BD-AEAD-F428C451036F}" srcOrd="0" destOrd="0" presId="urn:microsoft.com/office/officeart/2005/8/layout/vList5"/>
    <dgm:cxn modelId="{C3968F6F-E3D6-4477-859A-54F019C4FCA0}" type="presParOf" srcId="{FB38D1DB-3F10-4124-B8B9-CDA32C187AD3}" destId="{AD44D657-E588-4541-9CB9-43420DBCA0C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83F37E22-D7A0-43E4-9338-46D067B1D926}" type="doc">
      <dgm:prSet loTypeId="urn:microsoft.com/office/officeart/2005/8/layout/hProcess11" loCatId="process" qsTypeId="urn:microsoft.com/office/officeart/2005/8/quickstyle/simple5" qsCatId="simple" csTypeId="urn:microsoft.com/office/officeart/2005/8/colors/accent1_3" csCatId="accent1" phldr="1"/>
      <dgm:spPr/>
      <dgm:t>
        <a:bodyPr/>
        <a:lstStyle/>
        <a:p>
          <a:endParaRPr lang="en-NZ"/>
        </a:p>
      </dgm:t>
    </dgm:pt>
    <dgm:pt modelId="{9C3C0801-EDE0-4A8F-8093-8810648CF5AA}">
      <dgm:prSet/>
      <dgm:spPr/>
      <dgm:t>
        <a:bodyPr/>
        <a:lstStyle/>
        <a:p>
          <a:r>
            <a:rPr lang="en-NZ" dirty="0"/>
            <a:t>Banks and governments were lending each other money, often based on property elsewhere also.</a:t>
          </a:r>
        </a:p>
      </dgm:t>
    </dgm:pt>
    <dgm:pt modelId="{D2695AFD-250D-4047-90F4-4E5D4FD147BB}" type="parTrans" cxnId="{E3330035-E2ED-4D28-A937-D1B20ADAC086}">
      <dgm:prSet/>
      <dgm:spPr/>
      <dgm:t>
        <a:bodyPr/>
        <a:lstStyle/>
        <a:p>
          <a:endParaRPr lang="en-NZ"/>
        </a:p>
      </dgm:t>
    </dgm:pt>
    <dgm:pt modelId="{FA05CA25-811A-4B35-AA62-80355E6DEAB3}" type="sibTrans" cxnId="{E3330035-E2ED-4D28-A937-D1B20ADAC086}">
      <dgm:prSet/>
      <dgm:spPr/>
      <dgm:t>
        <a:bodyPr/>
        <a:lstStyle/>
        <a:p>
          <a:endParaRPr lang="en-NZ"/>
        </a:p>
      </dgm:t>
    </dgm:pt>
    <dgm:pt modelId="{57E59C73-294F-4803-BBF0-E045D1244A0C}">
      <dgm:prSet/>
      <dgm:spPr/>
      <dgm:t>
        <a:bodyPr/>
        <a:lstStyle/>
        <a:p>
          <a:r>
            <a:rPr lang="en-NZ"/>
            <a:t>Europe faced a dilemma by early 2010 with Greece’s debt levels</a:t>
          </a:r>
        </a:p>
      </dgm:t>
    </dgm:pt>
    <dgm:pt modelId="{1B75AB63-609C-4374-9192-6FCDDD4EC325}" type="parTrans" cxnId="{29091D00-EDE0-4E7F-8237-ED5929E3503C}">
      <dgm:prSet/>
      <dgm:spPr/>
      <dgm:t>
        <a:bodyPr/>
        <a:lstStyle/>
        <a:p>
          <a:endParaRPr lang="en-NZ"/>
        </a:p>
      </dgm:t>
    </dgm:pt>
    <dgm:pt modelId="{906E8400-FC67-4994-87BF-584B96B64AD6}" type="sibTrans" cxnId="{29091D00-EDE0-4E7F-8237-ED5929E3503C}">
      <dgm:prSet/>
      <dgm:spPr/>
      <dgm:t>
        <a:bodyPr/>
        <a:lstStyle/>
        <a:p>
          <a:endParaRPr lang="en-NZ"/>
        </a:p>
      </dgm:t>
    </dgm:pt>
    <dgm:pt modelId="{C23382DD-0E6A-48C1-8136-E9E2B2A113E5}">
      <dgm:prSet/>
      <dgm:spPr/>
      <dgm:t>
        <a:bodyPr/>
        <a:lstStyle/>
        <a:p>
          <a:r>
            <a:rPr lang="en-NZ"/>
            <a:t>Greece owed Portuguese Banks $10bn</a:t>
          </a:r>
        </a:p>
      </dgm:t>
    </dgm:pt>
    <dgm:pt modelId="{4C0F3357-9164-4856-A632-D0577D28FDEB}" type="parTrans" cxnId="{C35666C4-9476-4F75-89D9-8C2500D048A8}">
      <dgm:prSet/>
      <dgm:spPr/>
      <dgm:t>
        <a:bodyPr/>
        <a:lstStyle/>
        <a:p>
          <a:endParaRPr lang="en-NZ"/>
        </a:p>
      </dgm:t>
    </dgm:pt>
    <dgm:pt modelId="{F3D2D738-9D4A-43CC-A6B8-DBE75210C92A}" type="sibTrans" cxnId="{C35666C4-9476-4F75-89D9-8C2500D048A8}">
      <dgm:prSet/>
      <dgm:spPr/>
      <dgm:t>
        <a:bodyPr/>
        <a:lstStyle/>
        <a:p>
          <a:endParaRPr lang="en-NZ"/>
        </a:p>
      </dgm:t>
    </dgm:pt>
    <dgm:pt modelId="{1F65B7F8-7844-45B4-8BA3-95282D7E885B}">
      <dgm:prSet/>
      <dgm:spPr/>
      <dgm:t>
        <a:bodyPr/>
        <a:lstStyle/>
        <a:p>
          <a:r>
            <a:rPr lang="en-NZ" dirty="0"/>
            <a:t>Portugal owed Spanish Banks $86bn</a:t>
          </a:r>
        </a:p>
      </dgm:t>
    </dgm:pt>
    <dgm:pt modelId="{429B5B74-E00C-40A9-9219-15A13794BDE5}" type="parTrans" cxnId="{6577E6D1-2EA8-4F3E-A1BD-B9733A1CF9B0}">
      <dgm:prSet/>
      <dgm:spPr/>
      <dgm:t>
        <a:bodyPr/>
        <a:lstStyle/>
        <a:p>
          <a:endParaRPr lang="en-NZ"/>
        </a:p>
      </dgm:t>
    </dgm:pt>
    <dgm:pt modelId="{D85B5718-7A32-4253-9FA4-B1FC893CEF52}" type="sibTrans" cxnId="{6577E6D1-2EA8-4F3E-A1BD-B9733A1CF9B0}">
      <dgm:prSet/>
      <dgm:spPr/>
      <dgm:t>
        <a:bodyPr/>
        <a:lstStyle/>
        <a:p>
          <a:endParaRPr lang="en-NZ"/>
        </a:p>
      </dgm:t>
    </dgm:pt>
    <dgm:pt modelId="{0A494F40-B185-4050-9BA5-0D6AB5A95ABA}">
      <dgm:prSet/>
      <dgm:spPr/>
      <dgm:t>
        <a:bodyPr/>
        <a:lstStyle/>
        <a:p>
          <a:r>
            <a:rPr lang="en-NZ"/>
            <a:t>Spain owes German Banks $238bn and French Banks $220bn.</a:t>
          </a:r>
        </a:p>
      </dgm:t>
    </dgm:pt>
    <dgm:pt modelId="{A38E411A-077E-4FA1-9195-7C54DF887341}" type="parTrans" cxnId="{BAF20982-A189-4C9A-94E1-F9DB00979A48}">
      <dgm:prSet/>
      <dgm:spPr/>
      <dgm:t>
        <a:bodyPr/>
        <a:lstStyle/>
        <a:p>
          <a:endParaRPr lang="en-NZ"/>
        </a:p>
      </dgm:t>
    </dgm:pt>
    <dgm:pt modelId="{ED1A642A-44A9-4D29-AD84-2F17A45735A9}" type="sibTrans" cxnId="{BAF20982-A189-4C9A-94E1-F9DB00979A48}">
      <dgm:prSet/>
      <dgm:spPr/>
      <dgm:t>
        <a:bodyPr/>
        <a:lstStyle/>
        <a:p>
          <a:endParaRPr lang="en-NZ"/>
        </a:p>
      </dgm:t>
    </dgm:pt>
    <dgm:pt modelId="{69F63C65-0745-4D18-84EC-5AD9CF7FD739}">
      <dgm:prSet/>
      <dgm:spPr/>
      <dgm:t>
        <a:bodyPr/>
        <a:lstStyle/>
        <a:p>
          <a:r>
            <a:rPr lang="en-NZ"/>
            <a:t>Spain owes Italy $31bn which owes France $511bn. </a:t>
          </a:r>
        </a:p>
      </dgm:t>
    </dgm:pt>
    <dgm:pt modelId="{A0A116C8-7DA3-4616-B5EB-886B1FE69BD6}" type="parTrans" cxnId="{9337C3AF-33E7-4FBE-9F32-75C5708C1420}">
      <dgm:prSet/>
      <dgm:spPr/>
      <dgm:t>
        <a:bodyPr/>
        <a:lstStyle/>
        <a:p>
          <a:endParaRPr lang="en-NZ"/>
        </a:p>
      </dgm:t>
    </dgm:pt>
    <dgm:pt modelId="{1509A8CF-1DFE-45F7-A654-5D0DBE412D85}" type="sibTrans" cxnId="{9337C3AF-33E7-4FBE-9F32-75C5708C1420}">
      <dgm:prSet/>
      <dgm:spPr/>
      <dgm:t>
        <a:bodyPr/>
        <a:lstStyle/>
        <a:p>
          <a:endParaRPr lang="en-NZ"/>
        </a:p>
      </dgm:t>
    </dgm:pt>
    <dgm:pt modelId="{B4052A36-558F-49DC-979A-9A7C5DB9F62F}">
      <dgm:prSet/>
      <dgm:spPr/>
      <dgm:t>
        <a:bodyPr/>
        <a:lstStyle/>
        <a:p>
          <a:r>
            <a:rPr lang="en-NZ"/>
            <a:t>If Greece isn’t rescued, the financial system collapses.</a:t>
          </a:r>
        </a:p>
      </dgm:t>
    </dgm:pt>
    <dgm:pt modelId="{6A5BB70E-BB5A-4CBB-9849-BEE5D6D2923A}" type="parTrans" cxnId="{1B38DC63-28DE-48CA-A364-C9ED539DF4C9}">
      <dgm:prSet/>
      <dgm:spPr/>
      <dgm:t>
        <a:bodyPr/>
        <a:lstStyle/>
        <a:p>
          <a:endParaRPr lang="en-NZ"/>
        </a:p>
      </dgm:t>
    </dgm:pt>
    <dgm:pt modelId="{0B33090B-2E31-4014-90A5-59B7A53CD0AA}" type="sibTrans" cxnId="{1B38DC63-28DE-48CA-A364-C9ED539DF4C9}">
      <dgm:prSet/>
      <dgm:spPr/>
      <dgm:t>
        <a:bodyPr/>
        <a:lstStyle/>
        <a:p>
          <a:endParaRPr lang="en-NZ"/>
        </a:p>
      </dgm:t>
    </dgm:pt>
    <dgm:pt modelId="{A4C42C1A-7F2D-46BA-96FD-34332E4600A6}" type="pres">
      <dgm:prSet presAssocID="{83F37E22-D7A0-43E4-9338-46D067B1D926}" presName="Name0" presStyleCnt="0">
        <dgm:presLayoutVars>
          <dgm:dir/>
          <dgm:resizeHandles val="exact"/>
        </dgm:presLayoutVars>
      </dgm:prSet>
      <dgm:spPr/>
    </dgm:pt>
    <dgm:pt modelId="{AAB16BB9-79C1-45EA-98EB-0E10B8FA8746}" type="pres">
      <dgm:prSet presAssocID="{83F37E22-D7A0-43E4-9338-46D067B1D926}" presName="arrow" presStyleLbl="bgShp" presStyleIdx="0" presStyleCnt="1"/>
      <dgm:spPr/>
    </dgm:pt>
    <dgm:pt modelId="{17FE7F2D-12E6-48FE-9AF8-54BF57BBE236}" type="pres">
      <dgm:prSet presAssocID="{83F37E22-D7A0-43E4-9338-46D067B1D926}" presName="points" presStyleCnt="0"/>
      <dgm:spPr/>
    </dgm:pt>
    <dgm:pt modelId="{5C28A447-761E-40FF-8F5E-459AE9E3BCFB}" type="pres">
      <dgm:prSet presAssocID="{9C3C0801-EDE0-4A8F-8093-8810648CF5AA}" presName="compositeA" presStyleCnt="0"/>
      <dgm:spPr/>
    </dgm:pt>
    <dgm:pt modelId="{E2AFACAE-8C20-492A-AE7F-FD36C918D7A8}" type="pres">
      <dgm:prSet presAssocID="{9C3C0801-EDE0-4A8F-8093-8810648CF5AA}" presName="textA" presStyleLbl="revTx" presStyleIdx="0" presStyleCnt="7">
        <dgm:presLayoutVars>
          <dgm:bulletEnabled val="1"/>
        </dgm:presLayoutVars>
      </dgm:prSet>
      <dgm:spPr/>
    </dgm:pt>
    <dgm:pt modelId="{E705C97F-1CBC-4F19-86EA-0AFD141813EC}" type="pres">
      <dgm:prSet presAssocID="{9C3C0801-EDE0-4A8F-8093-8810648CF5AA}" presName="circleA" presStyleLbl="node1" presStyleIdx="0" presStyleCnt="7"/>
      <dgm:spPr/>
    </dgm:pt>
    <dgm:pt modelId="{3036705E-BA0C-4D4E-9599-CC3C2EE54991}" type="pres">
      <dgm:prSet presAssocID="{9C3C0801-EDE0-4A8F-8093-8810648CF5AA}" presName="spaceA" presStyleCnt="0"/>
      <dgm:spPr/>
    </dgm:pt>
    <dgm:pt modelId="{3FF0C443-E5BC-48B4-9F0A-D20F27B866B4}" type="pres">
      <dgm:prSet presAssocID="{FA05CA25-811A-4B35-AA62-80355E6DEAB3}" presName="space" presStyleCnt="0"/>
      <dgm:spPr/>
    </dgm:pt>
    <dgm:pt modelId="{039FA9A8-3848-4477-9764-82896C88589F}" type="pres">
      <dgm:prSet presAssocID="{57E59C73-294F-4803-BBF0-E045D1244A0C}" presName="compositeB" presStyleCnt="0"/>
      <dgm:spPr/>
    </dgm:pt>
    <dgm:pt modelId="{2744D47F-A254-4E87-B30B-1927C9074728}" type="pres">
      <dgm:prSet presAssocID="{57E59C73-294F-4803-BBF0-E045D1244A0C}" presName="textB" presStyleLbl="revTx" presStyleIdx="1" presStyleCnt="7">
        <dgm:presLayoutVars>
          <dgm:bulletEnabled val="1"/>
        </dgm:presLayoutVars>
      </dgm:prSet>
      <dgm:spPr/>
    </dgm:pt>
    <dgm:pt modelId="{258AFCF7-6016-4DD7-80F7-3CE5FF64CF8E}" type="pres">
      <dgm:prSet presAssocID="{57E59C73-294F-4803-BBF0-E045D1244A0C}" presName="circleB" presStyleLbl="node1" presStyleIdx="1" presStyleCnt="7"/>
      <dgm:spPr/>
    </dgm:pt>
    <dgm:pt modelId="{78F8D728-C2DD-4BE6-BFF6-C7C5D3F22C06}" type="pres">
      <dgm:prSet presAssocID="{57E59C73-294F-4803-BBF0-E045D1244A0C}" presName="spaceB" presStyleCnt="0"/>
      <dgm:spPr/>
    </dgm:pt>
    <dgm:pt modelId="{CEBBEAB6-DA01-4CE8-8EDD-2120B6EF52AC}" type="pres">
      <dgm:prSet presAssocID="{906E8400-FC67-4994-87BF-584B96B64AD6}" presName="space" presStyleCnt="0"/>
      <dgm:spPr/>
    </dgm:pt>
    <dgm:pt modelId="{BF9A4EAB-F633-434C-BCB6-EE51F173889B}" type="pres">
      <dgm:prSet presAssocID="{C23382DD-0E6A-48C1-8136-E9E2B2A113E5}" presName="compositeA" presStyleCnt="0"/>
      <dgm:spPr/>
    </dgm:pt>
    <dgm:pt modelId="{8ECCAB95-9247-44EC-8075-AF6F9D57F4E6}" type="pres">
      <dgm:prSet presAssocID="{C23382DD-0E6A-48C1-8136-E9E2B2A113E5}" presName="textA" presStyleLbl="revTx" presStyleIdx="2" presStyleCnt="7">
        <dgm:presLayoutVars>
          <dgm:bulletEnabled val="1"/>
        </dgm:presLayoutVars>
      </dgm:prSet>
      <dgm:spPr/>
    </dgm:pt>
    <dgm:pt modelId="{4D2A6FAE-9B1D-48E8-9282-B83A33CF5A72}" type="pres">
      <dgm:prSet presAssocID="{C23382DD-0E6A-48C1-8136-E9E2B2A113E5}" presName="circleA" presStyleLbl="node1" presStyleIdx="2" presStyleCnt="7"/>
      <dgm:spPr/>
    </dgm:pt>
    <dgm:pt modelId="{28F0EFB7-375E-4CD7-9DF8-594CABF6E902}" type="pres">
      <dgm:prSet presAssocID="{C23382DD-0E6A-48C1-8136-E9E2B2A113E5}" presName="spaceA" presStyleCnt="0"/>
      <dgm:spPr/>
    </dgm:pt>
    <dgm:pt modelId="{A1B5039F-75B8-4597-8942-61C2925BFAE1}" type="pres">
      <dgm:prSet presAssocID="{F3D2D738-9D4A-43CC-A6B8-DBE75210C92A}" presName="space" presStyleCnt="0"/>
      <dgm:spPr/>
    </dgm:pt>
    <dgm:pt modelId="{0C8416A1-8359-42C3-BFB8-1077741B229A}" type="pres">
      <dgm:prSet presAssocID="{1F65B7F8-7844-45B4-8BA3-95282D7E885B}" presName="compositeB" presStyleCnt="0"/>
      <dgm:spPr/>
    </dgm:pt>
    <dgm:pt modelId="{3CD89C4E-222E-4A73-AD77-1FA722C1FCDA}" type="pres">
      <dgm:prSet presAssocID="{1F65B7F8-7844-45B4-8BA3-95282D7E885B}" presName="textB" presStyleLbl="revTx" presStyleIdx="3" presStyleCnt="7">
        <dgm:presLayoutVars>
          <dgm:bulletEnabled val="1"/>
        </dgm:presLayoutVars>
      </dgm:prSet>
      <dgm:spPr/>
    </dgm:pt>
    <dgm:pt modelId="{3664873E-3830-4FA5-BD53-F41F637ED456}" type="pres">
      <dgm:prSet presAssocID="{1F65B7F8-7844-45B4-8BA3-95282D7E885B}" presName="circleB" presStyleLbl="node1" presStyleIdx="3" presStyleCnt="7"/>
      <dgm:spPr/>
    </dgm:pt>
    <dgm:pt modelId="{53D4477F-AC6D-4211-B9A5-6C22D521F4E0}" type="pres">
      <dgm:prSet presAssocID="{1F65B7F8-7844-45B4-8BA3-95282D7E885B}" presName="spaceB" presStyleCnt="0"/>
      <dgm:spPr/>
    </dgm:pt>
    <dgm:pt modelId="{C1D25DBD-89C1-4F11-BD7D-FF58757DF702}" type="pres">
      <dgm:prSet presAssocID="{D85B5718-7A32-4253-9FA4-B1FC893CEF52}" presName="space" presStyleCnt="0"/>
      <dgm:spPr/>
    </dgm:pt>
    <dgm:pt modelId="{8ABF2CEB-A7F2-4A7F-9A70-A65B8A0FB75E}" type="pres">
      <dgm:prSet presAssocID="{0A494F40-B185-4050-9BA5-0D6AB5A95ABA}" presName="compositeA" presStyleCnt="0"/>
      <dgm:spPr/>
    </dgm:pt>
    <dgm:pt modelId="{43D776A8-779B-40D8-9DEF-907443CE3108}" type="pres">
      <dgm:prSet presAssocID="{0A494F40-B185-4050-9BA5-0D6AB5A95ABA}" presName="textA" presStyleLbl="revTx" presStyleIdx="4" presStyleCnt="7">
        <dgm:presLayoutVars>
          <dgm:bulletEnabled val="1"/>
        </dgm:presLayoutVars>
      </dgm:prSet>
      <dgm:spPr/>
    </dgm:pt>
    <dgm:pt modelId="{971B9CC8-68BF-47B3-901B-572717F11C97}" type="pres">
      <dgm:prSet presAssocID="{0A494F40-B185-4050-9BA5-0D6AB5A95ABA}" presName="circleA" presStyleLbl="node1" presStyleIdx="4" presStyleCnt="7"/>
      <dgm:spPr/>
    </dgm:pt>
    <dgm:pt modelId="{E51B56F0-C938-496E-B3AB-B15182E22B4C}" type="pres">
      <dgm:prSet presAssocID="{0A494F40-B185-4050-9BA5-0D6AB5A95ABA}" presName="spaceA" presStyleCnt="0"/>
      <dgm:spPr/>
    </dgm:pt>
    <dgm:pt modelId="{E676D43D-9CEB-4B2D-BB4F-FB65BC77AB21}" type="pres">
      <dgm:prSet presAssocID="{ED1A642A-44A9-4D29-AD84-2F17A45735A9}" presName="space" presStyleCnt="0"/>
      <dgm:spPr/>
    </dgm:pt>
    <dgm:pt modelId="{1B6C8194-5534-4916-9E5F-6CFCC604B7EF}" type="pres">
      <dgm:prSet presAssocID="{69F63C65-0745-4D18-84EC-5AD9CF7FD739}" presName="compositeB" presStyleCnt="0"/>
      <dgm:spPr/>
    </dgm:pt>
    <dgm:pt modelId="{D1891AC2-C4EE-4A6A-8C59-DAD372C89E7B}" type="pres">
      <dgm:prSet presAssocID="{69F63C65-0745-4D18-84EC-5AD9CF7FD739}" presName="textB" presStyleLbl="revTx" presStyleIdx="5" presStyleCnt="7">
        <dgm:presLayoutVars>
          <dgm:bulletEnabled val="1"/>
        </dgm:presLayoutVars>
      </dgm:prSet>
      <dgm:spPr/>
    </dgm:pt>
    <dgm:pt modelId="{13E7B31E-AE6E-493E-8E69-B10FD3E926EB}" type="pres">
      <dgm:prSet presAssocID="{69F63C65-0745-4D18-84EC-5AD9CF7FD739}" presName="circleB" presStyleLbl="node1" presStyleIdx="5" presStyleCnt="7"/>
      <dgm:spPr/>
    </dgm:pt>
    <dgm:pt modelId="{10378973-EC99-4A94-B3C7-E805495F9307}" type="pres">
      <dgm:prSet presAssocID="{69F63C65-0745-4D18-84EC-5AD9CF7FD739}" presName="spaceB" presStyleCnt="0"/>
      <dgm:spPr/>
    </dgm:pt>
    <dgm:pt modelId="{5D00EF8B-3607-4A4F-9F5D-885030674E7E}" type="pres">
      <dgm:prSet presAssocID="{1509A8CF-1DFE-45F7-A654-5D0DBE412D85}" presName="space" presStyleCnt="0"/>
      <dgm:spPr/>
    </dgm:pt>
    <dgm:pt modelId="{2796C534-2C4A-4CB9-98DF-F440EF1A3477}" type="pres">
      <dgm:prSet presAssocID="{B4052A36-558F-49DC-979A-9A7C5DB9F62F}" presName="compositeA" presStyleCnt="0"/>
      <dgm:spPr/>
    </dgm:pt>
    <dgm:pt modelId="{ACE51CDD-C3CC-4143-B9AE-25C14A58226F}" type="pres">
      <dgm:prSet presAssocID="{B4052A36-558F-49DC-979A-9A7C5DB9F62F}" presName="textA" presStyleLbl="revTx" presStyleIdx="6" presStyleCnt="7">
        <dgm:presLayoutVars>
          <dgm:bulletEnabled val="1"/>
        </dgm:presLayoutVars>
      </dgm:prSet>
      <dgm:spPr/>
    </dgm:pt>
    <dgm:pt modelId="{8861C2DA-EC91-4708-A3A2-A15BD24BEFCB}" type="pres">
      <dgm:prSet presAssocID="{B4052A36-558F-49DC-979A-9A7C5DB9F62F}" presName="circleA" presStyleLbl="node1" presStyleIdx="6" presStyleCnt="7"/>
      <dgm:spPr/>
    </dgm:pt>
    <dgm:pt modelId="{F5541178-9FEB-443F-A1AD-927AE29B1E2D}" type="pres">
      <dgm:prSet presAssocID="{B4052A36-558F-49DC-979A-9A7C5DB9F62F}" presName="spaceA" presStyleCnt="0"/>
      <dgm:spPr/>
    </dgm:pt>
  </dgm:ptLst>
  <dgm:cxnLst>
    <dgm:cxn modelId="{29091D00-EDE0-4E7F-8237-ED5929E3503C}" srcId="{83F37E22-D7A0-43E4-9338-46D067B1D926}" destId="{57E59C73-294F-4803-BBF0-E045D1244A0C}" srcOrd="1" destOrd="0" parTransId="{1B75AB63-609C-4374-9192-6FCDDD4EC325}" sibTransId="{906E8400-FC67-4994-87BF-584B96B64AD6}"/>
    <dgm:cxn modelId="{790CEA07-11EE-491F-8F5B-8786A6295CD7}" type="presOf" srcId="{69F63C65-0745-4D18-84EC-5AD9CF7FD739}" destId="{D1891AC2-C4EE-4A6A-8C59-DAD372C89E7B}" srcOrd="0" destOrd="0" presId="urn:microsoft.com/office/officeart/2005/8/layout/hProcess11"/>
    <dgm:cxn modelId="{9347C21C-17F8-41CA-BB6A-661FF725B1FB}" type="presOf" srcId="{0A494F40-B185-4050-9BA5-0D6AB5A95ABA}" destId="{43D776A8-779B-40D8-9DEF-907443CE3108}" srcOrd="0" destOrd="0" presId="urn:microsoft.com/office/officeart/2005/8/layout/hProcess11"/>
    <dgm:cxn modelId="{C24C762B-E8F8-4794-8C83-639D7864160F}" type="presOf" srcId="{83F37E22-D7A0-43E4-9338-46D067B1D926}" destId="{A4C42C1A-7F2D-46BA-96FD-34332E4600A6}" srcOrd="0" destOrd="0" presId="urn:microsoft.com/office/officeart/2005/8/layout/hProcess11"/>
    <dgm:cxn modelId="{E3330035-E2ED-4D28-A937-D1B20ADAC086}" srcId="{83F37E22-D7A0-43E4-9338-46D067B1D926}" destId="{9C3C0801-EDE0-4A8F-8093-8810648CF5AA}" srcOrd="0" destOrd="0" parTransId="{D2695AFD-250D-4047-90F4-4E5D4FD147BB}" sibTransId="{FA05CA25-811A-4B35-AA62-80355E6DEAB3}"/>
    <dgm:cxn modelId="{1B38DC63-28DE-48CA-A364-C9ED539DF4C9}" srcId="{83F37E22-D7A0-43E4-9338-46D067B1D926}" destId="{B4052A36-558F-49DC-979A-9A7C5DB9F62F}" srcOrd="6" destOrd="0" parTransId="{6A5BB70E-BB5A-4CBB-9849-BEE5D6D2923A}" sibTransId="{0B33090B-2E31-4014-90A5-59B7A53CD0AA}"/>
    <dgm:cxn modelId="{BAF20982-A189-4C9A-94E1-F9DB00979A48}" srcId="{83F37E22-D7A0-43E4-9338-46D067B1D926}" destId="{0A494F40-B185-4050-9BA5-0D6AB5A95ABA}" srcOrd="4" destOrd="0" parTransId="{A38E411A-077E-4FA1-9195-7C54DF887341}" sibTransId="{ED1A642A-44A9-4D29-AD84-2F17A45735A9}"/>
    <dgm:cxn modelId="{E3CE408B-FBD5-4DF5-BB95-8C5BD92672EE}" type="presOf" srcId="{9C3C0801-EDE0-4A8F-8093-8810648CF5AA}" destId="{E2AFACAE-8C20-492A-AE7F-FD36C918D7A8}" srcOrd="0" destOrd="0" presId="urn:microsoft.com/office/officeart/2005/8/layout/hProcess11"/>
    <dgm:cxn modelId="{ECA6AD9D-92B0-4AA3-8036-38BB31AA36E7}" type="presOf" srcId="{1F65B7F8-7844-45B4-8BA3-95282D7E885B}" destId="{3CD89C4E-222E-4A73-AD77-1FA722C1FCDA}" srcOrd="0" destOrd="0" presId="urn:microsoft.com/office/officeart/2005/8/layout/hProcess11"/>
    <dgm:cxn modelId="{DBA017AB-113B-4938-8FA4-32719A830F5F}" type="presOf" srcId="{57E59C73-294F-4803-BBF0-E045D1244A0C}" destId="{2744D47F-A254-4E87-B30B-1927C9074728}" srcOrd="0" destOrd="0" presId="urn:microsoft.com/office/officeart/2005/8/layout/hProcess11"/>
    <dgm:cxn modelId="{9337C3AF-33E7-4FBE-9F32-75C5708C1420}" srcId="{83F37E22-D7A0-43E4-9338-46D067B1D926}" destId="{69F63C65-0745-4D18-84EC-5AD9CF7FD739}" srcOrd="5" destOrd="0" parTransId="{A0A116C8-7DA3-4616-B5EB-886B1FE69BD6}" sibTransId="{1509A8CF-1DFE-45F7-A654-5D0DBE412D85}"/>
    <dgm:cxn modelId="{FB8E8AB7-45E8-428D-A1C4-3B4B42AB4795}" type="presOf" srcId="{B4052A36-558F-49DC-979A-9A7C5DB9F62F}" destId="{ACE51CDD-C3CC-4143-B9AE-25C14A58226F}" srcOrd="0" destOrd="0" presId="urn:microsoft.com/office/officeart/2005/8/layout/hProcess11"/>
    <dgm:cxn modelId="{C35666C4-9476-4F75-89D9-8C2500D048A8}" srcId="{83F37E22-D7A0-43E4-9338-46D067B1D926}" destId="{C23382DD-0E6A-48C1-8136-E9E2B2A113E5}" srcOrd="2" destOrd="0" parTransId="{4C0F3357-9164-4856-A632-D0577D28FDEB}" sibTransId="{F3D2D738-9D4A-43CC-A6B8-DBE75210C92A}"/>
    <dgm:cxn modelId="{6577E6D1-2EA8-4F3E-A1BD-B9733A1CF9B0}" srcId="{83F37E22-D7A0-43E4-9338-46D067B1D926}" destId="{1F65B7F8-7844-45B4-8BA3-95282D7E885B}" srcOrd="3" destOrd="0" parTransId="{429B5B74-E00C-40A9-9219-15A13794BDE5}" sibTransId="{D85B5718-7A32-4253-9FA4-B1FC893CEF52}"/>
    <dgm:cxn modelId="{06652BEC-2446-45B3-AAF4-7BB1C78C42DC}" type="presOf" srcId="{C23382DD-0E6A-48C1-8136-E9E2B2A113E5}" destId="{8ECCAB95-9247-44EC-8075-AF6F9D57F4E6}" srcOrd="0" destOrd="0" presId="urn:microsoft.com/office/officeart/2005/8/layout/hProcess11"/>
    <dgm:cxn modelId="{A8C7725B-F53F-4D64-BAB6-39642C4A614A}" type="presParOf" srcId="{A4C42C1A-7F2D-46BA-96FD-34332E4600A6}" destId="{AAB16BB9-79C1-45EA-98EB-0E10B8FA8746}" srcOrd="0" destOrd="0" presId="urn:microsoft.com/office/officeart/2005/8/layout/hProcess11"/>
    <dgm:cxn modelId="{726F8A97-F511-40ED-9632-886789C210F6}" type="presParOf" srcId="{A4C42C1A-7F2D-46BA-96FD-34332E4600A6}" destId="{17FE7F2D-12E6-48FE-9AF8-54BF57BBE236}" srcOrd="1" destOrd="0" presId="urn:microsoft.com/office/officeart/2005/8/layout/hProcess11"/>
    <dgm:cxn modelId="{45B3CC70-F97B-481C-AC83-D6D612634DA1}" type="presParOf" srcId="{17FE7F2D-12E6-48FE-9AF8-54BF57BBE236}" destId="{5C28A447-761E-40FF-8F5E-459AE9E3BCFB}" srcOrd="0" destOrd="0" presId="urn:microsoft.com/office/officeart/2005/8/layout/hProcess11"/>
    <dgm:cxn modelId="{2A89B39B-97B1-492F-83CE-8F09DA0B975A}" type="presParOf" srcId="{5C28A447-761E-40FF-8F5E-459AE9E3BCFB}" destId="{E2AFACAE-8C20-492A-AE7F-FD36C918D7A8}" srcOrd="0" destOrd="0" presId="urn:microsoft.com/office/officeart/2005/8/layout/hProcess11"/>
    <dgm:cxn modelId="{232E917F-6562-4882-89AD-54C98E266B20}" type="presParOf" srcId="{5C28A447-761E-40FF-8F5E-459AE9E3BCFB}" destId="{E705C97F-1CBC-4F19-86EA-0AFD141813EC}" srcOrd="1" destOrd="0" presId="urn:microsoft.com/office/officeart/2005/8/layout/hProcess11"/>
    <dgm:cxn modelId="{927C6BC2-FB83-4FEF-AAC3-50D341159557}" type="presParOf" srcId="{5C28A447-761E-40FF-8F5E-459AE9E3BCFB}" destId="{3036705E-BA0C-4D4E-9599-CC3C2EE54991}" srcOrd="2" destOrd="0" presId="urn:microsoft.com/office/officeart/2005/8/layout/hProcess11"/>
    <dgm:cxn modelId="{996A665C-68CA-4B07-9074-5348C05162D5}" type="presParOf" srcId="{17FE7F2D-12E6-48FE-9AF8-54BF57BBE236}" destId="{3FF0C443-E5BC-48B4-9F0A-D20F27B866B4}" srcOrd="1" destOrd="0" presId="urn:microsoft.com/office/officeart/2005/8/layout/hProcess11"/>
    <dgm:cxn modelId="{1F977E4B-8EE0-43AE-88E7-ECB11019E14E}" type="presParOf" srcId="{17FE7F2D-12E6-48FE-9AF8-54BF57BBE236}" destId="{039FA9A8-3848-4477-9764-82896C88589F}" srcOrd="2" destOrd="0" presId="urn:microsoft.com/office/officeart/2005/8/layout/hProcess11"/>
    <dgm:cxn modelId="{C9FEB926-0475-4AF1-816C-A7D151BD8557}" type="presParOf" srcId="{039FA9A8-3848-4477-9764-82896C88589F}" destId="{2744D47F-A254-4E87-B30B-1927C9074728}" srcOrd="0" destOrd="0" presId="urn:microsoft.com/office/officeart/2005/8/layout/hProcess11"/>
    <dgm:cxn modelId="{65F7855F-63EC-4CD0-8A4B-A45FAD8CB317}" type="presParOf" srcId="{039FA9A8-3848-4477-9764-82896C88589F}" destId="{258AFCF7-6016-4DD7-80F7-3CE5FF64CF8E}" srcOrd="1" destOrd="0" presId="urn:microsoft.com/office/officeart/2005/8/layout/hProcess11"/>
    <dgm:cxn modelId="{D2B0812C-1631-4FF7-9F22-9A03A3033838}" type="presParOf" srcId="{039FA9A8-3848-4477-9764-82896C88589F}" destId="{78F8D728-C2DD-4BE6-BFF6-C7C5D3F22C06}" srcOrd="2" destOrd="0" presId="urn:microsoft.com/office/officeart/2005/8/layout/hProcess11"/>
    <dgm:cxn modelId="{1CB6D76D-F243-46B5-838F-26F218107E8B}" type="presParOf" srcId="{17FE7F2D-12E6-48FE-9AF8-54BF57BBE236}" destId="{CEBBEAB6-DA01-4CE8-8EDD-2120B6EF52AC}" srcOrd="3" destOrd="0" presId="urn:microsoft.com/office/officeart/2005/8/layout/hProcess11"/>
    <dgm:cxn modelId="{A8F7C379-363C-430C-9DB3-31898AB0BE20}" type="presParOf" srcId="{17FE7F2D-12E6-48FE-9AF8-54BF57BBE236}" destId="{BF9A4EAB-F633-434C-BCB6-EE51F173889B}" srcOrd="4" destOrd="0" presId="urn:microsoft.com/office/officeart/2005/8/layout/hProcess11"/>
    <dgm:cxn modelId="{283E86E1-1581-4876-AB38-F63C809A5E21}" type="presParOf" srcId="{BF9A4EAB-F633-434C-BCB6-EE51F173889B}" destId="{8ECCAB95-9247-44EC-8075-AF6F9D57F4E6}" srcOrd="0" destOrd="0" presId="urn:microsoft.com/office/officeart/2005/8/layout/hProcess11"/>
    <dgm:cxn modelId="{57D2B3EE-01EE-4137-8B53-B5CAF63A6C5C}" type="presParOf" srcId="{BF9A4EAB-F633-434C-BCB6-EE51F173889B}" destId="{4D2A6FAE-9B1D-48E8-9282-B83A33CF5A72}" srcOrd="1" destOrd="0" presId="urn:microsoft.com/office/officeart/2005/8/layout/hProcess11"/>
    <dgm:cxn modelId="{39C2B1C5-D4D8-497E-A1AD-F97CD0A8D60B}" type="presParOf" srcId="{BF9A4EAB-F633-434C-BCB6-EE51F173889B}" destId="{28F0EFB7-375E-4CD7-9DF8-594CABF6E902}" srcOrd="2" destOrd="0" presId="urn:microsoft.com/office/officeart/2005/8/layout/hProcess11"/>
    <dgm:cxn modelId="{B970DA53-D63C-4755-B17C-312D7DF7E78F}" type="presParOf" srcId="{17FE7F2D-12E6-48FE-9AF8-54BF57BBE236}" destId="{A1B5039F-75B8-4597-8942-61C2925BFAE1}" srcOrd="5" destOrd="0" presId="urn:microsoft.com/office/officeart/2005/8/layout/hProcess11"/>
    <dgm:cxn modelId="{7F02A7BD-2037-42C1-BC06-6F6C8CE7B91D}" type="presParOf" srcId="{17FE7F2D-12E6-48FE-9AF8-54BF57BBE236}" destId="{0C8416A1-8359-42C3-BFB8-1077741B229A}" srcOrd="6" destOrd="0" presId="urn:microsoft.com/office/officeart/2005/8/layout/hProcess11"/>
    <dgm:cxn modelId="{A311EF69-910D-469F-80DF-7C1F8CCDDD14}" type="presParOf" srcId="{0C8416A1-8359-42C3-BFB8-1077741B229A}" destId="{3CD89C4E-222E-4A73-AD77-1FA722C1FCDA}" srcOrd="0" destOrd="0" presId="urn:microsoft.com/office/officeart/2005/8/layout/hProcess11"/>
    <dgm:cxn modelId="{1D09F5CC-6BB5-4E09-947C-6087001029C9}" type="presParOf" srcId="{0C8416A1-8359-42C3-BFB8-1077741B229A}" destId="{3664873E-3830-4FA5-BD53-F41F637ED456}" srcOrd="1" destOrd="0" presId="urn:microsoft.com/office/officeart/2005/8/layout/hProcess11"/>
    <dgm:cxn modelId="{985C0156-810E-41AE-AE46-CA4F8619B8E8}" type="presParOf" srcId="{0C8416A1-8359-42C3-BFB8-1077741B229A}" destId="{53D4477F-AC6D-4211-B9A5-6C22D521F4E0}" srcOrd="2" destOrd="0" presId="urn:microsoft.com/office/officeart/2005/8/layout/hProcess11"/>
    <dgm:cxn modelId="{4FDD0BE1-36BC-4EB1-97C3-14CE5605CBD5}" type="presParOf" srcId="{17FE7F2D-12E6-48FE-9AF8-54BF57BBE236}" destId="{C1D25DBD-89C1-4F11-BD7D-FF58757DF702}" srcOrd="7" destOrd="0" presId="urn:microsoft.com/office/officeart/2005/8/layout/hProcess11"/>
    <dgm:cxn modelId="{FF051907-A63B-4845-8064-016F804A1C7A}" type="presParOf" srcId="{17FE7F2D-12E6-48FE-9AF8-54BF57BBE236}" destId="{8ABF2CEB-A7F2-4A7F-9A70-A65B8A0FB75E}" srcOrd="8" destOrd="0" presId="urn:microsoft.com/office/officeart/2005/8/layout/hProcess11"/>
    <dgm:cxn modelId="{0531C915-03A7-4B47-B7AD-9DF4926466BB}" type="presParOf" srcId="{8ABF2CEB-A7F2-4A7F-9A70-A65B8A0FB75E}" destId="{43D776A8-779B-40D8-9DEF-907443CE3108}" srcOrd="0" destOrd="0" presId="urn:microsoft.com/office/officeart/2005/8/layout/hProcess11"/>
    <dgm:cxn modelId="{ADD58087-3323-43BC-8B18-2B6B752D76CE}" type="presParOf" srcId="{8ABF2CEB-A7F2-4A7F-9A70-A65B8A0FB75E}" destId="{971B9CC8-68BF-47B3-901B-572717F11C97}" srcOrd="1" destOrd="0" presId="urn:microsoft.com/office/officeart/2005/8/layout/hProcess11"/>
    <dgm:cxn modelId="{1D2AF88B-138E-4901-A56C-22713CDD099E}" type="presParOf" srcId="{8ABF2CEB-A7F2-4A7F-9A70-A65B8A0FB75E}" destId="{E51B56F0-C938-496E-B3AB-B15182E22B4C}" srcOrd="2" destOrd="0" presId="urn:microsoft.com/office/officeart/2005/8/layout/hProcess11"/>
    <dgm:cxn modelId="{8AAFC925-B468-4E32-9DDB-53FA762FE03B}" type="presParOf" srcId="{17FE7F2D-12E6-48FE-9AF8-54BF57BBE236}" destId="{E676D43D-9CEB-4B2D-BB4F-FB65BC77AB21}" srcOrd="9" destOrd="0" presId="urn:microsoft.com/office/officeart/2005/8/layout/hProcess11"/>
    <dgm:cxn modelId="{126CD545-4E71-4F58-A6CF-E804CB717A21}" type="presParOf" srcId="{17FE7F2D-12E6-48FE-9AF8-54BF57BBE236}" destId="{1B6C8194-5534-4916-9E5F-6CFCC604B7EF}" srcOrd="10" destOrd="0" presId="urn:microsoft.com/office/officeart/2005/8/layout/hProcess11"/>
    <dgm:cxn modelId="{B5EBA5DB-A317-4709-944A-E2AC3662A3FA}" type="presParOf" srcId="{1B6C8194-5534-4916-9E5F-6CFCC604B7EF}" destId="{D1891AC2-C4EE-4A6A-8C59-DAD372C89E7B}" srcOrd="0" destOrd="0" presId="urn:microsoft.com/office/officeart/2005/8/layout/hProcess11"/>
    <dgm:cxn modelId="{EAA11653-3FAC-4E78-8B2A-D880D2B0B6D2}" type="presParOf" srcId="{1B6C8194-5534-4916-9E5F-6CFCC604B7EF}" destId="{13E7B31E-AE6E-493E-8E69-B10FD3E926EB}" srcOrd="1" destOrd="0" presId="urn:microsoft.com/office/officeart/2005/8/layout/hProcess11"/>
    <dgm:cxn modelId="{DE35CA61-D99D-4AC6-88F5-194C70A54A28}" type="presParOf" srcId="{1B6C8194-5534-4916-9E5F-6CFCC604B7EF}" destId="{10378973-EC99-4A94-B3C7-E805495F9307}" srcOrd="2" destOrd="0" presId="urn:microsoft.com/office/officeart/2005/8/layout/hProcess11"/>
    <dgm:cxn modelId="{D096DD7D-4D86-4E8A-B6F4-E691DE3D3AFA}" type="presParOf" srcId="{17FE7F2D-12E6-48FE-9AF8-54BF57BBE236}" destId="{5D00EF8B-3607-4A4F-9F5D-885030674E7E}" srcOrd="11" destOrd="0" presId="urn:microsoft.com/office/officeart/2005/8/layout/hProcess11"/>
    <dgm:cxn modelId="{D8DA4600-C155-49A6-A325-594DA1C770E0}" type="presParOf" srcId="{17FE7F2D-12E6-48FE-9AF8-54BF57BBE236}" destId="{2796C534-2C4A-4CB9-98DF-F440EF1A3477}" srcOrd="12" destOrd="0" presId="urn:microsoft.com/office/officeart/2005/8/layout/hProcess11"/>
    <dgm:cxn modelId="{CDD84535-8DEE-41F3-87A8-A0909CE61DA9}" type="presParOf" srcId="{2796C534-2C4A-4CB9-98DF-F440EF1A3477}" destId="{ACE51CDD-C3CC-4143-B9AE-25C14A58226F}" srcOrd="0" destOrd="0" presId="urn:microsoft.com/office/officeart/2005/8/layout/hProcess11"/>
    <dgm:cxn modelId="{557A35D9-6974-4D24-BDAC-3AC3C0AC78CD}" type="presParOf" srcId="{2796C534-2C4A-4CB9-98DF-F440EF1A3477}" destId="{8861C2DA-EC91-4708-A3A2-A15BD24BEFCB}" srcOrd="1" destOrd="0" presId="urn:microsoft.com/office/officeart/2005/8/layout/hProcess11"/>
    <dgm:cxn modelId="{FF2C87BD-2EC2-4D63-A4B4-7422EA678BE9}" type="presParOf" srcId="{2796C534-2C4A-4CB9-98DF-F440EF1A3477}" destId="{F5541178-9FEB-443F-A1AD-927AE29B1E2D}" srcOrd="2" destOrd="0" presId="urn:microsoft.com/office/officeart/2005/8/layout/hProcess11"/>
  </dgm:cxnLst>
  <dgm:bg>
    <a:solidFill>
      <a:schemeClr val="tx2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6156B14-0BFA-4D73-87D5-86A4DBB4258A}" type="doc">
      <dgm:prSet loTypeId="urn:microsoft.com/office/officeart/2005/8/layout/hProcess9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360A57CE-8E38-46D0-AF32-375EA1578DB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Households decrease spending, especially of durable goods.</a:t>
          </a:r>
        </a:p>
      </dgm:t>
    </dgm:pt>
    <dgm:pt modelId="{00981EC9-0F17-44DC-B479-002167D43B6F}" type="parTrans" cxnId="{E54F7C35-03D6-48F2-9B94-408F91F62943}">
      <dgm:prSet/>
      <dgm:spPr/>
      <dgm:t>
        <a:bodyPr/>
        <a:lstStyle/>
        <a:p>
          <a:endParaRPr lang="en-NZ"/>
        </a:p>
      </dgm:t>
    </dgm:pt>
    <dgm:pt modelId="{0610F997-2E08-4E59-B1E7-80854104E23E}" type="sibTrans" cxnId="{E54F7C35-03D6-48F2-9B94-408F91F62943}">
      <dgm:prSet/>
      <dgm:spPr/>
      <dgm:t>
        <a:bodyPr/>
        <a:lstStyle/>
        <a:p>
          <a:endParaRPr lang="en-NZ"/>
        </a:p>
      </dgm:t>
    </dgm:pt>
    <dgm:pt modelId="{934A31AA-6607-4466-A2F4-2F9D98800C3F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Cars and machinery sales fall.</a:t>
          </a:r>
        </a:p>
      </dgm:t>
    </dgm:pt>
    <dgm:pt modelId="{04828ED7-CC22-45B5-926A-86E70A01E3DB}" type="parTrans" cxnId="{11285F90-9763-488F-A9B2-6A12AF9408CD}">
      <dgm:prSet/>
      <dgm:spPr/>
      <dgm:t>
        <a:bodyPr/>
        <a:lstStyle/>
        <a:p>
          <a:endParaRPr lang="en-NZ"/>
        </a:p>
      </dgm:t>
    </dgm:pt>
    <dgm:pt modelId="{E6055EB1-77E6-4FDE-9C90-2B0712FADF6A}" type="sibTrans" cxnId="{11285F90-9763-488F-A9B2-6A12AF9408CD}">
      <dgm:prSet/>
      <dgm:spPr/>
      <dgm:t>
        <a:bodyPr/>
        <a:lstStyle/>
        <a:p>
          <a:endParaRPr lang="en-NZ"/>
        </a:p>
      </dgm:t>
    </dgm:pt>
    <dgm:pt modelId="{0E280726-2590-4107-881F-E83F0D5F9833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East Asian economies suffer drop in exports.</a:t>
          </a:r>
        </a:p>
      </dgm:t>
    </dgm:pt>
    <dgm:pt modelId="{3391B64B-FB9D-41CA-9EF3-A82FF6D35ED6}" type="parTrans" cxnId="{58FF4F17-68CA-4344-A1A9-6D314F5A0537}">
      <dgm:prSet/>
      <dgm:spPr/>
      <dgm:t>
        <a:bodyPr/>
        <a:lstStyle/>
        <a:p>
          <a:endParaRPr lang="en-NZ"/>
        </a:p>
      </dgm:t>
    </dgm:pt>
    <dgm:pt modelId="{64A6B407-265F-4C99-9720-5AA79DE5F8C7}" type="sibTrans" cxnId="{58FF4F17-68CA-4344-A1A9-6D314F5A0537}">
      <dgm:prSet/>
      <dgm:spPr/>
      <dgm:t>
        <a:bodyPr/>
        <a:lstStyle/>
        <a:p>
          <a:endParaRPr lang="en-NZ"/>
        </a:p>
      </dgm:t>
    </dgm:pt>
    <dgm:pt modelId="{75DDE340-6B0A-4EEB-A4CB-9D263453A2D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Japan industrial output falls 30% in 6 months.</a:t>
          </a:r>
        </a:p>
      </dgm:t>
    </dgm:pt>
    <dgm:pt modelId="{23598150-C61B-4F31-B422-262B2E02F8C3}" type="parTrans" cxnId="{247ECD4E-61BB-4D04-BF6B-4C0B93504620}">
      <dgm:prSet/>
      <dgm:spPr/>
      <dgm:t>
        <a:bodyPr/>
        <a:lstStyle/>
        <a:p>
          <a:endParaRPr lang="en-NZ"/>
        </a:p>
      </dgm:t>
    </dgm:pt>
    <dgm:pt modelId="{B2418C9C-BE2C-421A-B133-BFB7A69C7CF5}" type="sibTrans" cxnId="{247ECD4E-61BB-4D04-BF6B-4C0B93504620}">
      <dgm:prSet/>
      <dgm:spPr/>
      <dgm:t>
        <a:bodyPr/>
        <a:lstStyle/>
        <a:p>
          <a:endParaRPr lang="en-NZ"/>
        </a:p>
      </dgm:t>
    </dgm:pt>
    <dgm:pt modelId="{AC18BC8F-D6E8-42B2-BE47-8994FD46EF69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Firm’s cut back investment activity</a:t>
          </a:r>
        </a:p>
      </dgm:t>
    </dgm:pt>
    <dgm:pt modelId="{B1D2FE79-7CC3-46A5-ACAA-5FFB69114C2B}" type="parTrans" cxnId="{44C0588B-06BD-4F4D-85B7-54636C2895CD}">
      <dgm:prSet/>
      <dgm:spPr/>
      <dgm:t>
        <a:bodyPr/>
        <a:lstStyle/>
        <a:p>
          <a:endParaRPr lang="en-NZ"/>
        </a:p>
      </dgm:t>
    </dgm:pt>
    <dgm:pt modelId="{9DE3AB85-4B60-4E1F-ADAB-8E574179EAF5}" type="sibTrans" cxnId="{44C0588B-06BD-4F4D-85B7-54636C2895CD}">
      <dgm:prSet/>
      <dgm:spPr/>
      <dgm:t>
        <a:bodyPr/>
        <a:lstStyle/>
        <a:p>
          <a:endParaRPr lang="en-NZ"/>
        </a:p>
      </dgm:t>
    </dgm:pt>
    <dgm:pt modelId="{C2E9BD1F-3064-43AF-9BF2-1E8503F1B899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Unemployment starts rising</a:t>
          </a:r>
        </a:p>
      </dgm:t>
    </dgm:pt>
    <dgm:pt modelId="{58BD26F0-D996-4EE0-9D7B-5D62191D53F3}" type="parTrans" cxnId="{8E3AC709-976C-4D58-AA89-6D908ABC1377}">
      <dgm:prSet/>
      <dgm:spPr/>
      <dgm:t>
        <a:bodyPr/>
        <a:lstStyle/>
        <a:p>
          <a:endParaRPr lang="en-NZ"/>
        </a:p>
      </dgm:t>
    </dgm:pt>
    <dgm:pt modelId="{3462A679-5CB1-42F1-9DE6-5A107F9E5EAE}" type="sibTrans" cxnId="{8E3AC709-976C-4D58-AA89-6D908ABC1377}">
      <dgm:prSet/>
      <dgm:spPr/>
      <dgm:t>
        <a:bodyPr/>
        <a:lstStyle/>
        <a:p>
          <a:endParaRPr lang="en-NZ"/>
        </a:p>
      </dgm:t>
    </dgm:pt>
    <dgm:pt modelId="{3F896CAE-F1B9-4E82-8C38-A1AA9F91A2F8}" type="pres">
      <dgm:prSet presAssocID="{F6156B14-0BFA-4D73-87D5-86A4DBB4258A}" presName="CompostProcess" presStyleCnt="0">
        <dgm:presLayoutVars>
          <dgm:dir/>
          <dgm:resizeHandles val="exact"/>
        </dgm:presLayoutVars>
      </dgm:prSet>
      <dgm:spPr/>
    </dgm:pt>
    <dgm:pt modelId="{0949BA31-255A-448C-B4D0-1AC698D3E050}" type="pres">
      <dgm:prSet presAssocID="{F6156B14-0BFA-4D73-87D5-86A4DBB4258A}" presName="arrow" presStyleLbl="bgShp" presStyleIdx="0" presStyleCnt="1"/>
      <dgm:spPr/>
    </dgm:pt>
    <dgm:pt modelId="{23D7195B-B8BF-4E26-B22B-39D899E75084}" type="pres">
      <dgm:prSet presAssocID="{F6156B14-0BFA-4D73-87D5-86A4DBB4258A}" presName="linearProcess" presStyleCnt="0"/>
      <dgm:spPr/>
    </dgm:pt>
    <dgm:pt modelId="{774B664D-98E7-45E6-84F8-7D54A0381AD4}" type="pres">
      <dgm:prSet presAssocID="{360A57CE-8E38-46D0-AF32-375EA1578DB6}" presName="textNode" presStyleLbl="node1" presStyleIdx="0" presStyleCnt="3">
        <dgm:presLayoutVars>
          <dgm:bulletEnabled val="1"/>
        </dgm:presLayoutVars>
      </dgm:prSet>
      <dgm:spPr/>
    </dgm:pt>
    <dgm:pt modelId="{04E05DD8-73E1-4297-94ED-EACFF118C5D2}" type="pres">
      <dgm:prSet presAssocID="{0610F997-2E08-4E59-B1E7-80854104E23E}" presName="sibTrans" presStyleCnt="0"/>
      <dgm:spPr/>
    </dgm:pt>
    <dgm:pt modelId="{C5D3DC95-D906-475B-ABD4-AF7B308BF1F3}" type="pres">
      <dgm:prSet presAssocID="{AC18BC8F-D6E8-42B2-BE47-8994FD46EF69}" presName="textNode" presStyleLbl="node1" presStyleIdx="1" presStyleCnt="3">
        <dgm:presLayoutVars>
          <dgm:bulletEnabled val="1"/>
        </dgm:presLayoutVars>
      </dgm:prSet>
      <dgm:spPr/>
    </dgm:pt>
    <dgm:pt modelId="{B538BD0E-73E9-4F7B-9CD9-8861AE950646}" type="pres">
      <dgm:prSet presAssocID="{9DE3AB85-4B60-4E1F-ADAB-8E574179EAF5}" presName="sibTrans" presStyleCnt="0"/>
      <dgm:spPr/>
    </dgm:pt>
    <dgm:pt modelId="{88245BF7-BC6D-417A-8DFE-0768D3E9C2F0}" type="pres">
      <dgm:prSet presAssocID="{C2E9BD1F-3064-43AF-9BF2-1E8503F1B899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8E3AC709-976C-4D58-AA89-6D908ABC1377}" srcId="{F6156B14-0BFA-4D73-87D5-86A4DBB4258A}" destId="{C2E9BD1F-3064-43AF-9BF2-1E8503F1B899}" srcOrd="2" destOrd="0" parTransId="{58BD26F0-D996-4EE0-9D7B-5D62191D53F3}" sibTransId="{3462A679-5CB1-42F1-9DE6-5A107F9E5EAE}"/>
    <dgm:cxn modelId="{58FF4F17-68CA-4344-A1A9-6D314F5A0537}" srcId="{360A57CE-8E38-46D0-AF32-375EA1578DB6}" destId="{0E280726-2590-4107-881F-E83F0D5F9833}" srcOrd="1" destOrd="0" parTransId="{3391B64B-FB9D-41CA-9EF3-A82FF6D35ED6}" sibTransId="{64A6B407-265F-4C99-9720-5AA79DE5F8C7}"/>
    <dgm:cxn modelId="{E9562D23-27D4-41AF-802E-12024CF29862}" type="presOf" srcId="{0E280726-2590-4107-881F-E83F0D5F9833}" destId="{774B664D-98E7-45E6-84F8-7D54A0381AD4}" srcOrd="0" destOrd="2" presId="urn:microsoft.com/office/officeart/2005/8/layout/hProcess9"/>
    <dgm:cxn modelId="{E54F7C35-03D6-48F2-9B94-408F91F62943}" srcId="{F6156B14-0BFA-4D73-87D5-86A4DBB4258A}" destId="{360A57CE-8E38-46D0-AF32-375EA1578DB6}" srcOrd="0" destOrd="0" parTransId="{00981EC9-0F17-44DC-B479-002167D43B6F}" sibTransId="{0610F997-2E08-4E59-B1E7-80854104E23E}"/>
    <dgm:cxn modelId="{D494DC4A-E234-4953-9C71-E8A9F7AB4A09}" type="presOf" srcId="{360A57CE-8E38-46D0-AF32-375EA1578DB6}" destId="{774B664D-98E7-45E6-84F8-7D54A0381AD4}" srcOrd="0" destOrd="0" presId="urn:microsoft.com/office/officeart/2005/8/layout/hProcess9"/>
    <dgm:cxn modelId="{247ECD4E-61BB-4D04-BF6B-4C0B93504620}" srcId="{0E280726-2590-4107-881F-E83F0D5F9833}" destId="{75DDE340-6B0A-4EEB-A4CB-9D263453A2DD}" srcOrd="0" destOrd="0" parTransId="{23598150-C61B-4F31-B422-262B2E02F8C3}" sibTransId="{B2418C9C-BE2C-421A-B133-BFB7A69C7CF5}"/>
    <dgm:cxn modelId="{44C0588B-06BD-4F4D-85B7-54636C2895CD}" srcId="{F6156B14-0BFA-4D73-87D5-86A4DBB4258A}" destId="{AC18BC8F-D6E8-42B2-BE47-8994FD46EF69}" srcOrd="1" destOrd="0" parTransId="{B1D2FE79-7CC3-46A5-ACAA-5FFB69114C2B}" sibTransId="{9DE3AB85-4B60-4E1F-ADAB-8E574179EAF5}"/>
    <dgm:cxn modelId="{11285F90-9763-488F-A9B2-6A12AF9408CD}" srcId="{360A57CE-8E38-46D0-AF32-375EA1578DB6}" destId="{934A31AA-6607-4466-A2F4-2F9D98800C3F}" srcOrd="0" destOrd="0" parTransId="{04828ED7-CC22-45B5-926A-86E70A01E3DB}" sibTransId="{E6055EB1-77E6-4FDE-9C90-2B0712FADF6A}"/>
    <dgm:cxn modelId="{15E3EAA8-24C5-48B6-B85C-A7E64CAB75A8}" type="presOf" srcId="{AC18BC8F-D6E8-42B2-BE47-8994FD46EF69}" destId="{C5D3DC95-D906-475B-ABD4-AF7B308BF1F3}" srcOrd="0" destOrd="0" presId="urn:microsoft.com/office/officeart/2005/8/layout/hProcess9"/>
    <dgm:cxn modelId="{7AB06FB1-C9CF-45E8-B687-9F5E84200988}" type="presOf" srcId="{934A31AA-6607-4466-A2F4-2F9D98800C3F}" destId="{774B664D-98E7-45E6-84F8-7D54A0381AD4}" srcOrd="0" destOrd="1" presId="urn:microsoft.com/office/officeart/2005/8/layout/hProcess9"/>
    <dgm:cxn modelId="{5E47ECF4-48DD-4962-9AB7-5C7282A7146B}" type="presOf" srcId="{F6156B14-0BFA-4D73-87D5-86A4DBB4258A}" destId="{3F896CAE-F1B9-4E82-8C38-A1AA9F91A2F8}" srcOrd="0" destOrd="0" presId="urn:microsoft.com/office/officeart/2005/8/layout/hProcess9"/>
    <dgm:cxn modelId="{8734F2F8-C311-4868-B609-297B17CC57C8}" type="presOf" srcId="{C2E9BD1F-3064-43AF-9BF2-1E8503F1B899}" destId="{88245BF7-BC6D-417A-8DFE-0768D3E9C2F0}" srcOrd="0" destOrd="0" presId="urn:microsoft.com/office/officeart/2005/8/layout/hProcess9"/>
    <dgm:cxn modelId="{4C37B8FA-B686-465D-9895-087DF26315EA}" type="presOf" srcId="{75DDE340-6B0A-4EEB-A4CB-9D263453A2DD}" destId="{774B664D-98E7-45E6-84F8-7D54A0381AD4}" srcOrd="0" destOrd="3" presId="urn:microsoft.com/office/officeart/2005/8/layout/hProcess9"/>
    <dgm:cxn modelId="{29401985-8AFB-446E-8CA0-BCAAF752D9F7}" type="presParOf" srcId="{3F896CAE-F1B9-4E82-8C38-A1AA9F91A2F8}" destId="{0949BA31-255A-448C-B4D0-1AC698D3E050}" srcOrd="0" destOrd="0" presId="urn:microsoft.com/office/officeart/2005/8/layout/hProcess9"/>
    <dgm:cxn modelId="{78737E34-1030-4E4C-A975-558524E29458}" type="presParOf" srcId="{3F896CAE-F1B9-4E82-8C38-A1AA9F91A2F8}" destId="{23D7195B-B8BF-4E26-B22B-39D899E75084}" srcOrd="1" destOrd="0" presId="urn:microsoft.com/office/officeart/2005/8/layout/hProcess9"/>
    <dgm:cxn modelId="{9432EBE8-3EC1-478E-9645-B19E70082D67}" type="presParOf" srcId="{23D7195B-B8BF-4E26-B22B-39D899E75084}" destId="{774B664D-98E7-45E6-84F8-7D54A0381AD4}" srcOrd="0" destOrd="0" presId="urn:microsoft.com/office/officeart/2005/8/layout/hProcess9"/>
    <dgm:cxn modelId="{BCBEA5C6-9468-432A-87A9-70878E2C0EC7}" type="presParOf" srcId="{23D7195B-B8BF-4E26-B22B-39D899E75084}" destId="{04E05DD8-73E1-4297-94ED-EACFF118C5D2}" srcOrd="1" destOrd="0" presId="urn:microsoft.com/office/officeart/2005/8/layout/hProcess9"/>
    <dgm:cxn modelId="{E5AAD922-B44F-4998-9171-E948B31755E4}" type="presParOf" srcId="{23D7195B-B8BF-4E26-B22B-39D899E75084}" destId="{C5D3DC95-D906-475B-ABD4-AF7B308BF1F3}" srcOrd="2" destOrd="0" presId="urn:microsoft.com/office/officeart/2005/8/layout/hProcess9"/>
    <dgm:cxn modelId="{DAFD1839-687A-4B87-8349-732E7EE29BF9}" type="presParOf" srcId="{23D7195B-B8BF-4E26-B22B-39D899E75084}" destId="{B538BD0E-73E9-4F7B-9CD9-8861AE950646}" srcOrd="3" destOrd="0" presId="urn:microsoft.com/office/officeart/2005/8/layout/hProcess9"/>
    <dgm:cxn modelId="{2B2CCBD1-8677-4491-8230-7933F9572EB8}" type="presParOf" srcId="{23D7195B-B8BF-4E26-B22B-39D899E75084}" destId="{88245BF7-BC6D-417A-8DFE-0768D3E9C2F0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00461C98-9A85-416A-BA0C-5468C5CD51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F297C1BE-6C19-496E-9043-A9E392115724}">
      <dgm:prSet/>
      <dgm:spPr/>
      <dgm:t>
        <a:bodyPr/>
        <a:lstStyle/>
        <a:p>
          <a:r>
            <a:rPr lang="en-NZ"/>
            <a:t>Asset prices fall…again</a:t>
          </a:r>
        </a:p>
      </dgm:t>
    </dgm:pt>
    <dgm:pt modelId="{A66BB181-8AF8-4CCA-AD73-AC02A56AE4B5}" type="parTrans" cxnId="{E3B89142-4BBE-4187-8B08-D5D9305A47C5}">
      <dgm:prSet/>
      <dgm:spPr/>
      <dgm:t>
        <a:bodyPr/>
        <a:lstStyle/>
        <a:p>
          <a:endParaRPr lang="en-NZ"/>
        </a:p>
      </dgm:t>
    </dgm:pt>
    <dgm:pt modelId="{0D664C82-1521-4770-8391-0C1570BA7A2E}" type="sibTrans" cxnId="{E3B89142-4BBE-4187-8B08-D5D9305A47C5}">
      <dgm:prSet/>
      <dgm:spPr/>
      <dgm:t>
        <a:bodyPr/>
        <a:lstStyle/>
        <a:p>
          <a:endParaRPr lang="en-NZ"/>
        </a:p>
      </dgm:t>
    </dgm:pt>
    <dgm:pt modelId="{0625F2B1-0FDF-4F60-9F9C-238585F95C25}" type="pres">
      <dgm:prSet presAssocID="{00461C98-9A85-416A-BA0C-5468C5CD5164}" presName="linear" presStyleCnt="0">
        <dgm:presLayoutVars>
          <dgm:animLvl val="lvl"/>
          <dgm:resizeHandles val="exact"/>
        </dgm:presLayoutVars>
      </dgm:prSet>
      <dgm:spPr/>
    </dgm:pt>
    <dgm:pt modelId="{1B5B8192-BDB8-4850-BD50-4D16718C5A7F}" type="pres">
      <dgm:prSet presAssocID="{F297C1BE-6C19-496E-9043-A9E39211572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3B89142-4BBE-4187-8B08-D5D9305A47C5}" srcId="{00461C98-9A85-416A-BA0C-5468C5CD5164}" destId="{F297C1BE-6C19-496E-9043-A9E392115724}" srcOrd="0" destOrd="0" parTransId="{A66BB181-8AF8-4CCA-AD73-AC02A56AE4B5}" sibTransId="{0D664C82-1521-4770-8391-0C1570BA7A2E}"/>
    <dgm:cxn modelId="{9912BE52-F55E-4CFA-9A41-7A501A48D191}" type="presOf" srcId="{F297C1BE-6C19-496E-9043-A9E392115724}" destId="{1B5B8192-BDB8-4850-BD50-4D16718C5A7F}" srcOrd="0" destOrd="0" presId="urn:microsoft.com/office/officeart/2005/8/layout/vList2"/>
    <dgm:cxn modelId="{E7C0FFF3-13C5-4C05-B5FA-73C0F55997B9}" type="presOf" srcId="{00461C98-9A85-416A-BA0C-5468C5CD5164}" destId="{0625F2B1-0FDF-4F60-9F9C-238585F95C25}" srcOrd="0" destOrd="0" presId="urn:microsoft.com/office/officeart/2005/8/layout/vList2"/>
    <dgm:cxn modelId="{57DB0488-3A29-4E58-825D-FA4E936F8D79}" type="presParOf" srcId="{0625F2B1-0FDF-4F60-9F9C-238585F95C25}" destId="{1B5B8192-BDB8-4850-BD50-4D16718C5A7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262E3418-D929-4A17-9F0A-3B91E93D361A}" type="doc">
      <dgm:prSet loTypeId="urn:microsoft.com/office/officeart/2005/8/layout/process1" loCatId="process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58BC9E74-FC06-4F5D-849C-2BFAF52363DB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The response of Stock Markets to these bankruptcies, downgrades and downturn in economic activity is to fall.</a:t>
          </a:r>
        </a:p>
      </dgm:t>
    </dgm:pt>
    <dgm:pt modelId="{D26C5C9A-F352-4286-BF7A-583F28400626}" type="parTrans" cxnId="{D250C7D0-D404-49DC-8AAA-6A005E044F5E}">
      <dgm:prSet/>
      <dgm:spPr/>
      <dgm:t>
        <a:bodyPr/>
        <a:lstStyle/>
        <a:p>
          <a:endParaRPr lang="en-NZ"/>
        </a:p>
      </dgm:t>
    </dgm:pt>
    <dgm:pt modelId="{0AE7EC35-8DCD-40AA-8B14-F5B7ADB12F2C}" type="sibTrans" cxnId="{D250C7D0-D404-49DC-8AAA-6A005E044F5E}">
      <dgm:prSet/>
      <dgm:spPr/>
      <dgm:t>
        <a:bodyPr/>
        <a:lstStyle/>
        <a:p>
          <a:endParaRPr lang="en-NZ"/>
        </a:p>
      </dgm:t>
    </dgm:pt>
    <dgm:pt modelId="{2D0CC0DE-005B-4B20-8A3D-4B3DD0E4EC3A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Automatic stabilisers are inadequate to deal with the crisis</a:t>
          </a:r>
        </a:p>
      </dgm:t>
    </dgm:pt>
    <dgm:pt modelId="{10D5CB38-C724-4692-BF92-665E86FE8EB6}" type="parTrans" cxnId="{02747B19-3A26-44D9-AEB1-A335A03C1302}">
      <dgm:prSet/>
      <dgm:spPr/>
      <dgm:t>
        <a:bodyPr/>
        <a:lstStyle/>
        <a:p>
          <a:endParaRPr lang="en-NZ"/>
        </a:p>
      </dgm:t>
    </dgm:pt>
    <dgm:pt modelId="{978485C8-09E6-4183-8B99-3B39C1AE7BCA}" type="sibTrans" cxnId="{02747B19-3A26-44D9-AEB1-A335A03C1302}">
      <dgm:prSet/>
      <dgm:spPr/>
      <dgm:t>
        <a:bodyPr/>
        <a:lstStyle/>
        <a:p>
          <a:endParaRPr lang="en-NZ"/>
        </a:p>
      </dgm:t>
    </dgm:pt>
    <dgm:pt modelId="{4758BE27-9D3C-4756-91C0-8FD1E807928B}" type="pres">
      <dgm:prSet presAssocID="{262E3418-D929-4A17-9F0A-3B91E93D361A}" presName="Name0" presStyleCnt="0">
        <dgm:presLayoutVars>
          <dgm:dir/>
          <dgm:resizeHandles val="exact"/>
        </dgm:presLayoutVars>
      </dgm:prSet>
      <dgm:spPr/>
    </dgm:pt>
    <dgm:pt modelId="{EF6AD631-3026-49F3-B353-44667E19739C}" type="pres">
      <dgm:prSet presAssocID="{58BC9E74-FC06-4F5D-849C-2BFAF52363DB}" presName="node" presStyleLbl="node1" presStyleIdx="0" presStyleCnt="2">
        <dgm:presLayoutVars>
          <dgm:bulletEnabled val="1"/>
        </dgm:presLayoutVars>
      </dgm:prSet>
      <dgm:spPr/>
    </dgm:pt>
    <dgm:pt modelId="{F105612C-6358-481B-AE8C-AFB83E234DA6}" type="pres">
      <dgm:prSet presAssocID="{0AE7EC35-8DCD-40AA-8B14-F5B7ADB12F2C}" presName="sibTrans" presStyleLbl="sibTrans2D1" presStyleIdx="0" presStyleCnt="1"/>
      <dgm:spPr/>
    </dgm:pt>
    <dgm:pt modelId="{E43CD003-967F-409E-ABB8-01706C7D682F}" type="pres">
      <dgm:prSet presAssocID="{0AE7EC35-8DCD-40AA-8B14-F5B7ADB12F2C}" presName="connectorText" presStyleLbl="sibTrans2D1" presStyleIdx="0" presStyleCnt="1"/>
      <dgm:spPr/>
    </dgm:pt>
    <dgm:pt modelId="{54776E70-DE40-497A-89AC-11616850DBEA}" type="pres">
      <dgm:prSet presAssocID="{2D0CC0DE-005B-4B20-8A3D-4B3DD0E4EC3A}" presName="node" presStyleLbl="node1" presStyleIdx="1" presStyleCnt="2">
        <dgm:presLayoutVars>
          <dgm:bulletEnabled val="1"/>
        </dgm:presLayoutVars>
      </dgm:prSet>
      <dgm:spPr/>
    </dgm:pt>
  </dgm:ptLst>
  <dgm:cxnLst>
    <dgm:cxn modelId="{02747B19-3A26-44D9-AEB1-A335A03C1302}" srcId="{262E3418-D929-4A17-9F0A-3B91E93D361A}" destId="{2D0CC0DE-005B-4B20-8A3D-4B3DD0E4EC3A}" srcOrd="1" destOrd="0" parTransId="{10D5CB38-C724-4692-BF92-665E86FE8EB6}" sibTransId="{978485C8-09E6-4183-8B99-3B39C1AE7BCA}"/>
    <dgm:cxn modelId="{5E303E70-E8B1-41B9-9FD0-F37AC0BB72D7}" type="presOf" srcId="{0AE7EC35-8DCD-40AA-8B14-F5B7ADB12F2C}" destId="{E43CD003-967F-409E-ABB8-01706C7D682F}" srcOrd="1" destOrd="0" presId="urn:microsoft.com/office/officeart/2005/8/layout/process1"/>
    <dgm:cxn modelId="{D48DE956-4310-44D9-AB8D-147A0837F11C}" type="presOf" srcId="{2D0CC0DE-005B-4B20-8A3D-4B3DD0E4EC3A}" destId="{54776E70-DE40-497A-89AC-11616850DBEA}" srcOrd="0" destOrd="0" presId="urn:microsoft.com/office/officeart/2005/8/layout/process1"/>
    <dgm:cxn modelId="{45A786C5-8A54-4E68-915E-72B35B77FB2D}" type="presOf" srcId="{58BC9E74-FC06-4F5D-849C-2BFAF52363DB}" destId="{EF6AD631-3026-49F3-B353-44667E19739C}" srcOrd="0" destOrd="0" presId="urn:microsoft.com/office/officeart/2005/8/layout/process1"/>
    <dgm:cxn modelId="{D250C7D0-D404-49DC-8AAA-6A005E044F5E}" srcId="{262E3418-D929-4A17-9F0A-3B91E93D361A}" destId="{58BC9E74-FC06-4F5D-849C-2BFAF52363DB}" srcOrd="0" destOrd="0" parTransId="{D26C5C9A-F352-4286-BF7A-583F28400626}" sibTransId="{0AE7EC35-8DCD-40AA-8B14-F5B7ADB12F2C}"/>
    <dgm:cxn modelId="{4F5DD3D2-4CA8-436E-AFD8-A8E87BC752FA}" type="presOf" srcId="{262E3418-D929-4A17-9F0A-3B91E93D361A}" destId="{4758BE27-9D3C-4756-91C0-8FD1E807928B}" srcOrd="0" destOrd="0" presId="urn:microsoft.com/office/officeart/2005/8/layout/process1"/>
    <dgm:cxn modelId="{681474F2-69A8-4C8A-B6F7-AC964A03D8A1}" type="presOf" srcId="{0AE7EC35-8DCD-40AA-8B14-F5B7ADB12F2C}" destId="{F105612C-6358-481B-AE8C-AFB83E234DA6}" srcOrd="0" destOrd="0" presId="urn:microsoft.com/office/officeart/2005/8/layout/process1"/>
    <dgm:cxn modelId="{C6A24537-4813-4F07-8C2D-E5831D886DD5}" type="presParOf" srcId="{4758BE27-9D3C-4756-91C0-8FD1E807928B}" destId="{EF6AD631-3026-49F3-B353-44667E19739C}" srcOrd="0" destOrd="0" presId="urn:microsoft.com/office/officeart/2005/8/layout/process1"/>
    <dgm:cxn modelId="{741BA7AE-28E7-41B1-9520-FC3419B4DA1F}" type="presParOf" srcId="{4758BE27-9D3C-4756-91C0-8FD1E807928B}" destId="{F105612C-6358-481B-AE8C-AFB83E234DA6}" srcOrd="1" destOrd="0" presId="urn:microsoft.com/office/officeart/2005/8/layout/process1"/>
    <dgm:cxn modelId="{B77525D4-DABB-4E63-8B38-BF8D6E3B4DA1}" type="presParOf" srcId="{F105612C-6358-481B-AE8C-AFB83E234DA6}" destId="{E43CD003-967F-409E-ABB8-01706C7D682F}" srcOrd="0" destOrd="0" presId="urn:microsoft.com/office/officeart/2005/8/layout/process1"/>
    <dgm:cxn modelId="{4567A43A-5BF4-4201-9F95-C457223157C9}" type="presParOf" srcId="{4758BE27-9D3C-4756-91C0-8FD1E807928B}" destId="{54776E70-DE40-497A-89AC-11616850DBEA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4B5877A2-9C33-4CD7-8259-8E8FBD0A470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70F94A27-3D7A-4D74-B795-7CEB9F7795BE}">
      <dgm:prSet/>
      <dgm:spPr/>
      <dgm:t>
        <a:bodyPr/>
        <a:lstStyle/>
        <a:p>
          <a:r>
            <a:rPr lang="en-NZ"/>
            <a:t>The Economic Downturn is Global</a:t>
          </a:r>
        </a:p>
      </dgm:t>
    </dgm:pt>
    <dgm:pt modelId="{9D08D770-B2E7-4382-B5B5-3EE646031B1F}" type="parTrans" cxnId="{E6279EF3-89B3-4436-A571-AACE3CC77778}">
      <dgm:prSet/>
      <dgm:spPr/>
      <dgm:t>
        <a:bodyPr/>
        <a:lstStyle/>
        <a:p>
          <a:endParaRPr lang="en-NZ"/>
        </a:p>
      </dgm:t>
    </dgm:pt>
    <dgm:pt modelId="{1AE11265-6D4C-4E4F-AFFD-AC4FDBFA32C4}" type="sibTrans" cxnId="{E6279EF3-89B3-4436-A571-AACE3CC77778}">
      <dgm:prSet/>
      <dgm:spPr/>
      <dgm:t>
        <a:bodyPr/>
        <a:lstStyle/>
        <a:p>
          <a:endParaRPr lang="en-NZ"/>
        </a:p>
      </dgm:t>
    </dgm:pt>
    <dgm:pt modelId="{133E3D2E-6E57-4274-8D95-E0A3A573532A}" type="pres">
      <dgm:prSet presAssocID="{4B5877A2-9C33-4CD7-8259-8E8FBD0A4706}" presName="linear" presStyleCnt="0">
        <dgm:presLayoutVars>
          <dgm:animLvl val="lvl"/>
          <dgm:resizeHandles val="exact"/>
        </dgm:presLayoutVars>
      </dgm:prSet>
      <dgm:spPr/>
    </dgm:pt>
    <dgm:pt modelId="{A790D99F-5088-469B-90C1-0A6FA30201D3}" type="pres">
      <dgm:prSet presAssocID="{70F94A27-3D7A-4D74-B795-7CEB9F7795B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AB1F52D-0B81-4E03-BA8B-2925F672F57C}" type="presOf" srcId="{70F94A27-3D7A-4D74-B795-7CEB9F7795BE}" destId="{A790D99F-5088-469B-90C1-0A6FA30201D3}" srcOrd="0" destOrd="0" presId="urn:microsoft.com/office/officeart/2005/8/layout/vList2"/>
    <dgm:cxn modelId="{C8D51734-8BC3-42AA-8C7A-BCCCCF08AAC0}" type="presOf" srcId="{4B5877A2-9C33-4CD7-8259-8E8FBD0A4706}" destId="{133E3D2E-6E57-4274-8D95-E0A3A573532A}" srcOrd="0" destOrd="0" presId="urn:microsoft.com/office/officeart/2005/8/layout/vList2"/>
    <dgm:cxn modelId="{E6279EF3-89B3-4436-A571-AACE3CC77778}" srcId="{4B5877A2-9C33-4CD7-8259-8E8FBD0A4706}" destId="{70F94A27-3D7A-4D74-B795-7CEB9F7795BE}" srcOrd="0" destOrd="0" parTransId="{9D08D770-B2E7-4382-B5B5-3EE646031B1F}" sibTransId="{1AE11265-6D4C-4E4F-AFFD-AC4FDBFA32C4}"/>
    <dgm:cxn modelId="{6DF0B12C-5517-4270-A504-81EAD4614994}" type="presParOf" srcId="{133E3D2E-6E57-4274-8D95-E0A3A573532A}" destId="{A790D99F-5088-469B-90C1-0A6FA30201D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3B4D09A6-E74D-442B-9648-25D9F8A5DEBE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NZ"/>
        </a:p>
      </dgm:t>
    </dgm:pt>
    <dgm:pt modelId="{95A91184-FF56-4207-96FE-A601C653F5E4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As Investment and Consumption falls, GDP’s start to drop</a:t>
          </a:r>
        </a:p>
      </dgm:t>
    </dgm:pt>
    <dgm:pt modelId="{5C80A184-8486-4BFA-903B-811C5B18A37E}" type="parTrans" cxnId="{93DA7682-1548-4CBC-87B9-CFBEE2CC5B11}">
      <dgm:prSet/>
      <dgm:spPr/>
      <dgm:t>
        <a:bodyPr/>
        <a:lstStyle/>
        <a:p>
          <a:endParaRPr lang="en-NZ"/>
        </a:p>
      </dgm:t>
    </dgm:pt>
    <dgm:pt modelId="{063977FA-41CD-4EC4-878F-06E633F9BDD4}" type="sibTrans" cxnId="{93DA7682-1548-4CBC-87B9-CFBEE2CC5B11}">
      <dgm:prSet/>
      <dgm:spPr/>
      <dgm:t>
        <a:bodyPr/>
        <a:lstStyle/>
        <a:p>
          <a:endParaRPr lang="en-NZ"/>
        </a:p>
      </dgm:t>
    </dgm:pt>
    <dgm:pt modelId="{23814BCD-F66B-4E44-9F4A-B7C4BE26C7A8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This reduces import demand and hence export income for many countries</a:t>
          </a:r>
        </a:p>
      </dgm:t>
    </dgm:pt>
    <dgm:pt modelId="{B9552397-B374-4E9A-B592-8253262D3B01}" type="parTrans" cxnId="{5B984B69-AA6C-4202-80CC-1CCD36C5C7A4}">
      <dgm:prSet/>
      <dgm:spPr/>
      <dgm:t>
        <a:bodyPr/>
        <a:lstStyle/>
        <a:p>
          <a:endParaRPr lang="en-NZ"/>
        </a:p>
      </dgm:t>
    </dgm:pt>
    <dgm:pt modelId="{36581843-94FD-42FC-8D3F-A6051F4512CC}" type="sibTrans" cxnId="{5B984B69-AA6C-4202-80CC-1CCD36C5C7A4}">
      <dgm:prSet/>
      <dgm:spPr/>
      <dgm:t>
        <a:bodyPr/>
        <a:lstStyle/>
        <a:p>
          <a:endParaRPr lang="en-NZ"/>
        </a:p>
      </dgm:t>
    </dgm:pt>
    <dgm:pt modelId="{133EBF2C-1EC2-48B6-AD2D-D50B68A4CEAC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This reduces GDP…again</a:t>
          </a:r>
        </a:p>
      </dgm:t>
    </dgm:pt>
    <dgm:pt modelId="{9C288A4B-4B8C-43C5-A9A8-942E2E824647}" type="parTrans" cxnId="{C165795C-4E12-4C0A-8F17-C76547F1856A}">
      <dgm:prSet/>
      <dgm:spPr/>
      <dgm:t>
        <a:bodyPr/>
        <a:lstStyle/>
        <a:p>
          <a:endParaRPr lang="en-NZ"/>
        </a:p>
      </dgm:t>
    </dgm:pt>
    <dgm:pt modelId="{C71B9499-DCC6-4929-B5F6-2CD2F8F38D02}" type="sibTrans" cxnId="{C165795C-4E12-4C0A-8F17-C76547F1856A}">
      <dgm:prSet/>
      <dgm:spPr/>
      <dgm:t>
        <a:bodyPr/>
        <a:lstStyle/>
        <a:p>
          <a:endParaRPr lang="en-NZ"/>
        </a:p>
      </dgm:t>
    </dgm:pt>
    <dgm:pt modelId="{64767695-FDA7-46E3-82A6-03F5EA60CD02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Globalisation has spread the crisis </a:t>
          </a:r>
        </a:p>
      </dgm:t>
    </dgm:pt>
    <dgm:pt modelId="{F0C0A9C1-CFEA-45F0-B99D-CDFAD06E7331}" type="parTrans" cxnId="{4B7FA7A3-A52F-4B77-B023-2A88C7D776DA}">
      <dgm:prSet/>
      <dgm:spPr/>
      <dgm:t>
        <a:bodyPr/>
        <a:lstStyle/>
        <a:p>
          <a:endParaRPr lang="en-NZ"/>
        </a:p>
      </dgm:t>
    </dgm:pt>
    <dgm:pt modelId="{9CB9BAC1-EE1D-4EB9-AEB9-6BCA66C45B2D}" type="sibTrans" cxnId="{4B7FA7A3-A52F-4B77-B023-2A88C7D776DA}">
      <dgm:prSet/>
      <dgm:spPr/>
      <dgm:t>
        <a:bodyPr/>
        <a:lstStyle/>
        <a:p>
          <a:endParaRPr lang="en-NZ"/>
        </a:p>
      </dgm:t>
    </dgm:pt>
    <dgm:pt modelId="{F26614AA-4572-4B61-945E-F7CE14396210}" type="pres">
      <dgm:prSet presAssocID="{3B4D09A6-E74D-442B-9648-25D9F8A5DEBE}" presName="Name0" presStyleCnt="0">
        <dgm:presLayoutVars>
          <dgm:dir/>
          <dgm:resizeHandles val="exact"/>
        </dgm:presLayoutVars>
      </dgm:prSet>
      <dgm:spPr/>
    </dgm:pt>
    <dgm:pt modelId="{EA622D8B-642C-471E-B5AF-B18167CDC945}" type="pres">
      <dgm:prSet presAssocID="{95A91184-FF56-4207-96FE-A601C653F5E4}" presName="node" presStyleLbl="node1" presStyleIdx="0" presStyleCnt="4">
        <dgm:presLayoutVars>
          <dgm:bulletEnabled val="1"/>
        </dgm:presLayoutVars>
      </dgm:prSet>
      <dgm:spPr/>
    </dgm:pt>
    <dgm:pt modelId="{B5633E5A-5FE0-4C7B-B699-4811AB24B43F}" type="pres">
      <dgm:prSet presAssocID="{063977FA-41CD-4EC4-878F-06E633F9BDD4}" presName="sibTrans" presStyleLbl="sibTrans2D1" presStyleIdx="0" presStyleCnt="3"/>
      <dgm:spPr/>
    </dgm:pt>
    <dgm:pt modelId="{F688D5DC-B4E2-47D9-89B8-4AE2D605D42F}" type="pres">
      <dgm:prSet presAssocID="{063977FA-41CD-4EC4-878F-06E633F9BDD4}" presName="connectorText" presStyleLbl="sibTrans2D1" presStyleIdx="0" presStyleCnt="3"/>
      <dgm:spPr/>
    </dgm:pt>
    <dgm:pt modelId="{7069FDB8-A7AD-4DEA-9A92-2E44A37107A7}" type="pres">
      <dgm:prSet presAssocID="{23814BCD-F66B-4E44-9F4A-B7C4BE26C7A8}" presName="node" presStyleLbl="node1" presStyleIdx="1" presStyleCnt="4">
        <dgm:presLayoutVars>
          <dgm:bulletEnabled val="1"/>
        </dgm:presLayoutVars>
      </dgm:prSet>
      <dgm:spPr/>
    </dgm:pt>
    <dgm:pt modelId="{385E6575-BBD6-4630-9BB6-306396A359C2}" type="pres">
      <dgm:prSet presAssocID="{36581843-94FD-42FC-8D3F-A6051F4512CC}" presName="sibTrans" presStyleLbl="sibTrans2D1" presStyleIdx="1" presStyleCnt="3"/>
      <dgm:spPr/>
    </dgm:pt>
    <dgm:pt modelId="{8427AC2E-7DE9-4F02-9509-166CE37B05BB}" type="pres">
      <dgm:prSet presAssocID="{36581843-94FD-42FC-8D3F-A6051F4512CC}" presName="connectorText" presStyleLbl="sibTrans2D1" presStyleIdx="1" presStyleCnt="3"/>
      <dgm:spPr/>
    </dgm:pt>
    <dgm:pt modelId="{FEF222A4-1101-420B-A493-52D63391DE5A}" type="pres">
      <dgm:prSet presAssocID="{133EBF2C-1EC2-48B6-AD2D-D50B68A4CEAC}" presName="node" presStyleLbl="node1" presStyleIdx="2" presStyleCnt="4">
        <dgm:presLayoutVars>
          <dgm:bulletEnabled val="1"/>
        </dgm:presLayoutVars>
      </dgm:prSet>
      <dgm:spPr/>
    </dgm:pt>
    <dgm:pt modelId="{3FDEF2E2-2D29-4740-88EE-4581B46D7574}" type="pres">
      <dgm:prSet presAssocID="{C71B9499-DCC6-4929-B5F6-2CD2F8F38D02}" presName="sibTrans" presStyleLbl="sibTrans2D1" presStyleIdx="2" presStyleCnt="3"/>
      <dgm:spPr/>
    </dgm:pt>
    <dgm:pt modelId="{5FDB81F2-5ECB-4FAF-8A6D-B853479ADF67}" type="pres">
      <dgm:prSet presAssocID="{C71B9499-DCC6-4929-B5F6-2CD2F8F38D02}" presName="connectorText" presStyleLbl="sibTrans2D1" presStyleIdx="2" presStyleCnt="3"/>
      <dgm:spPr/>
    </dgm:pt>
    <dgm:pt modelId="{300751DD-3597-428C-B528-0D9C70C580BD}" type="pres">
      <dgm:prSet presAssocID="{64767695-FDA7-46E3-82A6-03F5EA60CD02}" presName="node" presStyleLbl="node1" presStyleIdx="3" presStyleCnt="4">
        <dgm:presLayoutVars>
          <dgm:bulletEnabled val="1"/>
        </dgm:presLayoutVars>
      </dgm:prSet>
      <dgm:spPr/>
    </dgm:pt>
  </dgm:ptLst>
  <dgm:cxnLst>
    <dgm:cxn modelId="{384A7106-317D-48DC-88A1-FA563722D7AB}" type="presOf" srcId="{36581843-94FD-42FC-8D3F-A6051F4512CC}" destId="{385E6575-BBD6-4630-9BB6-306396A359C2}" srcOrd="0" destOrd="0" presId="urn:microsoft.com/office/officeart/2005/8/layout/process1"/>
    <dgm:cxn modelId="{44A0CB3D-D5D9-41D2-8D86-24D9B64C006D}" type="presOf" srcId="{95A91184-FF56-4207-96FE-A601C653F5E4}" destId="{EA622D8B-642C-471E-B5AF-B18167CDC945}" srcOrd="0" destOrd="0" presId="urn:microsoft.com/office/officeart/2005/8/layout/process1"/>
    <dgm:cxn modelId="{C165795C-4E12-4C0A-8F17-C76547F1856A}" srcId="{3B4D09A6-E74D-442B-9648-25D9F8A5DEBE}" destId="{133EBF2C-1EC2-48B6-AD2D-D50B68A4CEAC}" srcOrd="2" destOrd="0" parTransId="{9C288A4B-4B8C-43C5-A9A8-942E2E824647}" sibTransId="{C71B9499-DCC6-4929-B5F6-2CD2F8F38D02}"/>
    <dgm:cxn modelId="{3DDBC85E-C302-44C4-9ED5-16E395FA43E1}" type="presOf" srcId="{3B4D09A6-E74D-442B-9648-25D9F8A5DEBE}" destId="{F26614AA-4572-4B61-945E-F7CE14396210}" srcOrd="0" destOrd="0" presId="urn:microsoft.com/office/officeart/2005/8/layout/process1"/>
    <dgm:cxn modelId="{4BFD9A41-EFFB-4658-95BC-5F227959CCC8}" type="presOf" srcId="{063977FA-41CD-4EC4-878F-06E633F9BDD4}" destId="{B5633E5A-5FE0-4C7B-B699-4811AB24B43F}" srcOrd="0" destOrd="0" presId="urn:microsoft.com/office/officeart/2005/8/layout/process1"/>
    <dgm:cxn modelId="{5B984B69-AA6C-4202-80CC-1CCD36C5C7A4}" srcId="{3B4D09A6-E74D-442B-9648-25D9F8A5DEBE}" destId="{23814BCD-F66B-4E44-9F4A-B7C4BE26C7A8}" srcOrd="1" destOrd="0" parTransId="{B9552397-B374-4E9A-B592-8253262D3B01}" sibTransId="{36581843-94FD-42FC-8D3F-A6051F4512CC}"/>
    <dgm:cxn modelId="{D0706D52-B83C-44CB-B6C7-F1C48912D961}" type="presOf" srcId="{64767695-FDA7-46E3-82A6-03F5EA60CD02}" destId="{300751DD-3597-428C-B528-0D9C70C580BD}" srcOrd="0" destOrd="0" presId="urn:microsoft.com/office/officeart/2005/8/layout/process1"/>
    <dgm:cxn modelId="{FF29C57D-EE45-4CE6-BBAD-C9DA393CF49E}" type="presOf" srcId="{C71B9499-DCC6-4929-B5F6-2CD2F8F38D02}" destId="{3FDEF2E2-2D29-4740-88EE-4581B46D7574}" srcOrd="0" destOrd="0" presId="urn:microsoft.com/office/officeart/2005/8/layout/process1"/>
    <dgm:cxn modelId="{93DA7682-1548-4CBC-87B9-CFBEE2CC5B11}" srcId="{3B4D09A6-E74D-442B-9648-25D9F8A5DEBE}" destId="{95A91184-FF56-4207-96FE-A601C653F5E4}" srcOrd="0" destOrd="0" parTransId="{5C80A184-8486-4BFA-903B-811C5B18A37E}" sibTransId="{063977FA-41CD-4EC4-878F-06E633F9BDD4}"/>
    <dgm:cxn modelId="{4B7FA7A3-A52F-4B77-B023-2A88C7D776DA}" srcId="{3B4D09A6-E74D-442B-9648-25D9F8A5DEBE}" destId="{64767695-FDA7-46E3-82A6-03F5EA60CD02}" srcOrd="3" destOrd="0" parTransId="{F0C0A9C1-CFEA-45F0-B99D-CDFAD06E7331}" sibTransId="{9CB9BAC1-EE1D-4EB9-AEB9-6BCA66C45B2D}"/>
    <dgm:cxn modelId="{AAD3D4AC-1C38-4201-8E08-E24E021E16F4}" type="presOf" srcId="{063977FA-41CD-4EC4-878F-06E633F9BDD4}" destId="{F688D5DC-B4E2-47D9-89B8-4AE2D605D42F}" srcOrd="1" destOrd="0" presId="urn:microsoft.com/office/officeart/2005/8/layout/process1"/>
    <dgm:cxn modelId="{9F0192BD-1DC9-43C6-B434-285A6B82F9E2}" type="presOf" srcId="{C71B9499-DCC6-4929-B5F6-2CD2F8F38D02}" destId="{5FDB81F2-5ECB-4FAF-8A6D-B853479ADF67}" srcOrd="1" destOrd="0" presId="urn:microsoft.com/office/officeart/2005/8/layout/process1"/>
    <dgm:cxn modelId="{8168A5BE-C5F0-4B8D-A3A9-D273A48E3EB2}" type="presOf" srcId="{36581843-94FD-42FC-8D3F-A6051F4512CC}" destId="{8427AC2E-7DE9-4F02-9509-166CE37B05BB}" srcOrd="1" destOrd="0" presId="urn:microsoft.com/office/officeart/2005/8/layout/process1"/>
    <dgm:cxn modelId="{0C405BC2-CC94-40C2-98E4-A6685FF54CE3}" type="presOf" srcId="{133EBF2C-1EC2-48B6-AD2D-D50B68A4CEAC}" destId="{FEF222A4-1101-420B-A493-52D63391DE5A}" srcOrd="0" destOrd="0" presId="urn:microsoft.com/office/officeart/2005/8/layout/process1"/>
    <dgm:cxn modelId="{52BC78F5-2D0F-4A93-84DF-CF4C75293EE5}" type="presOf" srcId="{23814BCD-F66B-4E44-9F4A-B7C4BE26C7A8}" destId="{7069FDB8-A7AD-4DEA-9A92-2E44A37107A7}" srcOrd="0" destOrd="0" presId="urn:microsoft.com/office/officeart/2005/8/layout/process1"/>
    <dgm:cxn modelId="{E7E82195-91A6-4554-A706-F26814775A6E}" type="presParOf" srcId="{F26614AA-4572-4B61-945E-F7CE14396210}" destId="{EA622D8B-642C-471E-B5AF-B18167CDC945}" srcOrd="0" destOrd="0" presId="urn:microsoft.com/office/officeart/2005/8/layout/process1"/>
    <dgm:cxn modelId="{CB267C23-60F8-4EFF-8E32-680E24E210C6}" type="presParOf" srcId="{F26614AA-4572-4B61-945E-F7CE14396210}" destId="{B5633E5A-5FE0-4C7B-B699-4811AB24B43F}" srcOrd="1" destOrd="0" presId="urn:microsoft.com/office/officeart/2005/8/layout/process1"/>
    <dgm:cxn modelId="{10B74DF3-84E3-4303-ADAD-A881AC610B92}" type="presParOf" srcId="{B5633E5A-5FE0-4C7B-B699-4811AB24B43F}" destId="{F688D5DC-B4E2-47D9-89B8-4AE2D605D42F}" srcOrd="0" destOrd="0" presId="urn:microsoft.com/office/officeart/2005/8/layout/process1"/>
    <dgm:cxn modelId="{4C1DFE00-99AF-4EAA-BDBB-5A517E4860F0}" type="presParOf" srcId="{F26614AA-4572-4B61-945E-F7CE14396210}" destId="{7069FDB8-A7AD-4DEA-9A92-2E44A37107A7}" srcOrd="2" destOrd="0" presId="urn:microsoft.com/office/officeart/2005/8/layout/process1"/>
    <dgm:cxn modelId="{30C8E701-43C7-47A7-8F33-5CED8FAE804D}" type="presParOf" srcId="{F26614AA-4572-4B61-945E-F7CE14396210}" destId="{385E6575-BBD6-4630-9BB6-306396A359C2}" srcOrd="3" destOrd="0" presId="urn:microsoft.com/office/officeart/2005/8/layout/process1"/>
    <dgm:cxn modelId="{49A69C96-6695-4F57-81F3-1F15867B2CCB}" type="presParOf" srcId="{385E6575-BBD6-4630-9BB6-306396A359C2}" destId="{8427AC2E-7DE9-4F02-9509-166CE37B05BB}" srcOrd="0" destOrd="0" presId="urn:microsoft.com/office/officeart/2005/8/layout/process1"/>
    <dgm:cxn modelId="{CE472BC4-186E-4B3E-B959-ECD019BAA060}" type="presParOf" srcId="{F26614AA-4572-4B61-945E-F7CE14396210}" destId="{FEF222A4-1101-420B-A493-52D63391DE5A}" srcOrd="4" destOrd="0" presId="urn:microsoft.com/office/officeart/2005/8/layout/process1"/>
    <dgm:cxn modelId="{1C1A8637-EE72-4FD4-AD66-2865F9DC269E}" type="presParOf" srcId="{F26614AA-4572-4B61-945E-F7CE14396210}" destId="{3FDEF2E2-2D29-4740-88EE-4581B46D7574}" srcOrd="5" destOrd="0" presId="urn:microsoft.com/office/officeart/2005/8/layout/process1"/>
    <dgm:cxn modelId="{22B26F9F-9063-4BDB-B638-5A919FAC1277}" type="presParOf" srcId="{3FDEF2E2-2D29-4740-88EE-4581B46D7574}" destId="{5FDB81F2-5ECB-4FAF-8A6D-B853479ADF67}" srcOrd="0" destOrd="0" presId="urn:microsoft.com/office/officeart/2005/8/layout/process1"/>
    <dgm:cxn modelId="{A350485E-B6FC-4112-B332-B76EFDAFE38D}" type="presParOf" srcId="{F26614AA-4572-4B61-945E-F7CE14396210}" destId="{300751DD-3597-428C-B528-0D9C70C580B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8CC778C0-7642-4DD0-AB30-1E52FF2A3F4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36491956-834B-43B8-8AAE-02A43CC1D7A0}">
      <dgm:prSet/>
      <dgm:spPr/>
      <dgm:t>
        <a:bodyPr/>
        <a:lstStyle/>
        <a:p>
          <a:r>
            <a:rPr lang="en-US"/>
            <a:t>Container Shipping Costs collapse</a:t>
          </a:r>
          <a:endParaRPr lang="en-NZ"/>
        </a:p>
      </dgm:t>
    </dgm:pt>
    <dgm:pt modelId="{941C2762-36CE-4E7A-9BEA-56A546B0445E}" type="parTrans" cxnId="{A6E3D943-87DD-45DD-9EB4-525043BA630D}">
      <dgm:prSet/>
      <dgm:spPr/>
      <dgm:t>
        <a:bodyPr/>
        <a:lstStyle/>
        <a:p>
          <a:endParaRPr lang="en-NZ"/>
        </a:p>
      </dgm:t>
    </dgm:pt>
    <dgm:pt modelId="{1C4F7EC9-EFB9-4B1B-92C1-CD0ACFA141D2}" type="sibTrans" cxnId="{A6E3D943-87DD-45DD-9EB4-525043BA630D}">
      <dgm:prSet/>
      <dgm:spPr/>
      <dgm:t>
        <a:bodyPr/>
        <a:lstStyle/>
        <a:p>
          <a:endParaRPr lang="en-NZ"/>
        </a:p>
      </dgm:t>
    </dgm:pt>
    <dgm:pt modelId="{18AF0A06-326C-4CB9-8159-6D4A59D4532D}" type="pres">
      <dgm:prSet presAssocID="{8CC778C0-7642-4DD0-AB30-1E52FF2A3F45}" presName="linear" presStyleCnt="0">
        <dgm:presLayoutVars>
          <dgm:animLvl val="lvl"/>
          <dgm:resizeHandles val="exact"/>
        </dgm:presLayoutVars>
      </dgm:prSet>
      <dgm:spPr/>
    </dgm:pt>
    <dgm:pt modelId="{9E62E427-B3D3-44B0-A480-9E5CE9795A21}" type="pres">
      <dgm:prSet presAssocID="{36491956-834B-43B8-8AAE-02A43CC1D7A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6E3D943-87DD-45DD-9EB4-525043BA630D}" srcId="{8CC778C0-7642-4DD0-AB30-1E52FF2A3F45}" destId="{36491956-834B-43B8-8AAE-02A43CC1D7A0}" srcOrd="0" destOrd="0" parTransId="{941C2762-36CE-4E7A-9BEA-56A546B0445E}" sibTransId="{1C4F7EC9-EFB9-4B1B-92C1-CD0ACFA141D2}"/>
    <dgm:cxn modelId="{D54674AA-AA0E-497D-B6C2-C5BAC49F5103}" type="presOf" srcId="{8CC778C0-7642-4DD0-AB30-1E52FF2A3F45}" destId="{18AF0A06-326C-4CB9-8159-6D4A59D4532D}" srcOrd="0" destOrd="0" presId="urn:microsoft.com/office/officeart/2005/8/layout/vList2"/>
    <dgm:cxn modelId="{31D5F2CA-FCBE-4C5E-9149-1A788D1A04B1}" type="presOf" srcId="{36491956-834B-43B8-8AAE-02A43CC1D7A0}" destId="{9E62E427-B3D3-44B0-A480-9E5CE9795A21}" srcOrd="0" destOrd="0" presId="urn:microsoft.com/office/officeart/2005/8/layout/vList2"/>
    <dgm:cxn modelId="{B53EED3C-C9D8-4850-873F-6DC590F51F06}" type="presParOf" srcId="{18AF0A06-326C-4CB9-8159-6D4A59D4532D}" destId="{9E62E427-B3D3-44B0-A480-9E5CE9795A2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E4FFF7DC-7BB1-4C9B-8E7E-BEED1A226059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NZ"/>
        </a:p>
      </dgm:t>
    </dgm:pt>
    <dgm:pt modelId="{94133F14-4C9E-401E-A9B6-9B9EE5DDD9AE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/>
            <a:t>The decline in trade leads to a rapid drop in costs of shipping containers globally.</a:t>
          </a:r>
          <a:endParaRPr lang="en-NZ"/>
        </a:p>
      </dgm:t>
    </dgm:pt>
    <dgm:pt modelId="{E28E8756-1A95-473D-9C37-86F210E06998}" type="parTrans" cxnId="{E8832198-1CFF-48EA-BFD0-D990F8EF9647}">
      <dgm:prSet/>
      <dgm:spPr/>
      <dgm:t>
        <a:bodyPr/>
        <a:lstStyle/>
        <a:p>
          <a:endParaRPr lang="en-NZ"/>
        </a:p>
      </dgm:t>
    </dgm:pt>
    <dgm:pt modelId="{807919DE-A69B-476B-AD87-46A733B9BF63}" type="sibTrans" cxnId="{E8832198-1CFF-48EA-BFD0-D990F8EF9647}">
      <dgm:prSet/>
      <dgm:spPr/>
      <dgm:t>
        <a:bodyPr/>
        <a:lstStyle/>
        <a:p>
          <a:endParaRPr lang="en-NZ"/>
        </a:p>
      </dgm:t>
    </dgm:pt>
    <dgm:pt modelId="{59742B14-9D30-44B6-B6B1-4C4DF8DDC369}" type="pres">
      <dgm:prSet presAssocID="{E4FFF7DC-7BB1-4C9B-8E7E-BEED1A226059}" presName="diagram" presStyleCnt="0">
        <dgm:presLayoutVars>
          <dgm:dir/>
          <dgm:resizeHandles val="exact"/>
        </dgm:presLayoutVars>
      </dgm:prSet>
      <dgm:spPr/>
    </dgm:pt>
    <dgm:pt modelId="{3A9E3F87-F6EB-4217-A438-16081CF47788}" type="pres">
      <dgm:prSet presAssocID="{94133F14-4C9E-401E-A9B6-9B9EE5DDD9AE}" presName="node" presStyleLbl="node1" presStyleIdx="0" presStyleCnt="1">
        <dgm:presLayoutVars>
          <dgm:bulletEnabled val="1"/>
        </dgm:presLayoutVars>
      </dgm:prSet>
      <dgm:spPr/>
    </dgm:pt>
  </dgm:ptLst>
  <dgm:cxnLst>
    <dgm:cxn modelId="{51C62144-93BD-4F68-9ED0-71E0D2F7B9FA}" type="presOf" srcId="{E4FFF7DC-7BB1-4C9B-8E7E-BEED1A226059}" destId="{59742B14-9D30-44B6-B6B1-4C4DF8DDC369}" srcOrd="0" destOrd="0" presId="urn:microsoft.com/office/officeart/2005/8/layout/default"/>
    <dgm:cxn modelId="{E8832198-1CFF-48EA-BFD0-D990F8EF9647}" srcId="{E4FFF7DC-7BB1-4C9B-8E7E-BEED1A226059}" destId="{94133F14-4C9E-401E-A9B6-9B9EE5DDD9AE}" srcOrd="0" destOrd="0" parTransId="{E28E8756-1A95-473D-9C37-86F210E06998}" sibTransId="{807919DE-A69B-476B-AD87-46A733B9BF63}"/>
    <dgm:cxn modelId="{25C8D5EC-C966-4100-BD39-07AB45BEE70D}" type="presOf" srcId="{94133F14-4C9E-401E-A9B6-9B9EE5DDD9AE}" destId="{3A9E3F87-F6EB-4217-A438-16081CF47788}" srcOrd="0" destOrd="0" presId="urn:microsoft.com/office/officeart/2005/8/layout/default"/>
    <dgm:cxn modelId="{4715CC86-B235-4F9F-ACCB-A52990955F89}" type="presParOf" srcId="{59742B14-9D30-44B6-B6B1-4C4DF8DDC369}" destId="{3A9E3F87-F6EB-4217-A438-16081CF4778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7825547E-6043-4993-825C-58DF5035C5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1BC0534E-7E5A-4EB6-B9BC-54FD52D23D5C}">
      <dgm:prSet/>
      <dgm:spPr/>
      <dgm:t>
        <a:bodyPr/>
        <a:lstStyle/>
        <a:p>
          <a:r>
            <a:rPr lang="en-NZ"/>
            <a:t>Solutions: Fiscal Policy</a:t>
          </a:r>
        </a:p>
      </dgm:t>
    </dgm:pt>
    <dgm:pt modelId="{4F6CAAD1-46C9-4C5C-B1AA-C35B847C7244}" type="parTrans" cxnId="{1DF37F43-151A-4BC5-84FB-7A5E087CD4D7}">
      <dgm:prSet/>
      <dgm:spPr/>
      <dgm:t>
        <a:bodyPr/>
        <a:lstStyle/>
        <a:p>
          <a:endParaRPr lang="en-NZ"/>
        </a:p>
      </dgm:t>
    </dgm:pt>
    <dgm:pt modelId="{F60E7A18-1763-47A8-8C8C-FA89C56AF711}" type="sibTrans" cxnId="{1DF37F43-151A-4BC5-84FB-7A5E087CD4D7}">
      <dgm:prSet/>
      <dgm:spPr/>
      <dgm:t>
        <a:bodyPr/>
        <a:lstStyle/>
        <a:p>
          <a:endParaRPr lang="en-NZ"/>
        </a:p>
      </dgm:t>
    </dgm:pt>
    <dgm:pt modelId="{FAA690EB-ECFF-4BD3-B830-CB4D832DD9E5}" type="pres">
      <dgm:prSet presAssocID="{7825547E-6043-4993-825C-58DF5035C5A0}" presName="linear" presStyleCnt="0">
        <dgm:presLayoutVars>
          <dgm:animLvl val="lvl"/>
          <dgm:resizeHandles val="exact"/>
        </dgm:presLayoutVars>
      </dgm:prSet>
      <dgm:spPr/>
    </dgm:pt>
    <dgm:pt modelId="{8DB85E6E-C619-4688-91CF-22C8B55FDFD4}" type="pres">
      <dgm:prSet presAssocID="{1BC0534E-7E5A-4EB6-B9BC-54FD52D23D5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DF37F43-151A-4BC5-84FB-7A5E087CD4D7}" srcId="{7825547E-6043-4993-825C-58DF5035C5A0}" destId="{1BC0534E-7E5A-4EB6-B9BC-54FD52D23D5C}" srcOrd="0" destOrd="0" parTransId="{4F6CAAD1-46C9-4C5C-B1AA-C35B847C7244}" sibTransId="{F60E7A18-1763-47A8-8C8C-FA89C56AF711}"/>
    <dgm:cxn modelId="{F86174B1-341E-42ED-9439-E3980F681773}" type="presOf" srcId="{7825547E-6043-4993-825C-58DF5035C5A0}" destId="{FAA690EB-ECFF-4BD3-B830-CB4D832DD9E5}" srcOrd="0" destOrd="0" presId="urn:microsoft.com/office/officeart/2005/8/layout/vList2"/>
    <dgm:cxn modelId="{EA1A82E0-6C96-40FB-829B-6A944068758C}" type="presOf" srcId="{1BC0534E-7E5A-4EB6-B9BC-54FD52D23D5C}" destId="{8DB85E6E-C619-4688-91CF-22C8B55FDFD4}" srcOrd="0" destOrd="0" presId="urn:microsoft.com/office/officeart/2005/8/layout/vList2"/>
    <dgm:cxn modelId="{25880B4F-23DE-4463-8A2D-F87137AF223F}" type="presParOf" srcId="{FAA690EB-ECFF-4BD3-B830-CB4D832DD9E5}" destId="{8DB85E6E-C619-4688-91CF-22C8B55FDFD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25A2E0C3-4743-4A4A-B08F-0C4ABEC7F6F2}" type="doc">
      <dgm:prSet loTypeId="urn:microsoft.com/office/officeart/2005/8/layout/process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NZ"/>
        </a:p>
      </dgm:t>
    </dgm:pt>
    <dgm:pt modelId="{38B57752-4F94-4DBA-94F2-F4ABB8854F3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Conventional macroeconomic policies were adopted</a:t>
          </a:r>
        </a:p>
      </dgm:t>
    </dgm:pt>
    <dgm:pt modelId="{172CEDD5-0F56-4F3E-B9B5-82AA455EB14D}" type="parTrans" cxnId="{5CEC0822-F01E-4A83-8858-B8FB8F0D7617}">
      <dgm:prSet/>
      <dgm:spPr/>
      <dgm:t>
        <a:bodyPr/>
        <a:lstStyle/>
        <a:p>
          <a:endParaRPr lang="en-NZ"/>
        </a:p>
      </dgm:t>
    </dgm:pt>
    <dgm:pt modelId="{C1CBFC19-2B1F-462D-9D71-4FF6EF31162D}" type="sibTrans" cxnId="{5CEC0822-F01E-4A83-8858-B8FB8F0D7617}">
      <dgm:prSet/>
      <dgm:spPr/>
      <dgm:t>
        <a:bodyPr/>
        <a:lstStyle/>
        <a:p>
          <a:endParaRPr lang="en-NZ"/>
        </a:p>
      </dgm:t>
    </dgm:pt>
    <dgm:pt modelId="{A45670D2-1D67-4436-86CC-E375FD8B3720}">
      <dgm:prSet/>
      <dgm:spPr/>
      <dgm:t>
        <a:bodyPr/>
        <a:lstStyle/>
        <a:p>
          <a:r>
            <a:rPr lang="en-NZ"/>
            <a:t>Many countries enacted expansionary fiscal policies within 3 months of the crisis (tax cuts, spending increases)</a:t>
          </a:r>
        </a:p>
      </dgm:t>
    </dgm:pt>
    <dgm:pt modelId="{327610AA-C990-4A11-8490-4A56E9196F7D}" type="parTrans" cxnId="{AEC17876-5BE1-4549-A80A-D7A8BB1D4256}">
      <dgm:prSet/>
      <dgm:spPr/>
      <dgm:t>
        <a:bodyPr/>
        <a:lstStyle/>
        <a:p>
          <a:endParaRPr lang="en-NZ"/>
        </a:p>
      </dgm:t>
    </dgm:pt>
    <dgm:pt modelId="{F391F916-4A5C-4FBB-8177-8836D3B84D55}" type="sibTrans" cxnId="{AEC17876-5BE1-4549-A80A-D7A8BB1D4256}">
      <dgm:prSet/>
      <dgm:spPr/>
      <dgm:t>
        <a:bodyPr/>
        <a:lstStyle/>
        <a:p>
          <a:endParaRPr lang="en-NZ"/>
        </a:p>
      </dgm:t>
    </dgm:pt>
    <dgm:pt modelId="{BD1AB393-E8F6-48DE-83E2-F8DB95114149}">
      <dgm:prSet/>
      <dgm:spPr/>
      <dgm:t>
        <a:bodyPr/>
        <a:lstStyle/>
        <a:p>
          <a:r>
            <a:rPr lang="en-NZ"/>
            <a:t>The OECD estimates OECD countries spent about 3.5% of GDP on their fiscal stimulus.</a:t>
          </a:r>
        </a:p>
      </dgm:t>
    </dgm:pt>
    <dgm:pt modelId="{2E65A504-D7D3-4439-9935-67C69B06F9D1}" type="parTrans" cxnId="{BEE505A1-863E-46EA-925C-D4F85AC8545F}">
      <dgm:prSet/>
      <dgm:spPr/>
      <dgm:t>
        <a:bodyPr/>
        <a:lstStyle/>
        <a:p>
          <a:endParaRPr lang="en-NZ"/>
        </a:p>
      </dgm:t>
    </dgm:pt>
    <dgm:pt modelId="{A194AFF6-DE49-404F-927F-844C57A7C0E7}" type="sibTrans" cxnId="{BEE505A1-863E-46EA-925C-D4F85AC8545F}">
      <dgm:prSet/>
      <dgm:spPr/>
      <dgm:t>
        <a:bodyPr/>
        <a:lstStyle/>
        <a:p>
          <a:endParaRPr lang="en-NZ"/>
        </a:p>
      </dgm:t>
    </dgm:pt>
    <dgm:pt modelId="{5F7BE548-3622-4F34-872E-37F222C4480E}">
      <dgm:prSet/>
      <dgm:spPr/>
      <dgm:t>
        <a:bodyPr/>
        <a:lstStyle/>
        <a:p>
          <a:r>
            <a:rPr lang="en-NZ"/>
            <a:t>China spent 19%, Brazil spent 15%!</a:t>
          </a:r>
        </a:p>
      </dgm:t>
    </dgm:pt>
    <dgm:pt modelId="{3C56B758-7AE2-4A2A-968C-467709CBA32B}" type="parTrans" cxnId="{56928407-1F70-4275-B2C9-7033D27676E5}">
      <dgm:prSet/>
      <dgm:spPr/>
      <dgm:t>
        <a:bodyPr/>
        <a:lstStyle/>
        <a:p>
          <a:endParaRPr lang="en-NZ"/>
        </a:p>
      </dgm:t>
    </dgm:pt>
    <dgm:pt modelId="{EA9C2CF7-C078-4C19-B69E-BCC38DF961BB}" type="sibTrans" cxnId="{56928407-1F70-4275-B2C9-7033D27676E5}">
      <dgm:prSet/>
      <dgm:spPr/>
      <dgm:t>
        <a:bodyPr/>
        <a:lstStyle/>
        <a:p>
          <a:endParaRPr lang="en-NZ"/>
        </a:p>
      </dgm:t>
    </dgm:pt>
    <dgm:pt modelId="{55209B14-5FF8-47D6-BF6E-62507400AC3C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This was fast and large by pre-Covid19 standards</a:t>
          </a:r>
        </a:p>
      </dgm:t>
    </dgm:pt>
    <dgm:pt modelId="{24A5D081-E7C1-432D-B460-AF27C486F899}" type="parTrans" cxnId="{703D28DD-2522-4F42-A040-F2218B17E3A5}">
      <dgm:prSet/>
      <dgm:spPr/>
      <dgm:t>
        <a:bodyPr/>
        <a:lstStyle/>
        <a:p>
          <a:endParaRPr lang="en-NZ"/>
        </a:p>
      </dgm:t>
    </dgm:pt>
    <dgm:pt modelId="{A2B12F66-8AC1-4050-945E-C382428B2FA3}" type="sibTrans" cxnId="{703D28DD-2522-4F42-A040-F2218B17E3A5}">
      <dgm:prSet/>
      <dgm:spPr/>
      <dgm:t>
        <a:bodyPr/>
        <a:lstStyle/>
        <a:p>
          <a:endParaRPr lang="en-NZ"/>
        </a:p>
      </dgm:t>
    </dgm:pt>
    <dgm:pt modelId="{82BE2839-7493-4EF3-A596-679C4F48773C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It was not enough to prevent recessions</a:t>
          </a:r>
        </a:p>
      </dgm:t>
    </dgm:pt>
    <dgm:pt modelId="{2D471E4C-5230-4486-A690-00B421E11D13}" type="parTrans" cxnId="{19C574B5-FEE9-4055-9A16-D2266F44C218}">
      <dgm:prSet/>
      <dgm:spPr/>
      <dgm:t>
        <a:bodyPr/>
        <a:lstStyle/>
        <a:p>
          <a:endParaRPr lang="en-NZ"/>
        </a:p>
      </dgm:t>
    </dgm:pt>
    <dgm:pt modelId="{A3B1148C-CADD-465A-BCF4-4EAAF40E57A7}" type="sibTrans" cxnId="{19C574B5-FEE9-4055-9A16-D2266F44C218}">
      <dgm:prSet/>
      <dgm:spPr/>
      <dgm:t>
        <a:bodyPr/>
        <a:lstStyle/>
        <a:p>
          <a:endParaRPr lang="en-NZ"/>
        </a:p>
      </dgm:t>
    </dgm:pt>
    <dgm:pt modelId="{6A5D0E1B-2259-4F4A-A7D7-0173922314B3}" type="pres">
      <dgm:prSet presAssocID="{25A2E0C3-4743-4A4A-B08F-0C4ABEC7F6F2}" presName="Name0" presStyleCnt="0">
        <dgm:presLayoutVars>
          <dgm:dir/>
          <dgm:animLvl val="lvl"/>
          <dgm:resizeHandles val="exact"/>
        </dgm:presLayoutVars>
      </dgm:prSet>
      <dgm:spPr/>
    </dgm:pt>
    <dgm:pt modelId="{45320BD8-683A-444B-B1B2-C9A7524D4942}" type="pres">
      <dgm:prSet presAssocID="{82BE2839-7493-4EF3-A596-679C4F48773C}" presName="boxAndChildren" presStyleCnt="0"/>
      <dgm:spPr/>
    </dgm:pt>
    <dgm:pt modelId="{EDEFCCB1-27C8-4DB2-8A73-8315FB8D9E6B}" type="pres">
      <dgm:prSet presAssocID="{82BE2839-7493-4EF3-A596-679C4F48773C}" presName="parentTextBox" presStyleLbl="node1" presStyleIdx="0" presStyleCnt="3"/>
      <dgm:spPr/>
    </dgm:pt>
    <dgm:pt modelId="{F12130D8-3112-4919-A375-627159097A89}" type="pres">
      <dgm:prSet presAssocID="{A2B12F66-8AC1-4050-945E-C382428B2FA3}" presName="sp" presStyleCnt="0"/>
      <dgm:spPr/>
    </dgm:pt>
    <dgm:pt modelId="{9256E828-B1C3-4434-94AF-72FC59A5FB41}" type="pres">
      <dgm:prSet presAssocID="{55209B14-5FF8-47D6-BF6E-62507400AC3C}" presName="arrowAndChildren" presStyleCnt="0"/>
      <dgm:spPr/>
    </dgm:pt>
    <dgm:pt modelId="{6C63C1A7-7633-4BB2-978D-57358A366A87}" type="pres">
      <dgm:prSet presAssocID="{55209B14-5FF8-47D6-BF6E-62507400AC3C}" presName="parentTextArrow" presStyleLbl="node1" presStyleIdx="1" presStyleCnt="3"/>
      <dgm:spPr/>
    </dgm:pt>
    <dgm:pt modelId="{10EF8715-A66C-44AC-8305-A2BC3C4533ED}" type="pres">
      <dgm:prSet presAssocID="{C1CBFC19-2B1F-462D-9D71-4FF6EF31162D}" presName="sp" presStyleCnt="0"/>
      <dgm:spPr/>
    </dgm:pt>
    <dgm:pt modelId="{816C5178-202B-4649-B7F7-DDA066169AC8}" type="pres">
      <dgm:prSet presAssocID="{38B57752-4F94-4DBA-94F2-F4ABB8854F36}" presName="arrowAndChildren" presStyleCnt="0"/>
      <dgm:spPr/>
    </dgm:pt>
    <dgm:pt modelId="{D0ED2D53-C70E-4C3A-9DFC-DAF01121659D}" type="pres">
      <dgm:prSet presAssocID="{38B57752-4F94-4DBA-94F2-F4ABB8854F36}" presName="parentTextArrow" presStyleLbl="node1" presStyleIdx="1" presStyleCnt="3"/>
      <dgm:spPr/>
    </dgm:pt>
    <dgm:pt modelId="{2C075235-3265-4D03-BC42-248029ADEDCD}" type="pres">
      <dgm:prSet presAssocID="{38B57752-4F94-4DBA-94F2-F4ABB8854F36}" presName="arrow" presStyleLbl="node1" presStyleIdx="2" presStyleCnt="3"/>
      <dgm:spPr/>
    </dgm:pt>
    <dgm:pt modelId="{2678FED4-894E-461D-BE97-944C4101ACA2}" type="pres">
      <dgm:prSet presAssocID="{38B57752-4F94-4DBA-94F2-F4ABB8854F36}" presName="descendantArrow" presStyleCnt="0"/>
      <dgm:spPr/>
    </dgm:pt>
    <dgm:pt modelId="{37216AE9-FAC3-4729-8E91-46A4E1E07ED9}" type="pres">
      <dgm:prSet presAssocID="{A45670D2-1D67-4436-86CC-E375FD8B3720}" presName="childTextArrow" presStyleLbl="fgAccFollowNode1" presStyleIdx="0" presStyleCnt="3">
        <dgm:presLayoutVars>
          <dgm:bulletEnabled val="1"/>
        </dgm:presLayoutVars>
      </dgm:prSet>
      <dgm:spPr/>
    </dgm:pt>
    <dgm:pt modelId="{DCBF42C5-29B2-4DDE-83EE-AF78A865B51E}" type="pres">
      <dgm:prSet presAssocID="{BD1AB393-E8F6-48DE-83E2-F8DB95114149}" presName="childTextArrow" presStyleLbl="fgAccFollowNode1" presStyleIdx="1" presStyleCnt="3">
        <dgm:presLayoutVars>
          <dgm:bulletEnabled val="1"/>
        </dgm:presLayoutVars>
      </dgm:prSet>
      <dgm:spPr/>
    </dgm:pt>
    <dgm:pt modelId="{E30B63F1-7681-43A9-A610-D42F008AA418}" type="pres">
      <dgm:prSet presAssocID="{5F7BE548-3622-4F34-872E-37F222C4480E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56928407-1F70-4275-B2C9-7033D27676E5}" srcId="{38B57752-4F94-4DBA-94F2-F4ABB8854F36}" destId="{5F7BE548-3622-4F34-872E-37F222C4480E}" srcOrd="2" destOrd="0" parTransId="{3C56B758-7AE2-4A2A-968C-467709CBA32B}" sibTransId="{EA9C2CF7-C078-4C19-B69E-BCC38DF961BB}"/>
    <dgm:cxn modelId="{5CEC0822-F01E-4A83-8858-B8FB8F0D7617}" srcId="{25A2E0C3-4743-4A4A-B08F-0C4ABEC7F6F2}" destId="{38B57752-4F94-4DBA-94F2-F4ABB8854F36}" srcOrd="0" destOrd="0" parTransId="{172CEDD5-0F56-4F3E-B9B5-82AA455EB14D}" sibTransId="{C1CBFC19-2B1F-462D-9D71-4FF6EF31162D}"/>
    <dgm:cxn modelId="{142BE45B-CE55-405D-B61C-61D0E5FE9C46}" type="presOf" srcId="{55209B14-5FF8-47D6-BF6E-62507400AC3C}" destId="{6C63C1A7-7633-4BB2-978D-57358A366A87}" srcOrd="0" destOrd="0" presId="urn:microsoft.com/office/officeart/2005/8/layout/process4"/>
    <dgm:cxn modelId="{8C78AB41-56DE-4D77-AFD8-AD49DDFEFA62}" type="presOf" srcId="{5F7BE548-3622-4F34-872E-37F222C4480E}" destId="{E30B63F1-7681-43A9-A610-D42F008AA418}" srcOrd="0" destOrd="0" presId="urn:microsoft.com/office/officeart/2005/8/layout/process4"/>
    <dgm:cxn modelId="{E564C569-3A2B-4C97-A733-EE926333CBB3}" type="presOf" srcId="{38B57752-4F94-4DBA-94F2-F4ABB8854F36}" destId="{D0ED2D53-C70E-4C3A-9DFC-DAF01121659D}" srcOrd="0" destOrd="0" presId="urn:microsoft.com/office/officeart/2005/8/layout/process4"/>
    <dgm:cxn modelId="{484DFC6C-F5F3-4F99-A6FB-41E3882E953D}" type="presOf" srcId="{BD1AB393-E8F6-48DE-83E2-F8DB95114149}" destId="{DCBF42C5-29B2-4DDE-83EE-AF78A865B51E}" srcOrd="0" destOrd="0" presId="urn:microsoft.com/office/officeart/2005/8/layout/process4"/>
    <dgm:cxn modelId="{90551373-8D7C-4FB5-883E-8C601DF39CE6}" type="presOf" srcId="{A45670D2-1D67-4436-86CC-E375FD8B3720}" destId="{37216AE9-FAC3-4729-8E91-46A4E1E07ED9}" srcOrd="0" destOrd="0" presId="urn:microsoft.com/office/officeart/2005/8/layout/process4"/>
    <dgm:cxn modelId="{AEC17876-5BE1-4549-A80A-D7A8BB1D4256}" srcId="{38B57752-4F94-4DBA-94F2-F4ABB8854F36}" destId="{A45670D2-1D67-4436-86CC-E375FD8B3720}" srcOrd="0" destOrd="0" parTransId="{327610AA-C990-4A11-8490-4A56E9196F7D}" sibTransId="{F391F916-4A5C-4FBB-8177-8836D3B84D55}"/>
    <dgm:cxn modelId="{BEE505A1-863E-46EA-925C-D4F85AC8545F}" srcId="{38B57752-4F94-4DBA-94F2-F4ABB8854F36}" destId="{BD1AB393-E8F6-48DE-83E2-F8DB95114149}" srcOrd="1" destOrd="0" parTransId="{2E65A504-D7D3-4439-9935-67C69B06F9D1}" sibTransId="{A194AFF6-DE49-404F-927F-844C57A7C0E7}"/>
    <dgm:cxn modelId="{19C574B5-FEE9-4055-9A16-D2266F44C218}" srcId="{25A2E0C3-4743-4A4A-B08F-0C4ABEC7F6F2}" destId="{82BE2839-7493-4EF3-A596-679C4F48773C}" srcOrd="2" destOrd="0" parTransId="{2D471E4C-5230-4486-A690-00B421E11D13}" sibTransId="{A3B1148C-CADD-465A-BCF4-4EAAF40E57A7}"/>
    <dgm:cxn modelId="{12F602BD-6511-4F86-B2C9-BF4581F98350}" type="presOf" srcId="{25A2E0C3-4743-4A4A-B08F-0C4ABEC7F6F2}" destId="{6A5D0E1B-2259-4F4A-A7D7-0173922314B3}" srcOrd="0" destOrd="0" presId="urn:microsoft.com/office/officeart/2005/8/layout/process4"/>
    <dgm:cxn modelId="{21648FD5-BD87-41E3-938C-FC3902FAE72D}" type="presOf" srcId="{38B57752-4F94-4DBA-94F2-F4ABB8854F36}" destId="{2C075235-3265-4D03-BC42-248029ADEDCD}" srcOrd="1" destOrd="0" presId="urn:microsoft.com/office/officeart/2005/8/layout/process4"/>
    <dgm:cxn modelId="{703D28DD-2522-4F42-A040-F2218B17E3A5}" srcId="{25A2E0C3-4743-4A4A-B08F-0C4ABEC7F6F2}" destId="{55209B14-5FF8-47D6-BF6E-62507400AC3C}" srcOrd="1" destOrd="0" parTransId="{24A5D081-E7C1-432D-B460-AF27C486F899}" sibTransId="{A2B12F66-8AC1-4050-945E-C382428B2FA3}"/>
    <dgm:cxn modelId="{DE8627F2-C64A-47D6-A7CA-09404500794E}" type="presOf" srcId="{82BE2839-7493-4EF3-A596-679C4F48773C}" destId="{EDEFCCB1-27C8-4DB2-8A73-8315FB8D9E6B}" srcOrd="0" destOrd="0" presId="urn:microsoft.com/office/officeart/2005/8/layout/process4"/>
    <dgm:cxn modelId="{D9BDE305-66E0-48C8-900B-B6BB6EA97BC9}" type="presParOf" srcId="{6A5D0E1B-2259-4F4A-A7D7-0173922314B3}" destId="{45320BD8-683A-444B-B1B2-C9A7524D4942}" srcOrd="0" destOrd="0" presId="urn:microsoft.com/office/officeart/2005/8/layout/process4"/>
    <dgm:cxn modelId="{AA4D472E-19D0-474A-B22D-684FF307A49E}" type="presParOf" srcId="{45320BD8-683A-444B-B1B2-C9A7524D4942}" destId="{EDEFCCB1-27C8-4DB2-8A73-8315FB8D9E6B}" srcOrd="0" destOrd="0" presId="urn:microsoft.com/office/officeart/2005/8/layout/process4"/>
    <dgm:cxn modelId="{D764CCB1-A4F7-4881-BE9E-9969EF4C2F8D}" type="presParOf" srcId="{6A5D0E1B-2259-4F4A-A7D7-0173922314B3}" destId="{F12130D8-3112-4919-A375-627159097A89}" srcOrd="1" destOrd="0" presId="urn:microsoft.com/office/officeart/2005/8/layout/process4"/>
    <dgm:cxn modelId="{86092B60-5791-4A3C-A1A0-D3F11C02C415}" type="presParOf" srcId="{6A5D0E1B-2259-4F4A-A7D7-0173922314B3}" destId="{9256E828-B1C3-4434-94AF-72FC59A5FB41}" srcOrd="2" destOrd="0" presId="urn:microsoft.com/office/officeart/2005/8/layout/process4"/>
    <dgm:cxn modelId="{27E809B0-60DF-46CA-A169-47CA95E83F54}" type="presParOf" srcId="{9256E828-B1C3-4434-94AF-72FC59A5FB41}" destId="{6C63C1A7-7633-4BB2-978D-57358A366A87}" srcOrd="0" destOrd="0" presId="urn:microsoft.com/office/officeart/2005/8/layout/process4"/>
    <dgm:cxn modelId="{D0EE203D-BC0A-4E3C-B075-413FE718B5F2}" type="presParOf" srcId="{6A5D0E1B-2259-4F4A-A7D7-0173922314B3}" destId="{10EF8715-A66C-44AC-8305-A2BC3C4533ED}" srcOrd="3" destOrd="0" presId="urn:microsoft.com/office/officeart/2005/8/layout/process4"/>
    <dgm:cxn modelId="{961B215E-9365-4E5F-9605-C6F04F0ED0AC}" type="presParOf" srcId="{6A5D0E1B-2259-4F4A-A7D7-0173922314B3}" destId="{816C5178-202B-4649-B7F7-DDA066169AC8}" srcOrd="4" destOrd="0" presId="urn:microsoft.com/office/officeart/2005/8/layout/process4"/>
    <dgm:cxn modelId="{5D4B7B1B-4AE0-4629-B651-7712077E0EB8}" type="presParOf" srcId="{816C5178-202B-4649-B7F7-DDA066169AC8}" destId="{D0ED2D53-C70E-4C3A-9DFC-DAF01121659D}" srcOrd="0" destOrd="0" presId="urn:microsoft.com/office/officeart/2005/8/layout/process4"/>
    <dgm:cxn modelId="{095FA3DC-5349-4E3A-9545-8BE2E4F3A99E}" type="presParOf" srcId="{816C5178-202B-4649-B7F7-DDA066169AC8}" destId="{2C075235-3265-4D03-BC42-248029ADEDCD}" srcOrd="1" destOrd="0" presId="urn:microsoft.com/office/officeart/2005/8/layout/process4"/>
    <dgm:cxn modelId="{4B088A08-7185-4F39-AC94-F958CEA49084}" type="presParOf" srcId="{816C5178-202B-4649-B7F7-DDA066169AC8}" destId="{2678FED4-894E-461D-BE97-944C4101ACA2}" srcOrd="2" destOrd="0" presId="urn:microsoft.com/office/officeart/2005/8/layout/process4"/>
    <dgm:cxn modelId="{256B6355-CE59-4F6D-AC28-4D6AC53BAB36}" type="presParOf" srcId="{2678FED4-894E-461D-BE97-944C4101ACA2}" destId="{37216AE9-FAC3-4729-8E91-46A4E1E07ED9}" srcOrd="0" destOrd="0" presId="urn:microsoft.com/office/officeart/2005/8/layout/process4"/>
    <dgm:cxn modelId="{006450BC-3553-4C45-B853-E8AE7062F24E}" type="presParOf" srcId="{2678FED4-894E-461D-BE97-944C4101ACA2}" destId="{DCBF42C5-29B2-4DDE-83EE-AF78A865B51E}" srcOrd="1" destOrd="0" presId="urn:microsoft.com/office/officeart/2005/8/layout/process4"/>
    <dgm:cxn modelId="{A9356CDC-E06D-44D4-AEBD-1212BA1D7D0A}" type="presParOf" srcId="{2678FED4-894E-461D-BE97-944C4101ACA2}" destId="{E30B63F1-7681-43A9-A610-D42F008AA418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A0DF1226-A30A-416E-8BE2-96EFEA3F1DE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5511BC37-D8A4-47E4-A423-C1295097A5C8}">
      <dgm:prSet/>
      <dgm:spPr/>
      <dgm:t>
        <a:bodyPr/>
        <a:lstStyle/>
        <a:p>
          <a:r>
            <a:rPr lang="en-NZ"/>
            <a:t>Solutions: Conventional Monetary Policy</a:t>
          </a:r>
        </a:p>
      </dgm:t>
    </dgm:pt>
    <dgm:pt modelId="{B3E32BC8-6F61-4CC0-B45B-FC26DCF8A50C}" type="parTrans" cxnId="{4FF5900C-4B4A-496A-8252-8FFA3D47E32B}">
      <dgm:prSet/>
      <dgm:spPr/>
      <dgm:t>
        <a:bodyPr/>
        <a:lstStyle/>
        <a:p>
          <a:endParaRPr lang="en-NZ"/>
        </a:p>
      </dgm:t>
    </dgm:pt>
    <dgm:pt modelId="{BB8B5733-628B-48F6-866E-BEE9C1BF80B3}" type="sibTrans" cxnId="{4FF5900C-4B4A-496A-8252-8FFA3D47E32B}">
      <dgm:prSet/>
      <dgm:spPr/>
      <dgm:t>
        <a:bodyPr/>
        <a:lstStyle/>
        <a:p>
          <a:endParaRPr lang="en-NZ"/>
        </a:p>
      </dgm:t>
    </dgm:pt>
    <dgm:pt modelId="{4104ADB4-D6BB-4FE0-9DDB-53102208DB4C}" type="pres">
      <dgm:prSet presAssocID="{A0DF1226-A30A-416E-8BE2-96EFEA3F1DE9}" presName="linear" presStyleCnt="0">
        <dgm:presLayoutVars>
          <dgm:animLvl val="lvl"/>
          <dgm:resizeHandles val="exact"/>
        </dgm:presLayoutVars>
      </dgm:prSet>
      <dgm:spPr/>
    </dgm:pt>
    <dgm:pt modelId="{D940D10C-D1C2-4E03-AA2B-79EDCFE867B0}" type="pres">
      <dgm:prSet presAssocID="{5511BC37-D8A4-47E4-A423-C1295097A5C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1A7630B-C2E2-4FE6-965E-ACB450FA48CE}" type="presOf" srcId="{A0DF1226-A30A-416E-8BE2-96EFEA3F1DE9}" destId="{4104ADB4-D6BB-4FE0-9DDB-53102208DB4C}" srcOrd="0" destOrd="0" presId="urn:microsoft.com/office/officeart/2005/8/layout/vList2"/>
    <dgm:cxn modelId="{4FF5900C-4B4A-496A-8252-8FFA3D47E32B}" srcId="{A0DF1226-A30A-416E-8BE2-96EFEA3F1DE9}" destId="{5511BC37-D8A4-47E4-A423-C1295097A5C8}" srcOrd="0" destOrd="0" parTransId="{B3E32BC8-6F61-4CC0-B45B-FC26DCF8A50C}" sibTransId="{BB8B5733-628B-48F6-866E-BEE9C1BF80B3}"/>
    <dgm:cxn modelId="{11BC12CB-2302-4A3F-AA74-9438CA859762}" type="presOf" srcId="{5511BC37-D8A4-47E4-A423-C1295097A5C8}" destId="{D940D10C-D1C2-4E03-AA2B-79EDCFE867B0}" srcOrd="0" destOrd="0" presId="urn:microsoft.com/office/officeart/2005/8/layout/vList2"/>
    <dgm:cxn modelId="{2E2ADABB-4E43-49EE-B5CC-AFAC49F043F2}" type="presParOf" srcId="{4104ADB4-D6BB-4FE0-9DDB-53102208DB4C}" destId="{D940D10C-D1C2-4E03-AA2B-79EDCFE867B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09AE34A-2A15-4FC5-92CA-268B34E1C9C2}" type="doc">
      <dgm:prSet loTypeId="urn:microsoft.com/office/officeart/2005/8/layout/process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NZ"/>
        </a:p>
      </dgm:t>
    </dgm:pt>
    <dgm:pt modelId="{94A93D37-4B5A-4EC0-AB4D-E12EE86BE208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Central Banks lowered interest rates aggressively</a:t>
          </a:r>
        </a:p>
      </dgm:t>
    </dgm:pt>
    <dgm:pt modelId="{B40E2F39-340F-4B8B-954D-B5DF2A6882F0}" type="parTrans" cxnId="{0848DABD-9C63-419E-AFA7-AFD1811EF248}">
      <dgm:prSet/>
      <dgm:spPr/>
      <dgm:t>
        <a:bodyPr/>
        <a:lstStyle/>
        <a:p>
          <a:endParaRPr lang="en-NZ"/>
        </a:p>
      </dgm:t>
    </dgm:pt>
    <dgm:pt modelId="{409E0B69-38A8-436D-AD88-6839E7047A71}" type="sibTrans" cxnId="{0848DABD-9C63-419E-AFA7-AFD1811EF248}">
      <dgm:prSet/>
      <dgm:spPr/>
      <dgm:t>
        <a:bodyPr/>
        <a:lstStyle/>
        <a:p>
          <a:endParaRPr lang="en-NZ"/>
        </a:p>
      </dgm:t>
    </dgm:pt>
    <dgm:pt modelId="{62F3AA24-B54B-4EC5-BC07-7418CB90BF29}">
      <dgm:prSet/>
      <dgm:spPr/>
      <dgm:t>
        <a:bodyPr/>
        <a:lstStyle/>
        <a:p>
          <a:r>
            <a:rPr lang="en-NZ"/>
            <a:t>US Federal Reserve cut theirs to 0% in December 2008</a:t>
          </a:r>
        </a:p>
      </dgm:t>
    </dgm:pt>
    <dgm:pt modelId="{EA255C5C-EBF0-48C3-BD59-4583CD904810}" type="parTrans" cxnId="{3C5834DC-9668-492F-85CE-0B1927EBD319}">
      <dgm:prSet/>
      <dgm:spPr/>
      <dgm:t>
        <a:bodyPr/>
        <a:lstStyle/>
        <a:p>
          <a:endParaRPr lang="en-NZ"/>
        </a:p>
      </dgm:t>
    </dgm:pt>
    <dgm:pt modelId="{AE61D134-15BE-4AC3-AC06-DF62E84216FC}" type="sibTrans" cxnId="{3C5834DC-9668-492F-85CE-0B1927EBD319}">
      <dgm:prSet/>
      <dgm:spPr/>
      <dgm:t>
        <a:bodyPr/>
        <a:lstStyle/>
        <a:p>
          <a:endParaRPr lang="en-NZ"/>
        </a:p>
      </dgm:t>
    </dgm:pt>
    <dgm:pt modelId="{A138BA0D-0308-4289-BABD-227E7B2C8F66}">
      <dgm:prSet/>
      <dgm:spPr/>
      <dgm:t>
        <a:bodyPr/>
        <a:lstStyle/>
        <a:p>
          <a:r>
            <a:rPr lang="en-NZ"/>
            <a:t>European Central Bank cut theirs to 1%</a:t>
          </a:r>
        </a:p>
      </dgm:t>
    </dgm:pt>
    <dgm:pt modelId="{25FD706B-E4E8-4DC5-B195-15BDF8D0CD1F}" type="parTrans" cxnId="{99C91EB7-3036-4111-933A-D0ACED62BE77}">
      <dgm:prSet/>
      <dgm:spPr/>
      <dgm:t>
        <a:bodyPr/>
        <a:lstStyle/>
        <a:p>
          <a:endParaRPr lang="en-NZ"/>
        </a:p>
      </dgm:t>
    </dgm:pt>
    <dgm:pt modelId="{AEE666F5-E948-4EE3-8B5D-06639E6A641C}" type="sibTrans" cxnId="{99C91EB7-3036-4111-933A-D0ACED62BE77}">
      <dgm:prSet/>
      <dgm:spPr/>
      <dgm:t>
        <a:bodyPr/>
        <a:lstStyle/>
        <a:p>
          <a:endParaRPr lang="en-NZ"/>
        </a:p>
      </dgm:t>
    </dgm:pt>
    <dgm:pt modelId="{49D430A0-1921-45CE-B458-23FDBEB06D75}">
      <dgm:prSet/>
      <dgm:spPr/>
      <dgm:t>
        <a:bodyPr/>
        <a:lstStyle/>
        <a:p>
          <a:r>
            <a:rPr lang="en-NZ"/>
            <a:t>Australia went from 7.25 to 3% by April 2009</a:t>
          </a:r>
        </a:p>
      </dgm:t>
    </dgm:pt>
    <dgm:pt modelId="{94AE3B7A-85A6-4712-8F22-8D072D6872DA}" type="parTrans" cxnId="{E1433D2F-ED17-4C70-BE4B-A443D4BB8440}">
      <dgm:prSet/>
      <dgm:spPr/>
      <dgm:t>
        <a:bodyPr/>
        <a:lstStyle/>
        <a:p>
          <a:endParaRPr lang="en-NZ"/>
        </a:p>
      </dgm:t>
    </dgm:pt>
    <dgm:pt modelId="{2F3DBA0B-13F0-4ABE-B69A-235168FCCABE}" type="sibTrans" cxnId="{E1433D2F-ED17-4C70-BE4B-A443D4BB8440}">
      <dgm:prSet/>
      <dgm:spPr/>
      <dgm:t>
        <a:bodyPr/>
        <a:lstStyle/>
        <a:p>
          <a:endParaRPr lang="en-NZ"/>
        </a:p>
      </dgm:t>
    </dgm:pt>
    <dgm:pt modelId="{AB8DB556-87D8-4B6F-8842-8C4749728780}">
      <dgm:prSet/>
      <dgm:spPr/>
      <dgm:t>
        <a:bodyPr/>
        <a:lstStyle/>
        <a:p>
          <a:r>
            <a:rPr lang="en-NZ"/>
            <a:t>NZ was similar dropping to 2.5% from around 7.5%</a:t>
          </a:r>
        </a:p>
      </dgm:t>
    </dgm:pt>
    <dgm:pt modelId="{6C8AD416-DE7F-401E-9FCE-002DC6CA9A88}" type="parTrans" cxnId="{1410E281-ADA2-4A8C-9B77-68F6892F32EF}">
      <dgm:prSet/>
      <dgm:spPr/>
      <dgm:t>
        <a:bodyPr/>
        <a:lstStyle/>
        <a:p>
          <a:endParaRPr lang="en-NZ"/>
        </a:p>
      </dgm:t>
    </dgm:pt>
    <dgm:pt modelId="{AEE8E45A-A3E2-4A81-A421-E25965C81E14}" type="sibTrans" cxnId="{1410E281-ADA2-4A8C-9B77-68F6892F32EF}">
      <dgm:prSet/>
      <dgm:spPr/>
      <dgm:t>
        <a:bodyPr/>
        <a:lstStyle/>
        <a:p>
          <a:endParaRPr lang="en-NZ"/>
        </a:p>
      </dgm:t>
    </dgm:pt>
    <dgm:pt modelId="{BA7D7298-D6F3-4A26-A430-AD1525CD10A9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Ideally this prompts firms to go to financial markets to borrow for Investment.</a:t>
          </a:r>
        </a:p>
      </dgm:t>
    </dgm:pt>
    <dgm:pt modelId="{AC665C10-B0C8-4506-81FD-14FD64A316F1}" type="parTrans" cxnId="{57611D93-CB9F-466E-B5BD-BFFA78A1BC09}">
      <dgm:prSet/>
      <dgm:spPr/>
      <dgm:t>
        <a:bodyPr/>
        <a:lstStyle/>
        <a:p>
          <a:endParaRPr lang="en-NZ"/>
        </a:p>
      </dgm:t>
    </dgm:pt>
    <dgm:pt modelId="{8025A642-9106-4C28-9E95-990EE9C2D10B}" type="sibTrans" cxnId="{57611D93-CB9F-466E-B5BD-BFFA78A1BC09}">
      <dgm:prSet/>
      <dgm:spPr/>
      <dgm:t>
        <a:bodyPr/>
        <a:lstStyle/>
        <a:p>
          <a:endParaRPr lang="en-NZ"/>
        </a:p>
      </dgm:t>
    </dgm:pt>
    <dgm:pt modelId="{C914D4D0-9FCD-48F2-91F6-B2B12EA992D2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But financial markets were not functioning…</a:t>
          </a:r>
        </a:p>
      </dgm:t>
    </dgm:pt>
    <dgm:pt modelId="{50E76AC6-49A6-4874-B6CC-0534E7A0293E}" type="parTrans" cxnId="{B8A31083-2F86-42B5-B5AE-301A35CC3598}">
      <dgm:prSet/>
      <dgm:spPr/>
      <dgm:t>
        <a:bodyPr/>
        <a:lstStyle/>
        <a:p>
          <a:endParaRPr lang="en-NZ"/>
        </a:p>
      </dgm:t>
    </dgm:pt>
    <dgm:pt modelId="{A96799C8-6D0E-43AE-8C1F-54754944280E}" type="sibTrans" cxnId="{B8A31083-2F86-42B5-B5AE-301A35CC3598}">
      <dgm:prSet/>
      <dgm:spPr/>
      <dgm:t>
        <a:bodyPr/>
        <a:lstStyle/>
        <a:p>
          <a:endParaRPr lang="en-NZ"/>
        </a:p>
      </dgm:t>
    </dgm:pt>
    <dgm:pt modelId="{3A87180B-4F3F-42B4-A694-C20EE9378B88}" type="pres">
      <dgm:prSet presAssocID="{F09AE34A-2A15-4FC5-92CA-268B34E1C9C2}" presName="Name0" presStyleCnt="0">
        <dgm:presLayoutVars>
          <dgm:dir/>
          <dgm:animLvl val="lvl"/>
          <dgm:resizeHandles val="exact"/>
        </dgm:presLayoutVars>
      </dgm:prSet>
      <dgm:spPr/>
    </dgm:pt>
    <dgm:pt modelId="{0272B239-0E51-4553-BFE0-1376BC14D946}" type="pres">
      <dgm:prSet presAssocID="{C914D4D0-9FCD-48F2-91F6-B2B12EA992D2}" presName="boxAndChildren" presStyleCnt="0"/>
      <dgm:spPr/>
    </dgm:pt>
    <dgm:pt modelId="{E7D59909-8BE4-4AEE-AE1E-486F1126BDF8}" type="pres">
      <dgm:prSet presAssocID="{C914D4D0-9FCD-48F2-91F6-B2B12EA992D2}" presName="parentTextBox" presStyleLbl="node1" presStyleIdx="0" presStyleCnt="3"/>
      <dgm:spPr/>
    </dgm:pt>
    <dgm:pt modelId="{2BF06E91-569A-4B68-B338-9FC3A9B830A8}" type="pres">
      <dgm:prSet presAssocID="{8025A642-9106-4C28-9E95-990EE9C2D10B}" presName="sp" presStyleCnt="0"/>
      <dgm:spPr/>
    </dgm:pt>
    <dgm:pt modelId="{6B19685A-4AC7-44FC-9931-FD503ADF622F}" type="pres">
      <dgm:prSet presAssocID="{BA7D7298-D6F3-4A26-A430-AD1525CD10A9}" presName="arrowAndChildren" presStyleCnt="0"/>
      <dgm:spPr/>
    </dgm:pt>
    <dgm:pt modelId="{1DDF3736-F69D-4194-B092-47C310622507}" type="pres">
      <dgm:prSet presAssocID="{BA7D7298-D6F3-4A26-A430-AD1525CD10A9}" presName="parentTextArrow" presStyleLbl="node1" presStyleIdx="1" presStyleCnt="3"/>
      <dgm:spPr/>
    </dgm:pt>
    <dgm:pt modelId="{CC61ACFF-9023-4A12-9783-B373926CFD66}" type="pres">
      <dgm:prSet presAssocID="{409E0B69-38A8-436D-AD88-6839E7047A71}" presName="sp" presStyleCnt="0"/>
      <dgm:spPr/>
    </dgm:pt>
    <dgm:pt modelId="{36EF55A2-9829-45A2-A007-DA0D88751CD2}" type="pres">
      <dgm:prSet presAssocID="{94A93D37-4B5A-4EC0-AB4D-E12EE86BE208}" presName="arrowAndChildren" presStyleCnt="0"/>
      <dgm:spPr/>
    </dgm:pt>
    <dgm:pt modelId="{D7B9FD35-9578-4326-A3E1-9B90DFDBF584}" type="pres">
      <dgm:prSet presAssocID="{94A93D37-4B5A-4EC0-AB4D-E12EE86BE208}" presName="parentTextArrow" presStyleLbl="node1" presStyleIdx="1" presStyleCnt="3"/>
      <dgm:spPr/>
    </dgm:pt>
    <dgm:pt modelId="{CD4F2130-E173-4A9D-A859-33541C22A87E}" type="pres">
      <dgm:prSet presAssocID="{94A93D37-4B5A-4EC0-AB4D-E12EE86BE208}" presName="arrow" presStyleLbl="node1" presStyleIdx="2" presStyleCnt="3"/>
      <dgm:spPr/>
    </dgm:pt>
    <dgm:pt modelId="{A491FCE3-9763-43DE-A7D6-F24081C82F8A}" type="pres">
      <dgm:prSet presAssocID="{94A93D37-4B5A-4EC0-AB4D-E12EE86BE208}" presName="descendantArrow" presStyleCnt="0"/>
      <dgm:spPr/>
    </dgm:pt>
    <dgm:pt modelId="{3818C5BF-1565-4C3F-936F-0723093B0B8C}" type="pres">
      <dgm:prSet presAssocID="{62F3AA24-B54B-4EC5-BC07-7418CB90BF29}" presName="childTextArrow" presStyleLbl="fgAccFollowNode1" presStyleIdx="0" presStyleCnt="4">
        <dgm:presLayoutVars>
          <dgm:bulletEnabled val="1"/>
        </dgm:presLayoutVars>
      </dgm:prSet>
      <dgm:spPr/>
    </dgm:pt>
    <dgm:pt modelId="{956497C3-723F-42F9-8453-4D2C5BA12416}" type="pres">
      <dgm:prSet presAssocID="{A138BA0D-0308-4289-BABD-227E7B2C8F66}" presName="childTextArrow" presStyleLbl="fgAccFollowNode1" presStyleIdx="1" presStyleCnt="4">
        <dgm:presLayoutVars>
          <dgm:bulletEnabled val="1"/>
        </dgm:presLayoutVars>
      </dgm:prSet>
      <dgm:spPr/>
    </dgm:pt>
    <dgm:pt modelId="{F731B33F-41B1-4F7E-B792-55E8CDF3153D}" type="pres">
      <dgm:prSet presAssocID="{49D430A0-1921-45CE-B458-23FDBEB06D75}" presName="childTextArrow" presStyleLbl="fgAccFollowNode1" presStyleIdx="2" presStyleCnt="4">
        <dgm:presLayoutVars>
          <dgm:bulletEnabled val="1"/>
        </dgm:presLayoutVars>
      </dgm:prSet>
      <dgm:spPr/>
    </dgm:pt>
    <dgm:pt modelId="{FD22C297-FE26-4BD4-875B-B069DF622EB1}" type="pres">
      <dgm:prSet presAssocID="{AB8DB556-87D8-4B6F-8842-8C4749728780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6267390F-A795-4987-9DE7-A43A58310F36}" type="presOf" srcId="{49D430A0-1921-45CE-B458-23FDBEB06D75}" destId="{F731B33F-41B1-4F7E-B792-55E8CDF3153D}" srcOrd="0" destOrd="0" presId="urn:microsoft.com/office/officeart/2005/8/layout/process4"/>
    <dgm:cxn modelId="{A5ABFA1F-4D29-4C3B-9586-DA4E5EB14CE5}" type="presOf" srcId="{C914D4D0-9FCD-48F2-91F6-B2B12EA992D2}" destId="{E7D59909-8BE4-4AEE-AE1E-486F1126BDF8}" srcOrd="0" destOrd="0" presId="urn:microsoft.com/office/officeart/2005/8/layout/process4"/>
    <dgm:cxn modelId="{EECE0C2D-6CBD-44AB-ADE2-B5016530FF78}" type="presOf" srcId="{94A93D37-4B5A-4EC0-AB4D-E12EE86BE208}" destId="{D7B9FD35-9578-4326-A3E1-9B90DFDBF584}" srcOrd="0" destOrd="0" presId="urn:microsoft.com/office/officeart/2005/8/layout/process4"/>
    <dgm:cxn modelId="{E1433D2F-ED17-4C70-BE4B-A443D4BB8440}" srcId="{94A93D37-4B5A-4EC0-AB4D-E12EE86BE208}" destId="{49D430A0-1921-45CE-B458-23FDBEB06D75}" srcOrd="2" destOrd="0" parTransId="{94AE3B7A-85A6-4712-8F22-8D072D6872DA}" sibTransId="{2F3DBA0B-13F0-4ABE-B69A-235168FCCABE}"/>
    <dgm:cxn modelId="{C3686970-0849-487B-9774-5B45E44262E3}" type="presOf" srcId="{AB8DB556-87D8-4B6F-8842-8C4749728780}" destId="{FD22C297-FE26-4BD4-875B-B069DF622EB1}" srcOrd="0" destOrd="0" presId="urn:microsoft.com/office/officeart/2005/8/layout/process4"/>
    <dgm:cxn modelId="{6D402353-EBDE-4EE8-A032-0ED82B0F8F98}" type="presOf" srcId="{BA7D7298-D6F3-4A26-A430-AD1525CD10A9}" destId="{1DDF3736-F69D-4194-B092-47C310622507}" srcOrd="0" destOrd="0" presId="urn:microsoft.com/office/officeart/2005/8/layout/process4"/>
    <dgm:cxn modelId="{4F0AE55A-64A6-4F57-B187-31BC6719F9CB}" type="presOf" srcId="{94A93D37-4B5A-4EC0-AB4D-E12EE86BE208}" destId="{CD4F2130-E173-4A9D-A859-33541C22A87E}" srcOrd="1" destOrd="0" presId="urn:microsoft.com/office/officeart/2005/8/layout/process4"/>
    <dgm:cxn modelId="{1410E281-ADA2-4A8C-9B77-68F6892F32EF}" srcId="{94A93D37-4B5A-4EC0-AB4D-E12EE86BE208}" destId="{AB8DB556-87D8-4B6F-8842-8C4749728780}" srcOrd="3" destOrd="0" parTransId="{6C8AD416-DE7F-401E-9FCE-002DC6CA9A88}" sibTransId="{AEE8E45A-A3E2-4A81-A421-E25965C81E14}"/>
    <dgm:cxn modelId="{B8A31083-2F86-42B5-B5AE-301A35CC3598}" srcId="{F09AE34A-2A15-4FC5-92CA-268B34E1C9C2}" destId="{C914D4D0-9FCD-48F2-91F6-B2B12EA992D2}" srcOrd="2" destOrd="0" parTransId="{50E76AC6-49A6-4874-B6CC-0534E7A0293E}" sibTransId="{A96799C8-6D0E-43AE-8C1F-54754944280E}"/>
    <dgm:cxn modelId="{14DBC78D-038F-4103-A56D-5FA46E0C4A3C}" type="presOf" srcId="{F09AE34A-2A15-4FC5-92CA-268B34E1C9C2}" destId="{3A87180B-4F3F-42B4-A694-C20EE9378B88}" srcOrd="0" destOrd="0" presId="urn:microsoft.com/office/officeart/2005/8/layout/process4"/>
    <dgm:cxn modelId="{57611D93-CB9F-466E-B5BD-BFFA78A1BC09}" srcId="{F09AE34A-2A15-4FC5-92CA-268B34E1C9C2}" destId="{BA7D7298-D6F3-4A26-A430-AD1525CD10A9}" srcOrd="1" destOrd="0" parTransId="{AC665C10-B0C8-4506-81FD-14FD64A316F1}" sibTransId="{8025A642-9106-4C28-9E95-990EE9C2D10B}"/>
    <dgm:cxn modelId="{AEB61F93-31E9-4712-9C78-831CFAAF7930}" type="presOf" srcId="{62F3AA24-B54B-4EC5-BC07-7418CB90BF29}" destId="{3818C5BF-1565-4C3F-936F-0723093B0B8C}" srcOrd="0" destOrd="0" presId="urn:microsoft.com/office/officeart/2005/8/layout/process4"/>
    <dgm:cxn modelId="{99C91EB7-3036-4111-933A-D0ACED62BE77}" srcId="{94A93D37-4B5A-4EC0-AB4D-E12EE86BE208}" destId="{A138BA0D-0308-4289-BABD-227E7B2C8F66}" srcOrd="1" destOrd="0" parTransId="{25FD706B-E4E8-4DC5-B195-15BDF8D0CD1F}" sibTransId="{AEE666F5-E948-4EE3-8B5D-06639E6A641C}"/>
    <dgm:cxn modelId="{0848DABD-9C63-419E-AFA7-AFD1811EF248}" srcId="{F09AE34A-2A15-4FC5-92CA-268B34E1C9C2}" destId="{94A93D37-4B5A-4EC0-AB4D-E12EE86BE208}" srcOrd="0" destOrd="0" parTransId="{B40E2F39-340F-4B8B-954D-B5DF2A6882F0}" sibTransId="{409E0B69-38A8-436D-AD88-6839E7047A71}"/>
    <dgm:cxn modelId="{3C5834DC-9668-492F-85CE-0B1927EBD319}" srcId="{94A93D37-4B5A-4EC0-AB4D-E12EE86BE208}" destId="{62F3AA24-B54B-4EC5-BC07-7418CB90BF29}" srcOrd="0" destOrd="0" parTransId="{EA255C5C-EBF0-48C3-BD59-4583CD904810}" sibTransId="{AE61D134-15BE-4AC3-AC06-DF62E84216FC}"/>
    <dgm:cxn modelId="{E05B5EFC-51B4-4637-B542-A0D1F892CEFB}" type="presOf" srcId="{A138BA0D-0308-4289-BABD-227E7B2C8F66}" destId="{956497C3-723F-42F9-8453-4D2C5BA12416}" srcOrd="0" destOrd="0" presId="urn:microsoft.com/office/officeart/2005/8/layout/process4"/>
    <dgm:cxn modelId="{ECAD5C47-CB8B-451A-9122-9795F291D1DF}" type="presParOf" srcId="{3A87180B-4F3F-42B4-A694-C20EE9378B88}" destId="{0272B239-0E51-4553-BFE0-1376BC14D946}" srcOrd="0" destOrd="0" presId="urn:microsoft.com/office/officeart/2005/8/layout/process4"/>
    <dgm:cxn modelId="{1E2D66EB-0DBA-42B1-8B73-DF5755649991}" type="presParOf" srcId="{0272B239-0E51-4553-BFE0-1376BC14D946}" destId="{E7D59909-8BE4-4AEE-AE1E-486F1126BDF8}" srcOrd="0" destOrd="0" presId="urn:microsoft.com/office/officeart/2005/8/layout/process4"/>
    <dgm:cxn modelId="{4876683B-9149-4142-9B7A-CA45F4637984}" type="presParOf" srcId="{3A87180B-4F3F-42B4-A694-C20EE9378B88}" destId="{2BF06E91-569A-4B68-B338-9FC3A9B830A8}" srcOrd="1" destOrd="0" presId="urn:microsoft.com/office/officeart/2005/8/layout/process4"/>
    <dgm:cxn modelId="{CFFD6378-67EF-4EB2-9A46-89E3C5B3B51C}" type="presParOf" srcId="{3A87180B-4F3F-42B4-A694-C20EE9378B88}" destId="{6B19685A-4AC7-44FC-9931-FD503ADF622F}" srcOrd="2" destOrd="0" presId="urn:microsoft.com/office/officeart/2005/8/layout/process4"/>
    <dgm:cxn modelId="{4E6FBF3B-D822-4D88-9CAC-C21A151DABEF}" type="presParOf" srcId="{6B19685A-4AC7-44FC-9931-FD503ADF622F}" destId="{1DDF3736-F69D-4194-B092-47C310622507}" srcOrd="0" destOrd="0" presId="urn:microsoft.com/office/officeart/2005/8/layout/process4"/>
    <dgm:cxn modelId="{C1B38582-A2C6-4599-8030-05C658F99F08}" type="presParOf" srcId="{3A87180B-4F3F-42B4-A694-C20EE9378B88}" destId="{CC61ACFF-9023-4A12-9783-B373926CFD66}" srcOrd="3" destOrd="0" presId="urn:microsoft.com/office/officeart/2005/8/layout/process4"/>
    <dgm:cxn modelId="{EEB0AC13-C503-4A1E-BEB0-43C05523AD2E}" type="presParOf" srcId="{3A87180B-4F3F-42B4-A694-C20EE9378B88}" destId="{36EF55A2-9829-45A2-A007-DA0D88751CD2}" srcOrd="4" destOrd="0" presId="urn:microsoft.com/office/officeart/2005/8/layout/process4"/>
    <dgm:cxn modelId="{1D820FD0-9DA6-4A37-B46D-19A6C1576CBF}" type="presParOf" srcId="{36EF55A2-9829-45A2-A007-DA0D88751CD2}" destId="{D7B9FD35-9578-4326-A3E1-9B90DFDBF584}" srcOrd="0" destOrd="0" presId="urn:microsoft.com/office/officeart/2005/8/layout/process4"/>
    <dgm:cxn modelId="{8F13B3A5-929C-46CE-826A-EBBF84479BB8}" type="presParOf" srcId="{36EF55A2-9829-45A2-A007-DA0D88751CD2}" destId="{CD4F2130-E173-4A9D-A859-33541C22A87E}" srcOrd="1" destOrd="0" presId="urn:microsoft.com/office/officeart/2005/8/layout/process4"/>
    <dgm:cxn modelId="{072612AF-CFDB-495F-A6AE-42E2CDDDD7A2}" type="presParOf" srcId="{36EF55A2-9829-45A2-A007-DA0D88751CD2}" destId="{A491FCE3-9763-43DE-A7D6-F24081C82F8A}" srcOrd="2" destOrd="0" presId="urn:microsoft.com/office/officeart/2005/8/layout/process4"/>
    <dgm:cxn modelId="{9029288D-ED5A-482F-A013-2827E7BF9461}" type="presParOf" srcId="{A491FCE3-9763-43DE-A7D6-F24081C82F8A}" destId="{3818C5BF-1565-4C3F-936F-0723093B0B8C}" srcOrd="0" destOrd="0" presId="urn:microsoft.com/office/officeart/2005/8/layout/process4"/>
    <dgm:cxn modelId="{D5C3D068-9FF0-4890-8B79-B3A6F3C34074}" type="presParOf" srcId="{A491FCE3-9763-43DE-A7D6-F24081C82F8A}" destId="{956497C3-723F-42F9-8453-4D2C5BA12416}" srcOrd="1" destOrd="0" presId="urn:microsoft.com/office/officeart/2005/8/layout/process4"/>
    <dgm:cxn modelId="{59BC1CE5-D599-472A-A7A4-3E4773E8BB74}" type="presParOf" srcId="{A491FCE3-9763-43DE-A7D6-F24081C82F8A}" destId="{F731B33F-41B1-4F7E-B792-55E8CDF3153D}" srcOrd="2" destOrd="0" presId="urn:microsoft.com/office/officeart/2005/8/layout/process4"/>
    <dgm:cxn modelId="{4A8ABF39-DAE5-4063-9953-D27EF082054A}" type="presParOf" srcId="{A491FCE3-9763-43DE-A7D6-F24081C82F8A}" destId="{FD22C297-FE26-4BD4-875B-B069DF622EB1}" srcOrd="3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7E9840C4-E0E7-4FBF-89F7-8A4FA6ADC46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FD47BF29-EAB0-4CAE-B8B6-A3F3064D885D}">
      <dgm:prSet/>
      <dgm:spPr/>
      <dgm:t>
        <a:bodyPr/>
        <a:lstStyle/>
        <a:p>
          <a:r>
            <a:rPr lang="en-NZ"/>
            <a:t>Solutions: Restore Financial Markets</a:t>
          </a:r>
        </a:p>
      </dgm:t>
    </dgm:pt>
    <dgm:pt modelId="{3CCC608A-701D-4C6F-BC56-866CEBD84E8D}" type="parTrans" cxnId="{F424D32B-8FC8-4F2D-B75E-4AFE682B5E91}">
      <dgm:prSet/>
      <dgm:spPr/>
      <dgm:t>
        <a:bodyPr/>
        <a:lstStyle/>
        <a:p>
          <a:endParaRPr lang="en-NZ"/>
        </a:p>
      </dgm:t>
    </dgm:pt>
    <dgm:pt modelId="{D8939A11-EC75-4BC0-B8DA-438F35AECA6F}" type="sibTrans" cxnId="{F424D32B-8FC8-4F2D-B75E-4AFE682B5E91}">
      <dgm:prSet/>
      <dgm:spPr/>
      <dgm:t>
        <a:bodyPr/>
        <a:lstStyle/>
        <a:p>
          <a:endParaRPr lang="en-NZ"/>
        </a:p>
      </dgm:t>
    </dgm:pt>
    <dgm:pt modelId="{9E1DA526-74C5-433C-9B1E-E6BF44F7FF31}" type="pres">
      <dgm:prSet presAssocID="{7E9840C4-E0E7-4FBF-89F7-8A4FA6ADC46D}" presName="linear" presStyleCnt="0">
        <dgm:presLayoutVars>
          <dgm:animLvl val="lvl"/>
          <dgm:resizeHandles val="exact"/>
        </dgm:presLayoutVars>
      </dgm:prSet>
      <dgm:spPr/>
    </dgm:pt>
    <dgm:pt modelId="{22469E02-34BD-45C0-B930-03130EAADEA5}" type="pres">
      <dgm:prSet presAssocID="{FD47BF29-EAB0-4CAE-B8B6-A3F3064D885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424D32B-8FC8-4F2D-B75E-4AFE682B5E91}" srcId="{7E9840C4-E0E7-4FBF-89F7-8A4FA6ADC46D}" destId="{FD47BF29-EAB0-4CAE-B8B6-A3F3064D885D}" srcOrd="0" destOrd="0" parTransId="{3CCC608A-701D-4C6F-BC56-866CEBD84E8D}" sibTransId="{D8939A11-EC75-4BC0-B8DA-438F35AECA6F}"/>
    <dgm:cxn modelId="{813202B6-69BF-4E48-AE5B-A0986C0F0C09}" type="presOf" srcId="{FD47BF29-EAB0-4CAE-B8B6-A3F3064D885D}" destId="{22469E02-34BD-45C0-B930-03130EAADEA5}" srcOrd="0" destOrd="0" presId="urn:microsoft.com/office/officeart/2005/8/layout/vList2"/>
    <dgm:cxn modelId="{EEC5AEBB-669C-4DE9-98A5-E8937ABDC476}" type="presOf" srcId="{7E9840C4-E0E7-4FBF-89F7-8A4FA6ADC46D}" destId="{9E1DA526-74C5-433C-9B1E-E6BF44F7FF31}" srcOrd="0" destOrd="0" presId="urn:microsoft.com/office/officeart/2005/8/layout/vList2"/>
    <dgm:cxn modelId="{327E15F0-DD22-4DA6-8E38-B0559F475A0C}" type="presParOf" srcId="{9E1DA526-74C5-433C-9B1E-E6BF44F7FF31}" destId="{22469E02-34BD-45C0-B930-03130EAADEA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0CF455F5-346D-4765-9BA3-C234C66F0E76}" type="doc">
      <dgm:prSet loTypeId="urn:microsoft.com/office/officeart/2005/8/layout/process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NZ"/>
        </a:p>
      </dgm:t>
    </dgm:pt>
    <dgm:pt modelId="{BBC15C4D-448C-4ADA-9753-D97C70A5BA39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Bank deposit insurance and liability guarantees expanded</a:t>
          </a:r>
        </a:p>
      </dgm:t>
    </dgm:pt>
    <dgm:pt modelId="{0A4D0C06-3B68-4CE8-96B4-F4BE446D389C}" type="parTrans" cxnId="{080194D0-F608-4656-B08B-7DD3C06FAFF4}">
      <dgm:prSet/>
      <dgm:spPr/>
      <dgm:t>
        <a:bodyPr/>
        <a:lstStyle/>
        <a:p>
          <a:endParaRPr lang="en-NZ"/>
        </a:p>
      </dgm:t>
    </dgm:pt>
    <dgm:pt modelId="{D16C622A-A799-40E8-A1BA-562FF63446B6}" type="sibTrans" cxnId="{080194D0-F608-4656-B08B-7DD3C06FAFF4}">
      <dgm:prSet/>
      <dgm:spPr/>
      <dgm:t>
        <a:bodyPr/>
        <a:lstStyle/>
        <a:p>
          <a:endParaRPr lang="en-NZ"/>
        </a:p>
      </dgm:t>
    </dgm:pt>
    <dgm:pt modelId="{A658F1C1-379D-4416-83FB-3EC0F35B6C6F}">
      <dgm:prSet/>
      <dgm:spPr/>
      <dgm:t>
        <a:bodyPr/>
        <a:lstStyle/>
        <a:p>
          <a:r>
            <a:rPr lang="en-NZ"/>
            <a:t>Depositers could be more confident about lending to Banks</a:t>
          </a:r>
        </a:p>
      </dgm:t>
    </dgm:pt>
    <dgm:pt modelId="{C3E61621-CF12-43CA-B61A-FC1644766194}" type="parTrans" cxnId="{74BF49D2-8218-4AA1-9B47-108A20F2503A}">
      <dgm:prSet/>
      <dgm:spPr/>
      <dgm:t>
        <a:bodyPr/>
        <a:lstStyle/>
        <a:p>
          <a:endParaRPr lang="en-NZ"/>
        </a:p>
      </dgm:t>
    </dgm:pt>
    <dgm:pt modelId="{C60CCBD6-A50F-41C8-9608-4780B6BA1FBD}" type="sibTrans" cxnId="{74BF49D2-8218-4AA1-9B47-108A20F2503A}">
      <dgm:prSet/>
      <dgm:spPr/>
      <dgm:t>
        <a:bodyPr/>
        <a:lstStyle/>
        <a:p>
          <a:endParaRPr lang="en-NZ"/>
        </a:p>
      </dgm:t>
    </dgm:pt>
    <dgm:pt modelId="{EFED0E7C-123A-4C27-A73E-FDC57FE32A7A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Central Banks restructured or rescued the distressed banks. </a:t>
          </a:r>
        </a:p>
      </dgm:t>
    </dgm:pt>
    <dgm:pt modelId="{53D52329-3DED-4F73-B7E9-9C3BFE9A7082}" type="parTrans" cxnId="{A23C1FA4-2659-4A53-8F2F-CFAADC2CFC13}">
      <dgm:prSet/>
      <dgm:spPr/>
      <dgm:t>
        <a:bodyPr/>
        <a:lstStyle/>
        <a:p>
          <a:endParaRPr lang="en-NZ"/>
        </a:p>
      </dgm:t>
    </dgm:pt>
    <dgm:pt modelId="{B4A4E4A9-73EF-4870-8B4B-290BCE2C43FA}" type="sibTrans" cxnId="{A23C1FA4-2659-4A53-8F2F-CFAADC2CFC13}">
      <dgm:prSet/>
      <dgm:spPr/>
      <dgm:t>
        <a:bodyPr/>
        <a:lstStyle/>
        <a:p>
          <a:endParaRPr lang="en-NZ"/>
        </a:p>
      </dgm:t>
    </dgm:pt>
    <dgm:pt modelId="{0F9371CD-165F-4363-8662-52D660BFC590}">
      <dgm:prSet/>
      <dgm:spPr/>
      <dgm:t>
        <a:bodyPr/>
        <a:lstStyle/>
        <a:p>
          <a:r>
            <a:rPr lang="en-NZ"/>
            <a:t>Some still failed.</a:t>
          </a:r>
        </a:p>
      </dgm:t>
    </dgm:pt>
    <dgm:pt modelId="{3D956A1E-F383-4DAF-B521-7C99908869FB}" type="parTrans" cxnId="{0FCCDE1A-2037-47A2-83A7-5BE48A5C5D26}">
      <dgm:prSet/>
      <dgm:spPr/>
      <dgm:t>
        <a:bodyPr/>
        <a:lstStyle/>
        <a:p>
          <a:endParaRPr lang="en-NZ"/>
        </a:p>
      </dgm:t>
    </dgm:pt>
    <dgm:pt modelId="{31D787E5-C47D-4C53-B890-9E047BAE66DC}" type="sibTrans" cxnId="{0FCCDE1A-2037-47A2-83A7-5BE48A5C5D26}">
      <dgm:prSet/>
      <dgm:spPr/>
      <dgm:t>
        <a:bodyPr/>
        <a:lstStyle/>
        <a:p>
          <a:endParaRPr lang="en-NZ"/>
        </a:p>
      </dgm:t>
    </dgm:pt>
    <dgm:pt modelId="{4E21AB50-6BB1-4F37-B312-B4CCDBED42D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Restoring Bank balance sheets (non-performing loans) would take time.</a:t>
          </a:r>
        </a:p>
      </dgm:t>
    </dgm:pt>
    <dgm:pt modelId="{C8A453BE-E672-4C3E-80C6-66B21CA21D32}" type="parTrans" cxnId="{FE05B3AF-A6D0-4802-AB71-012795CF1DE0}">
      <dgm:prSet/>
      <dgm:spPr/>
      <dgm:t>
        <a:bodyPr/>
        <a:lstStyle/>
        <a:p>
          <a:endParaRPr lang="en-NZ"/>
        </a:p>
      </dgm:t>
    </dgm:pt>
    <dgm:pt modelId="{9BE6DFE9-3660-42B2-B5EF-383254A8C8FC}" type="sibTrans" cxnId="{FE05B3AF-A6D0-4802-AB71-012795CF1DE0}">
      <dgm:prSet/>
      <dgm:spPr/>
      <dgm:t>
        <a:bodyPr/>
        <a:lstStyle/>
        <a:p>
          <a:endParaRPr lang="en-NZ"/>
        </a:p>
      </dgm:t>
    </dgm:pt>
    <dgm:pt modelId="{05F79B1E-CB4D-43C2-85FF-D2855D0526D4}" type="pres">
      <dgm:prSet presAssocID="{0CF455F5-346D-4765-9BA3-C234C66F0E76}" presName="Name0" presStyleCnt="0">
        <dgm:presLayoutVars>
          <dgm:dir/>
          <dgm:animLvl val="lvl"/>
          <dgm:resizeHandles val="exact"/>
        </dgm:presLayoutVars>
      </dgm:prSet>
      <dgm:spPr/>
    </dgm:pt>
    <dgm:pt modelId="{E21B2284-A407-4D64-91AA-2C8AEDF26D0D}" type="pres">
      <dgm:prSet presAssocID="{4E21AB50-6BB1-4F37-B312-B4CCDBED42DD}" presName="boxAndChildren" presStyleCnt="0"/>
      <dgm:spPr/>
    </dgm:pt>
    <dgm:pt modelId="{924BC721-DC05-496D-BB07-F6D8C5E9B33A}" type="pres">
      <dgm:prSet presAssocID="{4E21AB50-6BB1-4F37-B312-B4CCDBED42DD}" presName="parentTextBox" presStyleLbl="node1" presStyleIdx="0" presStyleCnt="3"/>
      <dgm:spPr/>
    </dgm:pt>
    <dgm:pt modelId="{AB4943E5-7C5A-45F1-87B8-DD0986FA7168}" type="pres">
      <dgm:prSet presAssocID="{B4A4E4A9-73EF-4870-8B4B-290BCE2C43FA}" presName="sp" presStyleCnt="0"/>
      <dgm:spPr/>
    </dgm:pt>
    <dgm:pt modelId="{17019A28-D733-4A44-959D-725085CEA931}" type="pres">
      <dgm:prSet presAssocID="{EFED0E7C-123A-4C27-A73E-FDC57FE32A7A}" presName="arrowAndChildren" presStyleCnt="0"/>
      <dgm:spPr/>
    </dgm:pt>
    <dgm:pt modelId="{571AC9A1-BA18-4462-A996-0254E2DF9317}" type="pres">
      <dgm:prSet presAssocID="{EFED0E7C-123A-4C27-A73E-FDC57FE32A7A}" presName="parentTextArrow" presStyleLbl="node1" presStyleIdx="0" presStyleCnt="3"/>
      <dgm:spPr/>
    </dgm:pt>
    <dgm:pt modelId="{A17A1951-A314-47F5-812E-DA51E8105A35}" type="pres">
      <dgm:prSet presAssocID="{EFED0E7C-123A-4C27-A73E-FDC57FE32A7A}" presName="arrow" presStyleLbl="node1" presStyleIdx="1" presStyleCnt="3"/>
      <dgm:spPr/>
    </dgm:pt>
    <dgm:pt modelId="{5C911239-2CBC-405F-AC35-C9D1D19FBB8B}" type="pres">
      <dgm:prSet presAssocID="{EFED0E7C-123A-4C27-A73E-FDC57FE32A7A}" presName="descendantArrow" presStyleCnt="0"/>
      <dgm:spPr/>
    </dgm:pt>
    <dgm:pt modelId="{6F82CF3B-0749-4830-8543-118D91BA474B}" type="pres">
      <dgm:prSet presAssocID="{0F9371CD-165F-4363-8662-52D660BFC590}" presName="childTextArrow" presStyleLbl="fgAccFollowNode1" presStyleIdx="0" presStyleCnt="2">
        <dgm:presLayoutVars>
          <dgm:bulletEnabled val="1"/>
        </dgm:presLayoutVars>
      </dgm:prSet>
      <dgm:spPr/>
    </dgm:pt>
    <dgm:pt modelId="{9010C0AD-2B3E-4B2B-8BE1-3602E502CEFE}" type="pres">
      <dgm:prSet presAssocID="{D16C622A-A799-40E8-A1BA-562FF63446B6}" presName="sp" presStyleCnt="0"/>
      <dgm:spPr/>
    </dgm:pt>
    <dgm:pt modelId="{2F013B7D-E7D9-47AE-8353-5D58096CCBB9}" type="pres">
      <dgm:prSet presAssocID="{BBC15C4D-448C-4ADA-9753-D97C70A5BA39}" presName="arrowAndChildren" presStyleCnt="0"/>
      <dgm:spPr/>
    </dgm:pt>
    <dgm:pt modelId="{06503F24-11CB-482B-BC2F-7AC969528C2D}" type="pres">
      <dgm:prSet presAssocID="{BBC15C4D-448C-4ADA-9753-D97C70A5BA39}" presName="parentTextArrow" presStyleLbl="node1" presStyleIdx="1" presStyleCnt="3"/>
      <dgm:spPr/>
    </dgm:pt>
    <dgm:pt modelId="{CC8B9553-9D61-400D-A894-C5B402D54EE5}" type="pres">
      <dgm:prSet presAssocID="{BBC15C4D-448C-4ADA-9753-D97C70A5BA39}" presName="arrow" presStyleLbl="node1" presStyleIdx="2" presStyleCnt="3"/>
      <dgm:spPr/>
    </dgm:pt>
    <dgm:pt modelId="{EF36BF0B-F5B5-42F0-8379-D519F3DD0B14}" type="pres">
      <dgm:prSet presAssocID="{BBC15C4D-448C-4ADA-9753-D97C70A5BA39}" presName="descendantArrow" presStyleCnt="0"/>
      <dgm:spPr/>
    </dgm:pt>
    <dgm:pt modelId="{1DD9FAAB-7A8A-4964-BC6E-39A94D024090}" type="pres">
      <dgm:prSet presAssocID="{A658F1C1-379D-4416-83FB-3EC0F35B6C6F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0FCCDE1A-2037-47A2-83A7-5BE48A5C5D26}" srcId="{EFED0E7C-123A-4C27-A73E-FDC57FE32A7A}" destId="{0F9371CD-165F-4363-8662-52D660BFC590}" srcOrd="0" destOrd="0" parTransId="{3D956A1E-F383-4DAF-B521-7C99908869FB}" sibTransId="{31D787E5-C47D-4C53-B890-9E047BAE66DC}"/>
    <dgm:cxn modelId="{C3A1362D-DEEF-40D6-86AC-F20A524297E3}" type="presOf" srcId="{A658F1C1-379D-4416-83FB-3EC0F35B6C6F}" destId="{1DD9FAAB-7A8A-4964-BC6E-39A94D024090}" srcOrd="0" destOrd="0" presId="urn:microsoft.com/office/officeart/2005/8/layout/process4"/>
    <dgm:cxn modelId="{B5AB8561-22AC-4BFA-BC14-75F161E327C0}" type="presOf" srcId="{0F9371CD-165F-4363-8662-52D660BFC590}" destId="{6F82CF3B-0749-4830-8543-118D91BA474B}" srcOrd="0" destOrd="0" presId="urn:microsoft.com/office/officeart/2005/8/layout/process4"/>
    <dgm:cxn modelId="{5922429F-A358-4799-8799-7D8218AED9D4}" type="presOf" srcId="{BBC15C4D-448C-4ADA-9753-D97C70A5BA39}" destId="{06503F24-11CB-482B-BC2F-7AC969528C2D}" srcOrd="0" destOrd="0" presId="urn:microsoft.com/office/officeart/2005/8/layout/process4"/>
    <dgm:cxn modelId="{A23C1FA4-2659-4A53-8F2F-CFAADC2CFC13}" srcId="{0CF455F5-346D-4765-9BA3-C234C66F0E76}" destId="{EFED0E7C-123A-4C27-A73E-FDC57FE32A7A}" srcOrd="1" destOrd="0" parTransId="{53D52329-3DED-4F73-B7E9-9C3BFE9A7082}" sibTransId="{B4A4E4A9-73EF-4870-8B4B-290BCE2C43FA}"/>
    <dgm:cxn modelId="{FE05B3AF-A6D0-4802-AB71-012795CF1DE0}" srcId="{0CF455F5-346D-4765-9BA3-C234C66F0E76}" destId="{4E21AB50-6BB1-4F37-B312-B4CCDBED42DD}" srcOrd="2" destOrd="0" parTransId="{C8A453BE-E672-4C3E-80C6-66B21CA21D32}" sibTransId="{9BE6DFE9-3660-42B2-B5EF-383254A8C8FC}"/>
    <dgm:cxn modelId="{080194D0-F608-4656-B08B-7DD3C06FAFF4}" srcId="{0CF455F5-346D-4765-9BA3-C234C66F0E76}" destId="{BBC15C4D-448C-4ADA-9753-D97C70A5BA39}" srcOrd="0" destOrd="0" parTransId="{0A4D0C06-3B68-4CE8-96B4-F4BE446D389C}" sibTransId="{D16C622A-A799-40E8-A1BA-562FF63446B6}"/>
    <dgm:cxn modelId="{74BF49D2-8218-4AA1-9B47-108A20F2503A}" srcId="{BBC15C4D-448C-4ADA-9753-D97C70A5BA39}" destId="{A658F1C1-379D-4416-83FB-3EC0F35B6C6F}" srcOrd="0" destOrd="0" parTransId="{C3E61621-CF12-43CA-B61A-FC1644766194}" sibTransId="{C60CCBD6-A50F-41C8-9608-4780B6BA1FBD}"/>
    <dgm:cxn modelId="{1C93A6DC-FEA2-429C-A4CC-DADB9FB5837D}" type="presOf" srcId="{4E21AB50-6BB1-4F37-B312-B4CCDBED42DD}" destId="{924BC721-DC05-496D-BB07-F6D8C5E9B33A}" srcOrd="0" destOrd="0" presId="urn:microsoft.com/office/officeart/2005/8/layout/process4"/>
    <dgm:cxn modelId="{298DF9DE-40E2-4520-A090-29F9499B1176}" type="presOf" srcId="{EFED0E7C-123A-4C27-A73E-FDC57FE32A7A}" destId="{A17A1951-A314-47F5-812E-DA51E8105A35}" srcOrd="1" destOrd="0" presId="urn:microsoft.com/office/officeart/2005/8/layout/process4"/>
    <dgm:cxn modelId="{C3FAE2E2-B2B5-4F39-9C85-C75BB775051B}" type="presOf" srcId="{0CF455F5-346D-4765-9BA3-C234C66F0E76}" destId="{05F79B1E-CB4D-43C2-85FF-D2855D0526D4}" srcOrd="0" destOrd="0" presId="urn:microsoft.com/office/officeart/2005/8/layout/process4"/>
    <dgm:cxn modelId="{78F08AF1-6086-4FFF-9B30-F113BA379B5E}" type="presOf" srcId="{EFED0E7C-123A-4C27-A73E-FDC57FE32A7A}" destId="{571AC9A1-BA18-4462-A996-0254E2DF9317}" srcOrd="0" destOrd="0" presId="urn:microsoft.com/office/officeart/2005/8/layout/process4"/>
    <dgm:cxn modelId="{C06D32FA-7A61-4148-8D23-B0E52EFDFAF8}" type="presOf" srcId="{BBC15C4D-448C-4ADA-9753-D97C70A5BA39}" destId="{CC8B9553-9D61-400D-A894-C5B402D54EE5}" srcOrd="1" destOrd="0" presId="urn:microsoft.com/office/officeart/2005/8/layout/process4"/>
    <dgm:cxn modelId="{B3CC6F8D-EBF4-4598-8653-73B7D9B5CEDF}" type="presParOf" srcId="{05F79B1E-CB4D-43C2-85FF-D2855D0526D4}" destId="{E21B2284-A407-4D64-91AA-2C8AEDF26D0D}" srcOrd="0" destOrd="0" presId="urn:microsoft.com/office/officeart/2005/8/layout/process4"/>
    <dgm:cxn modelId="{D4A068B6-3BCD-42D5-957C-E5D4417D0F04}" type="presParOf" srcId="{E21B2284-A407-4D64-91AA-2C8AEDF26D0D}" destId="{924BC721-DC05-496D-BB07-F6D8C5E9B33A}" srcOrd="0" destOrd="0" presId="urn:microsoft.com/office/officeart/2005/8/layout/process4"/>
    <dgm:cxn modelId="{AB3982BF-14D3-4D6A-89CB-EF9008D4E4C1}" type="presParOf" srcId="{05F79B1E-CB4D-43C2-85FF-D2855D0526D4}" destId="{AB4943E5-7C5A-45F1-87B8-DD0986FA7168}" srcOrd="1" destOrd="0" presId="urn:microsoft.com/office/officeart/2005/8/layout/process4"/>
    <dgm:cxn modelId="{280917DB-4023-4757-B9E6-DDB71712CDF6}" type="presParOf" srcId="{05F79B1E-CB4D-43C2-85FF-D2855D0526D4}" destId="{17019A28-D733-4A44-959D-725085CEA931}" srcOrd="2" destOrd="0" presId="urn:microsoft.com/office/officeart/2005/8/layout/process4"/>
    <dgm:cxn modelId="{3533C69E-3BF3-4C4F-A07E-75DDE9D26BB1}" type="presParOf" srcId="{17019A28-D733-4A44-959D-725085CEA931}" destId="{571AC9A1-BA18-4462-A996-0254E2DF9317}" srcOrd="0" destOrd="0" presId="urn:microsoft.com/office/officeart/2005/8/layout/process4"/>
    <dgm:cxn modelId="{95F42FF3-58E2-407B-BE2C-9778B0AC573F}" type="presParOf" srcId="{17019A28-D733-4A44-959D-725085CEA931}" destId="{A17A1951-A314-47F5-812E-DA51E8105A35}" srcOrd="1" destOrd="0" presId="urn:microsoft.com/office/officeart/2005/8/layout/process4"/>
    <dgm:cxn modelId="{9840768E-E293-4418-9CD2-F0C332C2F3C0}" type="presParOf" srcId="{17019A28-D733-4A44-959D-725085CEA931}" destId="{5C911239-2CBC-405F-AC35-C9D1D19FBB8B}" srcOrd="2" destOrd="0" presId="urn:microsoft.com/office/officeart/2005/8/layout/process4"/>
    <dgm:cxn modelId="{50CBAED6-0E88-46AB-8E15-C55376776E80}" type="presParOf" srcId="{5C911239-2CBC-405F-AC35-C9D1D19FBB8B}" destId="{6F82CF3B-0749-4830-8543-118D91BA474B}" srcOrd="0" destOrd="0" presId="urn:microsoft.com/office/officeart/2005/8/layout/process4"/>
    <dgm:cxn modelId="{EB4FC6CB-9044-4C43-ACCB-95E83774C3D7}" type="presParOf" srcId="{05F79B1E-CB4D-43C2-85FF-D2855D0526D4}" destId="{9010C0AD-2B3E-4B2B-8BE1-3602E502CEFE}" srcOrd="3" destOrd="0" presId="urn:microsoft.com/office/officeart/2005/8/layout/process4"/>
    <dgm:cxn modelId="{B1BD9ABB-BBAC-4531-A9F6-D655D2AE7DE5}" type="presParOf" srcId="{05F79B1E-CB4D-43C2-85FF-D2855D0526D4}" destId="{2F013B7D-E7D9-47AE-8353-5D58096CCBB9}" srcOrd="4" destOrd="0" presId="urn:microsoft.com/office/officeart/2005/8/layout/process4"/>
    <dgm:cxn modelId="{41C44410-20FB-4264-A4BD-064DCF7F4B9E}" type="presParOf" srcId="{2F013B7D-E7D9-47AE-8353-5D58096CCBB9}" destId="{06503F24-11CB-482B-BC2F-7AC969528C2D}" srcOrd="0" destOrd="0" presId="urn:microsoft.com/office/officeart/2005/8/layout/process4"/>
    <dgm:cxn modelId="{9F9B6338-684F-406B-8BBB-E00B67C83958}" type="presParOf" srcId="{2F013B7D-E7D9-47AE-8353-5D58096CCBB9}" destId="{CC8B9553-9D61-400D-A894-C5B402D54EE5}" srcOrd="1" destOrd="0" presId="urn:microsoft.com/office/officeart/2005/8/layout/process4"/>
    <dgm:cxn modelId="{DE10C502-421E-4468-AFD3-A394DD32AE80}" type="presParOf" srcId="{2F013B7D-E7D9-47AE-8353-5D58096CCBB9}" destId="{EF36BF0B-F5B5-42F0-8379-D519F3DD0B14}" srcOrd="2" destOrd="0" presId="urn:microsoft.com/office/officeart/2005/8/layout/process4"/>
    <dgm:cxn modelId="{7656CA05-4F5B-465F-907D-AADB5423EBDE}" type="presParOf" srcId="{EF36BF0B-F5B5-42F0-8379-D519F3DD0B14}" destId="{1DD9FAAB-7A8A-4964-BC6E-39A94D02409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ECD1C41A-3A0A-4196-9B13-27F9EEA9E96A}" type="doc">
      <dgm:prSet loTypeId="urn:microsoft.com/office/officeart/2005/8/layout/hProcess11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22B3AE1B-9307-478B-B0A2-82A512CC908F}">
      <dgm:prSet/>
      <dgm:spPr/>
      <dgm:t>
        <a:bodyPr/>
        <a:lstStyle/>
        <a:p>
          <a:r>
            <a:rPr lang="en-NZ" dirty="0"/>
            <a:t>It works through the bond market.</a:t>
          </a:r>
        </a:p>
      </dgm:t>
    </dgm:pt>
    <dgm:pt modelId="{893470B8-3AA3-4702-AA61-A47B471C735C}" type="parTrans" cxnId="{19430651-9CF2-4B78-9A66-BAD0166BFA11}">
      <dgm:prSet/>
      <dgm:spPr/>
      <dgm:t>
        <a:bodyPr/>
        <a:lstStyle/>
        <a:p>
          <a:endParaRPr lang="en-NZ"/>
        </a:p>
      </dgm:t>
    </dgm:pt>
    <dgm:pt modelId="{6907A0C7-B1C3-46EA-8975-5A0AE5BA1D13}" type="sibTrans" cxnId="{19430651-9CF2-4B78-9A66-BAD0166BFA11}">
      <dgm:prSet/>
      <dgm:spPr/>
      <dgm:t>
        <a:bodyPr/>
        <a:lstStyle/>
        <a:p>
          <a:endParaRPr lang="en-NZ"/>
        </a:p>
      </dgm:t>
    </dgm:pt>
    <dgm:pt modelId="{6E2C77F6-F378-46AD-992B-7B3D13C914D7}">
      <dgm:prSet/>
      <dgm:spPr/>
      <dgm:t>
        <a:bodyPr/>
        <a:lstStyle/>
        <a:p>
          <a:r>
            <a:rPr lang="en-NZ"/>
            <a:t>A company might issue a bond ($1000) and offer $50 a year as payment.</a:t>
          </a:r>
        </a:p>
      </dgm:t>
    </dgm:pt>
    <dgm:pt modelId="{62333936-6A1E-4A01-B235-19FD32D88D32}" type="parTrans" cxnId="{90E94A2C-A37C-4C09-877B-BF6889D04077}">
      <dgm:prSet/>
      <dgm:spPr/>
      <dgm:t>
        <a:bodyPr/>
        <a:lstStyle/>
        <a:p>
          <a:endParaRPr lang="en-NZ"/>
        </a:p>
      </dgm:t>
    </dgm:pt>
    <dgm:pt modelId="{94E3DA05-0172-4CC6-A9D3-08E0C8AEFBB5}" type="sibTrans" cxnId="{90E94A2C-A37C-4C09-877B-BF6889D04077}">
      <dgm:prSet/>
      <dgm:spPr/>
      <dgm:t>
        <a:bodyPr/>
        <a:lstStyle/>
        <a:p>
          <a:endParaRPr lang="en-NZ"/>
        </a:p>
      </dgm:t>
    </dgm:pt>
    <dgm:pt modelId="{0124E8E5-217B-45AB-AEB8-12DDCE07C5C3}">
      <dgm:prSet/>
      <dgm:spPr/>
      <dgm:t>
        <a:bodyPr/>
        <a:lstStyle/>
        <a:p>
          <a:r>
            <a:rPr lang="en-NZ"/>
            <a:t>The starting interest rate is 5%</a:t>
          </a:r>
        </a:p>
      </dgm:t>
    </dgm:pt>
    <dgm:pt modelId="{BD12D6B1-5ABD-420F-91ED-698F4C47A806}" type="parTrans" cxnId="{A71B14DE-5801-41F3-A18D-CA22411BFB3D}">
      <dgm:prSet/>
      <dgm:spPr/>
      <dgm:t>
        <a:bodyPr/>
        <a:lstStyle/>
        <a:p>
          <a:endParaRPr lang="en-NZ"/>
        </a:p>
      </dgm:t>
    </dgm:pt>
    <dgm:pt modelId="{EE1D7040-4E3B-42AE-8693-647EDF4126EA}" type="sibTrans" cxnId="{A71B14DE-5801-41F3-A18D-CA22411BFB3D}">
      <dgm:prSet/>
      <dgm:spPr/>
      <dgm:t>
        <a:bodyPr/>
        <a:lstStyle/>
        <a:p>
          <a:endParaRPr lang="en-NZ"/>
        </a:p>
      </dgm:t>
    </dgm:pt>
    <dgm:pt modelId="{404F850B-126E-42A9-8EF3-DFD9BB166BDD}">
      <dgm:prSet/>
      <dgm:spPr/>
      <dgm:t>
        <a:bodyPr/>
        <a:lstStyle/>
        <a:p>
          <a:r>
            <a:rPr lang="en-NZ"/>
            <a:t>The Central Bank creates money in its accounts, and buys bonds.</a:t>
          </a:r>
        </a:p>
      </dgm:t>
    </dgm:pt>
    <dgm:pt modelId="{83976FE2-C8C5-4A1C-96C3-042FF0B62B2E}" type="parTrans" cxnId="{D5C3B9C9-FA05-4515-99D0-A3C72173AC6A}">
      <dgm:prSet/>
      <dgm:spPr/>
      <dgm:t>
        <a:bodyPr/>
        <a:lstStyle/>
        <a:p>
          <a:endParaRPr lang="en-NZ"/>
        </a:p>
      </dgm:t>
    </dgm:pt>
    <dgm:pt modelId="{71746B2F-8313-44DF-B074-86247CC8F42F}" type="sibTrans" cxnId="{D5C3B9C9-FA05-4515-99D0-A3C72173AC6A}">
      <dgm:prSet/>
      <dgm:spPr/>
      <dgm:t>
        <a:bodyPr/>
        <a:lstStyle/>
        <a:p>
          <a:endParaRPr lang="en-NZ"/>
        </a:p>
      </dgm:t>
    </dgm:pt>
    <dgm:pt modelId="{8747557F-5F34-4651-903F-7DF94A625906}">
      <dgm:prSet/>
      <dgm:spPr/>
      <dgm:t>
        <a:bodyPr/>
        <a:lstStyle/>
        <a:p>
          <a:r>
            <a:rPr lang="en-NZ"/>
            <a:t>The demand for bonds rises and their price increases.</a:t>
          </a:r>
        </a:p>
      </dgm:t>
    </dgm:pt>
    <dgm:pt modelId="{5452F203-EBF6-421C-B543-1C3629763B12}" type="parTrans" cxnId="{D1D34F56-E533-4748-AFAF-0CB150DB0F0C}">
      <dgm:prSet/>
      <dgm:spPr/>
      <dgm:t>
        <a:bodyPr/>
        <a:lstStyle/>
        <a:p>
          <a:endParaRPr lang="en-NZ"/>
        </a:p>
      </dgm:t>
    </dgm:pt>
    <dgm:pt modelId="{8D554FBB-1BA2-4D6A-B0A6-08EACBFD214B}" type="sibTrans" cxnId="{D1D34F56-E533-4748-AFAF-0CB150DB0F0C}">
      <dgm:prSet/>
      <dgm:spPr/>
      <dgm:t>
        <a:bodyPr/>
        <a:lstStyle/>
        <a:p>
          <a:endParaRPr lang="en-NZ"/>
        </a:p>
      </dgm:t>
    </dgm:pt>
    <dgm:pt modelId="{668EC796-DE85-4B8C-9852-7485B44A4AFC}">
      <dgm:prSet/>
      <dgm:spPr/>
      <dgm:t>
        <a:bodyPr/>
        <a:lstStyle/>
        <a:p>
          <a:r>
            <a:rPr lang="en-NZ"/>
            <a:t>Example: The bond trades now for $1250. The interest rate is 50/1250 or 4%.</a:t>
          </a:r>
        </a:p>
      </dgm:t>
    </dgm:pt>
    <dgm:pt modelId="{A4911B6D-4765-49EE-94F5-025D257F7F01}" type="parTrans" cxnId="{3F686CC9-6D67-4F31-97A1-17975862B4AD}">
      <dgm:prSet/>
      <dgm:spPr/>
      <dgm:t>
        <a:bodyPr/>
        <a:lstStyle/>
        <a:p>
          <a:endParaRPr lang="en-NZ"/>
        </a:p>
      </dgm:t>
    </dgm:pt>
    <dgm:pt modelId="{E7A11460-417C-4A83-8C6F-20C4A7C1C922}" type="sibTrans" cxnId="{3F686CC9-6D67-4F31-97A1-17975862B4AD}">
      <dgm:prSet/>
      <dgm:spPr/>
      <dgm:t>
        <a:bodyPr/>
        <a:lstStyle/>
        <a:p>
          <a:endParaRPr lang="en-NZ"/>
        </a:p>
      </dgm:t>
    </dgm:pt>
    <dgm:pt modelId="{DA2431D2-9291-4CA1-AC45-9B8482023F5E}">
      <dgm:prSet/>
      <dgm:spPr/>
      <dgm:t>
        <a:bodyPr/>
        <a:lstStyle/>
        <a:p>
          <a:r>
            <a:rPr lang="en-NZ"/>
            <a:t>Spending increases because</a:t>
          </a:r>
        </a:p>
      </dgm:t>
    </dgm:pt>
    <dgm:pt modelId="{24485887-9223-4DEE-B6B8-A13BC541216E}" type="parTrans" cxnId="{39EAD4EA-882B-4443-815E-67165795F3A4}">
      <dgm:prSet/>
      <dgm:spPr/>
      <dgm:t>
        <a:bodyPr/>
        <a:lstStyle/>
        <a:p>
          <a:endParaRPr lang="en-NZ"/>
        </a:p>
      </dgm:t>
    </dgm:pt>
    <dgm:pt modelId="{099FDA5D-3A4A-4ABC-8368-4974FA80EC30}" type="sibTrans" cxnId="{39EAD4EA-882B-4443-815E-67165795F3A4}">
      <dgm:prSet/>
      <dgm:spPr/>
      <dgm:t>
        <a:bodyPr/>
        <a:lstStyle/>
        <a:p>
          <a:endParaRPr lang="en-NZ"/>
        </a:p>
      </dgm:t>
    </dgm:pt>
    <dgm:pt modelId="{7A3E6D5D-4E6A-4FC7-A57E-4B33107E2DC4}">
      <dgm:prSet/>
      <dgm:spPr/>
      <dgm:t>
        <a:bodyPr/>
        <a:lstStyle/>
        <a:p>
          <a:r>
            <a:rPr lang="en-NZ"/>
            <a:t>The cost of borrowing falls</a:t>
          </a:r>
        </a:p>
      </dgm:t>
    </dgm:pt>
    <dgm:pt modelId="{2907F6A0-31B9-45EB-9837-8EFACB18A634}" type="parTrans" cxnId="{0EA2C805-97BC-4D35-A336-877191B8F6A7}">
      <dgm:prSet/>
      <dgm:spPr/>
      <dgm:t>
        <a:bodyPr/>
        <a:lstStyle/>
        <a:p>
          <a:endParaRPr lang="en-NZ"/>
        </a:p>
      </dgm:t>
    </dgm:pt>
    <dgm:pt modelId="{6A94A704-A716-4929-A268-BCD8E38B16B3}" type="sibTrans" cxnId="{0EA2C805-97BC-4D35-A336-877191B8F6A7}">
      <dgm:prSet/>
      <dgm:spPr/>
      <dgm:t>
        <a:bodyPr/>
        <a:lstStyle/>
        <a:p>
          <a:endParaRPr lang="en-NZ"/>
        </a:p>
      </dgm:t>
    </dgm:pt>
    <dgm:pt modelId="{0936252E-F17F-43C4-A36B-A9A0D1D4C35F}">
      <dgm:prSet/>
      <dgm:spPr/>
      <dgm:t>
        <a:bodyPr/>
        <a:lstStyle/>
        <a:p>
          <a:r>
            <a:rPr lang="en-NZ"/>
            <a:t>The return to financial assets goes down</a:t>
          </a:r>
        </a:p>
      </dgm:t>
    </dgm:pt>
    <dgm:pt modelId="{8C1F0EEE-4840-4A7B-9124-C1315B926F8E}" type="parTrans" cxnId="{3C29D651-B4BC-4C00-AE35-44388BE39AC2}">
      <dgm:prSet/>
      <dgm:spPr/>
      <dgm:t>
        <a:bodyPr/>
        <a:lstStyle/>
        <a:p>
          <a:endParaRPr lang="en-NZ"/>
        </a:p>
      </dgm:t>
    </dgm:pt>
    <dgm:pt modelId="{0DBEA04E-9BCF-4C54-A0C1-1A8754D01FEF}" type="sibTrans" cxnId="{3C29D651-B4BC-4C00-AE35-44388BE39AC2}">
      <dgm:prSet/>
      <dgm:spPr/>
      <dgm:t>
        <a:bodyPr/>
        <a:lstStyle/>
        <a:p>
          <a:endParaRPr lang="en-NZ"/>
        </a:p>
      </dgm:t>
    </dgm:pt>
    <dgm:pt modelId="{9D9B4742-7F6F-4098-8026-F6634878E957}" type="pres">
      <dgm:prSet presAssocID="{ECD1C41A-3A0A-4196-9B13-27F9EEA9E96A}" presName="Name0" presStyleCnt="0">
        <dgm:presLayoutVars>
          <dgm:dir/>
          <dgm:resizeHandles val="exact"/>
        </dgm:presLayoutVars>
      </dgm:prSet>
      <dgm:spPr/>
    </dgm:pt>
    <dgm:pt modelId="{AB94ACCF-967C-4EB1-A692-56F0CDF2BDBA}" type="pres">
      <dgm:prSet presAssocID="{ECD1C41A-3A0A-4196-9B13-27F9EEA9E96A}" presName="arrow" presStyleLbl="bgShp" presStyleIdx="0" presStyleCnt="1"/>
      <dgm:spPr/>
    </dgm:pt>
    <dgm:pt modelId="{AF148CF9-5068-49AA-8648-7BEC095A8E3B}" type="pres">
      <dgm:prSet presAssocID="{ECD1C41A-3A0A-4196-9B13-27F9EEA9E96A}" presName="points" presStyleCnt="0"/>
      <dgm:spPr/>
    </dgm:pt>
    <dgm:pt modelId="{AA03485E-2DD9-497E-B393-DC3F12AC7792}" type="pres">
      <dgm:prSet presAssocID="{22B3AE1B-9307-478B-B0A2-82A512CC908F}" presName="compositeA" presStyleCnt="0"/>
      <dgm:spPr/>
    </dgm:pt>
    <dgm:pt modelId="{BC262A61-6BC0-4B5F-B8C2-A4F1011F4F5B}" type="pres">
      <dgm:prSet presAssocID="{22B3AE1B-9307-478B-B0A2-82A512CC908F}" presName="textA" presStyleLbl="revTx" presStyleIdx="0" presStyleCnt="7">
        <dgm:presLayoutVars>
          <dgm:bulletEnabled val="1"/>
        </dgm:presLayoutVars>
      </dgm:prSet>
      <dgm:spPr/>
    </dgm:pt>
    <dgm:pt modelId="{D1EE8862-7200-4C09-9620-95B105FCC408}" type="pres">
      <dgm:prSet presAssocID="{22B3AE1B-9307-478B-B0A2-82A512CC908F}" presName="circleA" presStyleLbl="node1" presStyleIdx="0" presStyleCnt="7"/>
      <dgm:spPr/>
    </dgm:pt>
    <dgm:pt modelId="{EA068E6D-D89C-40DF-8D55-E70FA6D321C7}" type="pres">
      <dgm:prSet presAssocID="{22B3AE1B-9307-478B-B0A2-82A512CC908F}" presName="spaceA" presStyleCnt="0"/>
      <dgm:spPr/>
    </dgm:pt>
    <dgm:pt modelId="{9714161C-1726-47A5-A97E-92DC8174C257}" type="pres">
      <dgm:prSet presAssocID="{6907A0C7-B1C3-46EA-8975-5A0AE5BA1D13}" presName="space" presStyleCnt="0"/>
      <dgm:spPr/>
    </dgm:pt>
    <dgm:pt modelId="{DB1B37FF-78B8-4C34-B475-D3E2907ECAF3}" type="pres">
      <dgm:prSet presAssocID="{6E2C77F6-F378-46AD-992B-7B3D13C914D7}" presName="compositeB" presStyleCnt="0"/>
      <dgm:spPr/>
    </dgm:pt>
    <dgm:pt modelId="{8AA8085A-B5AE-4BB2-960E-2FEDB5F0AC36}" type="pres">
      <dgm:prSet presAssocID="{6E2C77F6-F378-46AD-992B-7B3D13C914D7}" presName="textB" presStyleLbl="revTx" presStyleIdx="1" presStyleCnt="7">
        <dgm:presLayoutVars>
          <dgm:bulletEnabled val="1"/>
        </dgm:presLayoutVars>
      </dgm:prSet>
      <dgm:spPr/>
    </dgm:pt>
    <dgm:pt modelId="{0C6CBBD2-5ECD-4DF4-B9D6-D97983E09727}" type="pres">
      <dgm:prSet presAssocID="{6E2C77F6-F378-46AD-992B-7B3D13C914D7}" presName="circleB" presStyleLbl="node1" presStyleIdx="1" presStyleCnt="7"/>
      <dgm:spPr/>
    </dgm:pt>
    <dgm:pt modelId="{955C6148-A712-4279-B8E1-753A567FB289}" type="pres">
      <dgm:prSet presAssocID="{6E2C77F6-F378-46AD-992B-7B3D13C914D7}" presName="spaceB" presStyleCnt="0"/>
      <dgm:spPr/>
    </dgm:pt>
    <dgm:pt modelId="{C69F6D02-86B8-49E6-AAE9-12DD70C59C13}" type="pres">
      <dgm:prSet presAssocID="{94E3DA05-0172-4CC6-A9D3-08E0C8AEFBB5}" presName="space" presStyleCnt="0"/>
      <dgm:spPr/>
    </dgm:pt>
    <dgm:pt modelId="{DC14ECFC-7D7C-4F05-B4D4-BC79EB026562}" type="pres">
      <dgm:prSet presAssocID="{0124E8E5-217B-45AB-AEB8-12DDCE07C5C3}" presName="compositeA" presStyleCnt="0"/>
      <dgm:spPr/>
    </dgm:pt>
    <dgm:pt modelId="{01331B1E-4D89-48C6-B4B9-AA19C8C1A50A}" type="pres">
      <dgm:prSet presAssocID="{0124E8E5-217B-45AB-AEB8-12DDCE07C5C3}" presName="textA" presStyleLbl="revTx" presStyleIdx="2" presStyleCnt="7">
        <dgm:presLayoutVars>
          <dgm:bulletEnabled val="1"/>
        </dgm:presLayoutVars>
      </dgm:prSet>
      <dgm:spPr/>
    </dgm:pt>
    <dgm:pt modelId="{4B305658-6EFB-49A5-9725-F7427D4CF292}" type="pres">
      <dgm:prSet presAssocID="{0124E8E5-217B-45AB-AEB8-12DDCE07C5C3}" presName="circleA" presStyleLbl="node1" presStyleIdx="2" presStyleCnt="7"/>
      <dgm:spPr/>
    </dgm:pt>
    <dgm:pt modelId="{90D7CC5E-F700-44DA-BEF9-BB21FF5DD939}" type="pres">
      <dgm:prSet presAssocID="{0124E8E5-217B-45AB-AEB8-12DDCE07C5C3}" presName="spaceA" presStyleCnt="0"/>
      <dgm:spPr/>
    </dgm:pt>
    <dgm:pt modelId="{C6F5784E-0204-4B85-94C1-F409531680EE}" type="pres">
      <dgm:prSet presAssocID="{EE1D7040-4E3B-42AE-8693-647EDF4126EA}" presName="space" presStyleCnt="0"/>
      <dgm:spPr/>
    </dgm:pt>
    <dgm:pt modelId="{B84CFA51-E1D5-45EA-B4F8-3E626A35C28F}" type="pres">
      <dgm:prSet presAssocID="{404F850B-126E-42A9-8EF3-DFD9BB166BDD}" presName="compositeB" presStyleCnt="0"/>
      <dgm:spPr/>
    </dgm:pt>
    <dgm:pt modelId="{371B965E-A608-4A3B-A3BF-72FAF16A4979}" type="pres">
      <dgm:prSet presAssocID="{404F850B-126E-42A9-8EF3-DFD9BB166BDD}" presName="textB" presStyleLbl="revTx" presStyleIdx="3" presStyleCnt="7">
        <dgm:presLayoutVars>
          <dgm:bulletEnabled val="1"/>
        </dgm:presLayoutVars>
      </dgm:prSet>
      <dgm:spPr/>
    </dgm:pt>
    <dgm:pt modelId="{FE3D6757-99C4-48D9-AE82-331B75237391}" type="pres">
      <dgm:prSet presAssocID="{404F850B-126E-42A9-8EF3-DFD9BB166BDD}" presName="circleB" presStyleLbl="node1" presStyleIdx="3" presStyleCnt="7"/>
      <dgm:spPr/>
    </dgm:pt>
    <dgm:pt modelId="{D4722C46-9574-49B7-89CC-3D4DB9F1CD1A}" type="pres">
      <dgm:prSet presAssocID="{404F850B-126E-42A9-8EF3-DFD9BB166BDD}" presName="spaceB" presStyleCnt="0"/>
      <dgm:spPr/>
    </dgm:pt>
    <dgm:pt modelId="{C6B3BD0B-99D8-408A-94FF-BD735C8C72E6}" type="pres">
      <dgm:prSet presAssocID="{71746B2F-8313-44DF-B074-86247CC8F42F}" presName="space" presStyleCnt="0"/>
      <dgm:spPr/>
    </dgm:pt>
    <dgm:pt modelId="{408444B5-B444-4550-82A9-04823D9CA5DE}" type="pres">
      <dgm:prSet presAssocID="{8747557F-5F34-4651-903F-7DF94A625906}" presName="compositeA" presStyleCnt="0"/>
      <dgm:spPr/>
    </dgm:pt>
    <dgm:pt modelId="{E170CD84-D99C-49D1-AD72-631876CCB614}" type="pres">
      <dgm:prSet presAssocID="{8747557F-5F34-4651-903F-7DF94A625906}" presName="textA" presStyleLbl="revTx" presStyleIdx="4" presStyleCnt="7">
        <dgm:presLayoutVars>
          <dgm:bulletEnabled val="1"/>
        </dgm:presLayoutVars>
      </dgm:prSet>
      <dgm:spPr/>
    </dgm:pt>
    <dgm:pt modelId="{D475D8F6-3E3D-4C48-A614-A081789673E7}" type="pres">
      <dgm:prSet presAssocID="{8747557F-5F34-4651-903F-7DF94A625906}" presName="circleA" presStyleLbl="node1" presStyleIdx="4" presStyleCnt="7"/>
      <dgm:spPr/>
    </dgm:pt>
    <dgm:pt modelId="{A505AD44-C528-42F5-A06D-04E68DD7A17D}" type="pres">
      <dgm:prSet presAssocID="{8747557F-5F34-4651-903F-7DF94A625906}" presName="spaceA" presStyleCnt="0"/>
      <dgm:spPr/>
    </dgm:pt>
    <dgm:pt modelId="{7E939AE4-0E92-4F27-BD5A-961F75A22949}" type="pres">
      <dgm:prSet presAssocID="{8D554FBB-1BA2-4D6A-B0A6-08EACBFD214B}" presName="space" presStyleCnt="0"/>
      <dgm:spPr/>
    </dgm:pt>
    <dgm:pt modelId="{C2DC0D85-6B19-4F84-A295-39B5C0366D42}" type="pres">
      <dgm:prSet presAssocID="{668EC796-DE85-4B8C-9852-7485B44A4AFC}" presName="compositeB" presStyleCnt="0"/>
      <dgm:spPr/>
    </dgm:pt>
    <dgm:pt modelId="{10520C41-CF8A-449C-BD70-DDA842D1F0F2}" type="pres">
      <dgm:prSet presAssocID="{668EC796-DE85-4B8C-9852-7485B44A4AFC}" presName="textB" presStyleLbl="revTx" presStyleIdx="5" presStyleCnt="7">
        <dgm:presLayoutVars>
          <dgm:bulletEnabled val="1"/>
        </dgm:presLayoutVars>
      </dgm:prSet>
      <dgm:spPr/>
    </dgm:pt>
    <dgm:pt modelId="{BB09E4D6-7842-4AE0-A0B0-7D627CEB1B0C}" type="pres">
      <dgm:prSet presAssocID="{668EC796-DE85-4B8C-9852-7485B44A4AFC}" presName="circleB" presStyleLbl="node1" presStyleIdx="5" presStyleCnt="7"/>
      <dgm:spPr/>
    </dgm:pt>
    <dgm:pt modelId="{30436608-E528-43B8-9BD7-4DAE279F4FCC}" type="pres">
      <dgm:prSet presAssocID="{668EC796-DE85-4B8C-9852-7485B44A4AFC}" presName="spaceB" presStyleCnt="0"/>
      <dgm:spPr/>
    </dgm:pt>
    <dgm:pt modelId="{8493546B-57D5-45D9-81CA-1F401F01B441}" type="pres">
      <dgm:prSet presAssocID="{E7A11460-417C-4A83-8C6F-20C4A7C1C922}" presName="space" presStyleCnt="0"/>
      <dgm:spPr/>
    </dgm:pt>
    <dgm:pt modelId="{050FB701-143A-4D0B-AA71-9D0E04E8C0BC}" type="pres">
      <dgm:prSet presAssocID="{DA2431D2-9291-4CA1-AC45-9B8482023F5E}" presName="compositeA" presStyleCnt="0"/>
      <dgm:spPr/>
    </dgm:pt>
    <dgm:pt modelId="{A6459A47-56D8-49E4-A1D7-F2521C371DC4}" type="pres">
      <dgm:prSet presAssocID="{DA2431D2-9291-4CA1-AC45-9B8482023F5E}" presName="textA" presStyleLbl="revTx" presStyleIdx="6" presStyleCnt="7">
        <dgm:presLayoutVars>
          <dgm:bulletEnabled val="1"/>
        </dgm:presLayoutVars>
      </dgm:prSet>
      <dgm:spPr/>
    </dgm:pt>
    <dgm:pt modelId="{2DE8D6E6-91B9-4F78-A23B-30187176554D}" type="pres">
      <dgm:prSet presAssocID="{DA2431D2-9291-4CA1-AC45-9B8482023F5E}" presName="circleA" presStyleLbl="node1" presStyleIdx="6" presStyleCnt="7"/>
      <dgm:spPr/>
    </dgm:pt>
    <dgm:pt modelId="{4CC4404B-7551-4BD9-A5BD-70F9E25E18ED}" type="pres">
      <dgm:prSet presAssocID="{DA2431D2-9291-4CA1-AC45-9B8482023F5E}" presName="spaceA" presStyleCnt="0"/>
      <dgm:spPr/>
    </dgm:pt>
  </dgm:ptLst>
  <dgm:cxnLst>
    <dgm:cxn modelId="{0EA2C805-97BC-4D35-A336-877191B8F6A7}" srcId="{DA2431D2-9291-4CA1-AC45-9B8482023F5E}" destId="{7A3E6D5D-4E6A-4FC7-A57E-4B33107E2DC4}" srcOrd="0" destOrd="0" parTransId="{2907F6A0-31B9-45EB-9837-8EFACB18A634}" sibTransId="{6A94A704-A716-4929-A268-BCD8E38B16B3}"/>
    <dgm:cxn modelId="{C950430D-9040-4273-92EE-C6ACFFD565E1}" type="presOf" srcId="{0936252E-F17F-43C4-A36B-A9A0D1D4C35F}" destId="{A6459A47-56D8-49E4-A1D7-F2521C371DC4}" srcOrd="0" destOrd="2" presId="urn:microsoft.com/office/officeart/2005/8/layout/hProcess11"/>
    <dgm:cxn modelId="{5D95CC13-0F08-4776-8DAD-5F6820BBB2CA}" type="presOf" srcId="{DA2431D2-9291-4CA1-AC45-9B8482023F5E}" destId="{A6459A47-56D8-49E4-A1D7-F2521C371DC4}" srcOrd="0" destOrd="0" presId="urn:microsoft.com/office/officeart/2005/8/layout/hProcess11"/>
    <dgm:cxn modelId="{15832928-1097-4C76-947A-45A8772E87C0}" type="presOf" srcId="{22B3AE1B-9307-478B-B0A2-82A512CC908F}" destId="{BC262A61-6BC0-4B5F-B8C2-A4F1011F4F5B}" srcOrd="0" destOrd="0" presId="urn:microsoft.com/office/officeart/2005/8/layout/hProcess11"/>
    <dgm:cxn modelId="{90E94A2C-A37C-4C09-877B-BF6889D04077}" srcId="{ECD1C41A-3A0A-4196-9B13-27F9EEA9E96A}" destId="{6E2C77F6-F378-46AD-992B-7B3D13C914D7}" srcOrd="1" destOrd="0" parTransId="{62333936-6A1E-4A01-B235-19FD32D88D32}" sibTransId="{94E3DA05-0172-4CC6-A9D3-08E0C8AEFBB5}"/>
    <dgm:cxn modelId="{19430651-9CF2-4B78-9A66-BAD0166BFA11}" srcId="{ECD1C41A-3A0A-4196-9B13-27F9EEA9E96A}" destId="{22B3AE1B-9307-478B-B0A2-82A512CC908F}" srcOrd="0" destOrd="0" parTransId="{893470B8-3AA3-4702-AA61-A47B471C735C}" sibTransId="{6907A0C7-B1C3-46EA-8975-5A0AE5BA1D13}"/>
    <dgm:cxn modelId="{3C29D651-B4BC-4C00-AE35-44388BE39AC2}" srcId="{DA2431D2-9291-4CA1-AC45-9B8482023F5E}" destId="{0936252E-F17F-43C4-A36B-A9A0D1D4C35F}" srcOrd="1" destOrd="0" parTransId="{8C1F0EEE-4840-4A7B-9124-C1315B926F8E}" sibTransId="{0DBEA04E-9BCF-4C54-A0C1-1A8754D01FEF}"/>
    <dgm:cxn modelId="{D1D34F56-E533-4748-AFAF-0CB150DB0F0C}" srcId="{ECD1C41A-3A0A-4196-9B13-27F9EEA9E96A}" destId="{8747557F-5F34-4651-903F-7DF94A625906}" srcOrd="4" destOrd="0" parTransId="{5452F203-EBF6-421C-B543-1C3629763B12}" sibTransId="{8D554FBB-1BA2-4D6A-B0A6-08EACBFD214B}"/>
    <dgm:cxn modelId="{0792FA56-C9B9-4D52-A887-A64223FDB589}" type="presOf" srcId="{7A3E6D5D-4E6A-4FC7-A57E-4B33107E2DC4}" destId="{A6459A47-56D8-49E4-A1D7-F2521C371DC4}" srcOrd="0" destOrd="1" presId="urn:microsoft.com/office/officeart/2005/8/layout/hProcess11"/>
    <dgm:cxn modelId="{9B71DA79-3DA6-4B5C-9F85-A10C80DCD36F}" type="presOf" srcId="{404F850B-126E-42A9-8EF3-DFD9BB166BDD}" destId="{371B965E-A608-4A3B-A3BF-72FAF16A4979}" srcOrd="0" destOrd="0" presId="urn:microsoft.com/office/officeart/2005/8/layout/hProcess11"/>
    <dgm:cxn modelId="{108A278F-49DB-4974-A7A2-ED8C9F3FED88}" type="presOf" srcId="{668EC796-DE85-4B8C-9852-7485B44A4AFC}" destId="{10520C41-CF8A-449C-BD70-DDA842D1F0F2}" srcOrd="0" destOrd="0" presId="urn:microsoft.com/office/officeart/2005/8/layout/hProcess11"/>
    <dgm:cxn modelId="{C52ABE90-8F16-45C0-B0D4-91CE283BB0BD}" type="presOf" srcId="{8747557F-5F34-4651-903F-7DF94A625906}" destId="{E170CD84-D99C-49D1-AD72-631876CCB614}" srcOrd="0" destOrd="0" presId="urn:microsoft.com/office/officeart/2005/8/layout/hProcess11"/>
    <dgm:cxn modelId="{CC8184A8-5231-49F9-A6DF-D3F3953FBBD6}" type="presOf" srcId="{0124E8E5-217B-45AB-AEB8-12DDCE07C5C3}" destId="{01331B1E-4D89-48C6-B4B9-AA19C8C1A50A}" srcOrd="0" destOrd="0" presId="urn:microsoft.com/office/officeart/2005/8/layout/hProcess11"/>
    <dgm:cxn modelId="{75BC04B0-31F4-44E9-9B88-7534C22F6583}" type="presOf" srcId="{6E2C77F6-F378-46AD-992B-7B3D13C914D7}" destId="{8AA8085A-B5AE-4BB2-960E-2FEDB5F0AC36}" srcOrd="0" destOrd="0" presId="urn:microsoft.com/office/officeart/2005/8/layout/hProcess11"/>
    <dgm:cxn modelId="{3F686CC9-6D67-4F31-97A1-17975862B4AD}" srcId="{ECD1C41A-3A0A-4196-9B13-27F9EEA9E96A}" destId="{668EC796-DE85-4B8C-9852-7485B44A4AFC}" srcOrd="5" destOrd="0" parTransId="{A4911B6D-4765-49EE-94F5-025D257F7F01}" sibTransId="{E7A11460-417C-4A83-8C6F-20C4A7C1C922}"/>
    <dgm:cxn modelId="{D5C3B9C9-FA05-4515-99D0-A3C72173AC6A}" srcId="{ECD1C41A-3A0A-4196-9B13-27F9EEA9E96A}" destId="{404F850B-126E-42A9-8EF3-DFD9BB166BDD}" srcOrd="3" destOrd="0" parTransId="{83976FE2-C8C5-4A1C-96C3-042FF0B62B2E}" sibTransId="{71746B2F-8313-44DF-B074-86247CC8F42F}"/>
    <dgm:cxn modelId="{D16710CE-A024-4390-A553-E84E39F003CF}" type="presOf" srcId="{ECD1C41A-3A0A-4196-9B13-27F9EEA9E96A}" destId="{9D9B4742-7F6F-4098-8026-F6634878E957}" srcOrd="0" destOrd="0" presId="urn:microsoft.com/office/officeart/2005/8/layout/hProcess11"/>
    <dgm:cxn modelId="{A71B14DE-5801-41F3-A18D-CA22411BFB3D}" srcId="{ECD1C41A-3A0A-4196-9B13-27F9EEA9E96A}" destId="{0124E8E5-217B-45AB-AEB8-12DDCE07C5C3}" srcOrd="2" destOrd="0" parTransId="{BD12D6B1-5ABD-420F-91ED-698F4C47A806}" sibTransId="{EE1D7040-4E3B-42AE-8693-647EDF4126EA}"/>
    <dgm:cxn modelId="{39EAD4EA-882B-4443-815E-67165795F3A4}" srcId="{ECD1C41A-3A0A-4196-9B13-27F9EEA9E96A}" destId="{DA2431D2-9291-4CA1-AC45-9B8482023F5E}" srcOrd="6" destOrd="0" parTransId="{24485887-9223-4DEE-B6B8-A13BC541216E}" sibTransId="{099FDA5D-3A4A-4ABC-8368-4974FA80EC30}"/>
    <dgm:cxn modelId="{1E998130-3093-4A32-BFA6-AF86DBA66E15}" type="presParOf" srcId="{9D9B4742-7F6F-4098-8026-F6634878E957}" destId="{AB94ACCF-967C-4EB1-A692-56F0CDF2BDBA}" srcOrd="0" destOrd="0" presId="urn:microsoft.com/office/officeart/2005/8/layout/hProcess11"/>
    <dgm:cxn modelId="{33805211-E6FE-4BDD-A52C-C56157271A9D}" type="presParOf" srcId="{9D9B4742-7F6F-4098-8026-F6634878E957}" destId="{AF148CF9-5068-49AA-8648-7BEC095A8E3B}" srcOrd="1" destOrd="0" presId="urn:microsoft.com/office/officeart/2005/8/layout/hProcess11"/>
    <dgm:cxn modelId="{99FDEE6B-517B-404A-BA25-CDBCDF876675}" type="presParOf" srcId="{AF148CF9-5068-49AA-8648-7BEC095A8E3B}" destId="{AA03485E-2DD9-497E-B393-DC3F12AC7792}" srcOrd="0" destOrd="0" presId="urn:microsoft.com/office/officeart/2005/8/layout/hProcess11"/>
    <dgm:cxn modelId="{CEC5A54F-8C01-4B04-AE53-08DA5150878B}" type="presParOf" srcId="{AA03485E-2DD9-497E-B393-DC3F12AC7792}" destId="{BC262A61-6BC0-4B5F-B8C2-A4F1011F4F5B}" srcOrd="0" destOrd="0" presId="urn:microsoft.com/office/officeart/2005/8/layout/hProcess11"/>
    <dgm:cxn modelId="{D3A103E9-2FB9-4E38-AD14-7CF9288FD662}" type="presParOf" srcId="{AA03485E-2DD9-497E-B393-DC3F12AC7792}" destId="{D1EE8862-7200-4C09-9620-95B105FCC408}" srcOrd="1" destOrd="0" presId="urn:microsoft.com/office/officeart/2005/8/layout/hProcess11"/>
    <dgm:cxn modelId="{AB2735CC-7973-4CD0-A722-3F84725FC16F}" type="presParOf" srcId="{AA03485E-2DD9-497E-B393-DC3F12AC7792}" destId="{EA068E6D-D89C-40DF-8D55-E70FA6D321C7}" srcOrd="2" destOrd="0" presId="urn:microsoft.com/office/officeart/2005/8/layout/hProcess11"/>
    <dgm:cxn modelId="{BCA2941D-6A71-4EEE-AF1B-006EBBDD4C10}" type="presParOf" srcId="{AF148CF9-5068-49AA-8648-7BEC095A8E3B}" destId="{9714161C-1726-47A5-A97E-92DC8174C257}" srcOrd="1" destOrd="0" presId="urn:microsoft.com/office/officeart/2005/8/layout/hProcess11"/>
    <dgm:cxn modelId="{DF378AB9-69F8-4B40-AF7D-3B3C1EF713C1}" type="presParOf" srcId="{AF148CF9-5068-49AA-8648-7BEC095A8E3B}" destId="{DB1B37FF-78B8-4C34-B475-D3E2907ECAF3}" srcOrd="2" destOrd="0" presId="urn:microsoft.com/office/officeart/2005/8/layout/hProcess11"/>
    <dgm:cxn modelId="{D4DB6D04-046A-4956-A248-D2E87793BD39}" type="presParOf" srcId="{DB1B37FF-78B8-4C34-B475-D3E2907ECAF3}" destId="{8AA8085A-B5AE-4BB2-960E-2FEDB5F0AC36}" srcOrd="0" destOrd="0" presId="urn:microsoft.com/office/officeart/2005/8/layout/hProcess11"/>
    <dgm:cxn modelId="{E4431DFE-9002-40FE-AB4E-EF171487E55E}" type="presParOf" srcId="{DB1B37FF-78B8-4C34-B475-D3E2907ECAF3}" destId="{0C6CBBD2-5ECD-4DF4-B9D6-D97983E09727}" srcOrd="1" destOrd="0" presId="urn:microsoft.com/office/officeart/2005/8/layout/hProcess11"/>
    <dgm:cxn modelId="{0AFC318B-0091-4491-8D16-0A06D0ED995B}" type="presParOf" srcId="{DB1B37FF-78B8-4C34-B475-D3E2907ECAF3}" destId="{955C6148-A712-4279-B8E1-753A567FB289}" srcOrd="2" destOrd="0" presId="urn:microsoft.com/office/officeart/2005/8/layout/hProcess11"/>
    <dgm:cxn modelId="{83BB5C5F-1869-4612-A5E7-3A4DBD2DFAA4}" type="presParOf" srcId="{AF148CF9-5068-49AA-8648-7BEC095A8E3B}" destId="{C69F6D02-86B8-49E6-AAE9-12DD70C59C13}" srcOrd="3" destOrd="0" presId="urn:microsoft.com/office/officeart/2005/8/layout/hProcess11"/>
    <dgm:cxn modelId="{D9885C32-DE84-42B1-84B3-660050502231}" type="presParOf" srcId="{AF148CF9-5068-49AA-8648-7BEC095A8E3B}" destId="{DC14ECFC-7D7C-4F05-B4D4-BC79EB026562}" srcOrd="4" destOrd="0" presId="urn:microsoft.com/office/officeart/2005/8/layout/hProcess11"/>
    <dgm:cxn modelId="{085B19C7-056E-4036-9FD0-B078BB5AA875}" type="presParOf" srcId="{DC14ECFC-7D7C-4F05-B4D4-BC79EB026562}" destId="{01331B1E-4D89-48C6-B4B9-AA19C8C1A50A}" srcOrd="0" destOrd="0" presId="urn:microsoft.com/office/officeart/2005/8/layout/hProcess11"/>
    <dgm:cxn modelId="{775CE80A-F072-4314-9B79-8092181DEB20}" type="presParOf" srcId="{DC14ECFC-7D7C-4F05-B4D4-BC79EB026562}" destId="{4B305658-6EFB-49A5-9725-F7427D4CF292}" srcOrd="1" destOrd="0" presId="urn:microsoft.com/office/officeart/2005/8/layout/hProcess11"/>
    <dgm:cxn modelId="{BE360F2A-2C10-4B54-B7FD-512F6C8CD05F}" type="presParOf" srcId="{DC14ECFC-7D7C-4F05-B4D4-BC79EB026562}" destId="{90D7CC5E-F700-44DA-BEF9-BB21FF5DD939}" srcOrd="2" destOrd="0" presId="urn:microsoft.com/office/officeart/2005/8/layout/hProcess11"/>
    <dgm:cxn modelId="{05386159-EBB7-41AA-B4B2-AB23DE38416C}" type="presParOf" srcId="{AF148CF9-5068-49AA-8648-7BEC095A8E3B}" destId="{C6F5784E-0204-4B85-94C1-F409531680EE}" srcOrd="5" destOrd="0" presId="urn:microsoft.com/office/officeart/2005/8/layout/hProcess11"/>
    <dgm:cxn modelId="{F8236B5D-1997-4EC7-9667-CA05BB34A30F}" type="presParOf" srcId="{AF148CF9-5068-49AA-8648-7BEC095A8E3B}" destId="{B84CFA51-E1D5-45EA-B4F8-3E626A35C28F}" srcOrd="6" destOrd="0" presId="urn:microsoft.com/office/officeart/2005/8/layout/hProcess11"/>
    <dgm:cxn modelId="{8CD42B10-8CC3-4273-B72F-D44EF155BC4A}" type="presParOf" srcId="{B84CFA51-E1D5-45EA-B4F8-3E626A35C28F}" destId="{371B965E-A608-4A3B-A3BF-72FAF16A4979}" srcOrd="0" destOrd="0" presId="urn:microsoft.com/office/officeart/2005/8/layout/hProcess11"/>
    <dgm:cxn modelId="{192C6D46-518A-4227-ACCE-008F9BD007FA}" type="presParOf" srcId="{B84CFA51-E1D5-45EA-B4F8-3E626A35C28F}" destId="{FE3D6757-99C4-48D9-AE82-331B75237391}" srcOrd="1" destOrd="0" presId="urn:microsoft.com/office/officeart/2005/8/layout/hProcess11"/>
    <dgm:cxn modelId="{A273255F-B35F-4613-B3F3-2F4BE2C182C5}" type="presParOf" srcId="{B84CFA51-E1D5-45EA-B4F8-3E626A35C28F}" destId="{D4722C46-9574-49B7-89CC-3D4DB9F1CD1A}" srcOrd="2" destOrd="0" presId="urn:microsoft.com/office/officeart/2005/8/layout/hProcess11"/>
    <dgm:cxn modelId="{56F97203-7BD7-4A7E-A56B-424141F88038}" type="presParOf" srcId="{AF148CF9-5068-49AA-8648-7BEC095A8E3B}" destId="{C6B3BD0B-99D8-408A-94FF-BD735C8C72E6}" srcOrd="7" destOrd="0" presId="urn:microsoft.com/office/officeart/2005/8/layout/hProcess11"/>
    <dgm:cxn modelId="{BE7118D7-4E78-4465-854A-FD9B5745A863}" type="presParOf" srcId="{AF148CF9-5068-49AA-8648-7BEC095A8E3B}" destId="{408444B5-B444-4550-82A9-04823D9CA5DE}" srcOrd="8" destOrd="0" presId="urn:microsoft.com/office/officeart/2005/8/layout/hProcess11"/>
    <dgm:cxn modelId="{15D04C21-8371-4F6C-A64D-B0A34D3B21B3}" type="presParOf" srcId="{408444B5-B444-4550-82A9-04823D9CA5DE}" destId="{E170CD84-D99C-49D1-AD72-631876CCB614}" srcOrd="0" destOrd="0" presId="urn:microsoft.com/office/officeart/2005/8/layout/hProcess11"/>
    <dgm:cxn modelId="{002491DE-E6C4-43E1-96DD-AF42D9029E23}" type="presParOf" srcId="{408444B5-B444-4550-82A9-04823D9CA5DE}" destId="{D475D8F6-3E3D-4C48-A614-A081789673E7}" srcOrd="1" destOrd="0" presId="urn:microsoft.com/office/officeart/2005/8/layout/hProcess11"/>
    <dgm:cxn modelId="{4ED2B0B4-E1A3-4657-9343-72D753AB1F38}" type="presParOf" srcId="{408444B5-B444-4550-82A9-04823D9CA5DE}" destId="{A505AD44-C528-42F5-A06D-04E68DD7A17D}" srcOrd="2" destOrd="0" presId="urn:microsoft.com/office/officeart/2005/8/layout/hProcess11"/>
    <dgm:cxn modelId="{E5F3CF54-0557-478E-B401-CC91555E80F4}" type="presParOf" srcId="{AF148CF9-5068-49AA-8648-7BEC095A8E3B}" destId="{7E939AE4-0E92-4F27-BD5A-961F75A22949}" srcOrd="9" destOrd="0" presId="urn:microsoft.com/office/officeart/2005/8/layout/hProcess11"/>
    <dgm:cxn modelId="{2CCBDC81-B5FD-4774-8C12-49BC66CEFEFA}" type="presParOf" srcId="{AF148CF9-5068-49AA-8648-7BEC095A8E3B}" destId="{C2DC0D85-6B19-4F84-A295-39B5C0366D42}" srcOrd="10" destOrd="0" presId="urn:microsoft.com/office/officeart/2005/8/layout/hProcess11"/>
    <dgm:cxn modelId="{E3BEA7BA-00C1-4553-AC46-092BA64CE112}" type="presParOf" srcId="{C2DC0D85-6B19-4F84-A295-39B5C0366D42}" destId="{10520C41-CF8A-449C-BD70-DDA842D1F0F2}" srcOrd="0" destOrd="0" presId="urn:microsoft.com/office/officeart/2005/8/layout/hProcess11"/>
    <dgm:cxn modelId="{5C2E0DA7-873B-49A5-B248-E273DEF68DC6}" type="presParOf" srcId="{C2DC0D85-6B19-4F84-A295-39B5C0366D42}" destId="{BB09E4D6-7842-4AE0-A0B0-7D627CEB1B0C}" srcOrd="1" destOrd="0" presId="urn:microsoft.com/office/officeart/2005/8/layout/hProcess11"/>
    <dgm:cxn modelId="{FD518248-B5AA-4252-9E0A-8A5E7B37491C}" type="presParOf" srcId="{C2DC0D85-6B19-4F84-A295-39B5C0366D42}" destId="{30436608-E528-43B8-9BD7-4DAE279F4FCC}" srcOrd="2" destOrd="0" presId="urn:microsoft.com/office/officeart/2005/8/layout/hProcess11"/>
    <dgm:cxn modelId="{17ABD922-C449-430C-B81F-29AD789984E6}" type="presParOf" srcId="{AF148CF9-5068-49AA-8648-7BEC095A8E3B}" destId="{8493546B-57D5-45D9-81CA-1F401F01B441}" srcOrd="11" destOrd="0" presId="urn:microsoft.com/office/officeart/2005/8/layout/hProcess11"/>
    <dgm:cxn modelId="{0137F741-B47E-4E48-860A-B50E0596EA2D}" type="presParOf" srcId="{AF148CF9-5068-49AA-8648-7BEC095A8E3B}" destId="{050FB701-143A-4D0B-AA71-9D0E04E8C0BC}" srcOrd="12" destOrd="0" presId="urn:microsoft.com/office/officeart/2005/8/layout/hProcess11"/>
    <dgm:cxn modelId="{0DEF428A-3E98-403F-B959-EC0B2A6369B8}" type="presParOf" srcId="{050FB701-143A-4D0B-AA71-9D0E04E8C0BC}" destId="{A6459A47-56D8-49E4-A1D7-F2521C371DC4}" srcOrd="0" destOrd="0" presId="urn:microsoft.com/office/officeart/2005/8/layout/hProcess11"/>
    <dgm:cxn modelId="{74EDF046-E036-45F5-8CE7-583818C0493F}" type="presParOf" srcId="{050FB701-143A-4D0B-AA71-9D0E04E8C0BC}" destId="{2DE8D6E6-91B9-4F78-A23B-30187176554D}" srcOrd="1" destOrd="0" presId="urn:microsoft.com/office/officeart/2005/8/layout/hProcess11"/>
    <dgm:cxn modelId="{95C3C578-38AA-47BF-BD30-5ED011FF491B}" type="presParOf" srcId="{050FB701-143A-4D0B-AA71-9D0E04E8C0BC}" destId="{4CC4404B-7551-4BD9-A5BD-70F9E25E18E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5943F073-8666-4222-9394-D570D922D19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87E5165D-A8A9-4501-97B2-5E2E0FEB1CF1}">
      <dgm:prSet/>
      <dgm:spPr/>
      <dgm:t>
        <a:bodyPr/>
        <a:lstStyle/>
        <a:p>
          <a:r>
            <a:rPr lang="en-NZ" dirty="0"/>
            <a:t>Solutions: Quantitative Easing</a:t>
          </a:r>
        </a:p>
      </dgm:t>
    </dgm:pt>
    <dgm:pt modelId="{A4E621F5-4943-46AC-809C-4394061AAE4A}" type="parTrans" cxnId="{B7358E40-A48F-4D1B-8DF2-EFB39C0B5FF1}">
      <dgm:prSet/>
      <dgm:spPr/>
      <dgm:t>
        <a:bodyPr/>
        <a:lstStyle/>
        <a:p>
          <a:endParaRPr lang="en-NZ"/>
        </a:p>
      </dgm:t>
    </dgm:pt>
    <dgm:pt modelId="{6A1C7C85-2762-4767-A3AE-B63A0AA582B6}" type="sibTrans" cxnId="{B7358E40-A48F-4D1B-8DF2-EFB39C0B5FF1}">
      <dgm:prSet/>
      <dgm:spPr/>
      <dgm:t>
        <a:bodyPr/>
        <a:lstStyle/>
        <a:p>
          <a:endParaRPr lang="en-NZ"/>
        </a:p>
      </dgm:t>
    </dgm:pt>
    <dgm:pt modelId="{A501462E-3E59-40DC-826A-C295EB9D7D4C}" type="pres">
      <dgm:prSet presAssocID="{5943F073-8666-4222-9394-D570D922D194}" presName="linear" presStyleCnt="0">
        <dgm:presLayoutVars>
          <dgm:animLvl val="lvl"/>
          <dgm:resizeHandles val="exact"/>
        </dgm:presLayoutVars>
      </dgm:prSet>
      <dgm:spPr/>
    </dgm:pt>
    <dgm:pt modelId="{235D663D-EDE8-48E4-A0F1-B5336C4045C9}" type="pres">
      <dgm:prSet presAssocID="{87E5165D-A8A9-4501-97B2-5E2E0FEB1CF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F9BE80A-0B29-41D5-9D66-246BF54550F9}" type="presOf" srcId="{87E5165D-A8A9-4501-97B2-5E2E0FEB1CF1}" destId="{235D663D-EDE8-48E4-A0F1-B5336C4045C9}" srcOrd="0" destOrd="0" presId="urn:microsoft.com/office/officeart/2005/8/layout/vList2"/>
    <dgm:cxn modelId="{B7358E40-A48F-4D1B-8DF2-EFB39C0B5FF1}" srcId="{5943F073-8666-4222-9394-D570D922D194}" destId="{87E5165D-A8A9-4501-97B2-5E2E0FEB1CF1}" srcOrd="0" destOrd="0" parTransId="{A4E621F5-4943-46AC-809C-4394061AAE4A}" sibTransId="{6A1C7C85-2762-4767-A3AE-B63A0AA582B6}"/>
    <dgm:cxn modelId="{22A3CCBE-0F23-49FE-97E4-89B60419B7FB}" type="presOf" srcId="{5943F073-8666-4222-9394-D570D922D194}" destId="{A501462E-3E59-40DC-826A-C295EB9D7D4C}" srcOrd="0" destOrd="0" presId="urn:microsoft.com/office/officeart/2005/8/layout/vList2"/>
    <dgm:cxn modelId="{533135AB-CD7A-46C8-81A2-E5029EEB7E40}" type="presParOf" srcId="{A501462E-3E59-40DC-826A-C295EB9D7D4C}" destId="{235D663D-EDE8-48E4-A0F1-B5336C4045C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A3C3E60B-58A6-4BF1-BB4A-4853A989975F}" type="doc">
      <dgm:prSet loTypeId="urn:microsoft.com/office/officeart/2005/8/layout/process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NZ"/>
        </a:p>
      </dgm:t>
    </dgm:pt>
    <dgm:pt modelId="{C196FC72-B372-41B8-B350-4B0840D1DC7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The US Fed and Bank of England especially purchase long-term financial securities in large volume</a:t>
          </a:r>
        </a:p>
      </dgm:t>
    </dgm:pt>
    <dgm:pt modelId="{491B04E1-C096-43B6-A7E0-C4E349CD15E9}" type="parTrans" cxnId="{2383D1C5-920F-4A73-8598-1822A4973ABE}">
      <dgm:prSet/>
      <dgm:spPr/>
      <dgm:t>
        <a:bodyPr/>
        <a:lstStyle/>
        <a:p>
          <a:endParaRPr lang="en-NZ"/>
        </a:p>
      </dgm:t>
    </dgm:pt>
    <dgm:pt modelId="{B3A12ADD-412C-411D-9932-E1F70EFA3009}" type="sibTrans" cxnId="{2383D1C5-920F-4A73-8598-1822A4973ABE}">
      <dgm:prSet/>
      <dgm:spPr/>
      <dgm:t>
        <a:bodyPr/>
        <a:lstStyle/>
        <a:p>
          <a:endParaRPr lang="en-NZ"/>
        </a:p>
      </dgm:t>
    </dgm:pt>
    <dgm:pt modelId="{0818C791-1454-4426-BB15-C34FA43E8305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These are shifted to the Central Banks ‘assets’ in the Balance sheet</a:t>
          </a:r>
        </a:p>
      </dgm:t>
    </dgm:pt>
    <dgm:pt modelId="{93B194E7-906C-4392-A56B-A2BBAA410220}" type="parTrans" cxnId="{8FF199C7-165F-4872-85D3-FCE9D0E15620}">
      <dgm:prSet/>
      <dgm:spPr/>
      <dgm:t>
        <a:bodyPr/>
        <a:lstStyle/>
        <a:p>
          <a:endParaRPr lang="en-NZ"/>
        </a:p>
      </dgm:t>
    </dgm:pt>
    <dgm:pt modelId="{FD24041A-16D5-48E0-8B54-F4ED88718AF2}" type="sibTrans" cxnId="{8FF199C7-165F-4872-85D3-FCE9D0E15620}">
      <dgm:prSet/>
      <dgm:spPr/>
      <dgm:t>
        <a:bodyPr/>
        <a:lstStyle/>
        <a:p>
          <a:endParaRPr lang="en-NZ"/>
        </a:p>
      </dgm:t>
    </dgm:pt>
    <dgm:pt modelId="{C8A0AC47-1B4D-42AF-ABD8-358DD39069E3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Money from these purchases is then available to firms</a:t>
          </a:r>
        </a:p>
      </dgm:t>
    </dgm:pt>
    <dgm:pt modelId="{2FA0ACCC-1C7B-4B28-B8CC-BE7D9CDC5191}" type="parTrans" cxnId="{43689A9F-79C9-4291-8F5D-DC0C33A382A1}">
      <dgm:prSet/>
      <dgm:spPr/>
      <dgm:t>
        <a:bodyPr/>
        <a:lstStyle/>
        <a:p>
          <a:endParaRPr lang="en-NZ"/>
        </a:p>
      </dgm:t>
    </dgm:pt>
    <dgm:pt modelId="{E06C52A6-4C6B-4066-A50F-1C3B64FB9A8D}" type="sibTrans" cxnId="{43689A9F-79C9-4291-8F5D-DC0C33A382A1}">
      <dgm:prSet/>
      <dgm:spPr/>
      <dgm:t>
        <a:bodyPr/>
        <a:lstStyle/>
        <a:p>
          <a:endParaRPr lang="en-NZ"/>
        </a:p>
      </dgm:t>
    </dgm:pt>
    <dgm:pt modelId="{C9B68181-C51D-4BE9-9E57-BD3E21181D95}" type="pres">
      <dgm:prSet presAssocID="{A3C3E60B-58A6-4BF1-BB4A-4853A989975F}" presName="Name0" presStyleCnt="0">
        <dgm:presLayoutVars>
          <dgm:dir/>
          <dgm:animLvl val="lvl"/>
          <dgm:resizeHandles val="exact"/>
        </dgm:presLayoutVars>
      </dgm:prSet>
      <dgm:spPr/>
    </dgm:pt>
    <dgm:pt modelId="{84A09BE7-87FB-4CD6-B13F-AA76AA901F06}" type="pres">
      <dgm:prSet presAssocID="{C8A0AC47-1B4D-42AF-ABD8-358DD39069E3}" presName="boxAndChildren" presStyleCnt="0"/>
      <dgm:spPr/>
    </dgm:pt>
    <dgm:pt modelId="{91D27CDA-9E8D-44A6-8ED4-388B6C4B152C}" type="pres">
      <dgm:prSet presAssocID="{C8A0AC47-1B4D-42AF-ABD8-358DD39069E3}" presName="parentTextBox" presStyleLbl="node1" presStyleIdx="0" presStyleCnt="3"/>
      <dgm:spPr/>
    </dgm:pt>
    <dgm:pt modelId="{15EE3379-4100-4D8F-A4A0-3BCF5B780F2A}" type="pres">
      <dgm:prSet presAssocID="{FD24041A-16D5-48E0-8B54-F4ED88718AF2}" presName="sp" presStyleCnt="0"/>
      <dgm:spPr/>
    </dgm:pt>
    <dgm:pt modelId="{3447B7D7-F356-42F2-BB27-F2F47EC4C3C2}" type="pres">
      <dgm:prSet presAssocID="{0818C791-1454-4426-BB15-C34FA43E8305}" presName="arrowAndChildren" presStyleCnt="0"/>
      <dgm:spPr/>
    </dgm:pt>
    <dgm:pt modelId="{0D71CB71-7873-4E2B-BCD7-4BD585053343}" type="pres">
      <dgm:prSet presAssocID="{0818C791-1454-4426-BB15-C34FA43E8305}" presName="parentTextArrow" presStyleLbl="node1" presStyleIdx="1" presStyleCnt="3"/>
      <dgm:spPr/>
    </dgm:pt>
    <dgm:pt modelId="{DC2208EB-27D6-4FDA-A7C4-DDBBB2A9CC39}" type="pres">
      <dgm:prSet presAssocID="{B3A12ADD-412C-411D-9932-E1F70EFA3009}" presName="sp" presStyleCnt="0"/>
      <dgm:spPr/>
    </dgm:pt>
    <dgm:pt modelId="{DAE306E3-0196-4784-9467-4A1CE6E9B6CC}" type="pres">
      <dgm:prSet presAssocID="{C196FC72-B372-41B8-B350-4B0840D1DC76}" presName="arrowAndChildren" presStyleCnt="0"/>
      <dgm:spPr/>
    </dgm:pt>
    <dgm:pt modelId="{E2C6A8BE-8F93-4EF6-9146-FDF42F884B15}" type="pres">
      <dgm:prSet presAssocID="{C196FC72-B372-41B8-B350-4B0840D1DC76}" presName="parentTextArrow" presStyleLbl="node1" presStyleIdx="2" presStyleCnt="3"/>
      <dgm:spPr/>
    </dgm:pt>
  </dgm:ptLst>
  <dgm:cxnLst>
    <dgm:cxn modelId="{C048B53B-0EC7-4A7C-B033-D4E5122B4561}" type="presOf" srcId="{C8A0AC47-1B4D-42AF-ABD8-358DD39069E3}" destId="{91D27CDA-9E8D-44A6-8ED4-388B6C4B152C}" srcOrd="0" destOrd="0" presId="urn:microsoft.com/office/officeart/2005/8/layout/process4"/>
    <dgm:cxn modelId="{DA66AA41-9D30-4374-8F80-705CD296014B}" type="presOf" srcId="{C196FC72-B372-41B8-B350-4B0840D1DC76}" destId="{E2C6A8BE-8F93-4EF6-9146-FDF42F884B15}" srcOrd="0" destOrd="0" presId="urn:microsoft.com/office/officeart/2005/8/layout/process4"/>
    <dgm:cxn modelId="{B46C2E43-83F4-4AD1-B19A-168763319A8F}" type="presOf" srcId="{0818C791-1454-4426-BB15-C34FA43E8305}" destId="{0D71CB71-7873-4E2B-BCD7-4BD585053343}" srcOrd="0" destOrd="0" presId="urn:microsoft.com/office/officeart/2005/8/layout/process4"/>
    <dgm:cxn modelId="{43689A9F-79C9-4291-8F5D-DC0C33A382A1}" srcId="{A3C3E60B-58A6-4BF1-BB4A-4853A989975F}" destId="{C8A0AC47-1B4D-42AF-ABD8-358DD39069E3}" srcOrd="2" destOrd="0" parTransId="{2FA0ACCC-1C7B-4B28-B8CC-BE7D9CDC5191}" sibTransId="{E06C52A6-4C6B-4066-A50F-1C3B64FB9A8D}"/>
    <dgm:cxn modelId="{13233DAC-C7A1-4AAC-AAA2-DCE35707589F}" type="presOf" srcId="{A3C3E60B-58A6-4BF1-BB4A-4853A989975F}" destId="{C9B68181-C51D-4BE9-9E57-BD3E21181D95}" srcOrd="0" destOrd="0" presId="urn:microsoft.com/office/officeart/2005/8/layout/process4"/>
    <dgm:cxn modelId="{2383D1C5-920F-4A73-8598-1822A4973ABE}" srcId="{A3C3E60B-58A6-4BF1-BB4A-4853A989975F}" destId="{C196FC72-B372-41B8-B350-4B0840D1DC76}" srcOrd="0" destOrd="0" parTransId="{491B04E1-C096-43B6-A7E0-C4E349CD15E9}" sibTransId="{B3A12ADD-412C-411D-9932-E1F70EFA3009}"/>
    <dgm:cxn modelId="{8FF199C7-165F-4872-85D3-FCE9D0E15620}" srcId="{A3C3E60B-58A6-4BF1-BB4A-4853A989975F}" destId="{0818C791-1454-4426-BB15-C34FA43E8305}" srcOrd="1" destOrd="0" parTransId="{93B194E7-906C-4392-A56B-A2BBAA410220}" sibTransId="{FD24041A-16D5-48E0-8B54-F4ED88718AF2}"/>
    <dgm:cxn modelId="{FEC4C4B0-DB21-495C-8D2C-97F7FB5BFBDA}" type="presParOf" srcId="{C9B68181-C51D-4BE9-9E57-BD3E21181D95}" destId="{84A09BE7-87FB-4CD6-B13F-AA76AA901F06}" srcOrd="0" destOrd="0" presId="urn:microsoft.com/office/officeart/2005/8/layout/process4"/>
    <dgm:cxn modelId="{67DE318E-3125-4486-A338-A6D48343DCDF}" type="presParOf" srcId="{84A09BE7-87FB-4CD6-B13F-AA76AA901F06}" destId="{91D27CDA-9E8D-44A6-8ED4-388B6C4B152C}" srcOrd="0" destOrd="0" presId="urn:microsoft.com/office/officeart/2005/8/layout/process4"/>
    <dgm:cxn modelId="{90E1D3DF-46EC-428C-A9B5-ADBA9565772F}" type="presParOf" srcId="{C9B68181-C51D-4BE9-9E57-BD3E21181D95}" destId="{15EE3379-4100-4D8F-A4A0-3BCF5B780F2A}" srcOrd="1" destOrd="0" presId="urn:microsoft.com/office/officeart/2005/8/layout/process4"/>
    <dgm:cxn modelId="{09787366-9299-4EBA-A06B-F9C96E6D3CAF}" type="presParOf" srcId="{C9B68181-C51D-4BE9-9E57-BD3E21181D95}" destId="{3447B7D7-F356-42F2-BB27-F2F47EC4C3C2}" srcOrd="2" destOrd="0" presId="urn:microsoft.com/office/officeart/2005/8/layout/process4"/>
    <dgm:cxn modelId="{8CC69324-F6F1-4855-B36A-C7BDFD867EFF}" type="presParOf" srcId="{3447B7D7-F356-42F2-BB27-F2F47EC4C3C2}" destId="{0D71CB71-7873-4E2B-BCD7-4BD585053343}" srcOrd="0" destOrd="0" presId="urn:microsoft.com/office/officeart/2005/8/layout/process4"/>
    <dgm:cxn modelId="{C0D580B7-069B-4D1A-95B9-E5207DE4D025}" type="presParOf" srcId="{C9B68181-C51D-4BE9-9E57-BD3E21181D95}" destId="{DC2208EB-27D6-4FDA-A7C4-DDBBB2A9CC39}" srcOrd="3" destOrd="0" presId="urn:microsoft.com/office/officeart/2005/8/layout/process4"/>
    <dgm:cxn modelId="{6FF40B00-9591-4334-894B-D4BF3AD98B1E}" type="presParOf" srcId="{C9B68181-C51D-4BE9-9E57-BD3E21181D95}" destId="{DAE306E3-0196-4784-9467-4A1CE6E9B6CC}" srcOrd="4" destOrd="0" presId="urn:microsoft.com/office/officeart/2005/8/layout/process4"/>
    <dgm:cxn modelId="{133F58B4-3843-490E-977E-B3B3F8C9BDD3}" type="presParOf" srcId="{DAE306E3-0196-4784-9467-4A1CE6E9B6CC}" destId="{E2C6A8BE-8F93-4EF6-9146-FDF42F884B1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B17D1B23-A2E8-4478-9D5C-2721E78ABFB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C0F46696-80D6-4461-80FE-7133035A1519}">
      <dgm:prSet/>
      <dgm:spPr/>
      <dgm:t>
        <a:bodyPr/>
        <a:lstStyle/>
        <a:p>
          <a:r>
            <a:rPr lang="en-NZ"/>
            <a:t>Austerity</a:t>
          </a:r>
        </a:p>
      </dgm:t>
    </dgm:pt>
    <dgm:pt modelId="{99F21A50-DE28-44BD-A325-F76F22D382AB}" type="parTrans" cxnId="{9BAA04C1-7E06-47E3-AFD5-F70AF7A731E3}">
      <dgm:prSet/>
      <dgm:spPr/>
      <dgm:t>
        <a:bodyPr/>
        <a:lstStyle/>
        <a:p>
          <a:endParaRPr lang="en-NZ"/>
        </a:p>
      </dgm:t>
    </dgm:pt>
    <dgm:pt modelId="{91B0DECD-1838-4474-940D-6741F8B2A680}" type="sibTrans" cxnId="{9BAA04C1-7E06-47E3-AFD5-F70AF7A731E3}">
      <dgm:prSet/>
      <dgm:spPr/>
      <dgm:t>
        <a:bodyPr/>
        <a:lstStyle/>
        <a:p>
          <a:endParaRPr lang="en-NZ"/>
        </a:p>
      </dgm:t>
    </dgm:pt>
    <dgm:pt modelId="{65258210-5686-4157-BCDA-ACC00CFEA646}" type="pres">
      <dgm:prSet presAssocID="{B17D1B23-A2E8-4478-9D5C-2721E78ABFB2}" presName="linear" presStyleCnt="0">
        <dgm:presLayoutVars>
          <dgm:animLvl val="lvl"/>
          <dgm:resizeHandles val="exact"/>
        </dgm:presLayoutVars>
      </dgm:prSet>
      <dgm:spPr/>
    </dgm:pt>
    <dgm:pt modelId="{A79B31B6-FACD-4A1C-AD3D-99A0E4922973}" type="pres">
      <dgm:prSet presAssocID="{C0F46696-80D6-4461-80FE-7133035A151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4515104-FB9D-400C-A5FA-42DFD5072BA4}" type="presOf" srcId="{C0F46696-80D6-4461-80FE-7133035A1519}" destId="{A79B31B6-FACD-4A1C-AD3D-99A0E4922973}" srcOrd="0" destOrd="0" presId="urn:microsoft.com/office/officeart/2005/8/layout/vList2"/>
    <dgm:cxn modelId="{9BAA04C1-7E06-47E3-AFD5-F70AF7A731E3}" srcId="{B17D1B23-A2E8-4478-9D5C-2721E78ABFB2}" destId="{C0F46696-80D6-4461-80FE-7133035A1519}" srcOrd="0" destOrd="0" parTransId="{99F21A50-DE28-44BD-A325-F76F22D382AB}" sibTransId="{91B0DECD-1838-4474-940D-6741F8B2A680}"/>
    <dgm:cxn modelId="{F38926FB-5935-4D10-B0FD-32AA7BD87ED8}" type="presOf" srcId="{B17D1B23-A2E8-4478-9D5C-2721E78ABFB2}" destId="{65258210-5686-4157-BCDA-ACC00CFEA646}" srcOrd="0" destOrd="0" presId="urn:microsoft.com/office/officeart/2005/8/layout/vList2"/>
    <dgm:cxn modelId="{FE37FC6F-751A-4D8B-8D1D-A4DC36AF1B6E}" type="presParOf" srcId="{65258210-5686-4157-BCDA-ACC00CFEA646}" destId="{A79B31B6-FACD-4A1C-AD3D-99A0E49229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BED35B3F-A262-480E-B44E-CDE3AF6786DB}" type="doc">
      <dgm:prSet loTypeId="urn:microsoft.com/office/officeart/2005/8/layout/process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NZ"/>
        </a:p>
      </dgm:t>
    </dgm:pt>
    <dgm:pt modelId="{8620DEDA-89DC-46F2-9B14-E42264E7A71A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Some countries had high sovereign risk</a:t>
          </a:r>
        </a:p>
      </dgm:t>
    </dgm:pt>
    <dgm:pt modelId="{C22534C9-0001-4DA6-B0A9-CC8248F6082F}" type="parTrans" cxnId="{136FBABD-8D13-4ADC-AAED-A9B8F06B8285}">
      <dgm:prSet/>
      <dgm:spPr/>
      <dgm:t>
        <a:bodyPr/>
        <a:lstStyle/>
        <a:p>
          <a:endParaRPr lang="en-NZ"/>
        </a:p>
      </dgm:t>
    </dgm:pt>
    <dgm:pt modelId="{A7203337-C71A-46A8-AF41-58931A415564}" type="sibTrans" cxnId="{136FBABD-8D13-4ADC-AAED-A9B8F06B8285}">
      <dgm:prSet/>
      <dgm:spPr/>
      <dgm:t>
        <a:bodyPr/>
        <a:lstStyle/>
        <a:p>
          <a:endParaRPr lang="en-NZ"/>
        </a:p>
      </dgm:t>
    </dgm:pt>
    <dgm:pt modelId="{55D04E0F-96EA-415F-A4B3-DFBBB69EB049}">
      <dgm:prSet/>
      <dgm:spPr/>
      <dgm:t>
        <a:bodyPr/>
        <a:lstStyle/>
        <a:p>
          <a:r>
            <a:rPr lang="en-NZ"/>
            <a:t>High debts meant financial markets considered them risky</a:t>
          </a:r>
        </a:p>
      </dgm:t>
    </dgm:pt>
    <dgm:pt modelId="{5D6469A1-0200-46B1-810A-C2D0AFD7152D}" type="parTrans" cxnId="{E5BBE421-526B-4ED2-A6D4-BFC53F8299E2}">
      <dgm:prSet/>
      <dgm:spPr/>
      <dgm:t>
        <a:bodyPr/>
        <a:lstStyle/>
        <a:p>
          <a:endParaRPr lang="en-NZ"/>
        </a:p>
      </dgm:t>
    </dgm:pt>
    <dgm:pt modelId="{63CE12C2-2E95-409E-BEF1-038DEA1A0E31}" type="sibTrans" cxnId="{E5BBE421-526B-4ED2-A6D4-BFC53F8299E2}">
      <dgm:prSet/>
      <dgm:spPr/>
      <dgm:t>
        <a:bodyPr/>
        <a:lstStyle/>
        <a:p>
          <a:endParaRPr lang="en-NZ"/>
        </a:p>
      </dgm:t>
    </dgm:pt>
    <dgm:pt modelId="{998808FE-B023-4958-BBBF-A4302BBCE45E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These debt levels meant it Governments could not sell bonds to finance their deficits.</a:t>
          </a:r>
        </a:p>
      </dgm:t>
    </dgm:pt>
    <dgm:pt modelId="{230DE4AD-243F-4C0C-B573-786304B38517}" type="parTrans" cxnId="{964D0EA7-E65B-4070-B6D7-74001254DCA7}">
      <dgm:prSet/>
      <dgm:spPr/>
      <dgm:t>
        <a:bodyPr/>
        <a:lstStyle/>
        <a:p>
          <a:endParaRPr lang="en-NZ"/>
        </a:p>
      </dgm:t>
    </dgm:pt>
    <dgm:pt modelId="{BCC70582-9D41-4CD3-B482-D5CD2C92AD0D}" type="sibTrans" cxnId="{964D0EA7-E65B-4070-B6D7-74001254DCA7}">
      <dgm:prSet/>
      <dgm:spPr/>
      <dgm:t>
        <a:bodyPr/>
        <a:lstStyle/>
        <a:p>
          <a:endParaRPr lang="en-NZ"/>
        </a:p>
      </dgm:t>
    </dgm:pt>
    <dgm:pt modelId="{A78B89FF-317A-43D4-ADBF-EE1149C7102B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To balance their budget deep cuts in government spending had to implemented</a:t>
          </a:r>
        </a:p>
      </dgm:t>
    </dgm:pt>
    <dgm:pt modelId="{EF279527-7539-49C7-8351-C4ACE0F8E5A1}" type="parTrans" cxnId="{558B769E-EA1C-4D18-99BE-712806E38175}">
      <dgm:prSet/>
      <dgm:spPr/>
      <dgm:t>
        <a:bodyPr/>
        <a:lstStyle/>
        <a:p>
          <a:endParaRPr lang="en-NZ"/>
        </a:p>
      </dgm:t>
    </dgm:pt>
    <dgm:pt modelId="{BBEA4ADC-14FD-44FD-99F5-553EBC73F590}" type="sibTrans" cxnId="{558B769E-EA1C-4D18-99BE-712806E38175}">
      <dgm:prSet/>
      <dgm:spPr/>
      <dgm:t>
        <a:bodyPr/>
        <a:lstStyle/>
        <a:p>
          <a:endParaRPr lang="en-NZ"/>
        </a:p>
      </dgm:t>
    </dgm:pt>
    <dgm:pt modelId="{7117F23C-8065-44CF-813D-EE0F72FFEE4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This worsened the recession for these countries</a:t>
          </a:r>
        </a:p>
      </dgm:t>
    </dgm:pt>
    <dgm:pt modelId="{280C3FED-D07C-48E3-89E7-CD7108F7BA47}" type="parTrans" cxnId="{473FD66E-3F1A-409C-8F6F-9EAFA8A190AF}">
      <dgm:prSet/>
      <dgm:spPr/>
      <dgm:t>
        <a:bodyPr/>
        <a:lstStyle/>
        <a:p>
          <a:endParaRPr lang="en-NZ"/>
        </a:p>
      </dgm:t>
    </dgm:pt>
    <dgm:pt modelId="{24C5CA59-E051-4399-82E8-77CB828F4D0B}" type="sibTrans" cxnId="{473FD66E-3F1A-409C-8F6F-9EAFA8A190AF}">
      <dgm:prSet/>
      <dgm:spPr/>
      <dgm:t>
        <a:bodyPr/>
        <a:lstStyle/>
        <a:p>
          <a:endParaRPr lang="en-NZ"/>
        </a:p>
      </dgm:t>
    </dgm:pt>
    <dgm:pt modelId="{9D6997CF-1013-4CEB-B3A3-76352E412BC8}" type="pres">
      <dgm:prSet presAssocID="{BED35B3F-A262-480E-B44E-CDE3AF6786DB}" presName="Name0" presStyleCnt="0">
        <dgm:presLayoutVars>
          <dgm:dir/>
          <dgm:animLvl val="lvl"/>
          <dgm:resizeHandles val="exact"/>
        </dgm:presLayoutVars>
      </dgm:prSet>
      <dgm:spPr/>
    </dgm:pt>
    <dgm:pt modelId="{F1101A7E-3E37-4411-8BC2-6B217AAA976E}" type="pres">
      <dgm:prSet presAssocID="{7117F23C-8065-44CF-813D-EE0F72FFEE4D}" presName="boxAndChildren" presStyleCnt="0"/>
      <dgm:spPr/>
    </dgm:pt>
    <dgm:pt modelId="{4CCDE54D-FF98-4155-8205-DFB97E846C64}" type="pres">
      <dgm:prSet presAssocID="{7117F23C-8065-44CF-813D-EE0F72FFEE4D}" presName="parentTextBox" presStyleLbl="node1" presStyleIdx="0" presStyleCnt="4"/>
      <dgm:spPr/>
    </dgm:pt>
    <dgm:pt modelId="{AED59764-1482-43AA-B610-DFB6BC45D4D9}" type="pres">
      <dgm:prSet presAssocID="{BBEA4ADC-14FD-44FD-99F5-553EBC73F590}" presName="sp" presStyleCnt="0"/>
      <dgm:spPr/>
    </dgm:pt>
    <dgm:pt modelId="{BD28065C-46D4-4BB7-A949-E3D6C0223C1F}" type="pres">
      <dgm:prSet presAssocID="{A78B89FF-317A-43D4-ADBF-EE1149C7102B}" presName="arrowAndChildren" presStyleCnt="0"/>
      <dgm:spPr/>
    </dgm:pt>
    <dgm:pt modelId="{F40CC9A3-54CA-4891-AED5-0ADBA3DA0C93}" type="pres">
      <dgm:prSet presAssocID="{A78B89FF-317A-43D4-ADBF-EE1149C7102B}" presName="parentTextArrow" presStyleLbl="node1" presStyleIdx="1" presStyleCnt="4"/>
      <dgm:spPr/>
    </dgm:pt>
    <dgm:pt modelId="{5F010EBE-E6C8-4019-9C9E-87FAD194D211}" type="pres">
      <dgm:prSet presAssocID="{BCC70582-9D41-4CD3-B482-D5CD2C92AD0D}" presName="sp" presStyleCnt="0"/>
      <dgm:spPr/>
    </dgm:pt>
    <dgm:pt modelId="{D23DBED2-B2B9-4966-A315-EB5FE0C3A475}" type="pres">
      <dgm:prSet presAssocID="{998808FE-B023-4958-BBBF-A4302BBCE45E}" presName="arrowAndChildren" presStyleCnt="0"/>
      <dgm:spPr/>
    </dgm:pt>
    <dgm:pt modelId="{3DFB4D36-30E3-4435-AA63-64A7F0DC81BF}" type="pres">
      <dgm:prSet presAssocID="{998808FE-B023-4958-BBBF-A4302BBCE45E}" presName="parentTextArrow" presStyleLbl="node1" presStyleIdx="2" presStyleCnt="4"/>
      <dgm:spPr/>
    </dgm:pt>
    <dgm:pt modelId="{2ECF4440-C44E-4786-9DCB-ADA1F26F0B15}" type="pres">
      <dgm:prSet presAssocID="{A7203337-C71A-46A8-AF41-58931A415564}" presName="sp" presStyleCnt="0"/>
      <dgm:spPr/>
    </dgm:pt>
    <dgm:pt modelId="{30084506-C1B6-4D25-894C-008D50B1C271}" type="pres">
      <dgm:prSet presAssocID="{8620DEDA-89DC-46F2-9B14-E42264E7A71A}" presName="arrowAndChildren" presStyleCnt="0"/>
      <dgm:spPr/>
    </dgm:pt>
    <dgm:pt modelId="{6382EB4C-A01F-4C47-8808-E2FE8F16742F}" type="pres">
      <dgm:prSet presAssocID="{8620DEDA-89DC-46F2-9B14-E42264E7A71A}" presName="parentTextArrow" presStyleLbl="node1" presStyleIdx="2" presStyleCnt="4"/>
      <dgm:spPr/>
    </dgm:pt>
    <dgm:pt modelId="{84150ACD-33C3-4137-B2CB-7BAB62AC47F9}" type="pres">
      <dgm:prSet presAssocID="{8620DEDA-89DC-46F2-9B14-E42264E7A71A}" presName="arrow" presStyleLbl="node1" presStyleIdx="3" presStyleCnt="4"/>
      <dgm:spPr/>
    </dgm:pt>
    <dgm:pt modelId="{393F775A-CB53-46ED-B81F-749B8A9B0F12}" type="pres">
      <dgm:prSet presAssocID="{8620DEDA-89DC-46F2-9B14-E42264E7A71A}" presName="descendantArrow" presStyleCnt="0"/>
      <dgm:spPr/>
    </dgm:pt>
    <dgm:pt modelId="{25003E8A-D0B4-4690-BAEC-207CBEC4107A}" type="pres">
      <dgm:prSet presAssocID="{55D04E0F-96EA-415F-A4B3-DFBBB69EB049}" presName="childTextArrow" presStyleLbl="fgAccFollowNode1" presStyleIdx="0" presStyleCnt="1">
        <dgm:presLayoutVars>
          <dgm:bulletEnabled val="1"/>
        </dgm:presLayoutVars>
      </dgm:prSet>
      <dgm:spPr/>
    </dgm:pt>
  </dgm:ptLst>
  <dgm:cxnLst>
    <dgm:cxn modelId="{E5BBE421-526B-4ED2-A6D4-BFC53F8299E2}" srcId="{8620DEDA-89DC-46F2-9B14-E42264E7A71A}" destId="{55D04E0F-96EA-415F-A4B3-DFBBB69EB049}" srcOrd="0" destOrd="0" parTransId="{5D6469A1-0200-46B1-810A-C2D0AFD7152D}" sibTransId="{63CE12C2-2E95-409E-BEF1-038DEA1A0E31}"/>
    <dgm:cxn modelId="{91F7FE6A-2EC6-4EE4-B93B-0342D272995F}" type="presOf" srcId="{8620DEDA-89DC-46F2-9B14-E42264E7A71A}" destId="{6382EB4C-A01F-4C47-8808-E2FE8F16742F}" srcOrd="0" destOrd="0" presId="urn:microsoft.com/office/officeart/2005/8/layout/process4"/>
    <dgm:cxn modelId="{473FD66E-3F1A-409C-8F6F-9EAFA8A190AF}" srcId="{BED35B3F-A262-480E-B44E-CDE3AF6786DB}" destId="{7117F23C-8065-44CF-813D-EE0F72FFEE4D}" srcOrd="3" destOrd="0" parTransId="{280C3FED-D07C-48E3-89E7-CD7108F7BA47}" sibTransId="{24C5CA59-E051-4399-82E8-77CB828F4D0B}"/>
    <dgm:cxn modelId="{1D2A7D79-B7FB-4925-8CDA-3819B41E8521}" type="presOf" srcId="{55D04E0F-96EA-415F-A4B3-DFBBB69EB049}" destId="{25003E8A-D0B4-4690-BAEC-207CBEC4107A}" srcOrd="0" destOrd="0" presId="urn:microsoft.com/office/officeart/2005/8/layout/process4"/>
    <dgm:cxn modelId="{C277597A-B066-4726-AEC3-D23058DDCF85}" type="presOf" srcId="{A78B89FF-317A-43D4-ADBF-EE1149C7102B}" destId="{F40CC9A3-54CA-4891-AED5-0ADBA3DA0C93}" srcOrd="0" destOrd="0" presId="urn:microsoft.com/office/officeart/2005/8/layout/process4"/>
    <dgm:cxn modelId="{21B17F8E-97FB-46EC-86A8-A1509C585163}" type="presOf" srcId="{8620DEDA-89DC-46F2-9B14-E42264E7A71A}" destId="{84150ACD-33C3-4137-B2CB-7BAB62AC47F9}" srcOrd="1" destOrd="0" presId="urn:microsoft.com/office/officeart/2005/8/layout/process4"/>
    <dgm:cxn modelId="{80828995-8C76-48B2-BCB4-21390C636CEB}" type="presOf" srcId="{BED35B3F-A262-480E-B44E-CDE3AF6786DB}" destId="{9D6997CF-1013-4CEB-B3A3-76352E412BC8}" srcOrd="0" destOrd="0" presId="urn:microsoft.com/office/officeart/2005/8/layout/process4"/>
    <dgm:cxn modelId="{558B769E-EA1C-4D18-99BE-712806E38175}" srcId="{BED35B3F-A262-480E-B44E-CDE3AF6786DB}" destId="{A78B89FF-317A-43D4-ADBF-EE1149C7102B}" srcOrd="2" destOrd="0" parTransId="{EF279527-7539-49C7-8351-C4ACE0F8E5A1}" sibTransId="{BBEA4ADC-14FD-44FD-99F5-553EBC73F590}"/>
    <dgm:cxn modelId="{964D0EA7-E65B-4070-B6D7-74001254DCA7}" srcId="{BED35B3F-A262-480E-B44E-CDE3AF6786DB}" destId="{998808FE-B023-4958-BBBF-A4302BBCE45E}" srcOrd="1" destOrd="0" parTransId="{230DE4AD-243F-4C0C-B573-786304B38517}" sibTransId="{BCC70582-9D41-4CD3-B482-D5CD2C92AD0D}"/>
    <dgm:cxn modelId="{8B475AB1-4941-4FFE-903C-E6D1C30A19C0}" type="presOf" srcId="{7117F23C-8065-44CF-813D-EE0F72FFEE4D}" destId="{4CCDE54D-FF98-4155-8205-DFB97E846C64}" srcOrd="0" destOrd="0" presId="urn:microsoft.com/office/officeart/2005/8/layout/process4"/>
    <dgm:cxn modelId="{849B3BB7-A10E-40C6-AE14-83F23F2C15D2}" type="presOf" srcId="{998808FE-B023-4958-BBBF-A4302BBCE45E}" destId="{3DFB4D36-30E3-4435-AA63-64A7F0DC81BF}" srcOrd="0" destOrd="0" presId="urn:microsoft.com/office/officeart/2005/8/layout/process4"/>
    <dgm:cxn modelId="{136FBABD-8D13-4ADC-AAED-A9B8F06B8285}" srcId="{BED35B3F-A262-480E-B44E-CDE3AF6786DB}" destId="{8620DEDA-89DC-46F2-9B14-E42264E7A71A}" srcOrd="0" destOrd="0" parTransId="{C22534C9-0001-4DA6-B0A9-CC8248F6082F}" sibTransId="{A7203337-C71A-46A8-AF41-58931A415564}"/>
    <dgm:cxn modelId="{39E2CFB1-E08E-4B36-9A5D-E3C814A97D0E}" type="presParOf" srcId="{9D6997CF-1013-4CEB-B3A3-76352E412BC8}" destId="{F1101A7E-3E37-4411-8BC2-6B217AAA976E}" srcOrd="0" destOrd="0" presId="urn:microsoft.com/office/officeart/2005/8/layout/process4"/>
    <dgm:cxn modelId="{932B920E-E8E0-42C6-A8E8-A2CA59B304E0}" type="presParOf" srcId="{F1101A7E-3E37-4411-8BC2-6B217AAA976E}" destId="{4CCDE54D-FF98-4155-8205-DFB97E846C64}" srcOrd="0" destOrd="0" presId="urn:microsoft.com/office/officeart/2005/8/layout/process4"/>
    <dgm:cxn modelId="{0B8759A2-C054-4615-9771-3108FC6BBC8D}" type="presParOf" srcId="{9D6997CF-1013-4CEB-B3A3-76352E412BC8}" destId="{AED59764-1482-43AA-B610-DFB6BC45D4D9}" srcOrd="1" destOrd="0" presId="urn:microsoft.com/office/officeart/2005/8/layout/process4"/>
    <dgm:cxn modelId="{BE78AEE5-1D12-48A5-BEF1-CB3AA5325D05}" type="presParOf" srcId="{9D6997CF-1013-4CEB-B3A3-76352E412BC8}" destId="{BD28065C-46D4-4BB7-A949-E3D6C0223C1F}" srcOrd="2" destOrd="0" presId="urn:microsoft.com/office/officeart/2005/8/layout/process4"/>
    <dgm:cxn modelId="{5F8DCBDE-6A62-41A3-B3EA-03D1C58C442E}" type="presParOf" srcId="{BD28065C-46D4-4BB7-A949-E3D6C0223C1F}" destId="{F40CC9A3-54CA-4891-AED5-0ADBA3DA0C93}" srcOrd="0" destOrd="0" presId="urn:microsoft.com/office/officeart/2005/8/layout/process4"/>
    <dgm:cxn modelId="{D0E65B40-4B37-4EEB-B497-B44208CBA6D1}" type="presParOf" srcId="{9D6997CF-1013-4CEB-B3A3-76352E412BC8}" destId="{5F010EBE-E6C8-4019-9C9E-87FAD194D211}" srcOrd="3" destOrd="0" presId="urn:microsoft.com/office/officeart/2005/8/layout/process4"/>
    <dgm:cxn modelId="{B79027BE-C872-4A74-906C-93B854515C6D}" type="presParOf" srcId="{9D6997CF-1013-4CEB-B3A3-76352E412BC8}" destId="{D23DBED2-B2B9-4966-A315-EB5FE0C3A475}" srcOrd="4" destOrd="0" presId="urn:microsoft.com/office/officeart/2005/8/layout/process4"/>
    <dgm:cxn modelId="{36734857-EC18-40B8-ABE9-6F14AB796720}" type="presParOf" srcId="{D23DBED2-B2B9-4966-A315-EB5FE0C3A475}" destId="{3DFB4D36-30E3-4435-AA63-64A7F0DC81BF}" srcOrd="0" destOrd="0" presId="urn:microsoft.com/office/officeart/2005/8/layout/process4"/>
    <dgm:cxn modelId="{6D9ED9E8-D766-40B9-9A75-52BD821EC174}" type="presParOf" srcId="{9D6997CF-1013-4CEB-B3A3-76352E412BC8}" destId="{2ECF4440-C44E-4786-9DCB-ADA1F26F0B15}" srcOrd="5" destOrd="0" presId="urn:microsoft.com/office/officeart/2005/8/layout/process4"/>
    <dgm:cxn modelId="{FBA63C22-C941-40F2-9F0C-F257580E1BE7}" type="presParOf" srcId="{9D6997CF-1013-4CEB-B3A3-76352E412BC8}" destId="{30084506-C1B6-4D25-894C-008D50B1C271}" srcOrd="6" destOrd="0" presId="urn:microsoft.com/office/officeart/2005/8/layout/process4"/>
    <dgm:cxn modelId="{D12138D5-76E9-4D70-BB80-16D0C7D42B9C}" type="presParOf" srcId="{30084506-C1B6-4D25-894C-008D50B1C271}" destId="{6382EB4C-A01F-4C47-8808-E2FE8F16742F}" srcOrd="0" destOrd="0" presId="urn:microsoft.com/office/officeart/2005/8/layout/process4"/>
    <dgm:cxn modelId="{6BBBCAEA-B8AF-4575-B899-D003822DF2F6}" type="presParOf" srcId="{30084506-C1B6-4D25-894C-008D50B1C271}" destId="{84150ACD-33C3-4137-B2CB-7BAB62AC47F9}" srcOrd="1" destOrd="0" presId="urn:microsoft.com/office/officeart/2005/8/layout/process4"/>
    <dgm:cxn modelId="{BB7ED5D0-CB9A-44BA-B2DC-D5EA57D8A1E7}" type="presParOf" srcId="{30084506-C1B6-4D25-894C-008D50B1C271}" destId="{393F775A-CB53-46ED-B81F-749B8A9B0F12}" srcOrd="2" destOrd="0" presId="urn:microsoft.com/office/officeart/2005/8/layout/process4"/>
    <dgm:cxn modelId="{5F9C8025-C4AB-4DA2-A201-BFF16C7FC092}" type="presParOf" srcId="{393F775A-CB53-46ED-B81F-749B8A9B0F12}" destId="{25003E8A-D0B4-4690-BAEC-207CBEC4107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CEF48C7E-9E39-4B11-AD78-43FF5666DE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09F520EB-C382-43D8-9544-F9A32FE3CE04}">
      <dgm:prSet/>
      <dgm:spPr/>
      <dgm:t>
        <a:bodyPr/>
        <a:lstStyle/>
        <a:p>
          <a:r>
            <a:rPr lang="en-NZ"/>
            <a:t>How did NZ and Australia get off lightly?</a:t>
          </a:r>
        </a:p>
      </dgm:t>
    </dgm:pt>
    <dgm:pt modelId="{6C695F2B-749C-4ABC-AC89-04749E109302}" type="parTrans" cxnId="{DE0D3334-1DF3-4A25-97A4-EE7EE2BEE9CD}">
      <dgm:prSet/>
      <dgm:spPr/>
      <dgm:t>
        <a:bodyPr/>
        <a:lstStyle/>
        <a:p>
          <a:endParaRPr lang="en-NZ"/>
        </a:p>
      </dgm:t>
    </dgm:pt>
    <dgm:pt modelId="{9491858C-97A3-460C-959E-ABC493C0B6D8}" type="sibTrans" cxnId="{DE0D3334-1DF3-4A25-97A4-EE7EE2BEE9CD}">
      <dgm:prSet/>
      <dgm:spPr/>
      <dgm:t>
        <a:bodyPr/>
        <a:lstStyle/>
        <a:p>
          <a:endParaRPr lang="en-NZ"/>
        </a:p>
      </dgm:t>
    </dgm:pt>
    <dgm:pt modelId="{C9DADE10-3781-46EC-AE8F-EA392B2136A0}" type="pres">
      <dgm:prSet presAssocID="{CEF48C7E-9E39-4B11-AD78-43FF5666DECC}" presName="linear" presStyleCnt="0">
        <dgm:presLayoutVars>
          <dgm:animLvl val="lvl"/>
          <dgm:resizeHandles val="exact"/>
        </dgm:presLayoutVars>
      </dgm:prSet>
      <dgm:spPr/>
    </dgm:pt>
    <dgm:pt modelId="{C287B6E3-E5F9-4733-92CE-A62E1F66D3D3}" type="pres">
      <dgm:prSet presAssocID="{09F520EB-C382-43D8-9544-F9A32FE3CE0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E0D3334-1DF3-4A25-97A4-EE7EE2BEE9CD}" srcId="{CEF48C7E-9E39-4B11-AD78-43FF5666DECC}" destId="{09F520EB-C382-43D8-9544-F9A32FE3CE04}" srcOrd="0" destOrd="0" parTransId="{6C695F2B-749C-4ABC-AC89-04749E109302}" sibTransId="{9491858C-97A3-460C-959E-ABC493C0B6D8}"/>
    <dgm:cxn modelId="{48379452-52CA-47FA-A02F-B6AEA484CE7F}" type="presOf" srcId="{CEF48C7E-9E39-4B11-AD78-43FF5666DECC}" destId="{C9DADE10-3781-46EC-AE8F-EA392B2136A0}" srcOrd="0" destOrd="0" presId="urn:microsoft.com/office/officeart/2005/8/layout/vList2"/>
    <dgm:cxn modelId="{CADEB9E8-C6D8-49CA-B48E-90FEE6365BD7}" type="presOf" srcId="{09F520EB-C382-43D8-9544-F9A32FE3CE04}" destId="{C287B6E3-E5F9-4733-92CE-A62E1F66D3D3}" srcOrd="0" destOrd="0" presId="urn:microsoft.com/office/officeart/2005/8/layout/vList2"/>
    <dgm:cxn modelId="{2568523B-6D54-45E6-8B01-50D1489310BC}" type="presParOf" srcId="{C9DADE10-3781-46EC-AE8F-EA392B2136A0}" destId="{C287B6E3-E5F9-4733-92CE-A62E1F66D3D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96FDEC71-2CAB-4199-9AE4-08CD68E05A01}" type="doc">
      <dgm:prSet loTypeId="urn:microsoft.com/office/officeart/2005/8/layout/process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NZ"/>
        </a:p>
      </dgm:t>
    </dgm:pt>
    <dgm:pt modelId="{6A14EEDB-D324-4DCF-8681-D5A5EE897674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NZ was already in recession because of the 2007/8 drought, high oil prices and declining house prices.</a:t>
          </a:r>
        </a:p>
      </dgm:t>
    </dgm:pt>
    <dgm:pt modelId="{03C7AD22-0D69-4751-B22D-AE49C7491432}" type="parTrans" cxnId="{F0B98703-2F92-4DE9-9086-D2954D54E9EA}">
      <dgm:prSet/>
      <dgm:spPr/>
      <dgm:t>
        <a:bodyPr/>
        <a:lstStyle/>
        <a:p>
          <a:endParaRPr lang="en-NZ"/>
        </a:p>
      </dgm:t>
    </dgm:pt>
    <dgm:pt modelId="{2B6E1485-BD73-479D-A2E7-CA6D9A3272D8}" type="sibTrans" cxnId="{F0B98703-2F92-4DE9-9086-D2954D54E9EA}">
      <dgm:prSet/>
      <dgm:spPr/>
      <dgm:t>
        <a:bodyPr/>
        <a:lstStyle/>
        <a:p>
          <a:endParaRPr lang="en-NZ"/>
        </a:p>
      </dgm:t>
    </dgm:pt>
    <dgm:pt modelId="{1E37E4D6-594B-4398-A64B-F262B88D67A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Australia did not go into recession at all</a:t>
          </a:r>
        </a:p>
      </dgm:t>
    </dgm:pt>
    <dgm:pt modelId="{C8035619-3E39-44CE-90B6-32C79E0806C2}" type="parTrans" cxnId="{D3E94752-2B94-48DA-8B9D-7B5445A06F93}">
      <dgm:prSet/>
      <dgm:spPr/>
      <dgm:t>
        <a:bodyPr/>
        <a:lstStyle/>
        <a:p>
          <a:endParaRPr lang="en-NZ"/>
        </a:p>
      </dgm:t>
    </dgm:pt>
    <dgm:pt modelId="{C45701F3-BE45-473E-BE28-B84462103CC3}" type="sibTrans" cxnId="{D3E94752-2B94-48DA-8B9D-7B5445A06F93}">
      <dgm:prSet/>
      <dgm:spPr/>
      <dgm:t>
        <a:bodyPr/>
        <a:lstStyle/>
        <a:p>
          <a:endParaRPr lang="en-NZ"/>
        </a:p>
      </dgm:t>
    </dgm:pt>
    <dgm:pt modelId="{D9609332-A538-4FD9-BB12-BCACE6CE1A7F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Both countries recovered quickly compared to others.</a:t>
          </a:r>
        </a:p>
      </dgm:t>
    </dgm:pt>
    <dgm:pt modelId="{79D40CFD-75B5-4267-B14F-627A8C4E7641}" type="parTrans" cxnId="{82BFDDD2-72C2-4D51-810E-595BDF3B438F}">
      <dgm:prSet/>
      <dgm:spPr/>
      <dgm:t>
        <a:bodyPr/>
        <a:lstStyle/>
        <a:p>
          <a:endParaRPr lang="en-NZ"/>
        </a:p>
      </dgm:t>
    </dgm:pt>
    <dgm:pt modelId="{475E27AC-3239-4693-B09A-24B45A84E135}" type="sibTrans" cxnId="{82BFDDD2-72C2-4D51-810E-595BDF3B438F}">
      <dgm:prSet/>
      <dgm:spPr/>
      <dgm:t>
        <a:bodyPr/>
        <a:lstStyle/>
        <a:p>
          <a:endParaRPr lang="en-NZ"/>
        </a:p>
      </dgm:t>
    </dgm:pt>
    <dgm:pt modelId="{1112CAD1-8ABC-496E-8253-A76A7BF529EC}" type="pres">
      <dgm:prSet presAssocID="{96FDEC71-2CAB-4199-9AE4-08CD68E05A01}" presName="Name0" presStyleCnt="0">
        <dgm:presLayoutVars>
          <dgm:dir/>
          <dgm:animLvl val="lvl"/>
          <dgm:resizeHandles val="exact"/>
        </dgm:presLayoutVars>
      </dgm:prSet>
      <dgm:spPr/>
    </dgm:pt>
    <dgm:pt modelId="{FB5B2E30-23A4-4E80-9136-96E21668A924}" type="pres">
      <dgm:prSet presAssocID="{D9609332-A538-4FD9-BB12-BCACE6CE1A7F}" presName="boxAndChildren" presStyleCnt="0"/>
      <dgm:spPr/>
    </dgm:pt>
    <dgm:pt modelId="{59971F46-3C3A-4BC1-98B0-850752687435}" type="pres">
      <dgm:prSet presAssocID="{D9609332-A538-4FD9-BB12-BCACE6CE1A7F}" presName="parentTextBox" presStyleLbl="node1" presStyleIdx="0" presStyleCnt="3"/>
      <dgm:spPr/>
    </dgm:pt>
    <dgm:pt modelId="{A2200A3E-4D0B-4A56-BEFB-73E6E8AB8BD7}" type="pres">
      <dgm:prSet presAssocID="{C45701F3-BE45-473E-BE28-B84462103CC3}" presName="sp" presStyleCnt="0"/>
      <dgm:spPr/>
    </dgm:pt>
    <dgm:pt modelId="{93BE6451-3BB6-481B-9226-88016CF0AD47}" type="pres">
      <dgm:prSet presAssocID="{1E37E4D6-594B-4398-A64B-F262B88D67A6}" presName="arrowAndChildren" presStyleCnt="0"/>
      <dgm:spPr/>
    </dgm:pt>
    <dgm:pt modelId="{0B1D3923-DCAF-4B64-839C-D0E1B6A87760}" type="pres">
      <dgm:prSet presAssocID="{1E37E4D6-594B-4398-A64B-F262B88D67A6}" presName="parentTextArrow" presStyleLbl="node1" presStyleIdx="1" presStyleCnt="3"/>
      <dgm:spPr/>
    </dgm:pt>
    <dgm:pt modelId="{132A8C1B-4895-4045-9E05-54FC8F52F34B}" type="pres">
      <dgm:prSet presAssocID="{2B6E1485-BD73-479D-A2E7-CA6D9A3272D8}" presName="sp" presStyleCnt="0"/>
      <dgm:spPr/>
    </dgm:pt>
    <dgm:pt modelId="{650C4CF5-F639-40A5-9740-EAF6DEAFC250}" type="pres">
      <dgm:prSet presAssocID="{6A14EEDB-D324-4DCF-8681-D5A5EE897674}" presName="arrowAndChildren" presStyleCnt="0"/>
      <dgm:spPr/>
    </dgm:pt>
    <dgm:pt modelId="{2CE20B44-6781-471C-9263-DB59E8410CB7}" type="pres">
      <dgm:prSet presAssocID="{6A14EEDB-D324-4DCF-8681-D5A5EE897674}" presName="parentTextArrow" presStyleLbl="node1" presStyleIdx="2" presStyleCnt="3"/>
      <dgm:spPr/>
    </dgm:pt>
  </dgm:ptLst>
  <dgm:cxnLst>
    <dgm:cxn modelId="{F0B98703-2F92-4DE9-9086-D2954D54E9EA}" srcId="{96FDEC71-2CAB-4199-9AE4-08CD68E05A01}" destId="{6A14EEDB-D324-4DCF-8681-D5A5EE897674}" srcOrd="0" destOrd="0" parTransId="{03C7AD22-0D69-4751-B22D-AE49C7491432}" sibTransId="{2B6E1485-BD73-479D-A2E7-CA6D9A3272D8}"/>
    <dgm:cxn modelId="{85D7AC5C-A318-4DC6-8BE0-FDD3B36932EC}" type="presOf" srcId="{96FDEC71-2CAB-4199-9AE4-08CD68E05A01}" destId="{1112CAD1-8ABC-496E-8253-A76A7BF529EC}" srcOrd="0" destOrd="0" presId="urn:microsoft.com/office/officeart/2005/8/layout/process4"/>
    <dgm:cxn modelId="{7B172C4A-ECAE-4478-8DEA-5E34C89262E2}" type="presOf" srcId="{1E37E4D6-594B-4398-A64B-F262B88D67A6}" destId="{0B1D3923-DCAF-4B64-839C-D0E1B6A87760}" srcOrd="0" destOrd="0" presId="urn:microsoft.com/office/officeart/2005/8/layout/process4"/>
    <dgm:cxn modelId="{A1DBD34F-9A04-4A33-870A-E0769637C3F3}" type="presOf" srcId="{6A14EEDB-D324-4DCF-8681-D5A5EE897674}" destId="{2CE20B44-6781-471C-9263-DB59E8410CB7}" srcOrd="0" destOrd="0" presId="urn:microsoft.com/office/officeart/2005/8/layout/process4"/>
    <dgm:cxn modelId="{D3E94752-2B94-48DA-8B9D-7B5445A06F93}" srcId="{96FDEC71-2CAB-4199-9AE4-08CD68E05A01}" destId="{1E37E4D6-594B-4398-A64B-F262B88D67A6}" srcOrd="1" destOrd="0" parTransId="{C8035619-3E39-44CE-90B6-32C79E0806C2}" sibTransId="{C45701F3-BE45-473E-BE28-B84462103CC3}"/>
    <dgm:cxn modelId="{6DE6EEB6-9404-4B45-B56D-D2D4D4307B1D}" type="presOf" srcId="{D9609332-A538-4FD9-BB12-BCACE6CE1A7F}" destId="{59971F46-3C3A-4BC1-98B0-850752687435}" srcOrd="0" destOrd="0" presId="urn:microsoft.com/office/officeart/2005/8/layout/process4"/>
    <dgm:cxn modelId="{82BFDDD2-72C2-4D51-810E-595BDF3B438F}" srcId="{96FDEC71-2CAB-4199-9AE4-08CD68E05A01}" destId="{D9609332-A538-4FD9-BB12-BCACE6CE1A7F}" srcOrd="2" destOrd="0" parTransId="{79D40CFD-75B5-4267-B14F-627A8C4E7641}" sibTransId="{475E27AC-3239-4693-B09A-24B45A84E135}"/>
    <dgm:cxn modelId="{45AF5966-437E-41B1-A9DB-685E00EEC362}" type="presParOf" srcId="{1112CAD1-8ABC-496E-8253-A76A7BF529EC}" destId="{FB5B2E30-23A4-4E80-9136-96E21668A924}" srcOrd="0" destOrd="0" presId="urn:microsoft.com/office/officeart/2005/8/layout/process4"/>
    <dgm:cxn modelId="{BF0495D6-6ADD-427D-8AF7-462FD38EDC8F}" type="presParOf" srcId="{FB5B2E30-23A4-4E80-9136-96E21668A924}" destId="{59971F46-3C3A-4BC1-98B0-850752687435}" srcOrd="0" destOrd="0" presId="urn:microsoft.com/office/officeart/2005/8/layout/process4"/>
    <dgm:cxn modelId="{2BA131C1-FFC4-4C0A-A4B9-1D8EEB2D80FB}" type="presParOf" srcId="{1112CAD1-8ABC-496E-8253-A76A7BF529EC}" destId="{A2200A3E-4D0B-4A56-BEFB-73E6E8AB8BD7}" srcOrd="1" destOrd="0" presId="urn:microsoft.com/office/officeart/2005/8/layout/process4"/>
    <dgm:cxn modelId="{8D226FEF-5E78-4187-B4AE-97D92F29313F}" type="presParOf" srcId="{1112CAD1-8ABC-496E-8253-A76A7BF529EC}" destId="{93BE6451-3BB6-481B-9226-88016CF0AD47}" srcOrd="2" destOrd="0" presId="urn:microsoft.com/office/officeart/2005/8/layout/process4"/>
    <dgm:cxn modelId="{92A49275-FC5B-45EF-A109-B8598842674E}" type="presParOf" srcId="{93BE6451-3BB6-481B-9226-88016CF0AD47}" destId="{0B1D3923-DCAF-4B64-839C-D0E1B6A87760}" srcOrd="0" destOrd="0" presId="urn:microsoft.com/office/officeart/2005/8/layout/process4"/>
    <dgm:cxn modelId="{A6A4841A-52AA-4ECE-8AF0-27921BDF52EF}" type="presParOf" srcId="{1112CAD1-8ABC-496E-8253-A76A7BF529EC}" destId="{132A8C1B-4895-4045-9E05-54FC8F52F34B}" srcOrd="3" destOrd="0" presId="urn:microsoft.com/office/officeart/2005/8/layout/process4"/>
    <dgm:cxn modelId="{3F4D8EFB-71CE-4C1F-85AB-FCBAE1424480}" type="presParOf" srcId="{1112CAD1-8ABC-496E-8253-A76A7BF529EC}" destId="{650C4CF5-F639-40A5-9740-EAF6DEAFC250}" srcOrd="4" destOrd="0" presId="urn:microsoft.com/office/officeart/2005/8/layout/process4"/>
    <dgm:cxn modelId="{48A1B988-62A1-4FD1-9491-37B17E18DB40}" type="presParOf" srcId="{650C4CF5-F639-40A5-9740-EAF6DEAFC250}" destId="{2CE20B44-6781-471C-9263-DB59E8410CB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99716A05-1C24-4218-95B2-DB2C57C9958A}" type="doc">
      <dgm:prSet loTypeId="urn:microsoft.com/office/officeart/2009/3/layout/HorizontalOrganizationChart" loCatId="hierarchy" qsTypeId="urn:microsoft.com/office/officeart/2005/8/quickstyle/simple4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D41B13C9-95B3-42FF-8841-0BD668466B45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Australia and NZ exported commodities, not durable goods.</a:t>
          </a:r>
        </a:p>
      </dgm:t>
    </dgm:pt>
    <dgm:pt modelId="{541789D4-F9DF-455B-8983-A32F46043FD7}" type="parTrans" cxnId="{9F7F876E-07A2-416E-93DF-488C466CCBE5}">
      <dgm:prSet/>
      <dgm:spPr/>
      <dgm:t>
        <a:bodyPr/>
        <a:lstStyle/>
        <a:p>
          <a:endParaRPr lang="en-NZ"/>
        </a:p>
      </dgm:t>
    </dgm:pt>
    <dgm:pt modelId="{6B449884-13B1-4524-9916-039E989C3B72}" type="sibTrans" cxnId="{9F7F876E-07A2-416E-93DF-488C466CCBE5}">
      <dgm:prSet/>
      <dgm:spPr/>
      <dgm:t>
        <a:bodyPr/>
        <a:lstStyle/>
        <a:p>
          <a:endParaRPr lang="en-NZ"/>
        </a:p>
      </dgm:t>
    </dgm:pt>
    <dgm:pt modelId="{9B7A5C93-7D01-4213-92D2-34ABE8C3A759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Prices for these remained high</a:t>
          </a:r>
        </a:p>
      </dgm:t>
    </dgm:pt>
    <dgm:pt modelId="{338ACE3F-1C87-4A8B-9A0B-37FBAD0C22C1}" type="parTrans" cxnId="{C4010DA3-9BE0-4C90-85C4-F97A3DBB6685}">
      <dgm:prSet/>
      <dgm:spPr/>
      <dgm:t>
        <a:bodyPr/>
        <a:lstStyle/>
        <a:p>
          <a:endParaRPr lang="en-NZ"/>
        </a:p>
      </dgm:t>
    </dgm:pt>
    <dgm:pt modelId="{FF77B254-91BB-42C9-8228-3914B26874EE}" type="sibTrans" cxnId="{C4010DA3-9BE0-4C90-85C4-F97A3DBB6685}">
      <dgm:prSet/>
      <dgm:spPr/>
      <dgm:t>
        <a:bodyPr/>
        <a:lstStyle/>
        <a:p>
          <a:endParaRPr lang="en-NZ"/>
        </a:p>
      </dgm:t>
    </dgm:pt>
    <dgm:pt modelId="{63710381-EF54-4736-84B6-B8A864E66F4E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Both economies had a strong Asian export focus</a:t>
          </a:r>
        </a:p>
      </dgm:t>
    </dgm:pt>
    <dgm:pt modelId="{E9151304-1971-42BB-932B-1186D7E6F061}" type="parTrans" cxnId="{4ED4C4A8-27AB-4719-BE15-D6F1FF1585B8}">
      <dgm:prSet/>
      <dgm:spPr/>
      <dgm:t>
        <a:bodyPr/>
        <a:lstStyle/>
        <a:p>
          <a:endParaRPr lang="en-NZ"/>
        </a:p>
      </dgm:t>
    </dgm:pt>
    <dgm:pt modelId="{5FB02A6D-F643-496C-B72A-416D226EA2CA}" type="sibTrans" cxnId="{4ED4C4A8-27AB-4719-BE15-D6F1FF1585B8}">
      <dgm:prSet/>
      <dgm:spPr/>
      <dgm:t>
        <a:bodyPr/>
        <a:lstStyle/>
        <a:p>
          <a:endParaRPr lang="en-NZ"/>
        </a:p>
      </dgm:t>
    </dgm:pt>
    <dgm:pt modelId="{F2D12C6C-FC1D-4430-A0AB-CDD6BE419479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NZ signed FTA with China in 2008</a:t>
          </a:r>
        </a:p>
      </dgm:t>
    </dgm:pt>
    <dgm:pt modelId="{13D0370A-EBE2-4D3F-8C92-4486F9665C43}" type="parTrans" cxnId="{33D24673-4362-4DE5-B7D9-404947111671}">
      <dgm:prSet/>
      <dgm:spPr/>
      <dgm:t>
        <a:bodyPr/>
        <a:lstStyle/>
        <a:p>
          <a:endParaRPr lang="en-NZ"/>
        </a:p>
      </dgm:t>
    </dgm:pt>
    <dgm:pt modelId="{3044EA42-EF09-4E7F-9E30-FB522C8FC279}" type="sibTrans" cxnId="{33D24673-4362-4DE5-B7D9-404947111671}">
      <dgm:prSet/>
      <dgm:spPr/>
      <dgm:t>
        <a:bodyPr/>
        <a:lstStyle/>
        <a:p>
          <a:endParaRPr lang="en-NZ"/>
        </a:p>
      </dgm:t>
    </dgm:pt>
    <dgm:pt modelId="{8F22B385-65D4-4288-8D5A-38503EDAE944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Asian region was much less impacted.</a:t>
          </a:r>
        </a:p>
      </dgm:t>
    </dgm:pt>
    <dgm:pt modelId="{E66986C8-CB09-45F4-93BA-655E5BF03B4D}" type="parTrans" cxnId="{9FBE26C4-44EB-4C87-9CAF-1D94E9952ADB}">
      <dgm:prSet/>
      <dgm:spPr/>
      <dgm:t>
        <a:bodyPr/>
        <a:lstStyle/>
        <a:p>
          <a:endParaRPr lang="en-NZ"/>
        </a:p>
      </dgm:t>
    </dgm:pt>
    <dgm:pt modelId="{BB4B08C1-37E1-49C2-AF11-FB4DDED07BAC}" type="sibTrans" cxnId="{9FBE26C4-44EB-4C87-9CAF-1D94E9952ADB}">
      <dgm:prSet/>
      <dgm:spPr/>
      <dgm:t>
        <a:bodyPr/>
        <a:lstStyle/>
        <a:p>
          <a:endParaRPr lang="en-NZ"/>
        </a:p>
      </dgm:t>
    </dgm:pt>
    <dgm:pt modelId="{AC67DB8D-F78A-4F21-8FD5-4327CDCA149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Instead of experiencing a drop in NX, it rose to offset the GFC</a:t>
          </a:r>
        </a:p>
      </dgm:t>
    </dgm:pt>
    <dgm:pt modelId="{B5805441-F665-4C4D-83F3-5545DA8C03C5}" type="parTrans" cxnId="{7A17D100-178A-4AEA-9402-FC26FAF11819}">
      <dgm:prSet/>
      <dgm:spPr/>
      <dgm:t>
        <a:bodyPr/>
        <a:lstStyle/>
        <a:p>
          <a:endParaRPr lang="en-NZ"/>
        </a:p>
      </dgm:t>
    </dgm:pt>
    <dgm:pt modelId="{6FAE529D-98B4-4C91-964E-9ABE54CAB961}" type="sibTrans" cxnId="{7A17D100-178A-4AEA-9402-FC26FAF11819}">
      <dgm:prSet/>
      <dgm:spPr/>
      <dgm:t>
        <a:bodyPr/>
        <a:lstStyle/>
        <a:p>
          <a:endParaRPr lang="en-NZ"/>
        </a:p>
      </dgm:t>
    </dgm:pt>
    <dgm:pt modelId="{033ED1ED-899B-4BE1-83BF-77496C3C61AF}" type="pres">
      <dgm:prSet presAssocID="{99716A05-1C24-4218-95B2-DB2C57C9958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B5F769A-B96F-4661-B873-416FC3FCBD98}" type="pres">
      <dgm:prSet presAssocID="{D41B13C9-95B3-42FF-8841-0BD668466B45}" presName="hierRoot1" presStyleCnt="0">
        <dgm:presLayoutVars>
          <dgm:hierBranch val="init"/>
        </dgm:presLayoutVars>
      </dgm:prSet>
      <dgm:spPr/>
    </dgm:pt>
    <dgm:pt modelId="{BB968498-A08B-45B7-BDAE-918BE73730CB}" type="pres">
      <dgm:prSet presAssocID="{D41B13C9-95B3-42FF-8841-0BD668466B45}" presName="rootComposite1" presStyleCnt="0"/>
      <dgm:spPr/>
    </dgm:pt>
    <dgm:pt modelId="{A79345A0-A411-42EC-90F6-5E79E2AD2C05}" type="pres">
      <dgm:prSet presAssocID="{D41B13C9-95B3-42FF-8841-0BD668466B45}" presName="rootText1" presStyleLbl="node0" presStyleIdx="0" presStyleCnt="3">
        <dgm:presLayoutVars>
          <dgm:chPref val="3"/>
        </dgm:presLayoutVars>
      </dgm:prSet>
      <dgm:spPr/>
    </dgm:pt>
    <dgm:pt modelId="{C7490702-F463-4406-91BB-7C73AB0B38D3}" type="pres">
      <dgm:prSet presAssocID="{D41B13C9-95B3-42FF-8841-0BD668466B45}" presName="rootConnector1" presStyleLbl="node1" presStyleIdx="0" presStyleCnt="0"/>
      <dgm:spPr/>
    </dgm:pt>
    <dgm:pt modelId="{EEB2B351-A2F2-4BDB-BBEC-4915F19FFA21}" type="pres">
      <dgm:prSet presAssocID="{D41B13C9-95B3-42FF-8841-0BD668466B45}" presName="hierChild2" presStyleCnt="0"/>
      <dgm:spPr/>
    </dgm:pt>
    <dgm:pt modelId="{02FF83FB-FB41-4FD8-9741-65F060C7B299}" type="pres">
      <dgm:prSet presAssocID="{338ACE3F-1C87-4A8B-9A0B-37FBAD0C22C1}" presName="Name64" presStyleLbl="parChTrans1D2" presStyleIdx="0" presStyleCnt="3"/>
      <dgm:spPr/>
    </dgm:pt>
    <dgm:pt modelId="{31587887-2ECE-4600-9A26-55E1D8CE1F74}" type="pres">
      <dgm:prSet presAssocID="{9B7A5C93-7D01-4213-92D2-34ABE8C3A759}" presName="hierRoot2" presStyleCnt="0">
        <dgm:presLayoutVars>
          <dgm:hierBranch val="init"/>
        </dgm:presLayoutVars>
      </dgm:prSet>
      <dgm:spPr/>
    </dgm:pt>
    <dgm:pt modelId="{9E942276-F8C8-4E40-B34B-03D12D441282}" type="pres">
      <dgm:prSet presAssocID="{9B7A5C93-7D01-4213-92D2-34ABE8C3A759}" presName="rootComposite" presStyleCnt="0"/>
      <dgm:spPr/>
    </dgm:pt>
    <dgm:pt modelId="{E944D110-267D-4FDF-9849-D31F5796D1DF}" type="pres">
      <dgm:prSet presAssocID="{9B7A5C93-7D01-4213-92D2-34ABE8C3A759}" presName="rootText" presStyleLbl="node2" presStyleIdx="0" presStyleCnt="3">
        <dgm:presLayoutVars>
          <dgm:chPref val="3"/>
        </dgm:presLayoutVars>
      </dgm:prSet>
      <dgm:spPr/>
    </dgm:pt>
    <dgm:pt modelId="{56334811-16CA-47F4-89A1-10D291B1C9BD}" type="pres">
      <dgm:prSet presAssocID="{9B7A5C93-7D01-4213-92D2-34ABE8C3A759}" presName="rootConnector" presStyleLbl="node2" presStyleIdx="0" presStyleCnt="3"/>
      <dgm:spPr/>
    </dgm:pt>
    <dgm:pt modelId="{63711CAA-F8C8-478D-B0DE-3935E04123FF}" type="pres">
      <dgm:prSet presAssocID="{9B7A5C93-7D01-4213-92D2-34ABE8C3A759}" presName="hierChild4" presStyleCnt="0"/>
      <dgm:spPr/>
    </dgm:pt>
    <dgm:pt modelId="{8EB5A461-E831-46D0-BF5A-435FA1261674}" type="pres">
      <dgm:prSet presAssocID="{9B7A5C93-7D01-4213-92D2-34ABE8C3A759}" presName="hierChild5" presStyleCnt="0"/>
      <dgm:spPr/>
    </dgm:pt>
    <dgm:pt modelId="{D9A513E5-06A4-46A4-B956-F6C3A5DD4DB7}" type="pres">
      <dgm:prSet presAssocID="{D41B13C9-95B3-42FF-8841-0BD668466B45}" presName="hierChild3" presStyleCnt="0"/>
      <dgm:spPr/>
    </dgm:pt>
    <dgm:pt modelId="{5E3CEB34-80C3-4FB6-9F65-BBE379D0A9CF}" type="pres">
      <dgm:prSet presAssocID="{63710381-EF54-4736-84B6-B8A864E66F4E}" presName="hierRoot1" presStyleCnt="0">
        <dgm:presLayoutVars>
          <dgm:hierBranch val="init"/>
        </dgm:presLayoutVars>
      </dgm:prSet>
      <dgm:spPr/>
    </dgm:pt>
    <dgm:pt modelId="{A3FE9024-B796-4821-92AE-C382AFE3B990}" type="pres">
      <dgm:prSet presAssocID="{63710381-EF54-4736-84B6-B8A864E66F4E}" presName="rootComposite1" presStyleCnt="0"/>
      <dgm:spPr/>
    </dgm:pt>
    <dgm:pt modelId="{A1467842-B89B-43A1-8FD4-73B17830BDC2}" type="pres">
      <dgm:prSet presAssocID="{63710381-EF54-4736-84B6-B8A864E66F4E}" presName="rootText1" presStyleLbl="node0" presStyleIdx="1" presStyleCnt="3">
        <dgm:presLayoutVars>
          <dgm:chPref val="3"/>
        </dgm:presLayoutVars>
      </dgm:prSet>
      <dgm:spPr/>
    </dgm:pt>
    <dgm:pt modelId="{D3A6CBCF-ECDF-47EB-9A9E-BB15B02F8599}" type="pres">
      <dgm:prSet presAssocID="{63710381-EF54-4736-84B6-B8A864E66F4E}" presName="rootConnector1" presStyleLbl="node1" presStyleIdx="0" presStyleCnt="0"/>
      <dgm:spPr/>
    </dgm:pt>
    <dgm:pt modelId="{CBB9705E-9023-4BD8-AC65-7EA0972C1EE5}" type="pres">
      <dgm:prSet presAssocID="{63710381-EF54-4736-84B6-B8A864E66F4E}" presName="hierChild2" presStyleCnt="0"/>
      <dgm:spPr/>
    </dgm:pt>
    <dgm:pt modelId="{86DD6DAA-2866-4DA0-8E31-477F7E915BFB}" type="pres">
      <dgm:prSet presAssocID="{13D0370A-EBE2-4D3F-8C92-4486F9665C43}" presName="Name64" presStyleLbl="parChTrans1D2" presStyleIdx="1" presStyleCnt="3"/>
      <dgm:spPr/>
    </dgm:pt>
    <dgm:pt modelId="{26AF40B2-70B4-4EAE-BB17-9126924C7797}" type="pres">
      <dgm:prSet presAssocID="{F2D12C6C-FC1D-4430-A0AB-CDD6BE419479}" presName="hierRoot2" presStyleCnt="0">
        <dgm:presLayoutVars>
          <dgm:hierBranch val="init"/>
        </dgm:presLayoutVars>
      </dgm:prSet>
      <dgm:spPr/>
    </dgm:pt>
    <dgm:pt modelId="{4B47E80A-C2BA-442A-967A-1A883116714A}" type="pres">
      <dgm:prSet presAssocID="{F2D12C6C-FC1D-4430-A0AB-CDD6BE419479}" presName="rootComposite" presStyleCnt="0"/>
      <dgm:spPr/>
    </dgm:pt>
    <dgm:pt modelId="{5D2170DE-5529-4733-BEA0-8FBDF7B2AA2F}" type="pres">
      <dgm:prSet presAssocID="{F2D12C6C-FC1D-4430-A0AB-CDD6BE419479}" presName="rootText" presStyleLbl="node2" presStyleIdx="1" presStyleCnt="3">
        <dgm:presLayoutVars>
          <dgm:chPref val="3"/>
        </dgm:presLayoutVars>
      </dgm:prSet>
      <dgm:spPr/>
    </dgm:pt>
    <dgm:pt modelId="{0B1E5A1A-64E1-4556-8B84-F07935200B69}" type="pres">
      <dgm:prSet presAssocID="{F2D12C6C-FC1D-4430-A0AB-CDD6BE419479}" presName="rootConnector" presStyleLbl="node2" presStyleIdx="1" presStyleCnt="3"/>
      <dgm:spPr/>
    </dgm:pt>
    <dgm:pt modelId="{3A0C4821-390D-4879-A2C7-68A47C729B2C}" type="pres">
      <dgm:prSet presAssocID="{F2D12C6C-FC1D-4430-A0AB-CDD6BE419479}" presName="hierChild4" presStyleCnt="0"/>
      <dgm:spPr/>
    </dgm:pt>
    <dgm:pt modelId="{4297E478-CEF8-49D0-93C1-9F3CFB7EA17E}" type="pres">
      <dgm:prSet presAssocID="{F2D12C6C-FC1D-4430-A0AB-CDD6BE419479}" presName="hierChild5" presStyleCnt="0"/>
      <dgm:spPr/>
    </dgm:pt>
    <dgm:pt modelId="{47FF9B9B-A2B6-4208-B8F2-59F6F777E25C}" type="pres">
      <dgm:prSet presAssocID="{E66986C8-CB09-45F4-93BA-655E5BF03B4D}" presName="Name64" presStyleLbl="parChTrans1D2" presStyleIdx="2" presStyleCnt="3"/>
      <dgm:spPr/>
    </dgm:pt>
    <dgm:pt modelId="{24DD3726-F650-41B4-963C-1FA0D0479F0F}" type="pres">
      <dgm:prSet presAssocID="{8F22B385-65D4-4288-8D5A-38503EDAE944}" presName="hierRoot2" presStyleCnt="0">
        <dgm:presLayoutVars>
          <dgm:hierBranch val="init"/>
        </dgm:presLayoutVars>
      </dgm:prSet>
      <dgm:spPr/>
    </dgm:pt>
    <dgm:pt modelId="{2853A0ED-2EB1-4D1A-8685-B52B072E301D}" type="pres">
      <dgm:prSet presAssocID="{8F22B385-65D4-4288-8D5A-38503EDAE944}" presName="rootComposite" presStyleCnt="0"/>
      <dgm:spPr/>
    </dgm:pt>
    <dgm:pt modelId="{12280BE9-16CB-414A-BA03-D82689364E29}" type="pres">
      <dgm:prSet presAssocID="{8F22B385-65D4-4288-8D5A-38503EDAE944}" presName="rootText" presStyleLbl="node2" presStyleIdx="2" presStyleCnt="3">
        <dgm:presLayoutVars>
          <dgm:chPref val="3"/>
        </dgm:presLayoutVars>
      </dgm:prSet>
      <dgm:spPr/>
    </dgm:pt>
    <dgm:pt modelId="{C6AC9C1D-96A8-4290-A698-F4AD789A86BD}" type="pres">
      <dgm:prSet presAssocID="{8F22B385-65D4-4288-8D5A-38503EDAE944}" presName="rootConnector" presStyleLbl="node2" presStyleIdx="2" presStyleCnt="3"/>
      <dgm:spPr/>
    </dgm:pt>
    <dgm:pt modelId="{4F9CBAE0-CCCB-45E0-A60B-D192C3A87B88}" type="pres">
      <dgm:prSet presAssocID="{8F22B385-65D4-4288-8D5A-38503EDAE944}" presName="hierChild4" presStyleCnt="0"/>
      <dgm:spPr/>
    </dgm:pt>
    <dgm:pt modelId="{18331E04-4FB1-4584-BF61-A886BA0BC10E}" type="pres">
      <dgm:prSet presAssocID="{8F22B385-65D4-4288-8D5A-38503EDAE944}" presName="hierChild5" presStyleCnt="0"/>
      <dgm:spPr/>
    </dgm:pt>
    <dgm:pt modelId="{04C667A9-9D79-472D-B59E-91A143E7F8CE}" type="pres">
      <dgm:prSet presAssocID="{63710381-EF54-4736-84B6-B8A864E66F4E}" presName="hierChild3" presStyleCnt="0"/>
      <dgm:spPr/>
    </dgm:pt>
    <dgm:pt modelId="{D27C7861-32C8-4523-8AB7-A6B2CBF40BDA}" type="pres">
      <dgm:prSet presAssocID="{AC67DB8D-F78A-4F21-8FD5-4327CDCA1496}" presName="hierRoot1" presStyleCnt="0">
        <dgm:presLayoutVars>
          <dgm:hierBranch val="init"/>
        </dgm:presLayoutVars>
      </dgm:prSet>
      <dgm:spPr/>
    </dgm:pt>
    <dgm:pt modelId="{57FA926A-1078-4C85-BB10-5DAE7366F5A4}" type="pres">
      <dgm:prSet presAssocID="{AC67DB8D-F78A-4F21-8FD5-4327CDCA1496}" presName="rootComposite1" presStyleCnt="0"/>
      <dgm:spPr/>
    </dgm:pt>
    <dgm:pt modelId="{21AF5B82-B8FC-448D-AA99-D1844A899F94}" type="pres">
      <dgm:prSet presAssocID="{AC67DB8D-F78A-4F21-8FD5-4327CDCA1496}" presName="rootText1" presStyleLbl="node0" presStyleIdx="2" presStyleCnt="3">
        <dgm:presLayoutVars>
          <dgm:chPref val="3"/>
        </dgm:presLayoutVars>
      </dgm:prSet>
      <dgm:spPr/>
    </dgm:pt>
    <dgm:pt modelId="{4B0E1B71-6A0C-4A06-BD34-B9E63BF3238B}" type="pres">
      <dgm:prSet presAssocID="{AC67DB8D-F78A-4F21-8FD5-4327CDCA1496}" presName="rootConnector1" presStyleLbl="node1" presStyleIdx="0" presStyleCnt="0"/>
      <dgm:spPr/>
    </dgm:pt>
    <dgm:pt modelId="{56F694B3-448E-4294-BB7E-02F443B35FDA}" type="pres">
      <dgm:prSet presAssocID="{AC67DB8D-F78A-4F21-8FD5-4327CDCA1496}" presName="hierChild2" presStyleCnt="0"/>
      <dgm:spPr/>
    </dgm:pt>
    <dgm:pt modelId="{5269AD54-3F69-49EC-B5A1-DD4C6A194CA0}" type="pres">
      <dgm:prSet presAssocID="{AC67DB8D-F78A-4F21-8FD5-4327CDCA1496}" presName="hierChild3" presStyleCnt="0"/>
      <dgm:spPr/>
    </dgm:pt>
  </dgm:ptLst>
  <dgm:cxnLst>
    <dgm:cxn modelId="{7A17D100-178A-4AEA-9402-FC26FAF11819}" srcId="{99716A05-1C24-4218-95B2-DB2C57C9958A}" destId="{AC67DB8D-F78A-4F21-8FD5-4327CDCA1496}" srcOrd="2" destOrd="0" parTransId="{B5805441-F665-4C4D-83F3-5545DA8C03C5}" sibTransId="{6FAE529D-98B4-4C91-964E-9ABE54CAB961}"/>
    <dgm:cxn modelId="{FF93C102-50CD-4689-8FB2-DFE0DA438D6C}" type="presOf" srcId="{E66986C8-CB09-45F4-93BA-655E5BF03B4D}" destId="{47FF9B9B-A2B6-4208-B8F2-59F6F777E25C}" srcOrd="0" destOrd="0" presId="urn:microsoft.com/office/officeart/2009/3/layout/HorizontalOrganizationChart"/>
    <dgm:cxn modelId="{A45AB014-DD69-46F1-97E4-BB76C7D8C7BE}" type="presOf" srcId="{13D0370A-EBE2-4D3F-8C92-4486F9665C43}" destId="{86DD6DAA-2866-4DA0-8E31-477F7E915BFB}" srcOrd="0" destOrd="0" presId="urn:microsoft.com/office/officeart/2009/3/layout/HorizontalOrganizationChart"/>
    <dgm:cxn modelId="{2802511A-0C74-4177-A2CC-704C03E5423A}" type="presOf" srcId="{8F22B385-65D4-4288-8D5A-38503EDAE944}" destId="{C6AC9C1D-96A8-4290-A698-F4AD789A86BD}" srcOrd="1" destOrd="0" presId="urn:microsoft.com/office/officeart/2009/3/layout/HorizontalOrganizationChart"/>
    <dgm:cxn modelId="{1EA8062B-EA76-4644-9AA5-BA10A896D214}" type="presOf" srcId="{9B7A5C93-7D01-4213-92D2-34ABE8C3A759}" destId="{E944D110-267D-4FDF-9849-D31F5796D1DF}" srcOrd="0" destOrd="0" presId="urn:microsoft.com/office/officeart/2009/3/layout/HorizontalOrganizationChart"/>
    <dgm:cxn modelId="{930F6E2B-3C7F-45B0-8B0B-A5D8D7B8622D}" type="presOf" srcId="{D41B13C9-95B3-42FF-8841-0BD668466B45}" destId="{A79345A0-A411-42EC-90F6-5E79E2AD2C05}" srcOrd="0" destOrd="0" presId="urn:microsoft.com/office/officeart/2009/3/layout/HorizontalOrganizationChart"/>
    <dgm:cxn modelId="{2925B133-80AA-4492-8EA7-41B4748F8389}" type="presOf" srcId="{8F22B385-65D4-4288-8D5A-38503EDAE944}" destId="{12280BE9-16CB-414A-BA03-D82689364E29}" srcOrd="0" destOrd="0" presId="urn:microsoft.com/office/officeart/2009/3/layout/HorizontalOrganizationChart"/>
    <dgm:cxn modelId="{D125A338-3C82-49FD-A6B8-4084E5A67197}" type="presOf" srcId="{63710381-EF54-4736-84B6-B8A864E66F4E}" destId="{D3A6CBCF-ECDF-47EB-9A9E-BB15B02F8599}" srcOrd="1" destOrd="0" presId="urn:microsoft.com/office/officeart/2009/3/layout/HorizontalOrganizationChart"/>
    <dgm:cxn modelId="{E95BB55C-57C8-4516-8B44-EFC28A26C2A3}" type="presOf" srcId="{AC67DB8D-F78A-4F21-8FD5-4327CDCA1496}" destId="{4B0E1B71-6A0C-4A06-BD34-B9E63BF3238B}" srcOrd="1" destOrd="0" presId="urn:microsoft.com/office/officeart/2009/3/layout/HorizontalOrganizationChart"/>
    <dgm:cxn modelId="{21FEFD68-58F9-48DE-8B43-48E98685672B}" type="presOf" srcId="{F2D12C6C-FC1D-4430-A0AB-CDD6BE419479}" destId="{5D2170DE-5529-4733-BEA0-8FBDF7B2AA2F}" srcOrd="0" destOrd="0" presId="urn:microsoft.com/office/officeart/2009/3/layout/HorizontalOrganizationChart"/>
    <dgm:cxn modelId="{133D5369-1950-40B2-A023-1F04B7CF99AB}" type="presOf" srcId="{99716A05-1C24-4218-95B2-DB2C57C9958A}" destId="{033ED1ED-899B-4BE1-83BF-77496C3C61AF}" srcOrd="0" destOrd="0" presId="urn:microsoft.com/office/officeart/2009/3/layout/HorizontalOrganizationChart"/>
    <dgm:cxn modelId="{9F7F876E-07A2-416E-93DF-488C466CCBE5}" srcId="{99716A05-1C24-4218-95B2-DB2C57C9958A}" destId="{D41B13C9-95B3-42FF-8841-0BD668466B45}" srcOrd="0" destOrd="0" parTransId="{541789D4-F9DF-455B-8983-A32F46043FD7}" sibTransId="{6B449884-13B1-4524-9916-039E989C3B72}"/>
    <dgm:cxn modelId="{33D24673-4362-4DE5-B7D9-404947111671}" srcId="{63710381-EF54-4736-84B6-B8A864E66F4E}" destId="{F2D12C6C-FC1D-4430-A0AB-CDD6BE419479}" srcOrd="0" destOrd="0" parTransId="{13D0370A-EBE2-4D3F-8C92-4486F9665C43}" sibTransId="{3044EA42-EF09-4E7F-9E30-FB522C8FC279}"/>
    <dgm:cxn modelId="{333B4C54-7E23-46CC-87BD-A5BAC523D476}" type="presOf" srcId="{F2D12C6C-FC1D-4430-A0AB-CDD6BE419479}" destId="{0B1E5A1A-64E1-4556-8B84-F07935200B69}" srcOrd="1" destOrd="0" presId="urn:microsoft.com/office/officeart/2009/3/layout/HorizontalOrganizationChart"/>
    <dgm:cxn modelId="{4B536A96-23FE-48C7-85D1-1228FF74BC3F}" type="presOf" srcId="{338ACE3F-1C87-4A8B-9A0B-37FBAD0C22C1}" destId="{02FF83FB-FB41-4FD8-9741-65F060C7B299}" srcOrd="0" destOrd="0" presId="urn:microsoft.com/office/officeart/2009/3/layout/HorizontalOrganizationChart"/>
    <dgm:cxn modelId="{BFA3E59F-7CD2-438F-ABD5-F4A4A4CCDB74}" type="presOf" srcId="{D41B13C9-95B3-42FF-8841-0BD668466B45}" destId="{C7490702-F463-4406-91BB-7C73AB0B38D3}" srcOrd="1" destOrd="0" presId="urn:microsoft.com/office/officeart/2009/3/layout/HorizontalOrganizationChart"/>
    <dgm:cxn modelId="{C4010DA3-9BE0-4C90-85C4-F97A3DBB6685}" srcId="{D41B13C9-95B3-42FF-8841-0BD668466B45}" destId="{9B7A5C93-7D01-4213-92D2-34ABE8C3A759}" srcOrd="0" destOrd="0" parTransId="{338ACE3F-1C87-4A8B-9A0B-37FBAD0C22C1}" sibTransId="{FF77B254-91BB-42C9-8228-3914B26874EE}"/>
    <dgm:cxn modelId="{4ED4C4A8-27AB-4719-BE15-D6F1FF1585B8}" srcId="{99716A05-1C24-4218-95B2-DB2C57C9958A}" destId="{63710381-EF54-4736-84B6-B8A864E66F4E}" srcOrd="1" destOrd="0" parTransId="{E9151304-1971-42BB-932B-1186D7E6F061}" sibTransId="{5FB02A6D-F643-496C-B72A-416D226EA2CA}"/>
    <dgm:cxn modelId="{9FBE26C4-44EB-4C87-9CAF-1D94E9952ADB}" srcId="{63710381-EF54-4736-84B6-B8A864E66F4E}" destId="{8F22B385-65D4-4288-8D5A-38503EDAE944}" srcOrd="1" destOrd="0" parTransId="{E66986C8-CB09-45F4-93BA-655E5BF03B4D}" sibTransId="{BB4B08C1-37E1-49C2-AF11-FB4DDED07BAC}"/>
    <dgm:cxn modelId="{F23495CE-D40E-421C-B3ED-F8BC83833AB6}" type="presOf" srcId="{63710381-EF54-4736-84B6-B8A864E66F4E}" destId="{A1467842-B89B-43A1-8FD4-73B17830BDC2}" srcOrd="0" destOrd="0" presId="urn:microsoft.com/office/officeart/2009/3/layout/HorizontalOrganizationChart"/>
    <dgm:cxn modelId="{0A0336FB-7B3D-4BBF-B7EC-50EB1AA64633}" type="presOf" srcId="{9B7A5C93-7D01-4213-92D2-34ABE8C3A759}" destId="{56334811-16CA-47F4-89A1-10D291B1C9BD}" srcOrd="1" destOrd="0" presId="urn:microsoft.com/office/officeart/2009/3/layout/HorizontalOrganizationChart"/>
    <dgm:cxn modelId="{16F22BFF-1DD8-4EAB-A769-6A4ACBDC7476}" type="presOf" srcId="{AC67DB8D-F78A-4F21-8FD5-4327CDCA1496}" destId="{21AF5B82-B8FC-448D-AA99-D1844A899F94}" srcOrd="0" destOrd="0" presId="urn:microsoft.com/office/officeart/2009/3/layout/HorizontalOrganizationChart"/>
    <dgm:cxn modelId="{67F5AF34-41F6-49EB-94F6-0F5B6016BDE7}" type="presParOf" srcId="{033ED1ED-899B-4BE1-83BF-77496C3C61AF}" destId="{8B5F769A-B96F-4661-B873-416FC3FCBD98}" srcOrd="0" destOrd="0" presId="urn:microsoft.com/office/officeart/2009/3/layout/HorizontalOrganizationChart"/>
    <dgm:cxn modelId="{E1516FE3-24E0-4A84-9802-7EA653DF324C}" type="presParOf" srcId="{8B5F769A-B96F-4661-B873-416FC3FCBD98}" destId="{BB968498-A08B-45B7-BDAE-918BE73730CB}" srcOrd="0" destOrd="0" presId="urn:microsoft.com/office/officeart/2009/3/layout/HorizontalOrganizationChart"/>
    <dgm:cxn modelId="{C84C2A66-CECD-45BE-8BE3-C0F515067597}" type="presParOf" srcId="{BB968498-A08B-45B7-BDAE-918BE73730CB}" destId="{A79345A0-A411-42EC-90F6-5E79E2AD2C05}" srcOrd="0" destOrd="0" presId="urn:microsoft.com/office/officeart/2009/3/layout/HorizontalOrganizationChart"/>
    <dgm:cxn modelId="{04001287-059B-4737-8F24-55A4FF23AC55}" type="presParOf" srcId="{BB968498-A08B-45B7-BDAE-918BE73730CB}" destId="{C7490702-F463-4406-91BB-7C73AB0B38D3}" srcOrd="1" destOrd="0" presId="urn:microsoft.com/office/officeart/2009/3/layout/HorizontalOrganizationChart"/>
    <dgm:cxn modelId="{C79C8C7C-53FE-4A2E-9551-6828F269C516}" type="presParOf" srcId="{8B5F769A-B96F-4661-B873-416FC3FCBD98}" destId="{EEB2B351-A2F2-4BDB-BBEC-4915F19FFA21}" srcOrd="1" destOrd="0" presId="urn:microsoft.com/office/officeart/2009/3/layout/HorizontalOrganizationChart"/>
    <dgm:cxn modelId="{7AB0A837-5DC4-4BEC-9B3D-57CA45EA4154}" type="presParOf" srcId="{EEB2B351-A2F2-4BDB-BBEC-4915F19FFA21}" destId="{02FF83FB-FB41-4FD8-9741-65F060C7B299}" srcOrd="0" destOrd="0" presId="urn:microsoft.com/office/officeart/2009/3/layout/HorizontalOrganizationChart"/>
    <dgm:cxn modelId="{51BDF31C-C733-415C-8B90-1951A19DA9D4}" type="presParOf" srcId="{EEB2B351-A2F2-4BDB-BBEC-4915F19FFA21}" destId="{31587887-2ECE-4600-9A26-55E1D8CE1F74}" srcOrd="1" destOrd="0" presId="urn:microsoft.com/office/officeart/2009/3/layout/HorizontalOrganizationChart"/>
    <dgm:cxn modelId="{93F75395-DB94-4F12-B621-61CC8A77811A}" type="presParOf" srcId="{31587887-2ECE-4600-9A26-55E1D8CE1F74}" destId="{9E942276-F8C8-4E40-B34B-03D12D441282}" srcOrd="0" destOrd="0" presId="urn:microsoft.com/office/officeart/2009/3/layout/HorizontalOrganizationChart"/>
    <dgm:cxn modelId="{8E832137-A75A-4A23-B271-10DF144B78C3}" type="presParOf" srcId="{9E942276-F8C8-4E40-B34B-03D12D441282}" destId="{E944D110-267D-4FDF-9849-D31F5796D1DF}" srcOrd="0" destOrd="0" presId="urn:microsoft.com/office/officeart/2009/3/layout/HorizontalOrganizationChart"/>
    <dgm:cxn modelId="{7D8F161E-EB64-4CF9-8D6A-A76B7ED7771F}" type="presParOf" srcId="{9E942276-F8C8-4E40-B34B-03D12D441282}" destId="{56334811-16CA-47F4-89A1-10D291B1C9BD}" srcOrd="1" destOrd="0" presId="urn:microsoft.com/office/officeart/2009/3/layout/HorizontalOrganizationChart"/>
    <dgm:cxn modelId="{F8526AE0-CBD4-4C6F-90A6-D3AF555F4123}" type="presParOf" srcId="{31587887-2ECE-4600-9A26-55E1D8CE1F74}" destId="{63711CAA-F8C8-478D-B0DE-3935E04123FF}" srcOrd="1" destOrd="0" presId="urn:microsoft.com/office/officeart/2009/3/layout/HorizontalOrganizationChart"/>
    <dgm:cxn modelId="{B30D42D4-99A6-4729-B1C7-FD1A2FB250F5}" type="presParOf" srcId="{31587887-2ECE-4600-9A26-55E1D8CE1F74}" destId="{8EB5A461-E831-46D0-BF5A-435FA1261674}" srcOrd="2" destOrd="0" presId="urn:microsoft.com/office/officeart/2009/3/layout/HorizontalOrganizationChart"/>
    <dgm:cxn modelId="{E3E42BFF-FB31-475E-AD84-83194CEE1E54}" type="presParOf" srcId="{8B5F769A-B96F-4661-B873-416FC3FCBD98}" destId="{D9A513E5-06A4-46A4-B956-F6C3A5DD4DB7}" srcOrd="2" destOrd="0" presId="urn:microsoft.com/office/officeart/2009/3/layout/HorizontalOrganizationChart"/>
    <dgm:cxn modelId="{02482D32-3296-4ADE-93C1-A69D1FC79476}" type="presParOf" srcId="{033ED1ED-899B-4BE1-83BF-77496C3C61AF}" destId="{5E3CEB34-80C3-4FB6-9F65-BBE379D0A9CF}" srcOrd="1" destOrd="0" presId="urn:microsoft.com/office/officeart/2009/3/layout/HorizontalOrganizationChart"/>
    <dgm:cxn modelId="{EE0ED635-F92A-4274-8241-8640BAF6CE39}" type="presParOf" srcId="{5E3CEB34-80C3-4FB6-9F65-BBE379D0A9CF}" destId="{A3FE9024-B796-4821-92AE-C382AFE3B990}" srcOrd="0" destOrd="0" presId="urn:microsoft.com/office/officeart/2009/3/layout/HorizontalOrganizationChart"/>
    <dgm:cxn modelId="{D89023A0-B58A-45B6-B8CE-320EA3A35420}" type="presParOf" srcId="{A3FE9024-B796-4821-92AE-C382AFE3B990}" destId="{A1467842-B89B-43A1-8FD4-73B17830BDC2}" srcOrd="0" destOrd="0" presId="urn:microsoft.com/office/officeart/2009/3/layout/HorizontalOrganizationChart"/>
    <dgm:cxn modelId="{D8B298A6-3451-4C87-83DF-0CA6BE4EC635}" type="presParOf" srcId="{A3FE9024-B796-4821-92AE-C382AFE3B990}" destId="{D3A6CBCF-ECDF-47EB-9A9E-BB15B02F8599}" srcOrd="1" destOrd="0" presId="urn:microsoft.com/office/officeart/2009/3/layout/HorizontalOrganizationChart"/>
    <dgm:cxn modelId="{EF11E163-D67E-47AE-BC00-337700B83681}" type="presParOf" srcId="{5E3CEB34-80C3-4FB6-9F65-BBE379D0A9CF}" destId="{CBB9705E-9023-4BD8-AC65-7EA0972C1EE5}" srcOrd="1" destOrd="0" presId="urn:microsoft.com/office/officeart/2009/3/layout/HorizontalOrganizationChart"/>
    <dgm:cxn modelId="{A39A19BB-DE8B-43F2-8180-60F1B0E33F4E}" type="presParOf" srcId="{CBB9705E-9023-4BD8-AC65-7EA0972C1EE5}" destId="{86DD6DAA-2866-4DA0-8E31-477F7E915BFB}" srcOrd="0" destOrd="0" presId="urn:microsoft.com/office/officeart/2009/3/layout/HorizontalOrganizationChart"/>
    <dgm:cxn modelId="{93667A3B-672A-42E7-8262-47D674534F13}" type="presParOf" srcId="{CBB9705E-9023-4BD8-AC65-7EA0972C1EE5}" destId="{26AF40B2-70B4-4EAE-BB17-9126924C7797}" srcOrd="1" destOrd="0" presId="urn:microsoft.com/office/officeart/2009/3/layout/HorizontalOrganizationChart"/>
    <dgm:cxn modelId="{8514C539-052C-45FF-BB3D-BFC9965139BD}" type="presParOf" srcId="{26AF40B2-70B4-4EAE-BB17-9126924C7797}" destId="{4B47E80A-C2BA-442A-967A-1A883116714A}" srcOrd="0" destOrd="0" presId="urn:microsoft.com/office/officeart/2009/3/layout/HorizontalOrganizationChart"/>
    <dgm:cxn modelId="{7F2078BB-31E8-476B-94C1-467A24E46614}" type="presParOf" srcId="{4B47E80A-C2BA-442A-967A-1A883116714A}" destId="{5D2170DE-5529-4733-BEA0-8FBDF7B2AA2F}" srcOrd="0" destOrd="0" presId="urn:microsoft.com/office/officeart/2009/3/layout/HorizontalOrganizationChart"/>
    <dgm:cxn modelId="{A7DE971C-52D0-495E-B869-0C714675102E}" type="presParOf" srcId="{4B47E80A-C2BA-442A-967A-1A883116714A}" destId="{0B1E5A1A-64E1-4556-8B84-F07935200B69}" srcOrd="1" destOrd="0" presId="urn:microsoft.com/office/officeart/2009/3/layout/HorizontalOrganizationChart"/>
    <dgm:cxn modelId="{2EFEE381-3FF7-4727-B632-8B139F509ED0}" type="presParOf" srcId="{26AF40B2-70B4-4EAE-BB17-9126924C7797}" destId="{3A0C4821-390D-4879-A2C7-68A47C729B2C}" srcOrd="1" destOrd="0" presId="urn:microsoft.com/office/officeart/2009/3/layout/HorizontalOrganizationChart"/>
    <dgm:cxn modelId="{20E6CE14-A610-420C-B144-FCCF0263D716}" type="presParOf" srcId="{26AF40B2-70B4-4EAE-BB17-9126924C7797}" destId="{4297E478-CEF8-49D0-93C1-9F3CFB7EA17E}" srcOrd="2" destOrd="0" presId="urn:microsoft.com/office/officeart/2009/3/layout/HorizontalOrganizationChart"/>
    <dgm:cxn modelId="{B6098FF3-0E9F-4B8F-8ECB-4AC2A99C142C}" type="presParOf" srcId="{CBB9705E-9023-4BD8-AC65-7EA0972C1EE5}" destId="{47FF9B9B-A2B6-4208-B8F2-59F6F777E25C}" srcOrd="2" destOrd="0" presId="urn:microsoft.com/office/officeart/2009/3/layout/HorizontalOrganizationChart"/>
    <dgm:cxn modelId="{4913A6D5-49F0-412C-B8C8-6D5E6A484F26}" type="presParOf" srcId="{CBB9705E-9023-4BD8-AC65-7EA0972C1EE5}" destId="{24DD3726-F650-41B4-963C-1FA0D0479F0F}" srcOrd="3" destOrd="0" presId="urn:microsoft.com/office/officeart/2009/3/layout/HorizontalOrganizationChart"/>
    <dgm:cxn modelId="{DE76A23E-69C9-470F-B7D5-FFD88F906E2B}" type="presParOf" srcId="{24DD3726-F650-41B4-963C-1FA0D0479F0F}" destId="{2853A0ED-2EB1-4D1A-8685-B52B072E301D}" srcOrd="0" destOrd="0" presId="urn:microsoft.com/office/officeart/2009/3/layout/HorizontalOrganizationChart"/>
    <dgm:cxn modelId="{7274CCCD-A34B-4608-8DE0-158E464D55E5}" type="presParOf" srcId="{2853A0ED-2EB1-4D1A-8685-B52B072E301D}" destId="{12280BE9-16CB-414A-BA03-D82689364E29}" srcOrd="0" destOrd="0" presId="urn:microsoft.com/office/officeart/2009/3/layout/HorizontalOrganizationChart"/>
    <dgm:cxn modelId="{D8490BB7-F284-45F3-86BF-623031F99115}" type="presParOf" srcId="{2853A0ED-2EB1-4D1A-8685-B52B072E301D}" destId="{C6AC9C1D-96A8-4290-A698-F4AD789A86BD}" srcOrd="1" destOrd="0" presId="urn:microsoft.com/office/officeart/2009/3/layout/HorizontalOrganizationChart"/>
    <dgm:cxn modelId="{212988CF-857D-4C06-BD99-6542803D1529}" type="presParOf" srcId="{24DD3726-F650-41B4-963C-1FA0D0479F0F}" destId="{4F9CBAE0-CCCB-45E0-A60B-D192C3A87B88}" srcOrd="1" destOrd="0" presId="urn:microsoft.com/office/officeart/2009/3/layout/HorizontalOrganizationChart"/>
    <dgm:cxn modelId="{D3E83093-C27D-4B5B-B5B2-7700F68E8AE9}" type="presParOf" srcId="{24DD3726-F650-41B4-963C-1FA0D0479F0F}" destId="{18331E04-4FB1-4584-BF61-A886BA0BC10E}" srcOrd="2" destOrd="0" presId="urn:microsoft.com/office/officeart/2009/3/layout/HorizontalOrganizationChart"/>
    <dgm:cxn modelId="{864CCC37-804D-4A6B-8174-CD8365B16CA6}" type="presParOf" srcId="{5E3CEB34-80C3-4FB6-9F65-BBE379D0A9CF}" destId="{04C667A9-9D79-472D-B59E-91A143E7F8CE}" srcOrd="2" destOrd="0" presId="urn:microsoft.com/office/officeart/2009/3/layout/HorizontalOrganizationChart"/>
    <dgm:cxn modelId="{9FF27E4C-28DB-49DC-9A45-884F954E5A97}" type="presParOf" srcId="{033ED1ED-899B-4BE1-83BF-77496C3C61AF}" destId="{D27C7861-32C8-4523-8AB7-A6B2CBF40BDA}" srcOrd="2" destOrd="0" presId="urn:microsoft.com/office/officeart/2009/3/layout/HorizontalOrganizationChart"/>
    <dgm:cxn modelId="{0625F1C3-0067-4E7B-AF95-5D35332AFCD8}" type="presParOf" srcId="{D27C7861-32C8-4523-8AB7-A6B2CBF40BDA}" destId="{57FA926A-1078-4C85-BB10-5DAE7366F5A4}" srcOrd="0" destOrd="0" presId="urn:microsoft.com/office/officeart/2009/3/layout/HorizontalOrganizationChart"/>
    <dgm:cxn modelId="{2093CAC8-5CA1-45C3-BA70-D5D1319566B6}" type="presParOf" srcId="{57FA926A-1078-4C85-BB10-5DAE7366F5A4}" destId="{21AF5B82-B8FC-448D-AA99-D1844A899F94}" srcOrd="0" destOrd="0" presId="urn:microsoft.com/office/officeart/2009/3/layout/HorizontalOrganizationChart"/>
    <dgm:cxn modelId="{644BAF2B-135E-4E8C-BC25-E52039574BD5}" type="presParOf" srcId="{57FA926A-1078-4C85-BB10-5DAE7366F5A4}" destId="{4B0E1B71-6A0C-4A06-BD34-B9E63BF3238B}" srcOrd="1" destOrd="0" presId="urn:microsoft.com/office/officeart/2009/3/layout/HorizontalOrganizationChart"/>
    <dgm:cxn modelId="{A7203023-37A9-4377-8FB2-228A5C0A43D7}" type="presParOf" srcId="{D27C7861-32C8-4523-8AB7-A6B2CBF40BDA}" destId="{56F694B3-448E-4294-BB7E-02F443B35FDA}" srcOrd="1" destOrd="0" presId="urn:microsoft.com/office/officeart/2009/3/layout/HorizontalOrganizationChart"/>
    <dgm:cxn modelId="{AC0044C5-81B3-4818-9E96-3FA5E581C32A}" type="presParOf" srcId="{D27C7861-32C8-4523-8AB7-A6B2CBF40BDA}" destId="{5269AD54-3F69-49EC-B5A1-DD4C6A194CA0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F53C374D-EBA6-4D2C-97BE-4454B2E90410}" type="doc">
      <dgm:prSet loTypeId="urn:microsoft.com/office/officeart/2005/8/layout/process4" loCatId="process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A24CA992-EEDF-4A84-A470-C414301F03D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Australian and NZ Banks were not attracted to Mortgage-Backed securities</a:t>
          </a:r>
        </a:p>
      </dgm:t>
    </dgm:pt>
    <dgm:pt modelId="{A13BA4A1-3226-4877-B35F-4469A9CA583B}" type="parTrans" cxnId="{2978EB08-CAAB-491C-BB11-60A9DCD514F3}">
      <dgm:prSet/>
      <dgm:spPr/>
      <dgm:t>
        <a:bodyPr/>
        <a:lstStyle/>
        <a:p>
          <a:endParaRPr lang="en-NZ"/>
        </a:p>
      </dgm:t>
    </dgm:pt>
    <dgm:pt modelId="{DCA9DBB2-EF3D-46A1-8719-0A69F5B498C2}" type="sibTrans" cxnId="{2978EB08-CAAB-491C-BB11-60A9DCD514F3}">
      <dgm:prSet/>
      <dgm:spPr/>
      <dgm:t>
        <a:bodyPr/>
        <a:lstStyle/>
        <a:p>
          <a:endParaRPr lang="en-NZ"/>
        </a:p>
      </dgm:t>
    </dgm:pt>
    <dgm:pt modelId="{A6B088F8-E04C-4667-8376-07CA3FC04237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Both Reserve Banks were effective monitors, maintained a good regulatory framework to sustain bank balances.</a:t>
          </a:r>
        </a:p>
      </dgm:t>
    </dgm:pt>
    <dgm:pt modelId="{149E7E26-166C-465B-9D9C-6C388CD20BFA}" type="parTrans" cxnId="{F525AC1A-B34B-4C09-8568-E57B8239D094}">
      <dgm:prSet/>
      <dgm:spPr/>
      <dgm:t>
        <a:bodyPr/>
        <a:lstStyle/>
        <a:p>
          <a:endParaRPr lang="en-NZ"/>
        </a:p>
      </dgm:t>
    </dgm:pt>
    <dgm:pt modelId="{78616D7F-4916-435D-914E-30C09027D25E}" type="sibTrans" cxnId="{F525AC1A-B34B-4C09-8568-E57B8239D094}">
      <dgm:prSet/>
      <dgm:spPr/>
      <dgm:t>
        <a:bodyPr/>
        <a:lstStyle/>
        <a:p>
          <a:endParaRPr lang="en-NZ"/>
        </a:p>
      </dgm:t>
    </dgm:pt>
    <dgm:pt modelId="{A2D8CD37-433A-4D18-BE8D-82D1350177D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There was no ‘real’ financial crisis in Australia and NZ.</a:t>
          </a:r>
        </a:p>
      </dgm:t>
    </dgm:pt>
    <dgm:pt modelId="{909812A0-9FF6-4E40-8499-0FE974FA9078}" type="parTrans" cxnId="{949A2F7E-B8FA-4C8D-AFD1-1824BC86179B}">
      <dgm:prSet/>
      <dgm:spPr/>
      <dgm:t>
        <a:bodyPr/>
        <a:lstStyle/>
        <a:p>
          <a:endParaRPr lang="en-NZ"/>
        </a:p>
      </dgm:t>
    </dgm:pt>
    <dgm:pt modelId="{8E19F468-F3BF-4136-AC28-BC497D80CA31}" type="sibTrans" cxnId="{949A2F7E-B8FA-4C8D-AFD1-1824BC86179B}">
      <dgm:prSet/>
      <dgm:spPr/>
      <dgm:t>
        <a:bodyPr/>
        <a:lstStyle/>
        <a:p>
          <a:endParaRPr lang="en-NZ"/>
        </a:p>
      </dgm:t>
    </dgm:pt>
    <dgm:pt modelId="{44829482-1DF4-41B8-BE28-3A653DEB146A}">
      <dgm:prSet/>
      <dgm:spPr/>
      <dgm:t>
        <a:bodyPr/>
        <a:lstStyle/>
        <a:p>
          <a:r>
            <a:rPr lang="en-NZ"/>
            <a:t>No banks in this region needed assistance</a:t>
          </a:r>
        </a:p>
      </dgm:t>
    </dgm:pt>
    <dgm:pt modelId="{DA3B3947-4DF6-4B86-A512-C0FF263EB8FA}" type="parTrans" cxnId="{C7071B52-7538-4DD3-BCFB-426AC4767C8A}">
      <dgm:prSet/>
      <dgm:spPr/>
      <dgm:t>
        <a:bodyPr/>
        <a:lstStyle/>
        <a:p>
          <a:endParaRPr lang="en-NZ"/>
        </a:p>
      </dgm:t>
    </dgm:pt>
    <dgm:pt modelId="{BCFC5059-0DF8-4032-BBA8-903D4AD0FF3C}" type="sibTrans" cxnId="{C7071B52-7538-4DD3-BCFB-426AC4767C8A}">
      <dgm:prSet/>
      <dgm:spPr/>
      <dgm:t>
        <a:bodyPr/>
        <a:lstStyle/>
        <a:p>
          <a:endParaRPr lang="en-NZ"/>
        </a:p>
      </dgm:t>
    </dgm:pt>
    <dgm:pt modelId="{AC0E9414-5C2D-4209-9C9F-CFE164253112}">
      <dgm:prSet/>
      <dgm:spPr/>
      <dgm:t>
        <a:bodyPr/>
        <a:lstStyle/>
        <a:p>
          <a:r>
            <a:rPr lang="en-NZ"/>
            <a:t>15-30% did in US and UK</a:t>
          </a:r>
        </a:p>
      </dgm:t>
    </dgm:pt>
    <dgm:pt modelId="{18891E5A-081B-49E6-AD7B-A7D5939C7461}" type="parTrans" cxnId="{810DA4F6-F1A6-46F8-AF50-0C1AE04A76A0}">
      <dgm:prSet/>
      <dgm:spPr/>
      <dgm:t>
        <a:bodyPr/>
        <a:lstStyle/>
        <a:p>
          <a:endParaRPr lang="en-NZ"/>
        </a:p>
      </dgm:t>
    </dgm:pt>
    <dgm:pt modelId="{A7C00FA2-71F3-495C-8721-4441F2456433}" type="sibTrans" cxnId="{810DA4F6-F1A6-46F8-AF50-0C1AE04A76A0}">
      <dgm:prSet/>
      <dgm:spPr/>
      <dgm:t>
        <a:bodyPr/>
        <a:lstStyle/>
        <a:p>
          <a:endParaRPr lang="en-NZ"/>
        </a:p>
      </dgm:t>
    </dgm:pt>
    <dgm:pt modelId="{422C0B4D-A6E9-4491-8EDA-555BA2270F76}">
      <dgm:prSet/>
      <dgm:spPr/>
      <dgm:t>
        <a:bodyPr/>
        <a:lstStyle/>
        <a:p>
          <a:r>
            <a:rPr lang="en-NZ" dirty="0"/>
            <a:t>80%+ in countries like Belgium</a:t>
          </a:r>
        </a:p>
      </dgm:t>
    </dgm:pt>
    <dgm:pt modelId="{B583A443-6614-4F77-BD91-28CF1F9E61BF}" type="parTrans" cxnId="{C36805C4-019D-46AC-B449-2A3BA39107A5}">
      <dgm:prSet/>
      <dgm:spPr/>
      <dgm:t>
        <a:bodyPr/>
        <a:lstStyle/>
        <a:p>
          <a:endParaRPr lang="en-NZ"/>
        </a:p>
      </dgm:t>
    </dgm:pt>
    <dgm:pt modelId="{7DCC24D1-76A4-4759-B0E5-C7C8CA263500}" type="sibTrans" cxnId="{C36805C4-019D-46AC-B449-2A3BA39107A5}">
      <dgm:prSet/>
      <dgm:spPr/>
      <dgm:t>
        <a:bodyPr/>
        <a:lstStyle/>
        <a:p>
          <a:endParaRPr lang="en-NZ"/>
        </a:p>
      </dgm:t>
    </dgm:pt>
    <dgm:pt modelId="{F72A1192-79B3-4B8B-9C60-6EF3F46E6550}" type="pres">
      <dgm:prSet presAssocID="{F53C374D-EBA6-4D2C-97BE-4454B2E90410}" presName="Name0" presStyleCnt="0">
        <dgm:presLayoutVars>
          <dgm:dir/>
          <dgm:animLvl val="lvl"/>
          <dgm:resizeHandles val="exact"/>
        </dgm:presLayoutVars>
      </dgm:prSet>
      <dgm:spPr/>
    </dgm:pt>
    <dgm:pt modelId="{017F5D5E-E5B4-4AC3-B2D5-DF0D6839A77A}" type="pres">
      <dgm:prSet presAssocID="{A2D8CD37-433A-4D18-BE8D-82D1350177D6}" presName="boxAndChildren" presStyleCnt="0"/>
      <dgm:spPr/>
    </dgm:pt>
    <dgm:pt modelId="{672F52E1-983C-438E-8639-34AB3FA6BC4E}" type="pres">
      <dgm:prSet presAssocID="{A2D8CD37-433A-4D18-BE8D-82D1350177D6}" presName="parentTextBox" presStyleLbl="node1" presStyleIdx="0" presStyleCnt="3"/>
      <dgm:spPr/>
    </dgm:pt>
    <dgm:pt modelId="{9EB9B416-A02B-4E8B-8AED-A57E4A683A9F}" type="pres">
      <dgm:prSet presAssocID="{A2D8CD37-433A-4D18-BE8D-82D1350177D6}" presName="entireBox" presStyleLbl="node1" presStyleIdx="0" presStyleCnt="3"/>
      <dgm:spPr/>
    </dgm:pt>
    <dgm:pt modelId="{A8415AB0-38DA-4ADB-96C6-65D213F8A1E5}" type="pres">
      <dgm:prSet presAssocID="{A2D8CD37-433A-4D18-BE8D-82D1350177D6}" presName="descendantBox" presStyleCnt="0"/>
      <dgm:spPr/>
    </dgm:pt>
    <dgm:pt modelId="{A4B8DD89-EBE3-481B-985E-C726E424123B}" type="pres">
      <dgm:prSet presAssocID="{44829482-1DF4-41B8-BE28-3A653DEB146A}" presName="childTextBox" presStyleLbl="fgAccFollowNode1" presStyleIdx="0" presStyleCnt="3">
        <dgm:presLayoutVars>
          <dgm:bulletEnabled val="1"/>
        </dgm:presLayoutVars>
      </dgm:prSet>
      <dgm:spPr/>
    </dgm:pt>
    <dgm:pt modelId="{C268419A-9BE4-4FF4-8B1F-DBBF4C702CBE}" type="pres">
      <dgm:prSet presAssocID="{AC0E9414-5C2D-4209-9C9F-CFE164253112}" presName="childTextBox" presStyleLbl="fgAccFollowNode1" presStyleIdx="1" presStyleCnt="3">
        <dgm:presLayoutVars>
          <dgm:bulletEnabled val="1"/>
        </dgm:presLayoutVars>
      </dgm:prSet>
      <dgm:spPr/>
    </dgm:pt>
    <dgm:pt modelId="{0467BD7C-B384-4580-80EE-6842B450743F}" type="pres">
      <dgm:prSet presAssocID="{422C0B4D-A6E9-4491-8EDA-555BA2270F76}" presName="childTextBox" presStyleLbl="fgAccFollowNode1" presStyleIdx="2" presStyleCnt="3">
        <dgm:presLayoutVars>
          <dgm:bulletEnabled val="1"/>
        </dgm:presLayoutVars>
      </dgm:prSet>
      <dgm:spPr/>
    </dgm:pt>
    <dgm:pt modelId="{2BD5E809-331A-4360-A1DD-92C4B69BD684}" type="pres">
      <dgm:prSet presAssocID="{78616D7F-4916-435D-914E-30C09027D25E}" presName="sp" presStyleCnt="0"/>
      <dgm:spPr/>
    </dgm:pt>
    <dgm:pt modelId="{2F2C5A9F-B17E-475C-8693-0EFB0D68E612}" type="pres">
      <dgm:prSet presAssocID="{A6B088F8-E04C-4667-8376-07CA3FC04237}" presName="arrowAndChildren" presStyleCnt="0"/>
      <dgm:spPr/>
    </dgm:pt>
    <dgm:pt modelId="{3E8E70E4-6869-4323-920A-9BB5EEE1576B}" type="pres">
      <dgm:prSet presAssocID="{A6B088F8-E04C-4667-8376-07CA3FC04237}" presName="parentTextArrow" presStyleLbl="node1" presStyleIdx="1" presStyleCnt="3"/>
      <dgm:spPr/>
    </dgm:pt>
    <dgm:pt modelId="{1F1D0495-3077-430D-870A-A8071ECA85F8}" type="pres">
      <dgm:prSet presAssocID="{DCA9DBB2-EF3D-46A1-8719-0A69F5B498C2}" presName="sp" presStyleCnt="0"/>
      <dgm:spPr/>
    </dgm:pt>
    <dgm:pt modelId="{6829B5D9-50BB-4DE9-BB84-9528269A47C9}" type="pres">
      <dgm:prSet presAssocID="{A24CA992-EEDF-4A84-A470-C414301F03DD}" presName="arrowAndChildren" presStyleCnt="0"/>
      <dgm:spPr/>
    </dgm:pt>
    <dgm:pt modelId="{3E5D4628-3D13-4DEA-B5A5-ADC969AE8A86}" type="pres">
      <dgm:prSet presAssocID="{A24CA992-EEDF-4A84-A470-C414301F03DD}" presName="parentTextArrow" presStyleLbl="node1" presStyleIdx="2" presStyleCnt="3"/>
      <dgm:spPr/>
    </dgm:pt>
  </dgm:ptLst>
  <dgm:cxnLst>
    <dgm:cxn modelId="{9BB4E902-09B2-484D-8B61-6EABC14123DF}" type="presOf" srcId="{A6B088F8-E04C-4667-8376-07CA3FC04237}" destId="{3E8E70E4-6869-4323-920A-9BB5EEE1576B}" srcOrd="0" destOrd="0" presId="urn:microsoft.com/office/officeart/2005/8/layout/process4"/>
    <dgm:cxn modelId="{2978EB08-CAAB-491C-BB11-60A9DCD514F3}" srcId="{F53C374D-EBA6-4D2C-97BE-4454B2E90410}" destId="{A24CA992-EEDF-4A84-A470-C414301F03DD}" srcOrd="0" destOrd="0" parTransId="{A13BA4A1-3226-4877-B35F-4469A9CA583B}" sibTransId="{DCA9DBB2-EF3D-46A1-8719-0A69F5B498C2}"/>
    <dgm:cxn modelId="{F525AC1A-B34B-4C09-8568-E57B8239D094}" srcId="{F53C374D-EBA6-4D2C-97BE-4454B2E90410}" destId="{A6B088F8-E04C-4667-8376-07CA3FC04237}" srcOrd="1" destOrd="0" parTransId="{149E7E26-166C-465B-9D9C-6C388CD20BFA}" sibTransId="{78616D7F-4916-435D-914E-30C09027D25E}"/>
    <dgm:cxn modelId="{986F0338-E6F8-4730-8C35-6D605D986F41}" type="presOf" srcId="{A2D8CD37-433A-4D18-BE8D-82D1350177D6}" destId="{9EB9B416-A02B-4E8B-8AED-A57E4A683A9F}" srcOrd="1" destOrd="0" presId="urn:microsoft.com/office/officeart/2005/8/layout/process4"/>
    <dgm:cxn modelId="{C7071B52-7538-4DD3-BCFB-426AC4767C8A}" srcId="{A2D8CD37-433A-4D18-BE8D-82D1350177D6}" destId="{44829482-1DF4-41B8-BE28-3A653DEB146A}" srcOrd="0" destOrd="0" parTransId="{DA3B3947-4DF6-4B86-A512-C0FF263EB8FA}" sibTransId="{BCFC5059-0DF8-4032-BBA8-903D4AD0FF3C}"/>
    <dgm:cxn modelId="{A448D275-C6E2-4C31-BDBD-D3EF30F56025}" type="presOf" srcId="{A24CA992-EEDF-4A84-A470-C414301F03DD}" destId="{3E5D4628-3D13-4DEA-B5A5-ADC969AE8A86}" srcOrd="0" destOrd="0" presId="urn:microsoft.com/office/officeart/2005/8/layout/process4"/>
    <dgm:cxn modelId="{949A2F7E-B8FA-4C8D-AFD1-1824BC86179B}" srcId="{F53C374D-EBA6-4D2C-97BE-4454B2E90410}" destId="{A2D8CD37-433A-4D18-BE8D-82D1350177D6}" srcOrd="2" destOrd="0" parTransId="{909812A0-9FF6-4E40-8499-0FE974FA9078}" sibTransId="{8E19F468-F3BF-4136-AC28-BC497D80CA31}"/>
    <dgm:cxn modelId="{0587B396-1C15-41B3-9808-9249880937E7}" type="presOf" srcId="{422C0B4D-A6E9-4491-8EDA-555BA2270F76}" destId="{0467BD7C-B384-4580-80EE-6842B450743F}" srcOrd="0" destOrd="0" presId="urn:microsoft.com/office/officeart/2005/8/layout/process4"/>
    <dgm:cxn modelId="{C36805C4-019D-46AC-B449-2A3BA39107A5}" srcId="{A2D8CD37-433A-4D18-BE8D-82D1350177D6}" destId="{422C0B4D-A6E9-4491-8EDA-555BA2270F76}" srcOrd="2" destOrd="0" parTransId="{B583A443-6614-4F77-BD91-28CF1F9E61BF}" sibTransId="{7DCC24D1-76A4-4759-B0E5-C7C8CA263500}"/>
    <dgm:cxn modelId="{77E2FBC4-D953-4351-9B83-23CC28848B09}" type="presOf" srcId="{F53C374D-EBA6-4D2C-97BE-4454B2E90410}" destId="{F72A1192-79B3-4B8B-9C60-6EF3F46E6550}" srcOrd="0" destOrd="0" presId="urn:microsoft.com/office/officeart/2005/8/layout/process4"/>
    <dgm:cxn modelId="{F04EC9CE-5100-49FA-BDEC-22D3CCCE07F4}" type="presOf" srcId="{AC0E9414-5C2D-4209-9C9F-CFE164253112}" destId="{C268419A-9BE4-4FF4-8B1F-DBBF4C702CBE}" srcOrd="0" destOrd="0" presId="urn:microsoft.com/office/officeart/2005/8/layout/process4"/>
    <dgm:cxn modelId="{18BAC6E3-9057-4559-8231-65CDC937F351}" type="presOf" srcId="{44829482-1DF4-41B8-BE28-3A653DEB146A}" destId="{A4B8DD89-EBE3-481B-985E-C726E424123B}" srcOrd="0" destOrd="0" presId="urn:microsoft.com/office/officeart/2005/8/layout/process4"/>
    <dgm:cxn modelId="{810DA4F6-F1A6-46F8-AF50-0C1AE04A76A0}" srcId="{A2D8CD37-433A-4D18-BE8D-82D1350177D6}" destId="{AC0E9414-5C2D-4209-9C9F-CFE164253112}" srcOrd="1" destOrd="0" parTransId="{18891E5A-081B-49E6-AD7B-A7D5939C7461}" sibTransId="{A7C00FA2-71F3-495C-8721-4441F2456433}"/>
    <dgm:cxn modelId="{4F00E7F6-7637-4AFD-91A7-FF7672DD734C}" type="presOf" srcId="{A2D8CD37-433A-4D18-BE8D-82D1350177D6}" destId="{672F52E1-983C-438E-8639-34AB3FA6BC4E}" srcOrd="0" destOrd="0" presId="urn:microsoft.com/office/officeart/2005/8/layout/process4"/>
    <dgm:cxn modelId="{39540609-45B4-469B-980C-6957CC2FF155}" type="presParOf" srcId="{F72A1192-79B3-4B8B-9C60-6EF3F46E6550}" destId="{017F5D5E-E5B4-4AC3-B2D5-DF0D6839A77A}" srcOrd="0" destOrd="0" presId="urn:microsoft.com/office/officeart/2005/8/layout/process4"/>
    <dgm:cxn modelId="{85645B48-E005-4267-A724-07B7B08501CD}" type="presParOf" srcId="{017F5D5E-E5B4-4AC3-B2D5-DF0D6839A77A}" destId="{672F52E1-983C-438E-8639-34AB3FA6BC4E}" srcOrd="0" destOrd="0" presId="urn:microsoft.com/office/officeart/2005/8/layout/process4"/>
    <dgm:cxn modelId="{BC08906E-3116-473D-8D74-6C9FF4912B87}" type="presParOf" srcId="{017F5D5E-E5B4-4AC3-B2D5-DF0D6839A77A}" destId="{9EB9B416-A02B-4E8B-8AED-A57E4A683A9F}" srcOrd="1" destOrd="0" presId="urn:microsoft.com/office/officeart/2005/8/layout/process4"/>
    <dgm:cxn modelId="{700B60C7-6816-4679-AFA8-B996B4CBB928}" type="presParOf" srcId="{017F5D5E-E5B4-4AC3-B2D5-DF0D6839A77A}" destId="{A8415AB0-38DA-4ADB-96C6-65D213F8A1E5}" srcOrd="2" destOrd="0" presId="urn:microsoft.com/office/officeart/2005/8/layout/process4"/>
    <dgm:cxn modelId="{1810B20F-A34F-4BAF-B888-BCF49E9267EB}" type="presParOf" srcId="{A8415AB0-38DA-4ADB-96C6-65D213F8A1E5}" destId="{A4B8DD89-EBE3-481B-985E-C726E424123B}" srcOrd="0" destOrd="0" presId="urn:microsoft.com/office/officeart/2005/8/layout/process4"/>
    <dgm:cxn modelId="{D5B2F818-35F6-4117-B61D-4AE318F7A833}" type="presParOf" srcId="{A8415AB0-38DA-4ADB-96C6-65D213F8A1E5}" destId="{C268419A-9BE4-4FF4-8B1F-DBBF4C702CBE}" srcOrd="1" destOrd="0" presId="urn:microsoft.com/office/officeart/2005/8/layout/process4"/>
    <dgm:cxn modelId="{39FCAF90-565E-4DB9-82D0-C7EB4AE317E3}" type="presParOf" srcId="{A8415AB0-38DA-4ADB-96C6-65D213F8A1E5}" destId="{0467BD7C-B384-4580-80EE-6842B450743F}" srcOrd="2" destOrd="0" presId="urn:microsoft.com/office/officeart/2005/8/layout/process4"/>
    <dgm:cxn modelId="{EF624E8C-C04A-471A-B7FC-CE2B08530A25}" type="presParOf" srcId="{F72A1192-79B3-4B8B-9C60-6EF3F46E6550}" destId="{2BD5E809-331A-4360-A1DD-92C4B69BD684}" srcOrd="1" destOrd="0" presId="urn:microsoft.com/office/officeart/2005/8/layout/process4"/>
    <dgm:cxn modelId="{C76B3865-40E5-4624-8681-DA1B2871E18C}" type="presParOf" srcId="{F72A1192-79B3-4B8B-9C60-6EF3F46E6550}" destId="{2F2C5A9F-B17E-475C-8693-0EFB0D68E612}" srcOrd="2" destOrd="0" presId="urn:microsoft.com/office/officeart/2005/8/layout/process4"/>
    <dgm:cxn modelId="{D89EAF4E-97B3-411C-847E-E88CC09551CB}" type="presParOf" srcId="{2F2C5A9F-B17E-475C-8693-0EFB0D68E612}" destId="{3E8E70E4-6869-4323-920A-9BB5EEE1576B}" srcOrd="0" destOrd="0" presId="urn:microsoft.com/office/officeart/2005/8/layout/process4"/>
    <dgm:cxn modelId="{4B1E76A3-2D91-41AD-8D12-0987A314C311}" type="presParOf" srcId="{F72A1192-79B3-4B8B-9C60-6EF3F46E6550}" destId="{1F1D0495-3077-430D-870A-A8071ECA85F8}" srcOrd="3" destOrd="0" presId="urn:microsoft.com/office/officeart/2005/8/layout/process4"/>
    <dgm:cxn modelId="{CA6989A6-DE4E-4BA1-89B8-AFC546F70852}" type="presParOf" srcId="{F72A1192-79B3-4B8B-9C60-6EF3F46E6550}" destId="{6829B5D9-50BB-4DE9-BB84-9528269A47C9}" srcOrd="4" destOrd="0" presId="urn:microsoft.com/office/officeart/2005/8/layout/process4"/>
    <dgm:cxn modelId="{8CE34A55-2C28-45CA-A3D2-532EBC8BFD32}" type="presParOf" srcId="{6829B5D9-50BB-4DE9-BB84-9528269A47C9}" destId="{3E5D4628-3D13-4DEA-B5A5-ADC969AE8A8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013EFCE3-A1C1-42B2-83D6-2004C49F519B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NZ"/>
        </a:p>
      </dgm:t>
    </dgm:pt>
    <dgm:pt modelId="{2452827E-0BB5-4A3D-8A6B-AB41EED14C21}">
      <dgm:prSet/>
      <dgm:spPr/>
      <dgm:t>
        <a:bodyPr/>
        <a:lstStyle/>
        <a:p>
          <a:r>
            <a:rPr lang="en-NZ" dirty="0"/>
            <a:t>Both countries started the GFC in a period of (relatively) high interest rates and very low public debt. </a:t>
          </a:r>
        </a:p>
      </dgm:t>
    </dgm:pt>
    <dgm:pt modelId="{FEE96837-974C-459F-AC3E-4A44C25D8DDE}" type="parTrans" cxnId="{FBB05E47-9E83-4824-A8AD-802560EF9B56}">
      <dgm:prSet/>
      <dgm:spPr/>
      <dgm:t>
        <a:bodyPr/>
        <a:lstStyle/>
        <a:p>
          <a:endParaRPr lang="en-NZ"/>
        </a:p>
      </dgm:t>
    </dgm:pt>
    <dgm:pt modelId="{52ADAD83-AB23-4191-B981-8022BC5CE0BF}" type="sibTrans" cxnId="{FBB05E47-9E83-4824-A8AD-802560EF9B56}">
      <dgm:prSet/>
      <dgm:spPr/>
      <dgm:t>
        <a:bodyPr/>
        <a:lstStyle/>
        <a:p>
          <a:endParaRPr lang="en-NZ"/>
        </a:p>
      </dgm:t>
    </dgm:pt>
    <dgm:pt modelId="{3630043D-6D20-4715-932B-B0277A2B6500}">
      <dgm:prSet/>
      <dgm:spPr/>
      <dgm:t>
        <a:bodyPr/>
        <a:lstStyle/>
        <a:p>
          <a:r>
            <a:rPr lang="en-NZ" dirty="0"/>
            <a:t>This meant there was room for bigger interest rate cuts than the US or UK</a:t>
          </a:r>
        </a:p>
      </dgm:t>
    </dgm:pt>
    <dgm:pt modelId="{1476C8A3-BFBE-48F1-A759-AD17BE362656}" type="parTrans" cxnId="{31ADBCC4-EC41-4C4F-B623-43CD2F722007}">
      <dgm:prSet/>
      <dgm:spPr/>
      <dgm:t>
        <a:bodyPr/>
        <a:lstStyle/>
        <a:p>
          <a:endParaRPr lang="en-NZ"/>
        </a:p>
      </dgm:t>
    </dgm:pt>
    <dgm:pt modelId="{82BACAF0-DF8C-4362-9666-D0BADA5C544D}" type="sibTrans" cxnId="{31ADBCC4-EC41-4C4F-B623-43CD2F722007}">
      <dgm:prSet/>
      <dgm:spPr/>
      <dgm:t>
        <a:bodyPr/>
        <a:lstStyle/>
        <a:p>
          <a:endParaRPr lang="en-NZ"/>
        </a:p>
      </dgm:t>
    </dgm:pt>
    <dgm:pt modelId="{364F4B76-BA40-4664-9C99-7BDD7C79680E}">
      <dgm:prSet/>
      <dgm:spPr/>
      <dgm:t>
        <a:bodyPr/>
        <a:lstStyle/>
        <a:p>
          <a:r>
            <a:rPr lang="en-NZ" dirty="0"/>
            <a:t>Low (net) public debt made it easier to borrow money to run deficits for fiscal expansion</a:t>
          </a:r>
        </a:p>
      </dgm:t>
    </dgm:pt>
    <dgm:pt modelId="{68544BA4-09D2-4DB9-803D-66430779DE50}" type="parTrans" cxnId="{7310968C-5A74-4598-B0A2-C7214B7796DB}">
      <dgm:prSet/>
      <dgm:spPr/>
      <dgm:t>
        <a:bodyPr/>
        <a:lstStyle/>
        <a:p>
          <a:endParaRPr lang="en-NZ"/>
        </a:p>
      </dgm:t>
    </dgm:pt>
    <dgm:pt modelId="{8AF9CA0A-824E-4FDF-BA32-CC628786C6F9}" type="sibTrans" cxnId="{7310968C-5A74-4598-B0A2-C7214B7796DB}">
      <dgm:prSet/>
      <dgm:spPr/>
      <dgm:t>
        <a:bodyPr/>
        <a:lstStyle/>
        <a:p>
          <a:endParaRPr lang="en-NZ"/>
        </a:p>
      </dgm:t>
    </dgm:pt>
    <dgm:pt modelId="{A370EECE-DFC2-439B-BA19-189103170312}">
      <dgm:prSet/>
      <dgm:spPr/>
      <dgm:t>
        <a:bodyPr/>
        <a:lstStyle/>
        <a:p>
          <a:r>
            <a:rPr lang="en-NZ" dirty="0"/>
            <a:t>While both countries increased public debt, it didn’t reach levels some countries started the GFC with. </a:t>
          </a:r>
        </a:p>
      </dgm:t>
    </dgm:pt>
    <dgm:pt modelId="{08C6590A-CD88-4ACA-AAE4-0A5F4E097A2E}" type="parTrans" cxnId="{404181FF-D643-4DE6-9EF8-2F374BC006B2}">
      <dgm:prSet/>
      <dgm:spPr/>
      <dgm:t>
        <a:bodyPr/>
        <a:lstStyle/>
        <a:p>
          <a:endParaRPr lang="en-NZ"/>
        </a:p>
      </dgm:t>
    </dgm:pt>
    <dgm:pt modelId="{253CD272-E95A-4682-9EFA-E35DF241E666}" type="sibTrans" cxnId="{404181FF-D643-4DE6-9EF8-2F374BC006B2}">
      <dgm:prSet/>
      <dgm:spPr/>
      <dgm:t>
        <a:bodyPr/>
        <a:lstStyle/>
        <a:p>
          <a:endParaRPr lang="en-NZ"/>
        </a:p>
      </dgm:t>
    </dgm:pt>
    <dgm:pt modelId="{CCFC8164-73B6-4192-A33A-89EBFAD22B41}" type="pres">
      <dgm:prSet presAssocID="{013EFCE3-A1C1-42B2-83D6-2004C49F519B}" presName="vert0" presStyleCnt="0">
        <dgm:presLayoutVars>
          <dgm:dir/>
          <dgm:animOne val="branch"/>
          <dgm:animLvl val="lvl"/>
        </dgm:presLayoutVars>
      </dgm:prSet>
      <dgm:spPr/>
    </dgm:pt>
    <dgm:pt modelId="{F34C0A63-4A82-4AF3-8EF8-A907F71DA215}" type="pres">
      <dgm:prSet presAssocID="{2452827E-0BB5-4A3D-8A6B-AB41EED14C21}" presName="thickLine" presStyleLbl="alignNode1" presStyleIdx="0" presStyleCnt="4"/>
      <dgm:spPr/>
    </dgm:pt>
    <dgm:pt modelId="{3272DBA9-917B-4E4F-B814-1E731BE99C84}" type="pres">
      <dgm:prSet presAssocID="{2452827E-0BB5-4A3D-8A6B-AB41EED14C21}" presName="horz1" presStyleCnt="0"/>
      <dgm:spPr/>
    </dgm:pt>
    <dgm:pt modelId="{51E8D451-47B3-484A-803C-AF28A155E88E}" type="pres">
      <dgm:prSet presAssocID="{2452827E-0BB5-4A3D-8A6B-AB41EED14C21}" presName="tx1" presStyleLbl="revTx" presStyleIdx="0" presStyleCnt="4"/>
      <dgm:spPr/>
    </dgm:pt>
    <dgm:pt modelId="{16CDD871-897F-4107-AADB-D406250134C8}" type="pres">
      <dgm:prSet presAssocID="{2452827E-0BB5-4A3D-8A6B-AB41EED14C21}" presName="vert1" presStyleCnt="0"/>
      <dgm:spPr/>
    </dgm:pt>
    <dgm:pt modelId="{21BDEC07-1C82-4903-9718-716DF16EC619}" type="pres">
      <dgm:prSet presAssocID="{3630043D-6D20-4715-932B-B0277A2B6500}" presName="thickLine" presStyleLbl="alignNode1" presStyleIdx="1" presStyleCnt="4"/>
      <dgm:spPr/>
    </dgm:pt>
    <dgm:pt modelId="{DAC7BC22-8E2B-4EB2-9171-19495B0858BF}" type="pres">
      <dgm:prSet presAssocID="{3630043D-6D20-4715-932B-B0277A2B6500}" presName="horz1" presStyleCnt="0"/>
      <dgm:spPr/>
    </dgm:pt>
    <dgm:pt modelId="{B655BFB4-8BF9-490B-9338-6EC74AE00698}" type="pres">
      <dgm:prSet presAssocID="{3630043D-6D20-4715-932B-B0277A2B6500}" presName="tx1" presStyleLbl="revTx" presStyleIdx="1" presStyleCnt="4"/>
      <dgm:spPr/>
    </dgm:pt>
    <dgm:pt modelId="{7A93E2EF-5645-4B3F-8881-B35BC96C3107}" type="pres">
      <dgm:prSet presAssocID="{3630043D-6D20-4715-932B-B0277A2B6500}" presName="vert1" presStyleCnt="0"/>
      <dgm:spPr/>
    </dgm:pt>
    <dgm:pt modelId="{679D949B-7395-4CAE-8268-3297CE060FEC}" type="pres">
      <dgm:prSet presAssocID="{364F4B76-BA40-4664-9C99-7BDD7C79680E}" presName="thickLine" presStyleLbl="alignNode1" presStyleIdx="2" presStyleCnt="4"/>
      <dgm:spPr/>
    </dgm:pt>
    <dgm:pt modelId="{C7AB0A6A-93C5-4D0D-8E26-68706343BE13}" type="pres">
      <dgm:prSet presAssocID="{364F4B76-BA40-4664-9C99-7BDD7C79680E}" presName="horz1" presStyleCnt="0"/>
      <dgm:spPr/>
    </dgm:pt>
    <dgm:pt modelId="{4C8A9AF9-D6EA-4656-B8DF-CD83B467F3D6}" type="pres">
      <dgm:prSet presAssocID="{364F4B76-BA40-4664-9C99-7BDD7C79680E}" presName="tx1" presStyleLbl="revTx" presStyleIdx="2" presStyleCnt="4"/>
      <dgm:spPr/>
    </dgm:pt>
    <dgm:pt modelId="{79C77F63-4ECE-4A34-A6E7-9DB24F47D04D}" type="pres">
      <dgm:prSet presAssocID="{364F4B76-BA40-4664-9C99-7BDD7C79680E}" presName="vert1" presStyleCnt="0"/>
      <dgm:spPr/>
    </dgm:pt>
    <dgm:pt modelId="{41D7787A-14F2-431D-99DC-E4FDD5703337}" type="pres">
      <dgm:prSet presAssocID="{A370EECE-DFC2-439B-BA19-189103170312}" presName="thickLine" presStyleLbl="alignNode1" presStyleIdx="3" presStyleCnt="4"/>
      <dgm:spPr/>
    </dgm:pt>
    <dgm:pt modelId="{E9C6A7D1-E6A9-4BA4-86BB-1315B21CFAD9}" type="pres">
      <dgm:prSet presAssocID="{A370EECE-DFC2-439B-BA19-189103170312}" presName="horz1" presStyleCnt="0"/>
      <dgm:spPr/>
    </dgm:pt>
    <dgm:pt modelId="{8C5F8F35-DC19-4E08-86E8-E0FB28815946}" type="pres">
      <dgm:prSet presAssocID="{A370EECE-DFC2-439B-BA19-189103170312}" presName="tx1" presStyleLbl="revTx" presStyleIdx="3" presStyleCnt="4"/>
      <dgm:spPr/>
    </dgm:pt>
    <dgm:pt modelId="{E1C31AD5-3F72-4049-8B9D-2448B4FAA1E5}" type="pres">
      <dgm:prSet presAssocID="{A370EECE-DFC2-439B-BA19-189103170312}" presName="vert1" presStyleCnt="0"/>
      <dgm:spPr/>
    </dgm:pt>
  </dgm:ptLst>
  <dgm:cxnLst>
    <dgm:cxn modelId="{89471300-5339-4F31-83CB-AEDD6B83EBAB}" type="presOf" srcId="{A370EECE-DFC2-439B-BA19-189103170312}" destId="{8C5F8F35-DC19-4E08-86E8-E0FB28815946}" srcOrd="0" destOrd="0" presId="urn:microsoft.com/office/officeart/2008/layout/LinedList"/>
    <dgm:cxn modelId="{684FB942-ACCB-4D6A-BB43-D47A18A6A460}" type="presOf" srcId="{2452827E-0BB5-4A3D-8A6B-AB41EED14C21}" destId="{51E8D451-47B3-484A-803C-AF28A155E88E}" srcOrd="0" destOrd="0" presId="urn:microsoft.com/office/officeart/2008/layout/LinedList"/>
    <dgm:cxn modelId="{FBB05E47-9E83-4824-A8AD-802560EF9B56}" srcId="{013EFCE3-A1C1-42B2-83D6-2004C49F519B}" destId="{2452827E-0BB5-4A3D-8A6B-AB41EED14C21}" srcOrd="0" destOrd="0" parTransId="{FEE96837-974C-459F-AC3E-4A44C25D8DDE}" sibTransId="{52ADAD83-AB23-4191-B981-8022BC5CE0BF}"/>
    <dgm:cxn modelId="{60BB2B4A-A6B6-4AC2-A22F-0D50CEEE94CE}" type="presOf" srcId="{3630043D-6D20-4715-932B-B0277A2B6500}" destId="{B655BFB4-8BF9-490B-9338-6EC74AE00698}" srcOrd="0" destOrd="0" presId="urn:microsoft.com/office/officeart/2008/layout/LinedList"/>
    <dgm:cxn modelId="{CFCF607A-E563-4A40-9586-5674C478D42C}" type="presOf" srcId="{013EFCE3-A1C1-42B2-83D6-2004C49F519B}" destId="{CCFC8164-73B6-4192-A33A-89EBFAD22B41}" srcOrd="0" destOrd="0" presId="urn:microsoft.com/office/officeart/2008/layout/LinedList"/>
    <dgm:cxn modelId="{E8F4627A-B120-40F3-8642-37A54A8A7365}" type="presOf" srcId="{364F4B76-BA40-4664-9C99-7BDD7C79680E}" destId="{4C8A9AF9-D6EA-4656-B8DF-CD83B467F3D6}" srcOrd="0" destOrd="0" presId="urn:microsoft.com/office/officeart/2008/layout/LinedList"/>
    <dgm:cxn modelId="{7310968C-5A74-4598-B0A2-C7214B7796DB}" srcId="{013EFCE3-A1C1-42B2-83D6-2004C49F519B}" destId="{364F4B76-BA40-4664-9C99-7BDD7C79680E}" srcOrd="2" destOrd="0" parTransId="{68544BA4-09D2-4DB9-803D-66430779DE50}" sibTransId="{8AF9CA0A-824E-4FDF-BA32-CC628786C6F9}"/>
    <dgm:cxn modelId="{31ADBCC4-EC41-4C4F-B623-43CD2F722007}" srcId="{013EFCE3-A1C1-42B2-83D6-2004C49F519B}" destId="{3630043D-6D20-4715-932B-B0277A2B6500}" srcOrd="1" destOrd="0" parTransId="{1476C8A3-BFBE-48F1-A759-AD17BE362656}" sibTransId="{82BACAF0-DF8C-4362-9666-D0BADA5C544D}"/>
    <dgm:cxn modelId="{404181FF-D643-4DE6-9EF8-2F374BC006B2}" srcId="{013EFCE3-A1C1-42B2-83D6-2004C49F519B}" destId="{A370EECE-DFC2-439B-BA19-189103170312}" srcOrd="3" destOrd="0" parTransId="{08C6590A-CD88-4ACA-AAE4-0A5F4E097A2E}" sibTransId="{253CD272-E95A-4682-9EFA-E35DF241E666}"/>
    <dgm:cxn modelId="{020506B4-BBB5-40CE-8F12-C4DD925C99BF}" type="presParOf" srcId="{CCFC8164-73B6-4192-A33A-89EBFAD22B41}" destId="{F34C0A63-4A82-4AF3-8EF8-A907F71DA215}" srcOrd="0" destOrd="0" presId="urn:microsoft.com/office/officeart/2008/layout/LinedList"/>
    <dgm:cxn modelId="{40D25850-3B52-4084-85D3-6B18199AF61C}" type="presParOf" srcId="{CCFC8164-73B6-4192-A33A-89EBFAD22B41}" destId="{3272DBA9-917B-4E4F-B814-1E731BE99C84}" srcOrd="1" destOrd="0" presId="urn:microsoft.com/office/officeart/2008/layout/LinedList"/>
    <dgm:cxn modelId="{7BB8DC2F-D1A2-4810-B332-89F81A7F7703}" type="presParOf" srcId="{3272DBA9-917B-4E4F-B814-1E731BE99C84}" destId="{51E8D451-47B3-484A-803C-AF28A155E88E}" srcOrd="0" destOrd="0" presId="urn:microsoft.com/office/officeart/2008/layout/LinedList"/>
    <dgm:cxn modelId="{5DCFACF8-CD91-4B0F-811B-55EA3F73617F}" type="presParOf" srcId="{3272DBA9-917B-4E4F-B814-1E731BE99C84}" destId="{16CDD871-897F-4107-AADB-D406250134C8}" srcOrd="1" destOrd="0" presId="urn:microsoft.com/office/officeart/2008/layout/LinedList"/>
    <dgm:cxn modelId="{5EF08C1B-0798-4CFF-8990-E0F1E6F8FBC7}" type="presParOf" srcId="{CCFC8164-73B6-4192-A33A-89EBFAD22B41}" destId="{21BDEC07-1C82-4903-9718-716DF16EC619}" srcOrd="2" destOrd="0" presId="urn:microsoft.com/office/officeart/2008/layout/LinedList"/>
    <dgm:cxn modelId="{D157BD80-0630-47EC-B680-6C03AB2D4838}" type="presParOf" srcId="{CCFC8164-73B6-4192-A33A-89EBFAD22B41}" destId="{DAC7BC22-8E2B-4EB2-9171-19495B0858BF}" srcOrd="3" destOrd="0" presId="urn:microsoft.com/office/officeart/2008/layout/LinedList"/>
    <dgm:cxn modelId="{95E464FB-A75E-4403-8A30-DE6717C94030}" type="presParOf" srcId="{DAC7BC22-8E2B-4EB2-9171-19495B0858BF}" destId="{B655BFB4-8BF9-490B-9338-6EC74AE00698}" srcOrd="0" destOrd="0" presId="urn:microsoft.com/office/officeart/2008/layout/LinedList"/>
    <dgm:cxn modelId="{4520BB8D-5260-4412-901E-7DA6B91EEAA6}" type="presParOf" srcId="{DAC7BC22-8E2B-4EB2-9171-19495B0858BF}" destId="{7A93E2EF-5645-4B3F-8881-B35BC96C3107}" srcOrd="1" destOrd="0" presId="urn:microsoft.com/office/officeart/2008/layout/LinedList"/>
    <dgm:cxn modelId="{F9C34D1E-2A01-41D7-BEFD-5D7364FBE192}" type="presParOf" srcId="{CCFC8164-73B6-4192-A33A-89EBFAD22B41}" destId="{679D949B-7395-4CAE-8268-3297CE060FEC}" srcOrd="4" destOrd="0" presId="urn:microsoft.com/office/officeart/2008/layout/LinedList"/>
    <dgm:cxn modelId="{E01E6405-CE9D-4604-9306-CAF4AD80EDEE}" type="presParOf" srcId="{CCFC8164-73B6-4192-A33A-89EBFAD22B41}" destId="{C7AB0A6A-93C5-4D0D-8E26-68706343BE13}" srcOrd="5" destOrd="0" presId="urn:microsoft.com/office/officeart/2008/layout/LinedList"/>
    <dgm:cxn modelId="{234A416D-1D2C-4DB3-9373-C3584C1A1AD1}" type="presParOf" srcId="{C7AB0A6A-93C5-4D0D-8E26-68706343BE13}" destId="{4C8A9AF9-D6EA-4656-B8DF-CD83B467F3D6}" srcOrd="0" destOrd="0" presId="urn:microsoft.com/office/officeart/2008/layout/LinedList"/>
    <dgm:cxn modelId="{7945FA52-29E8-4F5F-90D1-519547F25781}" type="presParOf" srcId="{C7AB0A6A-93C5-4D0D-8E26-68706343BE13}" destId="{79C77F63-4ECE-4A34-A6E7-9DB24F47D04D}" srcOrd="1" destOrd="0" presId="urn:microsoft.com/office/officeart/2008/layout/LinedList"/>
    <dgm:cxn modelId="{AED44AAD-3E0A-4650-8760-5460285CE4D2}" type="presParOf" srcId="{CCFC8164-73B6-4192-A33A-89EBFAD22B41}" destId="{41D7787A-14F2-431D-99DC-E4FDD5703337}" srcOrd="6" destOrd="0" presId="urn:microsoft.com/office/officeart/2008/layout/LinedList"/>
    <dgm:cxn modelId="{F4AB041B-F547-4F8F-AD4E-6581FBC57423}" type="presParOf" srcId="{CCFC8164-73B6-4192-A33A-89EBFAD22B41}" destId="{E9C6A7D1-E6A9-4BA4-86BB-1315B21CFAD9}" srcOrd="7" destOrd="0" presId="urn:microsoft.com/office/officeart/2008/layout/LinedList"/>
    <dgm:cxn modelId="{5C1C7268-2218-4757-B974-A1DE15ABE0A7}" type="presParOf" srcId="{E9C6A7D1-E6A9-4BA4-86BB-1315B21CFAD9}" destId="{8C5F8F35-DC19-4E08-86E8-E0FB28815946}" srcOrd="0" destOrd="0" presId="urn:microsoft.com/office/officeart/2008/layout/LinedList"/>
    <dgm:cxn modelId="{30979537-C76F-42AD-9547-332E5EA6FEF3}" type="presParOf" srcId="{E9C6A7D1-E6A9-4BA4-86BB-1315B21CFAD9}" destId="{E1C31AD5-3F72-4049-8B9D-2448B4FAA1E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D49A62-1D59-2A49-9DB8-1E50D350A0C7}">
      <dsp:nvSpPr>
        <dsp:cNvPr id="0" name=""/>
        <dsp:cNvSpPr/>
      </dsp:nvSpPr>
      <dsp:spPr>
        <a:xfrm rot="5400000">
          <a:off x="2767529" y="-600433"/>
          <a:ext cx="1801043" cy="345228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500" kern="1200" dirty="0"/>
            <a:t>E.g. The Christchurch Earthquake (2011) led to a large loss of life and economic damage.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500" kern="1200" dirty="0"/>
            <a:t>The NZ Government and Reserve Bank responses prevented a deep or lengthy contraction.</a:t>
          </a:r>
          <a:endParaRPr lang="en-US" sz="1500" kern="1200" dirty="0"/>
        </a:p>
      </dsp:txBody>
      <dsp:txXfrm rot="-5400000">
        <a:off x="1941909" y="313107"/>
        <a:ext cx="3364363" cy="1625203"/>
      </dsp:txXfrm>
    </dsp:sp>
    <dsp:sp modelId="{F89B71E8-E583-4645-BF76-4C404A84A180}">
      <dsp:nvSpPr>
        <dsp:cNvPr id="0" name=""/>
        <dsp:cNvSpPr/>
      </dsp:nvSpPr>
      <dsp:spPr>
        <a:xfrm>
          <a:off x="0" y="56"/>
          <a:ext cx="1941909" cy="22513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 dirty="0"/>
            <a:t>Governments and Central Banks are usually able to stabilise economic shocks.</a:t>
          </a:r>
          <a:endParaRPr lang="en-US" sz="1600" kern="1200" dirty="0"/>
        </a:p>
      </dsp:txBody>
      <dsp:txXfrm>
        <a:off x="94796" y="94852"/>
        <a:ext cx="1752317" cy="2061712"/>
      </dsp:txXfrm>
    </dsp:sp>
    <dsp:sp modelId="{510075DE-6027-2346-A0DB-8E05931A1474}">
      <dsp:nvSpPr>
        <dsp:cNvPr id="0" name=""/>
        <dsp:cNvSpPr/>
      </dsp:nvSpPr>
      <dsp:spPr>
        <a:xfrm rot="5400000">
          <a:off x="2767529" y="1763435"/>
          <a:ext cx="1801043" cy="3452283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500" kern="1200"/>
            <a:t>These shocks are much harder to stabilise. </a:t>
          </a:r>
          <a:endParaRPr lang="en-US" sz="1500" kern="1200"/>
        </a:p>
      </dsp:txBody>
      <dsp:txXfrm rot="-5400000">
        <a:off x="1941909" y="2676975"/>
        <a:ext cx="3364363" cy="1625203"/>
      </dsp:txXfrm>
    </dsp:sp>
    <dsp:sp modelId="{50D0F4F9-AAA6-9242-B734-FFBF1C9E5FE1}">
      <dsp:nvSpPr>
        <dsp:cNvPr id="0" name=""/>
        <dsp:cNvSpPr/>
      </dsp:nvSpPr>
      <dsp:spPr>
        <a:xfrm>
          <a:off x="0" y="2363925"/>
          <a:ext cx="1941909" cy="22513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/>
            <a:t>Sometimes shocks create crises at regional (e.g. Asian Financial Crisis) and Global levels (e.g. Global Financial Crisis or GFC).</a:t>
          </a:r>
          <a:endParaRPr lang="en-US" sz="1600" kern="1200"/>
        </a:p>
      </dsp:txBody>
      <dsp:txXfrm>
        <a:off x="94796" y="2458721"/>
        <a:ext cx="1752317" cy="20617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5DA6D-CA0C-49B4-8B71-D7D77F9FB26E}">
      <dsp:nvSpPr>
        <dsp:cNvPr id="0" name=""/>
        <dsp:cNvSpPr/>
      </dsp:nvSpPr>
      <dsp:spPr>
        <a:xfrm>
          <a:off x="4177668" y="34624"/>
          <a:ext cx="1233289" cy="1233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b="1" kern="1200" dirty="0"/>
            <a:t>A decline in asset prices</a:t>
          </a:r>
        </a:p>
      </dsp:txBody>
      <dsp:txXfrm>
        <a:off x="4177668" y="34624"/>
        <a:ext cx="1233289" cy="1233289"/>
      </dsp:txXfrm>
    </dsp:sp>
    <dsp:sp modelId="{11C0ADDA-CA41-4C47-90B6-590CF07BF1FD}">
      <dsp:nvSpPr>
        <dsp:cNvPr id="0" name=""/>
        <dsp:cNvSpPr/>
      </dsp:nvSpPr>
      <dsp:spPr>
        <a:xfrm>
          <a:off x="1274490" y="-1298"/>
          <a:ext cx="4626519" cy="4626519"/>
        </a:xfrm>
        <a:prstGeom prst="circularArrow">
          <a:avLst>
            <a:gd name="adj1" fmla="val 5198"/>
            <a:gd name="adj2" fmla="val 335764"/>
            <a:gd name="adj3" fmla="val 21293851"/>
            <a:gd name="adj4" fmla="val 19765705"/>
            <a:gd name="adj5" fmla="val 606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EEED274-2641-4B30-A037-F6B95B05F463}">
      <dsp:nvSpPr>
        <dsp:cNvPr id="0" name=""/>
        <dsp:cNvSpPr/>
      </dsp:nvSpPr>
      <dsp:spPr>
        <a:xfrm>
          <a:off x="4923365" y="2329643"/>
          <a:ext cx="1233289" cy="1233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/>
            <a:t>Widespread insolvencies in financial institutions</a:t>
          </a:r>
        </a:p>
      </dsp:txBody>
      <dsp:txXfrm>
        <a:off x="4923365" y="2329643"/>
        <a:ext cx="1233289" cy="1233289"/>
      </dsp:txXfrm>
    </dsp:sp>
    <dsp:sp modelId="{3BA5EE5E-EFC3-440B-9F4C-EF627C09753B}">
      <dsp:nvSpPr>
        <dsp:cNvPr id="0" name=""/>
        <dsp:cNvSpPr/>
      </dsp:nvSpPr>
      <dsp:spPr>
        <a:xfrm>
          <a:off x="1274490" y="-1298"/>
          <a:ext cx="4626519" cy="4626519"/>
        </a:xfrm>
        <a:prstGeom prst="circularArrow">
          <a:avLst>
            <a:gd name="adj1" fmla="val 5198"/>
            <a:gd name="adj2" fmla="val 335764"/>
            <a:gd name="adj3" fmla="val 4015329"/>
            <a:gd name="adj4" fmla="val 2252853"/>
            <a:gd name="adj5" fmla="val 606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7B953D-98B5-4FC9-B48A-9BA0D4407FF8}">
      <dsp:nvSpPr>
        <dsp:cNvPr id="0" name=""/>
        <dsp:cNvSpPr/>
      </dsp:nvSpPr>
      <dsp:spPr>
        <a:xfrm>
          <a:off x="2971105" y="3748043"/>
          <a:ext cx="1233289" cy="1233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/>
            <a:t>A loss of confidence in financial institutions</a:t>
          </a:r>
        </a:p>
      </dsp:txBody>
      <dsp:txXfrm>
        <a:off x="2971105" y="3748043"/>
        <a:ext cx="1233289" cy="1233289"/>
      </dsp:txXfrm>
    </dsp:sp>
    <dsp:sp modelId="{46429C63-952E-4479-A8A7-1AC275A4BC02}">
      <dsp:nvSpPr>
        <dsp:cNvPr id="0" name=""/>
        <dsp:cNvSpPr/>
      </dsp:nvSpPr>
      <dsp:spPr>
        <a:xfrm>
          <a:off x="1274490" y="-1298"/>
          <a:ext cx="4626519" cy="4626519"/>
        </a:xfrm>
        <a:prstGeom prst="circularArrow">
          <a:avLst>
            <a:gd name="adj1" fmla="val 5198"/>
            <a:gd name="adj2" fmla="val 335764"/>
            <a:gd name="adj3" fmla="val 8211384"/>
            <a:gd name="adj4" fmla="val 6448907"/>
            <a:gd name="adj5" fmla="val 606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DACF8C-F476-4C43-84E5-25516B87624F}">
      <dsp:nvSpPr>
        <dsp:cNvPr id="0" name=""/>
        <dsp:cNvSpPr/>
      </dsp:nvSpPr>
      <dsp:spPr>
        <a:xfrm>
          <a:off x="1018845" y="2329643"/>
          <a:ext cx="1233289" cy="1233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/>
            <a:t>A credit-crunch</a:t>
          </a:r>
        </a:p>
      </dsp:txBody>
      <dsp:txXfrm>
        <a:off x="1018845" y="2329643"/>
        <a:ext cx="1233289" cy="1233289"/>
      </dsp:txXfrm>
    </dsp:sp>
    <dsp:sp modelId="{592A6677-3B6C-4510-A59D-23C590C02883}">
      <dsp:nvSpPr>
        <dsp:cNvPr id="0" name=""/>
        <dsp:cNvSpPr/>
      </dsp:nvSpPr>
      <dsp:spPr>
        <a:xfrm>
          <a:off x="1274490" y="-1298"/>
          <a:ext cx="4626519" cy="4626519"/>
        </a:xfrm>
        <a:prstGeom prst="circularArrow">
          <a:avLst>
            <a:gd name="adj1" fmla="val 5198"/>
            <a:gd name="adj2" fmla="val 335764"/>
            <a:gd name="adj3" fmla="val 12298531"/>
            <a:gd name="adj4" fmla="val 10770385"/>
            <a:gd name="adj5" fmla="val 606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908F0D-FA30-409F-B74C-3BEF5D0AA74D}">
      <dsp:nvSpPr>
        <dsp:cNvPr id="0" name=""/>
        <dsp:cNvSpPr/>
      </dsp:nvSpPr>
      <dsp:spPr>
        <a:xfrm>
          <a:off x="1764542" y="34624"/>
          <a:ext cx="1233289" cy="1233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/>
            <a:t>Economic downturn</a:t>
          </a:r>
        </a:p>
      </dsp:txBody>
      <dsp:txXfrm>
        <a:off x="1764542" y="34624"/>
        <a:ext cx="1233289" cy="1233289"/>
      </dsp:txXfrm>
    </dsp:sp>
    <dsp:sp modelId="{6FE77346-9A96-4014-95BB-D483B53BFAAC}">
      <dsp:nvSpPr>
        <dsp:cNvPr id="0" name=""/>
        <dsp:cNvSpPr/>
      </dsp:nvSpPr>
      <dsp:spPr>
        <a:xfrm>
          <a:off x="1274490" y="-1298"/>
          <a:ext cx="4626519" cy="4626519"/>
        </a:xfrm>
        <a:prstGeom prst="circularArrow">
          <a:avLst>
            <a:gd name="adj1" fmla="val 5198"/>
            <a:gd name="adj2" fmla="val 335764"/>
            <a:gd name="adj3" fmla="val 16866316"/>
            <a:gd name="adj4" fmla="val 15197920"/>
            <a:gd name="adj5" fmla="val 606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BF745-DB76-4CC4-B8F9-482EA24DE7AB}">
      <dsp:nvSpPr>
        <dsp:cNvPr id="0" name=""/>
        <dsp:cNvSpPr/>
      </dsp:nvSpPr>
      <dsp:spPr>
        <a:xfrm>
          <a:off x="0" y="49524"/>
          <a:ext cx="7473950" cy="1592662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000" kern="1200" dirty="0"/>
            <a:t>From 1995 house prices increased significantly </a:t>
          </a:r>
          <a:endParaRPr lang="en-US" sz="3000" kern="1200" dirty="0"/>
        </a:p>
      </dsp:txBody>
      <dsp:txXfrm>
        <a:off x="77747" y="127271"/>
        <a:ext cx="7318456" cy="1437168"/>
      </dsp:txXfrm>
    </dsp:sp>
    <dsp:sp modelId="{BCDE47A2-6D82-4415-AEFF-191347D62DC6}">
      <dsp:nvSpPr>
        <dsp:cNvPr id="0" name=""/>
        <dsp:cNvSpPr/>
      </dsp:nvSpPr>
      <dsp:spPr>
        <a:xfrm>
          <a:off x="0" y="1728587"/>
          <a:ext cx="7473950" cy="1592662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000" kern="1200" dirty="0"/>
            <a:t>From 1996-2006 real house prices rose 80% in the USA, 110% in France and 185% in the UK.</a:t>
          </a:r>
          <a:endParaRPr lang="en-US" sz="3000" kern="1200" dirty="0"/>
        </a:p>
      </dsp:txBody>
      <dsp:txXfrm>
        <a:off x="77747" y="1806334"/>
        <a:ext cx="7318456" cy="1437168"/>
      </dsp:txXfrm>
    </dsp:sp>
    <dsp:sp modelId="{23F1A9DF-6877-4BFE-85F5-7FEEC066ECD4}">
      <dsp:nvSpPr>
        <dsp:cNvPr id="0" name=""/>
        <dsp:cNvSpPr/>
      </dsp:nvSpPr>
      <dsp:spPr>
        <a:xfrm>
          <a:off x="0" y="3407649"/>
          <a:ext cx="7473950" cy="1592662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000" kern="1200" dirty="0"/>
            <a:t>What were the factors behind it?</a:t>
          </a:r>
          <a:endParaRPr lang="en-US" sz="3000" kern="1200" dirty="0"/>
        </a:p>
      </dsp:txBody>
      <dsp:txXfrm>
        <a:off x="77747" y="3485396"/>
        <a:ext cx="7318456" cy="14371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D03FD-675A-4559-9EDF-335BEE4FBAEE}">
      <dsp:nvSpPr>
        <dsp:cNvPr id="0" name=""/>
        <dsp:cNvSpPr/>
      </dsp:nvSpPr>
      <dsp:spPr>
        <a:xfrm>
          <a:off x="240907" y="2018"/>
          <a:ext cx="4699784" cy="11749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5200" kern="1200"/>
            <a:t>Leverage Ratio</a:t>
          </a:r>
        </a:p>
      </dsp:txBody>
      <dsp:txXfrm>
        <a:off x="275320" y="36431"/>
        <a:ext cx="4630958" cy="1106120"/>
      </dsp:txXfrm>
    </dsp:sp>
    <dsp:sp modelId="{22ADD498-4E50-4D5D-9DC4-9F9578159448}">
      <dsp:nvSpPr>
        <dsp:cNvPr id="0" name=""/>
        <dsp:cNvSpPr/>
      </dsp:nvSpPr>
      <dsp:spPr>
        <a:xfrm rot="5400000">
          <a:off x="2487992" y="1279772"/>
          <a:ext cx="205615" cy="205615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22B5C-3153-48C4-B8B8-00E8B1AEF39A}">
      <dsp:nvSpPr>
        <dsp:cNvPr id="0" name=""/>
        <dsp:cNvSpPr/>
      </dsp:nvSpPr>
      <dsp:spPr>
        <a:xfrm>
          <a:off x="240907" y="1588195"/>
          <a:ext cx="4699784" cy="117494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/>
            <a:t>The proportion of debt relative to the equity the home-owner has.</a:t>
          </a:r>
        </a:p>
      </dsp:txBody>
      <dsp:txXfrm>
        <a:off x="275320" y="1622608"/>
        <a:ext cx="4630958" cy="1106120"/>
      </dsp:txXfrm>
    </dsp:sp>
    <dsp:sp modelId="{B2139D4A-973F-44F9-B941-636D1C18462E}">
      <dsp:nvSpPr>
        <dsp:cNvPr id="0" name=""/>
        <dsp:cNvSpPr/>
      </dsp:nvSpPr>
      <dsp:spPr>
        <a:xfrm rot="5400000">
          <a:off x="2487992" y="2865949"/>
          <a:ext cx="205615" cy="205615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3AFB5F-C1E6-4D99-971F-2D8EF78CC729}">
      <dsp:nvSpPr>
        <dsp:cNvPr id="0" name=""/>
        <dsp:cNvSpPr/>
      </dsp:nvSpPr>
      <dsp:spPr>
        <a:xfrm>
          <a:off x="240907" y="3174373"/>
          <a:ext cx="4699784" cy="117494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/>
            <a:t>If your leverage ratio was 8:1, you could borrow $8 for every $1 of equity you had.  </a:t>
          </a:r>
        </a:p>
      </dsp:txBody>
      <dsp:txXfrm>
        <a:off x="275320" y="3208786"/>
        <a:ext cx="4630958" cy="11061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85FC49-1B6A-4419-9E67-76948B63D945}">
      <dsp:nvSpPr>
        <dsp:cNvPr id="0" name=""/>
        <dsp:cNvSpPr/>
      </dsp:nvSpPr>
      <dsp:spPr>
        <a:xfrm>
          <a:off x="867687" y="239"/>
          <a:ext cx="3446225" cy="8615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500" kern="1200"/>
            <a:t>Return to Equity</a:t>
          </a:r>
        </a:p>
      </dsp:txBody>
      <dsp:txXfrm>
        <a:off x="892921" y="25473"/>
        <a:ext cx="3395757" cy="811088"/>
      </dsp:txXfrm>
    </dsp:sp>
    <dsp:sp modelId="{FB9BCBE1-48BF-40EA-9BCA-0B0444DFCA77}">
      <dsp:nvSpPr>
        <dsp:cNvPr id="0" name=""/>
        <dsp:cNvSpPr/>
      </dsp:nvSpPr>
      <dsp:spPr>
        <a:xfrm rot="5400000">
          <a:off x="2515413" y="937181"/>
          <a:ext cx="150772" cy="150772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E2D05-666F-436B-81DE-E7E1C0248317}">
      <dsp:nvSpPr>
        <dsp:cNvPr id="0" name=""/>
        <dsp:cNvSpPr/>
      </dsp:nvSpPr>
      <dsp:spPr>
        <a:xfrm>
          <a:off x="867687" y="1163340"/>
          <a:ext cx="3446225" cy="86155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/>
            <a:t>The equity is the amount of money the home-owner has paid.</a:t>
          </a:r>
        </a:p>
      </dsp:txBody>
      <dsp:txXfrm>
        <a:off x="892921" y="1188574"/>
        <a:ext cx="3395757" cy="811088"/>
      </dsp:txXfrm>
    </dsp:sp>
    <dsp:sp modelId="{FB4B6FC5-E58B-4D9B-A0FD-72CD1CFA1857}">
      <dsp:nvSpPr>
        <dsp:cNvPr id="0" name=""/>
        <dsp:cNvSpPr/>
      </dsp:nvSpPr>
      <dsp:spPr>
        <a:xfrm rot="5400000">
          <a:off x="2515413" y="2100282"/>
          <a:ext cx="150772" cy="150772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D247E0-99FF-4207-85C3-5F06C3D4A5DA}">
      <dsp:nvSpPr>
        <dsp:cNvPr id="0" name=""/>
        <dsp:cNvSpPr/>
      </dsp:nvSpPr>
      <dsp:spPr>
        <a:xfrm>
          <a:off x="867687" y="2326441"/>
          <a:ext cx="3446225" cy="86155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/>
            <a:t>The return to equity is:</a:t>
          </a:r>
        </a:p>
      </dsp:txBody>
      <dsp:txXfrm>
        <a:off x="892921" y="2351675"/>
        <a:ext cx="3395757" cy="811088"/>
      </dsp:txXfrm>
    </dsp:sp>
    <dsp:sp modelId="{8A829ABB-E7EF-4DB1-85F3-81684E474763}">
      <dsp:nvSpPr>
        <dsp:cNvPr id="0" name=""/>
        <dsp:cNvSpPr/>
      </dsp:nvSpPr>
      <dsp:spPr>
        <a:xfrm rot="5400000">
          <a:off x="2515413" y="3263383"/>
          <a:ext cx="150772" cy="150772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D6D431-55FE-4F03-A3FC-BE504B1EA574}">
      <dsp:nvSpPr>
        <dsp:cNvPr id="0" name=""/>
        <dsp:cNvSpPr/>
      </dsp:nvSpPr>
      <dsp:spPr>
        <a:xfrm>
          <a:off x="867687" y="3489542"/>
          <a:ext cx="3446225" cy="86155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f>
                  <m:fPr>
                    <m:ctrlPr>
                      <a:rPr lang="en-NZ" sz="1800" i="1" kern="1200" smtClean="0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NZ" sz="1800" b="0" i="1" kern="1200">
                        <a:latin typeface="Cambria Math" panose="02040503050406030204" pitchFamily="18" charset="0"/>
                      </a:rPr>
                      <m:t>𝑐h𝑎𝑛𝑔𝑒</m:t>
                    </m:r>
                    <m:r>
                      <a:rPr lang="en-NZ" sz="1800" b="0" i="1" kern="1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sz="1800" b="0" i="1" kern="120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NZ" sz="1800" b="0" i="1" kern="1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sz="1800" b="0" i="1" kern="120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NZ" sz="1800" b="0" i="1" kern="1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sz="1800" b="0" i="1" kern="120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NZ" sz="1800" b="0" i="1" kern="1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sz="1800" b="0" i="1" kern="1200">
                        <a:latin typeface="Cambria Math" panose="02040503050406030204" pitchFamily="18" charset="0"/>
                      </a:rPr>
                      <m:t>h𝑜𝑢𝑠𝑒</m:t>
                    </m:r>
                  </m:num>
                  <m:den>
                    <m:r>
                      <a:rPr lang="en-NZ" sz="1800" b="0" i="1" kern="1200">
                        <a:latin typeface="Cambria Math" panose="02040503050406030204" pitchFamily="18" charset="0"/>
                      </a:rPr>
                      <m:t>𝑒𝑞𝑢𝑖𝑡𝑦</m:t>
                    </m:r>
                    <m:r>
                      <a:rPr lang="en-NZ" sz="1800" b="0" i="1" kern="1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sz="1800" b="0" i="1" kern="1200">
                        <a:latin typeface="Cambria Math" panose="02040503050406030204" pitchFamily="18" charset="0"/>
                      </a:rPr>
                      <m:t>𝑝𝑎𝑖𝑑</m:t>
                    </m:r>
                  </m:den>
                </m:f>
              </m:oMath>
            </m:oMathPara>
          </a14:m>
          <a:endParaRPr lang="en-NZ" sz="1800" kern="1200"/>
        </a:p>
      </dsp:txBody>
      <dsp:txXfrm>
        <a:off x="892921" y="3514776"/>
        <a:ext cx="3395757" cy="8110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601326-D190-4980-8D83-F05E24CE83DD}">
      <dsp:nvSpPr>
        <dsp:cNvPr id="0" name=""/>
        <dsp:cNvSpPr/>
      </dsp:nvSpPr>
      <dsp:spPr>
        <a:xfrm>
          <a:off x="0" y="7581"/>
          <a:ext cx="10515600" cy="1310400"/>
        </a:xfrm>
        <a:prstGeom prst="roundRect">
          <a:avLst/>
        </a:prstGeom>
        <a:solidFill>
          <a:schemeClr val="accent4">
            <a:lumMod val="9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5600" b="0" kern="1200" dirty="0"/>
            <a:t>Household Expectations</a:t>
          </a:r>
        </a:p>
      </dsp:txBody>
      <dsp:txXfrm>
        <a:off x="63968" y="71549"/>
        <a:ext cx="10387664" cy="11824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33EF0F-3591-442E-BEE1-E3EB6482C812}">
      <dsp:nvSpPr>
        <dsp:cNvPr id="0" name=""/>
        <dsp:cNvSpPr/>
      </dsp:nvSpPr>
      <dsp:spPr>
        <a:xfrm>
          <a:off x="867687" y="239"/>
          <a:ext cx="3446225" cy="861556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If house prices are expected to rise, households increase their borrowing.</a:t>
          </a:r>
        </a:p>
      </dsp:txBody>
      <dsp:txXfrm>
        <a:off x="892921" y="25473"/>
        <a:ext cx="3395757" cy="811088"/>
      </dsp:txXfrm>
    </dsp:sp>
    <dsp:sp modelId="{FECA6FB8-86EE-4535-B406-4E8F5FAB4049}">
      <dsp:nvSpPr>
        <dsp:cNvPr id="0" name=""/>
        <dsp:cNvSpPr/>
      </dsp:nvSpPr>
      <dsp:spPr>
        <a:xfrm rot="5400000">
          <a:off x="2515413" y="937181"/>
          <a:ext cx="150772" cy="150772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B5DFD-2EAE-4BED-A8C1-CEE7E7FD2F9C}">
      <dsp:nvSpPr>
        <dsp:cNvPr id="0" name=""/>
        <dsp:cNvSpPr/>
      </dsp:nvSpPr>
      <dsp:spPr>
        <a:xfrm>
          <a:off x="867687" y="1163340"/>
          <a:ext cx="3446225" cy="861556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  <a:alpha val="90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/>
            <a:t>If a house costs $200k and household pays $20k, its leverage ratio is 200/20 or 10</a:t>
          </a:r>
        </a:p>
      </dsp:txBody>
      <dsp:txXfrm>
        <a:off x="892921" y="1188574"/>
        <a:ext cx="3395757" cy="811088"/>
      </dsp:txXfrm>
    </dsp:sp>
    <dsp:sp modelId="{E2FA7ED5-8D3A-4325-8EF4-F1AB70729AA8}">
      <dsp:nvSpPr>
        <dsp:cNvPr id="0" name=""/>
        <dsp:cNvSpPr/>
      </dsp:nvSpPr>
      <dsp:spPr>
        <a:xfrm rot="5400000">
          <a:off x="2515413" y="2100282"/>
          <a:ext cx="150772" cy="150772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192CD-1C55-4EB6-9010-1AE3BDAF7EFF}">
      <dsp:nvSpPr>
        <dsp:cNvPr id="0" name=""/>
        <dsp:cNvSpPr/>
      </dsp:nvSpPr>
      <dsp:spPr>
        <a:xfrm>
          <a:off x="867687" y="2326441"/>
          <a:ext cx="3446225" cy="861556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  <a:alpha val="90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/>
            <a:t>If house rises to $220k, the return to equity is 100%</a:t>
          </a:r>
        </a:p>
      </dsp:txBody>
      <dsp:txXfrm>
        <a:off x="892921" y="2351675"/>
        <a:ext cx="3395757" cy="811088"/>
      </dsp:txXfrm>
    </dsp:sp>
    <dsp:sp modelId="{1FC70BB0-CC86-438A-A923-0687C736AD3C}">
      <dsp:nvSpPr>
        <dsp:cNvPr id="0" name=""/>
        <dsp:cNvSpPr/>
      </dsp:nvSpPr>
      <dsp:spPr>
        <a:xfrm rot="5400000">
          <a:off x="2515413" y="3263383"/>
          <a:ext cx="150772" cy="150772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E26CF-854C-4495-81B9-9628F00B911E}">
      <dsp:nvSpPr>
        <dsp:cNvPr id="0" name=""/>
        <dsp:cNvSpPr/>
      </dsp:nvSpPr>
      <dsp:spPr>
        <a:xfrm>
          <a:off x="867687" y="3489542"/>
          <a:ext cx="3446225" cy="861556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  <a:alpha val="90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/>
            <a:t>Household has more collateral </a:t>
          </a:r>
        </a:p>
      </dsp:txBody>
      <dsp:txXfrm>
        <a:off x="892921" y="3514776"/>
        <a:ext cx="3395757" cy="8110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E22B27-7BA5-41E5-BE34-FFF4737D30BE}">
      <dsp:nvSpPr>
        <dsp:cNvPr id="0" name=""/>
        <dsp:cNvSpPr/>
      </dsp:nvSpPr>
      <dsp:spPr>
        <a:xfrm>
          <a:off x="1895028" y="1238"/>
          <a:ext cx="1391542" cy="13915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House prices rise</a:t>
          </a:r>
        </a:p>
      </dsp:txBody>
      <dsp:txXfrm>
        <a:off x="2098815" y="205025"/>
        <a:ext cx="983968" cy="983968"/>
      </dsp:txXfrm>
    </dsp:sp>
    <dsp:sp modelId="{745B33BF-A4EA-4B5A-BD4A-BD04B0D3AA0B}">
      <dsp:nvSpPr>
        <dsp:cNvPr id="0" name=""/>
        <dsp:cNvSpPr/>
      </dsp:nvSpPr>
      <dsp:spPr>
        <a:xfrm rot="2700000">
          <a:off x="3137316" y="1194096"/>
          <a:ext cx="370786" cy="469645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200" kern="1200"/>
        </a:p>
      </dsp:txBody>
      <dsp:txXfrm>
        <a:off x="3153606" y="1248697"/>
        <a:ext cx="259550" cy="281787"/>
      </dsp:txXfrm>
    </dsp:sp>
    <dsp:sp modelId="{89016C18-F9BC-4E7F-B329-589D89B90514}">
      <dsp:nvSpPr>
        <dsp:cNvPr id="0" name=""/>
        <dsp:cNvSpPr/>
      </dsp:nvSpPr>
      <dsp:spPr>
        <a:xfrm>
          <a:off x="3373687" y="1479897"/>
          <a:ext cx="1391542" cy="13915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Equity in house increases</a:t>
          </a:r>
        </a:p>
      </dsp:txBody>
      <dsp:txXfrm>
        <a:off x="3577474" y="1683684"/>
        <a:ext cx="983968" cy="983968"/>
      </dsp:txXfrm>
    </dsp:sp>
    <dsp:sp modelId="{74E36B28-8A09-4C5E-AF4C-1F24AB3B3F53}">
      <dsp:nvSpPr>
        <dsp:cNvPr id="0" name=""/>
        <dsp:cNvSpPr/>
      </dsp:nvSpPr>
      <dsp:spPr>
        <a:xfrm rot="8100000">
          <a:off x="3152156" y="2672755"/>
          <a:ext cx="370786" cy="469645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200" kern="1200"/>
        </a:p>
      </dsp:txBody>
      <dsp:txXfrm rot="10800000">
        <a:off x="3247102" y="2727356"/>
        <a:ext cx="259550" cy="281787"/>
      </dsp:txXfrm>
    </dsp:sp>
    <dsp:sp modelId="{2950855F-BF17-41E1-8378-69955CCCA3E7}">
      <dsp:nvSpPr>
        <dsp:cNvPr id="0" name=""/>
        <dsp:cNvSpPr/>
      </dsp:nvSpPr>
      <dsp:spPr>
        <a:xfrm>
          <a:off x="1895028" y="2958556"/>
          <a:ext cx="1391542" cy="13915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 dirty="0"/>
            <a:t>Value of collateral rises</a:t>
          </a:r>
        </a:p>
      </dsp:txBody>
      <dsp:txXfrm>
        <a:off x="2098815" y="3162343"/>
        <a:ext cx="983968" cy="983968"/>
      </dsp:txXfrm>
    </dsp:sp>
    <dsp:sp modelId="{6AD88E73-25ED-42AD-84C0-A02FD6D30196}">
      <dsp:nvSpPr>
        <dsp:cNvPr id="0" name=""/>
        <dsp:cNvSpPr/>
      </dsp:nvSpPr>
      <dsp:spPr>
        <a:xfrm rot="13500000">
          <a:off x="1673497" y="2687596"/>
          <a:ext cx="370786" cy="469645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200" kern="1200"/>
        </a:p>
      </dsp:txBody>
      <dsp:txXfrm rot="10800000">
        <a:off x="1768443" y="2820853"/>
        <a:ext cx="259550" cy="281787"/>
      </dsp:txXfrm>
    </dsp:sp>
    <dsp:sp modelId="{B94156C5-BA31-49E3-AAD7-EA5CCAFE965F}">
      <dsp:nvSpPr>
        <dsp:cNvPr id="0" name=""/>
        <dsp:cNvSpPr/>
      </dsp:nvSpPr>
      <dsp:spPr>
        <a:xfrm>
          <a:off x="416369" y="1479897"/>
          <a:ext cx="1391542" cy="13915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 dirty="0"/>
            <a:t>Borrowing rises</a:t>
          </a:r>
        </a:p>
      </dsp:txBody>
      <dsp:txXfrm>
        <a:off x="620156" y="1683684"/>
        <a:ext cx="983968" cy="983968"/>
      </dsp:txXfrm>
    </dsp:sp>
    <dsp:sp modelId="{6FCDC007-93E7-4D99-87EA-ADF8B574781E}">
      <dsp:nvSpPr>
        <dsp:cNvPr id="0" name=""/>
        <dsp:cNvSpPr/>
      </dsp:nvSpPr>
      <dsp:spPr>
        <a:xfrm rot="18900000">
          <a:off x="1658656" y="1208936"/>
          <a:ext cx="370786" cy="469645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200" kern="1200"/>
        </a:p>
      </dsp:txBody>
      <dsp:txXfrm>
        <a:off x="1674946" y="1342193"/>
        <a:ext cx="259550" cy="2817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CA56F6-C7FD-4C8D-A034-ED8036890075}">
      <dsp:nvSpPr>
        <dsp:cNvPr id="0" name=""/>
        <dsp:cNvSpPr/>
      </dsp:nvSpPr>
      <dsp:spPr>
        <a:xfrm>
          <a:off x="0" y="42681"/>
          <a:ext cx="10515600" cy="1240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5300" b="0" kern="1200"/>
            <a:t>Causes behind the asset bubble</a:t>
          </a:r>
        </a:p>
      </dsp:txBody>
      <dsp:txXfrm>
        <a:off x="60542" y="103223"/>
        <a:ext cx="10394516" cy="11191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566C6-2001-420A-A06C-3CA9B5B9DE6A}">
      <dsp:nvSpPr>
        <dsp:cNvPr id="0" name=""/>
        <dsp:cNvSpPr/>
      </dsp:nvSpPr>
      <dsp:spPr>
        <a:xfrm>
          <a:off x="0" y="589250"/>
          <a:ext cx="10515600" cy="876487"/>
        </a:xfrm>
        <a:prstGeom prst="rect">
          <a:avLst/>
        </a:prstGeom>
        <a:solidFill>
          <a:schemeClr val="tx2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37388" rIns="81612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100" kern="1200"/>
            <a:t>Household debt in US rose to 135% prior to the crisis (Figure 17.9)</a:t>
          </a:r>
          <a:endParaRPr lang="en-US" sz="2100" kern="1200"/>
        </a:p>
      </dsp:txBody>
      <dsp:txXfrm>
        <a:off x="0" y="589250"/>
        <a:ext cx="10515600" cy="876487"/>
      </dsp:txXfrm>
    </dsp:sp>
    <dsp:sp modelId="{1C90B0C7-BD5F-47C1-AB51-4C19347F52B6}">
      <dsp:nvSpPr>
        <dsp:cNvPr id="0" name=""/>
        <dsp:cNvSpPr/>
      </dsp:nvSpPr>
      <dsp:spPr>
        <a:xfrm>
          <a:off x="525780" y="279290"/>
          <a:ext cx="736092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100" kern="1200"/>
            <a:t>Households borrowed to sustain house-price increases</a:t>
          </a:r>
          <a:endParaRPr lang="en-US" sz="2100" kern="1200"/>
        </a:p>
      </dsp:txBody>
      <dsp:txXfrm>
        <a:off x="556042" y="309552"/>
        <a:ext cx="7300396" cy="559396"/>
      </dsp:txXfrm>
    </dsp:sp>
    <dsp:sp modelId="{52ACB143-0D4E-4F66-B23A-5C83C337ABBE}">
      <dsp:nvSpPr>
        <dsp:cNvPr id="0" name=""/>
        <dsp:cNvSpPr/>
      </dsp:nvSpPr>
      <dsp:spPr>
        <a:xfrm>
          <a:off x="0" y="1889097"/>
          <a:ext cx="10515600" cy="2182950"/>
        </a:xfrm>
        <a:prstGeom prst="rect">
          <a:avLst/>
        </a:prstGeom>
        <a:solidFill>
          <a:schemeClr val="tx2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37388" rIns="81612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100" kern="1200"/>
            <a:t>Banks extended more loans expecting house-prices to rise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100" kern="1200"/>
            <a:t>Financial innovation led to new financial instruments based on mortgage securitisation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100" kern="1200"/>
            <a:t>This expanded the lending to subprime borrowers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100" kern="1200"/>
            <a:t>Subprime borrowers are riskier as they have less assets and income</a:t>
          </a:r>
          <a:endParaRPr lang="en-US" sz="2100" kern="1200"/>
        </a:p>
      </dsp:txBody>
      <dsp:txXfrm>
        <a:off x="0" y="1889097"/>
        <a:ext cx="10515600" cy="2182950"/>
      </dsp:txXfrm>
    </dsp:sp>
    <dsp:sp modelId="{395AC6AE-0281-4721-B61D-1FF47B31D6AF}">
      <dsp:nvSpPr>
        <dsp:cNvPr id="0" name=""/>
        <dsp:cNvSpPr/>
      </dsp:nvSpPr>
      <dsp:spPr>
        <a:xfrm>
          <a:off x="525780" y="1579137"/>
          <a:ext cx="736092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100" kern="1200"/>
            <a:t>Financial deregulation and financial innovation</a:t>
          </a:r>
          <a:endParaRPr lang="en-US" sz="2100" kern="1200"/>
        </a:p>
      </dsp:txBody>
      <dsp:txXfrm>
        <a:off x="556042" y="1609399"/>
        <a:ext cx="7300396" cy="55939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2B4C1C-F690-4681-A920-440CE3CE8700}">
      <dsp:nvSpPr>
        <dsp:cNvPr id="0" name=""/>
        <dsp:cNvSpPr/>
      </dsp:nvSpPr>
      <dsp:spPr>
        <a:xfrm>
          <a:off x="0" y="3275482"/>
          <a:ext cx="5181600" cy="10750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/>
            <a:t>They must repay these deposits on demand.  </a:t>
          </a:r>
        </a:p>
      </dsp:txBody>
      <dsp:txXfrm>
        <a:off x="0" y="3275482"/>
        <a:ext cx="5181600" cy="1075086"/>
      </dsp:txXfrm>
    </dsp:sp>
    <dsp:sp modelId="{EF516E91-BEE2-4C92-8EAB-E255FC89792B}">
      <dsp:nvSpPr>
        <dsp:cNvPr id="0" name=""/>
        <dsp:cNvSpPr/>
      </dsp:nvSpPr>
      <dsp:spPr>
        <a:xfrm rot="10800000">
          <a:off x="0" y="1638125"/>
          <a:ext cx="5181600" cy="1653482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/>
            <a:t>All their deposits are debt.</a:t>
          </a:r>
        </a:p>
      </dsp:txBody>
      <dsp:txXfrm rot="10800000">
        <a:off x="0" y="1638125"/>
        <a:ext cx="5181600" cy="1074383"/>
      </dsp:txXfrm>
    </dsp:sp>
    <dsp:sp modelId="{9BA16D36-14E9-41F6-8D18-50C39B68FE33}">
      <dsp:nvSpPr>
        <dsp:cNvPr id="0" name=""/>
        <dsp:cNvSpPr/>
      </dsp:nvSpPr>
      <dsp:spPr>
        <a:xfrm rot="10800000">
          <a:off x="0" y="769"/>
          <a:ext cx="5181600" cy="1653482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900" kern="1200"/>
            <a:t>Banks (and related Financial Intermediaries) have, compared to other firms, very high levels of debt.</a:t>
          </a:r>
        </a:p>
      </dsp:txBody>
      <dsp:txXfrm rot="10800000">
        <a:off x="0" y="769"/>
        <a:ext cx="5181600" cy="107438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778A7B-E8C1-4C0C-A00E-C16FA99D1F59}">
      <dsp:nvSpPr>
        <dsp:cNvPr id="0" name=""/>
        <dsp:cNvSpPr/>
      </dsp:nvSpPr>
      <dsp:spPr>
        <a:xfrm>
          <a:off x="0" y="0"/>
          <a:ext cx="4404360" cy="1305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 dirty="0"/>
            <a:t>Banks take many </a:t>
          </a:r>
          <a:r>
            <a:rPr lang="en-NZ" sz="2000" kern="1200" dirty="0">
              <a:solidFill>
                <a:srgbClr val="FF0000"/>
              </a:solidFill>
            </a:rPr>
            <a:t>small</a:t>
          </a:r>
          <a:r>
            <a:rPr lang="en-NZ" sz="2000" kern="1200" dirty="0"/>
            <a:t> deposits and convert them into </a:t>
          </a:r>
          <a:r>
            <a:rPr lang="en-NZ" sz="2000" kern="1200" dirty="0">
              <a:solidFill>
                <a:srgbClr val="FF0000"/>
              </a:solidFill>
            </a:rPr>
            <a:t>larger</a:t>
          </a:r>
          <a:r>
            <a:rPr lang="en-NZ" sz="2000" kern="1200" dirty="0"/>
            <a:t>, long-term loans.</a:t>
          </a:r>
        </a:p>
      </dsp:txBody>
      <dsp:txXfrm>
        <a:off x="38234" y="38234"/>
        <a:ext cx="2995729" cy="1228933"/>
      </dsp:txXfrm>
    </dsp:sp>
    <dsp:sp modelId="{74EC206E-4AEF-40AC-8620-12ECB53AD6DD}">
      <dsp:nvSpPr>
        <dsp:cNvPr id="0" name=""/>
        <dsp:cNvSpPr/>
      </dsp:nvSpPr>
      <dsp:spPr>
        <a:xfrm>
          <a:off x="388619" y="1522968"/>
          <a:ext cx="4404360" cy="1305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They must pay interest on their deposits (cost).</a:t>
          </a:r>
        </a:p>
      </dsp:txBody>
      <dsp:txXfrm>
        <a:off x="426853" y="1561202"/>
        <a:ext cx="3090761" cy="1228933"/>
      </dsp:txXfrm>
    </dsp:sp>
    <dsp:sp modelId="{CE095796-3789-43BA-B387-91DBD9A7C961}">
      <dsp:nvSpPr>
        <dsp:cNvPr id="0" name=""/>
        <dsp:cNvSpPr/>
      </dsp:nvSpPr>
      <dsp:spPr>
        <a:xfrm>
          <a:off x="777239" y="3045936"/>
          <a:ext cx="4404360" cy="13054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Their revenue comes from the interest on their loans.</a:t>
          </a:r>
        </a:p>
      </dsp:txBody>
      <dsp:txXfrm>
        <a:off x="815473" y="3084170"/>
        <a:ext cx="3090761" cy="1228933"/>
      </dsp:txXfrm>
    </dsp:sp>
    <dsp:sp modelId="{B09AFB72-4EAC-4128-95C8-692A52008B94}">
      <dsp:nvSpPr>
        <dsp:cNvPr id="0" name=""/>
        <dsp:cNvSpPr/>
      </dsp:nvSpPr>
      <dsp:spPr>
        <a:xfrm>
          <a:off x="35558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600" kern="1200"/>
        </a:p>
      </dsp:txBody>
      <dsp:txXfrm>
        <a:off x="3746764" y="989929"/>
        <a:ext cx="466680" cy="638504"/>
      </dsp:txXfrm>
    </dsp:sp>
    <dsp:sp modelId="{2043048A-0CEE-4BB6-A9A9-A46A3B986269}">
      <dsp:nvSpPr>
        <dsp:cNvPr id="0" name=""/>
        <dsp:cNvSpPr/>
      </dsp:nvSpPr>
      <dsp:spPr>
        <a:xfrm>
          <a:off x="394446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600" kern="1200"/>
        </a:p>
      </dsp:txBody>
      <dsp:txXfrm>
        <a:off x="4135384" y="2504195"/>
        <a:ext cx="466680" cy="63850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DB3AE9-D1B2-4282-A954-195D8E083EDE}">
      <dsp:nvSpPr>
        <dsp:cNvPr id="0" name=""/>
        <dsp:cNvSpPr/>
      </dsp:nvSpPr>
      <dsp:spPr>
        <a:xfrm>
          <a:off x="0" y="4085970"/>
          <a:ext cx="7175500" cy="893910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If the collateral loses value and loan repayments drop, the FI can quickly become insolvent. </a:t>
          </a:r>
          <a:endParaRPr lang="en-NZ" sz="2100" kern="1200" dirty="0"/>
        </a:p>
      </dsp:txBody>
      <dsp:txXfrm>
        <a:off x="0" y="4085970"/>
        <a:ext cx="7175500" cy="893910"/>
      </dsp:txXfrm>
    </dsp:sp>
    <dsp:sp modelId="{354ED365-2131-4E84-9518-B328CB4E1E51}">
      <dsp:nvSpPr>
        <dsp:cNvPr id="0" name=""/>
        <dsp:cNvSpPr/>
      </dsp:nvSpPr>
      <dsp:spPr>
        <a:xfrm rot="10800000">
          <a:off x="0" y="2724545"/>
          <a:ext cx="7175500" cy="1374834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If the collateral and loan repayments exceed the deposits the FI is solvent.</a:t>
          </a:r>
          <a:endParaRPr lang="en-NZ" sz="2100" kern="1200" dirty="0"/>
        </a:p>
      </dsp:txBody>
      <dsp:txXfrm rot="10800000">
        <a:off x="0" y="2724545"/>
        <a:ext cx="7175500" cy="893326"/>
      </dsp:txXfrm>
    </dsp:sp>
    <dsp:sp modelId="{75AD0CD4-28A7-43A7-AF62-25104BB84A63}">
      <dsp:nvSpPr>
        <dsp:cNvPr id="0" name=""/>
        <dsp:cNvSpPr/>
      </dsp:nvSpPr>
      <dsp:spPr>
        <a:xfrm rot="10800000">
          <a:off x="0" y="1363119"/>
          <a:ext cx="7175500" cy="1374834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If loans cannot be repaid, the FI liquidates collateral to repay their </a:t>
          </a:r>
          <a:r>
            <a:rPr lang="en-US" sz="2100" kern="1200" dirty="0" err="1"/>
            <a:t>depositers</a:t>
          </a:r>
          <a:r>
            <a:rPr lang="en-US" sz="2100" kern="1200" dirty="0"/>
            <a:t>.</a:t>
          </a:r>
          <a:endParaRPr lang="en-NZ" sz="2100" kern="1200" dirty="0"/>
        </a:p>
      </dsp:txBody>
      <dsp:txXfrm rot="10800000">
        <a:off x="0" y="1363119"/>
        <a:ext cx="7175500" cy="893326"/>
      </dsp:txXfrm>
    </dsp:sp>
    <dsp:sp modelId="{A9DE6900-EE9C-4611-8EF5-6126515806C5}">
      <dsp:nvSpPr>
        <dsp:cNvPr id="0" name=""/>
        <dsp:cNvSpPr/>
      </dsp:nvSpPr>
      <dsp:spPr>
        <a:xfrm rot="10800000">
          <a:off x="0" y="1693"/>
          <a:ext cx="7175500" cy="1374834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Loan repayments (interest) fund the depositors (debt owners) interest payments.</a:t>
          </a:r>
          <a:endParaRPr lang="en-NZ" sz="2100" kern="1200" dirty="0"/>
        </a:p>
      </dsp:txBody>
      <dsp:txXfrm rot="10800000">
        <a:off x="0" y="1693"/>
        <a:ext cx="7175500" cy="89332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C2BED-935F-4233-8322-1C683460EC28}">
      <dsp:nvSpPr>
        <dsp:cNvPr id="0" name=""/>
        <dsp:cNvSpPr/>
      </dsp:nvSpPr>
      <dsp:spPr>
        <a:xfrm>
          <a:off x="0" y="2067"/>
          <a:ext cx="7175500" cy="104788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3B0414-2287-4127-B92D-67A804022A35}">
      <dsp:nvSpPr>
        <dsp:cNvPr id="0" name=""/>
        <dsp:cNvSpPr/>
      </dsp:nvSpPr>
      <dsp:spPr>
        <a:xfrm>
          <a:off x="316984" y="237841"/>
          <a:ext cx="576335" cy="5763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52E85-BC25-4F99-86B1-064024616B5C}">
      <dsp:nvSpPr>
        <dsp:cNvPr id="0" name=""/>
        <dsp:cNvSpPr/>
      </dsp:nvSpPr>
      <dsp:spPr>
        <a:xfrm>
          <a:off x="1210303" y="2067"/>
          <a:ext cx="5965196" cy="104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01" tIns="110901" rIns="110901" bIns="1109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/>
            <a:t>Demand for loans has to be met by supply.</a:t>
          </a:r>
          <a:endParaRPr lang="en-US" sz="1600" kern="1200"/>
        </a:p>
      </dsp:txBody>
      <dsp:txXfrm>
        <a:off x="1210303" y="2067"/>
        <a:ext cx="5965196" cy="1047882"/>
      </dsp:txXfrm>
    </dsp:sp>
    <dsp:sp modelId="{CBA2CDED-610C-4A55-98F9-308E7828C88C}">
      <dsp:nvSpPr>
        <dsp:cNvPr id="0" name=""/>
        <dsp:cNvSpPr/>
      </dsp:nvSpPr>
      <dsp:spPr>
        <a:xfrm>
          <a:off x="0" y="1311920"/>
          <a:ext cx="7175500" cy="104788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ACCEC4-094F-464F-9D62-09E48C05BE43}">
      <dsp:nvSpPr>
        <dsp:cNvPr id="0" name=""/>
        <dsp:cNvSpPr/>
      </dsp:nvSpPr>
      <dsp:spPr>
        <a:xfrm>
          <a:off x="316984" y="1547693"/>
          <a:ext cx="576335" cy="5763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7C3C56-6568-4A74-B6FC-DD3FAF1CE9BC}">
      <dsp:nvSpPr>
        <dsp:cNvPr id="0" name=""/>
        <dsp:cNvSpPr/>
      </dsp:nvSpPr>
      <dsp:spPr>
        <a:xfrm>
          <a:off x="1210303" y="1311920"/>
          <a:ext cx="5965196" cy="104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01" tIns="110901" rIns="110901" bIns="1109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/>
            <a:t>Banks and related Financial Intermediaries were willing to supply more loans</a:t>
          </a:r>
          <a:endParaRPr lang="en-US" sz="1600" kern="1200"/>
        </a:p>
      </dsp:txBody>
      <dsp:txXfrm>
        <a:off x="1210303" y="1311920"/>
        <a:ext cx="5965196" cy="1047882"/>
      </dsp:txXfrm>
    </dsp:sp>
    <dsp:sp modelId="{3F595759-7862-4188-B483-C522EEC1F3A9}">
      <dsp:nvSpPr>
        <dsp:cNvPr id="0" name=""/>
        <dsp:cNvSpPr/>
      </dsp:nvSpPr>
      <dsp:spPr>
        <a:xfrm>
          <a:off x="0" y="2621772"/>
          <a:ext cx="7175500" cy="104788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0AF7D4-A76C-4305-8DC5-5ED03C5DFA83}">
      <dsp:nvSpPr>
        <dsp:cNvPr id="0" name=""/>
        <dsp:cNvSpPr/>
      </dsp:nvSpPr>
      <dsp:spPr>
        <a:xfrm>
          <a:off x="316984" y="2857546"/>
          <a:ext cx="576335" cy="5763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AC0A8-FB0D-4E75-B442-350AF20E1F6E}">
      <dsp:nvSpPr>
        <dsp:cNvPr id="0" name=""/>
        <dsp:cNvSpPr/>
      </dsp:nvSpPr>
      <dsp:spPr>
        <a:xfrm>
          <a:off x="1210303" y="2621772"/>
          <a:ext cx="3228975" cy="104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01" tIns="110901" rIns="110901" bIns="1109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/>
            <a:t>Mortgage Securitisation was a way to reduce the risk of lending to subprime borrowers.</a:t>
          </a:r>
          <a:endParaRPr lang="en-US" sz="1600" kern="1200"/>
        </a:p>
      </dsp:txBody>
      <dsp:txXfrm>
        <a:off x="1210303" y="2621772"/>
        <a:ext cx="3228975" cy="1047882"/>
      </dsp:txXfrm>
    </dsp:sp>
    <dsp:sp modelId="{FD387FCC-7C3F-4A5A-B975-9222DC426A55}">
      <dsp:nvSpPr>
        <dsp:cNvPr id="0" name=""/>
        <dsp:cNvSpPr/>
      </dsp:nvSpPr>
      <dsp:spPr>
        <a:xfrm>
          <a:off x="4439278" y="2621772"/>
          <a:ext cx="2736221" cy="104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01" tIns="110901" rIns="110901" bIns="11090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200" kern="1200"/>
            <a:t>Collaterilized Debt Obligations (CDOs) reduced the risks to Banks from lending to subprime lenders, including NINJAS</a:t>
          </a:r>
          <a:endParaRPr lang="en-US" sz="1200" kern="1200"/>
        </a:p>
      </dsp:txBody>
      <dsp:txXfrm>
        <a:off x="4439278" y="2621772"/>
        <a:ext cx="2736221" cy="1047882"/>
      </dsp:txXfrm>
    </dsp:sp>
    <dsp:sp modelId="{A0A76827-2790-4525-A9EA-7147457B44AF}">
      <dsp:nvSpPr>
        <dsp:cNvPr id="0" name=""/>
        <dsp:cNvSpPr/>
      </dsp:nvSpPr>
      <dsp:spPr>
        <a:xfrm>
          <a:off x="0" y="3931625"/>
          <a:ext cx="7175500" cy="104788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F68909-BB35-42DA-BF8F-941AB009264D}">
      <dsp:nvSpPr>
        <dsp:cNvPr id="0" name=""/>
        <dsp:cNvSpPr/>
      </dsp:nvSpPr>
      <dsp:spPr>
        <a:xfrm>
          <a:off x="316984" y="4167398"/>
          <a:ext cx="576335" cy="5763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A4C2D-86DB-4FCB-9F30-A81EDAEEAB03}">
      <dsp:nvSpPr>
        <dsp:cNvPr id="0" name=""/>
        <dsp:cNvSpPr/>
      </dsp:nvSpPr>
      <dsp:spPr>
        <a:xfrm>
          <a:off x="1210303" y="3931625"/>
          <a:ext cx="5965196" cy="1047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01" tIns="110901" rIns="110901" bIns="11090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/>
            <a:t>NINJA- a subprime borrower with No Income, No Jobs or Assets.</a:t>
          </a:r>
          <a:endParaRPr lang="en-US" sz="1600" kern="1200"/>
        </a:p>
      </dsp:txBody>
      <dsp:txXfrm>
        <a:off x="1210303" y="3931625"/>
        <a:ext cx="5965196" cy="104788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CB5C4-14E8-4013-99BC-AB0D468F162F}">
      <dsp:nvSpPr>
        <dsp:cNvPr id="0" name=""/>
        <dsp:cNvSpPr/>
      </dsp:nvSpPr>
      <dsp:spPr>
        <a:xfrm>
          <a:off x="2074365" y="726416"/>
          <a:ext cx="4456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5652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85285" y="769754"/>
        <a:ext cx="23812" cy="4762"/>
      </dsp:txXfrm>
    </dsp:sp>
    <dsp:sp modelId="{0B162B0F-3CD8-4348-89C8-E6D6EC6526A8}">
      <dsp:nvSpPr>
        <dsp:cNvPr id="0" name=""/>
        <dsp:cNvSpPr/>
      </dsp:nvSpPr>
      <dsp:spPr>
        <a:xfrm>
          <a:off x="5500" y="150936"/>
          <a:ext cx="2070664" cy="1242398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64" tIns="106505" rIns="101464" bIns="1065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A mortgage-backed security is created</a:t>
          </a:r>
          <a:endParaRPr lang="en-US" sz="1500" kern="1200"/>
        </a:p>
      </dsp:txBody>
      <dsp:txXfrm>
        <a:off x="5500" y="150936"/>
        <a:ext cx="2070664" cy="1242398"/>
      </dsp:txXfrm>
    </dsp:sp>
    <dsp:sp modelId="{84A91E12-EE93-4B77-A539-0ECF93167271}">
      <dsp:nvSpPr>
        <dsp:cNvPr id="0" name=""/>
        <dsp:cNvSpPr/>
      </dsp:nvSpPr>
      <dsp:spPr>
        <a:xfrm>
          <a:off x="4621282" y="726416"/>
          <a:ext cx="4456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5652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32202" y="769754"/>
        <a:ext cx="23812" cy="4762"/>
      </dsp:txXfrm>
    </dsp:sp>
    <dsp:sp modelId="{2C1AE0CF-FF6E-43D7-A51B-2FC3F6687B00}">
      <dsp:nvSpPr>
        <dsp:cNvPr id="0" name=""/>
        <dsp:cNvSpPr/>
      </dsp:nvSpPr>
      <dsp:spPr>
        <a:xfrm>
          <a:off x="2552417" y="150936"/>
          <a:ext cx="2070664" cy="1242398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64" tIns="106505" rIns="101464" bIns="1065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This collects many subprime mortgages together.</a:t>
          </a:r>
          <a:endParaRPr lang="en-US" sz="1500" kern="1200"/>
        </a:p>
      </dsp:txBody>
      <dsp:txXfrm>
        <a:off x="2552417" y="150936"/>
        <a:ext cx="2070664" cy="1242398"/>
      </dsp:txXfrm>
    </dsp:sp>
    <dsp:sp modelId="{2062DF85-8A45-45C6-9DCF-2D8ADB167F95}">
      <dsp:nvSpPr>
        <dsp:cNvPr id="0" name=""/>
        <dsp:cNvSpPr/>
      </dsp:nvSpPr>
      <dsp:spPr>
        <a:xfrm>
          <a:off x="1040832" y="1391535"/>
          <a:ext cx="5093834" cy="445652"/>
        </a:xfrm>
        <a:custGeom>
          <a:avLst/>
          <a:gdLst/>
          <a:ahLst/>
          <a:cxnLst/>
          <a:rect l="0" t="0" r="0" b="0"/>
          <a:pathLst>
            <a:path>
              <a:moveTo>
                <a:pt x="5093834" y="0"/>
              </a:moveTo>
              <a:lnTo>
                <a:pt x="5093834" y="239926"/>
              </a:lnTo>
              <a:lnTo>
                <a:pt x="0" y="239926"/>
              </a:lnTo>
              <a:lnTo>
                <a:pt x="0" y="445652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9848" y="1611980"/>
        <a:ext cx="255802" cy="4762"/>
      </dsp:txXfrm>
    </dsp:sp>
    <dsp:sp modelId="{2578723F-D4BC-4F4F-A510-95BFFDDDA03A}">
      <dsp:nvSpPr>
        <dsp:cNvPr id="0" name=""/>
        <dsp:cNvSpPr/>
      </dsp:nvSpPr>
      <dsp:spPr>
        <a:xfrm>
          <a:off x="5099334" y="150936"/>
          <a:ext cx="2070664" cy="1242398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64" tIns="106505" rIns="101464" bIns="1065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These are separated into categories (tranches)</a:t>
          </a:r>
          <a:endParaRPr lang="en-US" sz="1500" kern="1200"/>
        </a:p>
      </dsp:txBody>
      <dsp:txXfrm>
        <a:off x="5099334" y="150936"/>
        <a:ext cx="2070664" cy="1242398"/>
      </dsp:txXfrm>
    </dsp:sp>
    <dsp:sp modelId="{209A0584-3953-4001-A732-427AEABD0169}">
      <dsp:nvSpPr>
        <dsp:cNvPr id="0" name=""/>
        <dsp:cNvSpPr/>
      </dsp:nvSpPr>
      <dsp:spPr>
        <a:xfrm>
          <a:off x="2074365" y="2445067"/>
          <a:ext cx="4456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5652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85285" y="2488406"/>
        <a:ext cx="23812" cy="4762"/>
      </dsp:txXfrm>
    </dsp:sp>
    <dsp:sp modelId="{F9A9B95B-9B9C-495D-A16D-3823EE342A7C}">
      <dsp:nvSpPr>
        <dsp:cNvPr id="0" name=""/>
        <dsp:cNvSpPr/>
      </dsp:nvSpPr>
      <dsp:spPr>
        <a:xfrm>
          <a:off x="5500" y="1869588"/>
          <a:ext cx="2070664" cy="1242398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64" tIns="106505" rIns="101464" bIns="1065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 dirty="0"/>
            <a:t>The tranches reflect risk (AAA= safest, B= riskiest)</a:t>
          </a:r>
          <a:endParaRPr lang="en-US" sz="1500" kern="1200" dirty="0"/>
        </a:p>
      </dsp:txBody>
      <dsp:txXfrm>
        <a:off x="5500" y="1869588"/>
        <a:ext cx="2070664" cy="1242398"/>
      </dsp:txXfrm>
    </dsp:sp>
    <dsp:sp modelId="{F68B0002-AAFE-43B8-BBAF-04CB7E222A3C}">
      <dsp:nvSpPr>
        <dsp:cNvPr id="0" name=""/>
        <dsp:cNvSpPr/>
      </dsp:nvSpPr>
      <dsp:spPr>
        <a:xfrm>
          <a:off x="4621282" y="2445067"/>
          <a:ext cx="4456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5652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32202" y="2488406"/>
        <a:ext cx="23812" cy="4762"/>
      </dsp:txXfrm>
    </dsp:sp>
    <dsp:sp modelId="{ED902000-2B58-43D9-86E9-B5A7E3DFF662}">
      <dsp:nvSpPr>
        <dsp:cNvPr id="0" name=""/>
        <dsp:cNvSpPr/>
      </dsp:nvSpPr>
      <dsp:spPr>
        <a:xfrm>
          <a:off x="2552417" y="1869588"/>
          <a:ext cx="2070664" cy="1242398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64" tIns="106505" rIns="101464" bIns="1065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The CDO receives revenue from the mortgage payments. FIs used these to repay their investors.</a:t>
          </a:r>
          <a:endParaRPr lang="en-US" sz="1500" kern="1200"/>
        </a:p>
      </dsp:txBody>
      <dsp:txXfrm>
        <a:off x="2552417" y="1869588"/>
        <a:ext cx="2070664" cy="1242398"/>
      </dsp:txXfrm>
    </dsp:sp>
    <dsp:sp modelId="{46BF0E2E-F2ED-4048-BBFA-652C926049B4}">
      <dsp:nvSpPr>
        <dsp:cNvPr id="0" name=""/>
        <dsp:cNvSpPr/>
      </dsp:nvSpPr>
      <dsp:spPr>
        <a:xfrm>
          <a:off x="1040832" y="3110186"/>
          <a:ext cx="5093834" cy="445652"/>
        </a:xfrm>
        <a:custGeom>
          <a:avLst/>
          <a:gdLst/>
          <a:ahLst/>
          <a:cxnLst/>
          <a:rect l="0" t="0" r="0" b="0"/>
          <a:pathLst>
            <a:path>
              <a:moveTo>
                <a:pt x="5093834" y="0"/>
              </a:moveTo>
              <a:lnTo>
                <a:pt x="5093834" y="239926"/>
              </a:lnTo>
              <a:lnTo>
                <a:pt x="0" y="239926"/>
              </a:lnTo>
              <a:lnTo>
                <a:pt x="0" y="445652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9848" y="3330631"/>
        <a:ext cx="255802" cy="4762"/>
      </dsp:txXfrm>
    </dsp:sp>
    <dsp:sp modelId="{E2347A75-D61A-4CBE-9D23-C5506F2B15AD}">
      <dsp:nvSpPr>
        <dsp:cNvPr id="0" name=""/>
        <dsp:cNvSpPr/>
      </dsp:nvSpPr>
      <dsp:spPr>
        <a:xfrm>
          <a:off x="5099334" y="1869588"/>
          <a:ext cx="2070664" cy="1242398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64" tIns="106505" rIns="101464" bIns="1065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AAA CDOs get paid out first, then AA and so on </a:t>
          </a:r>
          <a:endParaRPr lang="en-US" sz="1500" kern="1200"/>
        </a:p>
      </dsp:txBody>
      <dsp:txXfrm>
        <a:off x="5099334" y="1869588"/>
        <a:ext cx="2070664" cy="1242398"/>
      </dsp:txXfrm>
    </dsp:sp>
    <dsp:sp modelId="{0F166B91-0365-47FF-9A3C-A7353EBCA00A}">
      <dsp:nvSpPr>
        <dsp:cNvPr id="0" name=""/>
        <dsp:cNvSpPr/>
      </dsp:nvSpPr>
      <dsp:spPr>
        <a:xfrm>
          <a:off x="5500" y="3588239"/>
          <a:ext cx="2070664" cy="1242398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64" tIns="106505" rIns="101464" bIns="1065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If subprime borrowers start defaulting the system is at risk of collapse</a:t>
          </a:r>
          <a:endParaRPr lang="en-US" sz="1500" kern="1200"/>
        </a:p>
      </dsp:txBody>
      <dsp:txXfrm>
        <a:off x="5500" y="3588239"/>
        <a:ext cx="2070664" cy="124239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AAAA7-5588-AE4C-ABB4-0968B90FB5C1}">
      <dsp:nvSpPr>
        <dsp:cNvPr id="0" name=""/>
        <dsp:cNvSpPr/>
      </dsp:nvSpPr>
      <dsp:spPr>
        <a:xfrm>
          <a:off x="0" y="115028"/>
          <a:ext cx="51816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600" kern="1200"/>
            <a:t>Default Risk</a:t>
          </a:r>
        </a:p>
      </dsp:txBody>
      <dsp:txXfrm>
        <a:off x="41123" y="156151"/>
        <a:ext cx="5099354" cy="760154"/>
      </dsp:txXfrm>
    </dsp:sp>
    <dsp:sp modelId="{DF12E0E1-9BD2-E34B-98FF-78B76586822A}">
      <dsp:nvSpPr>
        <dsp:cNvPr id="0" name=""/>
        <dsp:cNvSpPr/>
      </dsp:nvSpPr>
      <dsp:spPr>
        <a:xfrm>
          <a:off x="0" y="957428"/>
          <a:ext cx="5181600" cy="3278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2800" kern="1200"/>
            <a:t>The probability an individual borrower will be unable to repay their loan.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2800" kern="1200"/>
            <a:t>This risk is not related to the other borrowers.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2800" kern="1200"/>
            <a:t>Borrower A’s inability to repay is not related to Borrower B.</a:t>
          </a:r>
        </a:p>
      </dsp:txBody>
      <dsp:txXfrm>
        <a:off x="0" y="957428"/>
        <a:ext cx="5181600" cy="327888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BB6B9-772C-AE42-A5AC-7EAC2FF54416}">
      <dsp:nvSpPr>
        <dsp:cNvPr id="0" name=""/>
        <dsp:cNvSpPr/>
      </dsp:nvSpPr>
      <dsp:spPr>
        <a:xfrm>
          <a:off x="0" y="18369"/>
          <a:ext cx="51816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400" kern="1200"/>
            <a:t>Systemic Risk</a:t>
          </a:r>
        </a:p>
      </dsp:txBody>
      <dsp:txXfrm>
        <a:off x="38838" y="57207"/>
        <a:ext cx="5103924" cy="717924"/>
      </dsp:txXfrm>
    </dsp:sp>
    <dsp:sp modelId="{DAEE168C-3417-3B4C-A62A-DFF6FA2D2EE5}">
      <dsp:nvSpPr>
        <dsp:cNvPr id="0" name=""/>
        <dsp:cNvSpPr/>
      </dsp:nvSpPr>
      <dsp:spPr>
        <a:xfrm>
          <a:off x="0" y="813969"/>
          <a:ext cx="5181600" cy="3519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2700" kern="1200"/>
            <a:t>The probability a borrower will be unable to repay their loan based on economy-wide changes.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2700" kern="1200"/>
            <a:t>This risk is related to other borrowers.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2700" kern="1200"/>
            <a:t>If Borrower A cannot repay it is likely Borrower B cannot repay.</a:t>
          </a:r>
        </a:p>
      </dsp:txBody>
      <dsp:txXfrm>
        <a:off x="0" y="813969"/>
        <a:ext cx="5181600" cy="351900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A13FE5-1201-4432-8A7F-D2CDAAC7FE28}">
      <dsp:nvSpPr>
        <dsp:cNvPr id="0" name=""/>
        <dsp:cNvSpPr/>
      </dsp:nvSpPr>
      <dsp:spPr>
        <a:xfrm>
          <a:off x="875" y="270341"/>
          <a:ext cx="3416070" cy="204964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700" kern="1200" dirty="0"/>
            <a:t>Between the creation of CDOs and the GFC, CDOs increases in value by 17 times.</a:t>
          </a:r>
        </a:p>
      </dsp:txBody>
      <dsp:txXfrm>
        <a:off x="875" y="270341"/>
        <a:ext cx="3416070" cy="2049642"/>
      </dsp:txXfrm>
    </dsp:sp>
    <dsp:sp modelId="{D0CD6CDB-3141-4B80-9E54-C258C6E3B3D3}">
      <dsp:nvSpPr>
        <dsp:cNvPr id="0" name=""/>
        <dsp:cNvSpPr/>
      </dsp:nvSpPr>
      <dsp:spPr>
        <a:xfrm>
          <a:off x="3758553" y="270341"/>
          <a:ext cx="3416070" cy="204964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700" kern="1200" dirty="0"/>
            <a:t>CDOs were priced by 2000 formula developed by investment banker, David Li. </a:t>
          </a:r>
        </a:p>
      </dsp:txBody>
      <dsp:txXfrm>
        <a:off x="3758553" y="270341"/>
        <a:ext cx="3416070" cy="2049642"/>
      </dsp:txXfrm>
    </dsp:sp>
    <dsp:sp modelId="{AEDF95CE-0529-40AD-9593-1894035C9B19}">
      <dsp:nvSpPr>
        <dsp:cNvPr id="0" name=""/>
        <dsp:cNvSpPr/>
      </dsp:nvSpPr>
      <dsp:spPr>
        <a:xfrm>
          <a:off x="875" y="2661591"/>
          <a:ext cx="3416070" cy="204964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700" kern="1200" dirty="0"/>
            <a:t>This assumed prices of financial assets reflected their </a:t>
          </a:r>
          <a:r>
            <a:rPr lang="en-NZ" sz="2700" kern="1200" dirty="0">
              <a:solidFill>
                <a:srgbClr val="C00000"/>
              </a:solidFill>
            </a:rPr>
            <a:t>default risk</a:t>
          </a:r>
        </a:p>
      </dsp:txBody>
      <dsp:txXfrm>
        <a:off x="875" y="2661591"/>
        <a:ext cx="3416070" cy="2049642"/>
      </dsp:txXfrm>
    </dsp:sp>
    <dsp:sp modelId="{A8303BA2-A17D-4AA1-8B4E-0E0D283F97F9}">
      <dsp:nvSpPr>
        <dsp:cNvPr id="0" name=""/>
        <dsp:cNvSpPr/>
      </dsp:nvSpPr>
      <dsp:spPr>
        <a:xfrm>
          <a:off x="3758553" y="2661591"/>
          <a:ext cx="3416070" cy="204964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700" kern="1200" dirty="0"/>
            <a:t>Also ignored that </a:t>
          </a:r>
          <a:r>
            <a:rPr lang="en-NZ" sz="2700" kern="1200" dirty="0">
              <a:solidFill>
                <a:srgbClr val="C00000"/>
              </a:solidFill>
            </a:rPr>
            <a:t>systemic risks- </a:t>
          </a:r>
          <a:r>
            <a:rPr lang="en-NZ" sz="2700" kern="1200" dirty="0"/>
            <a:t>like house prices going down at a national or global scale</a:t>
          </a:r>
        </a:p>
      </dsp:txBody>
      <dsp:txXfrm>
        <a:off x="3758553" y="2661591"/>
        <a:ext cx="3416070" cy="204964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0CB072-67CD-476A-A9FE-1515C391978F}">
      <dsp:nvSpPr>
        <dsp:cNvPr id="0" name=""/>
        <dsp:cNvSpPr/>
      </dsp:nvSpPr>
      <dsp:spPr>
        <a:xfrm>
          <a:off x="0" y="462090"/>
          <a:ext cx="7473950" cy="1327218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 dirty="0"/>
            <a:t>Rating agencies such as Moody’s and Standard and </a:t>
          </a:r>
          <a:r>
            <a:rPr lang="en-NZ" sz="2500" kern="1200" dirty="0" err="1"/>
            <a:t>Poors</a:t>
          </a:r>
          <a:r>
            <a:rPr lang="en-NZ" sz="2500" kern="1200" dirty="0"/>
            <a:t> also contributed</a:t>
          </a:r>
          <a:endParaRPr lang="en-US" sz="2500" kern="1200" dirty="0"/>
        </a:p>
      </dsp:txBody>
      <dsp:txXfrm>
        <a:off x="64789" y="526879"/>
        <a:ext cx="7344372" cy="1197640"/>
      </dsp:txXfrm>
    </dsp:sp>
    <dsp:sp modelId="{1B49B1D4-C79C-471C-9491-7E267C47D184}">
      <dsp:nvSpPr>
        <dsp:cNvPr id="0" name=""/>
        <dsp:cNvSpPr/>
      </dsp:nvSpPr>
      <dsp:spPr>
        <a:xfrm>
          <a:off x="0" y="1861309"/>
          <a:ext cx="7473950" cy="1327218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 dirty="0"/>
            <a:t>Their assessments of the risks of these mortgage securities and the financial institutions that issued them was lax and permissive.</a:t>
          </a:r>
          <a:endParaRPr lang="en-US" sz="2500" kern="1200" dirty="0"/>
        </a:p>
      </dsp:txBody>
      <dsp:txXfrm>
        <a:off x="64789" y="1926098"/>
        <a:ext cx="7344372" cy="1197640"/>
      </dsp:txXfrm>
    </dsp:sp>
    <dsp:sp modelId="{E771EA93-5095-41EE-99A3-EC986E98B4B2}">
      <dsp:nvSpPr>
        <dsp:cNvPr id="0" name=""/>
        <dsp:cNvSpPr/>
      </dsp:nvSpPr>
      <dsp:spPr>
        <a:xfrm>
          <a:off x="0" y="3260527"/>
          <a:ext cx="7473950" cy="1327218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 dirty="0"/>
            <a:t>Investors using these ratings to make buy these securities were led to believe they were less risky than they truly were.</a:t>
          </a:r>
          <a:endParaRPr lang="en-US" sz="2500" kern="1200" dirty="0"/>
        </a:p>
      </dsp:txBody>
      <dsp:txXfrm>
        <a:off x="64789" y="3325316"/>
        <a:ext cx="7344372" cy="119764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23D7E-1F98-4733-B55E-C5F0E7F28850}">
      <dsp:nvSpPr>
        <dsp:cNvPr id="0" name=""/>
        <dsp:cNvSpPr/>
      </dsp:nvSpPr>
      <dsp:spPr>
        <a:xfrm>
          <a:off x="0" y="3047844"/>
          <a:ext cx="7473950" cy="1999715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900" kern="1200"/>
            <a:t>Financial Institutions believed they were “too-big-to-fail” and they could rely on a government bailout. </a:t>
          </a:r>
          <a:endParaRPr lang="en-US" sz="2900" kern="1200"/>
        </a:p>
      </dsp:txBody>
      <dsp:txXfrm>
        <a:off x="0" y="3047844"/>
        <a:ext cx="7473950" cy="1999715"/>
      </dsp:txXfrm>
    </dsp:sp>
    <dsp:sp modelId="{849E58B4-5915-4792-B6EA-130CDF89703C}">
      <dsp:nvSpPr>
        <dsp:cNvPr id="0" name=""/>
        <dsp:cNvSpPr/>
      </dsp:nvSpPr>
      <dsp:spPr>
        <a:xfrm rot="10800000">
          <a:off x="0" y="2277"/>
          <a:ext cx="7473950" cy="3075562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900" kern="1200" dirty="0"/>
            <a:t>The increasing rate of home-ownership was seen as desirable by many Governments and supported by policies</a:t>
          </a:r>
          <a:endParaRPr lang="en-US" sz="2900" kern="1200" dirty="0"/>
        </a:p>
      </dsp:txBody>
      <dsp:txXfrm rot="10800000">
        <a:off x="0" y="2277"/>
        <a:ext cx="7473950" cy="199840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4A97A-B770-45F8-ADA8-7075A029599B}">
      <dsp:nvSpPr>
        <dsp:cNvPr id="0" name=""/>
        <dsp:cNvSpPr/>
      </dsp:nvSpPr>
      <dsp:spPr>
        <a:xfrm>
          <a:off x="0" y="0"/>
          <a:ext cx="5394193" cy="46152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600" kern="1200"/>
            <a:t>Monetary policy in the US was loose following the dot-com bubble</a:t>
          </a:r>
          <a:endParaRPr lang="en-US" sz="3600" kern="1200"/>
        </a:p>
      </dsp:txBody>
      <dsp:txXfrm>
        <a:off x="0" y="0"/>
        <a:ext cx="5394193" cy="2492254"/>
      </dsp:txXfrm>
    </dsp:sp>
    <dsp:sp modelId="{307D133F-7CD0-4952-922E-1262780B4EF2}">
      <dsp:nvSpPr>
        <dsp:cNvPr id="0" name=""/>
        <dsp:cNvSpPr/>
      </dsp:nvSpPr>
      <dsp:spPr>
        <a:xfrm>
          <a:off x="0" y="2399948"/>
          <a:ext cx="2697096" cy="21230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kern="1200"/>
            <a:t>Interest rates were dropped from 6% to 2% in 2000-01 and stayed there</a:t>
          </a:r>
          <a:endParaRPr lang="en-US" sz="2200" kern="1200"/>
        </a:p>
      </dsp:txBody>
      <dsp:txXfrm>
        <a:off x="0" y="2399948"/>
        <a:ext cx="2697096" cy="2123031"/>
      </dsp:txXfrm>
    </dsp:sp>
    <dsp:sp modelId="{D5CAA78C-3068-4101-9155-F38139D5DB6D}">
      <dsp:nvSpPr>
        <dsp:cNvPr id="0" name=""/>
        <dsp:cNvSpPr/>
      </dsp:nvSpPr>
      <dsp:spPr>
        <a:xfrm>
          <a:off x="2697096" y="2399948"/>
          <a:ext cx="2697096" cy="21230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kern="1200"/>
            <a:t>Money was relatively ’cheap’ and this (probably) helped the housing bubble started</a:t>
          </a:r>
          <a:endParaRPr lang="en-US" sz="2200" kern="1200"/>
        </a:p>
      </dsp:txBody>
      <dsp:txXfrm>
        <a:off x="2697096" y="2399948"/>
        <a:ext cx="2697096" cy="2123031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E06C5F-1FF0-46A5-83A7-ED3AA989F7AE}">
      <dsp:nvSpPr>
        <dsp:cNvPr id="0" name=""/>
        <dsp:cNvSpPr/>
      </dsp:nvSpPr>
      <dsp:spPr>
        <a:xfrm>
          <a:off x="0" y="0"/>
          <a:ext cx="6099175" cy="1494472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/>
            <a:t>US households had gambled on the house-price bubble, fuelled by increasing borrowing was sustainable.</a:t>
          </a:r>
        </a:p>
      </dsp:txBody>
      <dsp:txXfrm>
        <a:off x="43772" y="43772"/>
        <a:ext cx="4486521" cy="1406928"/>
      </dsp:txXfrm>
    </dsp:sp>
    <dsp:sp modelId="{B8F6B436-A27B-4D1C-A897-5101EC114E0D}">
      <dsp:nvSpPr>
        <dsp:cNvPr id="0" name=""/>
        <dsp:cNvSpPr/>
      </dsp:nvSpPr>
      <dsp:spPr>
        <a:xfrm>
          <a:off x="538162" y="1743551"/>
          <a:ext cx="6099175" cy="1494472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/>
            <a:t>Banks and other financial intermediaries gambled that house prices would also keep rising.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400" kern="1200"/>
            <a:t>The top 5 US Investment banks were $4.1 trillion in debt in 2007 (about 30% of the US GDP)</a:t>
          </a:r>
        </a:p>
      </dsp:txBody>
      <dsp:txXfrm>
        <a:off x="581934" y="1787323"/>
        <a:ext cx="4502061" cy="1406928"/>
      </dsp:txXfrm>
    </dsp:sp>
    <dsp:sp modelId="{711D955B-1F6A-4FB2-A7EE-A47CE66279B8}">
      <dsp:nvSpPr>
        <dsp:cNvPr id="0" name=""/>
        <dsp:cNvSpPr/>
      </dsp:nvSpPr>
      <dsp:spPr>
        <a:xfrm>
          <a:off x="1076324" y="3487102"/>
          <a:ext cx="6099175" cy="1494472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/>
            <a:t>Until house prices didn’t, subprime borrowers started to default, and bank/holders of CDOs couldn’t pay their lenders back.</a:t>
          </a:r>
        </a:p>
      </dsp:txBody>
      <dsp:txXfrm>
        <a:off x="1120096" y="3530874"/>
        <a:ext cx="4502061" cy="1406928"/>
      </dsp:txXfrm>
    </dsp:sp>
    <dsp:sp modelId="{DB72B33C-7A03-4CD1-918B-068020C27DE8}">
      <dsp:nvSpPr>
        <dsp:cNvPr id="0" name=""/>
        <dsp:cNvSpPr/>
      </dsp:nvSpPr>
      <dsp:spPr>
        <a:xfrm>
          <a:off x="5127767" y="1133308"/>
          <a:ext cx="971407" cy="971407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600" kern="1200"/>
        </a:p>
      </dsp:txBody>
      <dsp:txXfrm>
        <a:off x="5346334" y="1133308"/>
        <a:ext cx="534273" cy="730984"/>
      </dsp:txXfrm>
    </dsp:sp>
    <dsp:sp modelId="{D79B9D75-7030-4203-9E4C-23227BD619C0}">
      <dsp:nvSpPr>
        <dsp:cNvPr id="0" name=""/>
        <dsp:cNvSpPr/>
      </dsp:nvSpPr>
      <dsp:spPr>
        <a:xfrm>
          <a:off x="5665930" y="2866896"/>
          <a:ext cx="971407" cy="971407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600" kern="1200"/>
        </a:p>
      </dsp:txBody>
      <dsp:txXfrm>
        <a:off x="5884497" y="2866896"/>
        <a:ext cx="534273" cy="73098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5EF43-FFB7-4891-A26F-956CFFE8A784}">
      <dsp:nvSpPr>
        <dsp:cNvPr id="0" name=""/>
        <dsp:cNvSpPr/>
      </dsp:nvSpPr>
      <dsp:spPr>
        <a:xfrm>
          <a:off x="0" y="42088"/>
          <a:ext cx="7473950" cy="1085174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/>
            <a:t>US Financial Institutions became distressed</a:t>
          </a:r>
          <a:endParaRPr lang="en-US" sz="2800" kern="1200"/>
        </a:p>
      </dsp:txBody>
      <dsp:txXfrm>
        <a:off x="52974" y="95062"/>
        <a:ext cx="7368002" cy="979226"/>
      </dsp:txXfrm>
    </dsp:sp>
    <dsp:sp modelId="{BA1771D6-F2CE-4F70-BC11-8FD00EC151C4}">
      <dsp:nvSpPr>
        <dsp:cNvPr id="0" name=""/>
        <dsp:cNvSpPr/>
      </dsp:nvSpPr>
      <dsp:spPr>
        <a:xfrm>
          <a:off x="0" y="1207903"/>
          <a:ext cx="7473950" cy="1085174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 dirty="0"/>
            <a:t>Some, e.g. Lehman Brothers AIG, </a:t>
          </a:r>
          <a:r>
            <a:rPr lang="en-NZ" sz="2800" kern="1200" dirty="0" err="1"/>
            <a:t>Fanne</a:t>
          </a:r>
          <a:r>
            <a:rPr lang="en-NZ" sz="2800" kern="1200" dirty="0"/>
            <a:t> Mae and Freddie Mac, went bankrupt. </a:t>
          </a:r>
          <a:endParaRPr lang="en-US" sz="2800" kern="1200" dirty="0"/>
        </a:p>
      </dsp:txBody>
      <dsp:txXfrm>
        <a:off x="52974" y="1260877"/>
        <a:ext cx="7368002" cy="979226"/>
      </dsp:txXfrm>
    </dsp:sp>
    <dsp:sp modelId="{205C88AC-86EA-4EE0-B53F-0301ABB18354}">
      <dsp:nvSpPr>
        <dsp:cNvPr id="0" name=""/>
        <dsp:cNvSpPr/>
      </dsp:nvSpPr>
      <dsp:spPr>
        <a:xfrm>
          <a:off x="0" y="2373718"/>
          <a:ext cx="7473950" cy="1085174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 dirty="0"/>
            <a:t>Investors stopped lending to many FIs and their assets were also devalued.</a:t>
          </a:r>
          <a:endParaRPr lang="en-US" sz="2800" kern="1200" dirty="0"/>
        </a:p>
      </dsp:txBody>
      <dsp:txXfrm>
        <a:off x="52974" y="2426692"/>
        <a:ext cx="7368002" cy="979226"/>
      </dsp:txXfrm>
    </dsp:sp>
    <dsp:sp modelId="{CC8FC5E1-9DBE-4736-8326-B4E30A3F9C86}">
      <dsp:nvSpPr>
        <dsp:cNvPr id="0" name=""/>
        <dsp:cNvSpPr/>
      </dsp:nvSpPr>
      <dsp:spPr>
        <a:xfrm>
          <a:off x="0" y="3458893"/>
          <a:ext cx="747395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7298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2200" kern="1200"/>
            <a:t>Confidence falls</a:t>
          </a:r>
          <a:endParaRPr lang="en-US" sz="2200" kern="1200"/>
        </a:p>
      </dsp:txBody>
      <dsp:txXfrm>
        <a:off x="0" y="3458893"/>
        <a:ext cx="7473950" cy="463680"/>
      </dsp:txXfrm>
    </dsp:sp>
    <dsp:sp modelId="{13F6118A-29D5-4101-ADA5-017099C281E1}">
      <dsp:nvSpPr>
        <dsp:cNvPr id="0" name=""/>
        <dsp:cNvSpPr/>
      </dsp:nvSpPr>
      <dsp:spPr>
        <a:xfrm>
          <a:off x="0" y="3922573"/>
          <a:ext cx="7473950" cy="1085174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/>
            <a:t>The Financial Crisis begins…</a:t>
          </a:r>
          <a:endParaRPr lang="en-US" sz="2800" kern="1200"/>
        </a:p>
      </dsp:txBody>
      <dsp:txXfrm>
        <a:off x="52974" y="3975547"/>
        <a:ext cx="7368002" cy="97922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D98302-6F94-4924-85FB-3F1E405CAA88}">
      <dsp:nvSpPr>
        <dsp:cNvPr id="0" name=""/>
        <dsp:cNvSpPr/>
      </dsp:nvSpPr>
      <dsp:spPr>
        <a:xfrm>
          <a:off x="538162" y="0"/>
          <a:ext cx="6099175" cy="4981575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4975A9-F0D1-41AE-BC90-7822CC315EA4}">
      <dsp:nvSpPr>
        <dsp:cNvPr id="0" name=""/>
        <dsp:cNvSpPr/>
      </dsp:nvSpPr>
      <dsp:spPr>
        <a:xfrm>
          <a:off x="3153" y="1494472"/>
          <a:ext cx="1378691" cy="1992630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300" kern="1200" dirty="0"/>
            <a:t>Financial Institutions normally direct borrowed money to firms and households to invest.</a:t>
          </a:r>
        </a:p>
      </dsp:txBody>
      <dsp:txXfrm>
        <a:off x="70455" y="1561774"/>
        <a:ext cx="1244087" cy="1858026"/>
      </dsp:txXfrm>
    </dsp:sp>
    <dsp:sp modelId="{CC696F00-3B2C-40DA-A1FE-82306FE4A812}">
      <dsp:nvSpPr>
        <dsp:cNvPr id="0" name=""/>
        <dsp:cNvSpPr/>
      </dsp:nvSpPr>
      <dsp:spPr>
        <a:xfrm>
          <a:off x="1450778" y="1494472"/>
          <a:ext cx="1378691" cy="1992630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300" kern="1200"/>
            <a:t>Panic over who was exposed and how badly, led to financial firms to stop dealing with each other (September 2008)</a:t>
          </a:r>
        </a:p>
      </dsp:txBody>
      <dsp:txXfrm>
        <a:off x="1518080" y="1561774"/>
        <a:ext cx="1244087" cy="1858026"/>
      </dsp:txXfrm>
    </dsp:sp>
    <dsp:sp modelId="{F7352CD0-DB69-438D-AD48-EFCFBC03C79D}">
      <dsp:nvSpPr>
        <dsp:cNvPr id="0" name=""/>
        <dsp:cNvSpPr/>
      </dsp:nvSpPr>
      <dsp:spPr>
        <a:xfrm>
          <a:off x="2898404" y="1494472"/>
          <a:ext cx="1378691" cy="1992630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300" kern="1200"/>
            <a:t>Short-term funding markets shut down</a:t>
          </a:r>
        </a:p>
      </dsp:txBody>
      <dsp:txXfrm>
        <a:off x="2965706" y="1561774"/>
        <a:ext cx="1244087" cy="1858026"/>
      </dsp:txXfrm>
    </dsp:sp>
    <dsp:sp modelId="{39DA2076-9381-473B-AC15-81DA156700B5}">
      <dsp:nvSpPr>
        <dsp:cNvPr id="0" name=""/>
        <dsp:cNvSpPr/>
      </dsp:nvSpPr>
      <dsp:spPr>
        <a:xfrm>
          <a:off x="4346030" y="1494472"/>
          <a:ext cx="1378691" cy="1992630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300" kern="1200"/>
            <a:t>Equity and term funding markets collapsed</a:t>
          </a:r>
        </a:p>
      </dsp:txBody>
      <dsp:txXfrm>
        <a:off x="4413332" y="1561774"/>
        <a:ext cx="1244087" cy="1858026"/>
      </dsp:txXfrm>
    </dsp:sp>
    <dsp:sp modelId="{FA67B393-4B7B-4B19-A9BC-6741558F1FC9}">
      <dsp:nvSpPr>
        <dsp:cNvPr id="0" name=""/>
        <dsp:cNvSpPr/>
      </dsp:nvSpPr>
      <dsp:spPr>
        <a:xfrm>
          <a:off x="5793655" y="1494472"/>
          <a:ext cx="1378691" cy="1992630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300" kern="1200" dirty="0"/>
            <a:t>The Credit Crunch hits firms wanting to invest. </a:t>
          </a:r>
        </a:p>
      </dsp:txBody>
      <dsp:txXfrm>
        <a:off x="5860957" y="1561774"/>
        <a:ext cx="1244087" cy="1858026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348DDC-C008-445B-A23F-F1F2FAADFB67}">
      <dsp:nvSpPr>
        <dsp:cNvPr id="0" name=""/>
        <dsp:cNvSpPr/>
      </dsp:nvSpPr>
      <dsp:spPr>
        <a:xfrm rot="5400000">
          <a:off x="4237183" y="-1491032"/>
          <a:ext cx="1284312" cy="45923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100" kern="1200"/>
            <a:t>ECB setting interest rates low to stimulate growth in German economy</a:t>
          </a:r>
        </a:p>
      </dsp:txBody>
      <dsp:txXfrm rot="-5400000">
        <a:off x="2583180" y="225666"/>
        <a:ext cx="4529625" cy="1158922"/>
      </dsp:txXfrm>
    </dsp:sp>
    <dsp:sp modelId="{B1C22059-B84F-4E8C-966C-FCA6B2A28D33}">
      <dsp:nvSpPr>
        <dsp:cNvPr id="0" name=""/>
        <dsp:cNvSpPr/>
      </dsp:nvSpPr>
      <dsp:spPr>
        <a:xfrm>
          <a:off x="0" y="2432"/>
          <a:ext cx="2583180" cy="160539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Low growth in Germany resulted in</a:t>
          </a:r>
        </a:p>
      </dsp:txBody>
      <dsp:txXfrm>
        <a:off x="78369" y="80801"/>
        <a:ext cx="2426442" cy="1448652"/>
      </dsp:txXfrm>
    </dsp:sp>
    <dsp:sp modelId="{C9E26597-CD71-48ED-8D2D-3513EE41A767}">
      <dsp:nvSpPr>
        <dsp:cNvPr id="0" name=""/>
        <dsp:cNvSpPr/>
      </dsp:nvSpPr>
      <dsp:spPr>
        <a:xfrm rot="5400000">
          <a:off x="4237183" y="194627"/>
          <a:ext cx="1284312" cy="45923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100" kern="1200"/>
            <a:t>Funds flowed from countries like Germany to countries like Spain, inflating housing bubbles.</a:t>
          </a:r>
        </a:p>
      </dsp:txBody>
      <dsp:txXfrm rot="-5400000">
        <a:off x="2583180" y="1911326"/>
        <a:ext cx="4529625" cy="1158922"/>
      </dsp:txXfrm>
    </dsp:sp>
    <dsp:sp modelId="{40681911-2355-46B3-AEF8-FC27ED0B8AC9}">
      <dsp:nvSpPr>
        <dsp:cNvPr id="0" name=""/>
        <dsp:cNvSpPr/>
      </dsp:nvSpPr>
      <dsp:spPr>
        <a:xfrm>
          <a:off x="0" y="1688092"/>
          <a:ext cx="2583180" cy="160539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This over-stimulated economies like Spain</a:t>
          </a:r>
        </a:p>
      </dsp:txBody>
      <dsp:txXfrm>
        <a:off x="78369" y="1766461"/>
        <a:ext cx="2426442" cy="1448652"/>
      </dsp:txXfrm>
    </dsp:sp>
    <dsp:sp modelId="{AD44D657-E588-4541-9CB9-43420DBCA0C2}">
      <dsp:nvSpPr>
        <dsp:cNvPr id="0" name=""/>
        <dsp:cNvSpPr/>
      </dsp:nvSpPr>
      <dsp:spPr>
        <a:xfrm rot="5400000">
          <a:off x="4237183" y="1880287"/>
          <a:ext cx="1284312" cy="45923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100" kern="1200"/>
            <a:t>Spain’s currency could not depreciate because it was the same as Germany’s.</a:t>
          </a:r>
        </a:p>
      </dsp:txBody>
      <dsp:txXfrm rot="-5400000">
        <a:off x="2583180" y="3596986"/>
        <a:ext cx="4529625" cy="1158922"/>
      </dsp:txXfrm>
    </dsp:sp>
    <dsp:sp modelId="{6AE1A0E9-42C1-44BD-AEAD-F428C451036F}">
      <dsp:nvSpPr>
        <dsp:cNvPr id="0" name=""/>
        <dsp:cNvSpPr/>
      </dsp:nvSpPr>
      <dsp:spPr>
        <a:xfrm>
          <a:off x="0" y="3373752"/>
          <a:ext cx="2583180" cy="160539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Consumer demand rose in countries like Spain, creating a trade deficit</a:t>
          </a:r>
        </a:p>
      </dsp:txBody>
      <dsp:txXfrm>
        <a:off x="78369" y="3452121"/>
        <a:ext cx="2426442" cy="1448652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16BB9-79C1-45EA-98EB-0E10B8FA8746}">
      <dsp:nvSpPr>
        <dsp:cNvPr id="0" name=""/>
        <dsp:cNvSpPr/>
      </dsp:nvSpPr>
      <dsp:spPr>
        <a:xfrm>
          <a:off x="0" y="1517375"/>
          <a:ext cx="11019483" cy="2023167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2AFACAE-8C20-492A-AE7F-FD36C918D7A8}">
      <dsp:nvSpPr>
        <dsp:cNvPr id="0" name=""/>
        <dsp:cNvSpPr/>
      </dsp:nvSpPr>
      <dsp:spPr>
        <a:xfrm>
          <a:off x="847" y="0"/>
          <a:ext cx="1358334" cy="2023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 dirty="0"/>
            <a:t>Banks and governments were lending each other money, often based on property elsewhere also.</a:t>
          </a:r>
        </a:p>
      </dsp:txBody>
      <dsp:txXfrm>
        <a:off x="847" y="0"/>
        <a:ext cx="1358334" cy="2023167"/>
      </dsp:txXfrm>
    </dsp:sp>
    <dsp:sp modelId="{E705C97F-1CBC-4F19-86EA-0AFD141813EC}">
      <dsp:nvSpPr>
        <dsp:cNvPr id="0" name=""/>
        <dsp:cNvSpPr/>
      </dsp:nvSpPr>
      <dsp:spPr>
        <a:xfrm>
          <a:off x="427118" y="2276063"/>
          <a:ext cx="505791" cy="505791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744D47F-A254-4E87-B30B-1927C9074728}">
      <dsp:nvSpPr>
        <dsp:cNvPr id="0" name=""/>
        <dsp:cNvSpPr/>
      </dsp:nvSpPr>
      <dsp:spPr>
        <a:xfrm>
          <a:off x="1427098" y="3034751"/>
          <a:ext cx="1358334" cy="2023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Europe faced a dilemma by early 2010 with Greece’s debt levels</a:t>
          </a:r>
        </a:p>
      </dsp:txBody>
      <dsp:txXfrm>
        <a:off x="1427098" y="3034751"/>
        <a:ext cx="1358334" cy="2023167"/>
      </dsp:txXfrm>
    </dsp:sp>
    <dsp:sp modelId="{258AFCF7-6016-4DD7-80F7-3CE5FF64CF8E}">
      <dsp:nvSpPr>
        <dsp:cNvPr id="0" name=""/>
        <dsp:cNvSpPr/>
      </dsp:nvSpPr>
      <dsp:spPr>
        <a:xfrm>
          <a:off x="1853369" y="2276063"/>
          <a:ext cx="505791" cy="505791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hueOff val="8049"/>
                <a:satOff val="-357"/>
                <a:lumOff val="43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8049"/>
                <a:satOff val="-357"/>
                <a:lumOff val="43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8049"/>
                <a:satOff val="-357"/>
                <a:lumOff val="43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ECCAB95-9247-44EC-8075-AF6F9D57F4E6}">
      <dsp:nvSpPr>
        <dsp:cNvPr id="0" name=""/>
        <dsp:cNvSpPr/>
      </dsp:nvSpPr>
      <dsp:spPr>
        <a:xfrm>
          <a:off x="2853349" y="0"/>
          <a:ext cx="1358334" cy="2023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Greece owed Portuguese Banks $10bn</a:t>
          </a:r>
        </a:p>
      </dsp:txBody>
      <dsp:txXfrm>
        <a:off x="2853349" y="0"/>
        <a:ext cx="1358334" cy="2023167"/>
      </dsp:txXfrm>
    </dsp:sp>
    <dsp:sp modelId="{4D2A6FAE-9B1D-48E8-9282-B83A33CF5A72}">
      <dsp:nvSpPr>
        <dsp:cNvPr id="0" name=""/>
        <dsp:cNvSpPr/>
      </dsp:nvSpPr>
      <dsp:spPr>
        <a:xfrm>
          <a:off x="3279620" y="2276063"/>
          <a:ext cx="505791" cy="505791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hueOff val="16097"/>
                <a:satOff val="-713"/>
                <a:lumOff val="8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6097"/>
                <a:satOff val="-713"/>
                <a:lumOff val="8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6097"/>
                <a:satOff val="-713"/>
                <a:lumOff val="8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CD89C4E-222E-4A73-AD77-1FA722C1FCDA}">
      <dsp:nvSpPr>
        <dsp:cNvPr id="0" name=""/>
        <dsp:cNvSpPr/>
      </dsp:nvSpPr>
      <dsp:spPr>
        <a:xfrm>
          <a:off x="4279600" y="3034751"/>
          <a:ext cx="1358334" cy="2023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 dirty="0"/>
            <a:t>Portugal owed Spanish Banks $86bn</a:t>
          </a:r>
        </a:p>
      </dsp:txBody>
      <dsp:txXfrm>
        <a:off x="4279600" y="3034751"/>
        <a:ext cx="1358334" cy="2023167"/>
      </dsp:txXfrm>
    </dsp:sp>
    <dsp:sp modelId="{3664873E-3830-4FA5-BD53-F41F637ED456}">
      <dsp:nvSpPr>
        <dsp:cNvPr id="0" name=""/>
        <dsp:cNvSpPr/>
      </dsp:nvSpPr>
      <dsp:spPr>
        <a:xfrm>
          <a:off x="4705871" y="2276063"/>
          <a:ext cx="505791" cy="505791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hueOff val="24146"/>
                <a:satOff val="-1070"/>
                <a:lumOff val="1291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4146"/>
                <a:satOff val="-1070"/>
                <a:lumOff val="1291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4146"/>
                <a:satOff val="-1070"/>
                <a:lumOff val="1291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3D776A8-779B-40D8-9DEF-907443CE3108}">
      <dsp:nvSpPr>
        <dsp:cNvPr id="0" name=""/>
        <dsp:cNvSpPr/>
      </dsp:nvSpPr>
      <dsp:spPr>
        <a:xfrm>
          <a:off x="5705851" y="0"/>
          <a:ext cx="1358334" cy="2023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Spain owes German Banks $238bn and French Banks $220bn.</a:t>
          </a:r>
        </a:p>
      </dsp:txBody>
      <dsp:txXfrm>
        <a:off x="5705851" y="0"/>
        <a:ext cx="1358334" cy="2023167"/>
      </dsp:txXfrm>
    </dsp:sp>
    <dsp:sp modelId="{971B9CC8-68BF-47B3-901B-572717F11C97}">
      <dsp:nvSpPr>
        <dsp:cNvPr id="0" name=""/>
        <dsp:cNvSpPr/>
      </dsp:nvSpPr>
      <dsp:spPr>
        <a:xfrm>
          <a:off x="6132122" y="2276063"/>
          <a:ext cx="505791" cy="505791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hueOff val="32194"/>
                <a:satOff val="-1426"/>
                <a:lumOff val="1721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32194"/>
                <a:satOff val="-1426"/>
                <a:lumOff val="1721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32194"/>
                <a:satOff val="-1426"/>
                <a:lumOff val="1721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1891AC2-C4EE-4A6A-8C59-DAD372C89E7B}">
      <dsp:nvSpPr>
        <dsp:cNvPr id="0" name=""/>
        <dsp:cNvSpPr/>
      </dsp:nvSpPr>
      <dsp:spPr>
        <a:xfrm>
          <a:off x="7132102" y="3034751"/>
          <a:ext cx="1358334" cy="2023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Spain owes Italy $31bn which owes France $511bn. </a:t>
          </a:r>
        </a:p>
      </dsp:txBody>
      <dsp:txXfrm>
        <a:off x="7132102" y="3034751"/>
        <a:ext cx="1358334" cy="2023167"/>
      </dsp:txXfrm>
    </dsp:sp>
    <dsp:sp modelId="{13E7B31E-AE6E-493E-8E69-B10FD3E926EB}">
      <dsp:nvSpPr>
        <dsp:cNvPr id="0" name=""/>
        <dsp:cNvSpPr/>
      </dsp:nvSpPr>
      <dsp:spPr>
        <a:xfrm>
          <a:off x="7558373" y="2276063"/>
          <a:ext cx="505791" cy="505791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hueOff val="40243"/>
                <a:satOff val="-1783"/>
                <a:lumOff val="215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40243"/>
                <a:satOff val="-1783"/>
                <a:lumOff val="215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40243"/>
                <a:satOff val="-1783"/>
                <a:lumOff val="215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E51CDD-C3CC-4143-B9AE-25C14A58226F}">
      <dsp:nvSpPr>
        <dsp:cNvPr id="0" name=""/>
        <dsp:cNvSpPr/>
      </dsp:nvSpPr>
      <dsp:spPr>
        <a:xfrm>
          <a:off x="8558353" y="0"/>
          <a:ext cx="1358334" cy="2023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If Greece isn’t rescued, the financial system collapses.</a:t>
          </a:r>
        </a:p>
      </dsp:txBody>
      <dsp:txXfrm>
        <a:off x="8558353" y="0"/>
        <a:ext cx="1358334" cy="2023167"/>
      </dsp:txXfrm>
    </dsp:sp>
    <dsp:sp modelId="{8861C2DA-EC91-4708-A3A2-A15BD24BEFCB}">
      <dsp:nvSpPr>
        <dsp:cNvPr id="0" name=""/>
        <dsp:cNvSpPr/>
      </dsp:nvSpPr>
      <dsp:spPr>
        <a:xfrm>
          <a:off x="8984624" y="2276063"/>
          <a:ext cx="505791" cy="505791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hueOff val="48291"/>
                <a:satOff val="-2139"/>
                <a:lumOff val="258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48291"/>
                <a:satOff val="-2139"/>
                <a:lumOff val="258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48291"/>
                <a:satOff val="-2139"/>
                <a:lumOff val="258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49BA31-255A-448C-B4D0-1AC698D3E050}">
      <dsp:nvSpPr>
        <dsp:cNvPr id="0" name=""/>
        <dsp:cNvSpPr/>
      </dsp:nvSpPr>
      <dsp:spPr>
        <a:xfrm>
          <a:off x="560546" y="0"/>
          <a:ext cx="6352857" cy="5049837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4B664D-98E7-45E6-84F8-7D54A0381AD4}">
      <dsp:nvSpPr>
        <dsp:cNvPr id="0" name=""/>
        <dsp:cNvSpPr/>
      </dsp:nvSpPr>
      <dsp:spPr>
        <a:xfrm>
          <a:off x="253267" y="1514951"/>
          <a:ext cx="2242185" cy="2019934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Households decrease spending, especially of durable goods.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200" kern="1200" dirty="0"/>
            <a:t>Cars and machinery sales fall.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200" kern="1200" dirty="0"/>
            <a:t>East Asian economies suffer drop in exports.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200" kern="1200" dirty="0"/>
            <a:t>Japan industrial output falls 30% in 6 months.</a:t>
          </a:r>
        </a:p>
      </dsp:txBody>
      <dsp:txXfrm>
        <a:off x="351872" y="1613556"/>
        <a:ext cx="2044975" cy="1822724"/>
      </dsp:txXfrm>
    </dsp:sp>
    <dsp:sp modelId="{C5D3DC95-D906-475B-ABD4-AF7B308BF1F3}">
      <dsp:nvSpPr>
        <dsp:cNvPr id="0" name=""/>
        <dsp:cNvSpPr/>
      </dsp:nvSpPr>
      <dsp:spPr>
        <a:xfrm>
          <a:off x="2615882" y="1514951"/>
          <a:ext cx="2242185" cy="2019934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Firm’s cut back investment activity</a:t>
          </a:r>
        </a:p>
      </dsp:txBody>
      <dsp:txXfrm>
        <a:off x="2714487" y="1613556"/>
        <a:ext cx="2044975" cy="1822724"/>
      </dsp:txXfrm>
    </dsp:sp>
    <dsp:sp modelId="{88245BF7-BC6D-417A-8DFE-0768D3E9C2F0}">
      <dsp:nvSpPr>
        <dsp:cNvPr id="0" name=""/>
        <dsp:cNvSpPr/>
      </dsp:nvSpPr>
      <dsp:spPr>
        <a:xfrm>
          <a:off x="4978497" y="1514951"/>
          <a:ext cx="2242185" cy="2019934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Unemployment starts rising</a:t>
          </a:r>
        </a:p>
      </dsp:txBody>
      <dsp:txXfrm>
        <a:off x="5077102" y="1613556"/>
        <a:ext cx="2044975" cy="182272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5B8192-BDB8-4850-BD50-4D16718C5A7F}">
      <dsp:nvSpPr>
        <dsp:cNvPr id="0" name=""/>
        <dsp:cNvSpPr/>
      </dsp:nvSpPr>
      <dsp:spPr>
        <a:xfrm>
          <a:off x="0" y="7581"/>
          <a:ext cx="10515600" cy="131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5600" kern="1200"/>
            <a:t>Asset prices fall…again</a:t>
          </a:r>
        </a:p>
      </dsp:txBody>
      <dsp:txXfrm>
        <a:off x="63968" y="71549"/>
        <a:ext cx="10387664" cy="1182464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6AD631-3026-49F3-B353-44667E19739C}">
      <dsp:nvSpPr>
        <dsp:cNvPr id="0" name=""/>
        <dsp:cNvSpPr/>
      </dsp:nvSpPr>
      <dsp:spPr>
        <a:xfrm>
          <a:off x="2053" y="861732"/>
          <a:ext cx="4379788" cy="2627873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 dirty="0"/>
            <a:t>The response of Stock Markets to these bankruptcies, downgrades and downturn in economic activity is to fall.</a:t>
          </a:r>
        </a:p>
      </dsp:txBody>
      <dsp:txXfrm>
        <a:off x="79021" y="938700"/>
        <a:ext cx="4225852" cy="2473937"/>
      </dsp:txXfrm>
    </dsp:sp>
    <dsp:sp modelId="{F105612C-6358-481B-AE8C-AFB83E234DA6}">
      <dsp:nvSpPr>
        <dsp:cNvPr id="0" name=""/>
        <dsp:cNvSpPr/>
      </dsp:nvSpPr>
      <dsp:spPr>
        <a:xfrm>
          <a:off x="4819821" y="1632575"/>
          <a:ext cx="928515" cy="10861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2300" kern="1200"/>
        </a:p>
      </dsp:txBody>
      <dsp:txXfrm>
        <a:off x="4819821" y="1849812"/>
        <a:ext cx="649961" cy="651713"/>
      </dsp:txXfrm>
    </dsp:sp>
    <dsp:sp modelId="{54776E70-DE40-497A-89AC-11616850DBEA}">
      <dsp:nvSpPr>
        <dsp:cNvPr id="0" name=""/>
        <dsp:cNvSpPr/>
      </dsp:nvSpPr>
      <dsp:spPr>
        <a:xfrm>
          <a:off x="6133757" y="861732"/>
          <a:ext cx="4379788" cy="2627873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800" kern="1200"/>
            <a:t>Automatic stabilisers are inadequate to deal with the crisis</a:t>
          </a:r>
        </a:p>
      </dsp:txBody>
      <dsp:txXfrm>
        <a:off x="6210725" y="938700"/>
        <a:ext cx="4225852" cy="2473937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0D99F-5088-469B-90C1-0A6FA30201D3}">
      <dsp:nvSpPr>
        <dsp:cNvPr id="0" name=""/>
        <dsp:cNvSpPr/>
      </dsp:nvSpPr>
      <dsp:spPr>
        <a:xfrm>
          <a:off x="0" y="77781"/>
          <a:ext cx="10515600" cy="1170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5000" kern="1200"/>
            <a:t>The Economic Downturn is Global</a:t>
          </a:r>
        </a:p>
      </dsp:txBody>
      <dsp:txXfrm>
        <a:off x="57115" y="134896"/>
        <a:ext cx="10401370" cy="105577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22D8B-642C-471E-B5AF-B18167CDC945}">
      <dsp:nvSpPr>
        <dsp:cNvPr id="0" name=""/>
        <dsp:cNvSpPr/>
      </dsp:nvSpPr>
      <dsp:spPr>
        <a:xfrm>
          <a:off x="4621" y="1331577"/>
          <a:ext cx="2020453" cy="1688183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As Investment and Consumption falls, GDP’s start to drop</a:t>
          </a:r>
        </a:p>
      </dsp:txBody>
      <dsp:txXfrm>
        <a:off x="54066" y="1381022"/>
        <a:ext cx="1921563" cy="1589293"/>
      </dsp:txXfrm>
    </dsp:sp>
    <dsp:sp modelId="{B5633E5A-5FE0-4C7B-B699-4811AB24B43F}">
      <dsp:nvSpPr>
        <dsp:cNvPr id="0" name=""/>
        <dsp:cNvSpPr/>
      </dsp:nvSpPr>
      <dsp:spPr>
        <a:xfrm>
          <a:off x="222711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400" kern="1200"/>
        </a:p>
      </dsp:txBody>
      <dsp:txXfrm>
        <a:off x="2227119" y="2025346"/>
        <a:ext cx="299835" cy="300644"/>
      </dsp:txXfrm>
    </dsp:sp>
    <dsp:sp modelId="{7069FDB8-A7AD-4DEA-9A92-2E44A37107A7}">
      <dsp:nvSpPr>
        <dsp:cNvPr id="0" name=""/>
        <dsp:cNvSpPr/>
      </dsp:nvSpPr>
      <dsp:spPr>
        <a:xfrm>
          <a:off x="2833255" y="1331577"/>
          <a:ext cx="2020453" cy="1688183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This reduces import demand and hence export income for many countries</a:t>
          </a:r>
        </a:p>
      </dsp:txBody>
      <dsp:txXfrm>
        <a:off x="2882700" y="1381022"/>
        <a:ext cx="1921563" cy="1589293"/>
      </dsp:txXfrm>
    </dsp:sp>
    <dsp:sp modelId="{385E6575-BBD6-4630-9BB6-306396A359C2}">
      <dsp:nvSpPr>
        <dsp:cNvPr id="0" name=""/>
        <dsp:cNvSpPr/>
      </dsp:nvSpPr>
      <dsp:spPr>
        <a:xfrm>
          <a:off x="5055754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400" kern="1200"/>
        </a:p>
      </dsp:txBody>
      <dsp:txXfrm>
        <a:off x="5055754" y="2025346"/>
        <a:ext cx="299835" cy="300644"/>
      </dsp:txXfrm>
    </dsp:sp>
    <dsp:sp modelId="{FEF222A4-1101-420B-A493-52D63391DE5A}">
      <dsp:nvSpPr>
        <dsp:cNvPr id="0" name=""/>
        <dsp:cNvSpPr/>
      </dsp:nvSpPr>
      <dsp:spPr>
        <a:xfrm>
          <a:off x="5661890" y="1331577"/>
          <a:ext cx="2020453" cy="1688183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/>
            <a:t>This reduces GDP…again</a:t>
          </a:r>
        </a:p>
      </dsp:txBody>
      <dsp:txXfrm>
        <a:off x="5711335" y="1381022"/>
        <a:ext cx="1921563" cy="1589293"/>
      </dsp:txXfrm>
    </dsp:sp>
    <dsp:sp modelId="{3FDEF2E2-2D29-4740-88EE-4581B46D7574}">
      <dsp:nvSpPr>
        <dsp:cNvPr id="0" name=""/>
        <dsp:cNvSpPr/>
      </dsp:nvSpPr>
      <dsp:spPr>
        <a:xfrm>
          <a:off x="788438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400" kern="1200"/>
        </a:p>
      </dsp:txBody>
      <dsp:txXfrm>
        <a:off x="7884389" y="2025346"/>
        <a:ext cx="299835" cy="300644"/>
      </dsp:txXfrm>
    </dsp:sp>
    <dsp:sp modelId="{300751DD-3597-428C-B528-0D9C70C580BD}">
      <dsp:nvSpPr>
        <dsp:cNvPr id="0" name=""/>
        <dsp:cNvSpPr/>
      </dsp:nvSpPr>
      <dsp:spPr>
        <a:xfrm>
          <a:off x="8490525" y="1331577"/>
          <a:ext cx="2020453" cy="1688183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/>
            <a:t>Globalisation has spread the crisis </a:t>
          </a:r>
        </a:p>
      </dsp:txBody>
      <dsp:txXfrm>
        <a:off x="8539970" y="1381022"/>
        <a:ext cx="1921563" cy="1589293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62E427-B3D3-44B0-A480-9E5CE9795A21}">
      <dsp:nvSpPr>
        <dsp:cNvPr id="0" name=""/>
        <dsp:cNvSpPr/>
      </dsp:nvSpPr>
      <dsp:spPr>
        <a:xfrm>
          <a:off x="0" y="98271"/>
          <a:ext cx="3438144" cy="1042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Container Shipping Costs collapse</a:t>
          </a:r>
          <a:endParaRPr lang="en-NZ" sz="2700" kern="1200"/>
        </a:p>
      </dsp:txBody>
      <dsp:txXfrm>
        <a:off x="50889" y="149160"/>
        <a:ext cx="3336366" cy="94069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9E3F87-F6EB-4217-A438-16081CF47788}">
      <dsp:nvSpPr>
        <dsp:cNvPr id="0" name=""/>
        <dsp:cNvSpPr/>
      </dsp:nvSpPr>
      <dsp:spPr>
        <a:xfrm>
          <a:off x="0" y="571957"/>
          <a:ext cx="3438906" cy="2063343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 decline in trade leads to a rapid drop in costs of shipping containers globally.</a:t>
          </a:r>
          <a:endParaRPr lang="en-NZ" sz="2700" kern="1200"/>
        </a:p>
      </dsp:txBody>
      <dsp:txXfrm>
        <a:off x="0" y="571957"/>
        <a:ext cx="3438906" cy="2063343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85E6E-C619-4688-91CF-22C8B55FDFD4}">
      <dsp:nvSpPr>
        <dsp:cNvPr id="0" name=""/>
        <dsp:cNvSpPr/>
      </dsp:nvSpPr>
      <dsp:spPr>
        <a:xfrm>
          <a:off x="0" y="7581"/>
          <a:ext cx="10515600" cy="131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5600" kern="1200"/>
            <a:t>Solutions: Fiscal Policy</a:t>
          </a:r>
        </a:p>
      </dsp:txBody>
      <dsp:txXfrm>
        <a:off x="63968" y="71549"/>
        <a:ext cx="10387664" cy="1182464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FCCB1-27C8-4DB2-8A73-8315FB8D9E6B}">
      <dsp:nvSpPr>
        <dsp:cNvPr id="0" name=""/>
        <dsp:cNvSpPr/>
      </dsp:nvSpPr>
      <dsp:spPr>
        <a:xfrm>
          <a:off x="0" y="3275482"/>
          <a:ext cx="10515600" cy="1075086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It was not enough to prevent recessions</a:t>
          </a:r>
        </a:p>
      </dsp:txBody>
      <dsp:txXfrm>
        <a:off x="0" y="3275482"/>
        <a:ext cx="10515600" cy="1075086"/>
      </dsp:txXfrm>
    </dsp:sp>
    <dsp:sp modelId="{6C63C1A7-7633-4BB2-978D-57358A366A87}">
      <dsp:nvSpPr>
        <dsp:cNvPr id="0" name=""/>
        <dsp:cNvSpPr/>
      </dsp:nvSpPr>
      <dsp:spPr>
        <a:xfrm rot="10800000">
          <a:off x="0" y="1638125"/>
          <a:ext cx="10515600" cy="1653482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This was fast and large by pre-Covid19 standards</a:t>
          </a:r>
        </a:p>
      </dsp:txBody>
      <dsp:txXfrm rot="10800000">
        <a:off x="0" y="1638125"/>
        <a:ext cx="10515600" cy="1074383"/>
      </dsp:txXfrm>
    </dsp:sp>
    <dsp:sp modelId="{2C075235-3265-4D03-BC42-248029ADEDCD}">
      <dsp:nvSpPr>
        <dsp:cNvPr id="0" name=""/>
        <dsp:cNvSpPr/>
      </dsp:nvSpPr>
      <dsp:spPr>
        <a:xfrm rot="10800000">
          <a:off x="0" y="769"/>
          <a:ext cx="10515600" cy="1653482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Conventional macroeconomic policies were adopted</a:t>
          </a:r>
        </a:p>
      </dsp:txBody>
      <dsp:txXfrm rot="-10800000">
        <a:off x="0" y="769"/>
        <a:ext cx="10515600" cy="580372"/>
      </dsp:txXfrm>
    </dsp:sp>
    <dsp:sp modelId="{37216AE9-FAC3-4729-8E91-46A4E1E07ED9}">
      <dsp:nvSpPr>
        <dsp:cNvPr id="0" name=""/>
        <dsp:cNvSpPr/>
      </dsp:nvSpPr>
      <dsp:spPr>
        <a:xfrm>
          <a:off x="5134" y="581141"/>
          <a:ext cx="3501776" cy="49439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100" kern="1200"/>
            <a:t>Many countries enacted expansionary fiscal policies within 3 months of the crisis (tax cuts, spending increases)</a:t>
          </a:r>
        </a:p>
      </dsp:txBody>
      <dsp:txXfrm>
        <a:off x="5134" y="581141"/>
        <a:ext cx="3501776" cy="494391"/>
      </dsp:txXfrm>
    </dsp:sp>
    <dsp:sp modelId="{DCBF42C5-29B2-4DDE-83EE-AF78A865B51E}">
      <dsp:nvSpPr>
        <dsp:cNvPr id="0" name=""/>
        <dsp:cNvSpPr/>
      </dsp:nvSpPr>
      <dsp:spPr>
        <a:xfrm>
          <a:off x="3506911" y="581141"/>
          <a:ext cx="3501776" cy="49439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100" kern="1200"/>
            <a:t>The OECD estimates OECD countries spent about 3.5% of GDP on their fiscal stimulus.</a:t>
          </a:r>
        </a:p>
      </dsp:txBody>
      <dsp:txXfrm>
        <a:off x="3506911" y="581141"/>
        <a:ext cx="3501776" cy="494391"/>
      </dsp:txXfrm>
    </dsp:sp>
    <dsp:sp modelId="{E30B63F1-7681-43A9-A610-D42F008AA418}">
      <dsp:nvSpPr>
        <dsp:cNvPr id="0" name=""/>
        <dsp:cNvSpPr/>
      </dsp:nvSpPr>
      <dsp:spPr>
        <a:xfrm>
          <a:off x="7008688" y="581141"/>
          <a:ext cx="3501776" cy="49439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100" kern="1200"/>
            <a:t>China spent 19%, Brazil spent 15%!</a:t>
          </a:r>
        </a:p>
      </dsp:txBody>
      <dsp:txXfrm>
        <a:off x="7008688" y="581141"/>
        <a:ext cx="3501776" cy="494391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40D10C-D1C2-4E03-AA2B-79EDCFE867B0}">
      <dsp:nvSpPr>
        <dsp:cNvPr id="0" name=""/>
        <dsp:cNvSpPr/>
      </dsp:nvSpPr>
      <dsp:spPr>
        <a:xfrm>
          <a:off x="0" y="171381"/>
          <a:ext cx="10515600" cy="982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4200" kern="1200"/>
            <a:t>Solutions: Conventional Monetary Policy</a:t>
          </a:r>
        </a:p>
      </dsp:txBody>
      <dsp:txXfrm>
        <a:off x="47976" y="219357"/>
        <a:ext cx="10419648" cy="886847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D59909-8BE4-4AEE-AE1E-486F1126BDF8}">
      <dsp:nvSpPr>
        <dsp:cNvPr id="0" name=""/>
        <dsp:cNvSpPr/>
      </dsp:nvSpPr>
      <dsp:spPr>
        <a:xfrm>
          <a:off x="0" y="3275482"/>
          <a:ext cx="10515600" cy="1075086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But financial markets were not functioning…</a:t>
          </a:r>
        </a:p>
      </dsp:txBody>
      <dsp:txXfrm>
        <a:off x="0" y="3275482"/>
        <a:ext cx="10515600" cy="1075086"/>
      </dsp:txXfrm>
    </dsp:sp>
    <dsp:sp modelId="{1DDF3736-F69D-4194-B092-47C310622507}">
      <dsp:nvSpPr>
        <dsp:cNvPr id="0" name=""/>
        <dsp:cNvSpPr/>
      </dsp:nvSpPr>
      <dsp:spPr>
        <a:xfrm rot="10800000">
          <a:off x="0" y="1638125"/>
          <a:ext cx="10515600" cy="1653482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Ideally this prompts firms to go to financial markets to borrow for Investment.</a:t>
          </a:r>
        </a:p>
      </dsp:txBody>
      <dsp:txXfrm rot="10800000">
        <a:off x="0" y="1638125"/>
        <a:ext cx="10515600" cy="1074383"/>
      </dsp:txXfrm>
    </dsp:sp>
    <dsp:sp modelId="{CD4F2130-E173-4A9D-A859-33541C22A87E}">
      <dsp:nvSpPr>
        <dsp:cNvPr id="0" name=""/>
        <dsp:cNvSpPr/>
      </dsp:nvSpPr>
      <dsp:spPr>
        <a:xfrm rot="10800000">
          <a:off x="0" y="769"/>
          <a:ext cx="10515600" cy="1653482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Central Banks lowered interest rates aggressively</a:t>
          </a:r>
        </a:p>
      </dsp:txBody>
      <dsp:txXfrm rot="-10800000">
        <a:off x="0" y="769"/>
        <a:ext cx="10515600" cy="580372"/>
      </dsp:txXfrm>
    </dsp:sp>
    <dsp:sp modelId="{3818C5BF-1565-4C3F-936F-0723093B0B8C}">
      <dsp:nvSpPr>
        <dsp:cNvPr id="0" name=""/>
        <dsp:cNvSpPr/>
      </dsp:nvSpPr>
      <dsp:spPr>
        <a:xfrm>
          <a:off x="0" y="581141"/>
          <a:ext cx="2628899" cy="49439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US Federal Reserve cut theirs to 0% in December 2008</a:t>
          </a:r>
        </a:p>
      </dsp:txBody>
      <dsp:txXfrm>
        <a:off x="0" y="581141"/>
        <a:ext cx="2628899" cy="494391"/>
      </dsp:txXfrm>
    </dsp:sp>
    <dsp:sp modelId="{956497C3-723F-42F9-8453-4D2C5BA12416}">
      <dsp:nvSpPr>
        <dsp:cNvPr id="0" name=""/>
        <dsp:cNvSpPr/>
      </dsp:nvSpPr>
      <dsp:spPr>
        <a:xfrm>
          <a:off x="2628900" y="581141"/>
          <a:ext cx="2628899" cy="49439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European Central Bank cut theirs to 1%</a:t>
          </a:r>
        </a:p>
      </dsp:txBody>
      <dsp:txXfrm>
        <a:off x="2628900" y="581141"/>
        <a:ext cx="2628899" cy="494391"/>
      </dsp:txXfrm>
    </dsp:sp>
    <dsp:sp modelId="{F731B33F-41B1-4F7E-B792-55E8CDF3153D}">
      <dsp:nvSpPr>
        <dsp:cNvPr id="0" name=""/>
        <dsp:cNvSpPr/>
      </dsp:nvSpPr>
      <dsp:spPr>
        <a:xfrm>
          <a:off x="5257800" y="581141"/>
          <a:ext cx="2628899" cy="49439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Australia went from 7.25 to 3% by April 2009</a:t>
          </a:r>
        </a:p>
      </dsp:txBody>
      <dsp:txXfrm>
        <a:off x="5257800" y="581141"/>
        <a:ext cx="2628899" cy="494391"/>
      </dsp:txXfrm>
    </dsp:sp>
    <dsp:sp modelId="{FD22C297-FE26-4BD4-875B-B069DF622EB1}">
      <dsp:nvSpPr>
        <dsp:cNvPr id="0" name=""/>
        <dsp:cNvSpPr/>
      </dsp:nvSpPr>
      <dsp:spPr>
        <a:xfrm>
          <a:off x="7886700" y="581141"/>
          <a:ext cx="2628899" cy="49439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NZ was similar dropping to 2.5% from around 7.5%</a:t>
          </a:r>
        </a:p>
      </dsp:txBody>
      <dsp:txXfrm>
        <a:off x="7886700" y="581141"/>
        <a:ext cx="2628899" cy="494391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469E02-34BD-45C0-B930-03130EAADEA5}">
      <dsp:nvSpPr>
        <dsp:cNvPr id="0" name=""/>
        <dsp:cNvSpPr/>
      </dsp:nvSpPr>
      <dsp:spPr>
        <a:xfrm>
          <a:off x="0" y="112881"/>
          <a:ext cx="105156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4700" kern="1200"/>
            <a:t>Solutions: Restore Financial Markets</a:t>
          </a:r>
        </a:p>
      </dsp:txBody>
      <dsp:txXfrm>
        <a:off x="53688" y="166569"/>
        <a:ext cx="10408224" cy="992424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BC721-DC05-496D-BB07-F6D8C5E9B33A}">
      <dsp:nvSpPr>
        <dsp:cNvPr id="0" name=""/>
        <dsp:cNvSpPr/>
      </dsp:nvSpPr>
      <dsp:spPr>
        <a:xfrm>
          <a:off x="0" y="3275482"/>
          <a:ext cx="10515600" cy="1075086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Restoring Bank balance sheets (non-performing loans) would take time.</a:t>
          </a:r>
        </a:p>
      </dsp:txBody>
      <dsp:txXfrm>
        <a:off x="0" y="3275482"/>
        <a:ext cx="10515600" cy="1075086"/>
      </dsp:txXfrm>
    </dsp:sp>
    <dsp:sp modelId="{A17A1951-A314-47F5-812E-DA51E8105A35}">
      <dsp:nvSpPr>
        <dsp:cNvPr id="0" name=""/>
        <dsp:cNvSpPr/>
      </dsp:nvSpPr>
      <dsp:spPr>
        <a:xfrm rot="10800000">
          <a:off x="0" y="1638125"/>
          <a:ext cx="10515600" cy="1653482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 dirty="0"/>
            <a:t>Central Banks restructured or rescued the distressed banks. </a:t>
          </a:r>
        </a:p>
      </dsp:txBody>
      <dsp:txXfrm rot="-10800000">
        <a:off x="0" y="1638125"/>
        <a:ext cx="10515600" cy="580372"/>
      </dsp:txXfrm>
    </dsp:sp>
    <dsp:sp modelId="{6F82CF3B-0749-4830-8543-118D91BA474B}">
      <dsp:nvSpPr>
        <dsp:cNvPr id="0" name=""/>
        <dsp:cNvSpPr/>
      </dsp:nvSpPr>
      <dsp:spPr>
        <a:xfrm>
          <a:off x="0" y="2218498"/>
          <a:ext cx="10515600" cy="49439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36830" rIns="206248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900" kern="1200"/>
            <a:t>Some still failed.</a:t>
          </a:r>
        </a:p>
      </dsp:txBody>
      <dsp:txXfrm>
        <a:off x="0" y="2218498"/>
        <a:ext cx="10515600" cy="494391"/>
      </dsp:txXfrm>
    </dsp:sp>
    <dsp:sp modelId="{CC8B9553-9D61-400D-A894-C5B402D54EE5}">
      <dsp:nvSpPr>
        <dsp:cNvPr id="0" name=""/>
        <dsp:cNvSpPr/>
      </dsp:nvSpPr>
      <dsp:spPr>
        <a:xfrm rot="10800000">
          <a:off x="0" y="769"/>
          <a:ext cx="10515600" cy="1653482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Bank deposit insurance and liability guarantees expanded</a:t>
          </a:r>
        </a:p>
      </dsp:txBody>
      <dsp:txXfrm rot="-10800000">
        <a:off x="0" y="769"/>
        <a:ext cx="10515600" cy="580372"/>
      </dsp:txXfrm>
    </dsp:sp>
    <dsp:sp modelId="{1DD9FAAB-7A8A-4964-BC6E-39A94D024090}">
      <dsp:nvSpPr>
        <dsp:cNvPr id="0" name=""/>
        <dsp:cNvSpPr/>
      </dsp:nvSpPr>
      <dsp:spPr>
        <a:xfrm>
          <a:off x="0" y="581141"/>
          <a:ext cx="10515600" cy="49439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36830" rIns="206248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900" kern="1200"/>
            <a:t>Depositers could be more confident about lending to Banks</a:t>
          </a:r>
        </a:p>
      </dsp:txBody>
      <dsp:txXfrm>
        <a:off x="0" y="581141"/>
        <a:ext cx="10515600" cy="494391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94ACCF-967C-4EB1-A692-56F0CDF2BDBA}">
      <dsp:nvSpPr>
        <dsp:cNvPr id="0" name=""/>
        <dsp:cNvSpPr/>
      </dsp:nvSpPr>
      <dsp:spPr>
        <a:xfrm>
          <a:off x="0" y="1266623"/>
          <a:ext cx="10760764" cy="1688831"/>
        </a:xfrm>
        <a:prstGeom prst="notched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262A61-6BC0-4B5F-B8C2-A4F1011F4F5B}">
      <dsp:nvSpPr>
        <dsp:cNvPr id="0" name=""/>
        <dsp:cNvSpPr/>
      </dsp:nvSpPr>
      <dsp:spPr>
        <a:xfrm>
          <a:off x="827" y="0"/>
          <a:ext cx="1326442" cy="1688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 dirty="0"/>
            <a:t>It works through the bond market.</a:t>
          </a:r>
        </a:p>
      </dsp:txBody>
      <dsp:txXfrm>
        <a:off x="827" y="0"/>
        <a:ext cx="1326442" cy="1688831"/>
      </dsp:txXfrm>
    </dsp:sp>
    <dsp:sp modelId="{D1EE8862-7200-4C09-9620-95B105FCC408}">
      <dsp:nvSpPr>
        <dsp:cNvPr id="0" name=""/>
        <dsp:cNvSpPr/>
      </dsp:nvSpPr>
      <dsp:spPr>
        <a:xfrm>
          <a:off x="452945" y="1899935"/>
          <a:ext cx="422207" cy="4222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8085A-B5AE-4BB2-960E-2FEDB5F0AC36}">
      <dsp:nvSpPr>
        <dsp:cNvPr id="0" name=""/>
        <dsp:cNvSpPr/>
      </dsp:nvSpPr>
      <dsp:spPr>
        <a:xfrm>
          <a:off x="1393592" y="2533246"/>
          <a:ext cx="1326442" cy="1688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A company might issue a bond ($1000) and offer $50 a year as payment.</a:t>
          </a:r>
        </a:p>
      </dsp:txBody>
      <dsp:txXfrm>
        <a:off x="1393592" y="2533246"/>
        <a:ext cx="1326442" cy="1688831"/>
      </dsp:txXfrm>
    </dsp:sp>
    <dsp:sp modelId="{0C6CBBD2-5ECD-4DF4-B9D6-D97983E09727}">
      <dsp:nvSpPr>
        <dsp:cNvPr id="0" name=""/>
        <dsp:cNvSpPr/>
      </dsp:nvSpPr>
      <dsp:spPr>
        <a:xfrm>
          <a:off x="1845710" y="1899935"/>
          <a:ext cx="422207" cy="4222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31B1E-4D89-48C6-B4B9-AA19C8C1A50A}">
      <dsp:nvSpPr>
        <dsp:cNvPr id="0" name=""/>
        <dsp:cNvSpPr/>
      </dsp:nvSpPr>
      <dsp:spPr>
        <a:xfrm>
          <a:off x="2786357" y="0"/>
          <a:ext cx="1326442" cy="1688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The starting interest rate is 5%</a:t>
          </a:r>
        </a:p>
      </dsp:txBody>
      <dsp:txXfrm>
        <a:off x="2786357" y="0"/>
        <a:ext cx="1326442" cy="1688831"/>
      </dsp:txXfrm>
    </dsp:sp>
    <dsp:sp modelId="{4B305658-6EFB-49A5-9725-F7427D4CF292}">
      <dsp:nvSpPr>
        <dsp:cNvPr id="0" name=""/>
        <dsp:cNvSpPr/>
      </dsp:nvSpPr>
      <dsp:spPr>
        <a:xfrm>
          <a:off x="3238475" y="1899935"/>
          <a:ext cx="422207" cy="4222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B965E-A608-4A3B-A3BF-72FAF16A4979}">
      <dsp:nvSpPr>
        <dsp:cNvPr id="0" name=""/>
        <dsp:cNvSpPr/>
      </dsp:nvSpPr>
      <dsp:spPr>
        <a:xfrm>
          <a:off x="4179122" y="2533246"/>
          <a:ext cx="1326442" cy="1688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The Central Bank creates money in its accounts, and buys bonds.</a:t>
          </a:r>
        </a:p>
      </dsp:txBody>
      <dsp:txXfrm>
        <a:off x="4179122" y="2533246"/>
        <a:ext cx="1326442" cy="1688831"/>
      </dsp:txXfrm>
    </dsp:sp>
    <dsp:sp modelId="{FE3D6757-99C4-48D9-AE82-331B75237391}">
      <dsp:nvSpPr>
        <dsp:cNvPr id="0" name=""/>
        <dsp:cNvSpPr/>
      </dsp:nvSpPr>
      <dsp:spPr>
        <a:xfrm>
          <a:off x="4631240" y="1899935"/>
          <a:ext cx="422207" cy="4222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70CD84-D99C-49D1-AD72-631876CCB614}">
      <dsp:nvSpPr>
        <dsp:cNvPr id="0" name=""/>
        <dsp:cNvSpPr/>
      </dsp:nvSpPr>
      <dsp:spPr>
        <a:xfrm>
          <a:off x="5571887" y="0"/>
          <a:ext cx="1326442" cy="1688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The demand for bonds rises and their price increases.</a:t>
          </a:r>
        </a:p>
      </dsp:txBody>
      <dsp:txXfrm>
        <a:off x="5571887" y="0"/>
        <a:ext cx="1326442" cy="1688831"/>
      </dsp:txXfrm>
    </dsp:sp>
    <dsp:sp modelId="{D475D8F6-3E3D-4C48-A614-A081789673E7}">
      <dsp:nvSpPr>
        <dsp:cNvPr id="0" name=""/>
        <dsp:cNvSpPr/>
      </dsp:nvSpPr>
      <dsp:spPr>
        <a:xfrm>
          <a:off x="6024005" y="1899935"/>
          <a:ext cx="422207" cy="4222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20C41-CF8A-449C-BD70-DDA842D1F0F2}">
      <dsp:nvSpPr>
        <dsp:cNvPr id="0" name=""/>
        <dsp:cNvSpPr/>
      </dsp:nvSpPr>
      <dsp:spPr>
        <a:xfrm>
          <a:off x="6964652" y="2533246"/>
          <a:ext cx="1326442" cy="1688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Example: The bond trades now for $1250. The interest rate is 50/1250 or 4%.</a:t>
          </a:r>
        </a:p>
      </dsp:txBody>
      <dsp:txXfrm>
        <a:off x="6964652" y="2533246"/>
        <a:ext cx="1326442" cy="1688831"/>
      </dsp:txXfrm>
    </dsp:sp>
    <dsp:sp modelId="{BB09E4D6-7842-4AE0-A0B0-7D627CEB1B0C}">
      <dsp:nvSpPr>
        <dsp:cNvPr id="0" name=""/>
        <dsp:cNvSpPr/>
      </dsp:nvSpPr>
      <dsp:spPr>
        <a:xfrm>
          <a:off x="7416770" y="1899935"/>
          <a:ext cx="422207" cy="4222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459A47-56D8-49E4-A1D7-F2521C371DC4}">
      <dsp:nvSpPr>
        <dsp:cNvPr id="0" name=""/>
        <dsp:cNvSpPr/>
      </dsp:nvSpPr>
      <dsp:spPr>
        <a:xfrm>
          <a:off x="8357418" y="0"/>
          <a:ext cx="1326442" cy="1688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400" kern="1200"/>
            <a:t>Spending increases because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100" kern="1200"/>
            <a:t>The cost of borrowing falls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100" kern="1200"/>
            <a:t>The return to financial assets goes down</a:t>
          </a:r>
        </a:p>
      </dsp:txBody>
      <dsp:txXfrm>
        <a:off x="8357418" y="0"/>
        <a:ext cx="1326442" cy="1688831"/>
      </dsp:txXfrm>
    </dsp:sp>
    <dsp:sp modelId="{2DE8D6E6-91B9-4F78-A23B-30187176554D}">
      <dsp:nvSpPr>
        <dsp:cNvPr id="0" name=""/>
        <dsp:cNvSpPr/>
      </dsp:nvSpPr>
      <dsp:spPr>
        <a:xfrm>
          <a:off x="8809535" y="1899935"/>
          <a:ext cx="422207" cy="4222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5D663D-EDE8-48E4-A0F1-B5336C4045C9}">
      <dsp:nvSpPr>
        <dsp:cNvPr id="0" name=""/>
        <dsp:cNvSpPr/>
      </dsp:nvSpPr>
      <dsp:spPr>
        <a:xfrm>
          <a:off x="0" y="7581"/>
          <a:ext cx="10515600" cy="131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5600" kern="1200" dirty="0"/>
            <a:t>Solutions: Quantitative Easing</a:t>
          </a:r>
        </a:p>
      </dsp:txBody>
      <dsp:txXfrm>
        <a:off x="63968" y="71549"/>
        <a:ext cx="10387664" cy="1182464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D27CDA-9E8D-44A6-8ED4-388B6C4B152C}">
      <dsp:nvSpPr>
        <dsp:cNvPr id="0" name=""/>
        <dsp:cNvSpPr/>
      </dsp:nvSpPr>
      <dsp:spPr>
        <a:xfrm>
          <a:off x="0" y="3275482"/>
          <a:ext cx="10515600" cy="1075086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600" kern="1200" dirty="0"/>
            <a:t>Money from these purchases is then available to firms</a:t>
          </a:r>
        </a:p>
      </dsp:txBody>
      <dsp:txXfrm>
        <a:off x="0" y="3275482"/>
        <a:ext cx="10515600" cy="1075086"/>
      </dsp:txXfrm>
    </dsp:sp>
    <dsp:sp modelId="{0D71CB71-7873-4E2B-BCD7-4BD585053343}">
      <dsp:nvSpPr>
        <dsp:cNvPr id="0" name=""/>
        <dsp:cNvSpPr/>
      </dsp:nvSpPr>
      <dsp:spPr>
        <a:xfrm rot="10800000">
          <a:off x="0" y="1638125"/>
          <a:ext cx="10515600" cy="1653482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600" kern="1200" dirty="0"/>
            <a:t>These are shifted to the Central Banks ‘assets’ in the Balance sheet</a:t>
          </a:r>
        </a:p>
      </dsp:txBody>
      <dsp:txXfrm rot="10800000">
        <a:off x="0" y="1638125"/>
        <a:ext cx="10515600" cy="1074383"/>
      </dsp:txXfrm>
    </dsp:sp>
    <dsp:sp modelId="{E2C6A8BE-8F93-4EF6-9146-FDF42F884B15}">
      <dsp:nvSpPr>
        <dsp:cNvPr id="0" name=""/>
        <dsp:cNvSpPr/>
      </dsp:nvSpPr>
      <dsp:spPr>
        <a:xfrm rot="10800000">
          <a:off x="0" y="769"/>
          <a:ext cx="10515600" cy="1653482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600" kern="1200" dirty="0"/>
            <a:t>The US Fed and Bank of England especially purchase long-term financial securities in large volume</a:t>
          </a:r>
        </a:p>
      </dsp:txBody>
      <dsp:txXfrm rot="10800000">
        <a:off x="0" y="769"/>
        <a:ext cx="10515600" cy="1074383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B31B6-FACD-4A1C-AD3D-99A0E4922973}">
      <dsp:nvSpPr>
        <dsp:cNvPr id="0" name=""/>
        <dsp:cNvSpPr/>
      </dsp:nvSpPr>
      <dsp:spPr>
        <a:xfrm>
          <a:off x="0" y="7581"/>
          <a:ext cx="10515600" cy="131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5600" kern="1200"/>
            <a:t>Austerity</a:t>
          </a:r>
        </a:p>
      </dsp:txBody>
      <dsp:txXfrm>
        <a:off x="63968" y="71549"/>
        <a:ext cx="10387664" cy="1182464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CDE54D-FF98-4155-8205-DFB97E846C64}">
      <dsp:nvSpPr>
        <dsp:cNvPr id="0" name=""/>
        <dsp:cNvSpPr/>
      </dsp:nvSpPr>
      <dsp:spPr>
        <a:xfrm>
          <a:off x="0" y="3569039"/>
          <a:ext cx="10515600" cy="780818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This worsened the recession for these countries</a:t>
          </a:r>
        </a:p>
      </dsp:txBody>
      <dsp:txXfrm>
        <a:off x="0" y="3569039"/>
        <a:ext cx="10515600" cy="780818"/>
      </dsp:txXfrm>
    </dsp:sp>
    <dsp:sp modelId="{F40CC9A3-54CA-4891-AED5-0ADBA3DA0C93}">
      <dsp:nvSpPr>
        <dsp:cNvPr id="0" name=""/>
        <dsp:cNvSpPr/>
      </dsp:nvSpPr>
      <dsp:spPr>
        <a:xfrm rot="10800000">
          <a:off x="0" y="2379853"/>
          <a:ext cx="10515600" cy="1200899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To balance their budget deep cuts in government spending had to implemented</a:t>
          </a:r>
        </a:p>
      </dsp:txBody>
      <dsp:txXfrm rot="10800000">
        <a:off x="0" y="2379853"/>
        <a:ext cx="10515600" cy="780308"/>
      </dsp:txXfrm>
    </dsp:sp>
    <dsp:sp modelId="{3DFB4D36-30E3-4435-AA63-64A7F0DC81BF}">
      <dsp:nvSpPr>
        <dsp:cNvPr id="0" name=""/>
        <dsp:cNvSpPr/>
      </dsp:nvSpPr>
      <dsp:spPr>
        <a:xfrm rot="10800000">
          <a:off x="0" y="1190666"/>
          <a:ext cx="10515600" cy="1200899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 dirty="0"/>
            <a:t>These debt levels meant it Governments could not sell bonds to finance their deficits.</a:t>
          </a:r>
        </a:p>
      </dsp:txBody>
      <dsp:txXfrm rot="10800000">
        <a:off x="0" y="1190666"/>
        <a:ext cx="10515600" cy="780308"/>
      </dsp:txXfrm>
    </dsp:sp>
    <dsp:sp modelId="{84150ACD-33C3-4137-B2CB-7BAB62AC47F9}">
      <dsp:nvSpPr>
        <dsp:cNvPr id="0" name=""/>
        <dsp:cNvSpPr/>
      </dsp:nvSpPr>
      <dsp:spPr>
        <a:xfrm rot="10800000">
          <a:off x="0" y="1479"/>
          <a:ext cx="10515600" cy="1200899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 dirty="0"/>
            <a:t>Some countries had high sovereign risk</a:t>
          </a:r>
        </a:p>
      </dsp:txBody>
      <dsp:txXfrm rot="-10800000">
        <a:off x="0" y="1479"/>
        <a:ext cx="10515600" cy="421515"/>
      </dsp:txXfrm>
    </dsp:sp>
    <dsp:sp modelId="{25003E8A-D0B4-4690-BAEC-207CBEC4107A}">
      <dsp:nvSpPr>
        <dsp:cNvPr id="0" name=""/>
        <dsp:cNvSpPr/>
      </dsp:nvSpPr>
      <dsp:spPr>
        <a:xfrm>
          <a:off x="0" y="422994"/>
          <a:ext cx="10515600" cy="35906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kern="1200"/>
            <a:t>High debts meant financial markets considered them risky</a:t>
          </a:r>
        </a:p>
      </dsp:txBody>
      <dsp:txXfrm>
        <a:off x="0" y="422994"/>
        <a:ext cx="10515600" cy="359068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87B6E3-E5F9-4733-92CE-A62E1F66D3D3}">
      <dsp:nvSpPr>
        <dsp:cNvPr id="0" name=""/>
        <dsp:cNvSpPr/>
      </dsp:nvSpPr>
      <dsp:spPr>
        <a:xfrm>
          <a:off x="0" y="171381"/>
          <a:ext cx="10515600" cy="982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4200" kern="1200"/>
            <a:t>How did NZ and Australia get off lightly?</a:t>
          </a:r>
        </a:p>
      </dsp:txBody>
      <dsp:txXfrm>
        <a:off x="47976" y="219357"/>
        <a:ext cx="10419648" cy="886847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971F46-3C3A-4BC1-98B0-850752687435}">
      <dsp:nvSpPr>
        <dsp:cNvPr id="0" name=""/>
        <dsp:cNvSpPr/>
      </dsp:nvSpPr>
      <dsp:spPr>
        <a:xfrm>
          <a:off x="0" y="3275482"/>
          <a:ext cx="10515600" cy="1075086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600" kern="1200"/>
            <a:t>Both countries recovered quickly compared to others.</a:t>
          </a:r>
        </a:p>
      </dsp:txBody>
      <dsp:txXfrm>
        <a:off x="0" y="3275482"/>
        <a:ext cx="10515600" cy="1075086"/>
      </dsp:txXfrm>
    </dsp:sp>
    <dsp:sp modelId="{0B1D3923-DCAF-4B64-839C-D0E1B6A87760}">
      <dsp:nvSpPr>
        <dsp:cNvPr id="0" name=""/>
        <dsp:cNvSpPr/>
      </dsp:nvSpPr>
      <dsp:spPr>
        <a:xfrm rot="10800000">
          <a:off x="0" y="1638125"/>
          <a:ext cx="10515600" cy="1653482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600" kern="1200"/>
            <a:t>Australia did not go into recession at all</a:t>
          </a:r>
        </a:p>
      </dsp:txBody>
      <dsp:txXfrm rot="10800000">
        <a:off x="0" y="1638125"/>
        <a:ext cx="10515600" cy="1074383"/>
      </dsp:txXfrm>
    </dsp:sp>
    <dsp:sp modelId="{2CE20B44-6781-471C-9263-DB59E8410CB7}">
      <dsp:nvSpPr>
        <dsp:cNvPr id="0" name=""/>
        <dsp:cNvSpPr/>
      </dsp:nvSpPr>
      <dsp:spPr>
        <a:xfrm rot="10800000">
          <a:off x="0" y="769"/>
          <a:ext cx="10515600" cy="1653482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600" kern="1200" dirty="0"/>
            <a:t>NZ was already in recession because of the 2007/8 drought, high oil prices and declining house prices.</a:t>
          </a:r>
        </a:p>
      </dsp:txBody>
      <dsp:txXfrm rot="10800000">
        <a:off x="0" y="769"/>
        <a:ext cx="10515600" cy="1074383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F9B9B-A2B6-4208-B8F2-59F6F777E25C}">
      <dsp:nvSpPr>
        <dsp:cNvPr id="0" name=""/>
        <dsp:cNvSpPr/>
      </dsp:nvSpPr>
      <dsp:spPr>
        <a:xfrm>
          <a:off x="3261909" y="2841066"/>
          <a:ext cx="651681" cy="700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25840" y="0"/>
              </a:lnTo>
              <a:lnTo>
                <a:pt x="325840" y="700557"/>
              </a:lnTo>
              <a:lnTo>
                <a:pt x="651681" y="700557"/>
              </a:lnTo>
            </a:path>
          </a:pathLst>
        </a:custGeom>
        <a:noFill/>
        <a:ln w="63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DD6DAA-2866-4DA0-8E31-477F7E915BFB}">
      <dsp:nvSpPr>
        <dsp:cNvPr id="0" name=""/>
        <dsp:cNvSpPr/>
      </dsp:nvSpPr>
      <dsp:spPr>
        <a:xfrm>
          <a:off x="3261909" y="2140508"/>
          <a:ext cx="651681" cy="700557"/>
        </a:xfrm>
        <a:custGeom>
          <a:avLst/>
          <a:gdLst/>
          <a:ahLst/>
          <a:cxnLst/>
          <a:rect l="0" t="0" r="0" b="0"/>
          <a:pathLst>
            <a:path>
              <a:moveTo>
                <a:pt x="0" y="700557"/>
              </a:moveTo>
              <a:lnTo>
                <a:pt x="325840" y="700557"/>
              </a:lnTo>
              <a:lnTo>
                <a:pt x="325840" y="0"/>
              </a:lnTo>
              <a:lnTo>
                <a:pt x="651681" y="0"/>
              </a:lnTo>
            </a:path>
          </a:pathLst>
        </a:custGeom>
        <a:noFill/>
        <a:ln w="63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FF83FB-FB41-4FD8-9741-65F060C7B299}">
      <dsp:nvSpPr>
        <dsp:cNvPr id="0" name=""/>
        <dsp:cNvSpPr/>
      </dsp:nvSpPr>
      <dsp:spPr>
        <a:xfrm>
          <a:off x="3261909" y="693674"/>
          <a:ext cx="6516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1681" y="45720"/>
              </a:lnTo>
            </a:path>
          </a:pathLst>
        </a:custGeom>
        <a:noFill/>
        <a:ln w="63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9345A0-A411-42EC-90F6-5E79E2AD2C05}">
      <dsp:nvSpPr>
        <dsp:cNvPr id="0" name=""/>
        <dsp:cNvSpPr/>
      </dsp:nvSpPr>
      <dsp:spPr>
        <a:xfrm>
          <a:off x="3503" y="242487"/>
          <a:ext cx="3258405" cy="993813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 dirty="0"/>
            <a:t>Australia and NZ exported commodities, not durable goods.</a:t>
          </a:r>
        </a:p>
      </dsp:txBody>
      <dsp:txXfrm>
        <a:off x="3503" y="242487"/>
        <a:ext cx="3258405" cy="993813"/>
      </dsp:txXfrm>
    </dsp:sp>
    <dsp:sp modelId="{E944D110-267D-4FDF-9849-D31F5796D1DF}">
      <dsp:nvSpPr>
        <dsp:cNvPr id="0" name=""/>
        <dsp:cNvSpPr/>
      </dsp:nvSpPr>
      <dsp:spPr>
        <a:xfrm>
          <a:off x="3913590" y="242487"/>
          <a:ext cx="3258405" cy="993813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 dirty="0"/>
            <a:t>Prices for these remained high</a:t>
          </a:r>
        </a:p>
      </dsp:txBody>
      <dsp:txXfrm>
        <a:off x="3913590" y="242487"/>
        <a:ext cx="3258405" cy="993813"/>
      </dsp:txXfrm>
    </dsp:sp>
    <dsp:sp modelId="{A1467842-B89B-43A1-8FD4-73B17830BDC2}">
      <dsp:nvSpPr>
        <dsp:cNvPr id="0" name=""/>
        <dsp:cNvSpPr/>
      </dsp:nvSpPr>
      <dsp:spPr>
        <a:xfrm>
          <a:off x="3503" y="2344159"/>
          <a:ext cx="3258405" cy="993813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 dirty="0"/>
            <a:t>Both economies had a strong Asian export focus</a:t>
          </a:r>
        </a:p>
      </dsp:txBody>
      <dsp:txXfrm>
        <a:off x="3503" y="2344159"/>
        <a:ext cx="3258405" cy="993813"/>
      </dsp:txXfrm>
    </dsp:sp>
    <dsp:sp modelId="{5D2170DE-5529-4733-BEA0-8FBDF7B2AA2F}">
      <dsp:nvSpPr>
        <dsp:cNvPr id="0" name=""/>
        <dsp:cNvSpPr/>
      </dsp:nvSpPr>
      <dsp:spPr>
        <a:xfrm>
          <a:off x="3913590" y="1643602"/>
          <a:ext cx="3258405" cy="993813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/>
            <a:t>NZ signed FTA with China in 2008</a:t>
          </a:r>
        </a:p>
      </dsp:txBody>
      <dsp:txXfrm>
        <a:off x="3913590" y="1643602"/>
        <a:ext cx="3258405" cy="993813"/>
      </dsp:txXfrm>
    </dsp:sp>
    <dsp:sp modelId="{12280BE9-16CB-414A-BA03-D82689364E29}">
      <dsp:nvSpPr>
        <dsp:cNvPr id="0" name=""/>
        <dsp:cNvSpPr/>
      </dsp:nvSpPr>
      <dsp:spPr>
        <a:xfrm>
          <a:off x="3913590" y="3044716"/>
          <a:ext cx="3258405" cy="993813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/>
            <a:t>Asian region was much less impacted.</a:t>
          </a:r>
        </a:p>
      </dsp:txBody>
      <dsp:txXfrm>
        <a:off x="3913590" y="3044716"/>
        <a:ext cx="3258405" cy="993813"/>
      </dsp:txXfrm>
    </dsp:sp>
    <dsp:sp modelId="{21AF5B82-B8FC-448D-AA99-D1844A899F94}">
      <dsp:nvSpPr>
        <dsp:cNvPr id="0" name=""/>
        <dsp:cNvSpPr/>
      </dsp:nvSpPr>
      <dsp:spPr>
        <a:xfrm>
          <a:off x="3503" y="3745273"/>
          <a:ext cx="3258405" cy="993813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 dirty="0"/>
            <a:t>Instead of experiencing a drop in NX, it rose to offset the GFC</a:t>
          </a:r>
        </a:p>
      </dsp:txBody>
      <dsp:txXfrm>
        <a:off x="3503" y="3745273"/>
        <a:ext cx="3258405" cy="993813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B9B416-A02B-4E8B-8AED-A57E4A683A9F}">
      <dsp:nvSpPr>
        <dsp:cNvPr id="0" name=""/>
        <dsp:cNvSpPr/>
      </dsp:nvSpPr>
      <dsp:spPr>
        <a:xfrm>
          <a:off x="0" y="3749895"/>
          <a:ext cx="7175500" cy="1230799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100" kern="1200" dirty="0"/>
            <a:t>There was no ‘real’ financial crisis in Australia and NZ.</a:t>
          </a:r>
        </a:p>
      </dsp:txBody>
      <dsp:txXfrm>
        <a:off x="0" y="3749895"/>
        <a:ext cx="7175500" cy="664631"/>
      </dsp:txXfrm>
    </dsp:sp>
    <dsp:sp modelId="{A4B8DD89-EBE3-481B-985E-C726E424123B}">
      <dsp:nvSpPr>
        <dsp:cNvPr id="0" name=""/>
        <dsp:cNvSpPr/>
      </dsp:nvSpPr>
      <dsp:spPr>
        <a:xfrm>
          <a:off x="3503" y="4389910"/>
          <a:ext cx="2389497" cy="56616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/>
            <a:t>No banks in this region needed assistance</a:t>
          </a:r>
        </a:p>
      </dsp:txBody>
      <dsp:txXfrm>
        <a:off x="3503" y="4389910"/>
        <a:ext cx="2389497" cy="566167"/>
      </dsp:txXfrm>
    </dsp:sp>
    <dsp:sp modelId="{C268419A-9BE4-4FF4-8B1F-DBBF4C702CBE}">
      <dsp:nvSpPr>
        <dsp:cNvPr id="0" name=""/>
        <dsp:cNvSpPr/>
      </dsp:nvSpPr>
      <dsp:spPr>
        <a:xfrm>
          <a:off x="2393001" y="4389910"/>
          <a:ext cx="2389497" cy="56616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/>
            <a:t>15-30% did in US and UK</a:t>
          </a:r>
        </a:p>
      </dsp:txBody>
      <dsp:txXfrm>
        <a:off x="2393001" y="4389910"/>
        <a:ext cx="2389497" cy="566167"/>
      </dsp:txXfrm>
    </dsp:sp>
    <dsp:sp modelId="{0467BD7C-B384-4580-80EE-6842B450743F}">
      <dsp:nvSpPr>
        <dsp:cNvPr id="0" name=""/>
        <dsp:cNvSpPr/>
      </dsp:nvSpPr>
      <dsp:spPr>
        <a:xfrm>
          <a:off x="4782498" y="4389910"/>
          <a:ext cx="2389497" cy="56616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600" kern="1200" dirty="0"/>
            <a:t>80%+ in countries like Belgium</a:t>
          </a:r>
        </a:p>
      </dsp:txBody>
      <dsp:txXfrm>
        <a:off x="4782498" y="4389910"/>
        <a:ext cx="2389497" cy="566167"/>
      </dsp:txXfrm>
    </dsp:sp>
    <dsp:sp modelId="{3E8E70E4-6869-4323-920A-9BB5EEE1576B}">
      <dsp:nvSpPr>
        <dsp:cNvPr id="0" name=""/>
        <dsp:cNvSpPr/>
      </dsp:nvSpPr>
      <dsp:spPr>
        <a:xfrm rot="10800000">
          <a:off x="0" y="1875387"/>
          <a:ext cx="7175500" cy="1892969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100" kern="1200" dirty="0"/>
            <a:t>Both Reserve Banks were effective monitors, maintained a good regulatory framework to sustain bank balances.</a:t>
          </a:r>
        </a:p>
      </dsp:txBody>
      <dsp:txXfrm rot="10800000">
        <a:off x="0" y="1875387"/>
        <a:ext cx="7175500" cy="1229994"/>
      </dsp:txXfrm>
    </dsp:sp>
    <dsp:sp modelId="{3E5D4628-3D13-4DEA-B5A5-ADC969AE8A86}">
      <dsp:nvSpPr>
        <dsp:cNvPr id="0" name=""/>
        <dsp:cNvSpPr/>
      </dsp:nvSpPr>
      <dsp:spPr>
        <a:xfrm rot="10800000">
          <a:off x="0" y="880"/>
          <a:ext cx="7175500" cy="1892969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100" kern="1200" dirty="0"/>
            <a:t>Australian and NZ Banks were not attracted to Mortgage-Backed securities</a:t>
          </a:r>
        </a:p>
      </dsp:txBody>
      <dsp:txXfrm rot="10800000">
        <a:off x="0" y="880"/>
        <a:ext cx="7175500" cy="1229994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C0A63-4A82-4AF3-8EF8-A907F71DA215}">
      <dsp:nvSpPr>
        <dsp:cNvPr id="0" name=""/>
        <dsp:cNvSpPr/>
      </dsp:nvSpPr>
      <dsp:spPr>
        <a:xfrm>
          <a:off x="0" y="0"/>
          <a:ext cx="574198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8D451-47B3-484A-803C-AF28A155E88E}">
      <dsp:nvSpPr>
        <dsp:cNvPr id="0" name=""/>
        <dsp:cNvSpPr/>
      </dsp:nvSpPr>
      <dsp:spPr>
        <a:xfrm>
          <a:off x="0" y="0"/>
          <a:ext cx="5741987" cy="1256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 dirty="0"/>
            <a:t>Both countries started the GFC in a period of (relatively) high interest rates and very low public debt. </a:t>
          </a:r>
        </a:p>
      </dsp:txBody>
      <dsp:txXfrm>
        <a:off x="0" y="0"/>
        <a:ext cx="5741987" cy="1256006"/>
      </dsp:txXfrm>
    </dsp:sp>
    <dsp:sp modelId="{21BDEC07-1C82-4903-9718-716DF16EC619}">
      <dsp:nvSpPr>
        <dsp:cNvPr id="0" name=""/>
        <dsp:cNvSpPr/>
      </dsp:nvSpPr>
      <dsp:spPr>
        <a:xfrm>
          <a:off x="0" y="1256006"/>
          <a:ext cx="574198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5BFB4-8BF9-490B-9338-6EC74AE00698}">
      <dsp:nvSpPr>
        <dsp:cNvPr id="0" name=""/>
        <dsp:cNvSpPr/>
      </dsp:nvSpPr>
      <dsp:spPr>
        <a:xfrm>
          <a:off x="0" y="1256006"/>
          <a:ext cx="5741987" cy="1256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 dirty="0"/>
            <a:t>This meant there was room for bigger interest rate cuts than the US or UK</a:t>
          </a:r>
        </a:p>
      </dsp:txBody>
      <dsp:txXfrm>
        <a:off x="0" y="1256006"/>
        <a:ext cx="5741987" cy="1256006"/>
      </dsp:txXfrm>
    </dsp:sp>
    <dsp:sp modelId="{679D949B-7395-4CAE-8268-3297CE060FEC}">
      <dsp:nvSpPr>
        <dsp:cNvPr id="0" name=""/>
        <dsp:cNvSpPr/>
      </dsp:nvSpPr>
      <dsp:spPr>
        <a:xfrm>
          <a:off x="0" y="2512012"/>
          <a:ext cx="574198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A9AF9-D6EA-4656-B8DF-CD83B467F3D6}">
      <dsp:nvSpPr>
        <dsp:cNvPr id="0" name=""/>
        <dsp:cNvSpPr/>
      </dsp:nvSpPr>
      <dsp:spPr>
        <a:xfrm>
          <a:off x="0" y="2512012"/>
          <a:ext cx="5741987" cy="1256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 dirty="0"/>
            <a:t>Low (net) public debt made it easier to borrow money to run deficits for fiscal expansion</a:t>
          </a:r>
        </a:p>
      </dsp:txBody>
      <dsp:txXfrm>
        <a:off x="0" y="2512012"/>
        <a:ext cx="5741987" cy="1256006"/>
      </dsp:txXfrm>
    </dsp:sp>
    <dsp:sp modelId="{41D7787A-14F2-431D-99DC-E4FDD5703337}">
      <dsp:nvSpPr>
        <dsp:cNvPr id="0" name=""/>
        <dsp:cNvSpPr/>
      </dsp:nvSpPr>
      <dsp:spPr>
        <a:xfrm>
          <a:off x="0" y="3768018"/>
          <a:ext cx="574198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F8F35-DC19-4E08-86E8-E0FB28815946}">
      <dsp:nvSpPr>
        <dsp:cNvPr id="0" name=""/>
        <dsp:cNvSpPr/>
      </dsp:nvSpPr>
      <dsp:spPr>
        <a:xfrm>
          <a:off x="0" y="3768018"/>
          <a:ext cx="5741987" cy="1256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 dirty="0"/>
            <a:t>While both countries increased public debt, it didn’t reach levels some countries started the GFC with. </a:t>
          </a:r>
        </a:p>
      </dsp:txBody>
      <dsp:txXfrm>
        <a:off x="0" y="3768018"/>
        <a:ext cx="5741987" cy="12560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3B5F6C-7147-4370-8AA3-64F41DDFD9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30640-1F0F-4FD2-8E0F-D61F3EB9CF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76A23-F64E-410E-9933-5CF80C92A90C}" type="datetimeFigureOut">
              <a:rPr lang="en-ID" smtClean="0"/>
              <a:t>14/08/2023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83D6D-9183-40AA-8D07-E195A3312C5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B6699-E673-4492-8D3D-8CF2AFF95C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317EE-0622-4866-8D18-25CE03D275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88866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E8909-E5A9-4597-8B2B-4FE5570D75EB}" type="datetimeFigureOut">
              <a:rPr lang="en-ID" smtClean="0"/>
              <a:t>14/08/2023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C75A8-F08B-4865-8B51-4C323A3291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4476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D71F969-6E0E-4CE4-8D83-FB7E1E36943B}"/>
              </a:ext>
            </a:extLst>
          </p:cNvPr>
          <p:cNvSpPr/>
          <p:nvPr userDrawn="1"/>
        </p:nvSpPr>
        <p:spPr>
          <a:xfrm>
            <a:off x="2986617" y="1583266"/>
            <a:ext cx="3886200" cy="4360334"/>
          </a:xfrm>
          <a:prstGeom prst="rect">
            <a:avLst/>
          </a:prstGeom>
          <a:solidFill>
            <a:srgbClr val="EFEFE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A5C42-8660-4144-90F8-83E42246A6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56062" y="2218764"/>
            <a:ext cx="4492788" cy="3004741"/>
          </a:xfrm>
          <a:noFill/>
          <a:ln w="76200">
            <a:noFill/>
          </a:ln>
        </p:spPr>
        <p:txBody>
          <a:bodyPr anchor="ctr">
            <a:noAutofit/>
          </a:bodyPr>
          <a:lstStyle>
            <a:lvl1pPr algn="l">
              <a:defRPr sz="7200">
                <a:solidFill>
                  <a:srgbClr val="353638"/>
                </a:solidFill>
                <a:latin typeface="+mj-lt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84757-0A31-42A4-8AF4-E9682F7256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04084" y="5490105"/>
            <a:ext cx="3549716" cy="453495"/>
          </a:xfrm>
        </p:spPr>
        <p:txBody>
          <a:bodyPr/>
          <a:lstStyle>
            <a:lvl1pPr marL="0" indent="0" algn="ctr">
              <a:buNone/>
              <a:defRPr sz="2400" i="0">
                <a:solidFill>
                  <a:schemeClr val="accent6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AE704-8736-43EB-B790-0237AE0C5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14/08/2023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2D268-297F-4761-8EF4-DC6A0F98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  <a:latin typeface="Playfair Display" panose="00000500000000000000" pitchFamily="2" charset="0"/>
              </a:defRPr>
            </a:lvl1pPr>
          </a:lstStyle>
          <a:p>
            <a:endParaRPr lang="en-ID" dirty="0">
              <a:solidFill>
                <a:srgbClr val="EFEFE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180F5-C3D6-4504-BDF3-1BCE2F53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DE7881-E5A5-46DB-B675-AAD88C9EC8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3950" y="0"/>
            <a:ext cx="3514725" cy="4752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94618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266700" y="70418"/>
            <a:ext cx="11658600" cy="633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02065"/>
            <a:ext cx="5105927" cy="1325563"/>
          </a:xfrm>
        </p:spPr>
        <p:txBody>
          <a:bodyPr>
            <a:noAutofit/>
          </a:bodyPr>
          <a:lstStyle>
            <a:lvl1pPr>
              <a:defRPr sz="7200">
                <a:solidFill>
                  <a:srgbClr val="353638"/>
                </a:solidFill>
              </a:defRPr>
            </a:lvl1pPr>
          </a:lstStyle>
          <a:p>
            <a:r>
              <a:rPr lang="en-US" dirty="0"/>
              <a:t>title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14/08/2023</a:t>
            </a:fld>
            <a:endParaRPr lang="en-ID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A6F1EC-F7C2-4665-9DDF-2E52290BFA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33551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800">
                <a:solidFill>
                  <a:srgbClr val="353638"/>
                </a:solidFill>
              </a:defRPr>
            </a:lvl1pPr>
            <a:lvl2pPr algn="l">
              <a:defRPr sz="1600">
                <a:solidFill>
                  <a:srgbClr val="353638"/>
                </a:solidFill>
              </a:defRPr>
            </a:lvl2pPr>
            <a:lvl3pPr algn="l">
              <a:defRPr sz="1400">
                <a:solidFill>
                  <a:srgbClr val="353638"/>
                </a:solidFill>
              </a:defRPr>
            </a:lvl3pPr>
            <a:lvl4pPr algn="l">
              <a:defRPr sz="1200">
                <a:solidFill>
                  <a:srgbClr val="353638"/>
                </a:solidFill>
              </a:defRPr>
            </a:lvl4pPr>
            <a:lvl5pPr algn="l">
              <a:defRPr sz="120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B455469-8D17-467F-A532-836304E7BC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075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400">
                <a:solidFill>
                  <a:srgbClr val="353638"/>
                </a:solidFill>
              </a:defRPr>
            </a:lvl1pPr>
            <a:lvl2pPr algn="l">
              <a:defRPr sz="1200">
                <a:solidFill>
                  <a:srgbClr val="353638"/>
                </a:solidFill>
              </a:defRPr>
            </a:lvl2pPr>
            <a:lvl3pPr algn="l">
              <a:defRPr sz="1100">
                <a:solidFill>
                  <a:srgbClr val="353638"/>
                </a:solidFill>
              </a:defRPr>
            </a:lvl3pPr>
            <a:lvl4pPr algn="l">
              <a:defRPr sz="1050">
                <a:solidFill>
                  <a:srgbClr val="353638"/>
                </a:solidFill>
              </a:defRPr>
            </a:lvl4pPr>
            <a:lvl5pPr algn="l">
              <a:defRPr sz="105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F294ABF-07A9-44CD-AC9B-A0922AEA59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8599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400">
                <a:solidFill>
                  <a:srgbClr val="353638"/>
                </a:solidFill>
              </a:defRPr>
            </a:lvl1pPr>
            <a:lvl2pPr algn="l">
              <a:defRPr sz="1200">
                <a:solidFill>
                  <a:srgbClr val="353638"/>
                </a:solidFill>
              </a:defRPr>
            </a:lvl2pPr>
            <a:lvl3pPr algn="l">
              <a:defRPr sz="1100">
                <a:solidFill>
                  <a:srgbClr val="353638"/>
                </a:solidFill>
              </a:defRPr>
            </a:lvl3pPr>
            <a:lvl4pPr algn="l">
              <a:defRPr sz="1050">
                <a:solidFill>
                  <a:srgbClr val="353638"/>
                </a:solidFill>
              </a:defRPr>
            </a:lvl4pPr>
            <a:lvl5pPr algn="l">
              <a:defRPr sz="105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9A8ED02-4B65-47C9-A125-EB2355B93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33551" y="2709727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  <a:endParaRPr lang="en-ID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34E66934-F5D3-4FDA-BA1C-45655FDDAE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1075" y="2709726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02</a:t>
            </a:r>
            <a:endParaRPr lang="en-ID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3C5B7C1C-3DBB-4926-AA3C-772DCC1A13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8599" y="2730275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03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4463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192156" y="248479"/>
            <a:ext cx="11658600" cy="633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244" y="248479"/>
            <a:ext cx="10760765" cy="1118562"/>
          </a:xfrm>
        </p:spPr>
        <p:txBody>
          <a:bodyPr>
            <a:noAutofit/>
          </a:bodyPr>
          <a:lstStyle>
            <a:lvl1pPr>
              <a:defRPr sz="7200">
                <a:solidFill>
                  <a:srgbClr val="353638"/>
                </a:solidFill>
              </a:defRPr>
            </a:lvl1pPr>
          </a:lstStyle>
          <a:p>
            <a:r>
              <a:rPr lang="en-US" dirty="0"/>
              <a:t>title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14/08/2023</a:t>
            </a:fld>
            <a:endParaRPr lang="en-ID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A6F1EC-F7C2-4665-9DDF-2E52290BFA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1244" y="1623918"/>
            <a:ext cx="10760765" cy="4222078"/>
          </a:xfrm>
        </p:spPr>
        <p:txBody>
          <a:bodyPr anchor="t">
            <a:noAutofit/>
          </a:bodyPr>
          <a:lstStyle>
            <a:lvl1pPr algn="l">
              <a:defRPr sz="1800">
                <a:solidFill>
                  <a:srgbClr val="353638"/>
                </a:solidFill>
              </a:defRPr>
            </a:lvl1pPr>
            <a:lvl2pPr algn="l">
              <a:defRPr sz="1600">
                <a:solidFill>
                  <a:srgbClr val="353638"/>
                </a:solidFill>
              </a:defRPr>
            </a:lvl2pPr>
            <a:lvl3pPr algn="l">
              <a:defRPr sz="1400">
                <a:solidFill>
                  <a:srgbClr val="353638"/>
                </a:solidFill>
              </a:defRPr>
            </a:lvl3pPr>
            <a:lvl4pPr algn="l">
              <a:defRPr sz="1200">
                <a:solidFill>
                  <a:srgbClr val="353638"/>
                </a:solidFill>
              </a:defRPr>
            </a:lvl4pPr>
            <a:lvl5pPr algn="l">
              <a:defRPr sz="120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821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F63E014-1321-48E9-B52A-FB0C6219386D}"/>
              </a:ext>
            </a:extLst>
          </p:cNvPr>
          <p:cNvSpPr/>
          <p:nvPr userDrawn="1"/>
        </p:nvSpPr>
        <p:spPr>
          <a:xfrm>
            <a:off x="0" y="1583267"/>
            <a:ext cx="3167795" cy="52681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E9408FB-A5AE-4EEB-950E-702672377409}"/>
              </a:ext>
            </a:extLst>
          </p:cNvPr>
          <p:cNvSpPr/>
          <p:nvPr userDrawn="1"/>
        </p:nvSpPr>
        <p:spPr>
          <a:xfrm>
            <a:off x="509900" y="3546662"/>
            <a:ext cx="3167795" cy="3015876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348D8E-0493-4EF1-B782-5EE808C27BA7}"/>
              </a:ext>
            </a:extLst>
          </p:cNvPr>
          <p:cNvSpPr/>
          <p:nvPr userDrawn="1"/>
        </p:nvSpPr>
        <p:spPr>
          <a:xfrm>
            <a:off x="10456333" y="1"/>
            <a:ext cx="1735666" cy="55352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9527124" y="1853679"/>
            <a:ext cx="3681241" cy="840691"/>
          </a:xfrm>
        </p:spPr>
        <p:txBody>
          <a:bodyPr>
            <a:noAutofit/>
          </a:bodyPr>
          <a:lstStyle>
            <a:lvl1pPr>
              <a:defRPr sz="5400">
                <a:solidFill>
                  <a:srgbClr val="EFEFEF"/>
                </a:solidFill>
              </a:defRPr>
            </a:lvl1pPr>
          </a:lstStyle>
          <a:p>
            <a:r>
              <a:rPr lang="en-US" dirty="0"/>
              <a:t>about us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110" y="6356350"/>
            <a:ext cx="2743200" cy="365125"/>
          </a:xfrm>
        </p:spPr>
        <p:txBody>
          <a:bodyPr/>
          <a:lstStyle/>
          <a:p>
            <a:fld id="{79AA9DB5-A1F6-4624-970D-0BADA959D4A3}" type="datetimeFigureOut">
              <a:rPr lang="en-ID" smtClean="0"/>
              <a:t>14/08/2023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7596" y="6356350"/>
            <a:ext cx="4114800" cy="365125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4206" y="6356350"/>
            <a:ext cx="2743200" cy="365125"/>
          </a:xfrm>
        </p:spPr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B9D8F12-25F7-426A-B193-60FF98B29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664825" y="2472112"/>
            <a:ext cx="3005939" cy="3015876"/>
          </a:xfrm>
          <a:prstGeom prst="rect">
            <a:avLst/>
          </a:prstGeom>
          <a:ln w="76200"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rgbClr val="63685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79000F2-C3BD-4EE0-A686-60147953B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42520" y="1193799"/>
            <a:ext cx="3876143" cy="3716867"/>
          </a:xfrm>
        </p:spPr>
        <p:txBody>
          <a:bodyPr/>
          <a:lstStyle>
            <a:lvl1pPr marL="0" indent="0" algn="just"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922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AF841DC-D574-4860-A54E-DCDF6F8E2BAC}"/>
              </a:ext>
            </a:extLst>
          </p:cNvPr>
          <p:cNvSpPr/>
          <p:nvPr userDrawn="1"/>
        </p:nvSpPr>
        <p:spPr>
          <a:xfrm>
            <a:off x="1105980" y="1389340"/>
            <a:ext cx="2376995" cy="2385080"/>
          </a:xfrm>
          <a:prstGeom prst="ellipse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488F14-0336-4CEB-B7E2-A0890AA0CF56}"/>
              </a:ext>
            </a:extLst>
          </p:cNvPr>
          <p:cNvSpPr/>
          <p:nvPr userDrawn="1"/>
        </p:nvSpPr>
        <p:spPr>
          <a:xfrm>
            <a:off x="2544233" y="873125"/>
            <a:ext cx="3886200" cy="50503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4C43F-DBE5-4AEA-9C3F-8E3539CAF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311997" y="3340966"/>
            <a:ext cx="4705205" cy="1325563"/>
          </a:xfrm>
        </p:spPr>
        <p:txBody>
          <a:bodyPr/>
          <a:lstStyle>
            <a:lvl1pPr algn="l">
              <a:defRPr sz="66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heading</a:t>
            </a:r>
            <a:endParaRPr lang="en-ID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7D6B8C-279B-491D-A3BC-1A71497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9DB5-A1F6-4624-970D-0BADA959D4A3}" type="datetimeFigureOut">
              <a:rPr lang="en-ID" smtClean="0"/>
              <a:t>14/08/2023</a:t>
            </a:fld>
            <a:endParaRPr lang="en-ID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55452E-2FAF-4D88-880B-0CDDE3FD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29B176-3BD8-48FB-A73F-E819CB2E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6AC282-F079-475F-BD8B-2496927CC0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0363" y="1262592"/>
            <a:ext cx="3292475" cy="429683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72AC95-6CBE-4235-A692-1840BBD3E6B0}"/>
              </a:ext>
            </a:extLst>
          </p:cNvPr>
          <p:cNvSpPr/>
          <p:nvPr userDrawn="1"/>
        </p:nvSpPr>
        <p:spPr>
          <a:xfrm>
            <a:off x="6929945" y="873125"/>
            <a:ext cx="3886200" cy="50503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EFE4270-4E02-42BA-84A0-06536195F3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69141" y="1262592"/>
            <a:ext cx="3292475" cy="429683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EE017B-1E6F-4206-BCBD-97EAC2046E15}"/>
              </a:ext>
            </a:extLst>
          </p:cNvPr>
          <p:cNvSpPr/>
          <p:nvPr userDrawn="1"/>
        </p:nvSpPr>
        <p:spPr>
          <a:xfrm>
            <a:off x="9647767" y="4941358"/>
            <a:ext cx="2544233" cy="161925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511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9AFA-F1A4-4219-979B-6CECB1B29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23922" y="3429000"/>
            <a:ext cx="3823528" cy="1645189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one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0B6C0-F851-4755-8DFC-C25496DDE40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523922" y="5101177"/>
            <a:ext cx="3823528" cy="548145"/>
          </a:xfrm>
        </p:spPr>
        <p:txBody>
          <a:bodyPr/>
          <a:lstStyle>
            <a:lvl1pPr marL="0" indent="0">
              <a:buNone/>
              <a:defRPr sz="2400">
                <a:solidFill>
                  <a:srgbClr val="76838B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DE03B-7B5E-468E-A317-7B5F0B33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14/08/2023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3C55C-16DA-450F-AED0-FF4EEBF3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842-8D05-4CC8-A307-EDD41A31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E026D4-5A09-4BF1-92DC-7B7C5907F5F4}"/>
              </a:ext>
            </a:extLst>
          </p:cNvPr>
          <p:cNvSpPr/>
          <p:nvPr userDrawn="1"/>
        </p:nvSpPr>
        <p:spPr>
          <a:xfrm>
            <a:off x="2641602" y="0"/>
            <a:ext cx="1346200" cy="52681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B9FB54-2CFF-4F2A-8435-00E9AC2BAB52}"/>
              </a:ext>
            </a:extLst>
          </p:cNvPr>
          <p:cNvSpPr/>
          <p:nvPr userDrawn="1"/>
        </p:nvSpPr>
        <p:spPr>
          <a:xfrm>
            <a:off x="3133142" y="1481495"/>
            <a:ext cx="2226259" cy="2119494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891652-7A20-4E89-A6F3-F4466C0F12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9342" y="2888186"/>
            <a:ext cx="1600201" cy="1081627"/>
          </a:xfrm>
        </p:spPr>
        <p:txBody>
          <a:bodyPr>
            <a:noAutofit/>
          </a:bodyPr>
          <a:lstStyle>
            <a:lvl1pPr>
              <a:buNone/>
              <a:defRPr sz="7200">
                <a:latin typeface="+mj-lt"/>
              </a:defRPr>
            </a:lvl1pPr>
          </a:lstStyle>
          <a:p>
            <a:pPr lvl="0"/>
            <a:r>
              <a:rPr lang="en-US" dirty="0"/>
              <a:t>01.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38507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A733045-AE48-4203-B7B6-A2CEF026459C}"/>
              </a:ext>
            </a:extLst>
          </p:cNvPr>
          <p:cNvSpPr/>
          <p:nvPr userDrawn="1"/>
        </p:nvSpPr>
        <p:spPr>
          <a:xfrm>
            <a:off x="9667874" y="1005191"/>
            <a:ext cx="2524125" cy="5050367"/>
          </a:xfrm>
          <a:prstGeom prst="rect">
            <a:avLst/>
          </a:prstGeom>
          <a:solidFill>
            <a:srgbClr val="656A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2D448-C2E1-4A6B-A6C4-73B446CAC7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00982" y="576471"/>
            <a:ext cx="7474054" cy="505036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2pPr>
            <a:lvl3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3pPr>
            <a:lvl4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Pointers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14/08/2023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 dirty="0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416728" y="2803765"/>
            <a:ext cx="6509855" cy="1325563"/>
          </a:xfrm>
        </p:spPr>
        <p:txBody>
          <a:bodyPr/>
          <a:lstStyle>
            <a:lvl1pPr algn="ctr">
              <a:defRPr sz="660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headlines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5343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14/08/2023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 dirty="0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078" y="604440"/>
            <a:ext cx="2856321" cy="1373447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defRPr sz="5000" baseline="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EEB17F-2A02-4B77-A3AA-8A73C43E030C}"/>
              </a:ext>
            </a:extLst>
          </p:cNvPr>
          <p:cNvSpPr/>
          <p:nvPr userDrawn="1"/>
        </p:nvSpPr>
        <p:spPr>
          <a:xfrm>
            <a:off x="11857038" y="1643061"/>
            <a:ext cx="334962" cy="3571875"/>
          </a:xfrm>
          <a:prstGeom prst="rect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EAFA92-5BC4-4C76-AB3A-F07382CE2FE7}"/>
              </a:ext>
            </a:extLst>
          </p:cNvPr>
          <p:cNvSpPr/>
          <p:nvPr userDrawn="1"/>
        </p:nvSpPr>
        <p:spPr>
          <a:xfrm>
            <a:off x="1" y="1643061"/>
            <a:ext cx="334962" cy="3571875"/>
          </a:xfrm>
          <a:prstGeom prst="rect">
            <a:avLst/>
          </a:prstGeom>
          <a:solidFill>
            <a:srgbClr val="636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D047C3-3A14-48B9-97EF-583EA3664C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46525" y="604838"/>
            <a:ext cx="7175500" cy="498157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3E29AE-4369-4A02-9329-B575450E55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5488" y="2157413"/>
            <a:ext cx="2855912" cy="34290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4038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14/08/2023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 dirty="0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7751" y="561766"/>
            <a:ext cx="4505326" cy="1325563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r">
              <a:defRPr sz="5400">
                <a:solidFill>
                  <a:srgbClr val="636852"/>
                </a:solidFill>
                <a:latin typeface="+mj-lt"/>
              </a:defRPr>
            </a:lvl1pPr>
          </a:lstStyle>
          <a:p>
            <a:r>
              <a:rPr lang="en-US" dirty="0"/>
              <a:t>Caption</a:t>
            </a:r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605E1E-A41F-4026-B324-E493E86298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1" y="2013916"/>
            <a:ext cx="4505326" cy="3571875"/>
          </a:xfrm>
        </p:spPr>
        <p:txBody>
          <a:bodyPr anchor="t">
            <a:normAutofit/>
          </a:bodyPr>
          <a:lstStyle>
            <a:lvl1pPr algn="r">
              <a:defRPr sz="24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600"/>
            </a:lvl4pPr>
            <a:lvl5pPr algn="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5A69C2-8380-4B7A-AF27-D3663FC0B534}"/>
              </a:ext>
            </a:extLst>
          </p:cNvPr>
          <p:cNvSpPr/>
          <p:nvPr userDrawn="1"/>
        </p:nvSpPr>
        <p:spPr>
          <a:xfrm>
            <a:off x="1" y="1643061"/>
            <a:ext cx="334962" cy="3571875"/>
          </a:xfrm>
          <a:prstGeom prst="rect">
            <a:avLst/>
          </a:prstGeom>
          <a:solidFill>
            <a:srgbClr val="636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E118BF-7505-45FF-92D5-F46BE289494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1" y="561766"/>
            <a:ext cx="5741988" cy="50240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909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17E9D182-679B-449F-AB58-AE0696AF19FC}"/>
              </a:ext>
            </a:extLst>
          </p:cNvPr>
          <p:cNvSpPr/>
          <p:nvPr userDrawn="1"/>
        </p:nvSpPr>
        <p:spPr>
          <a:xfrm>
            <a:off x="6388100" y="1019703"/>
            <a:ext cx="2582333" cy="2582333"/>
          </a:xfrm>
          <a:prstGeom prst="ellipse">
            <a:avLst/>
          </a:prstGeom>
          <a:solidFill>
            <a:srgbClr val="6368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91818F-A3F6-4729-A6E3-846786BC5639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50614-111B-481D-B661-7F1BC0215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103" y="223091"/>
            <a:ext cx="5394193" cy="1185916"/>
          </a:xfrm>
        </p:spPr>
        <p:txBody>
          <a:bodyPr anchor="b"/>
          <a:lstStyle>
            <a:lvl1pPr>
              <a:defRPr sz="6000">
                <a:solidFill>
                  <a:srgbClr val="353638"/>
                </a:solidFill>
              </a:defRPr>
            </a:lvl1pPr>
          </a:lstStyle>
          <a:p>
            <a:r>
              <a:rPr lang="en-US" dirty="0"/>
              <a:t>heading</a:t>
            </a:r>
            <a:endParaRPr lang="en-ID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6262B-23B8-4AB8-A52A-A96F9FF6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14/08/2023</a:t>
            </a:fld>
            <a:endParaRPr lang="en-I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B139A-A351-4040-A6D4-8C0AC653C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endParaRPr lang="en-ID" dirty="0">
              <a:solidFill>
                <a:srgbClr val="353638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01873-32A3-4CC1-8939-73F0B43D5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5FDF9DBB-F6E4-49E6-91A7-3787355D4A1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08102" y="1554481"/>
            <a:ext cx="5394193" cy="4615286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2544C3-7AB9-446F-B7CB-6EC90ED4D621}"/>
              </a:ext>
            </a:extLst>
          </p:cNvPr>
          <p:cNvSpPr/>
          <p:nvPr userDrawn="1"/>
        </p:nvSpPr>
        <p:spPr>
          <a:xfrm>
            <a:off x="7469714" y="2175403"/>
            <a:ext cx="2142067" cy="13546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020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CEE02BF-95CD-4681-9CD4-193772568AB0}"/>
              </a:ext>
            </a:extLst>
          </p:cNvPr>
          <p:cNvSpPr/>
          <p:nvPr userDrawn="1"/>
        </p:nvSpPr>
        <p:spPr>
          <a:xfrm>
            <a:off x="0" y="1977887"/>
            <a:ext cx="1346200" cy="43784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C24A95-F3A6-4009-9B14-091B146F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9DB5-A1F6-4624-970D-0BADA959D4A3}" type="datetimeFigureOut">
              <a:rPr lang="en-ID" smtClean="0"/>
              <a:t>14/08/2023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536-94BF-4A7B-A629-1E4C5D3C9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20CA9-CEDE-4609-BDD5-29AC30C2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39C5DDE-7DF8-4141-A25B-797D71AB3A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18328" y="403692"/>
            <a:ext cx="8650941" cy="556680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NZ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C51530-0D98-4F9E-AD07-640FAF20AF4F}"/>
              </a:ext>
            </a:extLst>
          </p:cNvPr>
          <p:cNvSpPr/>
          <p:nvPr userDrawn="1"/>
        </p:nvSpPr>
        <p:spPr>
          <a:xfrm>
            <a:off x="11857038" y="1643061"/>
            <a:ext cx="334962" cy="3571875"/>
          </a:xfrm>
          <a:prstGeom prst="rect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A9FDC3-F541-464C-AD32-6B0F5284AF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019" y="403692"/>
            <a:ext cx="2856321" cy="1574195"/>
          </a:xfrm>
        </p:spPr>
        <p:txBody>
          <a:bodyPr>
            <a:normAutofit/>
          </a:bodyPr>
          <a:lstStyle>
            <a:lvl1pPr>
              <a:defRPr sz="5400">
                <a:solidFill>
                  <a:srgbClr val="636852"/>
                </a:solidFill>
                <a:latin typeface="+mj-lt"/>
              </a:defRPr>
            </a:lvl1pPr>
          </a:lstStyle>
          <a:p>
            <a:r>
              <a:rPr lang="en-US" dirty="0"/>
              <a:t>Picture Title</a:t>
            </a:r>
            <a:endParaRPr lang="en-ID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5C31BCC-2FC0-42D9-B311-222BD6C547E3}"/>
              </a:ext>
            </a:extLst>
          </p:cNvPr>
          <p:cNvSpPr/>
          <p:nvPr userDrawn="1"/>
        </p:nvSpPr>
        <p:spPr>
          <a:xfrm>
            <a:off x="232019" y="3187093"/>
            <a:ext cx="2226259" cy="2119494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03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266700" y="268817"/>
            <a:ext cx="11658600" cy="6332008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96672" y="1355179"/>
            <a:ext cx="7611034" cy="3444874"/>
          </a:xfrm>
        </p:spPr>
        <p:txBody>
          <a:bodyPr>
            <a:noAutofit/>
          </a:bodyPr>
          <a:lstStyle>
            <a:lvl1pPr algn="ctr">
              <a:defRPr sz="4800">
                <a:solidFill>
                  <a:srgbClr val="EFEFEF"/>
                </a:solidFill>
              </a:defRPr>
            </a:lvl1pPr>
          </a:lstStyle>
          <a:p>
            <a:r>
              <a:rPr lang="en-US" dirty="0"/>
              <a:t>quote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14/08/2023</a:t>
            </a:fld>
            <a:endParaRPr lang="en-ID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endParaRPr lang="en-ID">
              <a:solidFill>
                <a:srgbClr val="EFEFE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9A8ED02-4B65-47C9-A125-EB2355B93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999" y="5337358"/>
            <a:ext cx="2609850" cy="463367"/>
          </a:xfrm>
        </p:spPr>
        <p:txBody>
          <a:bodyPr anchor="t">
            <a:normAutofit/>
          </a:bodyPr>
          <a:lstStyle>
            <a:lvl1pPr algn="r">
              <a:buNone/>
              <a:defRPr sz="2800">
                <a:solidFill>
                  <a:srgbClr val="76838B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- author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75F29E-4C36-40B4-A4AE-4B16EEA6E266}"/>
              </a:ext>
            </a:extLst>
          </p:cNvPr>
          <p:cNvSpPr txBox="1"/>
          <p:nvPr userDrawn="1"/>
        </p:nvSpPr>
        <p:spPr>
          <a:xfrm>
            <a:off x="1409380" y="1016950"/>
            <a:ext cx="99097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0" dirty="0">
                <a:solidFill>
                  <a:srgbClr val="76838B"/>
                </a:solidFill>
              </a:rPr>
              <a:t>“</a:t>
            </a:r>
            <a:endParaRPr lang="en-ID" sz="14000" dirty="0">
              <a:solidFill>
                <a:srgbClr val="76838B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668F2E-85D4-46F6-9DAC-5164D0D5E5E4}"/>
              </a:ext>
            </a:extLst>
          </p:cNvPr>
          <p:cNvSpPr txBox="1"/>
          <p:nvPr userDrawn="1"/>
        </p:nvSpPr>
        <p:spPr>
          <a:xfrm rot="10800000">
            <a:off x="10184336" y="2923352"/>
            <a:ext cx="99097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0" dirty="0">
                <a:solidFill>
                  <a:srgbClr val="76838B"/>
                </a:solidFill>
              </a:rPr>
              <a:t>“</a:t>
            </a:r>
            <a:endParaRPr lang="en-ID" sz="14000" dirty="0">
              <a:solidFill>
                <a:srgbClr val="7683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186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3F4D9-F45E-4139-83D5-0A380321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14/08/2023</a:t>
            </a:fld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FFC3C-1755-45B8-9A15-FA947DE4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7CD62-6ACA-41C3-A1AF-76FB3AAE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2377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7DC3A75-2E69-4202-8A5D-347C4A844EEA}"/>
              </a:ext>
            </a:extLst>
          </p:cNvPr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F3E22B-FD16-497A-8EC3-6B330D327CB8}"/>
                </a:ext>
              </a:extLst>
            </p:cNvPr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2FC31E6-D6A1-4E9E-9D53-7BE7377641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0394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0FF71C4-CB76-41E2-877D-59546C1BE719}"/>
              </a:ext>
            </a:extLst>
          </p:cNvPr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CBDAE0-9CD6-47B5-9E2A-55E93635748E}"/>
                </a:ext>
              </a:extLst>
            </p:cNvPr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D426CD0-937D-4CE7-9307-1EA578A5BD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3279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11C7-FCA8-440D-BC21-23946EA9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1FB7B-B050-4C5B-8CB8-29745AFE1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70A1C-2A5D-43BB-A5FF-EB839DB03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FD912-4A09-475D-9CCD-E911C363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F7EB-4E01-4B6C-9F74-627BFFD30CC3}" type="datetimeFigureOut">
              <a:rPr lang="en-NZ" smtClean="0"/>
              <a:t>14/08/2023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4301D-6A54-4A4C-AB57-5893C6087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DCA90-0D19-400A-B06E-271E981A7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8A2BE-8289-4E3B-A743-32CB539A266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62863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5B1E9-EA68-4798-B1E8-815546CCE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E14F6-F015-47C5-B0FC-EDDE30702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ED93C-5BF8-4B98-BE23-0CC1EC3E8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C88CF-92DB-4C40-BABF-0E069D0A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F7EB-4E01-4B6C-9F74-627BFFD30CC3}" type="datetimeFigureOut">
              <a:rPr lang="en-NZ" smtClean="0"/>
              <a:t>14/08/2023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C01AB-19EF-4A1D-8357-B772FD65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20DA1-DC88-4B2C-AD07-E3BB6C39D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8A2BE-8289-4E3B-A743-32CB539A266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04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83DA2-AB58-40A9-9F27-C89AC861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080" y="365125"/>
            <a:ext cx="81199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AB1CE-4A8A-481A-9353-A480D2634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7080" y="1825625"/>
            <a:ext cx="811991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92708-E52D-4103-9A98-C480CDECD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A9DB5-A1F6-4624-970D-0BADA959D4A3}" type="datetimeFigureOut">
              <a:rPr lang="en-ID" smtClean="0"/>
              <a:t>14/08/2023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B8837-B0F6-4426-8862-F133D501E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32B1A-B0B9-4218-96CA-0C74E0290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176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5" r:id="rId3"/>
    <p:sldLayoutId id="2147483657" r:id="rId4"/>
    <p:sldLayoutId id="2147483661" r:id="rId5"/>
    <p:sldLayoutId id="2147483651" r:id="rId6"/>
    <p:sldLayoutId id="2147483650" r:id="rId7"/>
    <p:sldLayoutId id="2147483658" r:id="rId8"/>
    <p:sldLayoutId id="2147483659" r:id="rId9"/>
    <p:sldLayoutId id="2147483663" r:id="rId10"/>
    <p:sldLayoutId id="2147483664" r:id="rId11"/>
    <p:sldLayoutId id="2147483662" r:id="rId12"/>
    <p:sldLayoutId id="2147483655" r:id="rId13"/>
    <p:sldLayoutId id="2147483666" r:id="rId14"/>
    <p:sldLayoutId id="2147483667" r:id="rId15"/>
    <p:sldLayoutId id="2147483668" r:id="rId16"/>
    <p:sldLayoutId id="214748366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3685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tabLst>
          <a:tab pos="1885950" algn="l"/>
        </a:tabLst>
        <a:defRPr sz="2800" kern="1200">
          <a:solidFill>
            <a:srgbClr val="76838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2400" kern="1200">
          <a:solidFill>
            <a:srgbClr val="76838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2000" kern="1200">
          <a:solidFill>
            <a:srgbClr val="76838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1800" kern="1200">
          <a:solidFill>
            <a:srgbClr val="76838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1800" kern="1200">
          <a:solidFill>
            <a:srgbClr val="76838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50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50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5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13" Type="http://schemas.openxmlformats.org/officeDocument/2006/relationships/diagramLayout" Target="../diagrams/layout8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8.xml"/><Relationship Id="rId12" Type="http://schemas.openxmlformats.org/officeDocument/2006/relationships/diagramData" Target="../diagrams/data9.xml"/><Relationship Id="rId2" Type="http://schemas.openxmlformats.org/officeDocument/2006/relationships/diagramData" Target="../diagrams/data7.xml"/><Relationship Id="rId16" Type="http://schemas.microsoft.com/office/2007/relationships/diagramDrawing" Target="../diagrams/drawing8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5" Type="http://schemas.openxmlformats.org/officeDocument/2006/relationships/diagramColors" Target="../diagrams/colors8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Relationship Id="rId1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7.jp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8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6.xml"/><Relationship Id="rId10" Type="http://schemas.openxmlformats.org/officeDocument/2006/relationships/diagramColors" Target="../diagrams/colors17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svg.org/european-debt-crisis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30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1.xml"/><Relationship Id="rId3" Type="http://schemas.openxmlformats.org/officeDocument/2006/relationships/diagramLayout" Target="../diagrams/layout30.xml"/><Relationship Id="rId7" Type="http://schemas.openxmlformats.org/officeDocument/2006/relationships/diagramData" Target="../diagrams/data32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0.xml"/><Relationship Id="rId11" Type="http://schemas.microsoft.com/office/2007/relationships/diagramDrawing" Target="../diagrams/drawing31.xml"/><Relationship Id="rId5" Type="http://schemas.openxmlformats.org/officeDocument/2006/relationships/diagramColors" Target="../diagrams/colors30.xml"/><Relationship Id="rId10" Type="http://schemas.openxmlformats.org/officeDocument/2006/relationships/diagramColors" Target="../diagrams/colors31.xml"/><Relationship Id="rId4" Type="http://schemas.openxmlformats.org/officeDocument/2006/relationships/diagramQuickStyle" Target="../diagrams/quickStyle30.xml"/><Relationship Id="rId9" Type="http://schemas.openxmlformats.org/officeDocument/2006/relationships/diagramQuickStyle" Target="../diagrams/quickStyle3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3.xml"/><Relationship Id="rId3" Type="http://schemas.openxmlformats.org/officeDocument/2006/relationships/diagramLayout" Target="../diagrams/layout32.xml"/><Relationship Id="rId7" Type="http://schemas.openxmlformats.org/officeDocument/2006/relationships/diagramData" Target="../diagrams/data34.xml"/><Relationship Id="rId12" Type="http://schemas.openxmlformats.org/officeDocument/2006/relationships/image" Target="../media/image20.jpg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32.xml"/><Relationship Id="rId11" Type="http://schemas.microsoft.com/office/2007/relationships/diagramDrawing" Target="../diagrams/drawing33.xml"/><Relationship Id="rId5" Type="http://schemas.openxmlformats.org/officeDocument/2006/relationships/diagramColors" Target="../diagrams/colors32.xml"/><Relationship Id="rId10" Type="http://schemas.openxmlformats.org/officeDocument/2006/relationships/diagramColors" Target="../diagrams/colors33.xml"/><Relationship Id="rId4" Type="http://schemas.openxmlformats.org/officeDocument/2006/relationships/diagramQuickStyle" Target="../diagrams/quickStyle32.xml"/><Relationship Id="rId9" Type="http://schemas.openxmlformats.org/officeDocument/2006/relationships/diagramQuickStyle" Target="../diagrams/quickStyle3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5.xml"/><Relationship Id="rId3" Type="http://schemas.openxmlformats.org/officeDocument/2006/relationships/diagramLayout" Target="../diagrams/layout34.xml"/><Relationship Id="rId7" Type="http://schemas.openxmlformats.org/officeDocument/2006/relationships/diagramData" Target="../diagrams/data36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4.xml"/><Relationship Id="rId11" Type="http://schemas.microsoft.com/office/2007/relationships/diagramDrawing" Target="../diagrams/drawing35.xml"/><Relationship Id="rId5" Type="http://schemas.openxmlformats.org/officeDocument/2006/relationships/diagramColors" Target="../diagrams/colors34.xml"/><Relationship Id="rId10" Type="http://schemas.openxmlformats.org/officeDocument/2006/relationships/diagramColors" Target="../diagrams/colors35.xml"/><Relationship Id="rId4" Type="http://schemas.openxmlformats.org/officeDocument/2006/relationships/diagramQuickStyle" Target="../diagrams/quickStyle34.xml"/><Relationship Id="rId9" Type="http://schemas.openxmlformats.org/officeDocument/2006/relationships/diagramQuickStyle" Target="../diagrams/quickStyle3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7.xml"/><Relationship Id="rId3" Type="http://schemas.openxmlformats.org/officeDocument/2006/relationships/diagramLayout" Target="../diagrams/layout36.xml"/><Relationship Id="rId7" Type="http://schemas.openxmlformats.org/officeDocument/2006/relationships/diagramData" Target="../diagrams/data38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6.xml"/><Relationship Id="rId11" Type="http://schemas.microsoft.com/office/2007/relationships/diagramDrawing" Target="../diagrams/drawing37.xml"/><Relationship Id="rId5" Type="http://schemas.openxmlformats.org/officeDocument/2006/relationships/diagramColors" Target="../diagrams/colors36.xml"/><Relationship Id="rId10" Type="http://schemas.openxmlformats.org/officeDocument/2006/relationships/diagramColors" Target="../diagrams/colors37.xml"/><Relationship Id="rId4" Type="http://schemas.openxmlformats.org/officeDocument/2006/relationships/diagramQuickStyle" Target="../diagrams/quickStyle36.xml"/><Relationship Id="rId9" Type="http://schemas.openxmlformats.org/officeDocument/2006/relationships/diagramQuickStyle" Target="../diagrams/quickStyle3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9.xml"/><Relationship Id="rId3" Type="http://schemas.openxmlformats.org/officeDocument/2006/relationships/diagramLayout" Target="../diagrams/layout38.xml"/><Relationship Id="rId7" Type="http://schemas.openxmlformats.org/officeDocument/2006/relationships/diagramData" Target="../diagrams/data40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8.xml"/><Relationship Id="rId11" Type="http://schemas.microsoft.com/office/2007/relationships/diagramDrawing" Target="../diagrams/drawing39.xml"/><Relationship Id="rId5" Type="http://schemas.openxmlformats.org/officeDocument/2006/relationships/diagramColors" Target="../diagrams/colors38.xml"/><Relationship Id="rId10" Type="http://schemas.openxmlformats.org/officeDocument/2006/relationships/diagramColors" Target="../diagrams/colors39.xml"/><Relationship Id="rId4" Type="http://schemas.openxmlformats.org/officeDocument/2006/relationships/diagramQuickStyle" Target="../diagrams/quickStyle38.xml"/><Relationship Id="rId9" Type="http://schemas.openxmlformats.org/officeDocument/2006/relationships/diagramQuickStyle" Target="../diagrams/quickStyle3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2.xml"/><Relationship Id="rId3" Type="http://schemas.openxmlformats.org/officeDocument/2006/relationships/diagramLayout" Target="../diagrams/layout41.xml"/><Relationship Id="rId7" Type="http://schemas.openxmlformats.org/officeDocument/2006/relationships/diagramData" Target="../diagrams/data43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1.xml"/><Relationship Id="rId11" Type="http://schemas.microsoft.com/office/2007/relationships/diagramDrawing" Target="../diagrams/drawing42.xml"/><Relationship Id="rId5" Type="http://schemas.openxmlformats.org/officeDocument/2006/relationships/diagramColors" Target="../diagrams/colors41.xml"/><Relationship Id="rId10" Type="http://schemas.openxmlformats.org/officeDocument/2006/relationships/diagramColors" Target="../diagrams/colors42.xml"/><Relationship Id="rId4" Type="http://schemas.openxmlformats.org/officeDocument/2006/relationships/diagramQuickStyle" Target="../diagrams/quickStyle41.xml"/><Relationship Id="rId9" Type="http://schemas.openxmlformats.org/officeDocument/2006/relationships/diagramQuickStyle" Target="../diagrams/quickStyle4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4.xml"/><Relationship Id="rId3" Type="http://schemas.openxmlformats.org/officeDocument/2006/relationships/diagramLayout" Target="../diagrams/layout43.xml"/><Relationship Id="rId7" Type="http://schemas.openxmlformats.org/officeDocument/2006/relationships/diagramData" Target="../diagrams/data45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3.xml"/><Relationship Id="rId11" Type="http://schemas.microsoft.com/office/2007/relationships/diagramDrawing" Target="../diagrams/drawing44.xml"/><Relationship Id="rId5" Type="http://schemas.openxmlformats.org/officeDocument/2006/relationships/diagramColors" Target="../diagrams/colors43.xml"/><Relationship Id="rId10" Type="http://schemas.openxmlformats.org/officeDocument/2006/relationships/diagramColors" Target="../diagrams/colors44.xml"/><Relationship Id="rId4" Type="http://schemas.openxmlformats.org/officeDocument/2006/relationships/diagramQuickStyle" Target="../diagrams/quickStyle43.xml"/><Relationship Id="rId9" Type="http://schemas.openxmlformats.org/officeDocument/2006/relationships/diagramQuickStyle" Target="../diagrams/quickStyle4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6.xml"/><Relationship Id="rId3" Type="http://schemas.openxmlformats.org/officeDocument/2006/relationships/diagramLayout" Target="../diagrams/layout45.xml"/><Relationship Id="rId7" Type="http://schemas.openxmlformats.org/officeDocument/2006/relationships/diagramData" Target="../diagrams/data47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5.xml"/><Relationship Id="rId11" Type="http://schemas.microsoft.com/office/2007/relationships/diagramDrawing" Target="../diagrams/drawing46.xml"/><Relationship Id="rId5" Type="http://schemas.openxmlformats.org/officeDocument/2006/relationships/diagramColors" Target="../diagrams/colors45.xml"/><Relationship Id="rId10" Type="http://schemas.openxmlformats.org/officeDocument/2006/relationships/diagramColors" Target="../diagrams/colors46.xml"/><Relationship Id="rId4" Type="http://schemas.openxmlformats.org/officeDocument/2006/relationships/diagramQuickStyle" Target="../diagrams/quickStyle45.xml"/><Relationship Id="rId9" Type="http://schemas.openxmlformats.org/officeDocument/2006/relationships/diagramQuickStyle" Target="../diagrams/quickStyle4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A04D-30B3-4ABE-810C-5C9738B3B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32548" y="2485364"/>
            <a:ext cx="4492788" cy="30047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100" dirty="0"/>
              <a:t>115.113 Economics for Business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F1E5E8E-3ADF-5FEC-8CB3-5F960BC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4084" y="5490105"/>
            <a:ext cx="3549716" cy="453495"/>
          </a:xfrm>
        </p:spPr>
        <p:txBody>
          <a:bodyPr>
            <a:normAutofit fontScale="92500"/>
          </a:bodyPr>
          <a:lstStyle/>
          <a:p>
            <a:r>
              <a:rPr lang="en-US" dirty="0"/>
              <a:t>Global Economic Shocks</a:t>
            </a:r>
          </a:p>
        </p:txBody>
      </p:sp>
      <p:pic>
        <p:nvPicPr>
          <p:cNvPr id="5" name="Picture 4" descr="Low angle view of modern skyscrapers rising straight up against a dramatic sky">
            <a:extLst>
              <a:ext uri="{FF2B5EF4-FFF2-40B4-BE49-F238E27FC236}">
                <a16:creationId xmlns:a16="http://schemas.microsoft.com/office/drawing/2014/main" id="{A270A212-3AF2-437B-A6E3-948E5B3D25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52" r="24387" b="-2"/>
          <a:stretch/>
        </p:blipFill>
        <p:spPr>
          <a:xfrm>
            <a:off x="1123950" y="10"/>
            <a:ext cx="3514725" cy="47529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8408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424B1AD-7AE5-DDA1-68A3-10DF3D9A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03" y="223091"/>
            <a:ext cx="5394193" cy="1185916"/>
          </a:xfrm>
        </p:spPr>
        <p:txBody>
          <a:bodyPr anchor="b">
            <a:normAutofit/>
          </a:bodyPr>
          <a:lstStyle/>
          <a:p>
            <a:r>
              <a:rPr lang="mi-NZ" dirty="0" err="1"/>
              <a:t>Introduction</a:t>
            </a:r>
            <a:endParaRPr lang="en-NZ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EF30E5-8ED4-438A-B4A5-2766F599EC1E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342132809"/>
              </p:ext>
            </p:extLst>
          </p:nvPr>
        </p:nvGraphicFramePr>
        <p:xfrm>
          <a:off x="808102" y="1554481"/>
          <a:ext cx="5394193" cy="4615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157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2A09-63E0-4A03-9E7F-8C8CFA4AA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NZ" sz="3100"/>
              <a:t>Common features of Financial Crises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6B4A4C7-FE93-CC03-2A6C-74E456AE83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Financial Crises begin with a decline in asset prices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CA16C8-6D10-8F51-2DEC-0F12D6793CB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NZ" dirty="0"/>
              <a:t>Asian Financial Crisis (1997)</a:t>
            </a:r>
          </a:p>
          <a:p>
            <a:pPr lvl="1"/>
            <a:r>
              <a:rPr lang="en-NZ" dirty="0"/>
              <a:t>High short-term interest rates had attracted foreign investment.</a:t>
            </a:r>
          </a:p>
          <a:p>
            <a:pPr lvl="1"/>
            <a:r>
              <a:rPr lang="en-NZ" dirty="0"/>
              <a:t>This led to rapid rise in asset prices (real estate, stock market). </a:t>
            </a:r>
          </a:p>
          <a:p>
            <a:pPr lvl="1"/>
            <a:r>
              <a:rPr lang="en-NZ" dirty="0"/>
              <a:t>When region’s Central Banks could not defend pegged currency, asset prices fell.</a:t>
            </a:r>
          </a:p>
          <a:p>
            <a:r>
              <a:rPr lang="en-NZ" dirty="0"/>
              <a:t>Global </a:t>
            </a:r>
            <a:r>
              <a:rPr lang="en-NZ"/>
              <a:t>Financial Crisis (2008)</a:t>
            </a:r>
            <a:endParaRPr lang="en-NZ" dirty="0"/>
          </a:p>
          <a:p>
            <a:pPr lvl="1"/>
            <a:r>
              <a:rPr lang="en-NZ" dirty="0"/>
              <a:t>Housing market in US (and Europe) was in price-bubble.</a:t>
            </a:r>
          </a:p>
          <a:p>
            <a:pPr lvl="1"/>
            <a:r>
              <a:rPr lang="en-NZ" dirty="0"/>
              <a:t>When house-prices fell,  many lenders became insolvent.</a:t>
            </a:r>
          </a:p>
        </p:txBody>
      </p:sp>
    </p:spTree>
    <p:extLst>
      <p:ext uri="{BB962C8B-B14F-4D97-AF65-F5344CB8AC3E}">
        <p14:creationId xmlns:p14="http://schemas.microsoft.com/office/powerpoint/2010/main" val="1027239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2A09-63E0-4A03-9E7F-8C8CFA4AA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NZ" sz="3100"/>
              <a:t>Common features of Financial Crises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6B4A4C7-FE93-CC03-2A6C-74E456AE83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A financial crisis spreads.</a:t>
            </a:r>
          </a:p>
          <a:p>
            <a:r>
              <a:rPr lang="en-US" dirty="0"/>
              <a:t>The investment shock comes from failure in the financial markets first.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F40D-CEDB-4CE6-8378-6AC20B3251E6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0006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0279-03A9-4989-BB5C-0A16934A8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6062" y="2218764"/>
            <a:ext cx="4492788" cy="30047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The Asset Bubble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8C7EB-81B2-47D9-BD73-F6F5D632D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4084" y="5490105"/>
            <a:ext cx="3549716" cy="4534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The US Housing Market</a:t>
            </a:r>
          </a:p>
        </p:txBody>
      </p:sp>
      <p:pic>
        <p:nvPicPr>
          <p:cNvPr id="5" name="Picture 4" descr="Tall office building looking up">
            <a:extLst>
              <a:ext uri="{FF2B5EF4-FFF2-40B4-BE49-F238E27FC236}">
                <a16:creationId xmlns:a16="http://schemas.microsoft.com/office/drawing/2014/main" id="{E176E1DB-970F-49D4-A185-7B39356781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128" r="36882" b="2"/>
          <a:stretch/>
        </p:blipFill>
        <p:spPr>
          <a:xfrm>
            <a:off x="1123950" y="10"/>
            <a:ext cx="3514725" cy="47529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748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5A360A-F103-4D0B-86F2-89A6BA9857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1766897"/>
              </p:ext>
            </p:extLst>
          </p:nvPr>
        </p:nvGraphicFramePr>
        <p:xfrm>
          <a:off x="1501775" y="576263"/>
          <a:ext cx="7473950" cy="504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79CBB58-6381-82D5-2BF7-C2AFD38C0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mi-NZ" dirty="0" err="1"/>
              <a:t>Housing</a:t>
            </a:r>
            <a:r>
              <a:rPr lang="mi-NZ" dirty="0"/>
              <a:t> </a:t>
            </a:r>
            <a:r>
              <a:rPr lang="mi-NZ" dirty="0" err="1"/>
              <a:t>Price</a:t>
            </a:r>
            <a:r>
              <a:rPr lang="mi-NZ" dirty="0"/>
              <a:t> </a:t>
            </a:r>
            <a:r>
              <a:rPr lang="mi-NZ" dirty="0" err="1"/>
              <a:t>Bubble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94271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85E8E-B2F2-2755-C0B9-52F2951C2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Housing Market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524C5CE-03F5-D4EC-0664-BCE8F9EE52A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5689245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99915421-DEA8-5DE5-C14E-30A618977FF2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873867126"/>
                  </p:ext>
                </p:extLst>
              </p:nvPr>
            </p:nvGraphicFramePr>
            <p:xfrm>
              <a:off x="6172200" y="1825625"/>
              <a:ext cx="5181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99915421-DEA8-5DE5-C14E-30A618977FF2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873867126"/>
                  </p:ext>
                </p:extLst>
              </p:nvPr>
            </p:nvGraphicFramePr>
            <p:xfrm>
              <a:off x="6172200" y="1825625"/>
              <a:ext cx="5181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269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AD2D2AC-99EF-4BC7-B8BC-B7C22AD4E2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8776716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F5B7A48-A6F6-402B-A3C4-43A114404E1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7038437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1B11089-8CFD-485A-BEE7-95B289F23A7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155422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2DF5A89-A2AC-6BC6-5AE8-BDD43E084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US" sz="3100"/>
              <a:t>Summary: Demand Increases</a:t>
            </a:r>
          </a:p>
        </p:txBody>
      </p:sp>
      <p:pic>
        <p:nvPicPr>
          <p:cNvPr id="6" name="Content Placeholder 5" descr="Aerial view of houses near a canal">
            <a:extLst>
              <a:ext uri="{FF2B5EF4-FFF2-40B4-BE49-F238E27FC236}">
                <a16:creationId xmlns:a16="http://schemas.microsoft.com/office/drawing/2014/main" id="{F9336F23-6E05-44C5-243C-103BF6BE210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4" r="10292" b="-2"/>
          <a:stretch/>
        </p:blipFill>
        <p:spPr>
          <a:xfrm>
            <a:off x="3946525" y="604838"/>
            <a:ext cx="7175500" cy="4981575"/>
          </a:xfrm>
          <a:noFill/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0BE3349-F595-48F3-46CA-B8634BF163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>
            <a:normAutofit/>
          </a:bodyPr>
          <a:lstStyle/>
          <a:p>
            <a:r>
              <a:rPr lang="en-US" dirty="0"/>
              <a:t>People will demand more housing during a ‘price bubble’.</a:t>
            </a:r>
          </a:p>
          <a:p>
            <a:r>
              <a:rPr lang="en-US" dirty="0"/>
              <a:t>The return on equity exceeds other assets.</a:t>
            </a:r>
          </a:p>
          <a:p>
            <a:r>
              <a:rPr lang="en-US" dirty="0"/>
              <a:t>They can leverage increased value of their houses for more loans</a:t>
            </a:r>
          </a:p>
        </p:txBody>
      </p:sp>
    </p:spTree>
    <p:extLst>
      <p:ext uri="{BB962C8B-B14F-4D97-AF65-F5344CB8AC3E}">
        <p14:creationId xmlns:p14="http://schemas.microsoft.com/office/powerpoint/2010/main" val="3693899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00EAD79-033B-4514-8125-F583A7747E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0572307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826E04-81DB-41B8-B464-0C50F2FAD7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93455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55004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226D-3DB2-CEE8-6289-C62A9CA84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080" y="365125"/>
            <a:ext cx="8119917" cy="1325563"/>
          </a:xfrm>
        </p:spPr>
        <p:txBody>
          <a:bodyPr anchor="ctr">
            <a:normAutofit/>
          </a:bodyPr>
          <a:lstStyle/>
          <a:p>
            <a:r>
              <a:rPr lang="en-NZ" dirty="0"/>
              <a:t>The Problem with Banks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5584325-AAE9-4EC5-09D2-67F89602FD0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35028546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Content Placeholder 5" descr="Stock numbers on a digital display">
            <a:extLst>
              <a:ext uri="{FF2B5EF4-FFF2-40B4-BE49-F238E27FC236}">
                <a16:creationId xmlns:a16="http://schemas.microsoft.com/office/drawing/2014/main" id="{2FE9BC9C-764A-ACB5-2EDA-7537DB09F2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0" r="3935" b="-1"/>
          <a:stretch/>
        </p:blipFill>
        <p:spPr>
          <a:xfrm>
            <a:off x="6172200" y="1825625"/>
            <a:ext cx="5181600" cy="4351338"/>
          </a:xfrm>
          <a:noFill/>
        </p:spPr>
      </p:pic>
    </p:spTree>
    <p:extLst>
      <p:ext uri="{BB962C8B-B14F-4D97-AF65-F5344CB8AC3E}">
        <p14:creationId xmlns:p14="http://schemas.microsoft.com/office/powerpoint/2010/main" val="768895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716B9-1744-A68C-B888-CFBF245E3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The Economics of Banking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68FF6B4-B085-4797-0F5B-D617AAECC82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13650865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5A4FD-6C32-CD4D-8AF8-81F62AF0A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9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NZ" dirty="0">
                <a:solidFill>
                  <a:schemeClr val="tx1"/>
                </a:solidFill>
              </a:rPr>
              <a:t>What if borrowers can’t repay their loans?</a:t>
            </a:r>
          </a:p>
          <a:p>
            <a:pPr marL="0" indent="0">
              <a:buNone/>
            </a:pPr>
            <a:r>
              <a:rPr lang="en-NZ" dirty="0">
                <a:solidFill>
                  <a:schemeClr val="tx1"/>
                </a:solidFill>
              </a:rPr>
              <a:t>The Bank can sell the collateral used by the borrower.</a:t>
            </a:r>
          </a:p>
          <a:p>
            <a:pPr marL="0" indent="0">
              <a:buNone/>
            </a:pPr>
            <a:r>
              <a:rPr lang="en-NZ" i="1" dirty="0">
                <a:solidFill>
                  <a:schemeClr val="tx1"/>
                </a:solidFill>
              </a:rPr>
              <a:t>This is costly so the Bank does not get all the value of the collateral. 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62998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DB8E2-6D3B-A6D5-25A7-F005D0881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Solvency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E06D-3D3C-C44E-2E2C-882AA64D35C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8072" y="1409007"/>
            <a:ext cx="5181600" cy="4351338"/>
          </a:xfrm>
        </p:spPr>
        <p:txBody>
          <a:bodyPr/>
          <a:lstStyle/>
          <a:p>
            <a:r>
              <a:rPr lang="en-NZ" dirty="0"/>
              <a:t>A Bank will be solvent if:</a:t>
            </a:r>
          </a:p>
          <a:p>
            <a:pPr lvl="1"/>
            <a:r>
              <a:rPr lang="en-NZ" dirty="0"/>
              <a:t>The value of its loan repayments </a:t>
            </a:r>
            <a:r>
              <a:rPr lang="en-NZ" i="1" dirty="0"/>
              <a:t>plus</a:t>
            </a:r>
            <a:endParaRPr lang="en-NZ" dirty="0"/>
          </a:p>
          <a:p>
            <a:pPr lvl="1"/>
            <a:r>
              <a:rPr lang="en-NZ" dirty="0"/>
              <a:t>The value of the (liquidated) collateral</a:t>
            </a:r>
          </a:p>
          <a:p>
            <a:pPr lvl="1"/>
            <a:r>
              <a:rPr lang="en-NZ" b="1" i="1" dirty="0"/>
              <a:t>exceeds</a:t>
            </a:r>
          </a:p>
          <a:p>
            <a:pPr lvl="1"/>
            <a:r>
              <a:rPr lang="en-NZ" dirty="0"/>
              <a:t>The value of their deposits and the interest payments on these. </a:t>
            </a:r>
          </a:p>
        </p:txBody>
      </p:sp>
    </p:spTree>
    <p:extLst>
      <p:ext uri="{BB962C8B-B14F-4D97-AF65-F5344CB8AC3E}">
        <p14:creationId xmlns:p14="http://schemas.microsoft.com/office/powerpoint/2010/main" val="1671523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DB8E2-6D3B-A6D5-25A7-F005D0881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NZ" sz="4800" dirty="0"/>
              <a:t>Toxic Balance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E06D-3D3C-C44E-2E2C-882AA64D35C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8072" y="1409007"/>
            <a:ext cx="5181600" cy="4351338"/>
          </a:xfrm>
        </p:spPr>
        <p:txBody>
          <a:bodyPr/>
          <a:lstStyle/>
          <a:p>
            <a:r>
              <a:rPr lang="en-NZ" dirty="0"/>
              <a:t>This describes a Bank whose assets (loan repayments and collateral) are less than its liabilities (deposits and repayments).</a:t>
            </a:r>
          </a:p>
          <a:p>
            <a:r>
              <a:rPr lang="en-NZ" dirty="0"/>
              <a:t>Balance sheets can become toxic if borrowers stop repaying loans and their collateral drops in value.</a:t>
            </a:r>
          </a:p>
        </p:txBody>
      </p:sp>
    </p:spTree>
    <p:extLst>
      <p:ext uri="{BB962C8B-B14F-4D97-AF65-F5344CB8AC3E}">
        <p14:creationId xmlns:p14="http://schemas.microsoft.com/office/powerpoint/2010/main" val="14790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A9B24-03A9-8125-F922-9D03C0708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Summary</a:t>
            </a:r>
            <a:endParaRPr lang="en-NZ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D954B2F-9CE6-CD38-1184-B09B025BCD1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30648824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9F5BA-F4AD-9391-AB4A-F06FDBF649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mi-NZ" dirty="0" err="1"/>
              <a:t>Banks</a:t>
            </a:r>
            <a:r>
              <a:rPr lang="mi-NZ" dirty="0"/>
              <a:t> and </a:t>
            </a:r>
            <a:r>
              <a:rPr lang="mi-NZ" dirty="0" err="1"/>
              <a:t>similar</a:t>
            </a:r>
            <a:r>
              <a:rPr lang="mi-NZ" dirty="0"/>
              <a:t> </a:t>
            </a:r>
            <a:r>
              <a:rPr lang="mi-NZ" dirty="0" err="1"/>
              <a:t>Financial</a:t>
            </a:r>
            <a:r>
              <a:rPr lang="mi-NZ" dirty="0"/>
              <a:t> </a:t>
            </a:r>
            <a:r>
              <a:rPr lang="mi-NZ" dirty="0" err="1"/>
              <a:t>Intermediaries</a:t>
            </a:r>
            <a:r>
              <a:rPr lang="mi-NZ" dirty="0"/>
              <a:t>(</a:t>
            </a:r>
            <a:r>
              <a:rPr lang="mi-NZ" dirty="0" err="1"/>
              <a:t>FIs</a:t>
            </a:r>
            <a:r>
              <a:rPr lang="mi-NZ" dirty="0"/>
              <a:t>) </a:t>
            </a:r>
            <a:r>
              <a:rPr lang="mi-NZ" dirty="0" err="1"/>
              <a:t>operate</a:t>
            </a:r>
            <a:r>
              <a:rPr lang="mi-NZ" dirty="0"/>
              <a:t> </a:t>
            </a:r>
            <a:r>
              <a:rPr lang="mi-NZ" dirty="0" err="1"/>
              <a:t>at</a:t>
            </a:r>
            <a:r>
              <a:rPr lang="mi-NZ" dirty="0"/>
              <a:t> </a:t>
            </a:r>
            <a:r>
              <a:rPr lang="mi-NZ" dirty="0" err="1"/>
              <a:t>high</a:t>
            </a:r>
            <a:r>
              <a:rPr lang="mi-NZ" dirty="0"/>
              <a:t> </a:t>
            </a:r>
            <a:r>
              <a:rPr lang="mi-NZ" dirty="0" err="1"/>
              <a:t>debt</a:t>
            </a:r>
            <a:r>
              <a:rPr lang="mi-NZ" dirty="0"/>
              <a:t> </a:t>
            </a:r>
            <a:r>
              <a:rPr lang="mi-NZ" dirty="0" err="1"/>
              <a:t>levels</a:t>
            </a:r>
            <a:r>
              <a:rPr lang="mi-NZ" dirty="0"/>
              <a:t>.</a:t>
            </a:r>
          </a:p>
          <a:p>
            <a:r>
              <a:rPr lang="en-US" dirty="0"/>
              <a:t>Deposits are their debts </a:t>
            </a:r>
          </a:p>
          <a:p>
            <a:r>
              <a:rPr lang="en-US" dirty="0"/>
              <a:t>Loans are their assets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81156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6F147A-E722-964C-FEEC-8AB3E54CA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US" sz="4600" dirty="0"/>
              <a:t>Example 4.1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B27AF6-57AB-44A4-5932-E765CA75A5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46525" y="604838"/>
            <a:ext cx="7175500" cy="4981575"/>
          </a:xfrm>
        </p:spPr>
        <p:txBody>
          <a:bodyPr>
            <a:normAutofit/>
          </a:bodyPr>
          <a:lstStyle/>
          <a:p>
            <a:r>
              <a:rPr lang="en-US" dirty="0"/>
              <a:t>Suppose a person buys a house for $300,000. The deposit they pay is $60,000. A year later the house increases in value to $330,000. Their </a:t>
            </a:r>
            <a:r>
              <a:rPr lang="en-US" dirty="0">
                <a:solidFill>
                  <a:srgbClr val="FF0000"/>
                </a:solidFill>
              </a:rPr>
              <a:t>return on equity</a:t>
            </a:r>
            <a:r>
              <a:rPr lang="en-US" dirty="0"/>
              <a:t> is 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/>
              <a:t>10%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/>
              <a:t>30%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/>
              <a:t>50%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/>
              <a:t>100%</a:t>
            </a:r>
          </a:p>
          <a:p>
            <a:pPr marL="342900" indent="-342900">
              <a:buFont typeface="+mj-lt"/>
              <a:buAutoNum type="alphaUcPeriod"/>
            </a:pP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5C72162-BEEE-F101-6247-5E6783CF83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Select the best response to this question.</a:t>
            </a:r>
          </a:p>
        </p:txBody>
      </p:sp>
    </p:spTree>
    <p:extLst>
      <p:ext uri="{BB962C8B-B14F-4D97-AF65-F5344CB8AC3E}">
        <p14:creationId xmlns:p14="http://schemas.microsoft.com/office/powerpoint/2010/main" val="3846047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6F147A-E722-964C-FEEC-8AB3E54CA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US" sz="4600" dirty="0"/>
              <a:t>Example 4.2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B27AF6-57AB-44A4-5932-E765CA75A5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46525" y="604838"/>
            <a:ext cx="7175500" cy="4981575"/>
          </a:xfrm>
        </p:spPr>
        <p:txBody>
          <a:bodyPr>
            <a:normAutofit/>
          </a:bodyPr>
          <a:lstStyle/>
          <a:p>
            <a:r>
              <a:rPr lang="en-US" dirty="0"/>
              <a:t>Suppose the person has a </a:t>
            </a:r>
            <a:r>
              <a:rPr lang="en-US" dirty="0">
                <a:solidFill>
                  <a:srgbClr val="FF0000"/>
                </a:solidFill>
              </a:rPr>
              <a:t>leverage ratio </a:t>
            </a:r>
            <a:r>
              <a:rPr lang="en-US" dirty="0"/>
              <a:t>of 6. If they sold their first house for $330,000, what loan could they now get?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/>
              <a:t> $300,000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/>
              <a:t> $330,000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/>
              <a:t> $360,000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/>
              <a:t> $540,000</a:t>
            </a:r>
          </a:p>
          <a:p>
            <a:pPr marL="342900" indent="-342900">
              <a:buFont typeface="+mj-lt"/>
              <a:buAutoNum type="alphaUcPeriod"/>
            </a:pP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5C72162-BEEE-F101-6247-5E6783CF83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Use the information in the previous question.</a:t>
            </a:r>
          </a:p>
          <a:p>
            <a:r>
              <a:rPr lang="en-US" i="1" dirty="0"/>
              <a:t>Suppose a person buys a house for $300,000. The deposit they pay is $60,000. A year later the house increases in value to $330,000 </a:t>
            </a:r>
          </a:p>
        </p:txBody>
      </p:sp>
    </p:spTree>
    <p:extLst>
      <p:ext uri="{BB962C8B-B14F-4D97-AF65-F5344CB8AC3E}">
        <p14:creationId xmlns:p14="http://schemas.microsoft.com/office/powerpoint/2010/main" val="850902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1BA903A-B520-708A-86DA-B9EA03149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/>
          <a:lstStyle/>
          <a:p>
            <a:r>
              <a:rPr lang="en-US" dirty="0"/>
              <a:t>Causes of GFC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9327C3C-B16E-4240-9E2B-25032A798D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Lax lending practices led to excessive lending in subprime markets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23AC5E-0A86-4158-8667-311B21708C0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87409834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0438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CBAB5-0D89-2BFB-2DA9-F92F80C34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sz="4800" i="1" dirty="0"/>
              <a:t>A Mexican strawberry picker with an income of $14 000 and no English was lent every penny he needed to buy a house of $724 000</a:t>
            </a:r>
            <a:br>
              <a:rPr lang="en-NZ" sz="4800" i="1" dirty="0"/>
            </a:b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92016-3229-1A85-581C-1ACD888571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Lewis- 2009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349574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7841A-0899-4FBD-B257-21DB283F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NZ" sz="3100" dirty="0"/>
              <a:t>CDOs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76D403E-3355-A584-83CC-D2FDE13F40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How CDO’s work</a:t>
            </a:r>
          </a:p>
          <a:p>
            <a:r>
              <a:rPr lang="en-US" dirty="0"/>
              <a:t>The idea is risk can be diversified (spread) which makes them safer.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F2B63D-7403-4CD2-8AE9-4FD61E8F3AF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7040332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2147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D49C-A9E1-DBBC-D986-C9F16267B4C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r>
              <a:rPr lang="en-NZ" dirty="0"/>
              <a:t>Risks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CC89307-A656-F6AF-A664-27C0A6F1004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93023052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D69660D-1FDE-AA24-A59F-E0A2A2B88F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762554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6416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FFF594B-E236-6FFC-B958-CE3EB5A3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/>
          <a:lstStyle/>
          <a:p>
            <a:r>
              <a:rPr lang="en-US" dirty="0"/>
              <a:t>Causes of GFC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B894DA4-2F63-F8E7-D696-76734C647F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Novel financial instruments investors didn’t understand.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24CEF3-653E-41A5-B760-25BDD5F3C49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64286033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0357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21EC60-214D-4C17-A151-44EEF4E170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4547968"/>
              </p:ext>
            </p:extLst>
          </p:nvPr>
        </p:nvGraphicFramePr>
        <p:xfrm>
          <a:off x="1501775" y="576263"/>
          <a:ext cx="7473950" cy="504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344033A-A55B-64E4-C4CE-7FEA8088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Causes</a:t>
            </a:r>
            <a:r>
              <a:rPr lang="mi-NZ" dirty="0"/>
              <a:t> </a:t>
            </a:r>
            <a:r>
              <a:rPr lang="mi-NZ" dirty="0" err="1"/>
              <a:t>of</a:t>
            </a:r>
            <a:r>
              <a:rPr lang="mi-NZ" dirty="0"/>
              <a:t> GFC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04045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EB6A4C-9735-479F-B8FA-496C0EBE3C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7654799"/>
              </p:ext>
            </p:extLst>
          </p:nvPr>
        </p:nvGraphicFramePr>
        <p:xfrm>
          <a:off x="1501775" y="576263"/>
          <a:ext cx="7473950" cy="504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7E8AB13-B650-D2EB-AF17-2A4CBAD0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Causes</a:t>
            </a:r>
            <a:r>
              <a:rPr lang="mi-NZ" dirty="0"/>
              <a:t> </a:t>
            </a:r>
            <a:r>
              <a:rPr lang="mi-NZ" dirty="0" err="1"/>
              <a:t>of</a:t>
            </a:r>
            <a:r>
              <a:rPr lang="mi-NZ" dirty="0"/>
              <a:t> GFC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3709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Chart, line chart&#10;&#10;Description automatically generated">
            <a:extLst>
              <a:ext uri="{FF2B5EF4-FFF2-40B4-BE49-F238E27FC236}">
                <a16:creationId xmlns:a16="http://schemas.microsoft.com/office/drawing/2014/main" id="{B0D7C796-2D0A-3034-59D3-8230CD041D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561980" y="1651452"/>
            <a:ext cx="9234016" cy="3555096"/>
          </a:xfr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76A1F3-49AE-5B2D-1AB7-0C15EB671304}"/>
              </a:ext>
            </a:extLst>
          </p:cNvPr>
          <p:cNvSpPr txBox="1"/>
          <p:nvPr/>
        </p:nvSpPr>
        <p:spPr>
          <a:xfrm>
            <a:off x="232019" y="403692"/>
            <a:ext cx="2856321" cy="157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NZ" sz="4600" dirty="0">
                <a:solidFill>
                  <a:srgbClr val="636852"/>
                </a:solidFill>
                <a:latin typeface="+mj-lt"/>
                <a:ea typeface="+mj-ea"/>
                <a:cs typeface="+mj-cs"/>
              </a:rPr>
              <a:t>US Interest Rates </a:t>
            </a:r>
          </a:p>
        </p:txBody>
      </p:sp>
    </p:spTree>
    <p:extLst>
      <p:ext uri="{BB962C8B-B14F-4D97-AF65-F5344CB8AC3E}">
        <p14:creationId xmlns:p14="http://schemas.microsoft.com/office/powerpoint/2010/main" val="260036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AB13-B650-D2EB-AF17-2A4CBAD0F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03" y="223091"/>
            <a:ext cx="5394193" cy="1185916"/>
          </a:xfrm>
        </p:spPr>
        <p:txBody>
          <a:bodyPr anchor="b">
            <a:normAutofit/>
          </a:bodyPr>
          <a:lstStyle/>
          <a:p>
            <a:r>
              <a:rPr lang="mi-NZ" dirty="0" err="1"/>
              <a:t>Causes</a:t>
            </a:r>
            <a:r>
              <a:rPr lang="mi-NZ" dirty="0"/>
              <a:t> </a:t>
            </a:r>
            <a:r>
              <a:rPr lang="mi-NZ" dirty="0" err="1"/>
              <a:t>of</a:t>
            </a:r>
            <a:r>
              <a:rPr lang="mi-NZ" dirty="0"/>
              <a:t> GFC</a:t>
            </a:r>
            <a:endParaRPr lang="en-NZ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EB6A4C-9735-479F-B8FA-496C0EBE3C90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724006793"/>
              </p:ext>
            </p:extLst>
          </p:nvPr>
        </p:nvGraphicFramePr>
        <p:xfrm>
          <a:off x="808102" y="1554481"/>
          <a:ext cx="5394193" cy="4615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3572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8946-CD33-4F51-A2EE-6EB71DF2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NZ" sz="4600" dirty="0"/>
              <a:t>The Gamble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B9E39D-FC6D-A918-14F2-C8A5B49C9EB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97788710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418FC97-A92F-B784-4EEB-691D5D2C9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Everyone was gambling house prices would continue to rise.</a:t>
            </a:r>
          </a:p>
        </p:txBody>
      </p:sp>
    </p:spTree>
    <p:extLst>
      <p:ext uri="{BB962C8B-B14F-4D97-AF65-F5344CB8AC3E}">
        <p14:creationId xmlns:p14="http://schemas.microsoft.com/office/powerpoint/2010/main" val="10842710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10D3B7-55CE-4A14-9F58-190746DADF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5318662"/>
              </p:ext>
            </p:extLst>
          </p:nvPr>
        </p:nvGraphicFramePr>
        <p:xfrm>
          <a:off x="1501775" y="576263"/>
          <a:ext cx="7473950" cy="504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24A10B5-DF01-A35F-759C-DE0CB05EA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mi-NZ" dirty="0" err="1"/>
              <a:t>The</a:t>
            </a:r>
            <a:r>
              <a:rPr lang="mi-NZ" dirty="0"/>
              <a:t> </a:t>
            </a:r>
            <a:r>
              <a:rPr lang="mi-NZ" dirty="0" err="1"/>
              <a:t>Financial</a:t>
            </a:r>
            <a:r>
              <a:rPr lang="mi-NZ" dirty="0"/>
              <a:t> </a:t>
            </a:r>
            <a:r>
              <a:rPr lang="mi-NZ" dirty="0" err="1"/>
              <a:t>Crisis</a:t>
            </a:r>
            <a:r>
              <a:rPr lang="mi-NZ" dirty="0"/>
              <a:t> </a:t>
            </a:r>
            <a:r>
              <a:rPr lang="mi-NZ" dirty="0" err="1"/>
              <a:t>begins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11235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7965039-C7C1-B15B-1BBB-4887FA9A7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/>
          <a:lstStyle/>
          <a:p>
            <a:r>
              <a:rPr lang="en-US" dirty="0"/>
              <a:t>Debt Contagion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3179AF9-26BB-F351-E2B8-4E96CD12BA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  <a:solidFill>
            <a:schemeClr val="accent4"/>
          </a:solidFill>
        </p:spPr>
        <p:txBody>
          <a:bodyPr/>
          <a:lstStyle/>
          <a:p>
            <a:r>
              <a:rPr lang="en-US" dirty="0"/>
              <a:t>Panic in financial markets results in a credit crunch</a:t>
            </a:r>
          </a:p>
          <a:p>
            <a:pPr lvl="0"/>
            <a:r>
              <a:rPr lang="en-NZ" dirty="0"/>
              <a:t>“Investment” </a:t>
            </a:r>
            <a:r>
              <a:rPr lang="en-NZ" dirty="0">
                <a:solidFill>
                  <a:srgbClr val="C00000"/>
                </a:solidFill>
              </a:rPr>
              <a:t>initially</a:t>
            </a:r>
            <a:r>
              <a:rPr lang="en-NZ" dirty="0"/>
              <a:t> falls for a reason unrelated to business confidence  </a:t>
            </a:r>
          </a:p>
          <a:p>
            <a:pPr lvl="0"/>
            <a:r>
              <a:rPr lang="en-NZ" dirty="0"/>
              <a:t>Financial markets aren’t doing what they’re supposed to</a:t>
            </a:r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FC3801-C19F-47A3-9096-5E77F94A5DA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87616612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2121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2848-16E4-3403-31E4-7E9FD0746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1" y="561766"/>
            <a:ext cx="4505326" cy="1325563"/>
          </a:xfrm>
        </p:spPr>
        <p:txBody>
          <a:bodyPr anchor="b">
            <a:normAutofit/>
          </a:bodyPr>
          <a:lstStyle/>
          <a:p>
            <a:r>
              <a:rPr lang="en-NZ" sz="4200"/>
              <a:t>The European Debt Crisis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12EC4-7B2F-08BA-5E8D-762EABC860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1" y="2013916"/>
            <a:ext cx="4505326" cy="3571875"/>
          </a:xfrm>
        </p:spPr>
        <p:txBody>
          <a:bodyPr anchor="t">
            <a:normAutofit/>
          </a:bodyPr>
          <a:lstStyle/>
          <a:p>
            <a:r>
              <a:rPr lang="en-NZ" dirty="0"/>
              <a:t>Europe had two unique factors:</a:t>
            </a:r>
          </a:p>
          <a:p>
            <a:r>
              <a:rPr lang="en-NZ" dirty="0"/>
              <a:t>All countries shared the same currency and faced the same interest rates set by the ECB.</a:t>
            </a:r>
          </a:p>
          <a:p>
            <a:r>
              <a:rPr lang="en-NZ" dirty="0"/>
              <a:t>Bank assets were much larger than GDP</a:t>
            </a:r>
          </a:p>
          <a:p>
            <a:endParaRPr lang="en-NZ" dirty="0"/>
          </a:p>
        </p:txBody>
      </p:sp>
      <p:pic>
        <p:nvPicPr>
          <p:cNvPr id="6" name="Picture Placeholder 5" descr="Text&#10;&#10;Description automatically generated">
            <a:extLst>
              <a:ext uri="{FF2B5EF4-FFF2-40B4-BE49-F238E27FC236}">
                <a16:creationId xmlns:a16="http://schemas.microsoft.com/office/drawing/2014/main" id="{8253717B-44B9-C1C3-DE22-C565BABB455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6063" b="6441"/>
          <a:stretch/>
        </p:blipFill>
        <p:spPr>
          <a:xfrm>
            <a:off x="6096001" y="561766"/>
            <a:ext cx="5741988" cy="5024025"/>
          </a:xfrm>
          <a:noFill/>
        </p:spPr>
      </p:pic>
    </p:spTree>
    <p:extLst>
      <p:ext uri="{BB962C8B-B14F-4D97-AF65-F5344CB8AC3E}">
        <p14:creationId xmlns:p14="http://schemas.microsoft.com/office/powerpoint/2010/main" val="528901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B0CDCF-3A62-B121-373B-6CCB2360E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NZ" sz="4400" dirty="0"/>
              <a:t>Size of Bank assets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41E9CC1-8713-E0DE-F7D6-D7C0F5313E8F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83574841"/>
              </p:ext>
            </p:extLst>
          </p:nvPr>
        </p:nvGraphicFramePr>
        <p:xfrm>
          <a:off x="808038" y="1554163"/>
          <a:ext cx="53943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162">
                  <a:extLst>
                    <a:ext uri="{9D8B030D-6E8A-4147-A177-3AD203B41FA5}">
                      <a16:colId xmlns:a16="http://schemas.microsoft.com/office/drawing/2014/main" val="2988483759"/>
                    </a:ext>
                  </a:extLst>
                </a:gridCol>
                <a:gridCol w="2697162">
                  <a:extLst>
                    <a:ext uri="{9D8B030D-6E8A-4147-A177-3AD203B41FA5}">
                      <a16:colId xmlns:a16="http://schemas.microsoft.com/office/drawing/2014/main" val="2900320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Assets as % of GDP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705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81%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197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Italy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259%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3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294%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12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Spain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325%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349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416%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874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82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BD4600-DEB9-B1F7-A864-BEB53E28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NZ" sz="3500"/>
              <a:t>Eurozone Consequences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657C5DB-6F00-D2AA-9EEE-936BD77A87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Countries in the Eurozone cannot set independent monetary policy </a:t>
            </a:r>
          </a:p>
          <a:p>
            <a:r>
              <a:rPr lang="en-US" dirty="0"/>
              <a:t>They must also use the same currency (Euro)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1BA620-E8AE-A81F-159C-BC5ADF0FD26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44111335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4993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0EBC779-18FA-9898-7E45-20A411798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European Debt Crisis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533C699-166E-4874-A12C-0805588A2B1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64434630"/>
              </p:ext>
            </p:extLst>
          </p:nvPr>
        </p:nvGraphicFramePr>
        <p:xfrm>
          <a:off x="341244" y="1296699"/>
          <a:ext cx="11019483" cy="50579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95982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C9629A8-F218-4542-8D37-42F7FD10D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3011621"/>
              </p:ext>
            </p:extLst>
          </p:nvPr>
        </p:nvGraphicFramePr>
        <p:xfrm>
          <a:off x="1501775" y="576263"/>
          <a:ext cx="7473950" cy="504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73590F5-4753-85C8-25D8-14067EDF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Consumption</a:t>
            </a:r>
            <a:r>
              <a:rPr lang="mi-NZ" dirty="0"/>
              <a:t> </a:t>
            </a:r>
            <a:r>
              <a:rPr lang="mi-NZ" dirty="0" err="1"/>
              <a:t>falls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5388489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321F5B7-3F03-85CD-2E69-FABC604C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/>
          <a:lstStyle/>
          <a:p>
            <a:r>
              <a:rPr lang="en-US" dirty="0"/>
              <a:t>Car Woes</a:t>
            </a:r>
          </a:p>
        </p:txBody>
      </p:sp>
      <p:pic>
        <p:nvPicPr>
          <p:cNvPr id="5" name="Content Placeholder 4" descr="Cars parked in a line">
            <a:extLst>
              <a:ext uri="{FF2B5EF4-FFF2-40B4-BE49-F238E27FC236}">
                <a16:creationId xmlns:a16="http://schemas.microsoft.com/office/drawing/2014/main" id="{61AE8653-632A-BCE4-D005-C50E7587545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1" r="1" b="6574"/>
          <a:stretch/>
        </p:blipFill>
        <p:spPr>
          <a:xfrm>
            <a:off x="3946525" y="604838"/>
            <a:ext cx="7175500" cy="4981575"/>
          </a:xfr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91707EC-E1AD-B3AF-9142-DEBD584E5C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In US car market new car sales fell from 16m a year to 10m a year. </a:t>
            </a:r>
          </a:p>
          <a:p>
            <a:r>
              <a:rPr lang="en-US" dirty="0"/>
              <a:t>The Chrysler and GM bailout cost $US80bn.</a:t>
            </a:r>
          </a:p>
        </p:txBody>
      </p:sp>
    </p:spTree>
    <p:extLst>
      <p:ext uri="{BB962C8B-B14F-4D97-AF65-F5344CB8AC3E}">
        <p14:creationId xmlns:p14="http://schemas.microsoft.com/office/powerpoint/2010/main" val="20047038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CA16201-2E6C-4218-B42B-325A10C61634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685CC73-DF54-4E05-8D8A-544A2DBB0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866897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970322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56277B1-1EC7-FEFD-9D05-16828334B13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515099" y="1977886"/>
            <a:ext cx="9315540" cy="3586483"/>
          </a:xfrm>
          <a:noFill/>
        </p:spPr>
      </p:pic>
      <p:sp>
        <p:nvSpPr>
          <p:cNvPr id="21" name="Title 2">
            <a:extLst>
              <a:ext uri="{FF2B5EF4-FFF2-40B4-BE49-F238E27FC236}">
                <a16:creationId xmlns:a16="http://schemas.microsoft.com/office/drawing/2014/main" id="{06E5CE51-491E-5ED6-E1CE-E1C1958D5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>
            <a:noAutofit/>
          </a:bodyPr>
          <a:lstStyle/>
          <a:p>
            <a:r>
              <a:rPr lang="en-US" sz="4400" dirty="0"/>
              <a:t>China’s Exports fall</a:t>
            </a:r>
          </a:p>
        </p:txBody>
      </p:sp>
    </p:spTree>
    <p:extLst>
      <p:ext uri="{BB962C8B-B14F-4D97-AF65-F5344CB8AC3E}">
        <p14:creationId xmlns:p14="http://schemas.microsoft.com/office/powerpoint/2010/main" val="14934948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078DC88-DB71-4F2C-A2FD-126C32686800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529A3EE-0AB9-42D9-AB80-84F1D5FBD1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367702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711454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0F2C13B7-A59E-4296-8F92-D15E2E1C367D}"/>
              </a:ext>
            </a:extLst>
          </p:cNvPr>
          <p:cNvGraphicFramePr/>
          <p:nvPr/>
        </p:nvGraphicFramePr>
        <p:xfrm>
          <a:off x="371094" y="1161288"/>
          <a:ext cx="3438144" cy="1239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9E2A27B-DEA0-45DE-958B-75607C02EB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7402165"/>
              </p:ext>
            </p:extLst>
          </p:nvPr>
        </p:nvGraphicFramePr>
        <p:xfrm>
          <a:off x="371094" y="2718054"/>
          <a:ext cx="3438906" cy="3207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8" name="Picture Placeholder 7" descr="Chart, line chart&#10;&#10;Description automatically generated">
            <a:extLst>
              <a:ext uri="{FF2B5EF4-FFF2-40B4-BE49-F238E27FC236}">
                <a16:creationId xmlns:a16="http://schemas.microsoft.com/office/drawing/2014/main" id="{AA2F453F-7D76-47AF-A787-A914CA9B27A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936" y="841248"/>
            <a:ext cx="7014272" cy="444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593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Chart&#10;&#10;Description automatically generated">
            <a:extLst>
              <a:ext uri="{FF2B5EF4-FFF2-40B4-BE49-F238E27FC236}">
                <a16:creationId xmlns:a16="http://schemas.microsoft.com/office/drawing/2014/main" id="{9B136807-9AA5-8BF6-DBE0-2CE1DA73815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927" y="2167838"/>
            <a:ext cx="9260796" cy="35679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8404BA1-ABF3-7D8D-FE1B-9B1483BFF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GDP growth </a:t>
            </a:r>
          </a:p>
        </p:txBody>
      </p:sp>
    </p:spTree>
    <p:extLst>
      <p:ext uri="{BB962C8B-B14F-4D97-AF65-F5344CB8AC3E}">
        <p14:creationId xmlns:p14="http://schemas.microsoft.com/office/powerpoint/2010/main" val="15164018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1A1D2A-B4C0-23EF-4737-DF3365DA7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NZ" sz="4600"/>
              <a:t>Fiscal Stimulus</a:t>
            </a:r>
          </a:p>
        </p:txBody>
      </p:sp>
      <p:pic>
        <p:nvPicPr>
          <p:cNvPr id="8" name="Picture Placeholder 7" descr="Chart, bar chart&#10;&#10;Description automatically generated">
            <a:extLst>
              <a:ext uri="{FF2B5EF4-FFF2-40B4-BE49-F238E27FC236}">
                <a16:creationId xmlns:a16="http://schemas.microsoft.com/office/drawing/2014/main" id="{AFACFBFE-94C0-BFF6-E583-A09EB3F3A0F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525" y="1246649"/>
            <a:ext cx="7175500" cy="3697953"/>
          </a:xfrm>
          <a:noFill/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2A98DB9-9276-4760-8E02-33CF5ABD4E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This is the combined stimulus for 2009-10.</a:t>
            </a:r>
          </a:p>
          <a:p>
            <a:r>
              <a:rPr lang="en-US" dirty="0"/>
              <a:t>(First year was greatest)</a:t>
            </a:r>
          </a:p>
        </p:txBody>
      </p:sp>
    </p:spTree>
    <p:extLst>
      <p:ext uri="{BB962C8B-B14F-4D97-AF65-F5344CB8AC3E}">
        <p14:creationId xmlns:p14="http://schemas.microsoft.com/office/powerpoint/2010/main" val="68077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AB7B23D-5000-48C4-87A5-0DE680394C90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910F833-4063-4290-A4B0-8B586A89E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5799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771770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5518-1A48-ABBC-C33B-9BBC14071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China’s Fiscal Stimulus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0219B-2769-DC6D-5A77-D7ADE60866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 dirty="0"/>
              <a:t>An RMB 4 trillion package was announced in November 2008.</a:t>
            </a:r>
          </a:p>
          <a:p>
            <a:r>
              <a:rPr lang="en-NZ" dirty="0"/>
              <a:t>Actual new spending was less than this.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75328-37B7-46A2-9945-3EFA0837ACE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NZ" dirty="0"/>
              <a:t>RMB 1 trillion was for Sichuan earthquake reconstruction.</a:t>
            </a:r>
          </a:p>
          <a:p>
            <a:r>
              <a:rPr lang="en-NZ" dirty="0"/>
              <a:t>The distinct feature was </a:t>
            </a:r>
            <a:r>
              <a:rPr lang="en-NZ" dirty="0">
                <a:solidFill>
                  <a:srgbClr val="C00000"/>
                </a:solidFill>
              </a:rPr>
              <a:t>investment focus</a:t>
            </a:r>
            <a:r>
              <a:rPr lang="en-NZ" dirty="0"/>
              <a:t>.</a:t>
            </a:r>
          </a:p>
          <a:p>
            <a:r>
              <a:rPr lang="en-NZ" dirty="0"/>
              <a:t>74% allocated to infrastructure (e.g. highspeed railways).</a:t>
            </a:r>
          </a:p>
          <a:p>
            <a:r>
              <a:rPr lang="en-NZ" dirty="0"/>
              <a:t>Western economies allocated more to boost consumer spending.</a:t>
            </a:r>
          </a:p>
        </p:txBody>
      </p:sp>
    </p:spTree>
    <p:extLst>
      <p:ext uri="{BB962C8B-B14F-4D97-AF65-F5344CB8AC3E}">
        <p14:creationId xmlns:p14="http://schemas.microsoft.com/office/powerpoint/2010/main" val="34195733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BDD64DC-B9AA-438D-A6BB-E3F76981769A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AAF757-D3E3-4B80-9C36-0D0D9C53E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1895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729407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1F494FC-B52D-4B4A-B15C-9D6843A21296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0C6BEAF-7828-4A79-AC44-673783F151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51070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769587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F9F97-FBB0-D7FA-D7EA-F2ECBA406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sz="4800" dirty="0"/>
              <a:t>Quantitative Easing: How does it work?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783CFAA-EAAD-188E-7C0D-720EAD5FD2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292470"/>
              </p:ext>
            </p:extLst>
          </p:nvPr>
        </p:nvGraphicFramePr>
        <p:xfrm>
          <a:off x="341244" y="1623918"/>
          <a:ext cx="10760765" cy="4222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9118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4E438BE-3065-4B2B-933A-E93AA26DF325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3226F8-01EA-45C2-9417-A4923D90DA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489483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978473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513FEC-4B46-2057-91C6-3F7A49C0C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NZ" sz="3900"/>
              <a:t>Quantitative Easing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988DB0-1786-8F60-7E20-C05A43FB9F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46525" y="604838"/>
            <a:ext cx="7175500" cy="4981575"/>
          </a:xfrm>
        </p:spPr>
        <p:txBody>
          <a:bodyPr>
            <a:normAutofit/>
          </a:bodyPr>
          <a:lstStyle/>
          <a:p>
            <a:r>
              <a:rPr lang="en-NZ" dirty="0"/>
              <a:t>Quantitative easing allows the Central Bank to drive down interest rates when it hits the zero-bound limit.</a:t>
            </a:r>
          </a:p>
          <a:p>
            <a:r>
              <a:rPr lang="en-NZ" dirty="0"/>
              <a:t>Under normal circumstances it would be very inflationary.</a:t>
            </a:r>
          </a:p>
          <a:p>
            <a:r>
              <a:rPr lang="en-NZ" dirty="0"/>
              <a:t>Under the conditions of the GFC, the supply constraints that could cause inflation were absent.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BF6B8E1-BB0C-C1D5-238E-96F7F7920A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Quantitative Easing was very experimental.</a:t>
            </a:r>
          </a:p>
          <a:p>
            <a:r>
              <a:rPr lang="en-US" dirty="0"/>
              <a:t>Central Banks had not used it before.</a:t>
            </a:r>
          </a:p>
        </p:txBody>
      </p:sp>
    </p:spTree>
    <p:extLst>
      <p:ext uri="{BB962C8B-B14F-4D97-AF65-F5344CB8AC3E}">
        <p14:creationId xmlns:p14="http://schemas.microsoft.com/office/powerpoint/2010/main" val="272715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79F34E5-3DC4-4D39-87FE-5BDA4FCBEFF4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8B60C28-23F8-4F6D-A330-7210430AD6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0070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073331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71A927-48CD-CA46-207A-601E537A7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4.3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4C4939-0A8D-AFE0-1A9D-AB5877E0C81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 financial crisis is triggered by: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decline in consumer confidence.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decline in house prices.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decline in asset prices.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decline in investment.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F4375C-F59E-EFEF-AA3E-59482A194A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Select the best response to the following question.</a:t>
            </a:r>
          </a:p>
        </p:txBody>
      </p:sp>
    </p:spTree>
    <p:extLst>
      <p:ext uri="{BB962C8B-B14F-4D97-AF65-F5344CB8AC3E}">
        <p14:creationId xmlns:p14="http://schemas.microsoft.com/office/powerpoint/2010/main" val="36289928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71A927-48CD-CA46-207A-601E537A7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</a:t>
            </a:r>
            <a:r>
              <a:rPr lang="en-US" dirty="0"/>
              <a:t>4.4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4C4939-0A8D-AFE0-1A9D-AB5877E0C81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The initial decline in Investment in a financial crisis is caused by: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decline in business confidence.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drop in consumer spending on durables.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Interest rates in the economy are too high.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credit-crunch.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F4375C-F59E-EFEF-AA3E-59482A194A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Select the best response to the following question.</a:t>
            </a:r>
          </a:p>
        </p:txBody>
      </p:sp>
    </p:spTree>
    <p:extLst>
      <p:ext uri="{BB962C8B-B14F-4D97-AF65-F5344CB8AC3E}">
        <p14:creationId xmlns:p14="http://schemas.microsoft.com/office/powerpoint/2010/main" val="2902721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D39405C-68F3-4EC0-ACAD-3FB3368C74FA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2DF29C9-529B-4184-9398-433C2DEE85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60543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8810336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4DCC-7DA3-CBF6-FD00-BA0933194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mi-NZ" sz="3900" err="1"/>
              <a:t>Proposed</a:t>
            </a:r>
            <a:r>
              <a:rPr lang="mi-NZ" sz="3900"/>
              <a:t> </a:t>
            </a:r>
            <a:r>
              <a:rPr lang="mi-NZ" sz="3900" err="1"/>
              <a:t>Explanations</a:t>
            </a:r>
            <a:endParaRPr lang="en-NZ" sz="390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718D24-A44E-8416-F413-F2769D8501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Both countries also benefited from the large Chinese fiscal stimulus.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0DB3938-439B-4F3F-96A1-15C70AEFAF8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426893935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17707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240015-0C97-AC09-C9A8-0D62384D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NZ Net Exports</a:t>
            </a:r>
          </a:p>
        </p:txBody>
      </p:sp>
      <p:pic>
        <p:nvPicPr>
          <p:cNvPr id="12" name="Picture Placeholder 11" descr="Chart, line chart&#10;&#10;Description automatically generated">
            <a:extLst>
              <a:ext uri="{FF2B5EF4-FFF2-40B4-BE49-F238E27FC236}">
                <a16:creationId xmlns:a16="http://schemas.microsoft.com/office/drawing/2014/main" id="{2E55F170-3A58-EE79-1BBD-7FFA7E4F7C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1977887"/>
            <a:ext cx="9220386" cy="3552375"/>
          </a:xfrm>
        </p:spPr>
      </p:pic>
    </p:spTree>
    <p:extLst>
      <p:ext uri="{BB962C8B-B14F-4D97-AF65-F5344CB8AC3E}">
        <p14:creationId xmlns:p14="http://schemas.microsoft.com/office/powerpoint/2010/main" val="20809269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0D4E-C0F6-509B-E594-FA417D3C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mi-NZ" sz="3500" dirty="0" err="1"/>
              <a:t>Proposed</a:t>
            </a:r>
            <a:r>
              <a:rPr lang="mi-NZ" sz="3500" dirty="0"/>
              <a:t> </a:t>
            </a:r>
            <a:r>
              <a:rPr lang="mi-NZ" sz="3500" dirty="0" err="1"/>
              <a:t>Explanations</a:t>
            </a:r>
            <a:endParaRPr lang="en-NZ" sz="35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F67C6E2-56E3-3C3E-90CC-648FF3B88E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Australasian Banks were more conservative</a:t>
            </a:r>
          </a:p>
          <a:p>
            <a:r>
              <a:rPr lang="en-US" dirty="0"/>
              <a:t>Regulatory measures were effective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B12D8DB-A1D1-4807-B262-A9546941DD7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90665151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39231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2855091-2F0A-7587-8D0E-C7ADE5594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1" y="561766"/>
            <a:ext cx="4505326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Proposed Explanations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9C37263-A4A2-2EB6-FC01-190CD4079A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1" y="2013916"/>
            <a:ext cx="4505326" cy="3571875"/>
          </a:xfrm>
        </p:spPr>
        <p:txBody>
          <a:bodyPr/>
          <a:lstStyle/>
          <a:p>
            <a:r>
              <a:rPr lang="en-US" dirty="0"/>
              <a:t>Lowered debt goals became part of NZ fiscal stance from 1994.</a:t>
            </a:r>
          </a:p>
          <a:p>
            <a:r>
              <a:rPr lang="en-US" dirty="0"/>
              <a:t>From 2002-08 NZ Gross Public Debt was maintained at 20% of GDP.</a:t>
            </a:r>
          </a:p>
          <a:p>
            <a:r>
              <a:rPr lang="en-US" dirty="0"/>
              <a:t>Greece was 109%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F8D8001-F3E1-4541-ACDA-E52B6F7E3E6E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864225161"/>
              </p:ext>
            </p:extLst>
          </p:nvPr>
        </p:nvGraphicFramePr>
        <p:xfrm>
          <a:off x="6096001" y="561766"/>
          <a:ext cx="5741988" cy="5024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7284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D21145AE-34B0-1FDB-D8E6-04155E2DBA4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4" r="5344"/>
          <a:stretch>
            <a:fillRect/>
          </a:stretch>
        </p:blipFill>
        <p:spPr>
          <a:xfrm>
            <a:off x="2892958" y="527108"/>
            <a:ext cx="8650941" cy="556680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ABE022D-E05F-694C-693B-EEFBC71C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/>
              <a:t>NZ OCR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211674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81B33C-D0DD-6495-1C25-61F27E4C3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lessons can be drawn from the GFC for macroeconomic management?</a:t>
            </a:r>
          </a:p>
          <a:p>
            <a:r>
              <a:rPr lang="en-US" dirty="0"/>
              <a:t>Are these lessons applicable to the Covid19 shock?</a:t>
            </a:r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A67D3D-E831-85BA-F16E-F7578159D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Lessons of the GFC?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68332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ght minimalist">
      <a:dk1>
        <a:srgbClr val="353638"/>
      </a:dk1>
      <a:lt1>
        <a:srgbClr val="EFEFEF"/>
      </a:lt1>
      <a:dk2>
        <a:srgbClr val="656A56"/>
      </a:dk2>
      <a:lt2>
        <a:srgbClr val="D7DAE1"/>
      </a:lt2>
      <a:accent1>
        <a:srgbClr val="737E84"/>
      </a:accent1>
      <a:accent2>
        <a:srgbClr val="353638"/>
      </a:accent2>
      <a:accent3>
        <a:srgbClr val="BBBCB7"/>
      </a:accent3>
      <a:accent4>
        <a:srgbClr val="D7DAE1"/>
      </a:accent4>
      <a:accent5>
        <a:srgbClr val="748189"/>
      </a:accent5>
      <a:accent6>
        <a:srgbClr val="353638"/>
      </a:accent6>
      <a:hlink>
        <a:srgbClr val="EFEFEF"/>
      </a:hlink>
      <a:folHlink>
        <a:srgbClr val="656A56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15113 Lecture 11 Game Theory" id="{6A3A2FF9-C1F2-4C6B-81AA-36D5BAC0ECEB}" vid="{C2B1A1D8-4DC2-49F2-B7FA-19257A7DCF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5102</TotalTime>
  <Words>2904</Words>
  <Application>Microsoft Office PowerPoint</Application>
  <PresentationFormat>Widescreen</PresentationFormat>
  <Paragraphs>331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Arial</vt:lpstr>
      <vt:lpstr>Calibri</vt:lpstr>
      <vt:lpstr>Cambria Math</vt:lpstr>
      <vt:lpstr>Playfair Display</vt:lpstr>
      <vt:lpstr>Rockwell</vt:lpstr>
      <vt:lpstr>Tw Cen MT</vt:lpstr>
      <vt:lpstr>Office Theme</vt:lpstr>
      <vt:lpstr>115.113 Economics for Business</vt:lpstr>
      <vt:lpstr>Introduction</vt:lpstr>
      <vt:lpstr>Common features of Financial Crises </vt:lpstr>
      <vt:lpstr>Common features of Financial Crises </vt:lpstr>
      <vt:lpstr>The Asset Bubble </vt:lpstr>
      <vt:lpstr>Housing Price Bubble</vt:lpstr>
      <vt:lpstr>Housing Market</vt:lpstr>
      <vt:lpstr>PowerPoint Presentation</vt:lpstr>
      <vt:lpstr>Summary: Demand Increases</vt:lpstr>
      <vt:lpstr>PowerPoint Presentation</vt:lpstr>
      <vt:lpstr>The Problem with Banks</vt:lpstr>
      <vt:lpstr>The Economics of Banking</vt:lpstr>
      <vt:lpstr>Solvency</vt:lpstr>
      <vt:lpstr>Toxic Balance Sheet</vt:lpstr>
      <vt:lpstr>Summary</vt:lpstr>
      <vt:lpstr>Example 4.1</vt:lpstr>
      <vt:lpstr>Example 4.2</vt:lpstr>
      <vt:lpstr>Causes of GFC</vt:lpstr>
      <vt:lpstr>A Mexican strawberry picker with an income of $14 000 and no English was lent every penny he needed to buy a house of $724 000 </vt:lpstr>
      <vt:lpstr>CDOs</vt:lpstr>
      <vt:lpstr>Risks</vt:lpstr>
      <vt:lpstr>Causes of GFC</vt:lpstr>
      <vt:lpstr>Causes of GFC</vt:lpstr>
      <vt:lpstr>Causes of GFC</vt:lpstr>
      <vt:lpstr>PowerPoint Presentation</vt:lpstr>
      <vt:lpstr>Causes of GFC</vt:lpstr>
      <vt:lpstr>The Gamble</vt:lpstr>
      <vt:lpstr>The Financial Crisis begins</vt:lpstr>
      <vt:lpstr>Debt Contagion</vt:lpstr>
      <vt:lpstr>The European Debt Crisis</vt:lpstr>
      <vt:lpstr>Size of Bank assets</vt:lpstr>
      <vt:lpstr>Eurozone Consequences</vt:lpstr>
      <vt:lpstr>European Debt Crisis</vt:lpstr>
      <vt:lpstr>Consumption falls</vt:lpstr>
      <vt:lpstr>Car Woes</vt:lpstr>
      <vt:lpstr>PowerPoint Presentation</vt:lpstr>
      <vt:lpstr>China’s Exports fall</vt:lpstr>
      <vt:lpstr>PowerPoint Presentation</vt:lpstr>
      <vt:lpstr>PowerPoint Presentation</vt:lpstr>
      <vt:lpstr>GDP growth </vt:lpstr>
      <vt:lpstr>Fiscal Stimulus</vt:lpstr>
      <vt:lpstr>PowerPoint Presentation</vt:lpstr>
      <vt:lpstr>China’s Fiscal Stimulus</vt:lpstr>
      <vt:lpstr>PowerPoint Presentation</vt:lpstr>
      <vt:lpstr>PowerPoint Presentation</vt:lpstr>
      <vt:lpstr>Quantitative Easing: How does it work?</vt:lpstr>
      <vt:lpstr>PowerPoint Presentation</vt:lpstr>
      <vt:lpstr>Quantitative Easing</vt:lpstr>
      <vt:lpstr>PowerPoint Presentation</vt:lpstr>
      <vt:lpstr>Example 4.3</vt:lpstr>
      <vt:lpstr>Example 4.4</vt:lpstr>
      <vt:lpstr>PowerPoint Presentation</vt:lpstr>
      <vt:lpstr>Proposed Explanations</vt:lpstr>
      <vt:lpstr>NZ Net Exports</vt:lpstr>
      <vt:lpstr>Proposed Explanations</vt:lpstr>
      <vt:lpstr>Proposed Explanations</vt:lpstr>
      <vt:lpstr>NZ OCR</vt:lpstr>
      <vt:lpstr>Lessons of the GFC?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115.113 Lecture 11</dc:title>
  <dc:creator>Brendan Moyle</dc:creator>
  <cp:lastModifiedBy>Brendan Moyle</cp:lastModifiedBy>
  <cp:revision>15</cp:revision>
  <dcterms:created xsi:type="dcterms:W3CDTF">2021-09-30T01:10:51Z</dcterms:created>
  <dcterms:modified xsi:type="dcterms:W3CDTF">2023-08-13T21:40:33Z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2022-01-25T01:36:49Z</vt:lpwstr>
  </property>
  <property fmtid="{D5CDD505-2E9C-101B-9397-08002B2CF9AE}" pid="4" name="MSIP_Label_bd9e4d68-54d0-40a5-8c9a-85a36c87352c_Method">
    <vt:lpwstr>Privileged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33b0c11e-6a5a-4ae7-a410-e7add87a2217</vt:lpwstr>
  </property>
  <property fmtid="{D5CDD505-2E9C-101B-9397-08002B2CF9AE}" pid="8" name="MSIP_Label_bd9e4d68-54d0-40a5-8c9a-85a36c87352c_ContentBits">
    <vt:lpwstr>0</vt:lpwstr>
  </property>
</Properties>
</file>