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56" r:id="rId2"/>
    <p:sldId id="343" r:id="rId3"/>
    <p:sldId id="420" r:id="rId4"/>
    <p:sldId id="289" r:id="rId5"/>
    <p:sldId id="319" r:id="rId6"/>
    <p:sldId id="311" r:id="rId7"/>
    <p:sldId id="312" r:id="rId8"/>
    <p:sldId id="313" r:id="rId9"/>
    <p:sldId id="322" r:id="rId10"/>
    <p:sldId id="321" r:id="rId11"/>
    <p:sldId id="314" r:id="rId12"/>
    <p:sldId id="325" r:id="rId13"/>
    <p:sldId id="326" r:id="rId14"/>
    <p:sldId id="333" r:id="rId15"/>
    <p:sldId id="323" r:id="rId16"/>
    <p:sldId id="324" r:id="rId17"/>
    <p:sldId id="334" r:id="rId18"/>
    <p:sldId id="335" r:id="rId19"/>
    <p:sldId id="315" r:id="rId20"/>
    <p:sldId id="305" r:id="rId21"/>
    <p:sldId id="345" r:id="rId22"/>
    <p:sldId id="291" r:id="rId23"/>
    <p:sldId id="346" r:id="rId24"/>
    <p:sldId id="330" r:id="rId25"/>
    <p:sldId id="347" r:id="rId26"/>
    <p:sldId id="348" r:id="rId27"/>
    <p:sldId id="306" r:id="rId28"/>
    <p:sldId id="349" r:id="rId29"/>
    <p:sldId id="447" r:id="rId30"/>
    <p:sldId id="448" r:id="rId31"/>
    <p:sldId id="449" r:id="rId32"/>
    <p:sldId id="450" r:id="rId33"/>
    <p:sldId id="458" r:id="rId34"/>
    <p:sldId id="459" r:id="rId35"/>
    <p:sldId id="277" r:id="rId36"/>
    <p:sldId id="460" r:id="rId37"/>
    <p:sldId id="461" r:id="rId38"/>
    <p:sldId id="462" r:id="rId39"/>
    <p:sldId id="463" r:id="rId40"/>
    <p:sldId id="46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53638"/>
    <a:srgbClr val="636852"/>
    <a:srgbClr val="EFEFEF"/>
    <a:srgbClr val="76838B"/>
    <a:srgbClr val="656A56"/>
    <a:srgbClr val="FBE0CF"/>
    <a:srgbClr val="F9EDD7"/>
    <a:srgbClr val="EABB40"/>
    <a:srgbClr val="DEE2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483DA3-932B-4DFB-A5AB-DBCA9BCD1A87}" v="2" dt="2023-08-20T21:10:51.1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99" autoAdjust="0"/>
    <p:restoredTop sz="96416" autoAdjust="0"/>
  </p:normalViewPr>
  <p:slideViewPr>
    <p:cSldViewPr snapToGrid="0">
      <p:cViewPr varScale="1">
        <p:scale>
          <a:sx n="82" d="100"/>
          <a:sy n="82" d="100"/>
        </p:scale>
        <p:origin x="648" y="7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5" d="100"/>
          <a:sy n="85" d="100"/>
        </p:scale>
        <p:origin x="295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F1826E-3097-E446-B8D5-89F2515D3C6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GB"/>
        </a:p>
      </dgm:t>
    </dgm:pt>
    <dgm:pt modelId="{2F104BE6-2E46-8B45-95D2-A4EFD99E76D6}">
      <dgm:prSet/>
      <dgm:spPr/>
      <dgm:t>
        <a:bodyPr/>
        <a:lstStyle/>
        <a:p>
          <a:r>
            <a:rPr lang="en-US" dirty="0"/>
            <a:t>Increased globalization means that most nations engage in both specialization and trade.</a:t>
          </a:r>
          <a:endParaRPr lang="en-NZ" dirty="0"/>
        </a:p>
      </dgm:t>
    </dgm:pt>
    <dgm:pt modelId="{BC5F52C0-B97A-8443-A54D-FBF0EC323B26}" type="parTrans" cxnId="{99762003-B0DF-9E40-8027-07804788EAE1}">
      <dgm:prSet/>
      <dgm:spPr/>
      <dgm:t>
        <a:bodyPr/>
        <a:lstStyle/>
        <a:p>
          <a:endParaRPr lang="en-GB"/>
        </a:p>
      </dgm:t>
    </dgm:pt>
    <dgm:pt modelId="{01060587-EA04-9244-81BD-9C1A9C3D6EFC}" type="sibTrans" cxnId="{99762003-B0DF-9E40-8027-07804788EAE1}">
      <dgm:prSet/>
      <dgm:spPr/>
      <dgm:t>
        <a:bodyPr/>
        <a:lstStyle/>
        <a:p>
          <a:endParaRPr lang="en-GB"/>
        </a:p>
      </dgm:t>
    </dgm:pt>
    <dgm:pt modelId="{A2F00E85-CF57-B34D-9721-591F103AE94B}">
      <dgm:prSet/>
      <dgm:spPr/>
      <dgm:t>
        <a:bodyPr/>
        <a:lstStyle/>
        <a:p>
          <a:r>
            <a:rPr lang="en-US" b="1" dirty="0"/>
            <a:t>Specialization</a:t>
          </a:r>
          <a:r>
            <a:rPr lang="en-US" dirty="0"/>
            <a:t>: when an entity produces a narrower range of goods than it consumes, acquiring the rest through trade.</a:t>
          </a:r>
          <a:endParaRPr lang="en-NZ" dirty="0"/>
        </a:p>
      </dgm:t>
    </dgm:pt>
    <dgm:pt modelId="{A99D8395-7C7F-6F4A-BD8A-D07B3579A329}" type="parTrans" cxnId="{22FA9B33-738F-B449-A50A-A1C6A3A06BE3}">
      <dgm:prSet/>
      <dgm:spPr/>
      <dgm:t>
        <a:bodyPr/>
        <a:lstStyle/>
        <a:p>
          <a:endParaRPr lang="en-GB"/>
        </a:p>
      </dgm:t>
    </dgm:pt>
    <dgm:pt modelId="{09393DAB-A128-E941-8CEE-B0DACDEC600D}" type="sibTrans" cxnId="{22FA9B33-738F-B449-A50A-A1C6A3A06BE3}">
      <dgm:prSet/>
      <dgm:spPr/>
      <dgm:t>
        <a:bodyPr/>
        <a:lstStyle/>
        <a:p>
          <a:endParaRPr lang="en-GB"/>
        </a:p>
      </dgm:t>
    </dgm:pt>
    <dgm:pt modelId="{0CE54334-5558-AD49-96B9-A03EBDCDCEC6}" type="pres">
      <dgm:prSet presAssocID="{32F1826E-3097-E446-B8D5-89F2515D3C6A}" presName="linear" presStyleCnt="0">
        <dgm:presLayoutVars>
          <dgm:animLvl val="lvl"/>
          <dgm:resizeHandles val="exact"/>
        </dgm:presLayoutVars>
      </dgm:prSet>
      <dgm:spPr/>
    </dgm:pt>
    <dgm:pt modelId="{7C8DF72B-3687-3E46-A735-0E96DCC3322E}" type="pres">
      <dgm:prSet presAssocID="{2F104BE6-2E46-8B45-95D2-A4EFD99E76D6}" presName="parentText" presStyleLbl="node1" presStyleIdx="0" presStyleCnt="2">
        <dgm:presLayoutVars>
          <dgm:chMax val="0"/>
          <dgm:bulletEnabled val="1"/>
        </dgm:presLayoutVars>
      </dgm:prSet>
      <dgm:spPr/>
    </dgm:pt>
    <dgm:pt modelId="{89E0DC0B-EBC2-424B-920C-F1BA799256F9}" type="pres">
      <dgm:prSet presAssocID="{01060587-EA04-9244-81BD-9C1A9C3D6EFC}" presName="spacer" presStyleCnt="0"/>
      <dgm:spPr/>
    </dgm:pt>
    <dgm:pt modelId="{08131866-E767-6E47-9041-2C86133D3E79}" type="pres">
      <dgm:prSet presAssocID="{A2F00E85-CF57-B34D-9721-591F103AE94B}" presName="parentText" presStyleLbl="node1" presStyleIdx="1" presStyleCnt="2">
        <dgm:presLayoutVars>
          <dgm:chMax val="0"/>
          <dgm:bulletEnabled val="1"/>
        </dgm:presLayoutVars>
      </dgm:prSet>
      <dgm:spPr/>
    </dgm:pt>
  </dgm:ptLst>
  <dgm:cxnLst>
    <dgm:cxn modelId="{99762003-B0DF-9E40-8027-07804788EAE1}" srcId="{32F1826E-3097-E446-B8D5-89F2515D3C6A}" destId="{2F104BE6-2E46-8B45-95D2-A4EFD99E76D6}" srcOrd="0" destOrd="0" parTransId="{BC5F52C0-B97A-8443-A54D-FBF0EC323B26}" sibTransId="{01060587-EA04-9244-81BD-9C1A9C3D6EFC}"/>
    <dgm:cxn modelId="{22FA9B33-738F-B449-A50A-A1C6A3A06BE3}" srcId="{32F1826E-3097-E446-B8D5-89F2515D3C6A}" destId="{A2F00E85-CF57-B34D-9721-591F103AE94B}" srcOrd="1" destOrd="0" parTransId="{A99D8395-7C7F-6F4A-BD8A-D07B3579A329}" sibTransId="{09393DAB-A128-E941-8CEE-B0DACDEC600D}"/>
    <dgm:cxn modelId="{44434A77-D9E5-064B-8E79-D3BDCFF112D6}" type="presOf" srcId="{A2F00E85-CF57-B34D-9721-591F103AE94B}" destId="{08131866-E767-6E47-9041-2C86133D3E79}" srcOrd="0" destOrd="0" presId="urn:microsoft.com/office/officeart/2005/8/layout/vList2"/>
    <dgm:cxn modelId="{9B1B518F-33BF-064D-B5AA-0C7DAC903931}" type="presOf" srcId="{2F104BE6-2E46-8B45-95D2-A4EFD99E76D6}" destId="{7C8DF72B-3687-3E46-A735-0E96DCC3322E}" srcOrd="0" destOrd="0" presId="urn:microsoft.com/office/officeart/2005/8/layout/vList2"/>
    <dgm:cxn modelId="{1D544BC6-290A-DA45-A879-B8BBC4789B57}" type="presOf" srcId="{32F1826E-3097-E446-B8D5-89F2515D3C6A}" destId="{0CE54334-5558-AD49-96B9-A03EBDCDCEC6}" srcOrd="0" destOrd="0" presId="urn:microsoft.com/office/officeart/2005/8/layout/vList2"/>
    <dgm:cxn modelId="{AD0A6074-7FDC-D048-8950-BE0444BBE326}" type="presParOf" srcId="{0CE54334-5558-AD49-96B9-A03EBDCDCEC6}" destId="{7C8DF72B-3687-3E46-A735-0E96DCC3322E}" srcOrd="0" destOrd="0" presId="urn:microsoft.com/office/officeart/2005/8/layout/vList2"/>
    <dgm:cxn modelId="{45AC577F-F38E-B540-B56A-8F8D58F56E6E}" type="presParOf" srcId="{0CE54334-5558-AD49-96B9-A03EBDCDCEC6}" destId="{89E0DC0B-EBC2-424B-920C-F1BA799256F9}" srcOrd="1" destOrd="0" presId="urn:microsoft.com/office/officeart/2005/8/layout/vList2"/>
    <dgm:cxn modelId="{A8F974BF-7C4A-134B-B935-0B8B26DC8C63}" type="presParOf" srcId="{0CE54334-5558-AD49-96B9-A03EBDCDCEC6}" destId="{08131866-E767-6E47-9041-2C86133D3E7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6D30CBE-6C4D-4C43-8B61-7DAE16DD358A}" type="doc">
      <dgm:prSet loTypeId="urn:microsoft.com/office/officeart/2005/8/layout/orgChart1" loCatId="hierarchy" qsTypeId="urn:microsoft.com/office/officeart/2005/8/quickstyle/simple5" qsCatId="simple" csTypeId="urn:microsoft.com/office/officeart/2005/8/colors/accent1_2" csCatId="accent1" phldr="1"/>
      <dgm:spPr/>
      <dgm:t>
        <a:bodyPr/>
        <a:lstStyle/>
        <a:p>
          <a:endParaRPr lang="en-GB"/>
        </a:p>
      </dgm:t>
    </dgm:pt>
    <dgm:pt modelId="{03E75E33-B5B1-8C4E-9651-19C258EBAC00}">
      <dgm:prSet/>
      <dgm:spPr/>
      <dgm:t>
        <a:bodyPr/>
        <a:lstStyle/>
        <a:p>
          <a:r>
            <a:rPr lang="en-US"/>
            <a:t>Reasons for specialization include:</a:t>
          </a:r>
          <a:endParaRPr lang="en-NZ"/>
        </a:p>
      </dgm:t>
    </dgm:pt>
    <dgm:pt modelId="{4DF301BC-8299-2F4B-9DC6-98AC3F9F6E23}" type="parTrans" cxnId="{29A7E73C-FDF0-6344-A593-EAAB9B657AC2}">
      <dgm:prSet/>
      <dgm:spPr/>
      <dgm:t>
        <a:bodyPr/>
        <a:lstStyle/>
        <a:p>
          <a:endParaRPr lang="en-GB"/>
        </a:p>
      </dgm:t>
    </dgm:pt>
    <dgm:pt modelId="{ABB191A0-F352-B24B-9F3E-551E4DDB37E7}" type="sibTrans" cxnId="{29A7E73C-FDF0-6344-A593-EAAB9B657AC2}">
      <dgm:prSet/>
      <dgm:spPr/>
      <dgm:t>
        <a:bodyPr/>
        <a:lstStyle/>
        <a:p>
          <a:endParaRPr lang="en-GB"/>
        </a:p>
      </dgm:t>
    </dgm:pt>
    <dgm:pt modelId="{313F53F1-2697-0942-9ED1-A3EF4188472B}">
      <dgm:prSet/>
      <dgm:spPr/>
      <dgm:t>
        <a:bodyPr/>
        <a:lstStyle/>
        <a:p>
          <a:r>
            <a:rPr lang="en-US" b="1"/>
            <a:t>Comparative advantage </a:t>
          </a:r>
          <a:r>
            <a:rPr lang="en-US"/>
            <a:t>in producing particular goods</a:t>
          </a:r>
          <a:endParaRPr lang="en-NZ"/>
        </a:p>
      </dgm:t>
    </dgm:pt>
    <dgm:pt modelId="{C3A9225A-CB32-FF4F-91FF-9163CD5262AB}" type="parTrans" cxnId="{F7BC24E2-876B-9F49-B144-DD03AFBAD25D}">
      <dgm:prSet/>
      <dgm:spPr/>
      <dgm:t>
        <a:bodyPr/>
        <a:lstStyle/>
        <a:p>
          <a:endParaRPr lang="en-GB"/>
        </a:p>
      </dgm:t>
    </dgm:pt>
    <dgm:pt modelId="{8688D594-77C8-524A-8522-48B327362D41}" type="sibTrans" cxnId="{F7BC24E2-876B-9F49-B144-DD03AFBAD25D}">
      <dgm:prSet/>
      <dgm:spPr/>
      <dgm:t>
        <a:bodyPr/>
        <a:lstStyle/>
        <a:p>
          <a:endParaRPr lang="en-GB"/>
        </a:p>
      </dgm:t>
    </dgm:pt>
    <dgm:pt modelId="{A38192DC-C59F-5E40-AD78-7EC94F142A34}">
      <dgm:prSet/>
      <dgm:spPr/>
      <dgm:t>
        <a:bodyPr/>
        <a:lstStyle/>
        <a:p>
          <a:r>
            <a:rPr lang="en-US" b="1" dirty="0"/>
            <a:t>Economies of agglomeration </a:t>
          </a:r>
          <a:r>
            <a:rPr lang="en-US" dirty="0"/>
            <a:t>– cost reductions from locating close to other firms in similar industries</a:t>
          </a:r>
          <a:endParaRPr lang="en-NZ" dirty="0"/>
        </a:p>
      </dgm:t>
    </dgm:pt>
    <dgm:pt modelId="{8F2013B3-B53E-484C-82DC-A1D09D18C702}" type="parTrans" cxnId="{35974773-1944-AE4B-B602-3B7B5439E30E}">
      <dgm:prSet/>
      <dgm:spPr/>
      <dgm:t>
        <a:bodyPr/>
        <a:lstStyle/>
        <a:p>
          <a:endParaRPr lang="en-GB"/>
        </a:p>
      </dgm:t>
    </dgm:pt>
    <dgm:pt modelId="{2EEA13E2-4091-544E-98F6-0F0E6693EA54}" type="sibTrans" cxnId="{35974773-1944-AE4B-B602-3B7B5439E30E}">
      <dgm:prSet/>
      <dgm:spPr/>
      <dgm:t>
        <a:bodyPr/>
        <a:lstStyle/>
        <a:p>
          <a:endParaRPr lang="en-GB"/>
        </a:p>
      </dgm:t>
    </dgm:pt>
    <dgm:pt modelId="{0D5EBA3C-6974-3C40-BA9C-C642D63162DD}">
      <dgm:prSet/>
      <dgm:spPr/>
      <dgm:t>
        <a:bodyPr/>
        <a:lstStyle/>
        <a:p>
          <a:r>
            <a:rPr lang="en-US" dirty="0"/>
            <a:t>Economies of scale – cost advantages from producing more</a:t>
          </a:r>
          <a:endParaRPr lang="en-NZ" dirty="0"/>
        </a:p>
      </dgm:t>
    </dgm:pt>
    <dgm:pt modelId="{6E656DCA-9A8E-6340-A0AC-E102DAE6C1E8}" type="parTrans" cxnId="{4F6A81B5-48A0-B14C-81CB-31DC8366B37E}">
      <dgm:prSet/>
      <dgm:spPr/>
      <dgm:t>
        <a:bodyPr/>
        <a:lstStyle/>
        <a:p>
          <a:endParaRPr lang="en-GB"/>
        </a:p>
      </dgm:t>
    </dgm:pt>
    <dgm:pt modelId="{1A9FE4EE-5FB0-0446-80A8-99F9FD5087CD}" type="sibTrans" cxnId="{4F6A81B5-48A0-B14C-81CB-31DC8366B37E}">
      <dgm:prSet/>
      <dgm:spPr/>
      <dgm:t>
        <a:bodyPr/>
        <a:lstStyle/>
        <a:p>
          <a:endParaRPr lang="en-GB"/>
        </a:p>
      </dgm:t>
    </dgm:pt>
    <dgm:pt modelId="{CA71FAB7-F3E8-491A-AB8F-25F3810BE0C0}">
      <dgm:prSet/>
      <dgm:spPr/>
      <dgm:t>
        <a:bodyPr/>
        <a:lstStyle/>
        <a:p>
          <a:r>
            <a:rPr lang="en-NZ" dirty="0"/>
            <a:t>Average Dairy herd in NZ is 440 cows.</a:t>
          </a:r>
        </a:p>
        <a:p>
          <a:r>
            <a:rPr lang="en-NZ" dirty="0"/>
            <a:t>Average </a:t>
          </a:r>
          <a:r>
            <a:rPr lang="en-NZ"/>
            <a:t>in France </a:t>
          </a:r>
          <a:r>
            <a:rPr lang="en-NZ" dirty="0"/>
            <a:t>is 60-70</a:t>
          </a:r>
        </a:p>
      </dgm:t>
    </dgm:pt>
    <dgm:pt modelId="{137BD627-7E5A-4B63-8E32-60888880D364}" type="parTrans" cxnId="{C1C1D994-B622-42E5-BB48-B159105939B6}">
      <dgm:prSet/>
      <dgm:spPr/>
      <dgm:t>
        <a:bodyPr/>
        <a:lstStyle/>
        <a:p>
          <a:endParaRPr lang="en-NZ"/>
        </a:p>
      </dgm:t>
    </dgm:pt>
    <dgm:pt modelId="{E9DCBD1F-E416-4D58-BF95-FE6B80A3212C}" type="sibTrans" cxnId="{C1C1D994-B622-42E5-BB48-B159105939B6}">
      <dgm:prSet/>
      <dgm:spPr/>
      <dgm:t>
        <a:bodyPr/>
        <a:lstStyle/>
        <a:p>
          <a:endParaRPr lang="en-NZ"/>
        </a:p>
      </dgm:t>
    </dgm:pt>
    <dgm:pt modelId="{C3FA63DA-8D46-40C9-9DD2-113F2E5AAC7C}" type="pres">
      <dgm:prSet presAssocID="{C6D30CBE-6C4D-4C43-8B61-7DAE16DD358A}" presName="hierChild1" presStyleCnt="0">
        <dgm:presLayoutVars>
          <dgm:orgChart val="1"/>
          <dgm:chPref val="1"/>
          <dgm:dir/>
          <dgm:animOne val="branch"/>
          <dgm:animLvl val="lvl"/>
          <dgm:resizeHandles/>
        </dgm:presLayoutVars>
      </dgm:prSet>
      <dgm:spPr/>
    </dgm:pt>
    <dgm:pt modelId="{182D06BD-EB11-408F-B00A-F5EB6EC895F5}" type="pres">
      <dgm:prSet presAssocID="{03E75E33-B5B1-8C4E-9651-19C258EBAC00}" presName="hierRoot1" presStyleCnt="0">
        <dgm:presLayoutVars>
          <dgm:hierBranch val="init"/>
        </dgm:presLayoutVars>
      </dgm:prSet>
      <dgm:spPr/>
    </dgm:pt>
    <dgm:pt modelId="{185B2265-511B-42B6-8177-69D750E4CE6C}" type="pres">
      <dgm:prSet presAssocID="{03E75E33-B5B1-8C4E-9651-19C258EBAC00}" presName="rootComposite1" presStyleCnt="0"/>
      <dgm:spPr/>
    </dgm:pt>
    <dgm:pt modelId="{DB6005D0-3078-4DC1-B824-07BC37F5D09C}" type="pres">
      <dgm:prSet presAssocID="{03E75E33-B5B1-8C4E-9651-19C258EBAC00}" presName="rootText1" presStyleLbl="node0" presStyleIdx="0" presStyleCnt="1">
        <dgm:presLayoutVars>
          <dgm:chPref val="3"/>
        </dgm:presLayoutVars>
      </dgm:prSet>
      <dgm:spPr/>
    </dgm:pt>
    <dgm:pt modelId="{3A36D05C-6FBB-416D-8073-0D03AD0208D7}" type="pres">
      <dgm:prSet presAssocID="{03E75E33-B5B1-8C4E-9651-19C258EBAC00}" presName="rootConnector1" presStyleLbl="node1" presStyleIdx="0" presStyleCnt="0"/>
      <dgm:spPr/>
    </dgm:pt>
    <dgm:pt modelId="{A86ED6E8-4080-4176-9ACA-476F0EC2FC6D}" type="pres">
      <dgm:prSet presAssocID="{03E75E33-B5B1-8C4E-9651-19C258EBAC00}" presName="hierChild2" presStyleCnt="0"/>
      <dgm:spPr/>
    </dgm:pt>
    <dgm:pt modelId="{2C72A18C-70B4-4DEE-B3BA-B8CB2CC3B2B0}" type="pres">
      <dgm:prSet presAssocID="{C3A9225A-CB32-FF4F-91FF-9163CD5262AB}" presName="Name37" presStyleLbl="parChTrans1D2" presStyleIdx="0" presStyleCnt="3"/>
      <dgm:spPr/>
    </dgm:pt>
    <dgm:pt modelId="{8D83E56F-4982-455E-B427-9BF6BD8911A4}" type="pres">
      <dgm:prSet presAssocID="{313F53F1-2697-0942-9ED1-A3EF4188472B}" presName="hierRoot2" presStyleCnt="0">
        <dgm:presLayoutVars>
          <dgm:hierBranch val="init"/>
        </dgm:presLayoutVars>
      </dgm:prSet>
      <dgm:spPr/>
    </dgm:pt>
    <dgm:pt modelId="{53F8EA39-56D4-45FE-8CAB-87AAD798BC29}" type="pres">
      <dgm:prSet presAssocID="{313F53F1-2697-0942-9ED1-A3EF4188472B}" presName="rootComposite" presStyleCnt="0"/>
      <dgm:spPr/>
    </dgm:pt>
    <dgm:pt modelId="{4E7FE757-EE9B-44B9-A2A3-9A16F16DEBBD}" type="pres">
      <dgm:prSet presAssocID="{313F53F1-2697-0942-9ED1-A3EF4188472B}" presName="rootText" presStyleLbl="node2" presStyleIdx="0" presStyleCnt="3">
        <dgm:presLayoutVars>
          <dgm:chPref val="3"/>
        </dgm:presLayoutVars>
      </dgm:prSet>
      <dgm:spPr/>
    </dgm:pt>
    <dgm:pt modelId="{85870591-6169-49C4-ABD0-11C98DC89281}" type="pres">
      <dgm:prSet presAssocID="{313F53F1-2697-0942-9ED1-A3EF4188472B}" presName="rootConnector" presStyleLbl="node2" presStyleIdx="0" presStyleCnt="3"/>
      <dgm:spPr/>
    </dgm:pt>
    <dgm:pt modelId="{78F9DA9E-1990-41DD-9513-9F3BA0A38BC0}" type="pres">
      <dgm:prSet presAssocID="{313F53F1-2697-0942-9ED1-A3EF4188472B}" presName="hierChild4" presStyleCnt="0"/>
      <dgm:spPr/>
    </dgm:pt>
    <dgm:pt modelId="{EE2057DD-23DC-439B-9727-2C2CC380E593}" type="pres">
      <dgm:prSet presAssocID="{313F53F1-2697-0942-9ED1-A3EF4188472B}" presName="hierChild5" presStyleCnt="0"/>
      <dgm:spPr/>
    </dgm:pt>
    <dgm:pt modelId="{FF97E688-A221-4C60-AB96-54981056CDE7}" type="pres">
      <dgm:prSet presAssocID="{8F2013B3-B53E-484C-82DC-A1D09D18C702}" presName="Name37" presStyleLbl="parChTrans1D2" presStyleIdx="1" presStyleCnt="3"/>
      <dgm:spPr/>
    </dgm:pt>
    <dgm:pt modelId="{F0338FF5-767B-42D1-8BD2-8FC78E342464}" type="pres">
      <dgm:prSet presAssocID="{A38192DC-C59F-5E40-AD78-7EC94F142A34}" presName="hierRoot2" presStyleCnt="0">
        <dgm:presLayoutVars>
          <dgm:hierBranch val="init"/>
        </dgm:presLayoutVars>
      </dgm:prSet>
      <dgm:spPr/>
    </dgm:pt>
    <dgm:pt modelId="{2DB1937E-54B3-4AD5-A6A0-02287BCC2D13}" type="pres">
      <dgm:prSet presAssocID="{A38192DC-C59F-5E40-AD78-7EC94F142A34}" presName="rootComposite" presStyleCnt="0"/>
      <dgm:spPr/>
    </dgm:pt>
    <dgm:pt modelId="{90BEACFF-FAB9-4C31-BDE1-85608F7D4F5E}" type="pres">
      <dgm:prSet presAssocID="{A38192DC-C59F-5E40-AD78-7EC94F142A34}" presName="rootText" presStyleLbl="node2" presStyleIdx="1" presStyleCnt="3">
        <dgm:presLayoutVars>
          <dgm:chPref val="3"/>
        </dgm:presLayoutVars>
      </dgm:prSet>
      <dgm:spPr/>
    </dgm:pt>
    <dgm:pt modelId="{58D86CFF-810A-40F0-BEF3-4E930B6C4C26}" type="pres">
      <dgm:prSet presAssocID="{A38192DC-C59F-5E40-AD78-7EC94F142A34}" presName="rootConnector" presStyleLbl="node2" presStyleIdx="1" presStyleCnt="3"/>
      <dgm:spPr/>
    </dgm:pt>
    <dgm:pt modelId="{800B7AA6-0C1A-4F38-A558-ABA8F0C9CCF9}" type="pres">
      <dgm:prSet presAssocID="{A38192DC-C59F-5E40-AD78-7EC94F142A34}" presName="hierChild4" presStyleCnt="0"/>
      <dgm:spPr/>
    </dgm:pt>
    <dgm:pt modelId="{262A2E72-488F-4083-878E-8D6366C5B06A}" type="pres">
      <dgm:prSet presAssocID="{A38192DC-C59F-5E40-AD78-7EC94F142A34}" presName="hierChild5" presStyleCnt="0"/>
      <dgm:spPr/>
    </dgm:pt>
    <dgm:pt modelId="{B3B76460-5558-457F-BFA0-4101FFF2CD6A}" type="pres">
      <dgm:prSet presAssocID="{6E656DCA-9A8E-6340-A0AC-E102DAE6C1E8}" presName="Name37" presStyleLbl="parChTrans1D2" presStyleIdx="2" presStyleCnt="3"/>
      <dgm:spPr/>
    </dgm:pt>
    <dgm:pt modelId="{21FFDEF2-7FC8-423B-A04E-DC19A8675DD4}" type="pres">
      <dgm:prSet presAssocID="{0D5EBA3C-6974-3C40-BA9C-C642D63162DD}" presName="hierRoot2" presStyleCnt="0">
        <dgm:presLayoutVars>
          <dgm:hierBranch val="init"/>
        </dgm:presLayoutVars>
      </dgm:prSet>
      <dgm:spPr/>
    </dgm:pt>
    <dgm:pt modelId="{5A5B005B-8A53-4ED6-A40B-7E65CA3DF627}" type="pres">
      <dgm:prSet presAssocID="{0D5EBA3C-6974-3C40-BA9C-C642D63162DD}" presName="rootComposite" presStyleCnt="0"/>
      <dgm:spPr/>
    </dgm:pt>
    <dgm:pt modelId="{BBFFFC67-22F5-4BF7-BEBF-514991B43B9E}" type="pres">
      <dgm:prSet presAssocID="{0D5EBA3C-6974-3C40-BA9C-C642D63162DD}" presName="rootText" presStyleLbl="node2" presStyleIdx="2" presStyleCnt="3">
        <dgm:presLayoutVars>
          <dgm:chPref val="3"/>
        </dgm:presLayoutVars>
      </dgm:prSet>
      <dgm:spPr/>
    </dgm:pt>
    <dgm:pt modelId="{9CB2B564-BFE6-481A-9528-363955E859E2}" type="pres">
      <dgm:prSet presAssocID="{0D5EBA3C-6974-3C40-BA9C-C642D63162DD}" presName="rootConnector" presStyleLbl="node2" presStyleIdx="2" presStyleCnt="3"/>
      <dgm:spPr/>
    </dgm:pt>
    <dgm:pt modelId="{82CF1423-D46E-424E-BB66-8926C60617D1}" type="pres">
      <dgm:prSet presAssocID="{0D5EBA3C-6974-3C40-BA9C-C642D63162DD}" presName="hierChild4" presStyleCnt="0"/>
      <dgm:spPr/>
    </dgm:pt>
    <dgm:pt modelId="{F0C8273F-109C-48A3-8999-2E882EEEFFF1}" type="pres">
      <dgm:prSet presAssocID="{137BD627-7E5A-4B63-8E32-60888880D364}" presName="Name37" presStyleLbl="parChTrans1D3" presStyleIdx="0" presStyleCnt="1"/>
      <dgm:spPr/>
    </dgm:pt>
    <dgm:pt modelId="{594F89D3-371E-4ADC-91D6-6BBF93990257}" type="pres">
      <dgm:prSet presAssocID="{CA71FAB7-F3E8-491A-AB8F-25F3810BE0C0}" presName="hierRoot2" presStyleCnt="0">
        <dgm:presLayoutVars>
          <dgm:hierBranch val="init"/>
        </dgm:presLayoutVars>
      </dgm:prSet>
      <dgm:spPr/>
    </dgm:pt>
    <dgm:pt modelId="{05E3C6A6-3F30-4CD8-8F9F-D09DA07807E7}" type="pres">
      <dgm:prSet presAssocID="{CA71FAB7-F3E8-491A-AB8F-25F3810BE0C0}" presName="rootComposite" presStyleCnt="0"/>
      <dgm:spPr/>
    </dgm:pt>
    <dgm:pt modelId="{CE746D6C-5499-43E2-BDCE-4EA3846CC1F3}" type="pres">
      <dgm:prSet presAssocID="{CA71FAB7-F3E8-491A-AB8F-25F3810BE0C0}" presName="rootText" presStyleLbl="node3" presStyleIdx="0" presStyleCnt="1">
        <dgm:presLayoutVars>
          <dgm:chPref val="3"/>
        </dgm:presLayoutVars>
      </dgm:prSet>
      <dgm:spPr/>
    </dgm:pt>
    <dgm:pt modelId="{E29D45EC-0074-46A1-ABB6-5FC52CBD4A73}" type="pres">
      <dgm:prSet presAssocID="{CA71FAB7-F3E8-491A-AB8F-25F3810BE0C0}" presName="rootConnector" presStyleLbl="node3" presStyleIdx="0" presStyleCnt="1"/>
      <dgm:spPr/>
    </dgm:pt>
    <dgm:pt modelId="{F1E569EA-5AB9-495B-8FDB-692EDCF36CB5}" type="pres">
      <dgm:prSet presAssocID="{CA71FAB7-F3E8-491A-AB8F-25F3810BE0C0}" presName="hierChild4" presStyleCnt="0"/>
      <dgm:spPr/>
    </dgm:pt>
    <dgm:pt modelId="{65C9F4B1-BC16-4F18-B46F-7BE585135558}" type="pres">
      <dgm:prSet presAssocID="{CA71FAB7-F3E8-491A-AB8F-25F3810BE0C0}" presName="hierChild5" presStyleCnt="0"/>
      <dgm:spPr/>
    </dgm:pt>
    <dgm:pt modelId="{AFC2036F-697D-44B0-82C0-57B3B8A65E86}" type="pres">
      <dgm:prSet presAssocID="{0D5EBA3C-6974-3C40-BA9C-C642D63162DD}" presName="hierChild5" presStyleCnt="0"/>
      <dgm:spPr/>
    </dgm:pt>
    <dgm:pt modelId="{20744CF7-FAF7-4DB2-9FC0-DD079F7DD9D7}" type="pres">
      <dgm:prSet presAssocID="{03E75E33-B5B1-8C4E-9651-19C258EBAC00}" presName="hierChild3" presStyleCnt="0"/>
      <dgm:spPr/>
    </dgm:pt>
  </dgm:ptLst>
  <dgm:cxnLst>
    <dgm:cxn modelId="{CF0C0104-451B-47BA-80D7-CA222915A5B3}" type="presOf" srcId="{A38192DC-C59F-5E40-AD78-7EC94F142A34}" destId="{90BEACFF-FAB9-4C31-BDE1-85608F7D4F5E}" srcOrd="0" destOrd="0" presId="urn:microsoft.com/office/officeart/2005/8/layout/orgChart1"/>
    <dgm:cxn modelId="{2B66CD27-5228-4280-8069-229A576D27C8}" type="presOf" srcId="{313F53F1-2697-0942-9ED1-A3EF4188472B}" destId="{4E7FE757-EE9B-44B9-A2A3-9A16F16DEBBD}" srcOrd="0" destOrd="0" presId="urn:microsoft.com/office/officeart/2005/8/layout/orgChart1"/>
    <dgm:cxn modelId="{29A7E73C-FDF0-6344-A593-EAAB9B657AC2}" srcId="{C6D30CBE-6C4D-4C43-8B61-7DAE16DD358A}" destId="{03E75E33-B5B1-8C4E-9651-19C258EBAC00}" srcOrd="0" destOrd="0" parTransId="{4DF301BC-8299-2F4B-9DC6-98AC3F9F6E23}" sibTransId="{ABB191A0-F352-B24B-9F3E-551E4DDB37E7}"/>
    <dgm:cxn modelId="{22589360-2E50-4FED-907C-DD4B6A2AEBB4}" type="presOf" srcId="{CA71FAB7-F3E8-491A-AB8F-25F3810BE0C0}" destId="{CE746D6C-5499-43E2-BDCE-4EA3846CC1F3}" srcOrd="0" destOrd="0" presId="urn:microsoft.com/office/officeart/2005/8/layout/orgChart1"/>
    <dgm:cxn modelId="{A28B3266-FF6C-4496-950A-825DB0415EF3}" type="presOf" srcId="{03E75E33-B5B1-8C4E-9651-19C258EBAC00}" destId="{3A36D05C-6FBB-416D-8073-0D03AD0208D7}" srcOrd="1" destOrd="0" presId="urn:microsoft.com/office/officeart/2005/8/layout/orgChart1"/>
    <dgm:cxn modelId="{FB071F49-4FEC-41AB-974C-BAC82C900D69}" type="presOf" srcId="{03E75E33-B5B1-8C4E-9651-19C258EBAC00}" destId="{DB6005D0-3078-4DC1-B824-07BC37F5D09C}" srcOrd="0" destOrd="0" presId="urn:microsoft.com/office/officeart/2005/8/layout/orgChart1"/>
    <dgm:cxn modelId="{35974773-1944-AE4B-B602-3B7B5439E30E}" srcId="{03E75E33-B5B1-8C4E-9651-19C258EBAC00}" destId="{A38192DC-C59F-5E40-AD78-7EC94F142A34}" srcOrd="1" destOrd="0" parTransId="{8F2013B3-B53E-484C-82DC-A1D09D18C702}" sibTransId="{2EEA13E2-4091-544E-98F6-0F0E6693EA54}"/>
    <dgm:cxn modelId="{EA95CF83-9E28-4F92-9D0E-34317FD1D5B4}" type="presOf" srcId="{A38192DC-C59F-5E40-AD78-7EC94F142A34}" destId="{58D86CFF-810A-40F0-BEF3-4E930B6C4C26}" srcOrd="1" destOrd="0" presId="urn:microsoft.com/office/officeart/2005/8/layout/orgChart1"/>
    <dgm:cxn modelId="{3F26AD88-4BE3-4B00-9E3E-C980A0BE520B}" type="presOf" srcId="{CA71FAB7-F3E8-491A-AB8F-25F3810BE0C0}" destId="{E29D45EC-0074-46A1-ABB6-5FC52CBD4A73}" srcOrd="1" destOrd="0" presId="urn:microsoft.com/office/officeart/2005/8/layout/orgChart1"/>
    <dgm:cxn modelId="{4DB1D68A-52A3-4381-8883-4B960ED4FEA9}" type="presOf" srcId="{C6D30CBE-6C4D-4C43-8B61-7DAE16DD358A}" destId="{C3FA63DA-8D46-40C9-9DD2-113F2E5AAC7C}" srcOrd="0" destOrd="0" presId="urn:microsoft.com/office/officeart/2005/8/layout/orgChart1"/>
    <dgm:cxn modelId="{D21AD493-7366-4FF3-B7B5-1EC7D0481A72}" type="presOf" srcId="{137BD627-7E5A-4B63-8E32-60888880D364}" destId="{F0C8273F-109C-48A3-8999-2E882EEEFFF1}" srcOrd="0" destOrd="0" presId="urn:microsoft.com/office/officeart/2005/8/layout/orgChart1"/>
    <dgm:cxn modelId="{C1C1D994-B622-42E5-BB48-B159105939B6}" srcId="{0D5EBA3C-6974-3C40-BA9C-C642D63162DD}" destId="{CA71FAB7-F3E8-491A-AB8F-25F3810BE0C0}" srcOrd="0" destOrd="0" parTransId="{137BD627-7E5A-4B63-8E32-60888880D364}" sibTransId="{E9DCBD1F-E416-4D58-BF95-FE6B80A3212C}"/>
    <dgm:cxn modelId="{1D57D399-801B-4357-A3B2-7C4CAF0AFEEE}" type="presOf" srcId="{313F53F1-2697-0942-9ED1-A3EF4188472B}" destId="{85870591-6169-49C4-ABD0-11C98DC89281}" srcOrd="1" destOrd="0" presId="urn:microsoft.com/office/officeart/2005/8/layout/orgChart1"/>
    <dgm:cxn modelId="{CFA7A59B-38DA-4962-B322-1898EE97BF88}" type="presOf" srcId="{0D5EBA3C-6974-3C40-BA9C-C642D63162DD}" destId="{9CB2B564-BFE6-481A-9528-363955E859E2}" srcOrd="1" destOrd="0" presId="urn:microsoft.com/office/officeart/2005/8/layout/orgChart1"/>
    <dgm:cxn modelId="{9714DEA1-D27C-4490-AF98-D393BFB71350}" type="presOf" srcId="{6E656DCA-9A8E-6340-A0AC-E102DAE6C1E8}" destId="{B3B76460-5558-457F-BFA0-4101FFF2CD6A}" srcOrd="0" destOrd="0" presId="urn:microsoft.com/office/officeart/2005/8/layout/orgChart1"/>
    <dgm:cxn modelId="{4F6A81B5-48A0-B14C-81CB-31DC8366B37E}" srcId="{03E75E33-B5B1-8C4E-9651-19C258EBAC00}" destId="{0D5EBA3C-6974-3C40-BA9C-C642D63162DD}" srcOrd="2" destOrd="0" parTransId="{6E656DCA-9A8E-6340-A0AC-E102DAE6C1E8}" sibTransId="{1A9FE4EE-5FB0-0446-80A8-99F9FD5087CD}"/>
    <dgm:cxn modelId="{D174FBCC-4798-4627-A3BF-D491831FBA3A}" type="presOf" srcId="{8F2013B3-B53E-484C-82DC-A1D09D18C702}" destId="{FF97E688-A221-4C60-AB96-54981056CDE7}" srcOrd="0" destOrd="0" presId="urn:microsoft.com/office/officeart/2005/8/layout/orgChart1"/>
    <dgm:cxn modelId="{E2CFE0D7-1746-4AE8-81BD-B825F1C4075D}" type="presOf" srcId="{C3A9225A-CB32-FF4F-91FF-9163CD5262AB}" destId="{2C72A18C-70B4-4DEE-B3BA-B8CB2CC3B2B0}" srcOrd="0" destOrd="0" presId="urn:microsoft.com/office/officeart/2005/8/layout/orgChart1"/>
    <dgm:cxn modelId="{F7BC24E2-876B-9F49-B144-DD03AFBAD25D}" srcId="{03E75E33-B5B1-8C4E-9651-19C258EBAC00}" destId="{313F53F1-2697-0942-9ED1-A3EF4188472B}" srcOrd="0" destOrd="0" parTransId="{C3A9225A-CB32-FF4F-91FF-9163CD5262AB}" sibTransId="{8688D594-77C8-524A-8522-48B327362D41}"/>
    <dgm:cxn modelId="{CCAFC0F7-938F-4A0A-B4B1-9BC242549D02}" type="presOf" srcId="{0D5EBA3C-6974-3C40-BA9C-C642D63162DD}" destId="{BBFFFC67-22F5-4BF7-BEBF-514991B43B9E}" srcOrd="0" destOrd="0" presId="urn:microsoft.com/office/officeart/2005/8/layout/orgChart1"/>
    <dgm:cxn modelId="{62DA9149-2450-448C-97E8-028D445665C8}" type="presParOf" srcId="{C3FA63DA-8D46-40C9-9DD2-113F2E5AAC7C}" destId="{182D06BD-EB11-408F-B00A-F5EB6EC895F5}" srcOrd="0" destOrd="0" presId="urn:microsoft.com/office/officeart/2005/8/layout/orgChart1"/>
    <dgm:cxn modelId="{7943807F-F8CD-4BC6-83B6-440C3BC76758}" type="presParOf" srcId="{182D06BD-EB11-408F-B00A-F5EB6EC895F5}" destId="{185B2265-511B-42B6-8177-69D750E4CE6C}" srcOrd="0" destOrd="0" presId="urn:microsoft.com/office/officeart/2005/8/layout/orgChart1"/>
    <dgm:cxn modelId="{258A4514-04C6-4D11-8E00-A55633CDB5F5}" type="presParOf" srcId="{185B2265-511B-42B6-8177-69D750E4CE6C}" destId="{DB6005D0-3078-4DC1-B824-07BC37F5D09C}" srcOrd="0" destOrd="0" presId="urn:microsoft.com/office/officeart/2005/8/layout/orgChart1"/>
    <dgm:cxn modelId="{543E3925-5F75-4ABC-8D60-87DB79A65F2E}" type="presParOf" srcId="{185B2265-511B-42B6-8177-69D750E4CE6C}" destId="{3A36D05C-6FBB-416D-8073-0D03AD0208D7}" srcOrd="1" destOrd="0" presId="urn:microsoft.com/office/officeart/2005/8/layout/orgChart1"/>
    <dgm:cxn modelId="{AE2A350A-51AE-4BEB-9C4B-040CF98FDDB2}" type="presParOf" srcId="{182D06BD-EB11-408F-B00A-F5EB6EC895F5}" destId="{A86ED6E8-4080-4176-9ACA-476F0EC2FC6D}" srcOrd="1" destOrd="0" presId="urn:microsoft.com/office/officeart/2005/8/layout/orgChart1"/>
    <dgm:cxn modelId="{C402C4BB-34BC-4C93-8659-5303074EA338}" type="presParOf" srcId="{A86ED6E8-4080-4176-9ACA-476F0EC2FC6D}" destId="{2C72A18C-70B4-4DEE-B3BA-B8CB2CC3B2B0}" srcOrd="0" destOrd="0" presId="urn:microsoft.com/office/officeart/2005/8/layout/orgChart1"/>
    <dgm:cxn modelId="{07940C61-E99E-4F3C-959D-4AFA9AA31C19}" type="presParOf" srcId="{A86ED6E8-4080-4176-9ACA-476F0EC2FC6D}" destId="{8D83E56F-4982-455E-B427-9BF6BD8911A4}" srcOrd="1" destOrd="0" presId="urn:microsoft.com/office/officeart/2005/8/layout/orgChart1"/>
    <dgm:cxn modelId="{8490DE9D-168F-42A1-9508-46DABB24FD27}" type="presParOf" srcId="{8D83E56F-4982-455E-B427-9BF6BD8911A4}" destId="{53F8EA39-56D4-45FE-8CAB-87AAD798BC29}" srcOrd="0" destOrd="0" presId="urn:microsoft.com/office/officeart/2005/8/layout/orgChart1"/>
    <dgm:cxn modelId="{36515B31-3BE3-4D7E-B007-E9DBA35F6987}" type="presParOf" srcId="{53F8EA39-56D4-45FE-8CAB-87AAD798BC29}" destId="{4E7FE757-EE9B-44B9-A2A3-9A16F16DEBBD}" srcOrd="0" destOrd="0" presId="urn:microsoft.com/office/officeart/2005/8/layout/orgChart1"/>
    <dgm:cxn modelId="{5538FF06-C050-4F06-86FA-A7998509E825}" type="presParOf" srcId="{53F8EA39-56D4-45FE-8CAB-87AAD798BC29}" destId="{85870591-6169-49C4-ABD0-11C98DC89281}" srcOrd="1" destOrd="0" presId="urn:microsoft.com/office/officeart/2005/8/layout/orgChart1"/>
    <dgm:cxn modelId="{C2169687-8152-4CE1-8345-7A5F0418D2EB}" type="presParOf" srcId="{8D83E56F-4982-455E-B427-9BF6BD8911A4}" destId="{78F9DA9E-1990-41DD-9513-9F3BA0A38BC0}" srcOrd="1" destOrd="0" presId="urn:microsoft.com/office/officeart/2005/8/layout/orgChart1"/>
    <dgm:cxn modelId="{3015C91C-1807-4CEE-AD16-66909A058E83}" type="presParOf" srcId="{8D83E56F-4982-455E-B427-9BF6BD8911A4}" destId="{EE2057DD-23DC-439B-9727-2C2CC380E593}" srcOrd="2" destOrd="0" presId="urn:microsoft.com/office/officeart/2005/8/layout/orgChart1"/>
    <dgm:cxn modelId="{A20E00E3-1E05-41DC-A232-238F355ECFD2}" type="presParOf" srcId="{A86ED6E8-4080-4176-9ACA-476F0EC2FC6D}" destId="{FF97E688-A221-4C60-AB96-54981056CDE7}" srcOrd="2" destOrd="0" presId="urn:microsoft.com/office/officeart/2005/8/layout/orgChart1"/>
    <dgm:cxn modelId="{A6CB21C7-084D-4F82-9FA2-B6E1021B05FB}" type="presParOf" srcId="{A86ED6E8-4080-4176-9ACA-476F0EC2FC6D}" destId="{F0338FF5-767B-42D1-8BD2-8FC78E342464}" srcOrd="3" destOrd="0" presId="urn:microsoft.com/office/officeart/2005/8/layout/orgChart1"/>
    <dgm:cxn modelId="{F96572FC-C4E6-4A02-9B37-AC64EC7A3EA1}" type="presParOf" srcId="{F0338FF5-767B-42D1-8BD2-8FC78E342464}" destId="{2DB1937E-54B3-4AD5-A6A0-02287BCC2D13}" srcOrd="0" destOrd="0" presId="urn:microsoft.com/office/officeart/2005/8/layout/orgChart1"/>
    <dgm:cxn modelId="{621CA111-F38F-4437-9F3B-0340125E2A26}" type="presParOf" srcId="{2DB1937E-54B3-4AD5-A6A0-02287BCC2D13}" destId="{90BEACFF-FAB9-4C31-BDE1-85608F7D4F5E}" srcOrd="0" destOrd="0" presId="urn:microsoft.com/office/officeart/2005/8/layout/orgChart1"/>
    <dgm:cxn modelId="{5E0D2452-CBFD-4136-B743-999CA6B871C7}" type="presParOf" srcId="{2DB1937E-54B3-4AD5-A6A0-02287BCC2D13}" destId="{58D86CFF-810A-40F0-BEF3-4E930B6C4C26}" srcOrd="1" destOrd="0" presId="urn:microsoft.com/office/officeart/2005/8/layout/orgChart1"/>
    <dgm:cxn modelId="{39971841-9D96-4353-B637-8F4D4FDEBE8A}" type="presParOf" srcId="{F0338FF5-767B-42D1-8BD2-8FC78E342464}" destId="{800B7AA6-0C1A-4F38-A558-ABA8F0C9CCF9}" srcOrd="1" destOrd="0" presId="urn:microsoft.com/office/officeart/2005/8/layout/orgChart1"/>
    <dgm:cxn modelId="{AA8116B5-65C7-4CD3-87A6-5FD21C87C815}" type="presParOf" srcId="{F0338FF5-767B-42D1-8BD2-8FC78E342464}" destId="{262A2E72-488F-4083-878E-8D6366C5B06A}" srcOrd="2" destOrd="0" presId="urn:microsoft.com/office/officeart/2005/8/layout/orgChart1"/>
    <dgm:cxn modelId="{CBC1BB2C-0109-4C00-9462-18A6B77FFF9D}" type="presParOf" srcId="{A86ED6E8-4080-4176-9ACA-476F0EC2FC6D}" destId="{B3B76460-5558-457F-BFA0-4101FFF2CD6A}" srcOrd="4" destOrd="0" presId="urn:microsoft.com/office/officeart/2005/8/layout/orgChart1"/>
    <dgm:cxn modelId="{47B03A39-D257-49CD-BE18-B6EDCFB43276}" type="presParOf" srcId="{A86ED6E8-4080-4176-9ACA-476F0EC2FC6D}" destId="{21FFDEF2-7FC8-423B-A04E-DC19A8675DD4}" srcOrd="5" destOrd="0" presId="urn:microsoft.com/office/officeart/2005/8/layout/orgChart1"/>
    <dgm:cxn modelId="{977DE211-E191-4966-A7D2-1FB088DDB946}" type="presParOf" srcId="{21FFDEF2-7FC8-423B-A04E-DC19A8675DD4}" destId="{5A5B005B-8A53-4ED6-A40B-7E65CA3DF627}" srcOrd="0" destOrd="0" presId="urn:microsoft.com/office/officeart/2005/8/layout/orgChart1"/>
    <dgm:cxn modelId="{E597C7AE-8ED1-4EE2-B795-907154ED0250}" type="presParOf" srcId="{5A5B005B-8A53-4ED6-A40B-7E65CA3DF627}" destId="{BBFFFC67-22F5-4BF7-BEBF-514991B43B9E}" srcOrd="0" destOrd="0" presId="urn:microsoft.com/office/officeart/2005/8/layout/orgChart1"/>
    <dgm:cxn modelId="{3DB33E1B-3547-439D-9FF2-819C15A0F7B3}" type="presParOf" srcId="{5A5B005B-8A53-4ED6-A40B-7E65CA3DF627}" destId="{9CB2B564-BFE6-481A-9528-363955E859E2}" srcOrd="1" destOrd="0" presId="urn:microsoft.com/office/officeart/2005/8/layout/orgChart1"/>
    <dgm:cxn modelId="{8EBF3FB0-5724-46BE-80AD-17DD59EFD2EC}" type="presParOf" srcId="{21FFDEF2-7FC8-423B-A04E-DC19A8675DD4}" destId="{82CF1423-D46E-424E-BB66-8926C60617D1}" srcOrd="1" destOrd="0" presId="urn:microsoft.com/office/officeart/2005/8/layout/orgChart1"/>
    <dgm:cxn modelId="{C6ABC4F5-5A6A-405B-91D0-4CD2661B6AB5}" type="presParOf" srcId="{82CF1423-D46E-424E-BB66-8926C60617D1}" destId="{F0C8273F-109C-48A3-8999-2E882EEEFFF1}" srcOrd="0" destOrd="0" presId="urn:microsoft.com/office/officeart/2005/8/layout/orgChart1"/>
    <dgm:cxn modelId="{7D83925D-6D67-462D-AF28-695735D0D1D4}" type="presParOf" srcId="{82CF1423-D46E-424E-BB66-8926C60617D1}" destId="{594F89D3-371E-4ADC-91D6-6BBF93990257}" srcOrd="1" destOrd="0" presId="urn:microsoft.com/office/officeart/2005/8/layout/orgChart1"/>
    <dgm:cxn modelId="{6E572C7B-9EB2-42CD-9D65-1D366BE91C56}" type="presParOf" srcId="{594F89D3-371E-4ADC-91D6-6BBF93990257}" destId="{05E3C6A6-3F30-4CD8-8F9F-D09DA07807E7}" srcOrd="0" destOrd="0" presId="urn:microsoft.com/office/officeart/2005/8/layout/orgChart1"/>
    <dgm:cxn modelId="{ED54895D-D06A-4924-ADDB-A77D3C0940CD}" type="presParOf" srcId="{05E3C6A6-3F30-4CD8-8F9F-D09DA07807E7}" destId="{CE746D6C-5499-43E2-BDCE-4EA3846CC1F3}" srcOrd="0" destOrd="0" presId="urn:microsoft.com/office/officeart/2005/8/layout/orgChart1"/>
    <dgm:cxn modelId="{58097E50-79F9-4409-98D8-CE74DFAB290E}" type="presParOf" srcId="{05E3C6A6-3F30-4CD8-8F9F-D09DA07807E7}" destId="{E29D45EC-0074-46A1-ABB6-5FC52CBD4A73}" srcOrd="1" destOrd="0" presId="urn:microsoft.com/office/officeart/2005/8/layout/orgChart1"/>
    <dgm:cxn modelId="{03FE7185-696D-4F34-A375-32EA10494E3E}" type="presParOf" srcId="{594F89D3-371E-4ADC-91D6-6BBF93990257}" destId="{F1E569EA-5AB9-495B-8FDB-692EDCF36CB5}" srcOrd="1" destOrd="0" presId="urn:microsoft.com/office/officeart/2005/8/layout/orgChart1"/>
    <dgm:cxn modelId="{C74A1CA0-37CF-4F08-AD95-D4B66D77250E}" type="presParOf" srcId="{594F89D3-371E-4ADC-91D6-6BBF93990257}" destId="{65C9F4B1-BC16-4F18-B46F-7BE585135558}" srcOrd="2" destOrd="0" presId="urn:microsoft.com/office/officeart/2005/8/layout/orgChart1"/>
    <dgm:cxn modelId="{32DB9451-D3DD-4569-8FB5-1D1253AA199B}" type="presParOf" srcId="{21FFDEF2-7FC8-423B-A04E-DC19A8675DD4}" destId="{AFC2036F-697D-44B0-82C0-57B3B8A65E86}" srcOrd="2" destOrd="0" presId="urn:microsoft.com/office/officeart/2005/8/layout/orgChart1"/>
    <dgm:cxn modelId="{2C178C8A-C642-4ACA-8D85-0164F59BB208}" type="presParOf" srcId="{182D06BD-EB11-408F-B00A-F5EB6EC895F5}" destId="{20744CF7-FAF7-4DB2-9FC0-DD079F7DD9D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778F441-8B04-6341-993D-61DE47137290}" type="doc">
      <dgm:prSet loTypeId="urn:microsoft.com/office/officeart/2005/8/layout/orgChart1" loCatId="list" qsTypeId="urn:microsoft.com/office/officeart/2005/8/quickstyle/simple4" qsCatId="simple" csTypeId="urn:microsoft.com/office/officeart/2005/8/colors/accent1_2" csCatId="accent1" phldr="1"/>
      <dgm:spPr/>
      <dgm:t>
        <a:bodyPr/>
        <a:lstStyle/>
        <a:p>
          <a:endParaRPr lang="en-GB"/>
        </a:p>
      </dgm:t>
    </dgm:pt>
    <dgm:pt modelId="{7278D295-4400-EF4E-A6B6-AEA48109CC11}">
      <dgm:prSet/>
      <dgm:spPr/>
      <dgm:t>
        <a:bodyPr/>
        <a:lstStyle/>
        <a:p>
          <a:r>
            <a:rPr lang="en-NZ"/>
            <a:t>Consider the case of Carlos and Greta:</a:t>
          </a:r>
        </a:p>
      </dgm:t>
    </dgm:pt>
    <dgm:pt modelId="{A83D5144-6E7A-E045-BB61-E5434A2BD1EF}" type="parTrans" cxnId="{B65B76C3-9CEA-ED47-9352-D162B667A4BB}">
      <dgm:prSet/>
      <dgm:spPr/>
      <dgm:t>
        <a:bodyPr/>
        <a:lstStyle/>
        <a:p>
          <a:endParaRPr lang="en-GB"/>
        </a:p>
      </dgm:t>
    </dgm:pt>
    <dgm:pt modelId="{EF676485-5892-C64D-B38F-9635C281B500}" type="sibTrans" cxnId="{B65B76C3-9CEA-ED47-9352-D162B667A4BB}">
      <dgm:prSet/>
      <dgm:spPr/>
      <dgm:t>
        <a:bodyPr/>
        <a:lstStyle/>
        <a:p>
          <a:endParaRPr lang="en-GB"/>
        </a:p>
      </dgm:t>
    </dgm:pt>
    <dgm:pt modelId="{62EE8620-207B-C44A-905F-A12391E359B0}">
      <dgm:prSet/>
      <dgm:spPr/>
      <dgm:t>
        <a:bodyPr/>
        <a:lstStyle/>
        <a:p>
          <a:r>
            <a:rPr lang="en-NZ"/>
            <a:t>Carlos can produce either 4,000 tonnes of wheat or 10,000 apples, or some combination of the two</a:t>
          </a:r>
        </a:p>
      </dgm:t>
    </dgm:pt>
    <dgm:pt modelId="{BC4761BE-5FED-B249-B95E-844DC7A42708}" type="parTrans" cxnId="{4F98051B-3AFB-484B-A180-50B027F40C01}">
      <dgm:prSet/>
      <dgm:spPr/>
      <dgm:t>
        <a:bodyPr/>
        <a:lstStyle/>
        <a:p>
          <a:endParaRPr lang="en-GB"/>
        </a:p>
      </dgm:t>
    </dgm:pt>
    <dgm:pt modelId="{E2747E67-8055-C146-AE36-4267E98F2C43}" type="sibTrans" cxnId="{4F98051B-3AFB-484B-A180-50B027F40C01}">
      <dgm:prSet/>
      <dgm:spPr/>
      <dgm:t>
        <a:bodyPr/>
        <a:lstStyle/>
        <a:p>
          <a:endParaRPr lang="en-GB"/>
        </a:p>
      </dgm:t>
    </dgm:pt>
    <dgm:pt modelId="{D724CFD0-7928-734C-A9CC-42EA713A1511}">
      <dgm:prSet/>
      <dgm:spPr/>
      <dgm:t>
        <a:bodyPr/>
        <a:lstStyle/>
        <a:p>
          <a:r>
            <a:rPr lang="en-NZ" dirty="0"/>
            <a:t>Greta can produce either 10,000 tonnes of wheat or 12,500 apples, or some combination of the two</a:t>
          </a:r>
        </a:p>
      </dgm:t>
    </dgm:pt>
    <dgm:pt modelId="{5BF0D15B-E926-0A47-9DA5-C358FB7525DF}" type="parTrans" cxnId="{943C6F51-7724-A143-85F8-D5DA5E19FD04}">
      <dgm:prSet/>
      <dgm:spPr/>
      <dgm:t>
        <a:bodyPr/>
        <a:lstStyle/>
        <a:p>
          <a:endParaRPr lang="en-GB"/>
        </a:p>
      </dgm:t>
    </dgm:pt>
    <dgm:pt modelId="{D4525F4F-1166-444C-85F0-DF44B41F2854}" type="sibTrans" cxnId="{943C6F51-7724-A143-85F8-D5DA5E19FD04}">
      <dgm:prSet/>
      <dgm:spPr/>
      <dgm:t>
        <a:bodyPr/>
        <a:lstStyle/>
        <a:p>
          <a:endParaRPr lang="en-GB"/>
        </a:p>
      </dgm:t>
    </dgm:pt>
    <dgm:pt modelId="{CFF19E64-6AA0-664E-9CE2-BE72DC02DFE8}">
      <dgm:prSet/>
      <dgm:spPr/>
      <dgm:t>
        <a:bodyPr/>
        <a:lstStyle/>
        <a:p>
          <a:r>
            <a:rPr lang="en-NZ"/>
            <a:t>Their feasible production frontier is their feasible consumption frontier</a:t>
          </a:r>
        </a:p>
      </dgm:t>
    </dgm:pt>
    <dgm:pt modelId="{EB2D70A3-E519-894D-995D-08F9CA3D12AE}" type="parTrans" cxnId="{13E5A2CC-383C-1549-8D34-DD816359BF06}">
      <dgm:prSet/>
      <dgm:spPr/>
      <dgm:t>
        <a:bodyPr/>
        <a:lstStyle/>
        <a:p>
          <a:endParaRPr lang="en-GB"/>
        </a:p>
      </dgm:t>
    </dgm:pt>
    <dgm:pt modelId="{2694D8E7-202E-3847-AFC2-E962EC68D2CF}" type="sibTrans" cxnId="{13E5A2CC-383C-1549-8D34-DD816359BF06}">
      <dgm:prSet/>
      <dgm:spPr/>
      <dgm:t>
        <a:bodyPr/>
        <a:lstStyle/>
        <a:p>
          <a:endParaRPr lang="en-GB"/>
        </a:p>
      </dgm:t>
    </dgm:pt>
    <dgm:pt modelId="{43CE8F30-42E0-406C-9691-74C14B7FA1BE}" type="pres">
      <dgm:prSet presAssocID="{C778F441-8B04-6341-993D-61DE47137290}" presName="hierChild1" presStyleCnt="0">
        <dgm:presLayoutVars>
          <dgm:orgChart val="1"/>
          <dgm:chPref val="1"/>
          <dgm:dir/>
          <dgm:animOne val="branch"/>
          <dgm:animLvl val="lvl"/>
          <dgm:resizeHandles/>
        </dgm:presLayoutVars>
      </dgm:prSet>
      <dgm:spPr/>
    </dgm:pt>
    <dgm:pt modelId="{01FE5F15-4339-4344-A7C4-CB5BA2E03908}" type="pres">
      <dgm:prSet presAssocID="{7278D295-4400-EF4E-A6B6-AEA48109CC11}" presName="hierRoot1" presStyleCnt="0">
        <dgm:presLayoutVars>
          <dgm:hierBranch val="init"/>
        </dgm:presLayoutVars>
      </dgm:prSet>
      <dgm:spPr/>
    </dgm:pt>
    <dgm:pt modelId="{B278643B-DA94-4149-A346-E28521D41E08}" type="pres">
      <dgm:prSet presAssocID="{7278D295-4400-EF4E-A6B6-AEA48109CC11}" presName="rootComposite1" presStyleCnt="0"/>
      <dgm:spPr/>
    </dgm:pt>
    <dgm:pt modelId="{64209DDF-7664-4D3D-99B8-B3ABD2F1657F}" type="pres">
      <dgm:prSet presAssocID="{7278D295-4400-EF4E-A6B6-AEA48109CC11}" presName="rootText1" presStyleLbl="node0" presStyleIdx="0" presStyleCnt="1">
        <dgm:presLayoutVars>
          <dgm:chPref val="3"/>
        </dgm:presLayoutVars>
      </dgm:prSet>
      <dgm:spPr/>
    </dgm:pt>
    <dgm:pt modelId="{008F29FD-277B-4D34-A40B-5D45CF6774E3}" type="pres">
      <dgm:prSet presAssocID="{7278D295-4400-EF4E-A6B6-AEA48109CC11}" presName="rootConnector1" presStyleLbl="node1" presStyleIdx="0" presStyleCnt="0"/>
      <dgm:spPr/>
    </dgm:pt>
    <dgm:pt modelId="{805B9383-4035-4698-9DE7-1EFEC0BCD27E}" type="pres">
      <dgm:prSet presAssocID="{7278D295-4400-EF4E-A6B6-AEA48109CC11}" presName="hierChild2" presStyleCnt="0"/>
      <dgm:spPr/>
    </dgm:pt>
    <dgm:pt modelId="{936DB31D-35F5-42DC-A894-AC8E6B206895}" type="pres">
      <dgm:prSet presAssocID="{BC4761BE-5FED-B249-B95E-844DC7A42708}" presName="Name37" presStyleLbl="parChTrans1D2" presStyleIdx="0" presStyleCnt="3"/>
      <dgm:spPr/>
    </dgm:pt>
    <dgm:pt modelId="{31FBE4B0-2369-4171-B7F9-A7C9F5011B5C}" type="pres">
      <dgm:prSet presAssocID="{62EE8620-207B-C44A-905F-A12391E359B0}" presName="hierRoot2" presStyleCnt="0">
        <dgm:presLayoutVars>
          <dgm:hierBranch val="init"/>
        </dgm:presLayoutVars>
      </dgm:prSet>
      <dgm:spPr/>
    </dgm:pt>
    <dgm:pt modelId="{1C7D5930-3D78-499D-A0F5-A64B9DA1DDD5}" type="pres">
      <dgm:prSet presAssocID="{62EE8620-207B-C44A-905F-A12391E359B0}" presName="rootComposite" presStyleCnt="0"/>
      <dgm:spPr/>
    </dgm:pt>
    <dgm:pt modelId="{B72E97FC-60E5-43E7-BCC4-40FDB4D8DE63}" type="pres">
      <dgm:prSet presAssocID="{62EE8620-207B-C44A-905F-A12391E359B0}" presName="rootText" presStyleLbl="node2" presStyleIdx="0" presStyleCnt="3">
        <dgm:presLayoutVars>
          <dgm:chPref val="3"/>
        </dgm:presLayoutVars>
      </dgm:prSet>
      <dgm:spPr/>
    </dgm:pt>
    <dgm:pt modelId="{FC3C7B5D-94C4-405E-8947-FCCFD949CFFD}" type="pres">
      <dgm:prSet presAssocID="{62EE8620-207B-C44A-905F-A12391E359B0}" presName="rootConnector" presStyleLbl="node2" presStyleIdx="0" presStyleCnt="3"/>
      <dgm:spPr/>
    </dgm:pt>
    <dgm:pt modelId="{5D2C1F6D-E7BA-426B-9675-82C69A8919E9}" type="pres">
      <dgm:prSet presAssocID="{62EE8620-207B-C44A-905F-A12391E359B0}" presName="hierChild4" presStyleCnt="0"/>
      <dgm:spPr/>
    </dgm:pt>
    <dgm:pt modelId="{CF517041-4BD6-47A9-9F38-3B809199234A}" type="pres">
      <dgm:prSet presAssocID="{62EE8620-207B-C44A-905F-A12391E359B0}" presName="hierChild5" presStyleCnt="0"/>
      <dgm:spPr/>
    </dgm:pt>
    <dgm:pt modelId="{7C05B39B-03DC-48A2-9244-F60656C38D07}" type="pres">
      <dgm:prSet presAssocID="{5BF0D15B-E926-0A47-9DA5-C358FB7525DF}" presName="Name37" presStyleLbl="parChTrans1D2" presStyleIdx="1" presStyleCnt="3"/>
      <dgm:spPr/>
    </dgm:pt>
    <dgm:pt modelId="{C35A6E4F-08C9-40CF-A6FB-03008E18E24A}" type="pres">
      <dgm:prSet presAssocID="{D724CFD0-7928-734C-A9CC-42EA713A1511}" presName="hierRoot2" presStyleCnt="0">
        <dgm:presLayoutVars>
          <dgm:hierBranch val="init"/>
        </dgm:presLayoutVars>
      </dgm:prSet>
      <dgm:spPr/>
    </dgm:pt>
    <dgm:pt modelId="{557E350D-100E-4903-896B-D7CB1C8E92C7}" type="pres">
      <dgm:prSet presAssocID="{D724CFD0-7928-734C-A9CC-42EA713A1511}" presName="rootComposite" presStyleCnt="0"/>
      <dgm:spPr/>
    </dgm:pt>
    <dgm:pt modelId="{E9873500-685F-46F8-BCCC-F7A1ACDE0029}" type="pres">
      <dgm:prSet presAssocID="{D724CFD0-7928-734C-A9CC-42EA713A1511}" presName="rootText" presStyleLbl="node2" presStyleIdx="1" presStyleCnt="3">
        <dgm:presLayoutVars>
          <dgm:chPref val="3"/>
        </dgm:presLayoutVars>
      </dgm:prSet>
      <dgm:spPr/>
    </dgm:pt>
    <dgm:pt modelId="{D5F98BF5-3BCF-45B9-AA53-CF8DF41FBD6B}" type="pres">
      <dgm:prSet presAssocID="{D724CFD0-7928-734C-A9CC-42EA713A1511}" presName="rootConnector" presStyleLbl="node2" presStyleIdx="1" presStyleCnt="3"/>
      <dgm:spPr/>
    </dgm:pt>
    <dgm:pt modelId="{CEE8A39F-6219-4F85-8072-DB9A92C79896}" type="pres">
      <dgm:prSet presAssocID="{D724CFD0-7928-734C-A9CC-42EA713A1511}" presName="hierChild4" presStyleCnt="0"/>
      <dgm:spPr/>
    </dgm:pt>
    <dgm:pt modelId="{D4D1A2D6-8C4E-4AD4-B0D9-DEF61EDD3804}" type="pres">
      <dgm:prSet presAssocID="{D724CFD0-7928-734C-A9CC-42EA713A1511}" presName="hierChild5" presStyleCnt="0"/>
      <dgm:spPr/>
    </dgm:pt>
    <dgm:pt modelId="{6DDB3380-F4CF-47D4-AE67-9EBCE2904E1A}" type="pres">
      <dgm:prSet presAssocID="{EB2D70A3-E519-894D-995D-08F9CA3D12AE}" presName="Name37" presStyleLbl="parChTrans1D2" presStyleIdx="2" presStyleCnt="3"/>
      <dgm:spPr/>
    </dgm:pt>
    <dgm:pt modelId="{3100AB8E-9798-4AE2-B11D-3C28CBD71EA3}" type="pres">
      <dgm:prSet presAssocID="{CFF19E64-6AA0-664E-9CE2-BE72DC02DFE8}" presName="hierRoot2" presStyleCnt="0">
        <dgm:presLayoutVars>
          <dgm:hierBranch val="init"/>
        </dgm:presLayoutVars>
      </dgm:prSet>
      <dgm:spPr/>
    </dgm:pt>
    <dgm:pt modelId="{2646E56E-64FB-4B71-B038-26369EEC1392}" type="pres">
      <dgm:prSet presAssocID="{CFF19E64-6AA0-664E-9CE2-BE72DC02DFE8}" presName="rootComposite" presStyleCnt="0"/>
      <dgm:spPr/>
    </dgm:pt>
    <dgm:pt modelId="{2E1E79E9-17D8-4FF2-9F99-0D443156C82E}" type="pres">
      <dgm:prSet presAssocID="{CFF19E64-6AA0-664E-9CE2-BE72DC02DFE8}" presName="rootText" presStyleLbl="node2" presStyleIdx="2" presStyleCnt="3">
        <dgm:presLayoutVars>
          <dgm:chPref val="3"/>
        </dgm:presLayoutVars>
      </dgm:prSet>
      <dgm:spPr/>
    </dgm:pt>
    <dgm:pt modelId="{4FD5C9E4-58DB-4067-9D7B-B39244FD0128}" type="pres">
      <dgm:prSet presAssocID="{CFF19E64-6AA0-664E-9CE2-BE72DC02DFE8}" presName="rootConnector" presStyleLbl="node2" presStyleIdx="2" presStyleCnt="3"/>
      <dgm:spPr/>
    </dgm:pt>
    <dgm:pt modelId="{00716771-EAEB-4F92-B262-4C567CB53A06}" type="pres">
      <dgm:prSet presAssocID="{CFF19E64-6AA0-664E-9CE2-BE72DC02DFE8}" presName="hierChild4" presStyleCnt="0"/>
      <dgm:spPr/>
    </dgm:pt>
    <dgm:pt modelId="{3A289308-66FC-4969-9A96-B49D908F894B}" type="pres">
      <dgm:prSet presAssocID="{CFF19E64-6AA0-664E-9CE2-BE72DC02DFE8}" presName="hierChild5" presStyleCnt="0"/>
      <dgm:spPr/>
    </dgm:pt>
    <dgm:pt modelId="{2D67D70B-D408-4001-A21C-50C22A960999}" type="pres">
      <dgm:prSet presAssocID="{7278D295-4400-EF4E-A6B6-AEA48109CC11}" presName="hierChild3" presStyleCnt="0"/>
      <dgm:spPr/>
    </dgm:pt>
  </dgm:ptLst>
  <dgm:cxnLst>
    <dgm:cxn modelId="{005F0B05-62B5-4618-95B7-982F5786BFE6}" type="presOf" srcId="{C778F441-8B04-6341-993D-61DE47137290}" destId="{43CE8F30-42E0-406C-9691-74C14B7FA1BE}" srcOrd="0" destOrd="0" presId="urn:microsoft.com/office/officeart/2005/8/layout/orgChart1"/>
    <dgm:cxn modelId="{009D6211-C17F-428E-A2CD-402EBA259B09}" type="presOf" srcId="{EB2D70A3-E519-894D-995D-08F9CA3D12AE}" destId="{6DDB3380-F4CF-47D4-AE67-9EBCE2904E1A}" srcOrd="0" destOrd="0" presId="urn:microsoft.com/office/officeart/2005/8/layout/orgChart1"/>
    <dgm:cxn modelId="{4F98051B-3AFB-484B-A180-50B027F40C01}" srcId="{7278D295-4400-EF4E-A6B6-AEA48109CC11}" destId="{62EE8620-207B-C44A-905F-A12391E359B0}" srcOrd="0" destOrd="0" parTransId="{BC4761BE-5FED-B249-B95E-844DC7A42708}" sibTransId="{E2747E67-8055-C146-AE36-4267E98F2C43}"/>
    <dgm:cxn modelId="{A5FE7938-30CC-4912-BB21-782139968809}" type="presOf" srcId="{CFF19E64-6AA0-664E-9CE2-BE72DC02DFE8}" destId="{2E1E79E9-17D8-4FF2-9F99-0D443156C82E}" srcOrd="0" destOrd="0" presId="urn:microsoft.com/office/officeart/2005/8/layout/orgChart1"/>
    <dgm:cxn modelId="{EA5EFE39-863D-4F48-AB8F-AC37B0A4CA04}" type="presOf" srcId="{62EE8620-207B-C44A-905F-A12391E359B0}" destId="{FC3C7B5D-94C4-405E-8947-FCCFD949CFFD}" srcOrd="1" destOrd="0" presId="urn:microsoft.com/office/officeart/2005/8/layout/orgChart1"/>
    <dgm:cxn modelId="{9A97D43D-CA39-4F7C-8691-BEAAC263D349}" type="presOf" srcId="{D724CFD0-7928-734C-A9CC-42EA713A1511}" destId="{D5F98BF5-3BCF-45B9-AA53-CF8DF41FBD6B}" srcOrd="1" destOrd="0" presId="urn:microsoft.com/office/officeart/2005/8/layout/orgChart1"/>
    <dgm:cxn modelId="{943C6F51-7724-A143-85F8-D5DA5E19FD04}" srcId="{7278D295-4400-EF4E-A6B6-AEA48109CC11}" destId="{D724CFD0-7928-734C-A9CC-42EA713A1511}" srcOrd="1" destOrd="0" parTransId="{5BF0D15B-E926-0A47-9DA5-C358FB7525DF}" sibTransId="{D4525F4F-1166-444C-85F0-DF44B41F2854}"/>
    <dgm:cxn modelId="{24B83588-A8AF-41E6-A6C0-51D685D3A88F}" type="presOf" srcId="{BC4761BE-5FED-B249-B95E-844DC7A42708}" destId="{936DB31D-35F5-42DC-A894-AC8E6B206895}" srcOrd="0" destOrd="0" presId="urn:microsoft.com/office/officeart/2005/8/layout/orgChart1"/>
    <dgm:cxn modelId="{8E7B4D8C-3DBC-4AEF-9000-F3C21CB8BB0A}" type="presOf" srcId="{7278D295-4400-EF4E-A6B6-AEA48109CC11}" destId="{008F29FD-277B-4D34-A40B-5D45CF6774E3}" srcOrd="1" destOrd="0" presId="urn:microsoft.com/office/officeart/2005/8/layout/orgChart1"/>
    <dgm:cxn modelId="{75BB589A-C372-44A6-985C-6DC8DD6D00D8}" type="presOf" srcId="{CFF19E64-6AA0-664E-9CE2-BE72DC02DFE8}" destId="{4FD5C9E4-58DB-4067-9D7B-B39244FD0128}" srcOrd="1" destOrd="0" presId="urn:microsoft.com/office/officeart/2005/8/layout/orgChart1"/>
    <dgm:cxn modelId="{39F6BFA3-609E-424A-B4C7-83345F4DBE3A}" type="presOf" srcId="{7278D295-4400-EF4E-A6B6-AEA48109CC11}" destId="{64209DDF-7664-4D3D-99B8-B3ABD2F1657F}" srcOrd="0" destOrd="0" presId="urn:microsoft.com/office/officeart/2005/8/layout/orgChart1"/>
    <dgm:cxn modelId="{B65B76C3-9CEA-ED47-9352-D162B667A4BB}" srcId="{C778F441-8B04-6341-993D-61DE47137290}" destId="{7278D295-4400-EF4E-A6B6-AEA48109CC11}" srcOrd="0" destOrd="0" parTransId="{A83D5144-6E7A-E045-BB61-E5434A2BD1EF}" sibTransId="{EF676485-5892-C64D-B38F-9635C281B500}"/>
    <dgm:cxn modelId="{13E5A2CC-383C-1549-8D34-DD816359BF06}" srcId="{7278D295-4400-EF4E-A6B6-AEA48109CC11}" destId="{CFF19E64-6AA0-664E-9CE2-BE72DC02DFE8}" srcOrd="2" destOrd="0" parTransId="{EB2D70A3-E519-894D-995D-08F9CA3D12AE}" sibTransId="{2694D8E7-202E-3847-AFC2-E962EC68D2CF}"/>
    <dgm:cxn modelId="{9F62F9ED-21AF-4F3D-BF7C-73EFAD4A6466}" type="presOf" srcId="{D724CFD0-7928-734C-A9CC-42EA713A1511}" destId="{E9873500-685F-46F8-BCCC-F7A1ACDE0029}" srcOrd="0" destOrd="0" presId="urn:microsoft.com/office/officeart/2005/8/layout/orgChart1"/>
    <dgm:cxn modelId="{2D5D0BF6-C37A-4EF7-AA3E-DE4CC86C97AA}" type="presOf" srcId="{5BF0D15B-E926-0A47-9DA5-C358FB7525DF}" destId="{7C05B39B-03DC-48A2-9244-F60656C38D07}" srcOrd="0" destOrd="0" presId="urn:microsoft.com/office/officeart/2005/8/layout/orgChart1"/>
    <dgm:cxn modelId="{012FCFFD-B537-431E-AC8C-BDE71CA4FA0C}" type="presOf" srcId="{62EE8620-207B-C44A-905F-A12391E359B0}" destId="{B72E97FC-60E5-43E7-BCC4-40FDB4D8DE63}" srcOrd="0" destOrd="0" presId="urn:microsoft.com/office/officeart/2005/8/layout/orgChart1"/>
    <dgm:cxn modelId="{A9F37770-78E0-4067-B797-F6709230D76F}" type="presParOf" srcId="{43CE8F30-42E0-406C-9691-74C14B7FA1BE}" destId="{01FE5F15-4339-4344-A7C4-CB5BA2E03908}" srcOrd="0" destOrd="0" presId="urn:microsoft.com/office/officeart/2005/8/layout/orgChart1"/>
    <dgm:cxn modelId="{F0AD029D-FD64-44DD-BDBE-BAE9D0D261DF}" type="presParOf" srcId="{01FE5F15-4339-4344-A7C4-CB5BA2E03908}" destId="{B278643B-DA94-4149-A346-E28521D41E08}" srcOrd="0" destOrd="0" presId="urn:microsoft.com/office/officeart/2005/8/layout/orgChart1"/>
    <dgm:cxn modelId="{CAD66B66-627A-4E7D-97F3-94DEFA67832B}" type="presParOf" srcId="{B278643B-DA94-4149-A346-E28521D41E08}" destId="{64209DDF-7664-4D3D-99B8-B3ABD2F1657F}" srcOrd="0" destOrd="0" presId="urn:microsoft.com/office/officeart/2005/8/layout/orgChart1"/>
    <dgm:cxn modelId="{2824D015-EF7E-46E2-952E-D9A6A2A823EE}" type="presParOf" srcId="{B278643B-DA94-4149-A346-E28521D41E08}" destId="{008F29FD-277B-4D34-A40B-5D45CF6774E3}" srcOrd="1" destOrd="0" presId="urn:microsoft.com/office/officeart/2005/8/layout/orgChart1"/>
    <dgm:cxn modelId="{E348FBF3-9B7E-4C82-9D55-1DD0B68236DD}" type="presParOf" srcId="{01FE5F15-4339-4344-A7C4-CB5BA2E03908}" destId="{805B9383-4035-4698-9DE7-1EFEC0BCD27E}" srcOrd="1" destOrd="0" presId="urn:microsoft.com/office/officeart/2005/8/layout/orgChart1"/>
    <dgm:cxn modelId="{E5C84316-506F-417D-8DEB-9E7307964ACB}" type="presParOf" srcId="{805B9383-4035-4698-9DE7-1EFEC0BCD27E}" destId="{936DB31D-35F5-42DC-A894-AC8E6B206895}" srcOrd="0" destOrd="0" presId="urn:microsoft.com/office/officeart/2005/8/layout/orgChart1"/>
    <dgm:cxn modelId="{73221A85-6B99-4804-A373-B79601786C68}" type="presParOf" srcId="{805B9383-4035-4698-9DE7-1EFEC0BCD27E}" destId="{31FBE4B0-2369-4171-B7F9-A7C9F5011B5C}" srcOrd="1" destOrd="0" presId="urn:microsoft.com/office/officeart/2005/8/layout/orgChart1"/>
    <dgm:cxn modelId="{8FF47C17-31E9-4CE1-8205-1F8F74CEF1C1}" type="presParOf" srcId="{31FBE4B0-2369-4171-B7F9-A7C9F5011B5C}" destId="{1C7D5930-3D78-499D-A0F5-A64B9DA1DDD5}" srcOrd="0" destOrd="0" presId="urn:microsoft.com/office/officeart/2005/8/layout/orgChart1"/>
    <dgm:cxn modelId="{BA1FDA93-3BCA-4454-85B9-ED26ABC34130}" type="presParOf" srcId="{1C7D5930-3D78-499D-A0F5-A64B9DA1DDD5}" destId="{B72E97FC-60E5-43E7-BCC4-40FDB4D8DE63}" srcOrd="0" destOrd="0" presId="urn:microsoft.com/office/officeart/2005/8/layout/orgChart1"/>
    <dgm:cxn modelId="{72A3BC54-0DC5-44DB-8BDB-790EEF127D9F}" type="presParOf" srcId="{1C7D5930-3D78-499D-A0F5-A64B9DA1DDD5}" destId="{FC3C7B5D-94C4-405E-8947-FCCFD949CFFD}" srcOrd="1" destOrd="0" presId="urn:microsoft.com/office/officeart/2005/8/layout/orgChart1"/>
    <dgm:cxn modelId="{0C82D2CC-7F8E-4106-B99E-4C7B37774EF6}" type="presParOf" srcId="{31FBE4B0-2369-4171-B7F9-A7C9F5011B5C}" destId="{5D2C1F6D-E7BA-426B-9675-82C69A8919E9}" srcOrd="1" destOrd="0" presId="urn:microsoft.com/office/officeart/2005/8/layout/orgChart1"/>
    <dgm:cxn modelId="{8B4CAB63-40D0-4256-A9EB-318F0F1153A2}" type="presParOf" srcId="{31FBE4B0-2369-4171-B7F9-A7C9F5011B5C}" destId="{CF517041-4BD6-47A9-9F38-3B809199234A}" srcOrd="2" destOrd="0" presId="urn:microsoft.com/office/officeart/2005/8/layout/orgChart1"/>
    <dgm:cxn modelId="{70A891E7-5CD6-4F46-9602-A09E1D7E3FF5}" type="presParOf" srcId="{805B9383-4035-4698-9DE7-1EFEC0BCD27E}" destId="{7C05B39B-03DC-48A2-9244-F60656C38D07}" srcOrd="2" destOrd="0" presId="urn:microsoft.com/office/officeart/2005/8/layout/orgChart1"/>
    <dgm:cxn modelId="{92D3577B-A2D3-42A6-B8FF-2B77FE10CB28}" type="presParOf" srcId="{805B9383-4035-4698-9DE7-1EFEC0BCD27E}" destId="{C35A6E4F-08C9-40CF-A6FB-03008E18E24A}" srcOrd="3" destOrd="0" presId="urn:microsoft.com/office/officeart/2005/8/layout/orgChart1"/>
    <dgm:cxn modelId="{9505A6D0-E08D-4621-8B29-10F3E3471AF5}" type="presParOf" srcId="{C35A6E4F-08C9-40CF-A6FB-03008E18E24A}" destId="{557E350D-100E-4903-896B-D7CB1C8E92C7}" srcOrd="0" destOrd="0" presId="urn:microsoft.com/office/officeart/2005/8/layout/orgChart1"/>
    <dgm:cxn modelId="{0E2EE616-1078-4A42-A226-7AA3D99A8ABF}" type="presParOf" srcId="{557E350D-100E-4903-896B-D7CB1C8E92C7}" destId="{E9873500-685F-46F8-BCCC-F7A1ACDE0029}" srcOrd="0" destOrd="0" presId="urn:microsoft.com/office/officeart/2005/8/layout/orgChart1"/>
    <dgm:cxn modelId="{E02C17D9-4ED2-4CFA-B271-CFAECDBB375E}" type="presParOf" srcId="{557E350D-100E-4903-896B-D7CB1C8E92C7}" destId="{D5F98BF5-3BCF-45B9-AA53-CF8DF41FBD6B}" srcOrd="1" destOrd="0" presId="urn:microsoft.com/office/officeart/2005/8/layout/orgChart1"/>
    <dgm:cxn modelId="{EDD6F85A-D339-48A8-94C2-E913DFB439CC}" type="presParOf" srcId="{C35A6E4F-08C9-40CF-A6FB-03008E18E24A}" destId="{CEE8A39F-6219-4F85-8072-DB9A92C79896}" srcOrd="1" destOrd="0" presId="urn:microsoft.com/office/officeart/2005/8/layout/orgChart1"/>
    <dgm:cxn modelId="{F37FC4D9-A28D-4CF2-ABD4-97D99D342316}" type="presParOf" srcId="{C35A6E4F-08C9-40CF-A6FB-03008E18E24A}" destId="{D4D1A2D6-8C4E-4AD4-B0D9-DEF61EDD3804}" srcOrd="2" destOrd="0" presId="urn:microsoft.com/office/officeart/2005/8/layout/orgChart1"/>
    <dgm:cxn modelId="{D7CC6AE3-0A9B-4AD9-903E-28D69C551A8A}" type="presParOf" srcId="{805B9383-4035-4698-9DE7-1EFEC0BCD27E}" destId="{6DDB3380-F4CF-47D4-AE67-9EBCE2904E1A}" srcOrd="4" destOrd="0" presId="urn:microsoft.com/office/officeart/2005/8/layout/orgChart1"/>
    <dgm:cxn modelId="{D702B1D6-4923-4ABB-881A-FC7CAB46EC94}" type="presParOf" srcId="{805B9383-4035-4698-9DE7-1EFEC0BCD27E}" destId="{3100AB8E-9798-4AE2-B11D-3C28CBD71EA3}" srcOrd="5" destOrd="0" presId="urn:microsoft.com/office/officeart/2005/8/layout/orgChart1"/>
    <dgm:cxn modelId="{5F0C8E98-8B4E-47D2-9468-05D81E26DF87}" type="presParOf" srcId="{3100AB8E-9798-4AE2-B11D-3C28CBD71EA3}" destId="{2646E56E-64FB-4B71-B038-26369EEC1392}" srcOrd="0" destOrd="0" presId="urn:microsoft.com/office/officeart/2005/8/layout/orgChart1"/>
    <dgm:cxn modelId="{CEA8C106-F2CE-4C2F-BCBD-1AA1AB00E329}" type="presParOf" srcId="{2646E56E-64FB-4B71-B038-26369EEC1392}" destId="{2E1E79E9-17D8-4FF2-9F99-0D443156C82E}" srcOrd="0" destOrd="0" presId="urn:microsoft.com/office/officeart/2005/8/layout/orgChart1"/>
    <dgm:cxn modelId="{F1C137DD-3220-4A89-B040-9B0881C84DAA}" type="presParOf" srcId="{2646E56E-64FB-4B71-B038-26369EEC1392}" destId="{4FD5C9E4-58DB-4067-9D7B-B39244FD0128}" srcOrd="1" destOrd="0" presId="urn:microsoft.com/office/officeart/2005/8/layout/orgChart1"/>
    <dgm:cxn modelId="{8C4E3824-0B46-4FC1-AF7B-26BF7055589E}" type="presParOf" srcId="{3100AB8E-9798-4AE2-B11D-3C28CBD71EA3}" destId="{00716771-EAEB-4F92-B262-4C567CB53A06}" srcOrd="1" destOrd="0" presId="urn:microsoft.com/office/officeart/2005/8/layout/orgChart1"/>
    <dgm:cxn modelId="{14C412E7-D221-4C0F-9841-BB8CFE13F2C1}" type="presParOf" srcId="{3100AB8E-9798-4AE2-B11D-3C28CBD71EA3}" destId="{3A289308-66FC-4969-9A96-B49D908F894B}" srcOrd="2" destOrd="0" presId="urn:microsoft.com/office/officeart/2005/8/layout/orgChart1"/>
    <dgm:cxn modelId="{61C488DF-09E9-4BC8-A7EF-0945F1699577}" type="presParOf" srcId="{01FE5F15-4339-4344-A7C4-CB5BA2E03908}" destId="{2D67D70B-D408-4001-A21C-50C22A96099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14A0135-9D04-6148-A2A4-7367FB3FA1B9}" type="doc">
      <dgm:prSet loTypeId="urn:microsoft.com/office/officeart/2005/8/layout/orgChart1" loCatId="hierarchy" qsTypeId="urn:microsoft.com/office/officeart/2005/8/quickstyle/simple4" qsCatId="simple" csTypeId="urn:microsoft.com/office/officeart/2005/8/colors/accent1_2" csCatId="accent1" phldr="1"/>
      <dgm:spPr/>
      <dgm:t>
        <a:bodyPr/>
        <a:lstStyle/>
        <a:p>
          <a:endParaRPr lang="en-GB"/>
        </a:p>
      </dgm:t>
    </dgm:pt>
    <dgm:pt modelId="{7EA69FE8-2EEE-5546-A26E-77991E05CA26}">
      <dgm:prSet/>
      <dgm:spPr/>
      <dgm:t>
        <a:bodyPr/>
        <a:lstStyle/>
        <a:p>
          <a:r>
            <a:rPr lang="en-US" b="1"/>
            <a:t>A</a:t>
          </a:r>
          <a:r>
            <a:rPr lang="en-NZ" b="1"/>
            <a:t>bsolute advantage</a:t>
          </a:r>
          <a:endParaRPr lang="en-NZ"/>
        </a:p>
      </dgm:t>
    </dgm:pt>
    <dgm:pt modelId="{7034F557-037F-B64B-BC72-10EFE4F69A3C}" type="parTrans" cxnId="{7A0B6023-8DED-664D-B192-2F8B900FB47A}">
      <dgm:prSet/>
      <dgm:spPr/>
      <dgm:t>
        <a:bodyPr/>
        <a:lstStyle/>
        <a:p>
          <a:endParaRPr lang="en-GB"/>
        </a:p>
      </dgm:t>
    </dgm:pt>
    <dgm:pt modelId="{9568C332-FDAC-6F41-ADDF-623ED5362D08}" type="sibTrans" cxnId="{7A0B6023-8DED-664D-B192-2F8B900FB47A}">
      <dgm:prSet/>
      <dgm:spPr/>
      <dgm:t>
        <a:bodyPr/>
        <a:lstStyle/>
        <a:p>
          <a:endParaRPr lang="en-GB"/>
        </a:p>
      </dgm:t>
    </dgm:pt>
    <dgm:pt modelId="{3D5FC9B9-7DA2-0D4A-9A4D-140E7E96227E}">
      <dgm:prSet/>
      <dgm:spPr/>
      <dgm:t>
        <a:bodyPr/>
        <a:lstStyle/>
        <a:p>
          <a:r>
            <a:rPr lang="en-NZ"/>
            <a:t>when someone uses fewer inputs to produce the same good;</a:t>
          </a:r>
        </a:p>
      </dgm:t>
    </dgm:pt>
    <dgm:pt modelId="{4552CAF6-B52A-394E-B4E0-5BA4BC8F5117}" type="parTrans" cxnId="{DF4C5002-AEA0-6249-A400-4123DDB417DF}">
      <dgm:prSet/>
      <dgm:spPr/>
      <dgm:t>
        <a:bodyPr/>
        <a:lstStyle/>
        <a:p>
          <a:endParaRPr lang="en-GB"/>
        </a:p>
      </dgm:t>
    </dgm:pt>
    <dgm:pt modelId="{820DC609-1770-D044-889D-414420565B06}" type="sibTrans" cxnId="{DF4C5002-AEA0-6249-A400-4123DDB417DF}">
      <dgm:prSet/>
      <dgm:spPr/>
      <dgm:t>
        <a:bodyPr/>
        <a:lstStyle/>
        <a:p>
          <a:endParaRPr lang="en-GB"/>
        </a:p>
      </dgm:t>
    </dgm:pt>
    <dgm:pt modelId="{599B72EC-E878-1E46-88D0-4BF546643707}">
      <dgm:prSet/>
      <dgm:spPr/>
      <dgm:t>
        <a:bodyPr/>
        <a:lstStyle/>
        <a:p>
          <a:r>
            <a:rPr lang="en-NZ" dirty="0"/>
            <a:t>or can produce more with the same input)</a:t>
          </a:r>
        </a:p>
      </dgm:t>
    </dgm:pt>
    <dgm:pt modelId="{CF3AA4CC-61CB-7F40-85AA-CADBEE8D6134}" type="parTrans" cxnId="{CA0B1F69-0D49-9A4A-AF64-6CA8612029AF}">
      <dgm:prSet/>
      <dgm:spPr/>
      <dgm:t>
        <a:bodyPr/>
        <a:lstStyle/>
        <a:p>
          <a:endParaRPr lang="en-GB"/>
        </a:p>
      </dgm:t>
    </dgm:pt>
    <dgm:pt modelId="{0680B37C-C507-8C43-9036-153F895342ED}" type="sibTrans" cxnId="{CA0B1F69-0D49-9A4A-AF64-6CA8612029AF}">
      <dgm:prSet/>
      <dgm:spPr/>
      <dgm:t>
        <a:bodyPr/>
        <a:lstStyle/>
        <a:p>
          <a:endParaRPr lang="en-GB"/>
        </a:p>
      </dgm:t>
    </dgm:pt>
    <dgm:pt modelId="{56B68023-241F-F947-B557-72CF68B4BF9B}">
      <dgm:prSet/>
      <dgm:spPr/>
      <dgm:t>
        <a:bodyPr/>
        <a:lstStyle/>
        <a:p>
          <a:r>
            <a:rPr lang="en-NZ"/>
            <a:t>Greta has absolute advantage in both wheat production and apple production. </a:t>
          </a:r>
        </a:p>
      </dgm:t>
    </dgm:pt>
    <dgm:pt modelId="{1F09F00E-DCDC-7C40-93E2-86BDCF6C54C4}" type="parTrans" cxnId="{E1CF8BCA-F9A1-8C47-9A32-C7A52CE7E385}">
      <dgm:prSet/>
      <dgm:spPr/>
      <dgm:t>
        <a:bodyPr/>
        <a:lstStyle/>
        <a:p>
          <a:endParaRPr lang="en-GB"/>
        </a:p>
      </dgm:t>
    </dgm:pt>
    <dgm:pt modelId="{0316BE4D-96D1-C44F-9D99-FE2A11125495}" type="sibTrans" cxnId="{E1CF8BCA-F9A1-8C47-9A32-C7A52CE7E385}">
      <dgm:prSet/>
      <dgm:spPr/>
      <dgm:t>
        <a:bodyPr/>
        <a:lstStyle/>
        <a:p>
          <a:endParaRPr lang="en-GB"/>
        </a:p>
      </dgm:t>
    </dgm:pt>
    <dgm:pt modelId="{95A51BBB-52A9-4A53-A652-D9D86F79A057}" type="pres">
      <dgm:prSet presAssocID="{414A0135-9D04-6148-A2A4-7367FB3FA1B9}" presName="hierChild1" presStyleCnt="0">
        <dgm:presLayoutVars>
          <dgm:orgChart val="1"/>
          <dgm:chPref val="1"/>
          <dgm:dir/>
          <dgm:animOne val="branch"/>
          <dgm:animLvl val="lvl"/>
          <dgm:resizeHandles/>
        </dgm:presLayoutVars>
      </dgm:prSet>
      <dgm:spPr/>
    </dgm:pt>
    <dgm:pt modelId="{0CB0C860-EC35-4924-8336-28062A1224E0}" type="pres">
      <dgm:prSet presAssocID="{7EA69FE8-2EEE-5546-A26E-77991E05CA26}" presName="hierRoot1" presStyleCnt="0">
        <dgm:presLayoutVars>
          <dgm:hierBranch val="init"/>
        </dgm:presLayoutVars>
      </dgm:prSet>
      <dgm:spPr/>
    </dgm:pt>
    <dgm:pt modelId="{0B901DED-F5E9-4F84-99AA-311B3AF16275}" type="pres">
      <dgm:prSet presAssocID="{7EA69FE8-2EEE-5546-A26E-77991E05CA26}" presName="rootComposite1" presStyleCnt="0"/>
      <dgm:spPr/>
    </dgm:pt>
    <dgm:pt modelId="{232408B5-94E9-43E8-A4DA-FDD59B3AAB86}" type="pres">
      <dgm:prSet presAssocID="{7EA69FE8-2EEE-5546-A26E-77991E05CA26}" presName="rootText1" presStyleLbl="node0" presStyleIdx="0" presStyleCnt="1">
        <dgm:presLayoutVars>
          <dgm:chPref val="3"/>
        </dgm:presLayoutVars>
      </dgm:prSet>
      <dgm:spPr/>
    </dgm:pt>
    <dgm:pt modelId="{AB9D429D-2399-4E66-B8B2-6F5B309C4E1D}" type="pres">
      <dgm:prSet presAssocID="{7EA69FE8-2EEE-5546-A26E-77991E05CA26}" presName="rootConnector1" presStyleLbl="node1" presStyleIdx="0" presStyleCnt="0"/>
      <dgm:spPr/>
    </dgm:pt>
    <dgm:pt modelId="{01A4C712-F8D5-4B87-B6AD-90301CD439C1}" type="pres">
      <dgm:prSet presAssocID="{7EA69FE8-2EEE-5546-A26E-77991E05CA26}" presName="hierChild2" presStyleCnt="0"/>
      <dgm:spPr/>
    </dgm:pt>
    <dgm:pt modelId="{38CD19F8-F5E0-4A94-9BCD-7D3DE4B1086F}" type="pres">
      <dgm:prSet presAssocID="{4552CAF6-B52A-394E-B4E0-5BA4BC8F5117}" presName="Name37" presStyleLbl="parChTrans1D2" presStyleIdx="0" presStyleCnt="2"/>
      <dgm:spPr/>
    </dgm:pt>
    <dgm:pt modelId="{F71F2934-0824-477B-80DF-6406008358D2}" type="pres">
      <dgm:prSet presAssocID="{3D5FC9B9-7DA2-0D4A-9A4D-140E7E96227E}" presName="hierRoot2" presStyleCnt="0">
        <dgm:presLayoutVars>
          <dgm:hierBranch val="init"/>
        </dgm:presLayoutVars>
      </dgm:prSet>
      <dgm:spPr/>
    </dgm:pt>
    <dgm:pt modelId="{3D7A3E78-F500-4F8A-95A1-2A59F58FA6BF}" type="pres">
      <dgm:prSet presAssocID="{3D5FC9B9-7DA2-0D4A-9A4D-140E7E96227E}" presName="rootComposite" presStyleCnt="0"/>
      <dgm:spPr/>
    </dgm:pt>
    <dgm:pt modelId="{A31C286C-32D1-4BB3-B19F-ADBB940D8761}" type="pres">
      <dgm:prSet presAssocID="{3D5FC9B9-7DA2-0D4A-9A4D-140E7E96227E}" presName="rootText" presStyleLbl="node2" presStyleIdx="0" presStyleCnt="2">
        <dgm:presLayoutVars>
          <dgm:chPref val="3"/>
        </dgm:presLayoutVars>
      </dgm:prSet>
      <dgm:spPr/>
    </dgm:pt>
    <dgm:pt modelId="{20D1BDAE-D289-4A42-9E5E-A8152425A23C}" type="pres">
      <dgm:prSet presAssocID="{3D5FC9B9-7DA2-0D4A-9A4D-140E7E96227E}" presName="rootConnector" presStyleLbl="node2" presStyleIdx="0" presStyleCnt="2"/>
      <dgm:spPr/>
    </dgm:pt>
    <dgm:pt modelId="{2E90EACB-E504-4F22-B5B6-B290064F512E}" type="pres">
      <dgm:prSet presAssocID="{3D5FC9B9-7DA2-0D4A-9A4D-140E7E96227E}" presName="hierChild4" presStyleCnt="0"/>
      <dgm:spPr/>
    </dgm:pt>
    <dgm:pt modelId="{FE538DDC-9427-4395-A6C6-3B536D20263E}" type="pres">
      <dgm:prSet presAssocID="{3D5FC9B9-7DA2-0D4A-9A4D-140E7E96227E}" presName="hierChild5" presStyleCnt="0"/>
      <dgm:spPr/>
    </dgm:pt>
    <dgm:pt modelId="{9AAF3FBF-AC4A-482D-812E-458D897B7A19}" type="pres">
      <dgm:prSet presAssocID="{CF3AA4CC-61CB-7F40-85AA-CADBEE8D6134}" presName="Name37" presStyleLbl="parChTrans1D2" presStyleIdx="1" presStyleCnt="2"/>
      <dgm:spPr/>
    </dgm:pt>
    <dgm:pt modelId="{C3FA6FD9-988A-47FC-9381-8D5D7DFA6F8D}" type="pres">
      <dgm:prSet presAssocID="{599B72EC-E878-1E46-88D0-4BF546643707}" presName="hierRoot2" presStyleCnt="0">
        <dgm:presLayoutVars>
          <dgm:hierBranch val="init"/>
        </dgm:presLayoutVars>
      </dgm:prSet>
      <dgm:spPr/>
    </dgm:pt>
    <dgm:pt modelId="{D633B59B-A287-44E1-BB50-023C97B7B96B}" type="pres">
      <dgm:prSet presAssocID="{599B72EC-E878-1E46-88D0-4BF546643707}" presName="rootComposite" presStyleCnt="0"/>
      <dgm:spPr/>
    </dgm:pt>
    <dgm:pt modelId="{54E6DE0B-A115-4C4B-9ECA-39D7B4803E21}" type="pres">
      <dgm:prSet presAssocID="{599B72EC-E878-1E46-88D0-4BF546643707}" presName="rootText" presStyleLbl="node2" presStyleIdx="1" presStyleCnt="2">
        <dgm:presLayoutVars>
          <dgm:chPref val="3"/>
        </dgm:presLayoutVars>
      </dgm:prSet>
      <dgm:spPr/>
    </dgm:pt>
    <dgm:pt modelId="{3FEC358F-403F-43F7-B429-00DFE52EC071}" type="pres">
      <dgm:prSet presAssocID="{599B72EC-E878-1E46-88D0-4BF546643707}" presName="rootConnector" presStyleLbl="node2" presStyleIdx="1" presStyleCnt="2"/>
      <dgm:spPr/>
    </dgm:pt>
    <dgm:pt modelId="{C5BB6DE9-DFEF-4C65-B67E-ED92C16A0F39}" type="pres">
      <dgm:prSet presAssocID="{599B72EC-E878-1E46-88D0-4BF546643707}" presName="hierChild4" presStyleCnt="0"/>
      <dgm:spPr/>
    </dgm:pt>
    <dgm:pt modelId="{C9F1AF0F-53C9-40A3-AF22-EC87C191F33C}" type="pres">
      <dgm:prSet presAssocID="{1F09F00E-DCDC-7C40-93E2-86BDCF6C54C4}" presName="Name37" presStyleLbl="parChTrans1D3" presStyleIdx="0" presStyleCnt="1"/>
      <dgm:spPr/>
    </dgm:pt>
    <dgm:pt modelId="{B7E95D27-75C4-42DD-985B-995C56FC555B}" type="pres">
      <dgm:prSet presAssocID="{56B68023-241F-F947-B557-72CF68B4BF9B}" presName="hierRoot2" presStyleCnt="0">
        <dgm:presLayoutVars>
          <dgm:hierBranch val="init"/>
        </dgm:presLayoutVars>
      </dgm:prSet>
      <dgm:spPr/>
    </dgm:pt>
    <dgm:pt modelId="{313F1D2A-45A2-46BC-99D0-528764829DD5}" type="pres">
      <dgm:prSet presAssocID="{56B68023-241F-F947-B557-72CF68B4BF9B}" presName="rootComposite" presStyleCnt="0"/>
      <dgm:spPr/>
    </dgm:pt>
    <dgm:pt modelId="{99167F55-DA47-411C-BFD1-026E37C932B2}" type="pres">
      <dgm:prSet presAssocID="{56B68023-241F-F947-B557-72CF68B4BF9B}" presName="rootText" presStyleLbl="node3" presStyleIdx="0" presStyleCnt="1">
        <dgm:presLayoutVars>
          <dgm:chPref val="3"/>
        </dgm:presLayoutVars>
      </dgm:prSet>
      <dgm:spPr/>
    </dgm:pt>
    <dgm:pt modelId="{68DB1895-3805-42A5-A488-662D5E55BD5F}" type="pres">
      <dgm:prSet presAssocID="{56B68023-241F-F947-B557-72CF68B4BF9B}" presName="rootConnector" presStyleLbl="node3" presStyleIdx="0" presStyleCnt="1"/>
      <dgm:spPr/>
    </dgm:pt>
    <dgm:pt modelId="{038774A0-0F20-4964-A068-600A361AABA7}" type="pres">
      <dgm:prSet presAssocID="{56B68023-241F-F947-B557-72CF68B4BF9B}" presName="hierChild4" presStyleCnt="0"/>
      <dgm:spPr/>
    </dgm:pt>
    <dgm:pt modelId="{88D2D43D-F5D5-4E99-A149-8C8C80D11CAF}" type="pres">
      <dgm:prSet presAssocID="{56B68023-241F-F947-B557-72CF68B4BF9B}" presName="hierChild5" presStyleCnt="0"/>
      <dgm:spPr/>
    </dgm:pt>
    <dgm:pt modelId="{9BF6A0DB-3FFC-474F-8A37-D912AA6EE599}" type="pres">
      <dgm:prSet presAssocID="{599B72EC-E878-1E46-88D0-4BF546643707}" presName="hierChild5" presStyleCnt="0"/>
      <dgm:spPr/>
    </dgm:pt>
    <dgm:pt modelId="{F7D13483-A2DF-47AC-82C4-181724DE719A}" type="pres">
      <dgm:prSet presAssocID="{7EA69FE8-2EEE-5546-A26E-77991E05CA26}" presName="hierChild3" presStyleCnt="0"/>
      <dgm:spPr/>
    </dgm:pt>
  </dgm:ptLst>
  <dgm:cxnLst>
    <dgm:cxn modelId="{DF4C5002-AEA0-6249-A400-4123DDB417DF}" srcId="{7EA69FE8-2EEE-5546-A26E-77991E05CA26}" destId="{3D5FC9B9-7DA2-0D4A-9A4D-140E7E96227E}" srcOrd="0" destOrd="0" parTransId="{4552CAF6-B52A-394E-B4E0-5BA4BC8F5117}" sibTransId="{820DC609-1770-D044-889D-414420565B06}"/>
    <dgm:cxn modelId="{7A0B6023-8DED-664D-B192-2F8B900FB47A}" srcId="{414A0135-9D04-6148-A2A4-7367FB3FA1B9}" destId="{7EA69FE8-2EEE-5546-A26E-77991E05CA26}" srcOrd="0" destOrd="0" parTransId="{7034F557-037F-B64B-BC72-10EFE4F69A3C}" sibTransId="{9568C332-FDAC-6F41-ADDF-623ED5362D08}"/>
    <dgm:cxn modelId="{0C679431-819C-4969-907E-6C1DC89E1BB3}" type="presOf" srcId="{1F09F00E-DCDC-7C40-93E2-86BDCF6C54C4}" destId="{C9F1AF0F-53C9-40A3-AF22-EC87C191F33C}" srcOrd="0" destOrd="0" presId="urn:microsoft.com/office/officeart/2005/8/layout/orgChart1"/>
    <dgm:cxn modelId="{E7621E5F-C83D-4200-B716-5D629FD9E1CB}" type="presOf" srcId="{56B68023-241F-F947-B557-72CF68B4BF9B}" destId="{99167F55-DA47-411C-BFD1-026E37C932B2}" srcOrd="0" destOrd="0" presId="urn:microsoft.com/office/officeart/2005/8/layout/orgChart1"/>
    <dgm:cxn modelId="{CA0B1F69-0D49-9A4A-AF64-6CA8612029AF}" srcId="{7EA69FE8-2EEE-5546-A26E-77991E05CA26}" destId="{599B72EC-E878-1E46-88D0-4BF546643707}" srcOrd="1" destOrd="0" parTransId="{CF3AA4CC-61CB-7F40-85AA-CADBEE8D6134}" sibTransId="{0680B37C-C507-8C43-9036-153F895342ED}"/>
    <dgm:cxn modelId="{DF4B3C6A-4973-4EAB-9CCC-88D283EB6BFC}" type="presOf" srcId="{CF3AA4CC-61CB-7F40-85AA-CADBEE8D6134}" destId="{9AAF3FBF-AC4A-482D-812E-458D897B7A19}" srcOrd="0" destOrd="0" presId="urn:microsoft.com/office/officeart/2005/8/layout/orgChart1"/>
    <dgm:cxn modelId="{29C1F08B-6973-489F-8E5F-A261416D08B3}" type="presOf" srcId="{3D5FC9B9-7DA2-0D4A-9A4D-140E7E96227E}" destId="{A31C286C-32D1-4BB3-B19F-ADBB940D8761}" srcOrd="0" destOrd="0" presId="urn:microsoft.com/office/officeart/2005/8/layout/orgChart1"/>
    <dgm:cxn modelId="{BA432D8D-460A-45A0-AD2C-725C58720A12}" type="presOf" srcId="{414A0135-9D04-6148-A2A4-7367FB3FA1B9}" destId="{95A51BBB-52A9-4A53-A652-D9D86F79A057}" srcOrd="0" destOrd="0" presId="urn:microsoft.com/office/officeart/2005/8/layout/orgChart1"/>
    <dgm:cxn modelId="{CF94B9A9-C7BB-4360-B12C-D4051DC4129C}" type="presOf" srcId="{7EA69FE8-2EEE-5546-A26E-77991E05CA26}" destId="{232408B5-94E9-43E8-A4DA-FDD59B3AAB86}" srcOrd="0" destOrd="0" presId="urn:microsoft.com/office/officeart/2005/8/layout/orgChart1"/>
    <dgm:cxn modelId="{26298BAD-A3A9-4464-A3C1-EE503BBEA7DB}" type="presOf" srcId="{599B72EC-E878-1E46-88D0-4BF546643707}" destId="{3FEC358F-403F-43F7-B429-00DFE52EC071}" srcOrd="1" destOrd="0" presId="urn:microsoft.com/office/officeart/2005/8/layout/orgChart1"/>
    <dgm:cxn modelId="{83C7F5C5-DE11-4A05-AE77-56A986BE4464}" type="presOf" srcId="{599B72EC-E878-1E46-88D0-4BF546643707}" destId="{54E6DE0B-A115-4C4B-9ECA-39D7B4803E21}" srcOrd="0" destOrd="0" presId="urn:microsoft.com/office/officeart/2005/8/layout/orgChart1"/>
    <dgm:cxn modelId="{688C1DC8-9211-4EEB-8E57-009B00DA468E}" type="presOf" srcId="{3D5FC9B9-7DA2-0D4A-9A4D-140E7E96227E}" destId="{20D1BDAE-D289-4A42-9E5E-A8152425A23C}" srcOrd="1" destOrd="0" presId="urn:microsoft.com/office/officeart/2005/8/layout/orgChart1"/>
    <dgm:cxn modelId="{E1CF8BCA-F9A1-8C47-9A32-C7A52CE7E385}" srcId="{599B72EC-E878-1E46-88D0-4BF546643707}" destId="{56B68023-241F-F947-B557-72CF68B4BF9B}" srcOrd="0" destOrd="0" parTransId="{1F09F00E-DCDC-7C40-93E2-86BDCF6C54C4}" sibTransId="{0316BE4D-96D1-C44F-9D99-FE2A11125495}"/>
    <dgm:cxn modelId="{813677CD-E808-42BF-A7EA-81D26649F332}" type="presOf" srcId="{56B68023-241F-F947-B557-72CF68B4BF9B}" destId="{68DB1895-3805-42A5-A488-662D5E55BD5F}" srcOrd="1" destOrd="0" presId="urn:microsoft.com/office/officeart/2005/8/layout/orgChart1"/>
    <dgm:cxn modelId="{0971B0DF-A9CA-450F-96D6-0810483EF0E7}" type="presOf" srcId="{7EA69FE8-2EEE-5546-A26E-77991E05CA26}" destId="{AB9D429D-2399-4E66-B8B2-6F5B309C4E1D}" srcOrd="1" destOrd="0" presId="urn:microsoft.com/office/officeart/2005/8/layout/orgChart1"/>
    <dgm:cxn modelId="{214783F5-73CE-4D29-B1BD-97B811BD9C54}" type="presOf" srcId="{4552CAF6-B52A-394E-B4E0-5BA4BC8F5117}" destId="{38CD19F8-F5E0-4A94-9BCD-7D3DE4B1086F}" srcOrd="0" destOrd="0" presId="urn:microsoft.com/office/officeart/2005/8/layout/orgChart1"/>
    <dgm:cxn modelId="{64E098C3-6F83-42AC-9ACB-1E240081868E}" type="presParOf" srcId="{95A51BBB-52A9-4A53-A652-D9D86F79A057}" destId="{0CB0C860-EC35-4924-8336-28062A1224E0}" srcOrd="0" destOrd="0" presId="urn:microsoft.com/office/officeart/2005/8/layout/orgChart1"/>
    <dgm:cxn modelId="{32E96FF3-F137-4297-90FC-0AB1B47EBDD7}" type="presParOf" srcId="{0CB0C860-EC35-4924-8336-28062A1224E0}" destId="{0B901DED-F5E9-4F84-99AA-311B3AF16275}" srcOrd="0" destOrd="0" presId="urn:microsoft.com/office/officeart/2005/8/layout/orgChart1"/>
    <dgm:cxn modelId="{AD53C6BE-85C9-4EE9-BE97-6FD0FD5FFEA8}" type="presParOf" srcId="{0B901DED-F5E9-4F84-99AA-311B3AF16275}" destId="{232408B5-94E9-43E8-A4DA-FDD59B3AAB86}" srcOrd="0" destOrd="0" presId="urn:microsoft.com/office/officeart/2005/8/layout/orgChart1"/>
    <dgm:cxn modelId="{0607BB6B-7E38-4915-BDA8-54041962BA74}" type="presParOf" srcId="{0B901DED-F5E9-4F84-99AA-311B3AF16275}" destId="{AB9D429D-2399-4E66-B8B2-6F5B309C4E1D}" srcOrd="1" destOrd="0" presId="urn:microsoft.com/office/officeart/2005/8/layout/orgChart1"/>
    <dgm:cxn modelId="{2033C64C-9337-432E-B627-99A9D9B5E004}" type="presParOf" srcId="{0CB0C860-EC35-4924-8336-28062A1224E0}" destId="{01A4C712-F8D5-4B87-B6AD-90301CD439C1}" srcOrd="1" destOrd="0" presId="urn:microsoft.com/office/officeart/2005/8/layout/orgChart1"/>
    <dgm:cxn modelId="{D1E47D57-41B0-468A-958C-48E246945363}" type="presParOf" srcId="{01A4C712-F8D5-4B87-B6AD-90301CD439C1}" destId="{38CD19F8-F5E0-4A94-9BCD-7D3DE4B1086F}" srcOrd="0" destOrd="0" presId="urn:microsoft.com/office/officeart/2005/8/layout/orgChart1"/>
    <dgm:cxn modelId="{758753B7-54D4-44ED-9844-BB988229BA14}" type="presParOf" srcId="{01A4C712-F8D5-4B87-B6AD-90301CD439C1}" destId="{F71F2934-0824-477B-80DF-6406008358D2}" srcOrd="1" destOrd="0" presId="urn:microsoft.com/office/officeart/2005/8/layout/orgChart1"/>
    <dgm:cxn modelId="{BC3CE689-6F9C-44B5-9111-E5C3F2A97DD5}" type="presParOf" srcId="{F71F2934-0824-477B-80DF-6406008358D2}" destId="{3D7A3E78-F500-4F8A-95A1-2A59F58FA6BF}" srcOrd="0" destOrd="0" presId="urn:microsoft.com/office/officeart/2005/8/layout/orgChart1"/>
    <dgm:cxn modelId="{A901BB88-BFF6-49A0-A8C6-61C0D56F6266}" type="presParOf" srcId="{3D7A3E78-F500-4F8A-95A1-2A59F58FA6BF}" destId="{A31C286C-32D1-4BB3-B19F-ADBB940D8761}" srcOrd="0" destOrd="0" presId="urn:microsoft.com/office/officeart/2005/8/layout/orgChart1"/>
    <dgm:cxn modelId="{9EAF9E4D-7EDD-4EA7-BBFC-3DB3965C2AF8}" type="presParOf" srcId="{3D7A3E78-F500-4F8A-95A1-2A59F58FA6BF}" destId="{20D1BDAE-D289-4A42-9E5E-A8152425A23C}" srcOrd="1" destOrd="0" presId="urn:microsoft.com/office/officeart/2005/8/layout/orgChart1"/>
    <dgm:cxn modelId="{78FD3118-6FA0-4A68-9AE4-B5AAFA75F837}" type="presParOf" srcId="{F71F2934-0824-477B-80DF-6406008358D2}" destId="{2E90EACB-E504-4F22-B5B6-B290064F512E}" srcOrd="1" destOrd="0" presId="urn:microsoft.com/office/officeart/2005/8/layout/orgChart1"/>
    <dgm:cxn modelId="{594ABE90-A5C3-40A0-89AA-6874F4D5C8EE}" type="presParOf" srcId="{F71F2934-0824-477B-80DF-6406008358D2}" destId="{FE538DDC-9427-4395-A6C6-3B536D20263E}" srcOrd="2" destOrd="0" presId="urn:microsoft.com/office/officeart/2005/8/layout/orgChart1"/>
    <dgm:cxn modelId="{81342446-BC75-4BA7-9B81-4D063B7587D2}" type="presParOf" srcId="{01A4C712-F8D5-4B87-B6AD-90301CD439C1}" destId="{9AAF3FBF-AC4A-482D-812E-458D897B7A19}" srcOrd="2" destOrd="0" presId="urn:microsoft.com/office/officeart/2005/8/layout/orgChart1"/>
    <dgm:cxn modelId="{CF661A18-43C9-4C6F-9D4C-01393B070A1A}" type="presParOf" srcId="{01A4C712-F8D5-4B87-B6AD-90301CD439C1}" destId="{C3FA6FD9-988A-47FC-9381-8D5D7DFA6F8D}" srcOrd="3" destOrd="0" presId="urn:microsoft.com/office/officeart/2005/8/layout/orgChart1"/>
    <dgm:cxn modelId="{D4AA39E4-DBD6-4113-801A-08B04F61F4CE}" type="presParOf" srcId="{C3FA6FD9-988A-47FC-9381-8D5D7DFA6F8D}" destId="{D633B59B-A287-44E1-BB50-023C97B7B96B}" srcOrd="0" destOrd="0" presId="urn:microsoft.com/office/officeart/2005/8/layout/orgChart1"/>
    <dgm:cxn modelId="{307F7DD2-D022-49F6-9ADD-7F8C26D984A0}" type="presParOf" srcId="{D633B59B-A287-44E1-BB50-023C97B7B96B}" destId="{54E6DE0B-A115-4C4B-9ECA-39D7B4803E21}" srcOrd="0" destOrd="0" presId="urn:microsoft.com/office/officeart/2005/8/layout/orgChart1"/>
    <dgm:cxn modelId="{1241EEE1-DF7F-4C5C-95C5-0378B74485C1}" type="presParOf" srcId="{D633B59B-A287-44E1-BB50-023C97B7B96B}" destId="{3FEC358F-403F-43F7-B429-00DFE52EC071}" srcOrd="1" destOrd="0" presId="urn:microsoft.com/office/officeart/2005/8/layout/orgChart1"/>
    <dgm:cxn modelId="{22A42DDD-4E58-42BE-8EFF-E8419D94152E}" type="presParOf" srcId="{C3FA6FD9-988A-47FC-9381-8D5D7DFA6F8D}" destId="{C5BB6DE9-DFEF-4C65-B67E-ED92C16A0F39}" srcOrd="1" destOrd="0" presId="urn:microsoft.com/office/officeart/2005/8/layout/orgChart1"/>
    <dgm:cxn modelId="{16179F7A-BDD8-4FD7-B163-7E219C072865}" type="presParOf" srcId="{C5BB6DE9-DFEF-4C65-B67E-ED92C16A0F39}" destId="{C9F1AF0F-53C9-40A3-AF22-EC87C191F33C}" srcOrd="0" destOrd="0" presId="urn:microsoft.com/office/officeart/2005/8/layout/orgChart1"/>
    <dgm:cxn modelId="{4A1815D0-75F3-43BD-8F67-54E7890AD659}" type="presParOf" srcId="{C5BB6DE9-DFEF-4C65-B67E-ED92C16A0F39}" destId="{B7E95D27-75C4-42DD-985B-995C56FC555B}" srcOrd="1" destOrd="0" presId="urn:microsoft.com/office/officeart/2005/8/layout/orgChart1"/>
    <dgm:cxn modelId="{2D20FF8D-5317-491C-B3AF-921AFF797155}" type="presParOf" srcId="{B7E95D27-75C4-42DD-985B-995C56FC555B}" destId="{313F1D2A-45A2-46BC-99D0-528764829DD5}" srcOrd="0" destOrd="0" presId="urn:microsoft.com/office/officeart/2005/8/layout/orgChart1"/>
    <dgm:cxn modelId="{EA1B7B03-52DB-440C-81D2-C22D6BB9CCE0}" type="presParOf" srcId="{313F1D2A-45A2-46BC-99D0-528764829DD5}" destId="{99167F55-DA47-411C-BFD1-026E37C932B2}" srcOrd="0" destOrd="0" presId="urn:microsoft.com/office/officeart/2005/8/layout/orgChart1"/>
    <dgm:cxn modelId="{0320C3CB-247F-4EB1-A269-4DEE39FE6085}" type="presParOf" srcId="{313F1D2A-45A2-46BC-99D0-528764829DD5}" destId="{68DB1895-3805-42A5-A488-662D5E55BD5F}" srcOrd="1" destOrd="0" presId="urn:microsoft.com/office/officeart/2005/8/layout/orgChart1"/>
    <dgm:cxn modelId="{9C81B16B-C21B-4DA7-B285-2F1947401ABA}" type="presParOf" srcId="{B7E95D27-75C4-42DD-985B-995C56FC555B}" destId="{038774A0-0F20-4964-A068-600A361AABA7}" srcOrd="1" destOrd="0" presId="urn:microsoft.com/office/officeart/2005/8/layout/orgChart1"/>
    <dgm:cxn modelId="{D10761AC-048E-4D0E-923F-7FC91198F562}" type="presParOf" srcId="{B7E95D27-75C4-42DD-985B-995C56FC555B}" destId="{88D2D43D-F5D5-4E99-A149-8C8C80D11CAF}" srcOrd="2" destOrd="0" presId="urn:microsoft.com/office/officeart/2005/8/layout/orgChart1"/>
    <dgm:cxn modelId="{9209A1FC-6994-4178-B5CF-25E49CF7793D}" type="presParOf" srcId="{C3FA6FD9-988A-47FC-9381-8D5D7DFA6F8D}" destId="{9BF6A0DB-3FFC-474F-8A37-D912AA6EE599}" srcOrd="2" destOrd="0" presId="urn:microsoft.com/office/officeart/2005/8/layout/orgChart1"/>
    <dgm:cxn modelId="{1EAB9D29-66CF-4B65-98A0-235E2133B392}" type="presParOf" srcId="{0CB0C860-EC35-4924-8336-28062A1224E0}" destId="{F7D13483-A2DF-47AC-82C4-181724DE719A}"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8E63C3-F052-B34C-8CA2-C7F83AE5169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GB"/>
        </a:p>
      </dgm:t>
    </dgm:pt>
    <dgm:pt modelId="{B79BF640-BC4E-0641-A467-CDFC80EDA41F}">
      <dgm:prSet/>
      <dgm:spPr/>
      <dgm:t>
        <a:bodyPr/>
        <a:lstStyle/>
        <a:p>
          <a:r>
            <a:rPr lang="en-US" b="1"/>
            <a:t>Comparative </a:t>
          </a:r>
          <a:r>
            <a:rPr lang="en-NZ" b="1"/>
            <a:t>advantage</a:t>
          </a:r>
          <a:r>
            <a:rPr lang="en-NZ"/>
            <a:t>: when someone produces a good at a lower opportunity cost than someone else.</a:t>
          </a:r>
        </a:p>
      </dgm:t>
    </dgm:pt>
    <dgm:pt modelId="{ABF0F0C3-68F6-8E43-A4B7-F0B47AED055D}" type="parTrans" cxnId="{D0EB5726-D820-7849-927C-3E1EC26D4C50}">
      <dgm:prSet/>
      <dgm:spPr/>
      <dgm:t>
        <a:bodyPr/>
        <a:lstStyle/>
        <a:p>
          <a:endParaRPr lang="en-GB"/>
        </a:p>
      </dgm:t>
    </dgm:pt>
    <dgm:pt modelId="{F69B290A-70D2-B942-8511-A42536D5BB34}" type="sibTrans" cxnId="{D0EB5726-D820-7849-927C-3E1EC26D4C50}">
      <dgm:prSet/>
      <dgm:spPr/>
      <dgm:t>
        <a:bodyPr/>
        <a:lstStyle/>
        <a:p>
          <a:endParaRPr lang="en-GB"/>
        </a:p>
      </dgm:t>
    </dgm:pt>
    <dgm:pt modelId="{D209FF2C-D7DC-F246-88AA-C0C063F2D0BB}" type="pres">
      <dgm:prSet presAssocID="{AC8E63C3-F052-B34C-8CA2-C7F83AE51692}" presName="linear" presStyleCnt="0">
        <dgm:presLayoutVars>
          <dgm:animLvl val="lvl"/>
          <dgm:resizeHandles val="exact"/>
        </dgm:presLayoutVars>
      </dgm:prSet>
      <dgm:spPr/>
    </dgm:pt>
    <dgm:pt modelId="{AF9F48D0-923D-0548-96A5-21073C1ED35E}" type="pres">
      <dgm:prSet presAssocID="{B79BF640-BC4E-0641-A467-CDFC80EDA41F}" presName="parentText" presStyleLbl="node1" presStyleIdx="0" presStyleCnt="1">
        <dgm:presLayoutVars>
          <dgm:chMax val="0"/>
          <dgm:bulletEnabled val="1"/>
        </dgm:presLayoutVars>
      </dgm:prSet>
      <dgm:spPr/>
    </dgm:pt>
  </dgm:ptLst>
  <dgm:cxnLst>
    <dgm:cxn modelId="{6B709E1E-6444-A249-B085-6FCBA73C6F8B}" type="presOf" srcId="{AC8E63C3-F052-B34C-8CA2-C7F83AE51692}" destId="{D209FF2C-D7DC-F246-88AA-C0C063F2D0BB}" srcOrd="0" destOrd="0" presId="urn:microsoft.com/office/officeart/2005/8/layout/vList2"/>
    <dgm:cxn modelId="{52F6ED1F-A9EF-2A4E-8073-10BC1A070DA9}" type="presOf" srcId="{B79BF640-BC4E-0641-A467-CDFC80EDA41F}" destId="{AF9F48D0-923D-0548-96A5-21073C1ED35E}" srcOrd="0" destOrd="0" presId="urn:microsoft.com/office/officeart/2005/8/layout/vList2"/>
    <dgm:cxn modelId="{D0EB5726-D820-7849-927C-3E1EC26D4C50}" srcId="{AC8E63C3-F052-B34C-8CA2-C7F83AE51692}" destId="{B79BF640-BC4E-0641-A467-CDFC80EDA41F}" srcOrd="0" destOrd="0" parTransId="{ABF0F0C3-68F6-8E43-A4B7-F0B47AED055D}" sibTransId="{F69B290A-70D2-B942-8511-A42536D5BB34}"/>
    <dgm:cxn modelId="{F28D2667-2008-964B-BF4F-F530C891A82F}" type="presParOf" srcId="{D209FF2C-D7DC-F246-88AA-C0C063F2D0BB}" destId="{AF9F48D0-923D-0548-96A5-21073C1ED35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8A75EB9-8C62-2D41-A130-B73DB0D2DAFB}" type="doc">
      <dgm:prSet loTypeId="urn:microsoft.com/office/officeart/2005/8/layout/process1" loCatId="list" qsTypeId="urn:microsoft.com/office/officeart/2005/8/quickstyle/simple2" qsCatId="simple" csTypeId="urn:microsoft.com/office/officeart/2005/8/colors/accent1_2" csCatId="accent1"/>
      <dgm:spPr/>
      <dgm:t>
        <a:bodyPr/>
        <a:lstStyle/>
        <a:p>
          <a:endParaRPr lang="en-GB"/>
        </a:p>
      </dgm:t>
    </dgm:pt>
    <dgm:pt modelId="{5446992C-2750-1943-A728-226980E52192}">
      <dgm:prSet/>
      <dgm:spPr/>
      <dgm:t>
        <a:bodyPr/>
        <a:lstStyle/>
        <a:p>
          <a:r>
            <a:rPr lang="en-NZ" dirty="0"/>
            <a:t>Comparing the total outputs, the loss (in apples) is 10,000. The gain (in wheat) is 4,000. </a:t>
          </a:r>
        </a:p>
      </dgm:t>
    </dgm:pt>
    <dgm:pt modelId="{F1717556-798A-D84F-B298-748E63066BDB}" type="parTrans" cxnId="{40EC1F95-AD73-2E41-A46C-05F86A644466}">
      <dgm:prSet/>
      <dgm:spPr/>
      <dgm:t>
        <a:bodyPr/>
        <a:lstStyle/>
        <a:p>
          <a:endParaRPr lang="en-GB"/>
        </a:p>
      </dgm:t>
    </dgm:pt>
    <dgm:pt modelId="{C561C884-3E31-F144-B978-D45C048EB77C}" type="sibTrans" cxnId="{40EC1F95-AD73-2E41-A46C-05F86A644466}">
      <dgm:prSet/>
      <dgm:spPr/>
      <dgm:t>
        <a:bodyPr/>
        <a:lstStyle/>
        <a:p>
          <a:endParaRPr lang="en-GB"/>
        </a:p>
      </dgm:t>
    </dgm:pt>
    <dgm:pt modelId="{392832F8-5994-614F-ACA6-A0F4DDE42209}">
      <dgm:prSet/>
      <dgm:spPr/>
      <dgm:t>
        <a:bodyPr/>
        <a:lstStyle/>
        <a:p>
          <a:r>
            <a:rPr lang="en-NZ"/>
            <a:t>10,000/4,000 = 2.5</a:t>
          </a:r>
        </a:p>
      </dgm:t>
    </dgm:pt>
    <dgm:pt modelId="{F315FEFA-23DE-E24E-8DC3-2FB15E7E3187}" type="parTrans" cxnId="{622B2911-A112-4249-9031-31181A6AF638}">
      <dgm:prSet/>
      <dgm:spPr/>
      <dgm:t>
        <a:bodyPr/>
        <a:lstStyle/>
        <a:p>
          <a:endParaRPr lang="en-GB"/>
        </a:p>
      </dgm:t>
    </dgm:pt>
    <dgm:pt modelId="{EF446BB7-0124-B94E-9857-DBE36F6CE8B0}" type="sibTrans" cxnId="{622B2911-A112-4249-9031-31181A6AF638}">
      <dgm:prSet/>
      <dgm:spPr/>
      <dgm:t>
        <a:bodyPr/>
        <a:lstStyle/>
        <a:p>
          <a:endParaRPr lang="en-GB"/>
        </a:p>
      </dgm:t>
    </dgm:pt>
    <dgm:pt modelId="{ECB5901F-5699-CE40-93A7-0965813A56F0}">
      <dgm:prSet/>
      <dgm:spPr/>
      <dgm:t>
        <a:bodyPr/>
        <a:lstStyle/>
        <a:p>
          <a:r>
            <a:rPr lang="en-NZ"/>
            <a:t>Carlos’ opportunity cost of 1 tonne wheat = 2.5 apples</a:t>
          </a:r>
        </a:p>
      </dgm:t>
    </dgm:pt>
    <dgm:pt modelId="{3D9F0D5D-56C7-394F-98D7-974F1767717D}" type="parTrans" cxnId="{E30103B2-C990-F04F-A302-D59463867964}">
      <dgm:prSet/>
      <dgm:spPr/>
      <dgm:t>
        <a:bodyPr/>
        <a:lstStyle/>
        <a:p>
          <a:endParaRPr lang="en-GB"/>
        </a:p>
      </dgm:t>
    </dgm:pt>
    <dgm:pt modelId="{F6940814-587E-1B4E-95FB-5999A255BEAF}" type="sibTrans" cxnId="{E30103B2-C990-F04F-A302-D59463867964}">
      <dgm:prSet/>
      <dgm:spPr/>
      <dgm:t>
        <a:bodyPr/>
        <a:lstStyle/>
        <a:p>
          <a:endParaRPr lang="en-GB"/>
        </a:p>
      </dgm:t>
    </dgm:pt>
    <dgm:pt modelId="{40453D75-4D5B-4756-8DA0-5877460A37E0}" type="pres">
      <dgm:prSet presAssocID="{E8A75EB9-8C62-2D41-A130-B73DB0D2DAFB}" presName="Name0" presStyleCnt="0">
        <dgm:presLayoutVars>
          <dgm:dir/>
          <dgm:resizeHandles val="exact"/>
        </dgm:presLayoutVars>
      </dgm:prSet>
      <dgm:spPr/>
    </dgm:pt>
    <dgm:pt modelId="{D8680D28-F256-4361-813D-31219E848E3F}" type="pres">
      <dgm:prSet presAssocID="{5446992C-2750-1943-A728-226980E52192}" presName="node" presStyleLbl="node1" presStyleIdx="0" presStyleCnt="3">
        <dgm:presLayoutVars>
          <dgm:bulletEnabled val="1"/>
        </dgm:presLayoutVars>
      </dgm:prSet>
      <dgm:spPr/>
    </dgm:pt>
    <dgm:pt modelId="{5BCB9750-D98F-4960-A397-A3B74687B2C1}" type="pres">
      <dgm:prSet presAssocID="{C561C884-3E31-F144-B978-D45C048EB77C}" presName="sibTrans" presStyleLbl="sibTrans2D1" presStyleIdx="0" presStyleCnt="2"/>
      <dgm:spPr/>
    </dgm:pt>
    <dgm:pt modelId="{21417D91-EFFF-49CC-960D-14E38A594A9B}" type="pres">
      <dgm:prSet presAssocID="{C561C884-3E31-F144-B978-D45C048EB77C}" presName="connectorText" presStyleLbl="sibTrans2D1" presStyleIdx="0" presStyleCnt="2"/>
      <dgm:spPr/>
    </dgm:pt>
    <dgm:pt modelId="{1226C67F-7D28-45B8-9ADC-4AEBB2DAF0BC}" type="pres">
      <dgm:prSet presAssocID="{392832F8-5994-614F-ACA6-A0F4DDE42209}" presName="node" presStyleLbl="node1" presStyleIdx="1" presStyleCnt="3">
        <dgm:presLayoutVars>
          <dgm:bulletEnabled val="1"/>
        </dgm:presLayoutVars>
      </dgm:prSet>
      <dgm:spPr/>
    </dgm:pt>
    <dgm:pt modelId="{B36C6449-2BFD-4664-A1D1-24D286D32E09}" type="pres">
      <dgm:prSet presAssocID="{EF446BB7-0124-B94E-9857-DBE36F6CE8B0}" presName="sibTrans" presStyleLbl="sibTrans2D1" presStyleIdx="1" presStyleCnt="2"/>
      <dgm:spPr/>
    </dgm:pt>
    <dgm:pt modelId="{DFA2E0BB-C1C7-49A1-918E-12C6EC57AD23}" type="pres">
      <dgm:prSet presAssocID="{EF446BB7-0124-B94E-9857-DBE36F6CE8B0}" presName="connectorText" presStyleLbl="sibTrans2D1" presStyleIdx="1" presStyleCnt="2"/>
      <dgm:spPr/>
    </dgm:pt>
    <dgm:pt modelId="{EFB23D6B-AE37-43AF-9F13-46336D6651DF}" type="pres">
      <dgm:prSet presAssocID="{ECB5901F-5699-CE40-93A7-0965813A56F0}" presName="node" presStyleLbl="node1" presStyleIdx="2" presStyleCnt="3">
        <dgm:presLayoutVars>
          <dgm:bulletEnabled val="1"/>
        </dgm:presLayoutVars>
      </dgm:prSet>
      <dgm:spPr/>
    </dgm:pt>
  </dgm:ptLst>
  <dgm:cxnLst>
    <dgm:cxn modelId="{DB2C1607-95E0-4E59-933C-7456859BEC37}" type="presOf" srcId="{392832F8-5994-614F-ACA6-A0F4DDE42209}" destId="{1226C67F-7D28-45B8-9ADC-4AEBB2DAF0BC}" srcOrd="0" destOrd="0" presId="urn:microsoft.com/office/officeart/2005/8/layout/process1"/>
    <dgm:cxn modelId="{622B2911-A112-4249-9031-31181A6AF638}" srcId="{E8A75EB9-8C62-2D41-A130-B73DB0D2DAFB}" destId="{392832F8-5994-614F-ACA6-A0F4DDE42209}" srcOrd="1" destOrd="0" parTransId="{F315FEFA-23DE-E24E-8DC3-2FB15E7E3187}" sibTransId="{EF446BB7-0124-B94E-9857-DBE36F6CE8B0}"/>
    <dgm:cxn modelId="{AB598D11-29F8-4EB5-BB09-0DE3FFBC9F81}" type="presOf" srcId="{C561C884-3E31-F144-B978-D45C048EB77C}" destId="{5BCB9750-D98F-4960-A397-A3B74687B2C1}" srcOrd="0" destOrd="0" presId="urn:microsoft.com/office/officeart/2005/8/layout/process1"/>
    <dgm:cxn modelId="{83885215-D4D3-4449-8580-EBB8477ABD4D}" type="presOf" srcId="{EF446BB7-0124-B94E-9857-DBE36F6CE8B0}" destId="{B36C6449-2BFD-4664-A1D1-24D286D32E09}" srcOrd="0" destOrd="0" presId="urn:microsoft.com/office/officeart/2005/8/layout/process1"/>
    <dgm:cxn modelId="{AF92D81B-5321-4FC5-81EE-AE5E90ECD867}" type="presOf" srcId="{EF446BB7-0124-B94E-9857-DBE36F6CE8B0}" destId="{DFA2E0BB-C1C7-49A1-918E-12C6EC57AD23}" srcOrd="1" destOrd="0" presId="urn:microsoft.com/office/officeart/2005/8/layout/process1"/>
    <dgm:cxn modelId="{44105668-5B46-4BA2-9A42-DDC41709CF5C}" type="presOf" srcId="{E8A75EB9-8C62-2D41-A130-B73DB0D2DAFB}" destId="{40453D75-4D5B-4756-8DA0-5877460A37E0}" srcOrd="0" destOrd="0" presId="urn:microsoft.com/office/officeart/2005/8/layout/process1"/>
    <dgm:cxn modelId="{6887477D-B39A-4CDC-A424-EE5193B2608D}" type="presOf" srcId="{ECB5901F-5699-CE40-93A7-0965813A56F0}" destId="{EFB23D6B-AE37-43AF-9F13-46336D6651DF}" srcOrd="0" destOrd="0" presId="urn:microsoft.com/office/officeart/2005/8/layout/process1"/>
    <dgm:cxn modelId="{40EC1F95-AD73-2E41-A46C-05F86A644466}" srcId="{E8A75EB9-8C62-2D41-A130-B73DB0D2DAFB}" destId="{5446992C-2750-1943-A728-226980E52192}" srcOrd="0" destOrd="0" parTransId="{F1717556-798A-D84F-B298-748E63066BDB}" sibTransId="{C561C884-3E31-F144-B978-D45C048EB77C}"/>
    <dgm:cxn modelId="{E30103B2-C990-F04F-A302-D59463867964}" srcId="{E8A75EB9-8C62-2D41-A130-B73DB0D2DAFB}" destId="{ECB5901F-5699-CE40-93A7-0965813A56F0}" srcOrd="2" destOrd="0" parTransId="{3D9F0D5D-56C7-394F-98D7-974F1767717D}" sibTransId="{F6940814-587E-1B4E-95FB-5999A255BEAF}"/>
    <dgm:cxn modelId="{8DC463BF-C289-43A7-A4FB-2B7DAE31501E}" type="presOf" srcId="{C561C884-3E31-F144-B978-D45C048EB77C}" destId="{21417D91-EFFF-49CC-960D-14E38A594A9B}" srcOrd="1" destOrd="0" presId="urn:microsoft.com/office/officeart/2005/8/layout/process1"/>
    <dgm:cxn modelId="{89E7DFCD-2D5D-49B0-989D-5353C7607218}" type="presOf" srcId="{5446992C-2750-1943-A728-226980E52192}" destId="{D8680D28-F256-4361-813D-31219E848E3F}" srcOrd="0" destOrd="0" presId="urn:microsoft.com/office/officeart/2005/8/layout/process1"/>
    <dgm:cxn modelId="{3813610E-9A95-484A-A350-C6728ED7E6FF}" type="presParOf" srcId="{40453D75-4D5B-4756-8DA0-5877460A37E0}" destId="{D8680D28-F256-4361-813D-31219E848E3F}" srcOrd="0" destOrd="0" presId="urn:microsoft.com/office/officeart/2005/8/layout/process1"/>
    <dgm:cxn modelId="{71BE5309-1F00-490B-9E21-59C91D755847}" type="presParOf" srcId="{40453D75-4D5B-4756-8DA0-5877460A37E0}" destId="{5BCB9750-D98F-4960-A397-A3B74687B2C1}" srcOrd="1" destOrd="0" presId="urn:microsoft.com/office/officeart/2005/8/layout/process1"/>
    <dgm:cxn modelId="{D6F83D4E-603C-4971-8BD2-39646472C370}" type="presParOf" srcId="{5BCB9750-D98F-4960-A397-A3B74687B2C1}" destId="{21417D91-EFFF-49CC-960D-14E38A594A9B}" srcOrd="0" destOrd="0" presId="urn:microsoft.com/office/officeart/2005/8/layout/process1"/>
    <dgm:cxn modelId="{25CAD3CA-CEF6-4C40-81F6-BEEB48D81096}" type="presParOf" srcId="{40453D75-4D5B-4756-8DA0-5877460A37E0}" destId="{1226C67F-7D28-45B8-9ADC-4AEBB2DAF0BC}" srcOrd="2" destOrd="0" presId="urn:microsoft.com/office/officeart/2005/8/layout/process1"/>
    <dgm:cxn modelId="{051A3E1D-5E37-4C63-B064-131540F85219}" type="presParOf" srcId="{40453D75-4D5B-4756-8DA0-5877460A37E0}" destId="{B36C6449-2BFD-4664-A1D1-24D286D32E09}" srcOrd="3" destOrd="0" presId="urn:microsoft.com/office/officeart/2005/8/layout/process1"/>
    <dgm:cxn modelId="{3DA6FC77-D70A-4447-ABDD-79C46B283DC2}" type="presParOf" srcId="{B36C6449-2BFD-4664-A1D1-24D286D32E09}" destId="{DFA2E0BB-C1C7-49A1-918E-12C6EC57AD23}" srcOrd="0" destOrd="0" presId="urn:microsoft.com/office/officeart/2005/8/layout/process1"/>
    <dgm:cxn modelId="{BC1C1695-8F84-45AA-A879-4ECBA97EFBCD}" type="presParOf" srcId="{40453D75-4D5B-4756-8DA0-5877460A37E0}" destId="{EFB23D6B-AE37-43AF-9F13-46336D6651DF}"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8EBB1E3-FE4D-1F45-BA1C-0DC2D7D486C7}" type="doc">
      <dgm:prSet loTypeId="urn:microsoft.com/office/officeart/2005/8/layout/hierarchy2" loCatId="list" qsTypeId="urn:microsoft.com/office/officeart/2005/8/quickstyle/simple1" qsCatId="simple" csTypeId="urn:microsoft.com/office/officeart/2005/8/colors/accent1_2" csCatId="accent1" phldr="1"/>
      <dgm:spPr/>
      <dgm:t>
        <a:bodyPr/>
        <a:lstStyle/>
        <a:p>
          <a:endParaRPr lang="en-GB"/>
        </a:p>
      </dgm:t>
    </dgm:pt>
    <dgm:pt modelId="{FE51CE53-9307-854F-BC4C-0E974FBBD4B4}">
      <dgm:prSet/>
      <dgm:spPr/>
      <dgm:t>
        <a:bodyPr/>
        <a:lstStyle/>
        <a:p>
          <a:r>
            <a:rPr lang="en-NZ"/>
            <a:t>Comparing Greta’s total outputs gives us 12,500 apples (loss) over 10,000 wheat (gain)</a:t>
          </a:r>
        </a:p>
      </dgm:t>
    </dgm:pt>
    <dgm:pt modelId="{4AA89F2E-DE24-E442-8D38-84D9E1637681}" type="parTrans" cxnId="{DBE8D995-B138-CE44-9EBE-1A304936AAF3}">
      <dgm:prSet/>
      <dgm:spPr/>
      <dgm:t>
        <a:bodyPr/>
        <a:lstStyle/>
        <a:p>
          <a:endParaRPr lang="en-GB"/>
        </a:p>
      </dgm:t>
    </dgm:pt>
    <dgm:pt modelId="{315F37A3-2ADB-3D41-901B-101435C4E39E}" type="sibTrans" cxnId="{DBE8D995-B138-CE44-9EBE-1A304936AAF3}">
      <dgm:prSet/>
      <dgm:spPr/>
      <dgm:t>
        <a:bodyPr/>
        <a:lstStyle/>
        <a:p>
          <a:endParaRPr lang="en-GB"/>
        </a:p>
      </dgm:t>
    </dgm:pt>
    <dgm:pt modelId="{A3F44615-75E5-0A4A-9A07-E425F9F967D5}">
      <dgm:prSet/>
      <dgm:spPr/>
      <dgm:t>
        <a:bodyPr/>
        <a:lstStyle/>
        <a:p>
          <a:r>
            <a:rPr lang="en-NZ"/>
            <a:t>12,500/10,000 = 1.25</a:t>
          </a:r>
        </a:p>
      </dgm:t>
    </dgm:pt>
    <dgm:pt modelId="{743E019B-0547-9C4F-8B90-F535739F651F}" type="parTrans" cxnId="{8193F886-B2BC-9842-9053-BA27344C3CD2}">
      <dgm:prSet/>
      <dgm:spPr/>
      <dgm:t>
        <a:bodyPr/>
        <a:lstStyle/>
        <a:p>
          <a:endParaRPr lang="en-GB"/>
        </a:p>
      </dgm:t>
    </dgm:pt>
    <dgm:pt modelId="{3AAEA2DE-8E98-B845-93E8-57DA82DAB6D3}" type="sibTrans" cxnId="{8193F886-B2BC-9842-9053-BA27344C3CD2}">
      <dgm:prSet/>
      <dgm:spPr/>
      <dgm:t>
        <a:bodyPr/>
        <a:lstStyle/>
        <a:p>
          <a:endParaRPr lang="en-GB"/>
        </a:p>
      </dgm:t>
    </dgm:pt>
    <dgm:pt modelId="{B45E4BB2-BE61-1143-AE5F-A82F89F022E7}">
      <dgm:prSet/>
      <dgm:spPr/>
      <dgm:t>
        <a:bodyPr/>
        <a:lstStyle/>
        <a:p>
          <a:r>
            <a:rPr lang="en-NZ"/>
            <a:t>Greta’s opportunity cost of 1 tonne wheat = 1.25 apples</a:t>
          </a:r>
        </a:p>
      </dgm:t>
    </dgm:pt>
    <dgm:pt modelId="{F12B64CC-08B6-224F-B3E2-569FBC4D44DD}" type="parTrans" cxnId="{337B4F57-7E4E-BB4C-9D37-CED24E1BF518}">
      <dgm:prSet/>
      <dgm:spPr/>
      <dgm:t>
        <a:bodyPr/>
        <a:lstStyle/>
        <a:p>
          <a:endParaRPr lang="en-GB"/>
        </a:p>
      </dgm:t>
    </dgm:pt>
    <dgm:pt modelId="{C21DF3DD-44A0-3A4D-AB77-96E5E7693C6F}" type="sibTrans" cxnId="{337B4F57-7E4E-BB4C-9D37-CED24E1BF518}">
      <dgm:prSet/>
      <dgm:spPr/>
      <dgm:t>
        <a:bodyPr/>
        <a:lstStyle/>
        <a:p>
          <a:endParaRPr lang="en-GB"/>
        </a:p>
      </dgm:t>
    </dgm:pt>
    <dgm:pt modelId="{F6997A62-984A-0A4B-AD1F-4F4405AEFF77}">
      <dgm:prSet/>
      <dgm:spPr/>
      <dgm:t>
        <a:bodyPr/>
        <a:lstStyle/>
        <a:p>
          <a:r>
            <a:rPr lang="en-NZ"/>
            <a:t>Greta has the lowest opportunity cost of producing wheat so the comparative advantage</a:t>
          </a:r>
        </a:p>
      </dgm:t>
    </dgm:pt>
    <dgm:pt modelId="{4FBDABDA-65E8-9544-9C67-5650EA8EF718}" type="parTrans" cxnId="{4AB7E7CF-3492-5644-A93F-034F09AE2067}">
      <dgm:prSet/>
      <dgm:spPr/>
      <dgm:t>
        <a:bodyPr/>
        <a:lstStyle/>
        <a:p>
          <a:endParaRPr lang="en-GB"/>
        </a:p>
      </dgm:t>
    </dgm:pt>
    <dgm:pt modelId="{D52283E3-6E58-A64E-A978-BC4C60A56043}" type="sibTrans" cxnId="{4AB7E7CF-3492-5644-A93F-034F09AE2067}">
      <dgm:prSet/>
      <dgm:spPr/>
      <dgm:t>
        <a:bodyPr/>
        <a:lstStyle/>
        <a:p>
          <a:endParaRPr lang="en-GB"/>
        </a:p>
      </dgm:t>
    </dgm:pt>
    <dgm:pt modelId="{B90011B5-2BC7-E94C-8C78-FEB1475EDDC8}" type="pres">
      <dgm:prSet presAssocID="{B8EBB1E3-FE4D-1F45-BA1C-0DC2D7D486C7}" presName="diagram" presStyleCnt="0">
        <dgm:presLayoutVars>
          <dgm:chPref val="1"/>
          <dgm:dir/>
          <dgm:animOne val="branch"/>
          <dgm:animLvl val="lvl"/>
          <dgm:resizeHandles val="exact"/>
        </dgm:presLayoutVars>
      </dgm:prSet>
      <dgm:spPr/>
    </dgm:pt>
    <dgm:pt modelId="{65A07E17-7470-2B4C-85DC-9ED980444625}" type="pres">
      <dgm:prSet presAssocID="{FE51CE53-9307-854F-BC4C-0E974FBBD4B4}" presName="root1" presStyleCnt="0"/>
      <dgm:spPr/>
    </dgm:pt>
    <dgm:pt modelId="{3639449B-C51D-164A-854C-39D0EA876657}" type="pres">
      <dgm:prSet presAssocID="{FE51CE53-9307-854F-BC4C-0E974FBBD4B4}" presName="LevelOneTextNode" presStyleLbl="node0" presStyleIdx="0" presStyleCnt="1">
        <dgm:presLayoutVars>
          <dgm:chPref val="3"/>
        </dgm:presLayoutVars>
      </dgm:prSet>
      <dgm:spPr/>
    </dgm:pt>
    <dgm:pt modelId="{38FDACB2-3ECF-C84E-8FA2-2C4D5F1F2BA8}" type="pres">
      <dgm:prSet presAssocID="{FE51CE53-9307-854F-BC4C-0E974FBBD4B4}" presName="level2hierChild" presStyleCnt="0"/>
      <dgm:spPr/>
    </dgm:pt>
    <dgm:pt modelId="{5E4A6BE2-2575-8E44-B268-F97268887EEA}" type="pres">
      <dgm:prSet presAssocID="{743E019B-0547-9C4F-8B90-F535739F651F}" presName="conn2-1" presStyleLbl="parChTrans1D2" presStyleIdx="0" presStyleCnt="2"/>
      <dgm:spPr/>
    </dgm:pt>
    <dgm:pt modelId="{B5797A3A-9764-8647-90D6-90B80140E070}" type="pres">
      <dgm:prSet presAssocID="{743E019B-0547-9C4F-8B90-F535739F651F}" presName="connTx" presStyleLbl="parChTrans1D2" presStyleIdx="0" presStyleCnt="2"/>
      <dgm:spPr/>
    </dgm:pt>
    <dgm:pt modelId="{C81C02B5-0C7B-7343-BE14-DC6F0BC72208}" type="pres">
      <dgm:prSet presAssocID="{A3F44615-75E5-0A4A-9A07-E425F9F967D5}" presName="root2" presStyleCnt="0"/>
      <dgm:spPr/>
    </dgm:pt>
    <dgm:pt modelId="{C2BD9FB1-6D4A-F242-8214-9322B3E14B2D}" type="pres">
      <dgm:prSet presAssocID="{A3F44615-75E5-0A4A-9A07-E425F9F967D5}" presName="LevelTwoTextNode" presStyleLbl="node2" presStyleIdx="0" presStyleCnt="2">
        <dgm:presLayoutVars>
          <dgm:chPref val="3"/>
        </dgm:presLayoutVars>
      </dgm:prSet>
      <dgm:spPr/>
    </dgm:pt>
    <dgm:pt modelId="{AF262EDE-464E-7A41-A1F1-3490EBF5ABE7}" type="pres">
      <dgm:prSet presAssocID="{A3F44615-75E5-0A4A-9A07-E425F9F967D5}" presName="level3hierChild" presStyleCnt="0"/>
      <dgm:spPr/>
    </dgm:pt>
    <dgm:pt modelId="{BE35BFD8-B45E-0347-8EFC-F5EBD4A7F00E}" type="pres">
      <dgm:prSet presAssocID="{F12B64CC-08B6-224F-B3E2-569FBC4D44DD}" presName="conn2-1" presStyleLbl="parChTrans1D2" presStyleIdx="1" presStyleCnt="2"/>
      <dgm:spPr/>
    </dgm:pt>
    <dgm:pt modelId="{90EF7A1A-78A8-3940-B2BF-ED9147673162}" type="pres">
      <dgm:prSet presAssocID="{F12B64CC-08B6-224F-B3E2-569FBC4D44DD}" presName="connTx" presStyleLbl="parChTrans1D2" presStyleIdx="1" presStyleCnt="2"/>
      <dgm:spPr/>
    </dgm:pt>
    <dgm:pt modelId="{BAC96E44-B8B6-754F-B4D4-259B39917C88}" type="pres">
      <dgm:prSet presAssocID="{B45E4BB2-BE61-1143-AE5F-A82F89F022E7}" presName="root2" presStyleCnt="0"/>
      <dgm:spPr/>
    </dgm:pt>
    <dgm:pt modelId="{107C90EA-0FE2-0C43-94F2-B61BC80ACD7B}" type="pres">
      <dgm:prSet presAssocID="{B45E4BB2-BE61-1143-AE5F-A82F89F022E7}" presName="LevelTwoTextNode" presStyleLbl="node2" presStyleIdx="1" presStyleCnt="2">
        <dgm:presLayoutVars>
          <dgm:chPref val="3"/>
        </dgm:presLayoutVars>
      </dgm:prSet>
      <dgm:spPr/>
    </dgm:pt>
    <dgm:pt modelId="{CE793788-8612-7A48-80D8-E6C972BA408D}" type="pres">
      <dgm:prSet presAssocID="{B45E4BB2-BE61-1143-AE5F-A82F89F022E7}" presName="level3hierChild" presStyleCnt="0"/>
      <dgm:spPr/>
    </dgm:pt>
    <dgm:pt modelId="{5B9E0BEC-8B64-EB46-9A5C-46A048055B90}" type="pres">
      <dgm:prSet presAssocID="{4FBDABDA-65E8-9544-9C67-5650EA8EF718}" presName="conn2-1" presStyleLbl="parChTrans1D3" presStyleIdx="0" presStyleCnt="1"/>
      <dgm:spPr/>
    </dgm:pt>
    <dgm:pt modelId="{9320F3F7-C096-E443-87D1-AF5B82AB2C97}" type="pres">
      <dgm:prSet presAssocID="{4FBDABDA-65E8-9544-9C67-5650EA8EF718}" presName="connTx" presStyleLbl="parChTrans1D3" presStyleIdx="0" presStyleCnt="1"/>
      <dgm:spPr/>
    </dgm:pt>
    <dgm:pt modelId="{6D96792A-418D-634A-8C12-6686E3055D6E}" type="pres">
      <dgm:prSet presAssocID="{F6997A62-984A-0A4B-AD1F-4F4405AEFF77}" presName="root2" presStyleCnt="0"/>
      <dgm:spPr/>
    </dgm:pt>
    <dgm:pt modelId="{D9BA02B9-EDDC-724E-BC07-5E8DFC287708}" type="pres">
      <dgm:prSet presAssocID="{F6997A62-984A-0A4B-AD1F-4F4405AEFF77}" presName="LevelTwoTextNode" presStyleLbl="node3" presStyleIdx="0" presStyleCnt="1">
        <dgm:presLayoutVars>
          <dgm:chPref val="3"/>
        </dgm:presLayoutVars>
      </dgm:prSet>
      <dgm:spPr/>
    </dgm:pt>
    <dgm:pt modelId="{B43F4E1C-38C5-A948-9BE5-0C2F52E0ACB5}" type="pres">
      <dgm:prSet presAssocID="{F6997A62-984A-0A4B-AD1F-4F4405AEFF77}" presName="level3hierChild" presStyleCnt="0"/>
      <dgm:spPr/>
    </dgm:pt>
  </dgm:ptLst>
  <dgm:cxnLst>
    <dgm:cxn modelId="{D63AFF29-B182-B541-89BC-281A4DFD8CC0}" type="presOf" srcId="{743E019B-0547-9C4F-8B90-F535739F651F}" destId="{5E4A6BE2-2575-8E44-B268-F97268887EEA}" srcOrd="0" destOrd="0" presId="urn:microsoft.com/office/officeart/2005/8/layout/hierarchy2"/>
    <dgm:cxn modelId="{E2304C44-A07C-E441-96FA-A5D7896230D2}" type="presOf" srcId="{4FBDABDA-65E8-9544-9C67-5650EA8EF718}" destId="{5B9E0BEC-8B64-EB46-9A5C-46A048055B90}" srcOrd="0" destOrd="0" presId="urn:microsoft.com/office/officeart/2005/8/layout/hierarchy2"/>
    <dgm:cxn modelId="{3B965A51-0392-0E40-8EF6-0A0B13B89927}" type="presOf" srcId="{B45E4BB2-BE61-1143-AE5F-A82F89F022E7}" destId="{107C90EA-0FE2-0C43-94F2-B61BC80ACD7B}" srcOrd="0" destOrd="0" presId="urn:microsoft.com/office/officeart/2005/8/layout/hierarchy2"/>
    <dgm:cxn modelId="{5F97F954-FF24-7442-8B89-C4207691EC5D}" type="presOf" srcId="{4FBDABDA-65E8-9544-9C67-5650EA8EF718}" destId="{9320F3F7-C096-E443-87D1-AF5B82AB2C97}" srcOrd="1" destOrd="0" presId="urn:microsoft.com/office/officeart/2005/8/layout/hierarchy2"/>
    <dgm:cxn modelId="{337B4F57-7E4E-BB4C-9D37-CED24E1BF518}" srcId="{FE51CE53-9307-854F-BC4C-0E974FBBD4B4}" destId="{B45E4BB2-BE61-1143-AE5F-A82F89F022E7}" srcOrd="1" destOrd="0" parTransId="{F12B64CC-08B6-224F-B3E2-569FBC4D44DD}" sibTransId="{C21DF3DD-44A0-3A4D-AB77-96E5E7693C6F}"/>
    <dgm:cxn modelId="{CE33F884-7698-8E4C-8B41-DA3AA5A3B64D}" type="presOf" srcId="{F12B64CC-08B6-224F-B3E2-569FBC4D44DD}" destId="{90EF7A1A-78A8-3940-B2BF-ED9147673162}" srcOrd="1" destOrd="0" presId="urn:microsoft.com/office/officeart/2005/8/layout/hierarchy2"/>
    <dgm:cxn modelId="{8193F886-B2BC-9842-9053-BA27344C3CD2}" srcId="{FE51CE53-9307-854F-BC4C-0E974FBBD4B4}" destId="{A3F44615-75E5-0A4A-9A07-E425F9F967D5}" srcOrd="0" destOrd="0" parTransId="{743E019B-0547-9C4F-8B90-F535739F651F}" sibTransId="{3AAEA2DE-8E98-B845-93E8-57DA82DAB6D3}"/>
    <dgm:cxn modelId="{DBE8D995-B138-CE44-9EBE-1A304936AAF3}" srcId="{B8EBB1E3-FE4D-1F45-BA1C-0DC2D7D486C7}" destId="{FE51CE53-9307-854F-BC4C-0E974FBBD4B4}" srcOrd="0" destOrd="0" parTransId="{4AA89F2E-DE24-E442-8D38-84D9E1637681}" sibTransId="{315F37A3-2ADB-3D41-901B-101435C4E39E}"/>
    <dgm:cxn modelId="{FBF2B1AA-B7DB-7542-B819-2B428B73E65C}" type="presOf" srcId="{B8EBB1E3-FE4D-1F45-BA1C-0DC2D7D486C7}" destId="{B90011B5-2BC7-E94C-8C78-FEB1475EDDC8}" srcOrd="0" destOrd="0" presId="urn:microsoft.com/office/officeart/2005/8/layout/hierarchy2"/>
    <dgm:cxn modelId="{1C509EB3-A8BD-9A4F-8EF8-26EE22B30E09}" type="presOf" srcId="{F12B64CC-08B6-224F-B3E2-569FBC4D44DD}" destId="{BE35BFD8-B45E-0347-8EFC-F5EBD4A7F00E}" srcOrd="0" destOrd="0" presId="urn:microsoft.com/office/officeart/2005/8/layout/hierarchy2"/>
    <dgm:cxn modelId="{396761BD-4B73-5945-B7DD-16C98921D03E}" type="presOf" srcId="{FE51CE53-9307-854F-BC4C-0E974FBBD4B4}" destId="{3639449B-C51D-164A-854C-39D0EA876657}" srcOrd="0" destOrd="0" presId="urn:microsoft.com/office/officeart/2005/8/layout/hierarchy2"/>
    <dgm:cxn modelId="{503691C7-D509-8944-9E81-FF588BE78970}" type="presOf" srcId="{F6997A62-984A-0A4B-AD1F-4F4405AEFF77}" destId="{D9BA02B9-EDDC-724E-BC07-5E8DFC287708}" srcOrd="0" destOrd="0" presId="urn:microsoft.com/office/officeart/2005/8/layout/hierarchy2"/>
    <dgm:cxn modelId="{4AB7E7CF-3492-5644-A93F-034F09AE2067}" srcId="{B45E4BB2-BE61-1143-AE5F-A82F89F022E7}" destId="{F6997A62-984A-0A4B-AD1F-4F4405AEFF77}" srcOrd="0" destOrd="0" parTransId="{4FBDABDA-65E8-9544-9C67-5650EA8EF718}" sibTransId="{D52283E3-6E58-A64E-A978-BC4C60A56043}"/>
    <dgm:cxn modelId="{BFA19FD8-A3CA-9846-8D8E-525D7A9CFA5B}" type="presOf" srcId="{743E019B-0547-9C4F-8B90-F535739F651F}" destId="{B5797A3A-9764-8647-90D6-90B80140E070}" srcOrd="1" destOrd="0" presId="urn:microsoft.com/office/officeart/2005/8/layout/hierarchy2"/>
    <dgm:cxn modelId="{0A321DED-CBA2-A341-9E3E-ABA337A9E5EC}" type="presOf" srcId="{A3F44615-75E5-0A4A-9A07-E425F9F967D5}" destId="{C2BD9FB1-6D4A-F242-8214-9322B3E14B2D}" srcOrd="0" destOrd="0" presId="urn:microsoft.com/office/officeart/2005/8/layout/hierarchy2"/>
    <dgm:cxn modelId="{767431CC-22A4-384D-870E-0773293275FC}" type="presParOf" srcId="{B90011B5-2BC7-E94C-8C78-FEB1475EDDC8}" destId="{65A07E17-7470-2B4C-85DC-9ED980444625}" srcOrd="0" destOrd="0" presId="urn:microsoft.com/office/officeart/2005/8/layout/hierarchy2"/>
    <dgm:cxn modelId="{E5FD7621-23F7-7D48-B1BB-A1CB300DB464}" type="presParOf" srcId="{65A07E17-7470-2B4C-85DC-9ED980444625}" destId="{3639449B-C51D-164A-854C-39D0EA876657}" srcOrd="0" destOrd="0" presId="urn:microsoft.com/office/officeart/2005/8/layout/hierarchy2"/>
    <dgm:cxn modelId="{0395CF77-A5F1-B94F-A015-7F91728E50E5}" type="presParOf" srcId="{65A07E17-7470-2B4C-85DC-9ED980444625}" destId="{38FDACB2-3ECF-C84E-8FA2-2C4D5F1F2BA8}" srcOrd="1" destOrd="0" presId="urn:microsoft.com/office/officeart/2005/8/layout/hierarchy2"/>
    <dgm:cxn modelId="{36F1835F-8471-E94A-ABCB-C4D6F8849660}" type="presParOf" srcId="{38FDACB2-3ECF-C84E-8FA2-2C4D5F1F2BA8}" destId="{5E4A6BE2-2575-8E44-B268-F97268887EEA}" srcOrd="0" destOrd="0" presId="urn:microsoft.com/office/officeart/2005/8/layout/hierarchy2"/>
    <dgm:cxn modelId="{20AA1F5C-26F3-FD44-8BE2-A6C0F971DB59}" type="presParOf" srcId="{5E4A6BE2-2575-8E44-B268-F97268887EEA}" destId="{B5797A3A-9764-8647-90D6-90B80140E070}" srcOrd="0" destOrd="0" presId="urn:microsoft.com/office/officeart/2005/8/layout/hierarchy2"/>
    <dgm:cxn modelId="{702EFA2D-BB90-1B4C-9542-9C01CFA91D5C}" type="presParOf" srcId="{38FDACB2-3ECF-C84E-8FA2-2C4D5F1F2BA8}" destId="{C81C02B5-0C7B-7343-BE14-DC6F0BC72208}" srcOrd="1" destOrd="0" presId="urn:microsoft.com/office/officeart/2005/8/layout/hierarchy2"/>
    <dgm:cxn modelId="{25BE7677-8D02-4046-A70E-D21A68F4904B}" type="presParOf" srcId="{C81C02B5-0C7B-7343-BE14-DC6F0BC72208}" destId="{C2BD9FB1-6D4A-F242-8214-9322B3E14B2D}" srcOrd="0" destOrd="0" presId="urn:microsoft.com/office/officeart/2005/8/layout/hierarchy2"/>
    <dgm:cxn modelId="{ADA4AF34-241C-8845-ABDC-189C2CF290BC}" type="presParOf" srcId="{C81C02B5-0C7B-7343-BE14-DC6F0BC72208}" destId="{AF262EDE-464E-7A41-A1F1-3490EBF5ABE7}" srcOrd="1" destOrd="0" presId="urn:microsoft.com/office/officeart/2005/8/layout/hierarchy2"/>
    <dgm:cxn modelId="{14C2827E-CD27-D546-8423-6218C57C5D76}" type="presParOf" srcId="{38FDACB2-3ECF-C84E-8FA2-2C4D5F1F2BA8}" destId="{BE35BFD8-B45E-0347-8EFC-F5EBD4A7F00E}" srcOrd="2" destOrd="0" presId="urn:microsoft.com/office/officeart/2005/8/layout/hierarchy2"/>
    <dgm:cxn modelId="{2C8A485F-2123-3440-B9F8-8AE43D11D24C}" type="presParOf" srcId="{BE35BFD8-B45E-0347-8EFC-F5EBD4A7F00E}" destId="{90EF7A1A-78A8-3940-B2BF-ED9147673162}" srcOrd="0" destOrd="0" presId="urn:microsoft.com/office/officeart/2005/8/layout/hierarchy2"/>
    <dgm:cxn modelId="{1B42445E-40B8-4C4D-91D0-B0DD54C77B93}" type="presParOf" srcId="{38FDACB2-3ECF-C84E-8FA2-2C4D5F1F2BA8}" destId="{BAC96E44-B8B6-754F-B4D4-259B39917C88}" srcOrd="3" destOrd="0" presId="urn:microsoft.com/office/officeart/2005/8/layout/hierarchy2"/>
    <dgm:cxn modelId="{B02C6250-E04E-8745-9D34-C1DF6084C0A7}" type="presParOf" srcId="{BAC96E44-B8B6-754F-B4D4-259B39917C88}" destId="{107C90EA-0FE2-0C43-94F2-B61BC80ACD7B}" srcOrd="0" destOrd="0" presId="urn:microsoft.com/office/officeart/2005/8/layout/hierarchy2"/>
    <dgm:cxn modelId="{D6FE2343-1B8E-4746-A2CB-01A5CE9BB2ED}" type="presParOf" srcId="{BAC96E44-B8B6-754F-B4D4-259B39917C88}" destId="{CE793788-8612-7A48-80D8-E6C972BA408D}" srcOrd="1" destOrd="0" presId="urn:microsoft.com/office/officeart/2005/8/layout/hierarchy2"/>
    <dgm:cxn modelId="{B3EE1E86-B461-1248-BDAF-C5DCFB9EBDF9}" type="presParOf" srcId="{CE793788-8612-7A48-80D8-E6C972BA408D}" destId="{5B9E0BEC-8B64-EB46-9A5C-46A048055B90}" srcOrd="0" destOrd="0" presId="urn:microsoft.com/office/officeart/2005/8/layout/hierarchy2"/>
    <dgm:cxn modelId="{B0C41BFD-290B-A24D-94A9-44BE54CE5C0F}" type="presParOf" srcId="{5B9E0BEC-8B64-EB46-9A5C-46A048055B90}" destId="{9320F3F7-C096-E443-87D1-AF5B82AB2C97}" srcOrd="0" destOrd="0" presId="urn:microsoft.com/office/officeart/2005/8/layout/hierarchy2"/>
    <dgm:cxn modelId="{F796D739-91D7-524E-AAE8-1BB301A15CBD}" type="presParOf" srcId="{CE793788-8612-7A48-80D8-E6C972BA408D}" destId="{6D96792A-418D-634A-8C12-6686E3055D6E}" srcOrd="1" destOrd="0" presId="urn:microsoft.com/office/officeart/2005/8/layout/hierarchy2"/>
    <dgm:cxn modelId="{E8159042-0421-574E-84B6-C2C9BEBFF479}" type="presParOf" srcId="{6D96792A-418D-634A-8C12-6686E3055D6E}" destId="{D9BA02B9-EDDC-724E-BC07-5E8DFC287708}" srcOrd="0" destOrd="0" presId="urn:microsoft.com/office/officeart/2005/8/layout/hierarchy2"/>
    <dgm:cxn modelId="{04375867-B759-CE4E-8F68-0D2214EBCF0D}" type="presParOf" srcId="{6D96792A-418D-634A-8C12-6686E3055D6E}" destId="{B43F4E1C-38C5-A948-9BE5-0C2F52E0ACB5}"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121A593-A771-8842-A91C-5100A9176453}" type="doc">
      <dgm:prSet loTypeId="urn:microsoft.com/office/officeart/2005/8/layout/hierarchy2" loCatId="list" qsTypeId="urn:microsoft.com/office/officeart/2005/8/quickstyle/simple1" qsCatId="simple" csTypeId="urn:microsoft.com/office/officeart/2005/8/colors/accent1_2" csCatId="accent1" phldr="1"/>
      <dgm:spPr/>
      <dgm:t>
        <a:bodyPr/>
        <a:lstStyle/>
        <a:p>
          <a:endParaRPr lang="en-GB"/>
        </a:p>
      </dgm:t>
    </dgm:pt>
    <dgm:pt modelId="{91384286-6659-9A45-830A-64B557A345B7}">
      <dgm:prSet/>
      <dgm:spPr/>
      <dgm:t>
        <a:bodyPr/>
        <a:lstStyle/>
        <a:p>
          <a:r>
            <a:rPr lang="en-NZ"/>
            <a:t>Carlos’ opportunity cost of 1 apple = 0.4 tonnes of wheat</a:t>
          </a:r>
        </a:p>
      </dgm:t>
    </dgm:pt>
    <dgm:pt modelId="{F3DB0517-9265-294B-A703-17D9340FEE80}" type="parTrans" cxnId="{847C2D83-36F4-824E-ABC2-10EB2776E58C}">
      <dgm:prSet/>
      <dgm:spPr/>
      <dgm:t>
        <a:bodyPr/>
        <a:lstStyle/>
        <a:p>
          <a:endParaRPr lang="en-GB"/>
        </a:p>
      </dgm:t>
    </dgm:pt>
    <dgm:pt modelId="{03B57563-B373-534C-A7F7-1460F481C4A0}" type="sibTrans" cxnId="{847C2D83-36F4-824E-ABC2-10EB2776E58C}">
      <dgm:prSet/>
      <dgm:spPr/>
      <dgm:t>
        <a:bodyPr/>
        <a:lstStyle/>
        <a:p>
          <a:endParaRPr lang="en-GB"/>
        </a:p>
      </dgm:t>
    </dgm:pt>
    <dgm:pt modelId="{CE9F85EF-EE9B-E149-9975-F437D07347E8}">
      <dgm:prSet/>
      <dgm:spPr/>
      <dgm:t>
        <a:bodyPr/>
        <a:lstStyle/>
        <a:p>
          <a:r>
            <a:rPr lang="en-NZ"/>
            <a:t>(4000/10000)</a:t>
          </a:r>
        </a:p>
      </dgm:t>
    </dgm:pt>
    <dgm:pt modelId="{6B1701F8-B6D8-9F46-AAC8-AB773FA3112A}" type="parTrans" cxnId="{13E65792-F849-C344-B264-3F6ED0317D40}">
      <dgm:prSet/>
      <dgm:spPr/>
      <dgm:t>
        <a:bodyPr/>
        <a:lstStyle/>
        <a:p>
          <a:endParaRPr lang="en-GB"/>
        </a:p>
      </dgm:t>
    </dgm:pt>
    <dgm:pt modelId="{7C0A9D1B-0166-1B48-A43A-4965803660F9}" type="sibTrans" cxnId="{13E65792-F849-C344-B264-3F6ED0317D40}">
      <dgm:prSet/>
      <dgm:spPr/>
      <dgm:t>
        <a:bodyPr/>
        <a:lstStyle/>
        <a:p>
          <a:endParaRPr lang="en-GB"/>
        </a:p>
      </dgm:t>
    </dgm:pt>
    <dgm:pt modelId="{59566317-A556-9145-92AD-8AE0FCECA015}">
      <dgm:prSet/>
      <dgm:spPr/>
      <dgm:t>
        <a:bodyPr/>
        <a:lstStyle/>
        <a:p>
          <a:r>
            <a:rPr lang="en-NZ"/>
            <a:t>Greta’s opportunity cost of 1 apple = 0.8 tonnes of wheat</a:t>
          </a:r>
        </a:p>
      </dgm:t>
    </dgm:pt>
    <dgm:pt modelId="{4688D9CB-5754-984E-96DF-3EEEE4C53639}" type="parTrans" cxnId="{D708606C-C40B-4442-B3D9-8595B583D669}">
      <dgm:prSet/>
      <dgm:spPr/>
      <dgm:t>
        <a:bodyPr/>
        <a:lstStyle/>
        <a:p>
          <a:endParaRPr lang="en-GB"/>
        </a:p>
      </dgm:t>
    </dgm:pt>
    <dgm:pt modelId="{3B1A388C-9FAB-2044-B600-84C5FA183E2F}" type="sibTrans" cxnId="{D708606C-C40B-4442-B3D9-8595B583D669}">
      <dgm:prSet/>
      <dgm:spPr/>
      <dgm:t>
        <a:bodyPr/>
        <a:lstStyle/>
        <a:p>
          <a:endParaRPr lang="en-GB"/>
        </a:p>
      </dgm:t>
    </dgm:pt>
    <dgm:pt modelId="{68B49996-8015-0749-B94B-BE8F326C676C}">
      <dgm:prSet/>
      <dgm:spPr/>
      <dgm:t>
        <a:bodyPr/>
        <a:lstStyle/>
        <a:p>
          <a:r>
            <a:rPr lang="en-NZ"/>
            <a:t>(10000/12500)</a:t>
          </a:r>
        </a:p>
      </dgm:t>
    </dgm:pt>
    <dgm:pt modelId="{43C0EC5D-E31C-D24F-A93C-EB65073FEDB3}" type="parTrans" cxnId="{E68C83BD-9D1D-FC45-AFDE-49D6A28EDE7F}">
      <dgm:prSet/>
      <dgm:spPr/>
      <dgm:t>
        <a:bodyPr/>
        <a:lstStyle/>
        <a:p>
          <a:endParaRPr lang="en-GB"/>
        </a:p>
      </dgm:t>
    </dgm:pt>
    <dgm:pt modelId="{907FD7F1-0F01-D74F-BB2C-FC89D38A09EF}" type="sibTrans" cxnId="{E68C83BD-9D1D-FC45-AFDE-49D6A28EDE7F}">
      <dgm:prSet/>
      <dgm:spPr/>
      <dgm:t>
        <a:bodyPr/>
        <a:lstStyle/>
        <a:p>
          <a:endParaRPr lang="en-GB"/>
        </a:p>
      </dgm:t>
    </dgm:pt>
    <dgm:pt modelId="{CC4E8924-0E09-A541-AC99-24AB4950C408}">
      <dgm:prSet/>
      <dgm:spPr/>
      <dgm:t>
        <a:bodyPr/>
        <a:lstStyle/>
        <a:p>
          <a:r>
            <a:rPr lang="en-NZ"/>
            <a:t>Carlos has the lowest opportunity cost hence comparative advantage.</a:t>
          </a:r>
        </a:p>
      </dgm:t>
    </dgm:pt>
    <dgm:pt modelId="{9C42810E-07B7-BC47-925D-67A595F2107F}" type="parTrans" cxnId="{89ACA867-323B-8F4A-BAEB-0FB18EB830F3}">
      <dgm:prSet/>
      <dgm:spPr/>
      <dgm:t>
        <a:bodyPr/>
        <a:lstStyle/>
        <a:p>
          <a:endParaRPr lang="en-GB"/>
        </a:p>
      </dgm:t>
    </dgm:pt>
    <dgm:pt modelId="{6801ADBA-E668-BE4E-A0E0-97BF7872A9FE}" type="sibTrans" cxnId="{89ACA867-323B-8F4A-BAEB-0FB18EB830F3}">
      <dgm:prSet/>
      <dgm:spPr/>
      <dgm:t>
        <a:bodyPr/>
        <a:lstStyle/>
        <a:p>
          <a:endParaRPr lang="en-GB"/>
        </a:p>
      </dgm:t>
    </dgm:pt>
    <dgm:pt modelId="{3912F4A3-D7E3-8C49-A44F-9CB176E21368}" type="pres">
      <dgm:prSet presAssocID="{0121A593-A771-8842-A91C-5100A9176453}" presName="diagram" presStyleCnt="0">
        <dgm:presLayoutVars>
          <dgm:chPref val="1"/>
          <dgm:dir/>
          <dgm:animOne val="branch"/>
          <dgm:animLvl val="lvl"/>
          <dgm:resizeHandles val="exact"/>
        </dgm:presLayoutVars>
      </dgm:prSet>
      <dgm:spPr/>
    </dgm:pt>
    <dgm:pt modelId="{2AA64448-EFA5-974F-ABE6-A65D1409A71D}" type="pres">
      <dgm:prSet presAssocID="{91384286-6659-9A45-830A-64B557A345B7}" presName="root1" presStyleCnt="0"/>
      <dgm:spPr/>
    </dgm:pt>
    <dgm:pt modelId="{679175EC-8354-8647-8701-938752BF3FFE}" type="pres">
      <dgm:prSet presAssocID="{91384286-6659-9A45-830A-64B557A345B7}" presName="LevelOneTextNode" presStyleLbl="node0" presStyleIdx="0" presStyleCnt="2">
        <dgm:presLayoutVars>
          <dgm:chPref val="3"/>
        </dgm:presLayoutVars>
      </dgm:prSet>
      <dgm:spPr/>
    </dgm:pt>
    <dgm:pt modelId="{4D63B0B9-E2DA-6646-BBD5-BB4974905507}" type="pres">
      <dgm:prSet presAssocID="{91384286-6659-9A45-830A-64B557A345B7}" presName="level2hierChild" presStyleCnt="0"/>
      <dgm:spPr/>
    </dgm:pt>
    <dgm:pt modelId="{493E5D67-8E98-6747-94D5-192A9C1EFC6F}" type="pres">
      <dgm:prSet presAssocID="{6B1701F8-B6D8-9F46-AAC8-AB773FA3112A}" presName="conn2-1" presStyleLbl="parChTrans1D2" presStyleIdx="0" presStyleCnt="2"/>
      <dgm:spPr/>
    </dgm:pt>
    <dgm:pt modelId="{02321222-0F7D-514A-9983-F83803266B0D}" type="pres">
      <dgm:prSet presAssocID="{6B1701F8-B6D8-9F46-AAC8-AB773FA3112A}" presName="connTx" presStyleLbl="parChTrans1D2" presStyleIdx="0" presStyleCnt="2"/>
      <dgm:spPr/>
    </dgm:pt>
    <dgm:pt modelId="{8F704F02-73D8-7342-BA4F-0836DCFC1FCE}" type="pres">
      <dgm:prSet presAssocID="{CE9F85EF-EE9B-E149-9975-F437D07347E8}" presName="root2" presStyleCnt="0"/>
      <dgm:spPr/>
    </dgm:pt>
    <dgm:pt modelId="{228EB128-8F14-7B4C-B56A-DC293CAEE5E5}" type="pres">
      <dgm:prSet presAssocID="{CE9F85EF-EE9B-E149-9975-F437D07347E8}" presName="LevelTwoTextNode" presStyleLbl="node2" presStyleIdx="0" presStyleCnt="2">
        <dgm:presLayoutVars>
          <dgm:chPref val="3"/>
        </dgm:presLayoutVars>
      </dgm:prSet>
      <dgm:spPr/>
    </dgm:pt>
    <dgm:pt modelId="{2833C4BE-38B8-894A-A073-98DB013610A2}" type="pres">
      <dgm:prSet presAssocID="{CE9F85EF-EE9B-E149-9975-F437D07347E8}" presName="level3hierChild" presStyleCnt="0"/>
      <dgm:spPr/>
    </dgm:pt>
    <dgm:pt modelId="{E1FB99A0-E6C2-D54A-822F-A110A6C594B8}" type="pres">
      <dgm:prSet presAssocID="{59566317-A556-9145-92AD-8AE0FCECA015}" presName="root1" presStyleCnt="0"/>
      <dgm:spPr/>
    </dgm:pt>
    <dgm:pt modelId="{6DB8E7BA-6B61-EC4D-BE9D-5084FDA369D9}" type="pres">
      <dgm:prSet presAssocID="{59566317-A556-9145-92AD-8AE0FCECA015}" presName="LevelOneTextNode" presStyleLbl="node0" presStyleIdx="1" presStyleCnt="2">
        <dgm:presLayoutVars>
          <dgm:chPref val="3"/>
        </dgm:presLayoutVars>
      </dgm:prSet>
      <dgm:spPr/>
    </dgm:pt>
    <dgm:pt modelId="{0B83EE80-42D7-1A4B-A9E7-EFFEA68334AC}" type="pres">
      <dgm:prSet presAssocID="{59566317-A556-9145-92AD-8AE0FCECA015}" presName="level2hierChild" presStyleCnt="0"/>
      <dgm:spPr/>
    </dgm:pt>
    <dgm:pt modelId="{AF5A45BE-68B4-8142-B735-BDA087E342ED}" type="pres">
      <dgm:prSet presAssocID="{43C0EC5D-E31C-D24F-A93C-EB65073FEDB3}" presName="conn2-1" presStyleLbl="parChTrans1D2" presStyleIdx="1" presStyleCnt="2"/>
      <dgm:spPr/>
    </dgm:pt>
    <dgm:pt modelId="{426CA1FA-C319-334D-A55A-DB1202C5EFBA}" type="pres">
      <dgm:prSet presAssocID="{43C0EC5D-E31C-D24F-A93C-EB65073FEDB3}" presName="connTx" presStyleLbl="parChTrans1D2" presStyleIdx="1" presStyleCnt="2"/>
      <dgm:spPr/>
    </dgm:pt>
    <dgm:pt modelId="{95A1CA3A-693B-8A46-B874-288CBEFE2F33}" type="pres">
      <dgm:prSet presAssocID="{68B49996-8015-0749-B94B-BE8F326C676C}" presName="root2" presStyleCnt="0"/>
      <dgm:spPr/>
    </dgm:pt>
    <dgm:pt modelId="{5AFC273B-211A-4748-B38F-AAFDA871F2FD}" type="pres">
      <dgm:prSet presAssocID="{68B49996-8015-0749-B94B-BE8F326C676C}" presName="LevelTwoTextNode" presStyleLbl="node2" presStyleIdx="1" presStyleCnt="2">
        <dgm:presLayoutVars>
          <dgm:chPref val="3"/>
        </dgm:presLayoutVars>
      </dgm:prSet>
      <dgm:spPr/>
    </dgm:pt>
    <dgm:pt modelId="{E424600F-FDD2-8042-9E66-6FFCB6E4D848}" type="pres">
      <dgm:prSet presAssocID="{68B49996-8015-0749-B94B-BE8F326C676C}" presName="level3hierChild" presStyleCnt="0"/>
      <dgm:spPr/>
    </dgm:pt>
    <dgm:pt modelId="{75D9709B-2EBF-6747-A960-E2417FF10D39}" type="pres">
      <dgm:prSet presAssocID="{9C42810E-07B7-BC47-925D-67A595F2107F}" presName="conn2-1" presStyleLbl="parChTrans1D3" presStyleIdx="0" presStyleCnt="1"/>
      <dgm:spPr/>
    </dgm:pt>
    <dgm:pt modelId="{32BFAF32-72E3-D84E-B90D-D35B51C78D22}" type="pres">
      <dgm:prSet presAssocID="{9C42810E-07B7-BC47-925D-67A595F2107F}" presName="connTx" presStyleLbl="parChTrans1D3" presStyleIdx="0" presStyleCnt="1"/>
      <dgm:spPr/>
    </dgm:pt>
    <dgm:pt modelId="{8E306569-6A01-D145-8E76-F67B1EE21B2F}" type="pres">
      <dgm:prSet presAssocID="{CC4E8924-0E09-A541-AC99-24AB4950C408}" presName="root2" presStyleCnt="0"/>
      <dgm:spPr/>
    </dgm:pt>
    <dgm:pt modelId="{B0273D7E-D197-1442-BA0B-F3E76AC31A82}" type="pres">
      <dgm:prSet presAssocID="{CC4E8924-0E09-A541-AC99-24AB4950C408}" presName="LevelTwoTextNode" presStyleLbl="node3" presStyleIdx="0" presStyleCnt="1">
        <dgm:presLayoutVars>
          <dgm:chPref val="3"/>
        </dgm:presLayoutVars>
      </dgm:prSet>
      <dgm:spPr/>
    </dgm:pt>
    <dgm:pt modelId="{B5CD8264-3B41-2C48-A821-0182DDC2D25E}" type="pres">
      <dgm:prSet presAssocID="{CC4E8924-0E09-A541-AC99-24AB4950C408}" presName="level3hierChild" presStyleCnt="0"/>
      <dgm:spPr/>
    </dgm:pt>
  </dgm:ptLst>
  <dgm:cxnLst>
    <dgm:cxn modelId="{FACF210D-9A11-498C-BEC5-898213236EE8}" type="presOf" srcId="{43C0EC5D-E31C-D24F-A93C-EB65073FEDB3}" destId="{426CA1FA-C319-334D-A55A-DB1202C5EFBA}" srcOrd="1" destOrd="0" presId="urn:microsoft.com/office/officeart/2005/8/layout/hierarchy2"/>
    <dgm:cxn modelId="{520CD95E-4042-4EAE-A7C3-ADBD7949F5B0}" type="presOf" srcId="{43C0EC5D-E31C-D24F-A93C-EB65073FEDB3}" destId="{AF5A45BE-68B4-8142-B735-BDA087E342ED}" srcOrd="0" destOrd="0" presId="urn:microsoft.com/office/officeart/2005/8/layout/hierarchy2"/>
    <dgm:cxn modelId="{C2167644-B726-4839-9856-8C88CB3FA2FB}" type="presOf" srcId="{CC4E8924-0E09-A541-AC99-24AB4950C408}" destId="{B0273D7E-D197-1442-BA0B-F3E76AC31A82}" srcOrd="0" destOrd="0" presId="urn:microsoft.com/office/officeart/2005/8/layout/hierarchy2"/>
    <dgm:cxn modelId="{89ACA867-323B-8F4A-BAEB-0FB18EB830F3}" srcId="{68B49996-8015-0749-B94B-BE8F326C676C}" destId="{CC4E8924-0E09-A541-AC99-24AB4950C408}" srcOrd="0" destOrd="0" parTransId="{9C42810E-07B7-BC47-925D-67A595F2107F}" sibTransId="{6801ADBA-E668-BE4E-A0E0-97BF7872A9FE}"/>
    <dgm:cxn modelId="{D708606C-C40B-4442-B3D9-8595B583D669}" srcId="{0121A593-A771-8842-A91C-5100A9176453}" destId="{59566317-A556-9145-92AD-8AE0FCECA015}" srcOrd="1" destOrd="0" parTransId="{4688D9CB-5754-984E-96DF-3EEEE4C53639}" sibTransId="{3B1A388C-9FAB-2044-B600-84C5FA183E2F}"/>
    <dgm:cxn modelId="{46378B53-6504-4ADE-B468-9AB068E64144}" type="presOf" srcId="{6B1701F8-B6D8-9F46-AAC8-AB773FA3112A}" destId="{02321222-0F7D-514A-9983-F83803266B0D}" srcOrd="1" destOrd="0" presId="urn:microsoft.com/office/officeart/2005/8/layout/hierarchy2"/>
    <dgm:cxn modelId="{847C2D83-36F4-824E-ABC2-10EB2776E58C}" srcId="{0121A593-A771-8842-A91C-5100A9176453}" destId="{91384286-6659-9A45-830A-64B557A345B7}" srcOrd="0" destOrd="0" parTransId="{F3DB0517-9265-294B-A703-17D9340FEE80}" sibTransId="{03B57563-B373-534C-A7F7-1460F481C4A0}"/>
    <dgm:cxn modelId="{A3F22189-CDBC-4373-B28F-6387ED21356E}" type="presOf" srcId="{9C42810E-07B7-BC47-925D-67A595F2107F}" destId="{75D9709B-2EBF-6747-A960-E2417FF10D39}" srcOrd="0" destOrd="0" presId="urn:microsoft.com/office/officeart/2005/8/layout/hierarchy2"/>
    <dgm:cxn modelId="{AFCAEC8A-6765-427B-9080-94131899EF5E}" type="presOf" srcId="{59566317-A556-9145-92AD-8AE0FCECA015}" destId="{6DB8E7BA-6B61-EC4D-BE9D-5084FDA369D9}" srcOrd="0" destOrd="0" presId="urn:microsoft.com/office/officeart/2005/8/layout/hierarchy2"/>
    <dgm:cxn modelId="{13E65792-F849-C344-B264-3F6ED0317D40}" srcId="{91384286-6659-9A45-830A-64B557A345B7}" destId="{CE9F85EF-EE9B-E149-9975-F437D07347E8}" srcOrd="0" destOrd="0" parTransId="{6B1701F8-B6D8-9F46-AAC8-AB773FA3112A}" sibTransId="{7C0A9D1B-0166-1B48-A43A-4965803660F9}"/>
    <dgm:cxn modelId="{6D246B93-727B-AE45-8966-A2443665D72D}" type="presOf" srcId="{0121A593-A771-8842-A91C-5100A9176453}" destId="{3912F4A3-D7E3-8C49-A44F-9CB176E21368}" srcOrd="0" destOrd="0" presId="urn:microsoft.com/office/officeart/2005/8/layout/hierarchy2"/>
    <dgm:cxn modelId="{E757DA94-E56E-40A3-A067-5634A2C06C54}" type="presOf" srcId="{68B49996-8015-0749-B94B-BE8F326C676C}" destId="{5AFC273B-211A-4748-B38F-AAFDA871F2FD}" srcOrd="0" destOrd="0" presId="urn:microsoft.com/office/officeart/2005/8/layout/hierarchy2"/>
    <dgm:cxn modelId="{676DFC96-BA04-413F-ABEB-85C857DE74A0}" type="presOf" srcId="{91384286-6659-9A45-830A-64B557A345B7}" destId="{679175EC-8354-8647-8701-938752BF3FFE}" srcOrd="0" destOrd="0" presId="urn:microsoft.com/office/officeart/2005/8/layout/hierarchy2"/>
    <dgm:cxn modelId="{E68C83BD-9D1D-FC45-AFDE-49D6A28EDE7F}" srcId="{59566317-A556-9145-92AD-8AE0FCECA015}" destId="{68B49996-8015-0749-B94B-BE8F326C676C}" srcOrd="0" destOrd="0" parTransId="{43C0EC5D-E31C-D24F-A93C-EB65073FEDB3}" sibTransId="{907FD7F1-0F01-D74F-BB2C-FC89D38A09EF}"/>
    <dgm:cxn modelId="{C424C4D4-249C-4CB2-9FBA-F7299644B917}" type="presOf" srcId="{6B1701F8-B6D8-9F46-AAC8-AB773FA3112A}" destId="{493E5D67-8E98-6747-94D5-192A9C1EFC6F}" srcOrd="0" destOrd="0" presId="urn:microsoft.com/office/officeart/2005/8/layout/hierarchy2"/>
    <dgm:cxn modelId="{6F1C41F2-89B5-4DF7-A1A8-5E2AD80F485F}" type="presOf" srcId="{CE9F85EF-EE9B-E149-9975-F437D07347E8}" destId="{228EB128-8F14-7B4C-B56A-DC293CAEE5E5}" srcOrd="0" destOrd="0" presId="urn:microsoft.com/office/officeart/2005/8/layout/hierarchy2"/>
    <dgm:cxn modelId="{AD778BF2-AC3D-4B44-B1AA-19509B53A778}" type="presOf" srcId="{9C42810E-07B7-BC47-925D-67A595F2107F}" destId="{32BFAF32-72E3-D84E-B90D-D35B51C78D22}" srcOrd="1" destOrd="0" presId="urn:microsoft.com/office/officeart/2005/8/layout/hierarchy2"/>
    <dgm:cxn modelId="{165457BA-5779-4972-96BB-2874836A5455}" type="presParOf" srcId="{3912F4A3-D7E3-8C49-A44F-9CB176E21368}" destId="{2AA64448-EFA5-974F-ABE6-A65D1409A71D}" srcOrd="0" destOrd="0" presId="urn:microsoft.com/office/officeart/2005/8/layout/hierarchy2"/>
    <dgm:cxn modelId="{A6C986B3-F87D-4DA0-809F-B274C310D783}" type="presParOf" srcId="{2AA64448-EFA5-974F-ABE6-A65D1409A71D}" destId="{679175EC-8354-8647-8701-938752BF3FFE}" srcOrd="0" destOrd="0" presId="urn:microsoft.com/office/officeart/2005/8/layout/hierarchy2"/>
    <dgm:cxn modelId="{6B09C2CA-C325-4B1D-BBF6-E50F496D7EE4}" type="presParOf" srcId="{2AA64448-EFA5-974F-ABE6-A65D1409A71D}" destId="{4D63B0B9-E2DA-6646-BBD5-BB4974905507}" srcOrd="1" destOrd="0" presId="urn:microsoft.com/office/officeart/2005/8/layout/hierarchy2"/>
    <dgm:cxn modelId="{1D4B63DA-1E74-4F70-83D8-D1C7F8BFFA4A}" type="presParOf" srcId="{4D63B0B9-E2DA-6646-BBD5-BB4974905507}" destId="{493E5D67-8E98-6747-94D5-192A9C1EFC6F}" srcOrd="0" destOrd="0" presId="urn:microsoft.com/office/officeart/2005/8/layout/hierarchy2"/>
    <dgm:cxn modelId="{F8731C05-4884-4F3E-A311-311ADDD34E9B}" type="presParOf" srcId="{493E5D67-8E98-6747-94D5-192A9C1EFC6F}" destId="{02321222-0F7D-514A-9983-F83803266B0D}" srcOrd="0" destOrd="0" presId="urn:microsoft.com/office/officeart/2005/8/layout/hierarchy2"/>
    <dgm:cxn modelId="{C7BFA10B-B4D5-4A36-9747-C5F9C88C6FC5}" type="presParOf" srcId="{4D63B0B9-E2DA-6646-BBD5-BB4974905507}" destId="{8F704F02-73D8-7342-BA4F-0836DCFC1FCE}" srcOrd="1" destOrd="0" presId="urn:microsoft.com/office/officeart/2005/8/layout/hierarchy2"/>
    <dgm:cxn modelId="{7C20298E-C010-4931-A4F1-DF28111B34B6}" type="presParOf" srcId="{8F704F02-73D8-7342-BA4F-0836DCFC1FCE}" destId="{228EB128-8F14-7B4C-B56A-DC293CAEE5E5}" srcOrd="0" destOrd="0" presId="urn:microsoft.com/office/officeart/2005/8/layout/hierarchy2"/>
    <dgm:cxn modelId="{158D1C68-28D3-4983-98BE-79946878967D}" type="presParOf" srcId="{8F704F02-73D8-7342-BA4F-0836DCFC1FCE}" destId="{2833C4BE-38B8-894A-A073-98DB013610A2}" srcOrd="1" destOrd="0" presId="urn:microsoft.com/office/officeart/2005/8/layout/hierarchy2"/>
    <dgm:cxn modelId="{5398DE4D-5F71-4DAC-B01F-B17F7EB7A422}" type="presParOf" srcId="{3912F4A3-D7E3-8C49-A44F-9CB176E21368}" destId="{E1FB99A0-E6C2-D54A-822F-A110A6C594B8}" srcOrd="1" destOrd="0" presId="urn:microsoft.com/office/officeart/2005/8/layout/hierarchy2"/>
    <dgm:cxn modelId="{4C1F2E68-0DE9-4F6A-9686-53A6A2C81188}" type="presParOf" srcId="{E1FB99A0-E6C2-D54A-822F-A110A6C594B8}" destId="{6DB8E7BA-6B61-EC4D-BE9D-5084FDA369D9}" srcOrd="0" destOrd="0" presId="urn:microsoft.com/office/officeart/2005/8/layout/hierarchy2"/>
    <dgm:cxn modelId="{DD123908-7D38-4D48-81D8-0056D0803411}" type="presParOf" srcId="{E1FB99A0-E6C2-D54A-822F-A110A6C594B8}" destId="{0B83EE80-42D7-1A4B-A9E7-EFFEA68334AC}" srcOrd="1" destOrd="0" presId="urn:microsoft.com/office/officeart/2005/8/layout/hierarchy2"/>
    <dgm:cxn modelId="{80D2AF29-4EFA-48E9-A353-ED67FC1F696E}" type="presParOf" srcId="{0B83EE80-42D7-1A4B-A9E7-EFFEA68334AC}" destId="{AF5A45BE-68B4-8142-B735-BDA087E342ED}" srcOrd="0" destOrd="0" presId="urn:microsoft.com/office/officeart/2005/8/layout/hierarchy2"/>
    <dgm:cxn modelId="{566E44AC-0595-42F9-A33A-722CCA417E40}" type="presParOf" srcId="{AF5A45BE-68B4-8142-B735-BDA087E342ED}" destId="{426CA1FA-C319-334D-A55A-DB1202C5EFBA}" srcOrd="0" destOrd="0" presId="urn:microsoft.com/office/officeart/2005/8/layout/hierarchy2"/>
    <dgm:cxn modelId="{104B55CA-4EB8-41BE-BB2A-8FE4B2AC6F45}" type="presParOf" srcId="{0B83EE80-42D7-1A4B-A9E7-EFFEA68334AC}" destId="{95A1CA3A-693B-8A46-B874-288CBEFE2F33}" srcOrd="1" destOrd="0" presId="urn:microsoft.com/office/officeart/2005/8/layout/hierarchy2"/>
    <dgm:cxn modelId="{173FA1F5-33CB-4FE1-BD19-A9A94DBFB797}" type="presParOf" srcId="{95A1CA3A-693B-8A46-B874-288CBEFE2F33}" destId="{5AFC273B-211A-4748-B38F-AAFDA871F2FD}" srcOrd="0" destOrd="0" presId="urn:microsoft.com/office/officeart/2005/8/layout/hierarchy2"/>
    <dgm:cxn modelId="{753A14CF-3F53-4AB6-9990-B615D5F70E11}" type="presParOf" srcId="{95A1CA3A-693B-8A46-B874-288CBEFE2F33}" destId="{E424600F-FDD2-8042-9E66-6FFCB6E4D848}" srcOrd="1" destOrd="0" presId="urn:microsoft.com/office/officeart/2005/8/layout/hierarchy2"/>
    <dgm:cxn modelId="{09EB12E9-C280-46C4-AA24-B35A3EA9BB63}" type="presParOf" srcId="{E424600F-FDD2-8042-9E66-6FFCB6E4D848}" destId="{75D9709B-2EBF-6747-A960-E2417FF10D39}" srcOrd="0" destOrd="0" presId="urn:microsoft.com/office/officeart/2005/8/layout/hierarchy2"/>
    <dgm:cxn modelId="{D4993FF6-2CA7-4AF0-9FC1-B65021522DD9}" type="presParOf" srcId="{75D9709B-2EBF-6747-A960-E2417FF10D39}" destId="{32BFAF32-72E3-D84E-B90D-D35B51C78D22}" srcOrd="0" destOrd="0" presId="urn:microsoft.com/office/officeart/2005/8/layout/hierarchy2"/>
    <dgm:cxn modelId="{8A038906-FD4A-4D83-93E3-2D0806C8D945}" type="presParOf" srcId="{E424600F-FDD2-8042-9E66-6FFCB6E4D848}" destId="{8E306569-6A01-D145-8E76-F67B1EE21B2F}" srcOrd="1" destOrd="0" presId="urn:microsoft.com/office/officeart/2005/8/layout/hierarchy2"/>
    <dgm:cxn modelId="{9F935920-3832-4E04-8B34-C978E9BB02DC}" type="presParOf" srcId="{8E306569-6A01-D145-8E76-F67B1EE21B2F}" destId="{B0273D7E-D197-1442-BA0B-F3E76AC31A82}" srcOrd="0" destOrd="0" presId="urn:microsoft.com/office/officeart/2005/8/layout/hierarchy2"/>
    <dgm:cxn modelId="{CF7EC4E8-328A-4947-A8A3-E1D413905B3E}" type="presParOf" srcId="{8E306569-6A01-D145-8E76-F67B1EE21B2F}" destId="{B5CD8264-3B41-2C48-A821-0182DDC2D25E}"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E0CAFED-4861-41C8-8DFD-F2EB4D072D32}"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NZ"/>
        </a:p>
      </dgm:t>
    </dgm:pt>
    <dgm:pt modelId="{DD7FD5E2-0D01-46C9-9CF0-06EB17450DF2}">
      <dgm:prSet/>
      <dgm:spPr/>
      <dgm:t>
        <a:bodyPr/>
        <a:lstStyle/>
        <a:p>
          <a:r>
            <a:rPr lang="en-US" dirty="0"/>
            <a:t>Example 2:</a:t>
          </a:r>
          <a:endParaRPr lang="en-NZ" dirty="0"/>
        </a:p>
      </dgm:t>
    </dgm:pt>
    <dgm:pt modelId="{5216415D-0E6F-45FF-BC0E-5FE12AB0EF6D}" type="parTrans" cxnId="{FAC9531B-9606-4EDE-A5B7-44A35B2BB736}">
      <dgm:prSet/>
      <dgm:spPr/>
      <dgm:t>
        <a:bodyPr/>
        <a:lstStyle/>
        <a:p>
          <a:endParaRPr lang="en-NZ"/>
        </a:p>
      </dgm:t>
    </dgm:pt>
    <dgm:pt modelId="{510AD03A-EDD7-4093-9B8D-7DF92EDBFBCC}" type="sibTrans" cxnId="{FAC9531B-9606-4EDE-A5B7-44A35B2BB736}">
      <dgm:prSet/>
      <dgm:spPr/>
      <dgm:t>
        <a:bodyPr/>
        <a:lstStyle/>
        <a:p>
          <a:endParaRPr lang="en-NZ"/>
        </a:p>
      </dgm:t>
    </dgm:pt>
    <dgm:pt modelId="{CA1238EA-65F6-4D03-A692-F8E71AAD47BA}">
      <dgm:prSet/>
      <dgm:spPr/>
      <dgm:t>
        <a:bodyPr/>
        <a:lstStyle/>
        <a:p>
          <a:r>
            <a:rPr lang="en-US" dirty="0"/>
            <a:t>NZ could produce either 30 TVs OR 60 Fish (or any combination in between).</a:t>
          </a:r>
          <a:endParaRPr lang="en-NZ" dirty="0"/>
        </a:p>
      </dgm:t>
    </dgm:pt>
    <dgm:pt modelId="{21EC08FC-8998-4533-814B-98B77A3BB95C}" type="parTrans" cxnId="{BF0F452C-861C-4003-BC34-8FBAFEC3F04F}">
      <dgm:prSet/>
      <dgm:spPr/>
      <dgm:t>
        <a:bodyPr/>
        <a:lstStyle/>
        <a:p>
          <a:endParaRPr lang="en-NZ"/>
        </a:p>
      </dgm:t>
    </dgm:pt>
    <dgm:pt modelId="{5E226103-D5F7-4621-82BC-BC0D4A716CA3}" type="sibTrans" cxnId="{BF0F452C-861C-4003-BC34-8FBAFEC3F04F}">
      <dgm:prSet/>
      <dgm:spPr/>
      <dgm:t>
        <a:bodyPr/>
        <a:lstStyle/>
        <a:p>
          <a:endParaRPr lang="en-NZ"/>
        </a:p>
      </dgm:t>
    </dgm:pt>
    <dgm:pt modelId="{44B15CD5-50A9-424F-887E-9935DE4EF449}">
      <dgm:prSet/>
      <dgm:spPr/>
      <dgm:t>
        <a:bodyPr/>
        <a:lstStyle/>
        <a:p>
          <a:r>
            <a:rPr lang="en-US"/>
            <a:t>Singapore could produce either 40 TVs OR 30 Fish (or any combination in between).</a:t>
          </a:r>
          <a:endParaRPr lang="en-NZ"/>
        </a:p>
      </dgm:t>
    </dgm:pt>
    <dgm:pt modelId="{D06472E1-1C96-4F2A-B3AB-FCBFF57982F0}" type="parTrans" cxnId="{C5844282-88F3-4F83-AB11-05BE50F73B65}">
      <dgm:prSet/>
      <dgm:spPr/>
      <dgm:t>
        <a:bodyPr/>
        <a:lstStyle/>
        <a:p>
          <a:endParaRPr lang="en-NZ"/>
        </a:p>
      </dgm:t>
    </dgm:pt>
    <dgm:pt modelId="{4C3E74B6-6A76-4E41-A76F-C50824842689}" type="sibTrans" cxnId="{C5844282-88F3-4F83-AB11-05BE50F73B65}">
      <dgm:prSet/>
      <dgm:spPr/>
      <dgm:t>
        <a:bodyPr/>
        <a:lstStyle/>
        <a:p>
          <a:endParaRPr lang="en-NZ"/>
        </a:p>
      </dgm:t>
    </dgm:pt>
    <dgm:pt modelId="{68A06914-DCBD-47E1-9869-ECD813F4F52E}" type="pres">
      <dgm:prSet presAssocID="{9E0CAFED-4861-41C8-8DFD-F2EB4D072D32}" presName="linear" presStyleCnt="0">
        <dgm:presLayoutVars>
          <dgm:animLvl val="lvl"/>
          <dgm:resizeHandles val="exact"/>
        </dgm:presLayoutVars>
      </dgm:prSet>
      <dgm:spPr/>
    </dgm:pt>
    <dgm:pt modelId="{A67CCDD2-8FA8-4E5B-8854-7959AFD807A3}" type="pres">
      <dgm:prSet presAssocID="{DD7FD5E2-0D01-46C9-9CF0-06EB17450DF2}" presName="parentText" presStyleLbl="node1" presStyleIdx="0" presStyleCnt="3">
        <dgm:presLayoutVars>
          <dgm:chMax val="0"/>
          <dgm:bulletEnabled val="1"/>
        </dgm:presLayoutVars>
      </dgm:prSet>
      <dgm:spPr/>
    </dgm:pt>
    <dgm:pt modelId="{B1720799-B8D9-4012-9795-5CD446EF7F4B}" type="pres">
      <dgm:prSet presAssocID="{510AD03A-EDD7-4093-9B8D-7DF92EDBFBCC}" presName="spacer" presStyleCnt="0"/>
      <dgm:spPr/>
    </dgm:pt>
    <dgm:pt modelId="{D8CF3B20-65FD-42A3-B0CE-857B8E06484F}" type="pres">
      <dgm:prSet presAssocID="{CA1238EA-65F6-4D03-A692-F8E71AAD47BA}" presName="parentText" presStyleLbl="node1" presStyleIdx="1" presStyleCnt="3">
        <dgm:presLayoutVars>
          <dgm:chMax val="0"/>
          <dgm:bulletEnabled val="1"/>
        </dgm:presLayoutVars>
      </dgm:prSet>
      <dgm:spPr/>
    </dgm:pt>
    <dgm:pt modelId="{E8EE105A-46FF-4E89-957F-B6FB1D94938D}" type="pres">
      <dgm:prSet presAssocID="{5E226103-D5F7-4621-82BC-BC0D4A716CA3}" presName="spacer" presStyleCnt="0"/>
      <dgm:spPr/>
    </dgm:pt>
    <dgm:pt modelId="{A9FDA64A-F2E6-451F-B969-C339A9E35793}" type="pres">
      <dgm:prSet presAssocID="{44B15CD5-50A9-424F-887E-9935DE4EF449}" presName="parentText" presStyleLbl="node1" presStyleIdx="2" presStyleCnt="3">
        <dgm:presLayoutVars>
          <dgm:chMax val="0"/>
          <dgm:bulletEnabled val="1"/>
        </dgm:presLayoutVars>
      </dgm:prSet>
      <dgm:spPr/>
    </dgm:pt>
  </dgm:ptLst>
  <dgm:cxnLst>
    <dgm:cxn modelId="{FAC9531B-9606-4EDE-A5B7-44A35B2BB736}" srcId="{9E0CAFED-4861-41C8-8DFD-F2EB4D072D32}" destId="{DD7FD5E2-0D01-46C9-9CF0-06EB17450DF2}" srcOrd="0" destOrd="0" parTransId="{5216415D-0E6F-45FF-BC0E-5FE12AB0EF6D}" sibTransId="{510AD03A-EDD7-4093-9B8D-7DF92EDBFBCC}"/>
    <dgm:cxn modelId="{BF0F452C-861C-4003-BC34-8FBAFEC3F04F}" srcId="{9E0CAFED-4861-41C8-8DFD-F2EB4D072D32}" destId="{CA1238EA-65F6-4D03-A692-F8E71AAD47BA}" srcOrd="1" destOrd="0" parTransId="{21EC08FC-8998-4533-814B-98B77A3BB95C}" sibTransId="{5E226103-D5F7-4621-82BC-BC0D4A716CA3}"/>
    <dgm:cxn modelId="{BCFF984C-2252-44D4-8D16-1DB051C1B7E0}" type="presOf" srcId="{CA1238EA-65F6-4D03-A692-F8E71AAD47BA}" destId="{D8CF3B20-65FD-42A3-B0CE-857B8E06484F}" srcOrd="0" destOrd="0" presId="urn:microsoft.com/office/officeart/2005/8/layout/vList2"/>
    <dgm:cxn modelId="{44C7CF6F-CE74-4218-AE19-0C9D1D93B9B4}" type="presOf" srcId="{44B15CD5-50A9-424F-887E-9935DE4EF449}" destId="{A9FDA64A-F2E6-451F-B969-C339A9E35793}" srcOrd="0" destOrd="0" presId="urn:microsoft.com/office/officeart/2005/8/layout/vList2"/>
    <dgm:cxn modelId="{08BD9752-F1A6-4E7D-BAF2-025CA31C1FA8}" type="presOf" srcId="{DD7FD5E2-0D01-46C9-9CF0-06EB17450DF2}" destId="{A67CCDD2-8FA8-4E5B-8854-7959AFD807A3}" srcOrd="0" destOrd="0" presId="urn:microsoft.com/office/officeart/2005/8/layout/vList2"/>
    <dgm:cxn modelId="{C5844282-88F3-4F83-AB11-05BE50F73B65}" srcId="{9E0CAFED-4861-41C8-8DFD-F2EB4D072D32}" destId="{44B15CD5-50A9-424F-887E-9935DE4EF449}" srcOrd="2" destOrd="0" parTransId="{D06472E1-1C96-4F2A-B3AB-FCBFF57982F0}" sibTransId="{4C3E74B6-6A76-4E41-A76F-C50824842689}"/>
    <dgm:cxn modelId="{761BCFB6-B975-48D0-8DFC-C82BF01A8803}" type="presOf" srcId="{9E0CAFED-4861-41C8-8DFD-F2EB4D072D32}" destId="{68A06914-DCBD-47E1-9869-ECD813F4F52E}" srcOrd="0" destOrd="0" presId="urn:microsoft.com/office/officeart/2005/8/layout/vList2"/>
    <dgm:cxn modelId="{000EA553-760C-4742-A448-F4F7C7D0DA0D}" type="presParOf" srcId="{68A06914-DCBD-47E1-9869-ECD813F4F52E}" destId="{A67CCDD2-8FA8-4E5B-8854-7959AFD807A3}" srcOrd="0" destOrd="0" presId="urn:microsoft.com/office/officeart/2005/8/layout/vList2"/>
    <dgm:cxn modelId="{EAD7B067-0C43-4B13-90E0-AC90CA80FBBA}" type="presParOf" srcId="{68A06914-DCBD-47E1-9869-ECD813F4F52E}" destId="{B1720799-B8D9-4012-9795-5CD446EF7F4B}" srcOrd="1" destOrd="0" presId="urn:microsoft.com/office/officeart/2005/8/layout/vList2"/>
    <dgm:cxn modelId="{38896812-C04F-45FA-B3AE-D163F9F8DD97}" type="presParOf" srcId="{68A06914-DCBD-47E1-9869-ECD813F4F52E}" destId="{D8CF3B20-65FD-42A3-B0CE-857B8E06484F}" srcOrd="2" destOrd="0" presId="urn:microsoft.com/office/officeart/2005/8/layout/vList2"/>
    <dgm:cxn modelId="{14CF9192-C120-4A0F-9B8C-F37A2185DB75}" type="presParOf" srcId="{68A06914-DCBD-47E1-9869-ECD813F4F52E}" destId="{E8EE105A-46FF-4E89-957F-B6FB1D94938D}" srcOrd="3" destOrd="0" presId="urn:microsoft.com/office/officeart/2005/8/layout/vList2"/>
    <dgm:cxn modelId="{8930782C-E3B4-472D-ABE2-319EA562CB5B}" type="presParOf" srcId="{68A06914-DCBD-47E1-9869-ECD813F4F52E}" destId="{A9FDA64A-F2E6-451F-B969-C339A9E3579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CC8472F-D85F-4376-869F-34758C414973}" type="doc">
      <dgm:prSet loTypeId="urn:microsoft.com/office/officeart/2005/8/layout/vList2" loCatId="list" qsTypeId="urn:microsoft.com/office/officeart/2005/8/quickstyle/simple1" qsCatId="simple" csTypeId="urn:microsoft.com/office/officeart/2005/8/colors/accent2_1" csCatId="accent2"/>
      <dgm:spPr/>
      <dgm:t>
        <a:bodyPr/>
        <a:lstStyle/>
        <a:p>
          <a:endParaRPr lang="en-NZ"/>
        </a:p>
      </dgm:t>
    </dgm:pt>
    <dgm:pt modelId="{13E71EEE-1CBD-488E-B8A5-37D88BA0F868}">
      <dgm:prSet/>
      <dgm:spPr/>
      <dgm:t>
        <a:bodyPr/>
        <a:lstStyle/>
        <a:p>
          <a:r>
            <a:rPr lang="en-NZ" dirty="0"/>
            <a:t>If there was </a:t>
          </a:r>
          <a:r>
            <a:rPr lang="en-NZ" b="1" u="sng" dirty="0"/>
            <a:t>No Trade</a:t>
          </a:r>
          <a:r>
            <a:rPr lang="en-NZ" dirty="0"/>
            <a:t>:</a:t>
          </a:r>
        </a:p>
      </dgm:t>
    </dgm:pt>
    <dgm:pt modelId="{918BA1C6-6356-4C50-980C-C8751B286268}" type="parTrans" cxnId="{2FDB37AE-CEDA-4252-92C6-1AD8402D93A1}">
      <dgm:prSet/>
      <dgm:spPr/>
      <dgm:t>
        <a:bodyPr/>
        <a:lstStyle/>
        <a:p>
          <a:endParaRPr lang="en-NZ"/>
        </a:p>
      </dgm:t>
    </dgm:pt>
    <dgm:pt modelId="{1D85BB07-40C2-48F2-AEC8-35FBE814C9F4}" type="sibTrans" cxnId="{2FDB37AE-CEDA-4252-92C6-1AD8402D93A1}">
      <dgm:prSet/>
      <dgm:spPr/>
      <dgm:t>
        <a:bodyPr/>
        <a:lstStyle/>
        <a:p>
          <a:endParaRPr lang="en-NZ"/>
        </a:p>
      </dgm:t>
    </dgm:pt>
    <dgm:pt modelId="{FC334831-B985-458F-9F01-A79235A0CA19}">
      <dgm:prSet/>
      <dgm:spPr/>
      <dgm:t>
        <a:bodyPr/>
        <a:lstStyle/>
        <a:p>
          <a:r>
            <a:rPr lang="en-NZ"/>
            <a:t>NZ could make 30 TVs or 60 Fish</a:t>
          </a:r>
        </a:p>
      </dgm:t>
    </dgm:pt>
    <dgm:pt modelId="{7C019DB1-DA1E-4870-95AF-F883B20927C7}" type="parTrans" cxnId="{C1E96FFD-B05E-47AD-9F82-E5073E12E684}">
      <dgm:prSet/>
      <dgm:spPr/>
      <dgm:t>
        <a:bodyPr/>
        <a:lstStyle/>
        <a:p>
          <a:endParaRPr lang="en-NZ"/>
        </a:p>
      </dgm:t>
    </dgm:pt>
    <dgm:pt modelId="{01D315E2-64F1-4488-9257-234A83615462}" type="sibTrans" cxnId="{C1E96FFD-B05E-47AD-9F82-E5073E12E684}">
      <dgm:prSet/>
      <dgm:spPr/>
      <dgm:t>
        <a:bodyPr/>
        <a:lstStyle/>
        <a:p>
          <a:endParaRPr lang="en-NZ"/>
        </a:p>
      </dgm:t>
    </dgm:pt>
    <dgm:pt modelId="{9FA98881-8D2C-4D3C-A924-6544302EAFB1}">
      <dgm:prSet/>
      <dgm:spPr/>
      <dgm:t>
        <a:bodyPr/>
        <a:lstStyle/>
        <a:p>
          <a:r>
            <a:rPr lang="en-NZ"/>
            <a:t>Singapore could make 40 TVs or 30 Fish</a:t>
          </a:r>
        </a:p>
      </dgm:t>
    </dgm:pt>
    <dgm:pt modelId="{805104FE-55DA-4B16-B435-0A136D6F2F21}" type="parTrans" cxnId="{F76F2A59-BBCC-4ECB-811B-8D840CA42F8A}">
      <dgm:prSet/>
      <dgm:spPr/>
      <dgm:t>
        <a:bodyPr/>
        <a:lstStyle/>
        <a:p>
          <a:endParaRPr lang="en-NZ"/>
        </a:p>
      </dgm:t>
    </dgm:pt>
    <dgm:pt modelId="{C5700416-4012-4545-A805-FC2B615F4CEB}" type="sibTrans" cxnId="{F76F2A59-BBCC-4ECB-811B-8D840CA42F8A}">
      <dgm:prSet/>
      <dgm:spPr/>
      <dgm:t>
        <a:bodyPr/>
        <a:lstStyle/>
        <a:p>
          <a:endParaRPr lang="en-NZ"/>
        </a:p>
      </dgm:t>
    </dgm:pt>
    <dgm:pt modelId="{FF5E859A-3F50-4294-874E-7C2F9204FEBC}">
      <dgm:prSet/>
      <dgm:spPr/>
      <dgm:t>
        <a:bodyPr/>
        <a:lstStyle/>
        <a:p>
          <a:r>
            <a:rPr lang="en-NZ" dirty="0"/>
            <a:t>The </a:t>
          </a:r>
          <a:r>
            <a:rPr lang="en-NZ" b="1" dirty="0"/>
            <a:t>Opportunity Cost </a:t>
          </a:r>
          <a:r>
            <a:rPr lang="en-NZ" dirty="0"/>
            <a:t>of 1 TV is:</a:t>
          </a:r>
        </a:p>
      </dgm:t>
    </dgm:pt>
    <dgm:pt modelId="{81A7C242-52D4-4408-AFF4-E018C10ED055}" type="parTrans" cxnId="{669CD267-7818-4FAC-A917-4636EB4EACB2}">
      <dgm:prSet/>
      <dgm:spPr/>
      <dgm:t>
        <a:bodyPr/>
        <a:lstStyle/>
        <a:p>
          <a:endParaRPr lang="en-NZ"/>
        </a:p>
      </dgm:t>
    </dgm:pt>
    <dgm:pt modelId="{DC1D0C82-D13B-41CB-A45D-8F1C3B46C733}" type="sibTrans" cxnId="{669CD267-7818-4FAC-A917-4636EB4EACB2}">
      <dgm:prSet/>
      <dgm:spPr/>
      <dgm:t>
        <a:bodyPr/>
        <a:lstStyle/>
        <a:p>
          <a:endParaRPr lang="en-NZ"/>
        </a:p>
      </dgm:t>
    </dgm:pt>
    <dgm:pt modelId="{F94E140D-5AE4-4B8F-82A2-EF727E94F17E}">
      <dgm:prSet/>
      <dgm:spPr/>
      <dgm:t>
        <a:bodyPr/>
        <a:lstStyle/>
        <a:p>
          <a:r>
            <a:rPr lang="en-NZ" dirty="0"/>
            <a:t>2 Fish for NZ</a:t>
          </a:r>
        </a:p>
      </dgm:t>
    </dgm:pt>
    <dgm:pt modelId="{74904DE2-423F-4950-B747-843526104F57}" type="parTrans" cxnId="{520411E2-E411-499B-815E-344B6F2B301E}">
      <dgm:prSet/>
      <dgm:spPr/>
      <dgm:t>
        <a:bodyPr/>
        <a:lstStyle/>
        <a:p>
          <a:endParaRPr lang="en-NZ"/>
        </a:p>
      </dgm:t>
    </dgm:pt>
    <dgm:pt modelId="{965C351E-8A34-48B2-89A6-7F3497C3E8A9}" type="sibTrans" cxnId="{520411E2-E411-499B-815E-344B6F2B301E}">
      <dgm:prSet/>
      <dgm:spPr/>
      <dgm:t>
        <a:bodyPr/>
        <a:lstStyle/>
        <a:p>
          <a:endParaRPr lang="en-NZ"/>
        </a:p>
      </dgm:t>
    </dgm:pt>
    <dgm:pt modelId="{B86FA36E-E431-457D-AFA2-4E3D4B5C4C03}">
      <dgm:prSet/>
      <dgm:spPr/>
      <dgm:t>
        <a:bodyPr/>
        <a:lstStyle/>
        <a:p>
          <a:r>
            <a:rPr lang="en-NZ"/>
            <a:t>0.75 Fish for Singapore</a:t>
          </a:r>
        </a:p>
      </dgm:t>
    </dgm:pt>
    <dgm:pt modelId="{CEEDB86B-5C80-4721-9037-CAAE4B570A95}" type="parTrans" cxnId="{D39B7EC3-4356-431A-B4F0-3616EFE16E78}">
      <dgm:prSet/>
      <dgm:spPr/>
      <dgm:t>
        <a:bodyPr/>
        <a:lstStyle/>
        <a:p>
          <a:endParaRPr lang="en-NZ"/>
        </a:p>
      </dgm:t>
    </dgm:pt>
    <dgm:pt modelId="{92DA81D4-7773-48BE-A8C5-AF45EBBB9A4E}" type="sibTrans" cxnId="{D39B7EC3-4356-431A-B4F0-3616EFE16E78}">
      <dgm:prSet/>
      <dgm:spPr/>
      <dgm:t>
        <a:bodyPr/>
        <a:lstStyle/>
        <a:p>
          <a:endParaRPr lang="en-NZ"/>
        </a:p>
      </dgm:t>
    </dgm:pt>
    <dgm:pt modelId="{B8566F25-C4CB-47FF-BDA6-0166CDF955F8}">
      <dgm:prSet/>
      <dgm:spPr/>
      <dgm:t>
        <a:bodyPr/>
        <a:lstStyle/>
        <a:p>
          <a:r>
            <a:rPr lang="en-NZ" dirty="0"/>
            <a:t>The </a:t>
          </a:r>
          <a:r>
            <a:rPr lang="en-NZ" b="1" dirty="0"/>
            <a:t>Opportunity Cost </a:t>
          </a:r>
          <a:r>
            <a:rPr lang="en-NZ" dirty="0"/>
            <a:t>of 1 Fish is:</a:t>
          </a:r>
        </a:p>
      </dgm:t>
    </dgm:pt>
    <dgm:pt modelId="{6D8CA4D0-34A7-46E9-AA4A-3F52C95F0CA7}" type="parTrans" cxnId="{F05ED356-0D1F-4D01-9DC1-BBDDAFCD80C8}">
      <dgm:prSet/>
      <dgm:spPr/>
      <dgm:t>
        <a:bodyPr/>
        <a:lstStyle/>
        <a:p>
          <a:endParaRPr lang="en-NZ"/>
        </a:p>
      </dgm:t>
    </dgm:pt>
    <dgm:pt modelId="{F757C135-C944-4ABD-BF73-FD235B477734}" type="sibTrans" cxnId="{F05ED356-0D1F-4D01-9DC1-BBDDAFCD80C8}">
      <dgm:prSet/>
      <dgm:spPr/>
      <dgm:t>
        <a:bodyPr/>
        <a:lstStyle/>
        <a:p>
          <a:endParaRPr lang="en-NZ"/>
        </a:p>
      </dgm:t>
    </dgm:pt>
    <dgm:pt modelId="{01ADA8C0-1498-4324-AED9-F9098E8EF639}">
      <dgm:prSet/>
      <dgm:spPr/>
      <dgm:t>
        <a:bodyPr/>
        <a:lstStyle/>
        <a:p>
          <a:r>
            <a:rPr lang="en-NZ"/>
            <a:t>0.5 TVs for NZ</a:t>
          </a:r>
        </a:p>
      </dgm:t>
    </dgm:pt>
    <dgm:pt modelId="{EC8346B0-E410-4BA3-AFEC-404C5919F208}" type="parTrans" cxnId="{9E392B3C-EC32-466E-AD93-A8EE95F4EA46}">
      <dgm:prSet/>
      <dgm:spPr/>
      <dgm:t>
        <a:bodyPr/>
        <a:lstStyle/>
        <a:p>
          <a:endParaRPr lang="en-NZ"/>
        </a:p>
      </dgm:t>
    </dgm:pt>
    <dgm:pt modelId="{6F0A37D2-17D8-4EFB-829A-9A4E783DCB87}" type="sibTrans" cxnId="{9E392B3C-EC32-466E-AD93-A8EE95F4EA46}">
      <dgm:prSet/>
      <dgm:spPr/>
      <dgm:t>
        <a:bodyPr/>
        <a:lstStyle/>
        <a:p>
          <a:endParaRPr lang="en-NZ"/>
        </a:p>
      </dgm:t>
    </dgm:pt>
    <dgm:pt modelId="{DE21E086-F6AB-46A1-87DC-EA52FB141C68}">
      <dgm:prSet/>
      <dgm:spPr/>
      <dgm:t>
        <a:bodyPr/>
        <a:lstStyle/>
        <a:p>
          <a:r>
            <a:rPr lang="en-NZ"/>
            <a:t>1.33 TVs for Singapore</a:t>
          </a:r>
        </a:p>
      </dgm:t>
    </dgm:pt>
    <dgm:pt modelId="{448E385D-013C-4745-9FC0-83D18556E8B1}" type="parTrans" cxnId="{56354F51-3335-48CC-A588-3C8B6E474419}">
      <dgm:prSet/>
      <dgm:spPr/>
      <dgm:t>
        <a:bodyPr/>
        <a:lstStyle/>
        <a:p>
          <a:endParaRPr lang="en-NZ"/>
        </a:p>
      </dgm:t>
    </dgm:pt>
    <dgm:pt modelId="{9E9AE2F9-50FB-4CCC-B400-6EB26EB12EAB}" type="sibTrans" cxnId="{56354F51-3335-48CC-A588-3C8B6E474419}">
      <dgm:prSet/>
      <dgm:spPr/>
      <dgm:t>
        <a:bodyPr/>
        <a:lstStyle/>
        <a:p>
          <a:endParaRPr lang="en-NZ"/>
        </a:p>
      </dgm:t>
    </dgm:pt>
    <dgm:pt modelId="{DF4946B0-FB7D-4F10-BEFA-E538BE558B6C}" type="pres">
      <dgm:prSet presAssocID="{ACC8472F-D85F-4376-869F-34758C414973}" presName="linear" presStyleCnt="0">
        <dgm:presLayoutVars>
          <dgm:animLvl val="lvl"/>
          <dgm:resizeHandles val="exact"/>
        </dgm:presLayoutVars>
      </dgm:prSet>
      <dgm:spPr/>
    </dgm:pt>
    <dgm:pt modelId="{7BD40746-36DA-46A2-8BBB-B3590DDFF243}" type="pres">
      <dgm:prSet presAssocID="{13E71EEE-1CBD-488E-B8A5-37D88BA0F868}" presName="parentText" presStyleLbl="node1" presStyleIdx="0" presStyleCnt="3">
        <dgm:presLayoutVars>
          <dgm:chMax val="0"/>
          <dgm:bulletEnabled val="1"/>
        </dgm:presLayoutVars>
      </dgm:prSet>
      <dgm:spPr/>
    </dgm:pt>
    <dgm:pt modelId="{C6FA9905-E1FE-4A65-AEF0-16769A236337}" type="pres">
      <dgm:prSet presAssocID="{13E71EEE-1CBD-488E-B8A5-37D88BA0F868}" presName="childText" presStyleLbl="revTx" presStyleIdx="0" presStyleCnt="3">
        <dgm:presLayoutVars>
          <dgm:bulletEnabled val="1"/>
        </dgm:presLayoutVars>
      </dgm:prSet>
      <dgm:spPr/>
    </dgm:pt>
    <dgm:pt modelId="{03F742FA-5BCC-477B-ABFF-36A1277C4602}" type="pres">
      <dgm:prSet presAssocID="{FF5E859A-3F50-4294-874E-7C2F9204FEBC}" presName="parentText" presStyleLbl="node1" presStyleIdx="1" presStyleCnt="3">
        <dgm:presLayoutVars>
          <dgm:chMax val="0"/>
          <dgm:bulletEnabled val="1"/>
        </dgm:presLayoutVars>
      </dgm:prSet>
      <dgm:spPr/>
    </dgm:pt>
    <dgm:pt modelId="{9B874ECF-AE5A-4958-AE7E-CDE38CB6076D}" type="pres">
      <dgm:prSet presAssocID="{FF5E859A-3F50-4294-874E-7C2F9204FEBC}" presName="childText" presStyleLbl="revTx" presStyleIdx="1" presStyleCnt="3">
        <dgm:presLayoutVars>
          <dgm:bulletEnabled val="1"/>
        </dgm:presLayoutVars>
      </dgm:prSet>
      <dgm:spPr/>
    </dgm:pt>
    <dgm:pt modelId="{C0C8586E-E0F6-46FD-8584-01DC5F76D99F}" type="pres">
      <dgm:prSet presAssocID="{B8566F25-C4CB-47FF-BDA6-0166CDF955F8}" presName="parentText" presStyleLbl="node1" presStyleIdx="2" presStyleCnt="3">
        <dgm:presLayoutVars>
          <dgm:chMax val="0"/>
          <dgm:bulletEnabled val="1"/>
        </dgm:presLayoutVars>
      </dgm:prSet>
      <dgm:spPr/>
    </dgm:pt>
    <dgm:pt modelId="{9B52347F-8B53-4ED6-8AD1-A90C4AC4D118}" type="pres">
      <dgm:prSet presAssocID="{B8566F25-C4CB-47FF-BDA6-0166CDF955F8}" presName="childText" presStyleLbl="revTx" presStyleIdx="2" presStyleCnt="3">
        <dgm:presLayoutVars>
          <dgm:bulletEnabled val="1"/>
        </dgm:presLayoutVars>
      </dgm:prSet>
      <dgm:spPr/>
    </dgm:pt>
  </dgm:ptLst>
  <dgm:cxnLst>
    <dgm:cxn modelId="{EC668F18-3EBB-41C9-B0F8-8F1FB2E9E5C9}" type="presOf" srcId="{ACC8472F-D85F-4376-869F-34758C414973}" destId="{DF4946B0-FB7D-4F10-BEFA-E538BE558B6C}" srcOrd="0" destOrd="0" presId="urn:microsoft.com/office/officeart/2005/8/layout/vList2"/>
    <dgm:cxn modelId="{CC38371B-2EA4-425C-8DA7-D1957A479FE2}" type="presOf" srcId="{9FA98881-8D2C-4D3C-A924-6544302EAFB1}" destId="{C6FA9905-E1FE-4A65-AEF0-16769A236337}" srcOrd="0" destOrd="1" presId="urn:microsoft.com/office/officeart/2005/8/layout/vList2"/>
    <dgm:cxn modelId="{38DC3422-B759-406F-A5FF-B0E7E61D4B51}" type="presOf" srcId="{FC334831-B985-458F-9F01-A79235A0CA19}" destId="{C6FA9905-E1FE-4A65-AEF0-16769A236337}" srcOrd="0" destOrd="0" presId="urn:microsoft.com/office/officeart/2005/8/layout/vList2"/>
    <dgm:cxn modelId="{9E392B3C-EC32-466E-AD93-A8EE95F4EA46}" srcId="{B8566F25-C4CB-47FF-BDA6-0166CDF955F8}" destId="{01ADA8C0-1498-4324-AED9-F9098E8EF639}" srcOrd="0" destOrd="0" parTransId="{EC8346B0-E410-4BA3-AFEC-404C5919F208}" sibTransId="{6F0A37D2-17D8-4EFB-829A-9A4E783DCB87}"/>
    <dgm:cxn modelId="{A3927E5B-B094-439E-8548-499887476EE9}" type="presOf" srcId="{01ADA8C0-1498-4324-AED9-F9098E8EF639}" destId="{9B52347F-8B53-4ED6-8AD1-A90C4AC4D118}" srcOrd="0" destOrd="0" presId="urn:microsoft.com/office/officeart/2005/8/layout/vList2"/>
    <dgm:cxn modelId="{0E1DE366-FD31-4697-97E1-139AFFDBCD8E}" type="presOf" srcId="{FF5E859A-3F50-4294-874E-7C2F9204FEBC}" destId="{03F742FA-5BCC-477B-ABFF-36A1277C4602}" srcOrd="0" destOrd="0" presId="urn:microsoft.com/office/officeart/2005/8/layout/vList2"/>
    <dgm:cxn modelId="{669CD267-7818-4FAC-A917-4636EB4EACB2}" srcId="{ACC8472F-D85F-4376-869F-34758C414973}" destId="{FF5E859A-3F50-4294-874E-7C2F9204FEBC}" srcOrd="1" destOrd="0" parTransId="{81A7C242-52D4-4408-AFF4-E018C10ED055}" sibTransId="{DC1D0C82-D13B-41CB-A45D-8F1C3B46C733}"/>
    <dgm:cxn modelId="{56354F51-3335-48CC-A588-3C8B6E474419}" srcId="{B8566F25-C4CB-47FF-BDA6-0166CDF955F8}" destId="{DE21E086-F6AB-46A1-87DC-EA52FB141C68}" srcOrd="1" destOrd="0" parTransId="{448E385D-013C-4745-9FC0-83D18556E8B1}" sibTransId="{9E9AE2F9-50FB-4CCC-B400-6EB26EB12EAB}"/>
    <dgm:cxn modelId="{F05ED356-0D1F-4D01-9DC1-BBDDAFCD80C8}" srcId="{ACC8472F-D85F-4376-869F-34758C414973}" destId="{B8566F25-C4CB-47FF-BDA6-0166CDF955F8}" srcOrd="2" destOrd="0" parTransId="{6D8CA4D0-34A7-46E9-AA4A-3F52C95F0CA7}" sibTransId="{F757C135-C944-4ABD-BF73-FD235B477734}"/>
    <dgm:cxn modelId="{BCA51778-AEE6-44C9-8DF8-C1B6D91C28FA}" type="presOf" srcId="{B8566F25-C4CB-47FF-BDA6-0166CDF955F8}" destId="{C0C8586E-E0F6-46FD-8584-01DC5F76D99F}" srcOrd="0" destOrd="0" presId="urn:microsoft.com/office/officeart/2005/8/layout/vList2"/>
    <dgm:cxn modelId="{F76F2A59-BBCC-4ECB-811B-8D840CA42F8A}" srcId="{13E71EEE-1CBD-488E-B8A5-37D88BA0F868}" destId="{9FA98881-8D2C-4D3C-A924-6544302EAFB1}" srcOrd="1" destOrd="0" parTransId="{805104FE-55DA-4B16-B435-0A136D6F2F21}" sibTransId="{C5700416-4012-4545-A805-FC2B615F4CEB}"/>
    <dgm:cxn modelId="{7423F85A-DA38-4B67-938E-7BA798DBD027}" type="presOf" srcId="{DE21E086-F6AB-46A1-87DC-EA52FB141C68}" destId="{9B52347F-8B53-4ED6-8AD1-A90C4AC4D118}" srcOrd="0" destOrd="1" presId="urn:microsoft.com/office/officeart/2005/8/layout/vList2"/>
    <dgm:cxn modelId="{2FDB37AE-CEDA-4252-92C6-1AD8402D93A1}" srcId="{ACC8472F-D85F-4376-869F-34758C414973}" destId="{13E71EEE-1CBD-488E-B8A5-37D88BA0F868}" srcOrd="0" destOrd="0" parTransId="{918BA1C6-6356-4C50-980C-C8751B286268}" sibTransId="{1D85BB07-40C2-48F2-AEC8-35FBE814C9F4}"/>
    <dgm:cxn modelId="{D39B7EC3-4356-431A-B4F0-3616EFE16E78}" srcId="{FF5E859A-3F50-4294-874E-7C2F9204FEBC}" destId="{B86FA36E-E431-457D-AFA2-4E3D4B5C4C03}" srcOrd="1" destOrd="0" parTransId="{CEEDB86B-5C80-4721-9037-CAAE4B570A95}" sibTransId="{92DA81D4-7773-48BE-A8C5-AF45EBBB9A4E}"/>
    <dgm:cxn modelId="{C97EBFC6-F8FB-4AE0-9184-1A2C9A69C464}" type="presOf" srcId="{F94E140D-5AE4-4B8F-82A2-EF727E94F17E}" destId="{9B874ECF-AE5A-4958-AE7E-CDE38CB6076D}" srcOrd="0" destOrd="0" presId="urn:microsoft.com/office/officeart/2005/8/layout/vList2"/>
    <dgm:cxn modelId="{736808D8-F3EE-432B-A44E-B900BFCB22D2}" type="presOf" srcId="{B86FA36E-E431-457D-AFA2-4E3D4B5C4C03}" destId="{9B874ECF-AE5A-4958-AE7E-CDE38CB6076D}" srcOrd="0" destOrd="1" presId="urn:microsoft.com/office/officeart/2005/8/layout/vList2"/>
    <dgm:cxn modelId="{520411E2-E411-499B-815E-344B6F2B301E}" srcId="{FF5E859A-3F50-4294-874E-7C2F9204FEBC}" destId="{F94E140D-5AE4-4B8F-82A2-EF727E94F17E}" srcOrd="0" destOrd="0" parTransId="{74904DE2-423F-4950-B747-843526104F57}" sibTransId="{965C351E-8A34-48B2-89A6-7F3497C3E8A9}"/>
    <dgm:cxn modelId="{12F6DFEA-37A2-45B7-86A8-3E113B1B21E7}" type="presOf" srcId="{13E71EEE-1CBD-488E-B8A5-37D88BA0F868}" destId="{7BD40746-36DA-46A2-8BBB-B3590DDFF243}" srcOrd="0" destOrd="0" presId="urn:microsoft.com/office/officeart/2005/8/layout/vList2"/>
    <dgm:cxn modelId="{C1E96FFD-B05E-47AD-9F82-E5073E12E684}" srcId="{13E71EEE-1CBD-488E-B8A5-37D88BA0F868}" destId="{FC334831-B985-458F-9F01-A79235A0CA19}" srcOrd="0" destOrd="0" parTransId="{7C019DB1-DA1E-4870-95AF-F883B20927C7}" sibTransId="{01D315E2-64F1-4488-9257-234A83615462}"/>
    <dgm:cxn modelId="{1CE8F8E4-6C23-4304-82DC-C093E2964662}" type="presParOf" srcId="{DF4946B0-FB7D-4F10-BEFA-E538BE558B6C}" destId="{7BD40746-36DA-46A2-8BBB-B3590DDFF243}" srcOrd="0" destOrd="0" presId="urn:microsoft.com/office/officeart/2005/8/layout/vList2"/>
    <dgm:cxn modelId="{BDD90431-0CEF-4641-9D62-22F1757E7057}" type="presParOf" srcId="{DF4946B0-FB7D-4F10-BEFA-E538BE558B6C}" destId="{C6FA9905-E1FE-4A65-AEF0-16769A236337}" srcOrd="1" destOrd="0" presId="urn:microsoft.com/office/officeart/2005/8/layout/vList2"/>
    <dgm:cxn modelId="{9C4B8D3A-0BC4-47F2-9217-0CECBB941CA0}" type="presParOf" srcId="{DF4946B0-FB7D-4F10-BEFA-E538BE558B6C}" destId="{03F742FA-5BCC-477B-ABFF-36A1277C4602}" srcOrd="2" destOrd="0" presId="urn:microsoft.com/office/officeart/2005/8/layout/vList2"/>
    <dgm:cxn modelId="{5354A557-F559-4579-8081-996AB4FDD8C4}" type="presParOf" srcId="{DF4946B0-FB7D-4F10-BEFA-E538BE558B6C}" destId="{9B874ECF-AE5A-4958-AE7E-CDE38CB6076D}" srcOrd="3" destOrd="0" presId="urn:microsoft.com/office/officeart/2005/8/layout/vList2"/>
    <dgm:cxn modelId="{D3805B94-DCBF-4700-B6C0-48FB14DB7024}" type="presParOf" srcId="{DF4946B0-FB7D-4F10-BEFA-E538BE558B6C}" destId="{C0C8586E-E0F6-46FD-8584-01DC5F76D99F}" srcOrd="4" destOrd="0" presId="urn:microsoft.com/office/officeart/2005/8/layout/vList2"/>
    <dgm:cxn modelId="{215ADEA1-3978-4612-981A-958A763E90EB}" type="presParOf" srcId="{DF4946B0-FB7D-4F10-BEFA-E538BE558B6C}" destId="{9B52347F-8B53-4ED6-8AD1-A90C4AC4D118}"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CD7FCB6-3131-4C3E-A3FF-037418B68CEC}" type="doc">
      <dgm:prSet loTypeId="urn:microsoft.com/office/officeart/2005/8/layout/vList2" loCatId="list" qsTypeId="urn:microsoft.com/office/officeart/2005/8/quickstyle/simple1" qsCatId="simple" csTypeId="urn:microsoft.com/office/officeart/2005/8/colors/accent2_1" csCatId="accent2"/>
      <dgm:spPr/>
      <dgm:t>
        <a:bodyPr/>
        <a:lstStyle/>
        <a:p>
          <a:endParaRPr lang="en-NZ"/>
        </a:p>
      </dgm:t>
    </dgm:pt>
    <dgm:pt modelId="{794CD6DD-FBD0-418D-92C8-C1919A87E03C}">
      <dgm:prSet/>
      <dgm:spPr/>
      <dgm:t>
        <a:bodyPr/>
        <a:lstStyle/>
        <a:p>
          <a:r>
            <a:rPr lang="en-NZ"/>
            <a:t>Each country’s Production Possibility Frontier is the same as the Consumption Possibility Frontier.</a:t>
          </a:r>
        </a:p>
      </dgm:t>
    </dgm:pt>
    <dgm:pt modelId="{812D080A-FA80-466B-BCC9-807EECE6AF36}" type="parTrans" cxnId="{206BB6BC-219E-4AAF-AD44-1217395D2402}">
      <dgm:prSet/>
      <dgm:spPr/>
      <dgm:t>
        <a:bodyPr/>
        <a:lstStyle/>
        <a:p>
          <a:endParaRPr lang="en-NZ"/>
        </a:p>
      </dgm:t>
    </dgm:pt>
    <dgm:pt modelId="{88370E89-504B-4EC9-BB94-5BB54AB408DE}" type="sibTrans" cxnId="{206BB6BC-219E-4AAF-AD44-1217395D2402}">
      <dgm:prSet/>
      <dgm:spPr/>
      <dgm:t>
        <a:bodyPr/>
        <a:lstStyle/>
        <a:p>
          <a:endParaRPr lang="en-NZ"/>
        </a:p>
      </dgm:t>
    </dgm:pt>
    <dgm:pt modelId="{F907EA9A-2EBC-4739-9FD5-C3F7A9B3C8BC}">
      <dgm:prSet/>
      <dgm:spPr/>
      <dgm:t>
        <a:bodyPr/>
        <a:lstStyle/>
        <a:p>
          <a:r>
            <a:rPr lang="en-NZ"/>
            <a:t>NZ has the lowest input cost for Fish</a:t>
          </a:r>
        </a:p>
      </dgm:t>
    </dgm:pt>
    <dgm:pt modelId="{E2EE261B-F4BB-4200-B829-5970DC29683E}" type="parTrans" cxnId="{DDFB6241-E997-4703-98C6-5927E7667FCD}">
      <dgm:prSet/>
      <dgm:spPr/>
      <dgm:t>
        <a:bodyPr/>
        <a:lstStyle/>
        <a:p>
          <a:endParaRPr lang="en-NZ"/>
        </a:p>
      </dgm:t>
    </dgm:pt>
    <dgm:pt modelId="{29BA9B32-ACC9-44BE-8622-D9070C68FA53}" type="sibTrans" cxnId="{DDFB6241-E997-4703-98C6-5927E7667FCD}">
      <dgm:prSet/>
      <dgm:spPr/>
      <dgm:t>
        <a:bodyPr/>
        <a:lstStyle/>
        <a:p>
          <a:endParaRPr lang="en-NZ"/>
        </a:p>
      </dgm:t>
    </dgm:pt>
    <dgm:pt modelId="{CC69295F-F8A3-4286-950D-761B6D40C2EA}">
      <dgm:prSet/>
      <dgm:spPr/>
      <dgm:t>
        <a:bodyPr/>
        <a:lstStyle/>
        <a:p>
          <a:r>
            <a:rPr lang="en-NZ"/>
            <a:t>Singapore has the lowest input cost for TVs.</a:t>
          </a:r>
        </a:p>
      </dgm:t>
    </dgm:pt>
    <dgm:pt modelId="{84B9A4C6-0C73-4A55-94EB-112B4E310D4C}" type="parTrans" cxnId="{CB0FFD70-27BA-4485-93CC-64222D4C6DCD}">
      <dgm:prSet/>
      <dgm:spPr/>
      <dgm:t>
        <a:bodyPr/>
        <a:lstStyle/>
        <a:p>
          <a:endParaRPr lang="en-NZ"/>
        </a:p>
      </dgm:t>
    </dgm:pt>
    <dgm:pt modelId="{E3294810-EF3D-4975-8610-52E2A3419909}" type="sibTrans" cxnId="{CB0FFD70-27BA-4485-93CC-64222D4C6DCD}">
      <dgm:prSet/>
      <dgm:spPr/>
      <dgm:t>
        <a:bodyPr/>
        <a:lstStyle/>
        <a:p>
          <a:endParaRPr lang="en-NZ"/>
        </a:p>
      </dgm:t>
    </dgm:pt>
    <dgm:pt modelId="{8470B52C-0B45-4657-BB70-0ED7F4383F95}" type="pres">
      <dgm:prSet presAssocID="{0CD7FCB6-3131-4C3E-A3FF-037418B68CEC}" presName="linear" presStyleCnt="0">
        <dgm:presLayoutVars>
          <dgm:animLvl val="lvl"/>
          <dgm:resizeHandles val="exact"/>
        </dgm:presLayoutVars>
      </dgm:prSet>
      <dgm:spPr/>
    </dgm:pt>
    <dgm:pt modelId="{C648C391-267F-49A1-8B20-AF66948485EB}" type="pres">
      <dgm:prSet presAssocID="{794CD6DD-FBD0-418D-92C8-C1919A87E03C}" presName="parentText" presStyleLbl="node1" presStyleIdx="0" presStyleCnt="3">
        <dgm:presLayoutVars>
          <dgm:chMax val="0"/>
          <dgm:bulletEnabled val="1"/>
        </dgm:presLayoutVars>
      </dgm:prSet>
      <dgm:spPr/>
    </dgm:pt>
    <dgm:pt modelId="{BC3BE2BA-C8C2-4F10-BF75-3FF62B5811EE}" type="pres">
      <dgm:prSet presAssocID="{88370E89-504B-4EC9-BB94-5BB54AB408DE}" presName="spacer" presStyleCnt="0"/>
      <dgm:spPr/>
    </dgm:pt>
    <dgm:pt modelId="{C4B552EA-2894-48D8-9E4B-E89FC623F628}" type="pres">
      <dgm:prSet presAssocID="{F907EA9A-2EBC-4739-9FD5-C3F7A9B3C8BC}" presName="parentText" presStyleLbl="node1" presStyleIdx="1" presStyleCnt="3">
        <dgm:presLayoutVars>
          <dgm:chMax val="0"/>
          <dgm:bulletEnabled val="1"/>
        </dgm:presLayoutVars>
      </dgm:prSet>
      <dgm:spPr/>
    </dgm:pt>
    <dgm:pt modelId="{36D0DEAB-6842-40CE-A696-81A235D6C117}" type="pres">
      <dgm:prSet presAssocID="{29BA9B32-ACC9-44BE-8622-D9070C68FA53}" presName="spacer" presStyleCnt="0"/>
      <dgm:spPr/>
    </dgm:pt>
    <dgm:pt modelId="{3B1083D6-4B52-452E-AC76-8B250555FE74}" type="pres">
      <dgm:prSet presAssocID="{CC69295F-F8A3-4286-950D-761B6D40C2EA}" presName="parentText" presStyleLbl="node1" presStyleIdx="2" presStyleCnt="3">
        <dgm:presLayoutVars>
          <dgm:chMax val="0"/>
          <dgm:bulletEnabled val="1"/>
        </dgm:presLayoutVars>
      </dgm:prSet>
      <dgm:spPr/>
    </dgm:pt>
  </dgm:ptLst>
  <dgm:cxnLst>
    <dgm:cxn modelId="{6398481B-A937-4F35-A121-CCC1DE8FAA5E}" type="presOf" srcId="{794CD6DD-FBD0-418D-92C8-C1919A87E03C}" destId="{C648C391-267F-49A1-8B20-AF66948485EB}" srcOrd="0" destOrd="0" presId="urn:microsoft.com/office/officeart/2005/8/layout/vList2"/>
    <dgm:cxn modelId="{29292E1D-9621-4A48-8233-D07914304C36}" type="presOf" srcId="{F907EA9A-2EBC-4739-9FD5-C3F7A9B3C8BC}" destId="{C4B552EA-2894-48D8-9E4B-E89FC623F628}" srcOrd="0" destOrd="0" presId="urn:microsoft.com/office/officeart/2005/8/layout/vList2"/>
    <dgm:cxn modelId="{2FD0DE2B-6744-47A7-A99E-A0A382DAA8A5}" type="presOf" srcId="{CC69295F-F8A3-4286-950D-761B6D40C2EA}" destId="{3B1083D6-4B52-452E-AC76-8B250555FE74}" srcOrd="0" destOrd="0" presId="urn:microsoft.com/office/officeart/2005/8/layout/vList2"/>
    <dgm:cxn modelId="{DDFB6241-E997-4703-98C6-5927E7667FCD}" srcId="{0CD7FCB6-3131-4C3E-A3FF-037418B68CEC}" destId="{F907EA9A-2EBC-4739-9FD5-C3F7A9B3C8BC}" srcOrd="1" destOrd="0" parTransId="{E2EE261B-F4BB-4200-B829-5970DC29683E}" sibTransId="{29BA9B32-ACC9-44BE-8622-D9070C68FA53}"/>
    <dgm:cxn modelId="{CB0FFD70-27BA-4485-93CC-64222D4C6DCD}" srcId="{0CD7FCB6-3131-4C3E-A3FF-037418B68CEC}" destId="{CC69295F-F8A3-4286-950D-761B6D40C2EA}" srcOrd="2" destOrd="0" parTransId="{84B9A4C6-0C73-4A55-94EB-112B4E310D4C}" sibTransId="{E3294810-EF3D-4975-8610-52E2A3419909}"/>
    <dgm:cxn modelId="{B31DC1A9-182B-4FF0-91B5-B7F671DDDF2D}" type="presOf" srcId="{0CD7FCB6-3131-4C3E-A3FF-037418B68CEC}" destId="{8470B52C-0B45-4657-BB70-0ED7F4383F95}" srcOrd="0" destOrd="0" presId="urn:microsoft.com/office/officeart/2005/8/layout/vList2"/>
    <dgm:cxn modelId="{206BB6BC-219E-4AAF-AD44-1217395D2402}" srcId="{0CD7FCB6-3131-4C3E-A3FF-037418B68CEC}" destId="{794CD6DD-FBD0-418D-92C8-C1919A87E03C}" srcOrd="0" destOrd="0" parTransId="{812D080A-FA80-466B-BCC9-807EECE6AF36}" sibTransId="{88370E89-504B-4EC9-BB94-5BB54AB408DE}"/>
    <dgm:cxn modelId="{A9C986CD-C577-4B33-B509-97DC7086EF64}" type="presParOf" srcId="{8470B52C-0B45-4657-BB70-0ED7F4383F95}" destId="{C648C391-267F-49A1-8B20-AF66948485EB}" srcOrd="0" destOrd="0" presId="urn:microsoft.com/office/officeart/2005/8/layout/vList2"/>
    <dgm:cxn modelId="{7494661F-4418-4615-B9D4-821379DF9CCB}" type="presParOf" srcId="{8470B52C-0B45-4657-BB70-0ED7F4383F95}" destId="{BC3BE2BA-C8C2-4F10-BF75-3FF62B5811EE}" srcOrd="1" destOrd="0" presId="urn:microsoft.com/office/officeart/2005/8/layout/vList2"/>
    <dgm:cxn modelId="{AF29B480-68D8-452D-92CF-B4E644614095}" type="presParOf" srcId="{8470B52C-0B45-4657-BB70-0ED7F4383F95}" destId="{C4B552EA-2894-48D8-9E4B-E89FC623F628}" srcOrd="2" destOrd="0" presId="urn:microsoft.com/office/officeart/2005/8/layout/vList2"/>
    <dgm:cxn modelId="{8BCD043C-7AE2-4B77-BC73-95696F7B4D27}" type="presParOf" srcId="{8470B52C-0B45-4657-BB70-0ED7F4383F95}" destId="{36D0DEAB-6842-40CE-A696-81A235D6C117}" srcOrd="3" destOrd="0" presId="urn:microsoft.com/office/officeart/2005/8/layout/vList2"/>
    <dgm:cxn modelId="{1D2B8D1B-29B0-4EC4-A2B5-3B6AB43D6003}" type="presParOf" srcId="{8470B52C-0B45-4657-BB70-0ED7F4383F95}" destId="{3B1083D6-4B52-452E-AC76-8B250555FE7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3D30BED-5436-49A9-9674-21E6361783EC}" type="doc">
      <dgm:prSet loTypeId="urn:microsoft.com/office/officeart/2005/8/layout/process4" loCatId="list" qsTypeId="urn:microsoft.com/office/officeart/2005/8/quickstyle/simple1" qsCatId="simple" csTypeId="urn:microsoft.com/office/officeart/2005/8/colors/accent2_1" csCatId="accent2" phldr="1"/>
      <dgm:spPr/>
      <dgm:t>
        <a:bodyPr/>
        <a:lstStyle/>
        <a:p>
          <a:endParaRPr lang="en-NZ"/>
        </a:p>
      </dgm:t>
    </dgm:pt>
    <dgm:pt modelId="{88A788B5-2EE3-4D0B-AF09-0B629F02E69E}">
      <dgm:prSet/>
      <dgm:spPr/>
      <dgm:t>
        <a:bodyPr/>
        <a:lstStyle/>
        <a:p>
          <a:r>
            <a:rPr lang="en-NZ" dirty="0"/>
            <a:t>Suppose NZ only produces Fish and Singapore only produces TVs. (lowest opportunity cost)</a:t>
          </a:r>
        </a:p>
      </dgm:t>
    </dgm:pt>
    <dgm:pt modelId="{DC858E21-4ADF-4621-91E8-4889EB90864F}" type="parTrans" cxnId="{BD372C33-3668-45C3-ADAD-DFBF720D29EB}">
      <dgm:prSet/>
      <dgm:spPr/>
      <dgm:t>
        <a:bodyPr/>
        <a:lstStyle/>
        <a:p>
          <a:endParaRPr lang="en-NZ"/>
        </a:p>
      </dgm:t>
    </dgm:pt>
    <dgm:pt modelId="{79083CEB-AAF6-4E4F-B19D-C3FA4FD38BAF}" type="sibTrans" cxnId="{BD372C33-3668-45C3-ADAD-DFBF720D29EB}">
      <dgm:prSet/>
      <dgm:spPr/>
      <dgm:t>
        <a:bodyPr/>
        <a:lstStyle/>
        <a:p>
          <a:endParaRPr lang="en-NZ"/>
        </a:p>
      </dgm:t>
    </dgm:pt>
    <dgm:pt modelId="{475C2097-AE87-492E-8170-2EE7051E64C1}">
      <dgm:prSet/>
      <dgm:spPr/>
      <dgm:t>
        <a:bodyPr/>
        <a:lstStyle/>
        <a:p>
          <a:r>
            <a:rPr lang="en-NZ"/>
            <a:t>They then bargain</a:t>
          </a:r>
        </a:p>
      </dgm:t>
    </dgm:pt>
    <dgm:pt modelId="{4D8EAD44-EFAE-46B2-9824-ADEA2A3EC095}" type="parTrans" cxnId="{BFAE53DA-520D-4B7B-AD99-357AF776C6DC}">
      <dgm:prSet/>
      <dgm:spPr/>
      <dgm:t>
        <a:bodyPr/>
        <a:lstStyle/>
        <a:p>
          <a:endParaRPr lang="en-NZ"/>
        </a:p>
      </dgm:t>
    </dgm:pt>
    <dgm:pt modelId="{42365061-F6C7-4006-8960-059F11956520}" type="sibTrans" cxnId="{BFAE53DA-520D-4B7B-AD99-357AF776C6DC}">
      <dgm:prSet/>
      <dgm:spPr/>
      <dgm:t>
        <a:bodyPr/>
        <a:lstStyle/>
        <a:p>
          <a:endParaRPr lang="en-NZ"/>
        </a:p>
      </dgm:t>
    </dgm:pt>
    <dgm:pt modelId="{86994274-B79B-4B66-8361-C66693558FDA}">
      <dgm:prSet/>
      <dgm:spPr/>
      <dgm:t>
        <a:bodyPr/>
        <a:lstStyle/>
        <a:p>
          <a:r>
            <a:rPr lang="en-NZ"/>
            <a:t>All trade agreements where any country consumes less than under no trade is rejected.</a:t>
          </a:r>
        </a:p>
      </dgm:t>
    </dgm:pt>
    <dgm:pt modelId="{049A9E21-433E-468D-B809-B21FFC6BFABD}" type="parTrans" cxnId="{FD4EED69-46C9-44A0-ACC6-03B098DADD60}">
      <dgm:prSet/>
      <dgm:spPr/>
      <dgm:t>
        <a:bodyPr/>
        <a:lstStyle/>
        <a:p>
          <a:endParaRPr lang="en-NZ"/>
        </a:p>
      </dgm:t>
    </dgm:pt>
    <dgm:pt modelId="{38DBF028-12B1-4A4A-8F6E-FBD5E47326A8}" type="sibTrans" cxnId="{FD4EED69-46C9-44A0-ACC6-03B098DADD60}">
      <dgm:prSet/>
      <dgm:spPr/>
      <dgm:t>
        <a:bodyPr/>
        <a:lstStyle/>
        <a:p>
          <a:endParaRPr lang="en-NZ"/>
        </a:p>
      </dgm:t>
    </dgm:pt>
    <dgm:pt modelId="{0AFB2AB4-E7DE-4476-B21F-759E04819BA4}">
      <dgm:prSet/>
      <dgm:spPr/>
      <dgm:t>
        <a:bodyPr/>
        <a:lstStyle/>
        <a:p>
          <a:r>
            <a:rPr lang="en-NZ" b="1" dirty="0"/>
            <a:t>Any</a:t>
          </a:r>
          <a:r>
            <a:rPr lang="en-NZ" dirty="0"/>
            <a:t> trade agreement where both countries consume </a:t>
          </a:r>
          <a:r>
            <a:rPr lang="en-NZ" b="1" dirty="0"/>
            <a:t>more of both goods</a:t>
          </a:r>
          <a:r>
            <a:rPr lang="en-NZ" dirty="0"/>
            <a:t> are feasible.</a:t>
          </a:r>
        </a:p>
      </dgm:t>
    </dgm:pt>
    <dgm:pt modelId="{6772C80B-DE4D-4CCC-BECB-8F9B31918643}" type="parTrans" cxnId="{9A8AF32F-59B7-409A-BCB8-93C4A59228B2}">
      <dgm:prSet/>
      <dgm:spPr/>
      <dgm:t>
        <a:bodyPr/>
        <a:lstStyle/>
        <a:p>
          <a:endParaRPr lang="en-NZ"/>
        </a:p>
      </dgm:t>
    </dgm:pt>
    <dgm:pt modelId="{B00DC4C0-E163-4180-B808-EBD36080A4F0}" type="sibTrans" cxnId="{9A8AF32F-59B7-409A-BCB8-93C4A59228B2}">
      <dgm:prSet/>
      <dgm:spPr/>
      <dgm:t>
        <a:bodyPr/>
        <a:lstStyle/>
        <a:p>
          <a:endParaRPr lang="en-NZ"/>
        </a:p>
      </dgm:t>
    </dgm:pt>
    <dgm:pt modelId="{44A209C7-AC61-45CB-88F4-3B5FC0014699}">
      <dgm:prSet/>
      <dgm:spPr/>
      <dgm:t>
        <a:bodyPr/>
        <a:lstStyle/>
        <a:p>
          <a:r>
            <a:rPr lang="en-NZ" dirty="0"/>
            <a:t>Because total output is higher with specialisation we can always find a feasible trade agreement.</a:t>
          </a:r>
        </a:p>
      </dgm:t>
    </dgm:pt>
    <dgm:pt modelId="{40D7B981-A921-45D6-A8AD-A8A463138F0C}" type="parTrans" cxnId="{DE93D6BC-B597-4EE3-8EA4-F841B6840A42}">
      <dgm:prSet/>
      <dgm:spPr/>
      <dgm:t>
        <a:bodyPr/>
        <a:lstStyle/>
        <a:p>
          <a:endParaRPr lang="en-NZ"/>
        </a:p>
      </dgm:t>
    </dgm:pt>
    <dgm:pt modelId="{928C705A-3216-48B6-9115-B8FFC04CED3F}" type="sibTrans" cxnId="{DE93D6BC-B597-4EE3-8EA4-F841B6840A42}">
      <dgm:prSet/>
      <dgm:spPr/>
      <dgm:t>
        <a:bodyPr/>
        <a:lstStyle/>
        <a:p>
          <a:endParaRPr lang="en-NZ"/>
        </a:p>
      </dgm:t>
    </dgm:pt>
    <dgm:pt modelId="{49ED9F9C-5F6B-4BD8-922E-F9348E51A52F}" type="pres">
      <dgm:prSet presAssocID="{13D30BED-5436-49A9-9674-21E6361783EC}" presName="Name0" presStyleCnt="0">
        <dgm:presLayoutVars>
          <dgm:dir/>
          <dgm:animLvl val="lvl"/>
          <dgm:resizeHandles val="exact"/>
        </dgm:presLayoutVars>
      </dgm:prSet>
      <dgm:spPr/>
    </dgm:pt>
    <dgm:pt modelId="{06475B6E-C47C-4C0F-9AAC-C26A658A7729}" type="pres">
      <dgm:prSet presAssocID="{44A209C7-AC61-45CB-88F4-3B5FC0014699}" presName="boxAndChildren" presStyleCnt="0"/>
      <dgm:spPr/>
    </dgm:pt>
    <dgm:pt modelId="{321A048B-6879-4207-8F32-4AC7B2090E26}" type="pres">
      <dgm:prSet presAssocID="{44A209C7-AC61-45CB-88F4-3B5FC0014699}" presName="parentTextBox" presStyleLbl="node1" presStyleIdx="0" presStyleCnt="5"/>
      <dgm:spPr/>
    </dgm:pt>
    <dgm:pt modelId="{4626176F-DDAC-4CFC-84DF-5044B0B7CA5D}" type="pres">
      <dgm:prSet presAssocID="{B00DC4C0-E163-4180-B808-EBD36080A4F0}" presName="sp" presStyleCnt="0"/>
      <dgm:spPr/>
    </dgm:pt>
    <dgm:pt modelId="{051859D6-1848-45A3-A8AD-4E726A7DA4FE}" type="pres">
      <dgm:prSet presAssocID="{0AFB2AB4-E7DE-4476-B21F-759E04819BA4}" presName="arrowAndChildren" presStyleCnt="0"/>
      <dgm:spPr/>
    </dgm:pt>
    <dgm:pt modelId="{A1171AC0-0C34-4486-BA3F-0A02B3B360E5}" type="pres">
      <dgm:prSet presAssocID="{0AFB2AB4-E7DE-4476-B21F-759E04819BA4}" presName="parentTextArrow" presStyleLbl="node1" presStyleIdx="1" presStyleCnt="5"/>
      <dgm:spPr/>
    </dgm:pt>
    <dgm:pt modelId="{08DC73E9-094B-4890-B195-8A25A6995855}" type="pres">
      <dgm:prSet presAssocID="{38DBF028-12B1-4A4A-8F6E-FBD5E47326A8}" presName="sp" presStyleCnt="0"/>
      <dgm:spPr/>
    </dgm:pt>
    <dgm:pt modelId="{13758043-C7C4-44BF-93AB-94CE751108F6}" type="pres">
      <dgm:prSet presAssocID="{86994274-B79B-4B66-8361-C66693558FDA}" presName="arrowAndChildren" presStyleCnt="0"/>
      <dgm:spPr/>
    </dgm:pt>
    <dgm:pt modelId="{A4B67C01-7B20-43B6-9706-6F741200ACB9}" type="pres">
      <dgm:prSet presAssocID="{86994274-B79B-4B66-8361-C66693558FDA}" presName="parentTextArrow" presStyleLbl="node1" presStyleIdx="2" presStyleCnt="5"/>
      <dgm:spPr/>
    </dgm:pt>
    <dgm:pt modelId="{7A323216-3816-4A7C-BB2A-E39FC60D4259}" type="pres">
      <dgm:prSet presAssocID="{42365061-F6C7-4006-8960-059F11956520}" presName="sp" presStyleCnt="0"/>
      <dgm:spPr/>
    </dgm:pt>
    <dgm:pt modelId="{72D5CD84-8728-4DE2-BBE9-F5B9F84CDF4A}" type="pres">
      <dgm:prSet presAssocID="{475C2097-AE87-492E-8170-2EE7051E64C1}" presName="arrowAndChildren" presStyleCnt="0"/>
      <dgm:spPr/>
    </dgm:pt>
    <dgm:pt modelId="{B125FFC8-6F93-41F4-98D5-4BCCFD79FAFD}" type="pres">
      <dgm:prSet presAssocID="{475C2097-AE87-492E-8170-2EE7051E64C1}" presName="parentTextArrow" presStyleLbl="node1" presStyleIdx="3" presStyleCnt="5"/>
      <dgm:spPr/>
    </dgm:pt>
    <dgm:pt modelId="{9294C79D-48D3-48B3-B233-64CB9CDB57C5}" type="pres">
      <dgm:prSet presAssocID="{79083CEB-AAF6-4E4F-B19D-C3FA4FD38BAF}" presName="sp" presStyleCnt="0"/>
      <dgm:spPr/>
    </dgm:pt>
    <dgm:pt modelId="{56EA2A1B-163C-48FF-B4CB-2C4953ED80CD}" type="pres">
      <dgm:prSet presAssocID="{88A788B5-2EE3-4D0B-AF09-0B629F02E69E}" presName="arrowAndChildren" presStyleCnt="0"/>
      <dgm:spPr/>
    </dgm:pt>
    <dgm:pt modelId="{829CECD9-CA9C-42DC-9A5E-781BD9983BD0}" type="pres">
      <dgm:prSet presAssocID="{88A788B5-2EE3-4D0B-AF09-0B629F02E69E}" presName="parentTextArrow" presStyleLbl="node1" presStyleIdx="4" presStyleCnt="5"/>
      <dgm:spPr/>
    </dgm:pt>
  </dgm:ptLst>
  <dgm:cxnLst>
    <dgm:cxn modelId="{F711A416-C750-47FB-B7D9-6B0F6C1EA5D5}" type="presOf" srcId="{13D30BED-5436-49A9-9674-21E6361783EC}" destId="{49ED9F9C-5F6B-4BD8-922E-F9348E51A52F}" srcOrd="0" destOrd="0" presId="urn:microsoft.com/office/officeart/2005/8/layout/process4"/>
    <dgm:cxn modelId="{9A8AF32F-59B7-409A-BCB8-93C4A59228B2}" srcId="{13D30BED-5436-49A9-9674-21E6361783EC}" destId="{0AFB2AB4-E7DE-4476-B21F-759E04819BA4}" srcOrd="3" destOrd="0" parTransId="{6772C80B-DE4D-4CCC-BECB-8F9B31918643}" sibTransId="{B00DC4C0-E163-4180-B808-EBD36080A4F0}"/>
    <dgm:cxn modelId="{BD372C33-3668-45C3-ADAD-DFBF720D29EB}" srcId="{13D30BED-5436-49A9-9674-21E6361783EC}" destId="{88A788B5-2EE3-4D0B-AF09-0B629F02E69E}" srcOrd="0" destOrd="0" parTransId="{DC858E21-4ADF-4621-91E8-4889EB90864F}" sibTransId="{79083CEB-AAF6-4E4F-B19D-C3FA4FD38BAF}"/>
    <dgm:cxn modelId="{C02D3943-2CB0-4460-84B9-8A1369582CA7}" type="presOf" srcId="{86994274-B79B-4B66-8361-C66693558FDA}" destId="{A4B67C01-7B20-43B6-9706-6F741200ACB9}" srcOrd="0" destOrd="0" presId="urn:microsoft.com/office/officeart/2005/8/layout/process4"/>
    <dgm:cxn modelId="{FD4EED69-46C9-44A0-ACC6-03B098DADD60}" srcId="{13D30BED-5436-49A9-9674-21E6361783EC}" destId="{86994274-B79B-4B66-8361-C66693558FDA}" srcOrd="2" destOrd="0" parTransId="{049A9E21-433E-468D-B809-B21FFC6BFABD}" sibTransId="{38DBF028-12B1-4A4A-8F6E-FBD5E47326A8}"/>
    <dgm:cxn modelId="{CDC10D74-776A-4E11-923B-BDC6913E6FAC}" type="presOf" srcId="{88A788B5-2EE3-4D0B-AF09-0B629F02E69E}" destId="{829CECD9-CA9C-42DC-9A5E-781BD9983BD0}" srcOrd="0" destOrd="0" presId="urn:microsoft.com/office/officeart/2005/8/layout/process4"/>
    <dgm:cxn modelId="{E8C9CAAC-210D-4D95-8988-133DCD5A1966}" type="presOf" srcId="{44A209C7-AC61-45CB-88F4-3B5FC0014699}" destId="{321A048B-6879-4207-8F32-4AC7B2090E26}" srcOrd="0" destOrd="0" presId="urn:microsoft.com/office/officeart/2005/8/layout/process4"/>
    <dgm:cxn modelId="{27413BB9-2F86-4426-BEC4-39411D4EFA5A}" type="presOf" srcId="{0AFB2AB4-E7DE-4476-B21F-759E04819BA4}" destId="{A1171AC0-0C34-4486-BA3F-0A02B3B360E5}" srcOrd="0" destOrd="0" presId="urn:microsoft.com/office/officeart/2005/8/layout/process4"/>
    <dgm:cxn modelId="{DE93D6BC-B597-4EE3-8EA4-F841B6840A42}" srcId="{13D30BED-5436-49A9-9674-21E6361783EC}" destId="{44A209C7-AC61-45CB-88F4-3B5FC0014699}" srcOrd="4" destOrd="0" parTransId="{40D7B981-A921-45D6-A8AD-A8A463138F0C}" sibTransId="{928C705A-3216-48B6-9115-B8FFC04CED3F}"/>
    <dgm:cxn modelId="{BFAE53DA-520D-4B7B-AD99-357AF776C6DC}" srcId="{13D30BED-5436-49A9-9674-21E6361783EC}" destId="{475C2097-AE87-492E-8170-2EE7051E64C1}" srcOrd="1" destOrd="0" parTransId="{4D8EAD44-EFAE-46B2-9824-ADEA2A3EC095}" sibTransId="{42365061-F6C7-4006-8960-059F11956520}"/>
    <dgm:cxn modelId="{65EA62F7-284D-40F1-952A-7B78DD6389A4}" type="presOf" srcId="{475C2097-AE87-492E-8170-2EE7051E64C1}" destId="{B125FFC8-6F93-41F4-98D5-4BCCFD79FAFD}" srcOrd="0" destOrd="0" presId="urn:microsoft.com/office/officeart/2005/8/layout/process4"/>
    <dgm:cxn modelId="{008C09E3-EC4A-46A0-B7FF-5B69A4818602}" type="presParOf" srcId="{49ED9F9C-5F6B-4BD8-922E-F9348E51A52F}" destId="{06475B6E-C47C-4C0F-9AAC-C26A658A7729}" srcOrd="0" destOrd="0" presId="urn:microsoft.com/office/officeart/2005/8/layout/process4"/>
    <dgm:cxn modelId="{0B8BD035-AD44-4403-B022-51EC51548D78}" type="presParOf" srcId="{06475B6E-C47C-4C0F-9AAC-C26A658A7729}" destId="{321A048B-6879-4207-8F32-4AC7B2090E26}" srcOrd="0" destOrd="0" presId="urn:microsoft.com/office/officeart/2005/8/layout/process4"/>
    <dgm:cxn modelId="{5526F174-5F07-4698-90AC-6BC6E7787530}" type="presParOf" srcId="{49ED9F9C-5F6B-4BD8-922E-F9348E51A52F}" destId="{4626176F-DDAC-4CFC-84DF-5044B0B7CA5D}" srcOrd="1" destOrd="0" presId="urn:microsoft.com/office/officeart/2005/8/layout/process4"/>
    <dgm:cxn modelId="{84A62950-C9A4-4653-A697-AC796BC8D891}" type="presParOf" srcId="{49ED9F9C-5F6B-4BD8-922E-F9348E51A52F}" destId="{051859D6-1848-45A3-A8AD-4E726A7DA4FE}" srcOrd="2" destOrd="0" presId="urn:microsoft.com/office/officeart/2005/8/layout/process4"/>
    <dgm:cxn modelId="{F11C8CE1-6B05-41E2-BF32-4B75119875EB}" type="presParOf" srcId="{051859D6-1848-45A3-A8AD-4E726A7DA4FE}" destId="{A1171AC0-0C34-4486-BA3F-0A02B3B360E5}" srcOrd="0" destOrd="0" presId="urn:microsoft.com/office/officeart/2005/8/layout/process4"/>
    <dgm:cxn modelId="{C5FE207D-8D6F-4EA7-8FA4-DF19BB19E439}" type="presParOf" srcId="{49ED9F9C-5F6B-4BD8-922E-F9348E51A52F}" destId="{08DC73E9-094B-4890-B195-8A25A6995855}" srcOrd="3" destOrd="0" presId="urn:microsoft.com/office/officeart/2005/8/layout/process4"/>
    <dgm:cxn modelId="{4765DB09-9633-4A24-B1A8-7659BDA32608}" type="presParOf" srcId="{49ED9F9C-5F6B-4BD8-922E-F9348E51A52F}" destId="{13758043-C7C4-44BF-93AB-94CE751108F6}" srcOrd="4" destOrd="0" presId="urn:microsoft.com/office/officeart/2005/8/layout/process4"/>
    <dgm:cxn modelId="{51E5B989-B926-4371-BA8B-BBED52A17A64}" type="presParOf" srcId="{13758043-C7C4-44BF-93AB-94CE751108F6}" destId="{A4B67C01-7B20-43B6-9706-6F741200ACB9}" srcOrd="0" destOrd="0" presId="urn:microsoft.com/office/officeart/2005/8/layout/process4"/>
    <dgm:cxn modelId="{B972C327-C682-42E4-9847-FD9FD6CE857A}" type="presParOf" srcId="{49ED9F9C-5F6B-4BD8-922E-F9348E51A52F}" destId="{7A323216-3816-4A7C-BB2A-E39FC60D4259}" srcOrd="5" destOrd="0" presId="urn:microsoft.com/office/officeart/2005/8/layout/process4"/>
    <dgm:cxn modelId="{18F9B12C-5730-4C66-A702-D938C5D56B80}" type="presParOf" srcId="{49ED9F9C-5F6B-4BD8-922E-F9348E51A52F}" destId="{72D5CD84-8728-4DE2-BBE9-F5B9F84CDF4A}" srcOrd="6" destOrd="0" presId="urn:microsoft.com/office/officeart/2005/8/layout/process4"/>
    <dgm:cxn modelId="{76E0180E-38F2-4E97-BD2D-1504814A9092}" type="presParOf" srcId="{72D5CD84-8728-4DE2-BBE9-F5B9F84CDF4A}" destId="{B125FFC8-6F93-41F4-98D5-4BCCFD79FAFD}" srcOrd="0" destOrd="0" presId="urn:microsoft.com/office/officeart/2005/8/layout/process4"/>
    <dgm:cxn modelId="{FC291CED-63E6-4606-A04A-FCB74D76363F}" type="presParOf" srcId="{49ED9F9C-5F6B-4BD8-922E-F9348E51A52F}" destId="{9294C79D-48D3-48B3-B233-64CB9CDB57C5}" srcOrd="7" destOrd="0" presId="urn:microsoft.com/office/officeart/2005/8/layout/process4"/>
    <dgm:cxn modelId="{5BE790AE-9BF7-40A4-9A27-03827C585947}" type="presParOf" srcId="{49ED9F9C-5F6B-4BD8-922E-F9348E51A52F}" destId="{56EA2A1B-163C-48FF-B4CB-2C4953ED80CD}" srcOrd="8" destOrd="0" presId="urn:microsoft.com/office/officeart/2005/8/layout/process4"/>
    <dgm:cxn modelId="{65A40BFD-5B13-463F-A28F-C6D6B5126407}" type="presParOf" srcId="{56EA2A1B-163C-48FF-B4CB-2C4953ED80CD}" destId="{829CECD9-CA9C-42DC-9A5E-781BD9983BD0}"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B05FE7D-2985-4FB3-AE46-CF6081590125}"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NZ"/>
        </a:p>
      </dgm:t>
    </dgm:pt>
    <dgm:pt modelId="{307D13D9-043C-4C12-8CF7-6F4301EF7D09}">
      <dgm:prSet/>
      <dgm:spPr/>
      <dgm:t>
        <a:bodyPr/>
        <a:lstStyle/>
        <a:p>
          <a:r>
            <a:rPr lang="en-NZ" dirty="0"/>
            <a:t>What if NZ was better at </a:t>
          </a:r>
          <a:r>
            <a:rPr lang="en-NZ" b="1" dirty="0"/>
            <a:t>both</a:t>
          </a:r>
          <a:r>
            <a:rPr lang="en-NZ" dirty="0"/>
            <a:t> goods?</a:t>
          </a:r>
        </a:p>
      </dgm:t>
    </dgm:pt>
    <dgm:pt modelId="{5B5AFE1C-C5C7-4943-89CE-8AC18BDB1761}" type="parTrans" cxnId="{9199D9A8-9D66-4E3B-9966-66E17F529D2A}">
      <dgm:prSet/>
      <dgm:spPr/>
      <dgm:t>
        <a:bodyPr/>
        <a:lstStyle/>
        <a:p>
          <a:endParaRPr lang="en-NZ"/>
        </a:p>
      </dgm:t>
    </dgm:pt>
    <dgm:pt modelId="{A6A4E9D7-A2D5-4947-8D7B-88E282799F34}" type="sibTrans" cxnId="{9199D9A8-9D66-4E3B-9966-66E17F529D2A}">
      <dgm:prSet/>
      <dgm:spPr/>
      <dgm:t>
        <a:bodyPr/>
        <a:lstStyle/>
        <a:p>
          <a:endParaRPr lang="en-NZ"/>
        </a:p>
      </dgm:t>
    </dgm:pt>
    <dgm:pt modelId="{FE14BF45-A6A1-4863-A119-49648500FACF}">
      <dgm:prSet/>
      <dgm:spPr/>
      <dgm:t>
        <a:bodyPr/>
        <a:lstStyle/>
        <a:p>
          <a:r>
            <a:rPr lang="en-NZ"/>
            <a:t>The opportunity cost of 1 TV for NZ is 1.5 Fish</a:t>
          </a:r>
        </a:p>
      </dgm:t>
    </dgm:pt>
    <dgm:pt modelId="{493DBD8A-9E99-4CCE-B7E9-1F16297C143A}" type="parTrans" cxnId="{2CE8EFA7-E787-42FC-9997-B51F708384E9}">
      <dgm:prSet/>
      <dgm:spPr/>
      <dgm:t>
        <a:bodyPr/>
        <a:lstStyle/>
        <a:p>
          <a:endParaRPr lang="en-NZ"/>
        </a:p>
      </dgm:t>
    </dgm:pt>
    <dgm:pt modelId="{E2577C6B-DEDD-46CF-9114-ECF1999C820E}" type="sibTrans" cxnId="{2CE8EFA7-E787-42FC-9997-B51F708384E9}">
      <dgm:prSet/>
      <dgm:spPr/>
      <dgm:t>
        <a:bodyPr/>
        <a:lstStyle/>
        <a:p>
          <a:endParaRPr lang="en-NZ"/>
        </a:p>
      </dgm:t>
    </dgm:pt>
    <dgm:pt modelId="{31B16AB8-CA65-47E6-BD3B-4DD4EC93F476}">
      <dgm:prSet/>
      <dgm:spPr/>
      <dgm:t>
        <a:bodyPr/>
        <a:lstStyle/>
        <a:p>
          <a:r>
            <a:rPr lang="en-NZ"/>
            <a:t>The opportunity cost of 1 Fish for NZ is 0.67 TVs</a:t>
          </a:r>
        </a:p>
      </dgm:t>
    </dgm:pt>
    <dgm:pt modelId="{8D679EEC-2073-4437-A255-380408494780}" type="parTrans" cxnId="{AD49EF57-0CA8-4FFA-9AC9-AB77434DB6B1}">
      <dgm:prSet/>
      <dgm:spPr/>
      <dgm:t>
        <a:bodyPr/>
        <a:lstStyle/>
        <a:p>
          <a:endParaRPr lang="en-NZ"/>
        </a:p>
      </dgm:t>
    </dgm:pt>
    <dgm:pt modelId="{EA2BFDB0-8004-40BA-9F05-73EAE755D6C2}" type="sibTrans" cxnId="{AD49EF57-0CA8-4FFA-9AC9-AB77434DB6B1}">
      <dgm:prSet/>
      <dgm:spPr/>
      <dgm:t>
        <a:bodyPr/>
        <a:lstStyle/>
        <a:p>
          <a:endParaRPr lang="en-NZ"/>
        </a:p>
      </dgm:t>
    </dgm:pt>
    <dgm:pt modelId="{143F6862-A1EB-4D2D-81D2-E2D6DBC255E1}">
      <dgm:prSet/>
      <dgm:spPr/>
      <dgm:t>
        <a:bodyPr/>
        <a:lstStyle/>
        <a:p>
          <a:r>
            <a:rPr lang="en-NZ" dirty="0"/>
            <a:t>The opportunity cost of 1 TV for Singapore is 1 Fish</a:t>
          </a:r>
        </a:p>
      </dgm:t>
    </dgm:pt>
    <dgm:pt modelId="{09B88C85-E76D-46EE-95D4-111A222B95DA}" type="parTrans" cxnId="{06D49EE7-51AF-43D6-9965-DE44D5C8BCD0}">
      <dgm:prSet/>
      <dgm:spPr/>
      <dgm:t>
        <a:bodyPr/>
        <a:lstStyle/>
        <a:p>
          <a:endParaRPr lang="en-NZ"/>
        </a:p>
      </dgm:t>
    </dgm:pt>
    <dgm:pt modelId="{ADB35524-FFAE-4781-B53F-DA53009559CB}" type="sibTrans" cxnId="{06D49EE7-51AF-43D6-9965-DE44D5C8BCD0}">
      <dgm:prSet/>
      <dgm:spPr/>
      <dgm:t>
        <a:bodyPr/>
        <a:lstStyle/>
        <a:p>
          <a:endParaRPr lang="en-NZ"/>
        </a:p>
      </dgm:t>
    </dgm:pt>
    <dgm:pt modelId="{04F1A7E9-DE84-478A-B3A0-9F9F6A77B0D6}">
      <dgm:prSet/>
      <dgm:spPr/>
      <dgm:t>
        <a:bodyPr/>
        <a:lstStyle/>
        <a:p>
          <a:r>
            <a:rPr lang="en-NZ"/>
            <a:t>The opportunity cost of 1 Fish for Singapore is 1 TV</a:t>
          </a:r>
        </a:p>
      </dgm:t>
    </dgm:pt>
    <dgm:pt modelId="{0222731E-6F58-4624-B7F5-202D0B5FF8E8}" type="parTrans" cxnId="{0DAB3BCF-A5DB-4E64-A355-85199C1B527C}">
      <dgm:prSet/>
      <dgm:spPr/>
      <dgm:t>
        <a:bodyPr/>
        <a:lstStyle/>
        <a:p>
          <a:endParaRPr lang="en-NZ"/>
        </a:p>
      </dgm:t>
    </dgm:pt>
    <dgm:pt modelId="{0E558AD5-F325-43DA-9E26-CEAD7E12C0A7}" type="sibTrans" cxnId="{0DAB3BCF-A5DB-4E64-A355-85199C1B527C}">
      <dgm:prSet/>
      <dgm:spPr/>
      <dgm:t>
        <a:bodyPr/>
        <a:lstStyle/>
        <a:p>
          <a:endParaRPr lang="en-NZ"/>
        </a:p>
      </dgm:t>
    </dgm:pt>
    <dgm:pt modelId="{EE8CCAE9-7F3A-4D53-88EE-EBD676E7ED6F}">
      <dgm:prSet/>
      <dgm:spPr/>
      <dgm:t>
        <a:bodyPr/>
        <a:lstStyle/>
        <a:p>
          <a:r>
            <a:rPr lang="en-NZ"/>
            <a:t>There is still a gain from trade if the countries specialise in the good they have the lowest opportunity cost.</a:t>
          </a:r>
        </a:p>
      </dgm:t>
    </dgm:pt>
    <dgm:pt modelId="{76A118DB-9B13-4D28-823B-C83246E61937}" type="parTrans" cxnId="{BDA05ADC-970A-4FDF-9C42-E922487A2192}">
      <dgm:prSet/>
      <dgm:spPr/>
      <dgm:t>
        <a:bodyPr/>
        <a:lstStyle/>
        <a:p>
          <a:endParaRPr lang="en-NZ"/>
        </a:p>
      </dgm:t>
    </dgm:pt>
    <dgm:pt modelId="{6C1B3582-9390-402B-9A76-AF44FBA8F03C}" type="sibTrans" cxnId="{BDA05ADC-970A-4FDF-9C42-E922487A2192}">
      <dgm:prSet/>
      <dgm:spPr/>
      <dgm:t>
        <a:bodyPr/>
        <a:lstStyle/>
        <a:p>
          <a:endParaRPr lang="en-NZ"/>
        </a:p>
      </dgm:t>
    </dgm:pt>
    <dgm:pt modelId="{1467AEBF-BE10-4E57-B894-44CAA7E23F20}" type="pres">
      <dgm:prSet presAssocID="{0B05FE7D-2985-4FB3-AE46-CF6081590125}" presName="linear" presStyleCnt="0">
        <dgm:presLayoutVars>
          <dgm:animLvl val="lvl"/>
          <dgm:resizeHandles val="exact"/>
        </dgm:presLayoutVars>
      </dgm:prSet>
      <dgm:spPr/>
    </dgm:pt>
    <dgm:pt modelId="{053C0BD0-8669-4B8C-9958-4660F11959CD}" type="pres">
      <dgm:prSet presAssocID="{307D13D9-043C-4C12-8CF7-6F4301EF7D09}" presName="parentText" presStyleLbl="node1" presStyleIdx="0" presStyleCnt="2">
        <dgm:presLayoutVars>
          <dgm:chMax val="0"/>
          <dgm:bulletEnabled val="1"/>
        </dgm:presLayoutVars>
      </dgm:prSet>
      <dgm:spPr/>
    </dgm:pt>
    <dgm:pt modelId="{DCBDB958-67D0-4E02-83EA-1FC1082A746E}" type="pres">
      <dgm:prSet presAssocID="{307D13D9-043C-4C12-8CF7-6F4301EF7D09}" presName="childText" presStyleLbl="revTx" presStyleIdx="0" presStyleCnt="1" custScaleX="99929">
        <dgm:presLayoutVars>
          <dgm:bulletEnabled val="1"/>
        </dgm:presLayoutVars>
      </dgm:prSet>
      <dgm:spPr/>
    </dgm:pt>
    <dgm:pt modelId="{705DFACC-35A1-4F54-A7C6-D353E49BEA15}" type="pres">
      <dgm:prSet presAssocID="{EE8CCAE9-7F3A-4D53-88EE-EBD676E7ED6F}" presName="parentText" presStyleLbl="node1" presStyleIdx="1" presStyleCnt="2">
        <dgm:presLayoutVars>
          <dgm:chMax val="0"/>
          <dgm:bulletEnabled val="1"/>
        </dgm:presLayoutVars>
      </dgm:prSet>
      <dgm:spPr/>
    </dgm:pt>
  </dgm:ptLst>
  <dgm:cxnLst>
    <dgm:cxn modelId="{3D56705F-5175-48F8-A8D6-FE101B822394}" type="presOf" srcId="{EE8CCAE9-7F3A-4D53-88EE-EBD676E7ED6F}" destId="{705DFACC-35A1-4F54-A7C6-D353E49BEA15}" srcOrd="0" destOrd="0" presId="urn:microsoft.com/office/officeart/2005/8/layout/vList2"/>
    <dgm:cxn modelId="{369ED34C-A6D4-48B4-A052-30B3E5C5DCC0}" type="presOf" srcId="{FE14BF45-A6A1-4863-A119-49648500FACF}" destId="{DCBDB958-67D0-4E02-83EA-1FC1082A746E}" srcOrd="0" destOrd="0" presId="urn:microsoft.com/office/officeart/2005/8/layout/vList2"/>
    <dgm:cxn modelId="{00858552-1788-4220-9350-F3A44E339E5C}" type="presOf" srcId="{143F6862-A1EB-4D2D-81D2-E2D6DBC255E1}" destId="{DCBDB958-67D0-4E02-83EA-1FC1082A746E}" srcOrd="0" destOrd="2" presId="urn:microsoft.com/office/officeart/2005/8/layout/vList2"/>
    <dgm:cxn modelId="{AD49EF57-0CA8-4FFA-9AC9-AB77434DB6B1}" srcId="{307D13D9-043C-4C12-8CF7-6F4301EF7D09}" destId="{31B16AB8-CA65-47E6-BD3B-4DD4EC93F476}" srcOrd="1" destOrd="0" parTransId="{8D679EEC-2073-4437-A255-380408494780}" sibTransId="{EA2BFDB0-8004-40BA-9F05-73EAE755D6C2}"/>
    <dgm:cxn modelId="{8E29CA94-357A-4665-82EB-B530F08C0BD9}" type="presOf" srcId="{307D13D9-043C-4C12-8CF7-6F4301EF7D09}" destId="{053C0BD0-8669-4B8C-9958-4660F11959CD}" srcOrd="0" destOrd="0" presId="urn:microsoft.com/office/officeart/2005/8/layout/vList2"/>
    <dgm:cxn modelId="{2CE8EFA7-E787-42FC-9997-B51F708384E9}" srcId="{307D13D9-043C-4C12-8CF7-6F4301EF7D09}" destId="{FE14BF45-A6A1-4863-A119-49648500FACF}" srcOrd="0" destOrd="0" parTransId="{493DBD8A-9E99-4CCE-B7E9-1F16297C143A}" sibTransId="{E2577C6B-DEDD-46CF-9114-ECF1999C820E}"/>
    <dgm:cxn modelId="{9199D9A8-9D66-4E3B-9966-66E17F529D2A}" srcId="{0B05FE7D-2985-4FB3-AE46-CF6081590125}" destId="{307D13D9-043C-4C12-8CF7-6F4301EF7D09}" srcOrd="0" destOrd="0" parTransId="{5B5AFE1C-C5C7-4943-89CE-8AC18BDB1761}" sibTransId="{A6A4E9D7-A2D5-4947-8D7B-88E282799F34}"/>
    <dgm:cxn modelId="{D646C3B2-9AD1-4ECA-B1B2-BD0F5FBE8834}" type="presOf" srcId="{31B16AB8-CA65-47E6-BD3B-4DD4EC93F476}" destId="{DCBDB958-67D0-4E02-83EA-1FC1082A746E}" srcOrd="0" destOrd="1" presId="urn:microsoft.com/office/officeart/2005/8/layout/vList2"/>
    <dgm:cxn modelId="{215CCCB9-0A13-4C07-A7EF-7DA4F99177B3}" type="presOf" srcId="{0B05FE7D-2985-4FB3-AE46-CF6081590125}" destId="{1467AEBF-BE10-4E57-B894-44CAA7E23F20}" srcOrd="0" destOrd="0" presId="urn:microsoft.com/office/officeart/2005/8/layout/vList2"/>
    <dgm:cxn modelId="{0DAB3BCF-A5DB-4E64-A355-85199C1B527C}" srcId="{307D13D9-043C-4C12-8CF7-6F4301EF7D09}" destId="{04F1A7E9-DE84-478A-B3A0-9F9F6A77B0D6}" srcOrd="3" destOrd="0" parTransId="{0222731E-6F58-4624-B7F5-202D0B5FF8E8}" sibTransId="{0E558AD5-F325-43DA-9E26-CEAD7E12C0A7}"/>
    <dgm:cxn modelId="{BDA05ADC-970A-4FDF-9C42-E922487A2192}" srcId="{0B05FE7D-2985-4FB3-AE46-CF6081590125}" destId="{EE8CCAE9-7F3A-4D53-88EE-EBD676E7ED6F}" srcOrd="1" destOrd="0" parTransId="{76A118DB-9B13-4D28-823B-C83246E61937}" sibTransId="{6C1B3582-9390-402B-9A76-AF44FBA8F03C}"/>
    <dgm:cxn modelId="{06D49EE7-51AF-43D6-9965-DE44D5C8BCD0}" srcId="{307D13D9-043C-4C12-8CF7-6F4301EF7D09}" destId="{143F6862-A1EB-4D2D-81D2-E2D6DBC255E1}" srcOrd="2" destOrd="0" parTransId="{09B88C85-E76D-46EE-95D4-111A222B95DA}" sibTransId="{ADB35524-FFAE-4781-B53F-DA53009559CB}"/>
    <dgm:cxn modelId="{666B6AF9-E3F1-47B5-829C-5F6F702205DE}" type="presOf" srcId="{04F1A7E9-DE84-478A-B3A0-9F9F6A77B0D6}" destId="{DCBDB958-67D0-4E02-83EA-1FC1082A746E}" srcOrd="0" destOrd="3" presId="urn:microsoft.com/office/officeart/2005/8/layout/vList2"/>
    <dgm:cxn modelId="{47359507-F102-41D2-9854-66E13A34CB9A}" type="presParOf" srcId="{1467AEBF-BE10-4E57-B894-44CAA7E23F20}" destId="{053C0BD0-8669-4B8C-9958-4660F11959CD}" srcOrd="0" destOrd="0" presId="urn:microsoft.com/office/officeart/2005/8/layout/vList2"/>
    <dgm:cxn modelId="{B792C94E-CFD7-448C-BF28-18BEE1C03BAD}" type="presParOf" srcId="{1467AEBF-BE10-4E57-B894-44CAA7E23F20}" destId="{DCBDB958-67D0-4E02-83EA-1FC1082A746E}" srcOrd="1" destOrd="0" presId="urn:microsoft.com/office/officeart/2005/8/layout/vList2"/>
    <dgm:cxn modelId="{9C6020DD-92E8-4572-92B4-749DBC0A0D67}" type="presParOf" srcId="{1467AEBF-BE10-4E57-B894-44CAA7E23F20}" destId="{705DFACC-35A1-4F54-A7C6-D353E49BEA1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3FCF3DA-4900-45ED-92D9-C02A9E1FA92D}" type="doc">
      <dgm:prSet loTypeId="urn:microsoft.com/office/officeart/2005/8/layout/process4" loCatId="process" qsTypeId="urn:microsoft.com/office/officeart/2005/8/quickstyle/simple1" qsCatId="simple" csTypeId="urn:microsoft.com/office/officeart/2005/8/colors/accent2_1" csCatId="accent2"/>
      <dgm:spPr/>
      <dgm:t>
        <a:bodyPr/>
        <a:lstStyle/>
        <a:p>
          <a:endParaRPr lang="en-NZ"/>
        </a:p>
      </dgm:t>
    </dgm:pt>
    <dgm:pt modelId="{9FEEF0A6-ED41-4B1C-B4F1-37D3A8E4728B}">
      <dgm:prSet/>
      <dgm:spPr/>
      <dgm:t>
        <a:bodyPr/>
        <a:lstStyle/>
        <a:p>
          <a:r>
            <a:rPr lang="en-NZ"/>
            <a:t>It is </a:t>
          </a:r>
          <a:r>
            <a:rPr lang="en-NZ" b="1"/>
            <a:t>always </a:t>
          </a:r>
          <a:r>
            <a:rPr lang="en-NZ"/>
            <a:t>possible to find an allocation that increases total output and provides a gain from trade:</a:t>
          </a:r>
          <a:endParaRPr lang="en-NZ" dirty="0"/>
        </a:p>
      </dgm:t>
    </dgm:pt>
    <dgm:pt modelId="{95DDB84C-2975-4D8F-9151-F5936885970F}" type="parTrans" cxnId="{7B2BA29D-8FB0-40AD-B613-7EAB609EBDA5}">
      <dgm:prSet/>
      <dgm:spPr/>
      <dgm:t>
        <a:bodyPr/>
        <a:lstStyle/>
        <a:p>
          <a:endParaRPr lang="en-NZ"/>
        </a:p>
      </dgm:t>
    </dgm:pt>
    <dgm:pt modelId="{C2637FA7-AB26-4175-8005-78980DC11EFD}" type="sibTrans" cxnId="{7B2BA29D-8FB0-40AD-B613-7EAB609EBDA5}">
      <dgm:prSet/>
      <dgm:spPr/>
      <dgm:t>
        <a:bodyPr/>
        <a:lstStyle/>
        <a:p>
          <a:endParaRPr lang="en-NZ"/>
        </a:p>
      </dgm:t>
    </dgm:pt>
    <dgm:pt modelId="{8AFA0C6F-8666-4AB8-9954-270227A52F43}">
      <dgm:prSet/>
      <dgm:spPr/>
      <dgm:t>
        <a:bodyPr/>
        <a:lstStyle/>
        <a:p>
          <a:r>
            <a:rPr lang="en-NZ"/>
            <a:t>Example:</a:t>
          </a:r>
        </a:p>
      </dgm:t>
    </dgm:pt>
    <dgm:pt modelId="{1DA12D79-6508-4051-A6FE-E375100E3CC1}" type="parTrans" cxnId="{EB7B088C-1B76-4B8F-85AF-9075174394FB}">
      <dgm:prSet/>
      <dgm:spPr/>
      <dgm:t>
        <a:bodyPr/>
        <a:lstStyle/>
        <a:p>
          <a:endParaRPr lang="en-NZ"/>
        </a:p>
      </dgm:t>
    </dgm:pt>
    <dgm:pt modelId="{FBB35FBC-88F7-414C-9824-FCB83B72934A}" type="sibTrans" cxnId="{EB7B088C-1B76-4B8F-85AF-9075174394FB}">
      <dgm:prSet/>
      <dgm:spPr/>
      <dgm:t>
        <a:bodyPr/>
        <a:lstStyle/>
        <a:p>
          <a:endParaRPr lang="en-NZ"/>
        </a:p>
      </dgm:t>
    </dgm:pt>
    <dgm:pt modelId="{09C6A46E-EEC6-4630-A892-2171118B18C7}">
      <dgm:prSet/>
      <dgm:spPr/>
      <dgm:t>
        <a:bodyPr/>
        <a:lstStyle/>
        <a:p>
          <a:r>
            <a:rPr lang="en-NZ" dirty="0"/>
            <a:t>Singapore completely specialises in TVs and produces no Fish.</a:t>
          </a:r>
        </a:p>
      </dgm:t>
    </dgm:pt>
    <dgm:pt modelId="{3FD5B927-39FF-4B92-B130-ACB852D5BF65}" type="parTrans" cxnId="{37972807-E00D-48DC-AE41-F0B62228A734}">
      <dgm:prSet/>
      <dgm:spPr/>
      <dgm:t>
        <a:bodyPr/>
        <a:lstStyle/>
        <a:p>
          <a:endParaRPr lang="en-NZ"/>
        </a:p>
      </dgm:t>
    </dgm:pt>
    <dgm:pt modelId="{8E449DC2-B327-47BF-AF0C-3F797DF1A10A}" type="sibTrans" cxnId="{37972807-E00D-48DC-AE41-F0B62228A734}">
      <dgm:prSet/>
      <dgm:spPr/>
      <dgm:t>
        <a:bodyPr/>
        <a:lstStyle/>
        <a:p>
          <a:endParaRPr lang="en-NZ"/>
        </a:p>
      </dgm:t>
    </dgm:pt>
    <dgm:pt modelId="{27BD8C29-A72A-4D9B-87D3-5C68FCF17CB5}">
      <dgm:prSet/>
      <dgm:spPr/>
      <dgm:t>
        <a:bodyPr/>
        <a:lstStyle/>
        <a:p>
          <a:r>
            <a:rPr lang="en-NZ"/>
            <a:t>NZ keeps 24 workers producing TVs and the rest (96) produce Fish.</a:t>
          </a:r>
        </a:p>
      </dgm:t>
    </dgm:pt>
    <dgm:pt modelId="{DE081A0D-B008-477B-AD90-49CDF490199B}" type="parTrans" cxnId="{0A89C983-DBC7-4C61-9FDB-EF6BB8CD348F}">
      <dgm:prSet/>
      <dgm:spPr/>
      <dgm:t>
        <a:bodyPr/>
        <a:lstStyle/>
        <a:p>
          <a:endParaRPr lang="en-NZ"/>
        </a:p>
      </dgm:t>
    </dgm:pt>
    <dgm:pt modelId="{5EDB7613-8354-4BDA-8AF9-A05AE58A7957}" type="sibTrans" cxnId="{0A89C983-DBC7-4C61-9FDB-EF6BB8CD348F}">
      <dgm:prSet/>
      <dgm:spPr/>
      <dgm:t>
        <a:bodyPr/>
        <a:lstStyle/>
        <a:p>
          <a:endParaRPr lang="en-NZ"/>
        </a:p>
      </dgm:t>
    </dgm:pt>
    <dgm:pt modelId="{DF8D2A8A-B6D3-4262-920D-1E90491E9968}">
      <dgm:prSet/>
      <dgm:spPr/>
      <dgm:t>
        <a:bodyPr/>
        <a:lstStyle/>
        <a:p>
          <a:r>
            <a:rPr lang="en-NZ"/>
            <a:t>They then bargain on a trade agreement.</a:t>
          </a:r>
        </a:p>
      </dgm:t>
    </dgm:pt>
    <dgm:pt modelId="{23E8E00C-65B0-4FCD-B732-48471BDC2C29}" type="parTrans" cxnId="{909608EE-F208-4FD8-B338-7C832C0FD1F8}">
      <dgm:prSet/>
      <dgm:spPr/>
      <dgm:t>
        <a:bodyPr/>
        <a:lstStyle/>
        <a:p>
          <a:endParaRPr lang="en-NZ"/>
        </a:p>
      </dgm:t>
    </dgm:pt>
    <dgm:pt modelId="{FA912F2A-BCB6-4867-96FE-3CA7CF328AF8}" type="sibTrans" cxnId="{909608EE-F208-4FD8-B338-7C832C0FD1F8}">
      <dgm:prSet/>
      <dgm:spPr/>
      <dgm:t>
        <a:bodyPr/>
        <a:lstStyle/>
        <a:p>
          <a:endParaRPr lang="en-NZ"/>
        </a:p>
      </dgm:t>
    </dgm:pt>
    <dgm:pt modelId="{06AD51C5-A970-42DF-ADFA-2C3D01A6F86F}" type="pres">
      <dgm:prSet presAssocID="{03FCF3DA-4900-45ED-92D9-C02A9E1FA92D}" presName="Name0" presStyleCnt="0">
        <dgm:presLayoutVars>
          <dgm:dir/>
          <dgm:animLvl val="lvl"/>
          <dgm:resizeHandles val="exact"/>
        </dgm:presLayoutVars>
      </dgm:prSet>
      <dgm:spPr/>
    </dgm:pt>
    <dgm:pt modelId="{B231E6D5-9DF3-4670-8763-80C05D4147F5}" type="pres">
      <dgm:prSet presAssocID="{8AFA0C6F-8666-4AB8-9954-270227A52F43}" presName="boxAndChildren" presStyleCnt="0"/>
      <dgm:spPr/>
    </dgm:pt>
    <dgm:pt modelId="{A5C86259-0C4F-4AE5-95D3-EA37F8A6D5E5}" type="pres">
      <dgm:prSet presAssocID="{8AFA0C6F-8666-4AB8-9954-270227A52F43}" presName="parentTextBox" presStyleLbl="node1" presStyleIdx="0" presStyleCnt="2"/>
      <dgm:spPr/>
    </dgm:pt>
    <dgm:pt modelId="{8C6ECD17-B185-4033-B522-BF780D672C6A}" type="pres">
      <dgm:prSet presAssocID="{8AFA0C6F-8666-4AB8-9954-270227A52F43}" presName="entireBox" presStyleLbl="node1" presStyleIdx="0" presStyleCnt="2"/>
      <dgm:spPr/>
    </dgm:pt>
    <dgm:pt modelId="{41CF97DD-781F-4C61-A1F6-7CA81F01FB83}" type="pres">
      <dgm:prSet presAssocID="{8AFA0C6F-8666-4AB8-9954-270227A52F43}" presName="descendantBox" presStyleCnt="0"/>
      <dgm:spPr/>
    </dgm:pt>
    <dgm:pt modelId="{27A71E24-825F-4C1C-B640-5AD93D85C288}" type="pres">
      <dgm:prSet presAssocID="{09C6A46E-EEC6-4630-A892-2171118B18C7}" presName="childTextBox" presStyleLbl="fgAccFollowNode1" presStyleIdx="0" presStyleCnt="3">
        <dgm:presLayoutVars>
          <dgm:bulletEnabled val="1"/>
        </dgm:presLayoutVars>
      </dgm:prSet>
      <dgm:spPr/>
    </dgm:pt>
    <dgm:pt modelId="{AF18ABC9-E17C-45AD-A8B3-C480D094AB79}" type="pres">
      <dgm:prSet presAssocID="{27BD8C29-A72A-4D9B-87D3-5C68FCF17CB5}" presName="childTextBox" presStyleLbl="fgAccFollowNode1" presStyleIdx="1" presStyleCnt="3">
        <dgm:presLayoutVars>
          <dgm:bulletEnabled val="1"/>
        </dgm:presLayoutVars>
      </dgm:prSet>
      <dgm:spPr/>
    </dgm:pt>
    <dgm:pt modelId="{43332CE4-83D1-44B0-9BD2-2BC3951629E9}" type="pres">
      <dgm:prSet presAssocID="{DF8D2A8A-B6D3-4262-920D-1E90491E9968}" presName="childTextBox" presStyleLbl="fgAccFollowNode1" presStyleIdx="2" presStyleCnt="3">
        <dgm:presLayoutVars>
          <dgm:bulletEnabled val="1"/>
        </dgm:presLayoutVars>
      </dgm:prSet>
      <dgm:spPr/>
    </dgm:pt>
    <dgm:pt modelId="{4F566C5C-68E1-42DE-B2EB-9DB51BE05D58}" type="pres">
      <dgm:prSet presAssocID="{C2637FA7-AB26-4175-8005-78980DC11EFD}" presName="sp" presStyleCnt="0"/>
      <dgm:spPr/>
    </dgm:pt>
    <dgm:pt modelId="{42F2B293-E6D4-4208-AD2C-8B14C97BF31E}" type="pres">
      <dgm:prSet presAssocID="{9FEEF0A6-ED41-4B1C-B4F1-37D3A8E4728B}" presName="arrowAndChildren" presStyleCnt="0"/>
      <dgm:spPr/>
    </dgm:pt>
    <dgm:pt modelId="{2DAE0A26-BA7E-434F-B23B-B49C16FE752F}" type="pres">
      <dgm:prSet presAssocID="{9FEEF0A6-ED41-4B1C-B4F1-37D3A8E4728B}" presName="parentTextArrow" presStyleLbl="node1" presStyleIdx="1" presStyleCnt="2" custLinFactNeighborX="10871" custLinFactNeighborY="-685"/>
      <dgm:spPr/>
    </dgm:pt>
  </dgm:ptLst>
  <dgm:cxnLst>
    <dgm:cxn modelId="{F89C5204-8B76-4CE8-808D-50E9034AD670}" type="presOf" srcId="{DF8D2A8A-B6D3-4262-920D-1E90491E9968}" destId="{43332CE4-83D1-44B0-9BD2-2BC3951629E9}" srcOrd="0" destOrd="0" presId="urn:microsoft.com/office/officeart/2005/8/layout/process4"/>
    <dgm:cxn modelId="{37972807-E00D-48DC-AE41-F0B62228A734}" srcId="{8AFA0C6F-8666-4AB8-9954-270227A52F43}" destId="{09C6A46E-EEC6-4630-A892-2171118B18C7}" srcOrd="0" destOrd="0" parTransId="{3FD5B927-39FF-4B92-B130-ACB852D5BF65}" sibTransId="{8E449DC2-B327-47BF-AF0C-3F797DF1A10A}"/>
    <dgm:cxn modelId="{3A5E8F0D-892A-4ADF-A33A-6173BE5526A5}" type="presOf" srcId="{09C6A46E-EEC6-4630-A892-2171118B18C7}" destId="{27A71E24-825F-4C1C-B640-5AD93D85C288}" srcOrd="0" destOrd="0" presId="urn:microsoft.com/office/officeart/2005/8/layout/process4"/>
    <dgm:cxn modelId="{240F7021-AC73-4D4E-AE21-EDDA15A93308}" type="presOf" srcId="{8AFA0C6F-8666-4AB8-9954-270227A52F43}" destId="{A5C86259-0C4F-4AE5-95D3-EA37F8A6D5E5}" srcOrd="0" destOrd="0" presId="urn:microsoft.com/office/officeart/2005/8/layout/process4"/>
    <dgm:cxn modelId="{9D289F4B-9DCF-48D4-8884-8AE1BC837DCE}" type="presOf" srcId="{27BD8C29-A72A-4D9B-87D3-5C68FCF17CB5}" destId="{AF18ABC9-E17C-45AD-A8B3-C480D094AB79}" srcOrd="0" destOrd="0" presId="urn:microsoft.com/office/officeart/2005/8/layout/process4"/>
    <dgm:cxn modelId="{765F1050-72A4-40E7-A09F-585FBA958C76}" type="presOf" srcId="{9FEEF0A6-ED41-4B1C-B4F1-37D3A8E4728B}" destId="{2DAE0A26-BA7E-434F-B23B-B49C16FE752F}" srcOrd="0" destOrd="0" presId="urn:microsoft.com/office/officeart/2005/8/layout/process4"/>
    <dgm:cxn modelId="{0A89C983-DBC7-4C61-9FDB-EF6BB8CD348F}" srcId="{8AFA0C6F-8666-4AB8-9954-270227A52F43}" destId="{27BD8C29-A72A-4D9B-87D3-5C68FCF17CB5}" srcOrd="1" destOrd="0" parTransId="{DE081A0D-B008-477B-AD90-49CDF490199B}" sibTransId="{5EDB7613-8354-4BDA-8AF9-A05AE58A7957}"/>
    <dgm:cxn modelId="{EB7B088C-1B76-4B8F-85AF-9075174394FB}" srcId="{03FCF3DA-4900-45ED-92D9-C02A9E1FA92D}" destId="{8AFA0C6F-8666-4AB8-9954-270227A52F43}" srcOrd="1" destOrd="0" parTransId="{1DA12D79-6508-4051-A6FE-E375100E3CC1}" sibTransId="{FBB35FBC-88F7-414C-9824-FCB83B72934A}"/>
    <dgm:cxn modelId="{7B2BA29D-8FB0-40AD-B613-7EAB609EBDA5}" srcId="{03FCF3DA-4900-45ED-92D9-C02A9E1FA92D}" destId="{9FEEF0A6-ED41-4B1C-B4F1-37D3A8E4728B}" srcOrd="0" destOrd="0" parTransId="{95DDB84C-2975-4D8F-9151-F5936885970F}" sibTransId="{C2637FA7-AB26-4175-8005-78980DC11EFD}"/>
    <dgm:cxn modelId="{5C9594C2-6BB3-418E-8DD2-F016A14D12BC}" type="presOf" srcId="{8AFA0C6F-8666-4AB8-9954-270227A52F43}" destId="{8C6ECD17-B185-4033-B522-BF780D672C6A}" srcOrd="1" destOrd="0" presId="urn:microsoft.com/office/officeart/2005/8/layout/process4"/>
    <dgm:cxn modelId="{B4A01AE6-811D-43C0-9120-32F2C6E84474}" type="presOf" srcId="{03FCF3DA-4900-45ED-92D9-C02A9E1FA92D}" destId="{06AD51C5-A970-42DF-ADFA-2C3D01A6F86F}" srcOrd="0" destOrd="0" presId="urn:microsoft.com/office/officeart/2005/8/layout/process4"/>
    <dgm:cxn modelId="{909608EE-F208-4FD8-B338-7C832C0FD1F8}" srcId="{8AFA0C6F-8666-4AB8-9954-270227A52F43}" destId="{DF8D2A8A-B6D3-4262-920D-1E90491E9968}" srcOrd="2" destOrd="0" parTransId="{23E8E00C-65B0-4FCD-B732-48471BDC2C29}" sibTransId="{FA912F2A-BCB6-4867-96FE-3CA7CF328AF8}"/>
    <dgm:cxn modelId="{80352DF9-FC62-4C07-AA50-F52E2B795C2B}" type="presParOf" srcId="{06AD51C5-A970-42DF-ADFA-2C3D01A6F86F}" destId="{B231E6D5-9DF3-4670-8763-80C05D4147F5}" srcOrd="0" destOrd="0" presId="urn:microsoft.com/office/officeart/2005/8/layout/process4"/>
    <dgm:cxn modelId="{5FA5A9FE-9A22-4129-A680-5E50741AC7D2}" type="presParOf" srcId="{B231E6D5-9DF3-4670-8763-80C05D4147F5}" destId="{A5C86259-0C4F-4AE5-95D3-EA37F8A6D5E5}" srcOrd="0" destOrd="0" presId="urn:microsoft.com/office/officeart/2005/8/layout/process4"/>
    <dgm:cxn modelId="{99F63F78-9853-4A8F-9E90-487B49EB8AF0}" type="presParOf" srcId="{B231E6D5-9DF3-4670-8763-80C05D4147F5}" destId="{8C6ECD17-B185-4033-B522-BF780D672C6A}" srcOrd="1" destOrd="0" presId="urn:microsoft.com/office/officeart/2005/8/layout/process4"/>
    <dgm:cxn modelId="{7705E9AA-893F-4916-8C21-A9BF9E70B82E}" type="presParOf" srcId="{B231E6D5-9DF3-4670-8763-80C05D4147F5}" destId="{41CF97DD-781F-4C61-A1F6-7CA81F01FB83}" srcOrd="2" destOrd="0" presId="urn:microsoft.com/office/officeart/2005/8/layout/process4"/>
    <dgm:cxn modelId="{95F0EDF7-D065-44BB-B51C-8D0AD007CFB2}" type="presParOf" srcId="{41CF97DD-781F-4C61-A1F6-7CA81F01FB83}" destId="{27A71E24-825F-4C1C-B640-5AD93D85C288}" srcOrd="0" destOrd="0" presId="urn:microsoft.com/office/officeart/2005/8/layout/process4"/>
    <dgm:cxn modelId="{D4318E1F-D89A-4988-81A9-E76FBBBF8E51}" type="presParOf" srcId="{41CF97DD-781F-4C61-A1F6-7CA81F01FB83}" destId="{AF18ABC9-E17C-45AD-A8B3-C480D094AB79}" srcOrd="1" destOrd="0" presId="urn:microsoft.com/office/officeart/2005/8/layout/process4"/>
    <dgm:cxn modelId="{BA61D70C-F30B-4851-AF31-D9618EE27D59}" type="presParOf" srcId="{41CF97DD-781F-4C61-A1F6-7CA81F01FB83}" destId="{43332CE4-83D1-44B0-9BD2-2BC3951629E9}" srcOrd="2" destOrd="0" presId="urn:microsoft.com/office/officeart/2005/8/layout/process4"/>
    <dgm:cxn modelId="{B1DEAFD6-5B27-4E35-8A69-EB9A53E7DD4D}" type="presParOf" srcId="{06AD51C5-A970-42DF-ADFA-2C3D01A6F86F}" destId="{4F566C5C-68E1-42DE-B2EB-9DB51BE05D58}" srcOrd="1" destOrd="0" presId="urn:microsoft.com/office/officeart/2005/8/layout/process4"/>
    <dgm:cxn modelId="{C962FD4F-607A-46FE-97DD-EB96C9649960}" type="presParOf" srcId="{06AD51C5-A970-42DF-ADFA-2C3D01A6F86F}" destId="{42F2B293-E6D4-4208-AD2C-8B14C97BF31E}" srcOrd="2" destOrd="0" presId="urn:microsoft.com/office/officeart/2005/8/layout/process4"/>
    <dgm:cxn modelId="{5DFBB765-38EB-43E1-A7EA-5DCB2DD00E5C}" type="presParOf" srcId="{42F2B293-E6D4-4208-AD2C-8B14C97BF31E}" destId="{2DAE0A26-BA7E-434F-B23B-B49C16FE752F}"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7CC5C98-DB9A-4FCD-853E-D50B0013800A}" type="doc">
      <dgm:prSet loTypeId="urn:microsoft.com/office/officeart/2016/7/layout/LinearBlockProcessNumbered" loCatId="process" qsTypeId="urn:microsoft.com/office/officeart/2005/8/quickstyle/simple1" qsCatId="simple" csTypeId="urn:microsoft.com/office/officeart/2005/8/colors/accent1_2" csCatId="accent1"/>
      <dgm:spPr/>
      <dgm:t>
        <a:bodyPr/>
        <a:lstStyle/>
        <a:p>
          <a:endParaRPr lang="en-US"/>
        </a:p>
      </dgm:t>
    </dgm:pt>
    <dgm:pt modelId="{FD3146DE-0A07-4CC8-8398-4222FEDD9DEB}">
      <dgm:prSet/>
      <dgm:spPr/>
      <dgm:t>
        <a:bodyPr/>
        <a:lstStyle/>
        <a:p>
          <a:r>
            <a:rPr lang="en-US"/>
            <a:t>Let’s consider a trade (price) ratio of 1 tonne of wheat to 2 apples. </a:t>
          </a:r>
        </a:p>
      </dgm:t>
    </dgm:pt>
    <dgm:pt modelId="{D82623C7-5978-42EE-A891-45AB9D15F00A}" type="parTrans" cxnId="{C033A6D2-5728-43E8-B065-3599D563C159}">
      <dgm:prSet/>
      <dgm:spPr/>
      <dgm:t>
        <a:bodyPr/>
        <a:lstStyle/>
        <a:p>
          <a:endParaRPr lang="en-US"/>
        </a:p>
      </dgm:t>
    </dgm:pt>
    <dgm:pt modelId="{E8948CE2-32E8-4658-95A5-3AC67400C00F}" type="sibTrans" cxnId="{C033A6D2-5728-43E8-B065-3599D563C159}">
      <dgm:prSet phldrT="01" phldr="0"/>
      <dgm:spPr/>
      <dgm:t>
        <a:bodyPr/>
        <a:lstStyle/>
        <a:p>
          <a:r>
            <a:rPr lang="en-US"/>
            <a:t>01</a:t>
          </a:r>
        </a:p>
      </dgm:t>
    </dgm:pt>
    <dgm:pt modelId="{849B20D3-9B48-4455-A128-0E22019712DA}">
      <dgm:prSet/>
      <dgm:spPr/>
      <dgm:t>
        <a:bodyPr/>
        <a:lstStyle/>
        <a:p>
          <a:r>
            <a:rPr lang="en-US"/>
            <a:t>Carlos specializes in apples</a:t>
          </a:r>
        </a:p>
      </dgm:t>
    </dgm:pt>
    <dgm:pt modelId="{D8810FA3-98BD-41F2-8B30-E6C47A0C18B6}" type="parTrans" cxnId="{76F95F6F-C679-44F7-8917-B1903837BF7B}">
      <dgm:prSet/>
      <dgm:spPr/>
      <dgm:t>
        <a:bodyPr/>
        <a:lstStyle/>
        <a:p>
          <a:endParaRPr lang="en-US"/>
        </a:p>
      </dgm:t>
    </dgm:pt>
    <dgm:pt modelId="{5B1B998D-0C1D-4AFA-924C-B385B30DFB1B}" type="sibTrans" cxnId="{76F95F6F-C679-44F7-8917-B1903837BF7B}">
      <dgm:prSet/>
      <dgm:spPr/>
      <dgm:t>
        <a:bodyPr/>
        <a:lstStyle/>
        <a:p>
          <a:endParaRPr lang="en-US"/>
        </a:p>
      </dgm:t>
    </dgm:pt>
    <dgm:pt modelId="{336884A7-FF33-452E-90FB-1926D76082A5}">
      <dgm:prSet/>
      <dgm:spPr/>
      <dgm:t>
        <a:bodyPr/>
        <a:lstStyle/>
        <a:p>
          <a:r>
            <a:rPr lang="en-US"/>
            <a:t>Greta specializes in wheat</a:t>
          </a:r>
        </a:p>
      </dgm:t>
    </dgm:pt>
    <dgm:pt modelId="{EC93321D-DA1E-443B-B876-8B5A10FC5C2D}" type="parTrans" cxnId="{4E648D7B-E50C-41B6-A50A-5D79C4BFC674}">
      <dgm:prSet/>
      <dgm:spPr/>
      <dgm:t>
        <a:bodyPr/>
        <a:lstStyle/>
        <a:p>
          <a:endParaRPr lang="en-US"/>
        </a:p>
      </dgm:t>
    </dgm:pt>
    <dgm:pt modelId="{0F005A04-6C9B-4C3D-9A3D-46ADAF0DAC4F}" type="sibTrans" cxnId="{4E648D7B-E50C-41B6-A50A-5D79C4BFC674}">
      <dgm:prSet/>
      <dgm:spPr/>
      <dgm:t>
        <a:bodyPr/>
        <a:lstStyle/>
        <a:p>
          <a:endParaRPr lang="en-US"/>
        </a:p>
      </dgm:t>
    </dgm:pt>
    <dgm:pt modelId="{E60885C2-19A6-4B39-86EB-FFA5BACFE0C4}">
      <dgm:prSet/>
      <dgm:spPr/>
      <dgm:t>
        <a:bodyPr/>
        <a:lstStyle/>
        <a:p>
          <a:r>
            <a:rPr lang="en-US"/>
            <a:t>Both of their feasible consumption frontiers are above their feasible production frontiers!</a:t>
          </a:r>
        </a:p>
      </dgm:t>
    </dgm:pt>
    <dgm:pt modelId="{5AA9BF10-39D0-455D-81D1-56A4FF06E387}" type="parTrans" cxnId="{E3AB1D2C-308F-45F6-A413-5B5826F39BA9}">
      <dgm:prSet/>
      <dgm:spPr/>
      <dgm:t>
        <a:bodyPr/>
        <a:lstStyle/>
        <a:p>
          <a:endParaRPr lang="en-US"/>
        </a:p>
      </dgm:t>
    </dgm:pt>
    <dgm:pt modelId="{5D557BF1-8A02-4DEF-AB02-DD4D7495B7F2}" type="sibTrans" cxnId="{E3AB1D2C-308F-45F6-A413-5B5826F39BA9}">
      <dgm:prSet/>
      <dgm:spPr/>
      <dgm:t>
        <a:bodyPr/>
        <a:lstStyle/>
        <a:p>
          <a:endParaRPr lang="en-US"/>
        </a:p>
      </dgm:t>
    </dgm:pt>
    <dgm:pt modelId="{6A576EA4-BAFF-4982-A6DF-75B27DC4A5D2}" type="pres">
      <dgm:prSet presAssocID="{E7CC5C98-DB9A-4FCD-853E-D50B0013800A}" presName="Name0" presStyleCnt="0">
        <dgm:presLayoutVars>
          <dgm:animLvl val="lvl"/>
          <dgm:resizeHandles val="exact"/>
        </dgm:presLayoutVars>
      </dgm:prSet>
      <dgm:spPr/>
    </dgm:pt>
    <dgm:pt modelId="{72773961-3549-4DD2-B17F-916E40355E11}" type="pres">
      <dgm:prSet presAssocID="{FD3146DE-0A07-4CC8-8398-4222FEDD9DEB}" presName="compositeNode" presStyleCnt="0">
        <dgm:presLayoutVars>
          <dgm:bulletEnabled val="1"/>
        </dgm:presLayoutVars>
      </dgm:prSet>
      <dgm:spPr/>
    </dgm:pt>
    <dgm:pt modelId="{2945BBCD-B58B-4E3C-9880-2A11B8EDA36F}" type="pres">
      <dgm:prSet presAssocID="{FD3146DE-0A07-4CC8-8398-4222FEDD9DEB}" presName="bgRect" presStyleLbl="alignNode1" presStyleIdx="0" presStyleCnt="1"/>
      <dgm:spPr/>
    </dgm:pt>
    <dgm:pt modelId="{0301BDF1-F084-4B38-BF53-EBD7CC3BAE73}" type="pres">
      <dgm:prSet presAssocID="{E8948CE2-32E8-4658-95A5-3AC67400C00F}" presName="sibTransNodeRect" presStyleLbl="alignNode1" presStyleIdx="0" presStyleCnt="1">
        <dgm:presLayoutVars>
          <dgm:chMax val="0"/>
          <dgm:bulletEnabled val="1"/>
        </dgm:presLayoutVars>
      </dgm:prSet>
      <dgm:spPr/>
    </dgm:pt>
    <dgm:pt modelId="{07AA091B-FD95-462D-B1E2-0E28148871BA}" type="pres">
      <dgm:prSet presAssocID="{FD3146DE-0A07-4CC8-8398-4222FEDD9DEB}" presName="nodeRect" presStyleLbl="alignNode1" presStyleIdx="0" presStyleCnt="1">
        <dgm:presLayoutVars>
          <dgm:bulletEnabled val="1"/>
        </dgm:presLayoutVars>
      </dgm:prSet>
      <dgm:spPr/>
    </dgm:pt>
  </dgm:ptLst>
  <dgm:cxnLst>
    <dgm:cxn modelId="{D5524017-47EA-4C1F-8CB9-60BE76868B6E}" type="presOf" srcId="{E60885C2-19A6-4B39-86EB-FFA5BACFE0C4}" destId="{07AA091B-FD95-462D-B1E2-0E28148871BA}" srcOrd="0" destOrd="3" presId="urn:microsoft.com/office/officeart/2016/7/layout/LinearBlockProcessNumbered"/>
    <dgm:cxn modelId="{FDB81826-2851-43F1-8104-510B7E781CF3}" type="presOf" srcId="{FD3146DE-0A07-4CC8-8398-4222FEDD9DEB}" destId="{07AA091B-FD95-462D-B1E2-0E28148871BA}" srcOrd="1" destOrd="0" presId="urn:microsoft.com/office/officeart/2016/7/layout/LinearBlockProcessNumbered"/>
    <dgm:cxn modelId="{E3AB1D2C-308F-45F6-A413-5B5826F39BA9}" srcId="{FD3146DE-0A07-4CC8-8398-4222FEDD9DEB}" destId="{E60885C2-19A6-4B39-86EB-FFA5BACFE0C4}" srcOrd="2" destOrd="0" parTransId="{5AA9BF10-39D0-455D-81D1-56A4FF06E387}" sibTransId="{5D557BF1-8A02-4DEF-AB02-DD4D7495B7F2}"/>
    <dgm:cxn modelId="{21C5E84A-DFE0-4A3A-A01D-3A33B000E744}" type="presOf" srcId="{FD3146DE-0A07-4CC8-8398-4222FEDD9DEB}" destId="{2945BBCD-B58B-4E3C-9880-2A11B8EDA36F}" srcOrd="0" destOrd="0" presId="urn:microsoft.com/office/officeart/2016/7/layout/LinearBlockProcessNumbered"/>
    <dgm:cxn modelId="{1655876E-2567-4D9D-929C-F260B4054B86}" type="presOf" srcId="{E7CC5C98-DB9A-4FCD-853E-D50B0013800A}" destId="{6A576EA4-BAFF-4982-A6DF-75B27DC4A5D2}" srcOrd="0" destOrd="0" presId="urn:microsoft.com/office/officeart/2016/7/layout/LinearBlockProcessNumbered"/>
    <dgm:cxn modelId="{76F95F6F-C679-44F7-8917-B1903837BF7B}" srcId="{FD3146DE-0A07-4CC8-8398-4222FEDD9DEB}" destId="{849B20D3-9B48-4455-A128-0E22019712DA}" srcOrd="0" destOrd="0" parTransId="{D8810FA3-98BD-41F2-8B30-E6C47A0C18B6}" sibTransId="{5B1B998D-0C1D-4AFA-924C-B385B30DFB1B}"/>
    <dgm:cxn modelId="{6CFAE84F-87F0-4BC1-B64D-E850FD4BF8B5}" type="presOf" srcId="{336884A7-FF33-452E-90FB-1926D76082A5}" destId="{07AA091B-FD95-462D-B1E2-0E28148871BA}" srcOrd="0" destOrd="2" presId="urn:microsoft.com/office/officeart/2016/7/layout/LinearBlockProcessNumbered"/>
    <dgm:cxn modelId="{4E648D7B-E50C-41B6-A50A-5D79C4BFC674}" srcId="{FD3146DE-0A07-4CC8-8398-4222FEDD9DEB}" destId="{336884A7-FF33-452E-90FB-1926D76082A5}" srcOrd="1" destOrd="0" parTransId="{EC93321D-DA1E-443B-B876-8B5A10FC5C2D}" sibTransId="{0F005A04-6C9B-4C3D-9A3D-46ADAF0DAC4F}"/>
    <dgm:cxn modelId="{7CBCA27B-FE72-436B-A1EA-CB53FC492299}" type="presOf" srcId="{E8948CE2-32E8-4658-95A5-3AC67400C00F}" destId="{0301BDF1-F084-4B38-BF53-EBD7CC3BAE73}" srcOrd="0" destOrd="0" presId="urn:microsoft.com/office/officeart/2016/7/layout/LinearBlockProcessNumbered"/>
    <dgm:cxn modelId="{C033A6D2-5728-43E8-B065-3599D563C159}" srcId="{E7CC5C98-DB9A-4FCD-853E-D50B0013800A}" destId="{FD3146DE-0A07-4CC8-8398-4222FEDD9DEB}" srcOrd="0" destOrd="0" parTransId="{D82623C7-5978-42EE-A891-45AB9D15F00A}" sibTransId="{E8948CE2-32E8-4658-95A5-3AC67400C00F}"/>
    <dgm:cxn modelId="{EB261BE6-58E0-4C0A-A473-FE9100561CEE}" type="presOf" srcId="{849B20D3-9B48-4455-A128-0E22019712DA}" destId="{07AA091B-FD95-462D-B1E2-0E28148871BA}" srcOrd="0" destOrd="1" presId="urn:microsoft.com/office/officeart/2016/7/layout/LinearBlockProcessNumbered"/>
    <dgm:cxn modelId="{C860FE30-97F3-4DBD-BA4E-7336C70914DA}" type="presParOf" srcId="{6A576EA4-BAFF-4982-A6DF-75B27DC4A5D2}" destId="{72773961-3549-4DD2-B17F-916E40355E11}" srcOrd="0" destOrd="0" presId="urn:microsoft.com/office/officeart/2016/7/layout/LinearBlockProcessNumbered"/>
    <dgm:cxn modelId="{6F1C8BE7-B62B-450B-8B97-F772D8D876A4}" type="presParOf" srcId="{72773961-3549-4DD2-B17F-916E40355E11}" destId="{2945BBCD-B58B-4E3C-9880-2A11B8EDA36F}" srcOrd="0" destOrd="0" presId="urn:microsoft.com/office/officeart/2016/7/layout/LinearBlockProcessNumbered"/>
    <dgm:cxn modelId="{6E3A320D-94D0-43C0-A308-124F12283C5B}" type="presParOf" srcId="{72773961-3549-4DD2-B17F-916E40355E11}" destId="{0301BDF1-F084-4B38-BF53-EBD7CC3BAE73}" srcOrd="1" destOrd="0" presId="urn:microsoft.com/office/officeart/2016/7/layout/LinearBlockProcessNumbered"/>
    <dgm:cxn modelId="{F3086BB3-E8C3-4AC1-9527-0B9798ED503F}" type="presParOf" srcId="{72773961-3549-4DD2-B17F-916E40355E11}" destId="{07AA091B-FD95-462D-B1E2-0E28148871BA}"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4906B3D5-12C1-468F-8412-996C3CD1BFBD}"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NZ"/>
        </a:p>
      </dgm:t>
    </dgm:pt>
    <dgm:pt modelId="{A5DF84F0-2194-4D3E-A34B-273A411A7D00}">
      <dgm:prSet/>
      <dgm:spPr/>
      <dgm:t>
        <a:bodyPr/>
        <a:lstStyle/>
        <a:p>
          <a:r>
            <a:rPr lang="en-US"/>
            <a:t>Opening up to trade increases countries’ consumption possibility sets, </a:t>
          </a:r>
          <a:endParaRPr lang="en-NZ"/>
        </a:p>
      </dgm:t>
    </dgm:pt>
    <dgm:pt modelId="{CE9F959B-A84F-40EB-B145-F26DEE29E5B2}" type="parTrans" cxnId="{8EB9D8E4-CF18-4667-8B41-E7084DECF852}">
      <dgm:prSet/>
      <dgm:spPr/>
      <dgm:t>
        <a:bodyPr/>
        <a:lstStyle/>
        <a:p>
          <a:endParaRPr lang="en-NZ"/>
        </a:p>
      </dgm:t>
    </dgm:pt>
    <dgm:pt modelId="{7046C061-7C78-45A1-8D10-181C8078BF98}" type="sibTrans" cxnId="{8EB9D8E4-CF18-4667-8B41-E7084DECF852}">
      <dgm:prSet/>
      <dgm:spPr/>
      <dgm:t>
        <a:bodyPr/>
        <a:lstStyle/>
        <a:p>
          <a:endParaRPr lang="en-NZ"/>
        </a:p>
      </dgm:t>
    </dgm:pt>
    <dgm:pt modelId="{B40AF270-6E3E-42FD-B485-9D6A9A3E19F2}">
      <dgm:prSet/>
      <dgm:spPr/>
      <dgm:t>
        <a:bodyPr/>
        <a:lstStyle/>
        <a:p>
          <a:r>
            <a:rPr lang="en-US"/>
            <a:t>but conflicts of interest emerge between and within countries. </a:t>
          </a:r>
          <a:endParaRPr lang="en-NZ"/>
        </a:p>
      </dgm:t>
    </dgm:pt>
    <dgm:pt modelId="{E23243E5-DA5C-4C6B-A756-4B5C27494226}" type="parTrans" cxnId="{8CE32DEE-2C5D-41C3-BFB3-BC19328B5013}">
      <dgm:prSet/>
      <dgm:spPr/>
      <dgm:t>
        <a:bodyPr/>
        <a:lstStyle/>
        <a:p>
          <a:endParaRPr lang="en-NZ"/>
        </a:p>
      </dgm:t>
    </dgm:pt>
    <dgm:pt modelId="{7B3893B6-4FF9-42E5-9266-7BD088D5E0EB}" type="sibTrans" cxnId="{8CE32DEE-2C5D-41C3-BFB3-BC19328B5013}">
      <dgm:prSet/>
      <dgm:spPr/>
      <dgm:t>
        <a:bodyPr/>
        <a:lstStyle/>
        <a:p>
          <a:endParaRPr lang="en-NZ"/>
        </a:p>
      </dgm:t>
    </dgm:pt>
    <dgm:pt modelId="{1BB67E9B-283C-4FE3-AD75-4B967AD38F40}">
      <dgm:prSet/>
      <dgm:spPr/>
      <dgm:t>
        <a:bodyPr/>
        <a:lstStyle/>
        <a:p>
          <a:r>
            <a:rPr lang="en-US" dirty="0"/>
            <a:t>Winners and losers from trade depend on the relative scarcity of factors </a:t>
          </a:r>
          <a:endParaRPr lang="en-NZ" dirty="0"/>
        </a:p>
      </dgm:t>
    </dgm:pt>
    <dgm:pt modelId="{E8FD1277-A129-4326-BEA8-735F3617221D}" type="parTrans" cxnId="{4F20AF32-0A3A-449B-B553-1DC170C2F476}">
      <dgm:prSet/>
      <dgm:spPr/>
      <dgm:t>
        <a:bodyPr/>
        <a:lstStyle/>
        <a:p>
          <a:endParaRPr lang="en-NZ"/>
        </a:p>
      </dgm:t>
    </dgm:pt>
    <dgm:pt modelId="{A537B2C1-7A44-49E5-A257-20B83AB1D7F1}" type="sibTrans" cxnId="{4F20AF32-0A3A-449B-B553-1DC170C2F476}">
      <dgm:prSet/>
      <dgm:spPr/>
      <dgm:t>
        <a:bodyPr/>
        <a:lstStyle/>
        <a:p>
          <a:endParaRPr lang="en-NZ"/>
        </a:p>
      </dgm:t>
    </dgm:pt>
    <dgm:pt modelId="{448F558E-5D69-4E36-9FF5-E56869EFEC3D}">
      <dgm:prSet/>
      <dgm:spPr/>
      <dgm:t>
        <a:bodyPr/>
        <a:lstStyle/>
        <a:p>
          <a:r>
            <a:rPr lang="en-US"/>
            <a:t>e.g. skilled/unskilled labour, capital, etc</a:t>
          </a:r>
          <a:endParaRPr lang="en-NZ"/>
        </a:p>
      </dgm:t>
    </dgm:pt>
    <dgm:pt modelId="{5C8E8D97-A3A2-4C83-9801-300F474EA6CE}" type="parTrans" cxnId="{00AD5898-3CBC-432E-B307-4E95F0DB2425}">
      <dgm:prSet/>
      <dgm:spPr/>
      <dgm:t>
        <a:bodyPr/>
        <a:lstStyle/>
        <a:p>
          <a:endParaRPr lang="en-NZ"/>
        </a:p>
      </dgm:t>
    </dgm:pt>
    <dgm:pt modelId="{49C495D2-08AB-42F9-9524-CBC8E1CA1003}" type="sibTrans" cxnId="{00AD5898-3CBC-432E-B307-4E95F0DB2425}">
      <dgm:prSet/>
      <dgm:spPr/>
      <dgm:t>
        <a:bodyPr/>
        <a:lstStyle/>
        <a:p>
          <a:endParaRPr lang="en-NZ"/>
        </a:p>
      </dgm:t>
    </dgm:pt>
    <dgm:pt modelId="{7731A7B0-FED1-49E3-A6F3-A637C9A1FF13}" type="pres">
      <dgm:prSet presAssocID="{4906B3D5-12C1-468F-8412-996C3CD1BFBD}" presName="Name0" presStyleCnt="0">
        <dgm:presLayoutVars>
          <dgm:dir/>
          <dgm:animLvl val="lvl"/>
          <dgm:resizeHandles val="exact"/>
        </dgm:presLayoutVars>
      </dgm:prSet>
      <dgm:spPr/>
    </dgm:pt>
    <dgm:pt modelId="{9FEAA09E-4AFB-487C-9BBF-8FAC9E8912B1}" type="pres">
      <dgm:prSet presAssocID="{A5DF84F0-2194-4D3E-A34B-273A411A7D00}" presName="linNode" presStyleCnt="0"/>
      <dgm:spPr/>
    </dgm:pt>
    <dgm:pt modelId="{8A34D32C-262A-41E0-9D37-5B22AD86DFEE}" type="pres">
      <dgm:prSet presAssocID="{A5DF84F0-2194-4D3E-A34B-273A411A7D00}" presName="parentText" presStyleLbl="node1" presStyleIdx="0" presStyleCnt="2">
        <dgm:presLayoutVars>
          <dgm:chMax val="1"/>
          <dgm:bulletEnabled val="1"/>
        </dgm:presLayoutVars>
      </dgm:prSet>
      <dgm:spPr/>
    </dgm:pt>
    <dgm:pt modelId="{50D19500-E83E-4A1B-9602-9E955D7831FF}" type="pres">
      <dgm:prSet presAssocID="{A5DF84F0-2194-4D3E-A34B-273A411A7D00}" presName="descendantText" presStyleLbl="alignAccFollowNode1" presStyleIdx="0" presStyleCnt="2">
        <dgm:presLayoutVars>
          <dgm:bulletEnabled val="1"/>
        </dgm:presLayoutVars>
      </dgm:prSet>
      <dgm:spPr/>
    </dgm:pt>
    <dgm:pt modelId="{ABB0050C-E07E-40D0-A716-BB4833373247}" type="pres">
      <dgm:prSet presAssocID="{7046C061-7C78-45A1-8D10-181C8078BF98}" presName="sp" presStyleCnt="0"/>
      <dgm:spPr/>
    </dgm:pt>
    <dgm:pt modelId="{DAC959C3-FECB-4FA8-9B1F-F11CB832C4BA}" type="pres">
      <dgm:prSet presAssocID="{1BB67E9B-283C-4FE3-AD75-4B967AD38F40}" presName="linNode" presStyleCnt="0"/>
      <dgm:spPr/>
    </dgm:pt>
    <dgm:pt modelId="{7927E618-1BE3-4A7A-A1FE-9E15CD241D5C}" type="pres">
      <dgm:prSet presAssocID="{1BB67E9B-283C-4FE3-AD75-4B967AD38F40}" presName="parentText" presStyleLbl="node1" presStyleIdx="1" presStyleCnt="2">
        <dgm:presLayoutVars>
          <dgm:chMax val="1"/>
          <dgm:bulletEnabled val="1"/>
        </dgm:presLayoutVars>
      </dgm:prSet>
      <dgm:spPr/>
    </dgm:pt>
    <dgm:pt modelId="{53799124-3E03-4091-B459-DE5865EFBB00}" type="pres">
      <dgm:prSet presAssocID="{1BB67E9B-283C-4FE3-AD75-4B967AD38F40}" presName="descendantText" presStyleLbl="alignAccFollowNode1" presStyleIdx="1" presStyleCnt="2">
        <dgm:presLayoutVars>
          <dgm:bulletEnabled val="1"/>
        </dgm:presLayoutVars>
      </dgm:prSet>
      <dgm:spPr/>
    </dgm:pt>
  </dgm:ptLst>
  <dgm:cxnLst>
    <dgm:cxn modelId="{7B185A0C-B7BC-4A74-8B4F-67EE61A109BA}" type="presOf" srcId="{A5DF84F0-2194-4D3E-A34B-273A411A7D00}" destId="{8A34D32C-262A-41E0-9D37-5B22AD86DFEE}" srcOrd="0" destOrd="0" presId="urn:microsoft.com/office/officeart/2005/8/layout/vList5"/>
    <dgm:cxn modelId="{4F20AF32-0A3A-449B-B553-1DC170C2F476}" srcId="{4906B3D5-12C1-468F-8412-996C3CD1BFBD}" destId="{1BB67E9B-283C-4FE3-AD75-4B967AD38F40}" srcOrd="1" destOrd="0" parTransId="{E8FD1277-A129-4326-BEA8-735F3617221D}" sibTransId="{A537B2C1-7A44-49E5-A257-20B83AB1D7F1}"/>
    <dgm:cxn modelId="{B187FA56-2E55-4925-BA46-6B8C87B9EAE5}" type="presOf" srcId="{448F558E-5D69-4E36-9FF5-E56869EFEC3D}" destId="{53799124-3E03-4091-B459-DE5865EFBB00}" srcOrd="0" destOrd="0" presId="urn:microsoft.com/office/officeart/2005/8/layout/vList5"/>
    <dgm:cxn modelId="{B650467C-C26A-4BCD-A8E8-CB608D820E73}" type="presOf" srcId="{B40AF270-6E3E-42FD-B485-9D6A9A3E19F2}" destId="{50D19500-E83E-4A1B-9602-9E955D7831FF}" srcOrd="0" destOrd="0" presId="urn:microsoft.com/office/officeart/2005/8/layout/vList5"/>
    <dgm:cxn modelId="{EF8C6F91-0055-4976-AB33-8D7DC48D3088}" type="presOf" srcId="{1BB67E9B-283C-4FE3-AD75-4B967AD38F40}" destId="{7927E618-1BE3-4A7A-A1FE-9E15CD241D5C}" srcOrd="0" destOrd="0" presId="urn:microsoft.com/office/officeart/2005/8/layout/vList5"/>
    <dgm:cxn modelId="{00AD5898-3CBC-432E-B307-4E95F0DB2425}" srcId="{1BB67E9B-283C-4FE3-AD75-4B967AD38F40}" destId="{448F558E-5D69-4E36-9FF5-E56869EFEC3D}" srcOrd="0" destOrd="0" parTransId="{5C8E8D97-A3A2-4C83-9801-300F474EA6CE}" sibTransId="{49C495D2-08AB-42F9-9524-CBC8E1CA1003}"/>
    <dgm:cxn modelId="{8EB9D8E4-CF18-4667-8B41-E7084DECF852}" srcId="{4906B3D5-12C1-468F-8412-996C3CD1BFBD}" destId="{A5DF84F0-2194-4D3E-A34B-273A411A7D00}" srcOrd="0" destOrd="0" parTransId="{CE9F959B-A84F-40EB-B145-F26DEE29E5B2}" sibTransId="{7046C061-7C78-45A1-8D10-181C8078BF98}"/>
    <dgm:cxn modelId="{8CE32DEE-2C5D-41C3-BFB3-BC19328B5013}" srcId="{A5DF84F0-2194-4D3E-A34B-273A411A7D00}" destId="{B40AF270-6E3E-42FD-B485-9D6A9A3E19F2}" srcOrd="0" destOrd="0" parTransId="{E23243E5-DA5C-4C6B-A756-4B5C27494226}" sibTransId="{7B3893B6-4FF9-42E5-9266-7BD088D5E0EB}"/>
    <dgm:cxn modelId="{C7ABDAFD-B0F4-4AD7-9C71-379F8CE3D3F3}" type="presOf" srcId="{4906B3D5-12C1-468F-8412-996C3CD1BFBD}" destId="{7731A7B0-FED1-49E3-A6F3-A637C9A1FF13}" srcOrd="0" destOrd="0" presId="urn:microsoft.com/office/officeart/2005/8/layout/vList5"/>
    <dgm:cxn modelId="{45529713-F851-47E0-BD8D-87F6235543C5}" type="presParOf" srcId="{7731A7B0-FED1-49E3-A6F3-A637C9A1FF13}" destId="{9FEAA09E-4AFB-487C-9BBF-8FAC9E8912B1}" srcOrd="0" destOrd="0" presId="urn:microsoft.com/office/officeart/2005/8/layout/vList5"/>
    <dgm:cxn modelId="{350D7FFA-C5A3-4E90-AB7A-685D60127398}" type="presParOf" srcId="{9FEAA09E-4AFB-487C-9BBF-8FAC9E8912B1}" destId="{8A34D32C-262A-41E0-9D37-5B22AD86DFEE}" srcOrd="0" destOrd="0" presId="urn:microsoft.com/office/officeart/2005/8/layout/vList5"/>
    <dgm:cxn modelId="{20C8306C-1BB2-4ECA-82AD-581664D47545}" type="presParOf" srcId="{9FEAA09E-4AFB-487C-9BBF-8FAC9E8912B1}" destId="{50D19500-E83E-4A1B-9602-9E955D7831FF}" srcOrd="1" destOrd="0" presId="urn:microsoft.com/office/officeart/2005/8/layout/vList5"/>
    <dgm:cxn modelId="{E92C6C6F-89FC-4606-B624-729708153967}" type="presParOf" srcId="{7731A7B0-FED1-49E3-A6F3-A637C9A1FF13}" destId="{ABB0050C-E07E-40D0-A716-BB4833373247}" srcOrd="1" destOrd="0" presId="urn:microsoft.com/office/officeart/2005/8/layout/vList5"/>
    <dgm:cxn modelId="{302237E1-675C-4D4E-BB69-23EA40D4A34A}" type="presParOf" srcId="{7731A7B0-FED1-49E3-A6F3-A637C9A1FF13}" destId="{DAC959C3-FECB-4FA8-9B1F-F11CB832C4BA}" srcOrd="2" destOrd="0" presId="urn:microsoft.com/office/officeart/2005/8/layout/vList5"/>
    <dgm:cxn modelId="{195BBA45-3E51-4886-90B4-1793EC5081BE}" type="presParOf" srcId="{DAC959C3-FECB-4FA8-9B1F-F11CB832C4BA}" destId="{7927E618-1BE3-4A7A-A1FE-9E15CD241D5C}" srcOrd="0" destOrd="0" presId="urn:microsoft.com/office/officeart/2005/8/layout/vList5"/>
    <dgm:cxn modelId="{4175159F-C94E-49F7-BA04-F4BAB2BC0D5C}" type="presParOf" srcId="{DAC959C3-FECB-4FA8-9B1F-F11CB832C4BA}" destId="{53799124-3E03-4091-B459-DE5865EFBB0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E48067A-6D66-BF40-B1E4-510B952AA74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GB"/>
        </a:p>
      </dgm:t>
    </dgm:pt>
    <dgm:pt modelId="{10A2B571-FBEB-694A-B1DF-5564480F5EEB}">
      <dgm:prSet/>
      <dgm:spPr/>
      <dgm:t>
        <a:bodyPr/>
        <a:lstStyle/>
        <a:p>
          <a:r>
            <a:rPr lang="en-US" dirty="0"/>
            <a:t>Relatively abundant factors within a country are relatively cheap, </a:t>
          </a:r>
          <a:endParaRPr lang="en-NZ" dirty="0"/>
        </a:p>
      </dgm:t>
    </dgm:pt>
    <dgm:pt modelId="{59D6953F-24B9-944A-8636-6258D440C07C}" type="parTrans" cxnId="{A82D0249-D381-854D-9A23-37CD365BCD2D}">
      <dgm:prSet/>
      <dgm:spPr/>
      <dgm:t>
        <a:bodyPr/>
        <a:lstStyle/>
        <a:p>
          <a:endParaRPr lang="en-GB"/>
        </a:p>
      </dgm:t>
    </dgm:pt>
    <dgm:pt modelId="{CDA9FECD-9BB9-0B4D-ACB0-44906F52F334}" type="sibTrans" cxnId="{A82D0249-D381-854D-9A23-37CD365BCD2D}">
      <dgm:prSet/>
      <dgm:spPr/>
      <dgm:t>
        <a:bodyPr/>
        <a:lstStyle/>
        <a:p>
          <a:endParaRPr lang="en-GB"/>
        </a:p>
      </dgm:t>
    </dgm:pt>
    <dgm:pt modelId="{DF68ABC3-B80C-6C47-B510-A4E3DBB846F5}">
      <dgm:prSet/>
      <dgm:spPr/>
      <dgm:t>
        <a:bodyPr/>
        <a:lstStyle/>
        <a:p>
          <a:r>
            <a:rPr lang="en-US" dirty="0"/>
            <a:t>Conversely, the price of relatively scarce factors </a:t>
          </a:r>
        </a:p>
      </dgm:t>
    </dgm:pt>
    <dgm:pt modelId="{83EB02D4-DE22-D24A-A7EB-E7C8657E5416}" type="parTrans" cxnId="{5464DDCA-FC62-484B-8F10-5C93982ED507}">
      <dgm:prSet/>
      <dgm:spPr/>
      <dgm:t>
        <a:bodyPr/>
        <a:lstStyle/>
        <a:p>
          <a:endParaRPr lang="en-GB"/>
        </a:p>
      </dgm:t>
    </dgm:pt>
    <dgm:pt modelId="{8BDC804C-6A52-754D-9A14-8FCBA78B94CD}" type="sibTrans" cxnId="{5464DDCA-FC62-484B-8F10-5C93982ED507}">
      <dgm:prSet/>
      <dgm:spPr/>
      <dgm:t>
        <a:bodyPr/>
        <a:lstStyle/>
        <a:p>
          <a:endParaRPr lang="en-GB"/>
        </a:p>
      </dgm:t>
    </dgm:pt>
    <dgm:pt modelId="{6B286CBB-9F44-FD44-AC91-9637AC3BE092}">
      <dgm:prSet/>
      <dgm:spPr/>
      <dgm:t>
        <a:bodyPr/>
        <a:lstStyle/>
        <a:p>
          <a:r>
            <a:rPr lang="en-US" dirty="0"/>
            <a:t>and gain when trade raises their price towards the world average.</a:t>
          </a:r>
          <a:endParaRPr lang="en-NZ" dirty="0"/>
        </a:p>
      </dgm:t>
    </dgm:pt>
    <dgm:pt modelId="{9FEB2FB1-B0CD-2040-ACE1-4CFA8F70FAF5}" type="sibTrans" cxnId="{B53F811C-CF94-C345-8846-6276183A29B6}">
      <dgm:prSet/>
      <dgm:spPr/>
      <dgm:t>
        <a:bodyPr/>
        <a:lstStyle/>
        <a:p>
          <a:endParaRPr lang="en-GB"/>
        </a:p>
      </dgm:t>
    </dgm:pt>
    <dgm:pt modelId="{8F8F6FC3-1F8B-4E49-B3F4-91950D700AB3}" type="parTrans" cxnId="{B53F811C-CF94-C345-8846-6276183A29B6}">
      <dgm:prSet/>
      <dgm:spPr/>
      <dgm:t>
        <a:bodyPr/>
        <a:lstStyle/>
        <a:p>
          <a:endParaRPr lang="en-GB"/>
        </a:p>
      </dgm:t>
    </dgm:pt>
    <dgm:pt modelId="{D5E21889-C7CE-ED44-9DEA-CCDE37679DCD}">
      <dgm:prSet/>
      <dgm:spPr/>
      <dgm:t>
        <a:bodyPr/>
        <a:lstStyle/>
        <a:p>
          <a:r>
            <a:rPr lang="en-US" dirty="0"/>
            <a:t>falls towards the world average due to trade.</a:t>
          </a:r>
          <a:endParaRPr lang="en-NZ" dirty="0"/>
        </a:p>
      </dgm:t>
    </dgm:pt>
    <dgm:pt modelId="{EE83B8AA-FF5B-E642-ACFF-9FE7D76BB582}" type="parTrans" cxnId="{C36695D5-18DE-9E4E-A6CD-79F1D9D1D754}">
      <dgm:prSet/>
      <dgm:spPr/>
      <dgm:t>
        <a:bodyPr/>
        <a:lstStyle/>
        <a:p>
          <a:endParaRPr lang="en-GB"/>
        </a:p>
      </dgm:t>
    </dgm:pt>
    <dgm:pt modelId="{8925C237-0DCE-DC4D-912E-0E371C505498}" type="sibTrans" cxnId="{C36695D5-18DE-9E4E-A6CD-79F1D9D1D754}">
      <dgm:prSet/>
      <dgm:spPr/>
      <dgm:t>
        <a:bodyPr/>
        <a:lstStyle/>
        <a:p>
          <a:endParaRPr lang="en-GB"/>
        </a:p>
      </dgm:t>
    </dgm:pt>
    <dgm:pt modelId="{BE6B17B1-5F81-1E4C-A3F0-54B24140ED27}" type="pres">
      <dgm:prSet presAssocID="{6E48067A-6D66-BF40-B1E4-510B952AA74C}" presName="diagram" presStyleCnt="0">
        <dgm:presLayoutVars>
          <dgm:chPref val="1"/>
          <dgm:dir/>
          <dgm:animOne val="branch"/>
          <dgm:animLvl val="lvl"/>
          <dgm:resizeHandles/>
        </dgm:presLayoutVars>
      </dgm:prSet>
      <dgm:spPr/>
    </dgm:pt>
    <dgm:pt modelId="{989402A6-47EF-F344-AB4C-A55B555EE9BE}" type="pres">
      <dgm:prSet presAssocID="{10A2B571-FBEB-694A-B1DF-5564480F5EEB}" presName="root" presStyleCnt="0"/>
      <dgm:spPr/>
    </dgm:pt>
    <dgm:pt modelId="{CEC7BAC9-331A-A344-95B8-42D9630C730C}" type="pres">
      <dgm:prSet presAssocID="{10A2B571-FBEB-694A-B1DF-5564480F5EEB}" presName="rootComposite" presStyleCnt="0"/>
      <dgm:spPr/>
    </dgm:pt>
    <dgm:pt modelId="{06268769-4FF5-534B-82D3-F5CEA443DF58}" type="pres">
      <dgm:prSet presAssocID="{10A2B571-FBEB-694A-B1DF-5564480F5EEB}" presName="rootText" presStyleLbl="node1" presStyleIdx="0" presStyleCnt="2"/>
      <dgm:spPr/>
    </dgm:pt>
    <dgm:pt modelId="{97786D6C-2AB0-DC46-BEFF-454D0E689C5D}" type="pres">
      <dgm:prSet presAssocID="{10A2B571-FBEB-694A-B1DF-5564480F5EEB}" presName="rootConnector" presStyleLbl="node1" presStyleIdx="0" presStyleCnt="2"/>
      <dgm:spPr/>
    </dgm:pt>
    <dgm:pt modelId="{D6536D19-BB9B-954C-A5D5-411E53519339}" type="pres">
      <dgm:prSet presAssocID="{10A2B571-FBEB-694A-B1DF-5564480F5EEB}" presName="childShape" presStyleCnt="0"/>
      <dgm:spPr/>
    </dgm:pt>
    <dgm:pt modelId="{3E4145DE-F2B5-8040-833C-9A1AFA064A9C}" type="pres">
      <dgm:prSet presAssocID="{8F8F6FC3-1F8B-4E49-B3F4-91950D700AB3}" presName="Name13" presStyleLbl="parChTrans1D2" presStyleIdx="0" presStyleCnt="2"/>
      <dgm:spPr/>
    </dgm:pt>
    <dgm:pt modelId="{23ECA6C8-4102-F24D-82C2-7A7E86FB80DA}" type="pres">
      <dgm:prSet presAssocID="{6B286CBB-9F44-FD44-AC91-9637AC3BE092}" presName="childText" presStyleLbl="bgAcc1" presStyleIdx="0" presStyleCnt="2">
        <dgm:presLayoutVars>
          <dgm:bulletEnabled val="1"/>
        </dgm:presLayoutVars>
      </dgm:prSet>
      <dgm:spPr/>
    </dgm:pt>
    <dgm:pt modelId="{17E9301B-0BAE-EE40-A3CD-B5252CE1CFD0}" type="pres">
      <dgm:prSet presAssocID="{DF68ABC3-B80C-6C47-B510-A4E3DBB846F5}" presName="root" presStyleCnt="0"/>
      <dgm:spPr/>
    </dgm:pt>
    <dgm:pt modelId="{A8B194FB-5F57-5144-8A7A-9C4E91ABD5AB}" type="pres">
      <dgm:prSet presAssocID="{DF68ABC3-B80C-6C47-B510-A4E3DBB846F5}" presName="rootComposite" presStyleCnt="0"/>
      <dgm:spPr/>
    </dgm:pt>
    <dgm:pt modelId="{2C7221C2-9B77-9D43-90AA-196113383CB5}" type="pres">
      <dgm:prSet presAssocID="{DF68ABC3-B80C-6C47-B510-A4E3DBB846F5}" presName="rootText" presStyleLbl="node1" presStyleIdx="1" presStyleCnt="2"/>
      <dgm:spPr/>
    </dgm:pt>
    <dgm:pt modelId="{E6BC34E3-2CB7-B14A-9039-54858A836124}" type="pres">
      <dgm:prSet presAssocID="{DF68ABC3-B80C-6C47-B510-A4E3DBB846F5}" presName="rootConnector" presStyleLbl="node1" presStyleIdx="1" presStyleCnt="2"/>
      <dgm:spPr/>
    </dgm:pt>
    <dgm:pt modelId="{867A864F-8940-2944-8F27-9917B9FD25B0}" type="pres">
      <dgm:prSet presAssocID="{DF68ABC3-B80C-6C47-B510-A4E3DBB846F5}" presName="childShape" presStyleCnt="0"/>
      <dgm:spPr/>
    </dgm:pt>
    <dgm:pt modelId="{BFA35BC1-EF11-5147-8D1C-4D8577D2D277}" type="pres">
      <dgm:prSet presAssocID="{EE83B8AA-FF5B-E642-ACFF-9FE7D76BB582}" presName="Name13" presStyleLbl="parChTrans1D2" presStyleIdx="1" presStyleCnt="2"/>
      <dgm:spPr/>
    </dgm:pt>
    <dgm:pt modelId="{C743038E-A330-CB4E-9A06-1478F3EB384B}" type="pres">
      <dgm:prSet presAssocID="{D5E21889-C7CE-ED44-9DEA-CCDE37679DCD}" presName="childText" presStyleLbl="bgAcc1" presStyleIdx="1" presStyleCnt="2">
        <dgm:presLayoutVars>
          <dgm:bulletEnabled val="1"/>
        </dgm:presLayoutVars>
      </dgm:prSet>
      <dgm:spPr/>
    </dgm:pt>
  </dgm:ptLst>
  <dgm:cxnLst>
    <dgm:cxn modelId="{B53F811C-CF94-C345-8846-6276183A29B6}" srcId="{10A2B571-FBEB-694A-B1DF-5564480F5EEB}" destId="{6B286CBB-9F44-FD44-AC91-9637AC3BE092}" srcOrd="0" destOrd="0" parTransId="{8F8F6FC3-1F8B-4E49-B3F4-91950D700AB3}" sibTransId="{9FEB2FB1-B0CD-2040-ACE1-4CFA8F70FAF5}"/>
    <dgm:cxn modelId="{1A943B21-2D26-5D4E-9A2C-E2642B8838E0}" type="presOf" srcId="{10A2B571-FBEB-694A-B1DF-5564480F5EEB}" destId="{97786D6C-2AB0-DC46-BEFF-454D0E689C5D}" srcOrd="1" destOrd="0" presId="urn:microsoft.com/office/officeart/2005/8/layout/hierarchy3"/>
    <dgm:cxn modelId="{E5D72C2F-A35E-6349-AD62-C9ADDCF3D306}" type="presOf" srcId="{EE83B8AA-FF5B-E642-ACFF-9FE7D76BB582}" destId="{BFA35BC1-EF11-5147-8D1C-4D8577D2D277}" srcOrd="0" destOrd="0" presId="urn:microsoft.com/office/officeart/2005/8/layout/hierarchy3"/>
    <dgm:cxn modelId="{D60D5032-7D79-B243-A42C-644190ABEE51}" type="presOf" srcId="{6E48067A-6D66-BF40-B1E4-510B952AA74C}" destId="{BE6B17B1-5F81-1E4C-A3F0-54B24140ED27}" srcOrd="0" destOrd="0" presId="urn:microsoft.com/office/officeart/2005/8/layout/hierarchy3"/>
    <dgm:cxn modelId="{99024D5C-C299-5546-BD1A-31F5D849A156}" type="presOf" srcId="{10A2B571-FBEB-694A-B1DF-5564480F5EEB}" destId="{06268769-4FF5-534B-82D3-F5CEA443DF58}" srcOrd="0" destOrd="0" presId="urn:microsoft.com/office/officeart/2005/8/layout/hierarchy3"/>
    <dgm:cxn modelId="{0C25B043-0ED8-2144-9BF5-5585A73EDECC}" type="presOf" srcId="{6B286CBB-9F44-FD44-AC91-9637AC3BE092}" destId="{23ECA6C8-4102-F24D-82C2-7A7E86FB80DA}" srcOrd="0" destOrd="0" presId="urn:microsoft.com/office/officeart/2005/8/layout/hierarchy3"/>
    <dgm:cxn modelId="{A82D0249-D381-854D-9A23-37CD365BCD2D}" srcId="{6E48067A-6D66-BF40-B1E4-510B952AA74C}" destId="{10A2B571-FBEB-694A-B1DF-5564480F5EEB}" srcOrd="0" destOrd="0" parTransId="{59D6953F-24B9-944A-8636-6258D440C07C}" sibTransId="{CDA9FECD-9BB9-0B4D-ACB0-44906F52F334}"/>
    <dgm:cxn modelId="{7D8C4F7A-2261-404B-9B80-0A83B8316F0B}" type="presOf" srcId="{DF68ABC3-B80C-6C47-B510-A4E3DBB846F5}" destId="{E6BC34E3-2CB7-B14A-9039-54858A836124}" srcOrd="1" destOrd="0" presId="urn:microsoft.com/office/officeart/2005/8/layout/hierarchy3"/>
    <dgm:cxn modelId="{2D465889-086E-3744-8360-448F0A8F1B93}" type="presOf" srcId="{8F8F6FC3-1F8B-4E49-B3F4-91950D700AB3}" destId="{3E4145DE-F2B5-8040-833C-9A1AFA064A9C}" srcOrd="0" destOrd="0" presId="urn:microsoft.com/office/officeart/2005/8/layout/hierarchy3"/>
    <dgm:cxn modelId="{5464DDCA-FC62-484B-8F10-5C93982ED507}" srcId="{6E48067A-6D66-BF40-B1E4-510B952AA74C}" destId="{DF68ABC3-B80C-6C47-B510-A4E3DBB846F5}" srcOrd="1" destOrd="0" parTransId="{83EB02D4-DE22-D24A-A7EB-E7C8657E5416}" sibTransId="{8BDC804C-6A52-754D-9A14-8FCBA78B94CD}"/>
    <dgm:cxn modelId="{C36695D5-18DE-9E4E-A6CD-79F1D9D1D754}" srcId="{DF68ABC3-B80C-6C47-B510-A4E3DBB846F5}" destId="{D5E21889-C7CE-ED44-9DEA-CCDE37679DCD}" srcOrd="0" destOrd="0" parTransId="{EE83B8AA-FF5B-E642-ACFF-9FE7D76BB582}" sibTransId="{8925C237-0DCE-DC4D-912E-0E371C505498}"/>
    <dgm:cxn modelId="{2B5ADEE2-762B-0247-857D-B102F4F272F8}" type="presOf" srcId="{D5E21889-C7CE-ED44-9DEA-CCDE37679DCD}" destId="{C743038E-A330-CB4E-9A06-1478F3EB384B}" srcOrd="0" destOrd="0" presId="urn:microsoft.com/office/officeart/2005/8/layout/hierarchy3"/>
    <dgm:cxn modelId="{16AEF7EE-80D3-E645-999E-AC0CB2373BE8}" type="presOf" srcId="{DF68ABC3-B80C-6C47-B510-A4E3DBB846F5}" destId="{2C7221C2-9B77-9D43-90AA-196113383CB5}" srcOrd="0" destOrd="0" presId="urn:microsoft.com/office/officeart/2005/8/layout/hierarchy3"/>
    <dgm:cxn modelId="{2256A01A-FD5C-954E-9525-0FB0380E19DA}" type="presParOf" srcId="{BE6B17B1-5F81-1E4C-A3F0-54B24140ED27}" destId="{989402A6-47EF-F344-AB4C-A55B555EE9BE}" srcOrd="0" destOrd="0" presId="urn:microsoft.com/office/officeart/2005/8/layout/hierarchy3"/>
    <dgm:cxn modelId="{231E393A-3CEF-5A42-A5FF-ECEF7253635D}" type="presParOf" srcId="{989402A6-47EF-F344-AB4C-A55B555EE9BE}" destId="{CEC7BAC9-331A-A344-95B8-42D9630C730C}" srcOrd="0" destOrd="0" presId="urn:microsoft.com/office/officeart/2005/8/layout/hierarchy3"/>
    <dgm:cxn modelId="{83F25E2D-AE19-184D-BE78-CE1F4A6DF730}" type="presParOf" srcId="{CEC7BAC9-331A-A344-95B8-42D9630C730C}" destId="{06268769-4FF5-534B-82D3-F5CEA443DF58}" srcOrd="0" destOrd="0" presId="urn:microsoft.com/office/officeart/2005/8/layout/hierarchy3"/>
    <dgm:cxn modelId="{261E3FCD-2755-E74E-919D-AB45B25992DC}" type="presParOf" srcId="{CEC7BAC9-331A-A344-95B8-42D9630C730C}" destId="{97786D6C-2AB0-DC46-BEFF-454D0E689C5D}" srcOrd="1" destOrd="0" presId="urn:microsoft.com/office/officeart/2005/8/layout/hierarchy3"/>
    <dgm:cxn modelId="{A7867B00-A537-9848-9E0B-88DB638A18C0}" type="presParOf" srcId="{989402A6-47EF-F344-AB4C-A55B555EE9BE}" destId="{D6536D19-BB9B-954C-A5D5-411E53519339}" srcOrd="1" destOrd="0" presId="urn:microsoft.com/office/officeart/2005/8/layout/hierarchy3"/>
    <dgm:cxn modelId="{03282EEE-CDF7-8842-803C-468A1B582C27}" type="presParOf" srcId="{D6536D19-BB9B-954C-A5D5-411E53519339}" destId="{3E4145DE-F2B5-8040-833C-9A1AFA064A9C}" srcOrd="0" destOrd="0" presId="urn:microsoft.com/office/officeart/2005/8/layout/hierarchy3"/>
    <dgm:cxn modelId="{D7CF3A1E-AA60-C24F-A0DB-C97F6D5E2195}" type="presParOf" srcId="{D6536D19-BB9B-954C-A5D5-411E53519339}" destId="{23ECA6C8-4102-F24D-82C2-7A7E86FB80DA}" srcOrd="1" destOrd="0" presId="urn:microsoft.com/office/officeart/2005/8/layout/hierarchy3"/>
    <dgm:cxn modelId="{ECA093BA-54DD-844A-8A85-B1568A924D03}" type="presParOf" srcId="{BE6B17B1-5F81-1E4C-A3F0-54B24140ED27}" destId="{17E9301B-0BAE-EE40-A3CD-B5252CE1CFD0}" srcOrd="1" destOrd="0" presId="urn:microsoft.com/office/officeart/2005/8/layout/hierarchy3"/>
    <dgm:cxn modelId="{FE0CA246-F63D-6A42-95CA-A8AFA0D7CAF4}" type="presParOf" srcId="{17E9301B-0BAE-EE40-A3CD-B5252CE1CFD0}" destId="{A8B194FB-5F57-5144-8A7A-9C4E91ABD5AB}" srcOrd="0" destOrd="0" presId="urn:microsoft.com/office/officeart/2005/8/layout/hierarchy3"/>
    <dgm:cxn modelId="{B96BD6C3-4D11-7745-A9BA-880DEA6B00CE}" type="presParOf" srcId="{A8B194FB-5F57-5144-8A7A-9C4E91ABD5AB}" destId="{2C7221C2-9B77-9D43-90AA-196113383CB5}" srcOrd="0" destOrd="0" presId="urn:microsoft.com/office/officeart/2005/8/layout/hierarchy3"/>
    <dgm:cxn modelId="{4BD592CF-C183-B240-9B35-D93B0E03221D}" type="presParOf" srcId="{A8B194FB-5F57-5144-8A7A-9C4E91ABD5AB}" destId="{E6BC34E3-2CB7-B14A-9039-54858A836124}" srcOrd="1" destOrd="0" presId="urn:microsoft.com/office/officeart/2005/8/layout/hierarchy3"/>
    <dgm:cxn modelId="{85785DEE-CB26-6749-BDE4-C52EC210E51F}" type="presParOf" srcId="{17E9301B-0BAE-EE40-A3CD-B5252CE1CFD0}" destId="{867A864F-8940-2944-8F27-9917B9FD25B0}" srcOrd="1" destOrd="0" presId="urn:microsoft.com/office/officeart/2005/8/layout/hierarchy3"/>
    <dgm:cxn modelId="{826D866C-9AE7-FC42-AB95-EC5ADD09BB85}" type="presParOf" srcId="{867A864F-8940-2944-8F27-9917B9FD25B0}" destId="{BFA35BC1-EF11-5147-8D1C-4D8577D2D277}" srcOrd="0" destOrd="0" presId="urn:microsoft.com/office/officeart/2005/8/layout/hierarchy3"/>
    <dgm:cxn modelId="{97AB4910-DCED-9343-8AC6-55FE07E8CBD5}" type="presParOf" srcId="{867A864F-8940-2944-8F27-9917B9FD25B0}" destId="{C743038E-A330-CB4E-9A06-1478F3EB384B}"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3AB1A54-39B7-2E4E-A622-136468B1EFD0}" type="doc">
      <dgm:prSet loTypeId="urn:microsoft.com/office/officeart/2005/8/layout/hChevron3" loCatId="hierarchy" qsTypeId="urn:microsoft.com/office/officeart/2005/8/quickstyle/simple1" qsCatId="simple" csTypeId="urn:microsoft.com/office/officeart/2005/8/colors/accent2_1" csCatId="accent2" phldr="1"/>
      <dgm:spPr/>
      <dgm:t>
        <a:bodyPr/>
        <a:lstStyle/>
        <a:p>
          <a:endParaRPr lang="en-GB"/>
        </a:p>
      </dgm:t>
    </dgm:pt>
    <dgm:pt modelId="{770C1518-FAB3-A342-9344-020ACF8CA269}">
      <dgm:prSet/>
      <dgm:spPr>
        <a:solidFill>
          <a:schemeClr val="tx2">
            <a:lumMod val="20000"/>
            <a:lumOff val="80000"/>
          </a:schemeClr>
        </a:solidFill>
      </dgm:spPr>
      <dgm:t>
        <a:bodyPr/>
        <a:lstStyle/>
        <a:p>
          <a:r>
            <a:rPr lang="en-US" dirty="0"/>
            <a:t>New Zealand has relatively large amounts of land suitable for many agricultural outputs</a:t>
          </a:r>
          <a:endParaRPr lang="en-NZ" dirty="0"/>
        </a:p>
      </dgm:t>
    </dgm:pt>
    <dgm:pt modelId="{9B53D708-6D7A-1F4F-8028-D858F359B0A6}" type="parTrans" cxnId="{C2054F76-C1A9-384E-912F-615A582F9DD3}">
      <dgm:prSet/>
      <dgm:spPr/>
      <dgm:t>
        <a:bodyPr/>
        <a:lstStyle/>
        <a:p>
          <a:endParaRPr lang="en-GB"/>
        </a:p>
      </dgm:t>
    </dgm:pt>
    <dgm:pt modelId="{E8A2206F-104A-CC48-A498-18E93B7F4CB3}" type="sibTrans" cxnId="{C2054F76-C1A9-384E-912F-615A582F9DD3}">
      <dgm:prSet/>
      <dgm:spPr/>
      <dgm:t>
        <a:bodyPr/>
        <a:lstStyle/>
        <a:p>
          <a:endParaRPr lang="en-GB"/>
        </a:p>
      </dgm:t>
    </dgm:pt>
    <dgm:pt modelId="{64A1AF83-0275-3E41-BB1B-796234FA42B4}">
      <dgm:prSet/>
      <dgm:spPr>
        <a:solidFill>
          <a:schemeClr val="tx2">
            <a:lumMod val="40000"/>
            <a:lumOff val="60000"/>
          </a:schemeClr>
        </a:solidFill>
      </dgm:spPr>
      <dgm:t>
        <a:bodyPr/>
        <a:lstStyle/>
        <a:p>
          <a:r>
            <a:rPr lang="en-US"/>
            <a:t>New Zealand has relatively small amounts of labour</a:t>
          </a:r>
          <a:endParaRPr lang="en-NZ"/>
        </a:p>
      </dgm:t>
    </dgm:pt>
    <dgm:pt modelId="{639D370D-C71E-0B42-B27E-B712E452F44A}" type="parTrans" cxnId="{9CE476B3-ED3C-6F4D-B3E7-FAAB76C56F7B}">
      <dgm:prSet/>
      <dgm:spPr/>
      <dgm:t>
        <a:bodyPr/>
        <a:lstStyle/>
        <a:p>
          <a:endParaRPr lang="en-GB"/>
        </a:p>
      </dgm:t>
    </dgm:pt>
    <dgm:pt modelId="{67FCA41B-C3F7-5D45-9EBF-B9A43D8E6EDF}" type="sibTrans" cxnId="{9CE476B3-ED3C-6F4D-B3E7-FAAB76C56F7B}">
      <dgm:prSet/>
      <dgm:spPr/>
      <dgm:t>
        <a:bodyPr/>
        <a:lstStyle/>
        <a:p>
          <a:endParaRPr lang="en-GB"/>
        </a:p>
      </dgm:t>
    </dgm:pt>
    <dgm:pt modelId="{378C6159-F276-FE4A-B467-FE049E4964E7}">
      <dgm:prSet/>
      <dgm:spPr>
        <a:solidFill>
          <a:schemeClr val="tx2">
            <a:lumMod val="20000"/>
            <a:lumOff val="80000"/>
          </a:schemeClr>
        </a:solidFill>
      </dgm:spPr>
      <dgm:t>
        <a:bodyPr/>
        <a:lstStyle/>
        <a:p>
          <a:r>
            <a:rPr lang="en-US" dirty="0"/>
            <a:t>Opening trade results in gains from agriculture (and those in society that own land)</a:t>
          </a:r>
          <a:endParaRPr lang="en-NZ" dirty="0"/>
        </a:p>
      </dgm:t>
    </dgm:pt>
    <dgm:pt modelId="{FFF90C4E-6B19-C84C-95EB-42F4FC7729AB}" type="parTrans" cxnId="{348EF66D-3CB1-F749-9EC9-C84353AF3375}">
      <dgm:prSet/>
      <dgm:spPr/>
      <dgm:t>
        <a:bodyPr/>
        <a:lstStyle/>
        <a:p>
          <a:endParaRPr lang="en-GB"/>
        </a:p>
      </dgm:t>
    </dgm:pt>
    <dgm:pt modelId="{1534F11D-A173-D741-BD32-2962273635AF}" type="sibTrans" cxnId="{348EF66D-3CB1-F749-9EC9-C84353AF3375}">
      <dgm:prSet/>
      <dgm:spPr/>
      <dgm:t>
        <a:bodyPr/>
        <a:lstStyle/>
        <a:p>
          <a:endParaRPr lang="en-GB"/>
        </a:p>
      </dgm:t>
    </dgm:pt>
    <dgm:pt modelId="{068BFE25-DE72-DE4C-A7CF-7E96268D91E6}">
      <dgm:prSet/>
      <dgm:spPr>
        <a:solidFill>
          <a:schemeClr val="tx2">
            <a:lumMod val="40000"/>
            <a:lumOff val="60000"/>
          </a:schemeClr>
        </a:solidFill>
      </dgm:spPr>
      <dgm:t>
        <a:bodyPr/>
        <a:lstStyle/>
        <a:p>
          <a:r>
            <a:rPr lang="en-US"/>
            <a:t>Opening trade results in losses in textiles (e.g. clothing manufacture) and factors in this sector lose.</a:t>
          </a:r>
          <a:endParaRPr lang="en-NZ"/>
        </a:p>
      </dgm:t>
    </dgm:pt>
    <dgm:pt modelId="{5A0AAEA3-D559-674D-A561-B089D90BAA83}" type="parTrans" cxnId="{94262017-ABCC-5E42-9932-388086EF3F24}">
      <dgm:prSet/>
      <dgm:spPr/>
      <dgm:t>
        <a:bodyPr/>
        <a:lstStyle/>
        <a:p>
          <a:endParaRPr lang="en-GB"/>
        </a:p>
      </dgm:t>
    </dgm:pt>
    <dgm:pt modelId="{BC717940-38FF-7943-92D7-0CEB2F296FFD}" type="sibTrans" cxnId="{94262017-ABCC-5E42-9932-388086EF3F24}">
      <dgm:prSet/>
      <dgm:spPr/>
      <dgm:t>
        <a:bodyPr/>
        <a:lstStyle/>
        <a:p>
          <a:endParaRPr lang="en-GB"/>
        </a:p>
      </dgm:t>
    </dgm:pt>
    <dgm:pt modelId="{92C7C110-4869-A149-A3A2-9C1EF42A0571}" type="pres">
      <dgm:prSet presAssocID="{33AB1A54-39B7-2E4E-A622-136468B1EFD0}" presName="Name0" presStyleCnt="0">
        <dgm:presLayoutVars>
          <dgm:dir/>
          <dgm:resizeHandles val="exact"/>
        </dgm:presLayoutVars>
      </dgm:prSet>
      <dgm:spPr/>
    </dgm:pt>
    <dgm:pt modelId="{69BD0FD5-0F1E-CC44-A786-1D0EBB064194}" type="pres">
      <dgm:prSet presAssocID="{770C1518-FAB3-A342-9344-020ACF8CA269}" presName="parTxOnly" presStyleLbl="node1" presStyleIdx="0" presStyleCnt="4">
        <dgm:presLayoutVars>
          <dgm:bulletEnabled val="1"/>
        </dgm:presLayoutVars>
      </dgm:prSet>
      <dgm:spPr/>
    </dgm:pt>
    <dgm:pt modelId="{0BB339CF-A828-7C44-B6B6-4617E74F2A30}" type="pres">
      <dgm:prSet presAssocID="{E8A2206F-104A-CC48-A498-18E93B7F4CB3}" presName="parSpace" presStyleCnt="0"/>
      <dgm:spPr/>
    </dgm:pt>
    <dgm:pt modelId="{3CA7C0EC-63D6-9848-87F6-F103E823C206}" type="pres">
      <dgm:prSet presAssocID="{64A1AF83-0275-3E41-BB1B-796234FA42B4}" presName="parTxOnly" presStyleLbl="node1" presStyleIdx="1" presStyleCnt="4">
        <dgm:presLayoutVars>
          <dgm:bulletEnabled val="1"/>
        </dgm:presLayoutVars>
      </dgm:prSet>
      <dgm:spPr/>
    </dgm:pt>
    <dgm:pt modelId="{E24B357F-226D-A24D-B8A0-99337C9962CE}" type="pres">
      <dgm:prSet presAssocID="{67FCA41B-C3F7-5D45-9EBF-B9A43D8E6EDF}" presName="parSpace" presStyleCnt="0"/>
      <dgm:spPr/>
    </dgm:pt>
    <dgm:pt modelId="{703D2A10-CA3D-4F4B-B822-B38453C9700E}" type="pres">
      <dgm:prSet presAssocID="{378C6159-F276-FE4A-B467-FE049E4964E7}" presName="parTxOnly" presStyleLbl="node1" presStyleIdx="2" presStyleCnt="4">
        <dgm:presLayoutVars>
          <dgm:bulletEnabled val="1"/>
        </dgm:presLayoutVars>
      </dgm:prSet>
      <dgm:spPr/>
    </dgm:pt>
    <dgm:pt modelId="{A525699C-5734-9E41-9C93-9D643328AB95}" type="pres">
      <dgm:prSet presAssocID="{1534F11D-A173-D741-BD32-2962273635AF}" presName="parSpace" presStyleCnt="0"/>
      <dgm:spPr/>
    </dgm:pt>
    <dgm:pt modelId="{39E837AD-D992-8E49-8F7D-E156C50663E0}" type="pres">
      <dgm:prSet presAssocID="{068BFE25-DE72-DE4C-A7CF-7E96268D91E6}" presName="parTxOnly" presStyleLbl="node1" presStyleIdx="3" presStyleCnt="4">
        <dgm:presLayoutVars>
          <dgm:bulletEnabled val="1"/>
        </dgm:presLayoutVars>
      </dgm:prSet>
      <dgm:spPr/>
    </dgm:pt>
  </dgm:ptLst>
  <dgm:cxnLst>
    <dgm:cxn modelId="{94262017-ABCC-5E42-9932-388086EF3F24}" srcId="{33AB1A54-39B7-2E4E-A622-136468B1EFD0}" destId="{068BFE25-DE72-DE4C-A7CF-7E96268D91E6}" srcOrd="3" destOrd="0" parTransId="{5A0AAEA3-D559-674D-A561-B089D90BAA83}" sibTransId="{BC717940-38FF-7943-92D7-0CEB2F296FFD}"/>
    <dgm:cxn modelId="{6324301E-0510-6341-8945-D656F316AF70}" type="presOf" srcId="{64A1AF83-0275-3E41-BB1B-796234FA42B4}" destId="{3CA7C0EC-63D6-9848-87F6-F103E823C206}" srcOrd="0" destOrd="0" presId="urn:microsoft.com/office/officeart/2005/8/layout/hChevron3"/>
    <dgm:cxn modelId="{B6C00227-B714-7D42-BEB3-911B886408FC}" type="presOf" srcId="{068BFE25-DE72-DE4C-A7CF-7E96268D91E6}" destId="{39E837AD-D992-8E49-8F7D-E156C50663E0}" srcOrd="0" destOrd="0" presId="urn:microsoft.com/office/officeart/2005/8/layout/hChevron3"/>
    <dgm:cxn modelId="{348EF66D-3CB1-F749-9EC9-C84353AF3375}" srcId="{33AB1A54-39B7-2E4E-A622-136468B1EFD0}" destId="{378C6159-F276-FE4A-B467-FE049E4964E7}" srcOrd="2" destOrd="0" parTransId="{FFF90C4E-6B19-C84C-95EB-42F4FC7729AB}" sibTransId="{1534F11D-A173-D741-BD32-2962273635AF}"/>
    <dgm:cxn modelId="{C2054F76-C1A9-384E-912F-615A582F9DD3}" srcId="{33AB1A54-39B7-2E4E-A622-136468B1EFD0}" destId="{770C1518-FAB3-A342-9344-020ACF8CA269}" srcOrd="0" destOrd="0" parTransId="{9B53D708-6D7A-1F4F-8028-D858F359B0A6}" sibTransId="{E8A2206F-104A-CC48-A498-18E93B7F4CB3}"/>
    <dgm:cxn modelId="{6785D478-D718-4540-AACF-EFBC8748E518}" type="presOf" srcId="{378C6159-F276-FE4A-B467-FE049E4964E7}" destId="{703D2A10-CA3D-4F4B-B822-B38453C9700E}" srcOrd="0" destOrd="0" presId="urn:microsoft.com/office/officeart/2005/8/layout/hChevron3"/>
    <dgm:cxn modelId="{9CE476B3-ED3C-6F4D-B3E7-FAAB76C56F7B}" srcId="{33AB1A54-39B7-2E4E-A622-136468B1EFD0}" destId="{64A1AF83-0275-3E41-BB1B-796234FA42B4}" srcOrd="1" destOrd="0" parTransId="{639D370D-C71E-0B42-B27E-B712E452F44A}" sibTransId="{67FCA41B-C3F7-5D45-9EBF-B9A43D8E6EDF}"/>
    <dgm:cxn modelId="{777F36BD-82F0-9043-B1C6-7322D446079F}" type="presOf" srcId="{770C1518-FAB3-A342-9344-020ACF8CA269}" destId="{69BD0FD5-0F1E-CC44-A786-1D0EBB064194}" srcOrd="0" destOrd="0" presId="urn:microsoft.com/office/officeart/2005/8/layout/hChevron3"/>
    <dgm:cxn modelId="{EE2013C5-6E47-C24A-8985-148AEE2EE111}" type="presOf" srcId="{33AB1A54-39B7-2E4E-A622-136468B1EFD0}" destId="{92C7C110-4869-A149-A3A2-9C1EF42A0571}" srcOrd="0" destOrd="0" presId="urn:microsoft.com/office/officeart/2005/8/layout/hChevron3"/>
    <dgm:cxn modelId="{0F49AB2D-DDF7-854B-86CA-3E38FBF3EBE2}" type="presParOf" srcId="{92C7C110-4869-A149-A3A2-9C1EF42A0571}" destId="{69BD0FD5-0F1E-CC44-A786-1D0EBB064194}" srcOrd="0" destOrd="0" presId="urn:microsoft.com/office/officeart/2005/8/layout/hChevron3"/>
    <dgm:cxn modelId="{17911FE1-D363-9247-86EF-3FE8ACC74905}" type="presParOf" srcId="{92C7C110-4869-A149-A3A2-9C1EF42A0571}" destId="{0BB339CF-A828-7C44-B6B6-4617E74F2A30}" srcOrd="1" destOrd="0" presId="urn:microsoft.com/office/officeart/2005/8/layout/hChevron3"/>
    <dgm:cxn modelId="{20337EBB-77DD-5C4D-B2B7-B513131659C7}" type="presParOf" srcId="{92C7C110-4869-A149-A3A2-9C1EF42A0571}" destId="{3CA7C0EC-63D6-9848-87F6-F103E823C206}" srcOrd="2" destOrd="0" presId="urn:microsoft.com/office/officeart/2005/8/layout/hChevron3"/>
    <dgm:cxn modelId="{CDDEDF5F-9096-9448-8B7D-B4DC1651FF97}" type="presParOf" srcId="{92C7C110-4869-A149-A3A2-9C1EF42A0571}" destId="{E24B357F-226D-A24D-B8A0-99337C9962CE}" srcOrd="3" destOrd="0" presId="urn:microsoft.com/office/officeart/2005/8/layout/hChevron3"/>
    <dgm:cxn modelId="{A0B0778F-EF30-774F-A0CC-4BD8A5B708FE}" type="presParOf" srcId="{92C7C110-4869-A149-A3A2-9C1EF42A0571}" destId="{703D2A10-CA3D-4F4B-B822-B38453C9700E}" srcOrd="4" destOrd="0" presId="urn:microsoft.com/office/officeart/2005/8/layout/hChevron3"/>
    <dgm:cxn modelId="{06E1CE02-8D99-6B40-B32E-99835D9DAB22}" type="presParOf" srcId="{92C7C110-4869-A149-A3A2-9C1EF42A0571}" destId="{A525699C-5734-9E41-9C93-9D643328AB95}" srcOrd="5" destOrd="0" presId="urn:microsoft.com/office/officeart/2005/8/layout/hChevron3"/>
    <dgm:cxn modelId="{4D7862F5-E94B-834D-AB4E-10062C0B1343}" type="presParOf" srcId="{92C7C110-4869-A149-A3A2-9C1EF42A0571}" destId="{39E837AD-D992-8E49-8F7D-E156C50663E0}"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15F41928-CECE-F34B-8447-A5FE0F5D6960}" type="doc">
      <dgm:prSet loTypeId="urn:microsoft.com/office/officeart/2005/8/layout/lProcess1" loCatId="hierarchy" qsTypeId="urn:microsoft.com/office/officeart/2005/8/quickstyle/simple1" qsCatId="simple" csTypeId="urn:microsoft.com/office/officeart/2005/8/colors/accent1_2" csCatId="accent1"/>
      <dgm:spPr/>
      <dgm:t>
        <a:bodyPr/>
        <a:lstStyle/>
        <a:p>
          <a:endParaRPr lang="en-GB"/>
        </a:p>
      </dgm:t>
    </dgm:pt>
    <dgm:pt modelId="{3F230A55-A3BA-1F46-BDE2-FB433553FFED}">
      <dgm:prSet/>
      <dgm:spPr/>
      <dgm:t>
        <a:bodyPr/>
        <a:lstStyle/>
        <a:p>
          <a:r>
            <a:rPr lang="en-US" dirty="0"/>
            <a:t>Consider a rich economy abundant in capital that trades with a poor economy abundant in </a:t>
          </a:r>
          <a:r>
            <a:rPr lang="en-US" dirty="0" err="1"/>
            <a:t>labour</a:t>
          </a:r>
          <a:r>
            <a:rPr lang="en-US" dirty="0"/>
            <a:t>:</a:t>
          </a:r>
          <a:endParaRPr lang="en-NZ" dirty="0"/>
        </a:p>
      </dgm:t>
    </dgm:pt>
    <dgm:pt modelId="{7757E506-8521-6C4B-9DD0-15B103B902EF}" type="parTrans" cxnId="{0E6A25C5-D66A-4441-ABF1-73B79ADB9F41}">
      <dgm:prSet/>
      <dgm:spPr/>
      <dgm:t>
        <a:bodyPr/>
        <a:lstStyle/>
        <a:p>
          <a:endParaRPr lang="en-GB"/>
        </a:p>
      </dgm:t>
    </dgm:pt>
    <dgm:pt modelId="{B14D07CD-5974-9A49-892E-AD83BE5B7BA9}" type="sibTrans" cxnId="{0E6A25C5-D66A-4441-ABF1-73B79ADB9F41}">
      <dgm:prSet/>
      <dgm:spPr/>
      <dgm:t>
        <a:bodyPr/>
        <a:lstStyle/>
        <a:p>
          <a:endParaRPr lang="en-GB"/>
        </a:p>
      </dgm:t>
    </dgm:pt>
    <dgm:pt modelId="{BE677857-FC50-B74B-B78F-DCC557296471}">
      <dgm:prSet/>
      <dgm:spPr/>
      <dgm:t>
        <a:bodyPr/>
        <a:lstStyle/>
        <a:p>
          <a:r>
            <a:rPr lang="en-US" dirty="0"/>
            <a:t>Workers in the rich economy (and owners of capital in the poor country) will be worse off</a:t>
          </a:r>
          <a:endParaRPr lang="en-NZ" dirty="0"/>
        </a:p>
      </dgm:t>
    </dgm:pt>
    <dgm:pt modelId="{ED23C573-423F-A54C-86C8-90788CC3E631}" type="parTrans" cxnId="{EC22E4CC-BF7F-F743-AF47-B51BF9100769}">
      <dgm:prSet/>
      <dgm:spPr/>
      <dgm:t>
        <a:bodyPr/>
        <a:lstStyle/>
        <a:p>
          <a:endParaRPr lang="en-GB"/>
        </a:p>
      </dgm:t>
    </dgm:pt>
    <dgm:pt modelId="{10F6DBC8-364E-0E49-852A-7EDB8E5C4EF0}" type="sibTrans" cxnId="{EC22E4CC-BF7F-F743-AF47-B51BF9100769}">
      <dgm:prSet/>
      <dgm:spPr/>
      <dgm:t>
        <a:bodyPr/>
        <a:lstStyle/>
        <a:p>
          <a:endParaRPr lang="en-GB"/>
        </a:p>
      </dgm:t>
    </dgm:pt>
    <dgm:pt modelId="{50503810-AD50-394E-A890-8DFBCB9941E1}">
      <dgm:prSet/>
      <dgm:spPr/>
      <dgm:t>
        <a:bodyPr/>
        <a:lstStyle/>
        <a:p>
          <a:r>
            <a:rPr lang="en-US"/>
            <a:t>Owners of capital in rich country (and workers in the poor country) will be better off. </a:t>
          </a:r>
          <a:endParaRPr lang="en-NZ"/>
        </a:p>
      </dgm:t>
    </dgm:pt>
    <dgm:pt modelId="{D09B50A0-6AE4-6D43-9ABF-41305C1F8E45}" type="parTrans" cxnId="{AAE5FFA7-F5C3-5F4C-B543-072BAE4936FF}">
      <dgm:prSet/>
      <dgm:spPr/>
      <dgm:t>
        <a:bodyPr/>
        <a:lstStyle/>
        <a:p>
          <a:endParaRPr lang="en-GB"/>
        </a:p>
      </dgm:t>
    </dgm:pt>
    <dgm:pt modelId="{3E760E7C-88A5-0B41-B70D-BDF4C948DA48}" type="sibTrans" cxnId="{AAE5FFA7-F5C3-5F4C-B543-072BAE4936FF}">
      <dgm:prSet/>
      <dgm:spPr/>
      <dgm:t>
        <a:bodyPr/>
        <a:lstStyle/>
        <a:p>
          <a:endParaRPr lang="en-GB"/>
        </a:p>
      </dgm:t>
    </dgm:pt>
    <dgm:pt modelId="{4AE13103-4FB8-4B45-94D5-B14FF3A04D88}">
      <dgm:prSet/>
      <dgm:spPr/>
      <dgm:t>
        <a:bodyPr/>
        <a:lstStyle/>
        <a:p>
          <a:r>
            <a:rPr lang="en-US"/>
            <a:t>Overall, the entire economy </a:t>
          </a:r>
          <a:r>
            <a:rPr lang="en-US" u="sng"/>
            <a:t>could</a:t>
          </a:r>
          <a:r>
            <a:rPr lang="en-US"/>
            <a:t> grow and offset the losses to the worse off (see the stylized US vs China example in section 18.6)</a:t>
          </a:r>
          <a:endParaRPr lang="en-NZ"/>
        </a:p>
      </dgm:t>
    </dgm:pt>
    <dgm:pt modelId="{10979216-31E1-DE44-882A-400A4CDF7ACB}" type="parTrans" cxnId="{F336BA3C-2639-7A49-A095-71E3050FDFE1}">
      <dgm:prSet/>
      <dgm:spPr/>
      <dgm:t>
        <a:bodyPr/>
        <a:lstStyle/>
        <a:p>
          <a:endParaRPr lang="en-GB"/>
        </a:p>
      </dgm:t>
    </dgm:pt>
    <dgm:pt modelId="{3B62A0DD-72EA-9E4C-B9C6-651F42ABD68D}" type="sibTrans" cxnId="{F336BA3C-2639-7A49-A095-71E3050FDFE1}">
      <dgm:prSet/>
      <dgm:spPr/>
      <dgm:t>
        <a:bodyPr/>
        <a:lstStyle/>
        <a:p>
          <a:endParaRPr lang="en-GB"/>
        </a:p>
      </dgm:t>
    </dgm:pt>
    <dgm:pt modelId="{F51C3929-BBB6-CD44-BBA2-E85CEFC7E97E}" type="pres">
      <dgm:prSet presAssocID="{15F41928-CECE-F34B-8447-A5FE0F5D6960}" presName="Name0" presStyleCnt="0">
        <dgm:presLayoutVars>
          <dgm:dir/>
          <dgm:animLvl val="lvl"/>
          <dgm:resizeHandles val="exact"/>
        </dgm:presLayoutVars>
      </dgm:prSet>
      <dgm:spPr/>
    </dgm:pt>
    <dgm:pt modelId="{258D5FA5-7804-BC40-A4C6-107A4ACA1D2F}" type="pres">
      <dgm:prSet presAssocID="{3F230A55-A3BA-1F46-BDE2-FB433553FFED}" presName="vertFlow" presStyleCnt="0"/>
      <dgm:spPr/>
    </dgm:pt>
    <dgm:pt modelId="{44332BAD-254A-F44E-ABD0-A6C009B2BEA2}" type="pres">
      <dgm:prSet presAssocID="{3F230A55-A3BA-1F46-BDE2-FB433553FFED}" presName="header" presStyleLbl="node1" presStyleIdx="0" presStyleCnt="2"/>
      <dgm:spPr/>
    </dgm:pt>
    <dgm:pt modelId="{31485D45-A8F7-9F4E-93A4-CCF5C1D71B7D}" type="pres">
      <dgm:prSet presAssocID="{ED23C573-423F-A54C-86C8-90788CC3E631}" presName="parTrans" presStyleLbl="sibTrans2D1" presStyleIdx="0" presStyleCnt="2"/>
      <dgm:spPr/>
    </dgm:pt>
    <dgm:pt modelId="{E7CFDF16-8465-CF4D-A2D4-76C3F6F54BF5}" type="pres">
      <dgm:prSet presAssocID="{BE677857-FC50-B74B-B78F-DCC557296471}" presName="child" presStyleLbl="alignAccFollowNode1" presStyleIdx="0" presStyleCnt="2">
        <dgm:presLayoutVars>
          <dgm:chMax val="0"/>
          <dgm:bulletEnabled val="1"/>
        </dgm:presLayoutVars>
      </dgm:prSet>
      <dgm:spPr/>
    </dgm:pt>
    <dgm:pt modelId="{02682FB7-C202-2A44-9B9F-7B470D2A791E}" type="pres">
      <dgm:prSet presAssocID="{10F6DBC8-364E-0E49-852A-7EDB8E5C4EF0}" presName="sibTrans" presStyleLbl="sibTrans2D1" presStyleIdx="1" presStyleCnt="2"/>
      <dgm:spPr/>
    </dgm:pt>
    <dgm:pt modelId="{2138E5EC-20CE-0746-833D-E1EECD63FAFD}" type="pres">
      <dgm:prSet presAssocID="{50503810-AD50-394E-A890-8DFBCB9941E1}" presName="child" presStyleLbl="alignAccFollowNode1" presStyleIdx="1" presStyleCnt="2">
        <dgm:presLayoutVars>
          <dgm:chMax val="0"/>
          <dgm:bulletEnabled val="1"/>
        </dgm:presLayoutVars>
      </dgm:prSet>
      <dgm:spPr/>
    </dgm:pt>
    <dgm:pt modelId="{A5EB6F4C-2938-7447-9D34-5B4EF479040A}" type="pres">
      <dgm:prSet presAssocID="{3F230A55-A3BA-1F46-BDE2-FB433553FFED}" presName="hSp" presStyleCnt="0"/>
      <dgm:spPr/>
    </dgm:pt>
    <dgm:pt modelId="{1AEBE902-C9C4-354E-99A2-57A0E74B9C4E}" type="pres">
      <dgm:prSet presAssocID="{4AE13103-4FB8-4B45-94D5-B14FF3A04D88}" presName="vertFlow" presStyleCnt="0"/>
      <dgm:spPr/>
    </dgm:pt>
    <dgm:pt modelId="{E8D0251D-483B-274E-995D-790BCBA76C99}" type="pres">
      <dgm:prSet presAssocID="{4AE13103-4FB8-4B45-94D5-B14FF3A04D88}" presName="header" presStyleLbl="node1" presStyleIdx="1" presStyleCnt="2"/>
      <dgm:spPr/>
    </dgm:pt>
  </dgm:ptLst>
  <dgm:cxnLst>
    <dgm:cxn modelId="{BE518504-9CFA-9445-936B-C6691ECC1AB2}" type="presOf" srcId="{ED23C573-423F-A54C-86C8-90788CC3E631}" destId="{31485D45-A8F7-9F4E-93A4-CCF5C1D71B7D}" srcOrd="0" destOrd="0" presId="urn:microsoft.com/office/officeart/2005/8/layout/lProcess1"/>
    <dgm:cxn modelId="{F107E21E-0112-5649-A18B-850DDB520A06}" type="presOf" srcId="{15F41928-CECE-F34B-8447-A5FE0F5D6960}" destId="{F51C3929-BBB6-CD44-BBA2-E85CEFC7E97E}" srcOrd="0" destOrd="0" presId="urn:microsoft.com/office/officeart/2005/8/layout/lProcess1"/>
    <dgm:cxn modelId="{E7DE582F-DC23-CC4E-B170-2C046DC7E422}" type="presOf" srcId="{10F6DBC8-364E-0E49-852A-7EDB8E5C4EF0}" destId="{02682FB7-C202-2A44-9B9F-7B470D2A791E}" srcOrd="0" destOrd="0" presId="urn:microsoft.com/office/officeart/2005/8/layout/lProcess1"/>
    <dgm:cxn modelId="{DA3DEB3A-A79F-2544-AA46-989DB9E7AAE8}" type="presOf" srcId="{4AE13103-4FB8-4B45-94D5-B14FF3A04D88}" destId="{E8D0251D-483B-274E-995D-790BCBA76C99}" srcOrd="0" destOrd="0" presId="urn:microsoft.com/office/officeart/2005/8/layout/lProcess1"/>
    <dgm:cxn modelId="{F336BA3C-2639-7A49-A095-71E3050FDFE1}" srcId="{15F41928-CECE-F34B-8447-A5FE0F5D6960}" destId="{4AE13103-4FB8-4B45-94D5-B14FF3A04D88}" srcOrd="1" destOrd="0" parTransId="{10979216-31E1-DE44-882A-400A4CDF7ACB}" sibTransId="{3B62A0DD-72EA-9E4C-B9C6-651F42ABD68D}"/>
    <dgm:cxn modelId="{AA3D8B47-CA2D-F741-8CC2-CB0AD5C517D1}" type="presOf" srcId="{BE677857-FC50-B74B-B78F-DCC557296471}" destId="{E7CFDF16-8465-CF4D-A2D4-76C3F6F54BF5}" srcOrd="0" destOrd="0" presId="urn:microsoft.com/office/officeart/2005/8/layout/lProcess1"/>
    <dgm:cxn modelId="{AAE5FFA7-F5C3-5F4C-B543-072BAE4936FF}" srcId="{3F230A55-A3BA-1F46-BDE2-FB433553FFED}" destId="{50503810-AD50-394E-A890-8DFBCB9941E1}" srcOrd="1" destOrd="0" parTransId="{D09B50A0-6AE4-6D43-9ABF-41305C1F8E45}" sibTransId="{3E760E7C-88A5-0B41-B70D-BDF4C948DA48}"/>
    <dgm:cxn modelId="{0E6A25C5-D66A-4441-ABF1-73B79ADB9F41}" srcId="{15F41928-CECE-F34B-8447-A5FE0F5D6960}" destId="{3F230A55-A3BA-1F46-BDE2-FB433553FFED}" srcOrd="0" destOrd="0" parTransId="{7757E506-8521-6C4B-9DD0-15B103B902EF}" sibTransId="{B14D07CD-5974-9A49-892E-AD83BE5B7BA9}"/>
    <dgm:cxn modelId="{EC22E4CC-BF7F-F743-AF47-B51BF9100769}" srcId="{3F230A55-A3BA-1F46-BDE2-FB433553FFED}" destId="{BE677857-FC50-B74B-B78F-DCC557296471}" srcOrd="0" destOrd="0" parTransId="{ED23C573-423F-A54C-86C8-90788CC3E631}" sibTransId="{10F6DBC8-364E-0E49-852A-7EDB8E5C4EF0}"/>
    <dgm:cxn modelId="{B938E8E7-E161-8042-98BE-3C329A4C2111}" type="presOf" srcId="{3F230A55-A3BA-1F46-BDE2-FB433553FFED}" destId="{44332BAD-254A-F44E-ABD0-A6C009B2BEA2}" srcOrd="0" destOrd="0" presId="urn:microsoft.com/office/officeart/2005/8/layout/lProcess1"/>
    <dgm:cxn modelId="{8C6AB6EE-01A4-1147-BB3A-68D2FB830683}" type="presOf" srcId="{50503810-AD50-394E-A890-8DFBCB9941E1}" destId="{2138E5EC-20CE-0746-833D-E1EECD63FAFD}" srcOrd="0" destOrd="0" presId="urn:microsoft.com/office/officeart/2005/8/layout/lProcess1"/>
    <dgm:cxn modelId="{AD74857D-93F9-7744-8043-686A8B727C9C}" type="presParOf" srcId="{F51C3929-BBB6-CD44-BBA2-E85CEFC7E97E}" destId="{258D5FA5-7804-BC40-A4C6-107A4ACA1D2F}" srcOrd="0" destOrd="0" presId="urn:microsoft.com/office/officeart/2005/8/layout/lProcess1"/>
    <dgm:cxn modelId="{9456A92E-4FC4-0843-8719-DF7515316027}" type="presParOf" srcId="{258D5FA5-7804-BC40-A4C6-107A4ACA1D2F}" destId="{44332BAD-254A-F44E-ABD0-A6C009B2BEA2}" srcOrd="0" destOrd="0" presId="urn:microsoft.com/office/officeart/2005/8/layout/lProcess1"/>
    <dgm:cxn modelId="{C90C7718-47BE-314A-8BE2-78B7423F9E8B}" type="presParOf" srcId="{258D5FA5-7804-BC40-A4C6-107A4ACA1D2F}" destId="{31485D45-A8F7-9F4E-93A4-CCF5C1D71B7D}" srcOrd="1" destOrd="0" presId="urn:microsoft.com/office/officeart/2005/8/layout/lProcess1"/>
    <dgm:cxn modelId="{6ABC46B5-4B3D-E44E-B6B6-3CC81EF85EE9}" type="presParOf" srcId="{258D5FA5-7804-BC40-A4C6-107A4ACA1D2F}" destId="{E7CFDF16-8465-CF4D-A2D4-76C3F6F54BF5}" srcOrd="2" destOrd="0" presId="urn:microsoft.com/office/officeart/2005/8/layout/lProcess1"/>
    <dgm:cxn modelId="{FAB57A2B-1AF7-1244-B542-A30F6D8EAF1E}" type="presParOf" srcId="{258D5FA5-7804-BC40-A4C6-107A4ACA1D2F}" destId="{02682FB7-C202-2A44-9B9F-7B470D2A791E}" srcOrd="3" destOrd="0" presId="urn:microsoft.com/office/officeart/2005/8/layout/lProcess1"/>
    <dgm:cxn modelId="{1D2182B1-F8FA-8F45-910C-929E77353B10}" type="presParOf" srcId="{258D5FA5-7804-BC40-A4C6-107A4ACA1D2F}" destId="{2138E5EC-20CE-0746-833D-E1EECD63FAFD}" srcOrd="4" destOrd="0" presId="urn:microsoft.com/office/officeart/2005/8/layout/lProcess1"/>
    <dgm:cxn modelId="{35A69FA2-C4AA-924C-BB60-4B6AEA8483E3}" type="presParOf" srcId="{F51C3929-BBB6-CD44-BBA2-E85CEFC7E97E}" destId="{A5EB6F4C-2938-7447-9D34-5B4EF479040A}" srcOrd="1" destOrd="0" presId="urn:microsoft.com/office/officeart/2005/8/layout/lProcess1"/>
    <dgm:cxn modelId="{9757B918-02BB-4F4C-82BF-8322634D9B32}" type="presParOf" srcId="{F51C3929-BBB6-CD44-BBA2-E85CEFC7E97E}" destId="{1AEBE902-C9C4-354E-99A2-57A0E74B9C4E}" srcOrd="2" destOrd="0" presId="urn:microsoft.com/office/officeart/2005/8/layout/lProcess1"/>
    <dgm:cxn modelId="{E21EBF04-F200-6D42-8BBE-C38602DCA8D0}" type="presParOf" srcId="{1AEBE902-C9C4-354E-99A2-57A0E74B9C4E}" destId="{E8D0251D-483B-274E-995D-790BCBA76C99}" srcOrd="0"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E948627D-A353-EE41-8FAE-C6CCF9ED7AC4}" type="doc">
      <dgm:prSet loTypeId="urn:microsoft.com/office/officeart/2005/8/layout/lProcess1" loCatId="hierarchy" qsTypeId="urn:microsoft.com/office/officeart/2005/8/quickstyle/simple1" qsCatId="simple" csTypeId="urn:microsoft.com/office/officeart/2005/8/colors/accent1_2" csCatId="accent1"/>
      <dgm:spPr/>
      <dgm:t>
        <a:bodyPr/>
        <a:lstStyle/>
        <a:p>
          <a:endParaRPr lang="en-GB"/>
        </a:p>
      </dgm:t>
    </dgm:pt>
    <dgm:pt modelId="{A4897A77-F339-F846-BAEC-A5015AA0B988}">
      <dgm:prSet/>
      <dgm:spPr/>
      <dgm:t>
        <a:bodyPr/>
        <a:lstStyle/>
        <a:p>
          <a:r>
            <a:rPr lang="en-US"/>
            <a:t>Consider a rich economy abundant in skilled labour that trades with a poor economy abundant in unskilled labour:</a:t>
          </a:r>
          <a:endParaRPr lang="en-NZ"/>
        </a:p>
      </dgm:t>
    </dgm:pt>
    <dgm:pt modelId="{FDD204CF-805E-CD4D-A4F4-1F3EE69BB3F2}" type="parTrans" cxnId="{067CA356-9D9E-8142-A42B-0CE8271C262F}">
      <dgm:prSet/>
      <dgm:spPr/>
      <dgm:t>
        <a:bodyPr/>
        <a:lstStyle/>
        <a:p>
          <a:endParaRPr lang="en-GB"/>
        </a:p>
      </dgm:t>
    </dgm:pt>
    <dgm:pt modelId="{6DA5E18B-FFF3-544F-AB63-D8AA014ACF1C}" type="sibTrans" cxnId="{067CA356-9D9E-8142-A42B-0CE8271C262F}">
      <dgm:prSet/>
      <dgm:spPr/>
      <dgm:t>
        <a:bodyPr/>
        <a:lstStyle/>
        <a:p>
          <a:endParaRPr lang="en-GB"/>
        </a:p>
      </dgm:t>
    </dgm:pt>
    <dgm:pt modelId="{38A385F2-960D-A241-BC69-845518109C13}">
      <dgm:prSet/>
      <dgm:spPr/>
      <dgm:t>
        <a:bodyPr/>
        <a:lstStyle/>
        <a:p>
          <a:r>
            <a:rPr lang="en-US"/>
            <a:t>Unskilled workers in the rich economy (and skilled workers in the poor country) will be worse off</a:t>
          </a:r>
          <a:endParaRPr lang="en-NZ"/>
        </a:p>
      </dgm:t>
    </dgm:pt>
    <dgm:pt modelId="{4275C331-4AED-8A41-9D02-DD8802A4F982}" type="parTrans" cxnId="{73C31197-DD4C-E047-82E5-E4D068B633D1}">
      <dgm:prSet/>
      <dgm:spPr/>
      <dgm:t>
        <a:bodyPr/>
        <a:lstStyle/>
        <a:p>
          <a:endParaRPr lang="en-GB"/>
        </a:p>
      </dgm:t>
    </dgm:pt>
    <dgm:pt modelId="{837510FB-06B1-CF42-AE66-0799C80D8E37}" type="sibTrans" cxnId="{73C31197-DD4C-E047-82E5-E4D068B633D1}">
      <dgm:prSet/>
      <dgm:spPr/>
      <dgm:t>
        <a:bodyPr/>
        <a:lstStyle/>
        <a:p>
          <a:endParaRPr lang="en-GB"/>
        </a:p>
      </dgm:t>
    </dgm:pt>
    <dgm:pt modelId="{FA462F37-687E-F94B-9D6A-461BCC0CD4D8}">
      <dgm:prSet/>
      <dgm:spPr/>
      <dgm:t>
        <a:bodyPr/>
        <a:lstStyle/>
        <a:p>
          <a:r>
            <a:rPr lang="en-US"/>
            <a:t>Skilled workers in rich countries (and unskilled workers in the poor country) will be better off. </a:t>
          </a:r>
          <a:endParaRPr lang="en-NZ"/>
        </a:p>
      </dgm:t>
    </dgm:pt>
    <dgm:pt modelId="{11BB2D9F-A38F-854C-BB08-D19B6B6B5159}" type="parTrans" cxnId="{55F05F11-6EBC-3A4C-903D-96837A870ABA}">
      <dgm:prSet/>
      <dgm:spPr/>
      <dgm:t>
        <a:bodyPr/>
        <a:lstStyle/>
        <a:p>
          <a:endParaRPr lang="en-GB"/>
        </a:p>
      </dgm:t>
    </dgm:pt>
    <dgm:pt modelId="{8399DE59-AA36-4A45-BFC8-B40687B39772}" type="sibTrans" cxnId="{55F05F11-6EBC-3A4C-903D-96837A870ABA}">
      <dgm:prSet/>
      <dgm:spPr/>
      <dgm:t>
        <a:bodyPr/>
        <a:lstStyle/>
        <a:p>
          <a:endParaRPr lang="en-GB"/>
        </a:p>
      </dgm:t>
    </dgm:pt>
    <dgm:pt modelId="{1340B1DE-3450-3D41-BEC8-D0E0DF62AFA4}">
      <dgm:prSet/>
      <dgm:spPr/>
      <dgm:t>
        <a:bodyPr/>
        <a:lstStyle/>
        <a:p>
          <a:r>
            <a:rPr lang="en-US"/>
            <a:t>Overall, the entire economy </a:t>
          </a:r>
          <a:r>
            <a:rPr lang="en-US" u="sng"/>
            <a:t>could</a:t>
          </a:r>
          <a:r>
            <a:rPr lang="en-US"/>
            <a:t> grow and offset the losses to the worse off (see the stylized US vs China example in section 18.6)</a:t>
          </a:r>
          <a:endParaRPr lang="en-NZ"/>
        </a:p>
      </dgm:t>
    </dgm:pt>
    <dgm:pt modelId="{0844AAAB-69B1-AB4C-AB58-0BDCDEA29837}" type="parTrans" cxnId="{B1CF39D9-1977-994E-AD49-8F8F9AEDD850}">
      <dgm:prSet/>
      <dgm:spPr/>
      <dgm:t>
        <a:bodyPr/>
        <a:lstStyle/>
        <a:p>
          <a:endParaRPr lang="en-GB"/>
        </a:p>
      </dgm:t>
    </dgm:pt>
    <dgm:pt modelId="{3AF099E0-418D-1A44-AD25-73E17FE40767}" type="sibTrans" cxnId="{B1CF39D9-1977-994E-AD49-8F8F9AEDD850}">
      <dgm:prSet/>
      <dgm:spPr/>
      <dgm:t>
        <a:bodyPr/>
        <a:lstStyle/>
        <a:p>
          <a:endParaRPr lang="en-GB"/>
        </a:p>
      </dgm:t>
    </dgm:pt>
    <dgm:pt modelId="{98CA6F29-94C8-524D-A579-B42199DE26E8}" type="pres">
      <dgm:prSet presAssocID="{E948627D-A353-EE41-8FAE-C6CCF9ED7AC4}" presName="Name0" presStyleCnt="0">
        <dgm:presLayoutVars>
          <dgm:dir/>
          <dgm:animLvl val="lvl"/>
          <dgm:resizeHandles val="exact"/>
        </dgm:presLayoutVars>
      </dgm:prSet>
      <dgm:spPr/>
    </dgm:pt>
    <dgm:pt modelId="{9232C936-1E38-184F-AC2B-09A5CE28BAF6}" type="pres">
      <dgm:prSet presAssocID="{A4897A77-F339-F846-BAEC-A5015AA0B988}" presName="vertFlow" presStyleCnt="0"/>
      <dgm:spPr/>
    </dgm:pt>
    <dgm:pt modelId="{5B111585-6056-B848-A5C5-1F335E046F9B}" type="pres">
      <dgm:prSet presAssocID="{A4897A77-F339-F846-BAEC-A5015AA0B988}" presName="header" presStyleLbl="node1" presStyleIdx="0" presStyleCnt="2"/>
      <dgm:spPr/>
    </dgm:pt>
    <dgm:pt modelId="{DB71125B-6BD2-2842-AB63-20AA9DC731EE}" type="pres">
      <dgm:prSet presAssocID="{4275C331-4AED-8A41-9D02-DD8802A4F982}" presName="parTrans" presStyleLbl="sibTrans2D1" presStyleIdx="0" presStyleCnt="2"/>
      <dgm:spPr/>
    </dgm:pt>
    <dgm:pt modelId="{AEC6BF1C-8A8E-9E44-9919-64EA99A97FAB}" type="pres">
      <dgm:prSet presAssocID="{38A385F2-960D-A241-BC69-845518109C13}" presName="child" presStyleLbl="alignAccFollowNode1" presStyleIdx="0" presStyleCnt="2">
        <dgm:presLayoutVars>
          <dgm:chMax val="0"/>
          <dgm:bulletEnabled val="1"/>
        </dgm:presLayoutVars>
      </dgm:prSet>
      <dgm:spPr/>
    </dgm:pt>
    <dgm:pt modelId="{C5F1CCF1-63A8-844D-BC4A-3A026550FE71}" type="pres">
      <dgm:prSet presAssocID="{837510FB-06B1-CF42-AE66-0799C80D8E37}" presName="sibTrans" presStyleLbl="sibTrans2D1" presStyleIdx="1" presStyleCnt="2"/>
      <dgm:spPr/>
    </dgm:pt>
    <dgm:pt modelId="{FC387945-023A-3043-975E-0B0FD920966B}" type="pres">
      <dgm:prSet presAssocID="{FA462F37-687E-F94B-9D6A-461BCC0CD4D8}" presName="child" presStyleLbl="alignAccFollowNode1" presStyleIdx="1" presStyleCnt="2">
        <dgm:presLayoutVars>
          <dgm:chMax val="0"/>
          <dgm:bulletEnabled val="1"/>
        </dgm:presLayoutVars>
      </dgm:prSet>
      <dgm:spPr/>
    </dgm:pt>
    <dgm:pt modelId="{F3306A60-CE5A-DB4F-B241-E504126E0397}" type="pres">
      <dgm:prSet presAssocID="{A4897A77-F339-F846-BAEC-A5015AA0B988}" presName="hSp" presStyleCnt="0"/>
      <dgm:spPr/>
    </dgm:pt>
    <dgm:pt modelId="{AE1D3216-FAB1-BE44-8369-5FBC6D7AF320}" type="pres">
      <dgm:prSet presAssocID="{1340B1DE-3450-3D41-BEC8-D0E0DF62AFA4}" presName="vertFlow" presStyleCnt="0"/>
      <dgm:spPr/>
    </dgm:pt>
    <dgm:pt modelId="{9B34C863-060D-A240-94B4-299C94E83586}" type="pres">
      <dgm:prSet presAssocID="{1340B1DE-3450-3D41-BEC8-D0E0DF62AFA4}" presName="header" presStyleLbl="node1" presStyleIdx="1" presStyleCnt="2"/>
      <dgm:spPr/>
    </dgm:pt>
  </dgm:ptLst>
  <dgm:cxnLst>
    <dgm:cxn modelId="{55F05F11-6EBC-3A4C-903D-96837A870ABA}" srcId="{A4897A77-F339-F846-BAEC-A5015AA0B988}" destId="{FA462F37-687E-F94B-9D6A-461BCC0CD4D8}" srcOrd="1" destOrd="0" parTransId="{11BB2D9F-A38F-854C-BB08-D19B6B6B5159}" sibTransId="{8399DE59-AA36-4A45-BFC8-B40687B39772}"/>
    <dgm:cxn modelId="{600F8715-B858-3C4C-9769-77ADFF8A86B6}" type="presOf" srcId="{837510FB-06B1-CF42-AE66-0799C80D8E37}" destId="{C5F1CCF1-63A8-844D-BC4A-3A026550FE71}" srcOrd="0" destOrd="0" presId="urn:microsoft.com/office/officeart/2005/8/layout/lProcess1"/>
    <dgm:cxn modelId="{067CA356-9D9E-8142-A42B-0CE8271C262F}" srcId="{E948627D-A353-EE41-8FAE-C6CCF9ED7AC4}" destId="{A4897A77-F339-F846-BAEC-A5015AA0B988}" srcOrd="0" destOrd="0" parTransId="{FDD204CF-805E-CD4D-A4F4-1F3EE69BB3F2}" sibTransId="{6DA5E18B-FFF3-544F-AB63-D8AA014ACF1C}"/>
    <dgm:cxn modelId="{09250D89-018F-A040-B781-FF615A5FF23C}" type="presOf" srcId="{1340B1DE-3450-3D41-BEC8-D0E0DF62AFA4}" destId="{9B34C863-060D-A240-94B4-299C94E83586}" srcOrd="0" destOrd="0" presId="urn:microsoft.com/office/officeart/2005/8/layout/lProcess1"/>
    <dgm:cxn modelId="{73C31197-DD4C-E047-82E5-E4D068B633D1}" srcId="{A4897A77-F339-F846-BAEC-A5015AA0B988}" destId="{38A385F2-960D-A241-BC69-845518109C13}" srcOrd="0" destOrd="0" parTransId="{4275C331-4AED-8A41-9D02-DD8802A4F982}" sibTransId="{837510FB-06B1-CF42-AE66-0799C80D8E37}"/>
    <dgm:cxn modelId="{DF0433C6-47E5-C045-8F73-312A08CBA849}" type="presOf" srcId="{A4897A77-F339-F846-BAEC-A5015AA0B988}" destId="{5B111585-6056-B848-A5C5-1F335E046F9B}" srcOrd="0" destOrd="0" presId="urn:microsoft.com/office/officeart/2005/8/layout/lProcess1"/>
    <dgm:cxn modelId="{915430D6-FEA5-B74B-ACDE-9DD2247131B9}" type="presOf" srcId="{E948627D-A353-EE41-8FAE-C6CCF9ED7AC4}" destId="{98CA6F29-94C8-524D-A579-B42199DE26E8}" srcOrd="0" destOrd="0" presId="urn:microsoft.com/office/officeart/2005/8/layout/lProcess1"/>
    <dgm:cxn modelId="{B1CF39D9-1977-994E-AD49-8F8F9AEDD850}" srcId="{E948627D-A353-EE41-8FAE-C6CCF9ED7AC4}" destId="{1340B1DE-3450-3D41-BEC8-D0E0DF62AFA4}" srcOrd="1" destOrd="0" parTransId="{0844AAAB-69B1-AB4C-AB58-0BDCDEA29837}" sibTransId="{3AF099E0-418D-1A44-AD25-73E17FE40767}"/>
    <dgm:cxn modelId="{FF0494E9-E50E-5844-8D37-90F7FAC6F81E}" type="presOf" srcId="{4275C331-4AED-8A41-9D02-DD8802A4F982}" destId="{DB71125B-6BD2-2842-AB63-20AA9DC731EE}" srcOrd="0" destOrd="0" presId="urn:microsoft.com/office/officeart/2005/8/layout/lProcess1"/>
    <dgm:cxn modelId="{200C2EF3-50E0-8746-802E-BD5BE2345B60}" type="presOf" srcId="{38A385F2-960D-A241-BC69-845518109C13}" destId="{AEC6BF1C-8A8E-9E44-9919-64EA99A97FAB}" srcOrd="0" destOrd="0" presId="urn:microsoft.com/office/officeart/2005/8/layout/lProcess1"/>
    <dgm:cxn modelId="{277317FC-FCE3-7D40-BFA3-67F53F0380D5}" type="presOf" srcId="{FA462F37-687E-F94B-9D6A-461BCC0CD4D8}" destId="{FC387945-023A-3043-975E-0B0FD920966B}" srcOrd="0" destOrd="0" presId="urn:microsoft.com/office/officeart/2005/8/layout/lProcess1"/>
    <dgm:cxn modelId="{D02D008F-6151-6745-A7F8-7D6882C418EB}" type="presParOf" srcId="{98CA6F29-94C8-524D-A579-B42199DE26E8}" destId="{9232C936-1E38-184F-AC2B-09A5CE28BAF6}" srcOrd="0" destOrd="0" presId="urn:microsoft.com/office/officeart/2005/8/layout/lProcess1"/>
    <dgm:cxn modelId="{23A30E83-8FAF-5F41-B5CC-E7EE123D25A0}" type="presParOf" srcId="{9232C936-1E38-184F-AC2B-09A5CE28BAF6}" destId="{5B111585-6056-B848-A5C5-1F335E046F9B}" srcOrd="0" destOrd="0" presId="urn:microsoft.com/office/officeart/2005/8/layout/lProcess1"/>
    <dgm:cxn modelId="{16E6C376-62EF-6C4F-AE2B-5D78DCF98B8C}" type="presParOf" srcId="{9232C936-1E38-184F-AC2B-09A5CE28BAF6}" destId="{DB71125B-6BD2-2842-AB63-20AA9DC731EE}" srcOrd="1" destOrd="0" presId="urn:microsoft.com/office/officeart/2005/8/layout/lProcess1"/>
    <dgm:cxn modelId="{2EBF2172-A7D2-124B-A435-27695E9510A0}" type="presParOf" srcId="{9232C936-1E38-184F-AC2B-09A5CE28BAF6}" destId="{AEC6BF1C-8A8E-9E44-9919-64EA99A97FAB}" srcOrd="2" destOrd="0" presId="urn:microsoft.com/office/officeart/2005/8/layout/lProcess1"/>
    <dgm:cxn modelId="{1BC107D2-3219-4F44-A40C-F13D130AC1FD}" type="presParOf" srcId="{9232C936-1E38-184F-AC2B-09A5CE28BAF6}" destId="{C5F1CCF1-63A8-844D-BC4A-3A026550FE71}" srcOrd="3" destOrd="0" presId="urn:microsoft.com/office/officeart/2005/8/layout/lProcess1"/>
    <dgm:cxn modelId="{A1B90888-8DCB-8446-8E01-1652061F2B4A}" type="presParOf" srcId="{9232C936-1E38-184F-AC2B-09A5CE28BAF6}" destId="{FC387945-023A-3043-975E-0B0FD920966B}" srcOrd="4" destOrd="0" presId="urn:microsoft.com/office/officeart/2005/8/layout/lProcess1"/>
    <dgm:cxn modelId="{8E2F58A4-CAC0-EB4B-B2AB-DFDF2515D261}" type="presParOf" srcId="{98CA6F29-94C8-524D-A579-B42199DE26E8}" destId="{F3306A60-CE5A-DB4F-B241-E504126E0397}" srcOrd="1" destOrd="0" presId="urn:microsoft.com/office/officeart/2005/8/layout/lProcess1"/>
    <dgm:cxn modelId="{ABA7CA77-2D63-FA45-9610-FCEDCF489719}" type="presParOf" srcId="{98CA6F29-94C8-524D-A579-B42199DE26E8}" destId="{AE1D3216-FAB1-BE44-8369-5FBC6D7AF320}" srcOrd="2" destOrd="0" presId="urn:microsoft.com/office/officeart/2005/8/layout/lProcess1"/>
    <dgm:cxn modelId="{C48A2C02-CE1D-0549-BA48-5E73A0E58B96}" type="presParOf" srcId="{AE1D3216-FAB1-BE44-8369-5FBC6D7AF320}" destId="{9B34C863-060D-A240-94B4-299C94E83586}" srcOrd="0"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3CAFCB3-0481-E44A-8E59-841BE476346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GB"/>
        </a:p>
      </dgm:t>
    </dgm:pt>
    <dgm:pt modelId="{7D2889FC-2F9C-D745-9C07-EC2175DF07DB}">
      <dgm:prSet/>
      <dgm:spPr/>
      <dgm:t>
        <a:bodyPr/>
        <a:lstStyle/>
        <a:p>
          <a:r>
            <a:rPr lang="en-US"/>
            <a:t>There are 2 goods: passenger aircraft (capital-intensive) and consumer electronics (labour-intensive).</a:t>
          </a:r>
          <a:endParaRPr lang="en-NZ"/>
        </a:p>
      </dgm:t>
    </dgm:pt>
    <dgm:pt modelId="{1E376C2F-7702-EB48-9E5B-76676F46DE30}" type="parTrans" cxnId="{7F87E0A7-620B-DC42-805F-3A5A9A5299CE}">
      <dgm:prSet/>
      <dgm:spPr/>
      <dgm:t>
        <a:bodyPr/>
        <a:lstStyle/>
        <a:p>
          <a:endParaRPr lang="en-GB"/>
        </a:p>
      </dgm:t>
    </dgm:pt>
    <dgm:pt modelId="{820B482E-0F6D-F546-AC1F-65F31AC73098}" type="sibTrans" cxnId="{7F87E0A7-620B-DC42-805F-3A5A9A5299CE}">
      <dgm:prSet/>
      <dgm:spPr/>
      <dgm:t>
        <a:bodyPr/>
        <a:lstStyle/>
        <a:p>
          <a:endParaRPr lang="en-GB"/>
        </a:p>
      </dgm:t>
    </dgm:pt>
    <dgm:pt modelId="{539EF322-EE57-3847-93B4-DAEDAB92E88F}">
      <dgm:prSet/>
      <dgm:spPr/>
      <dgm:t>
        <a:bodyPr/>
        <a:lstStyle/>
        <a:p>
          <a:r>
            <a:rPr lang="en-US"/>
            <a:t>The US is relatively capital abundant, whereas China is relatively labour abundant -&gt; specialization according to factor endowments.</a:t>
          </a:r>
          <a:endParaRPr lang="en-NZ"/>
        </a:p>
      </dgm:t>
    </dgm:pt>
    <dgm:pt modelId="{4B04C1B0-D476-A645-8407-BEBC16881A0F}" type="parTrans" cxnId="{F9003DBC-FA06-E34B-B66D-F42195DD78A6}">
      <dgm:prSet/>
      <dgm:spPr/>
      <dgm:t>
        <a:bodyPr/>
        <a:lstStyle/>
        <a:p>
          <a:endParaRPr lang="en-GB"/>
        </a:p>
      </dgm:t>
    </dgm:pt>
    <dgm:pt modelId="{0008FC2A-EA22-5146-AD18-2F27A5FE5B3E}" type="sibTrans" cxnId="{F9003DBC-FA06-E34B-B66D-F42195DD78A6}">
      <dgm:prSet/>
      <dgm:spPr/>
      <dgm:t>
        <a:bodyPr/>
        <a:lstStyle/>
        <a:p>
          <a:endParaRPr lang="en-GB"/>
        </a:p>
      </dgm:t>
    </dgm:pt>
    <dgm:pt modelId="{7A00DBE0-BD50-5F40-B4A7-E6B9C23C3471}" type="pres">
      <dgm:prSet presAssocID="{43CAFCB3-0481-E44A-8E59-841BE4763469}" presName="linear" presStyleCnt="0">
        <dgm:presLayoutVars>
          <dgm:animLvl val="lvl"/>
          <dgm:resizeHandles val="exact"/>
        </dgm:presLayoutVars>
      </dgm:prSet>
      <dgm:spPr/>
    </dgm:pt>
    <dgm:pt modelId="{1149ADA8-B3AA-3A4D-88B0-0D1AD25DC9E7}" type="pres">
      <dgm:prSet presAssocID="{7D2889FC-2F9C-D745-9C07-EC2175DF07DB}" presName="parentText" presStyleLbl="node1" presStyleIdx="0" presStyleCnt="2">
        <dgm:presLayoutVars>
          <dgm:chMax val="0"/>
          <dgm:bulletEnabled val="1"/>
        </dgm:presLayoutVars>
      </dgm:prSet>
      <dgm:spPr/>
    </dgm:pt>
    <dgm:pt modelId="{56BDBD8E-8BCF-6742-A0DE-9012441EAD58}" type="pres">
      <dgm:prSet presAssocID="{820B482E-0F6D-F546-AC1F-65F31AC73098}" presName="spacer" presStyleCnt="0"/>
      <dgm:spPr/>
    </dgm:pt>
    <dgm:pt modelId="{D8C89B7A-7C66-794F-A8C3-5CB34626CF0E}" type="pres">
      <dgm:prSet presAssocID="{539EF322-EE57-3847-93B4-DAEDAB92E88F}" presName="parentText" presStyleLbl="node1" presStyleIdx="1" presStyleCnt="2">
        <dgm:presLayoutVars>
          <dgm:chMax val="0"/>
          <dgm:bulletEnabled val="1"/>
        </dgm:presLayoutVars>
      </dgm:prSet>
      <dgm:spPr/>
    </dgm:pt>
  </dgm:ptLst>
  <dgm:cxnLst>
    <dgm:cxn modelId="{3E14C22F-2FDF-F14A-B2E0-F810D2E71B51}" type="presOf" srcId="{7D2889FC-2F9C-D745-9C07-EC2175DF07DB}" destId="{1149ADA8-B3AA-3A4D-88B0-0D1AD25DC9E7}" srcOrd="0" destOrd="0" presId="urn:microsoft.com/office/officeart/2005/8/layout/vList2"/>
    <dgm:cxn modelId="{85B7984E-8051-3648-884A-231036179884}" type="presOf" srcId="{539EF322-EE57-3847-93B4-DAEDAB92E88F}" destId="{D8C89B7A-7C66-794F-A8C3-5CB34626CF0E}" srcOrd="0" destOrd="0" presId="urn:microsoft.com/office/officeart/2005/8/layout/vList2"/>
    <dgm:cxn modelId="{7F87E0A7-620B-DC42-805F-3A5A9A5299CE}" srcId="{43CAFCB3-0481-E44A-8E59-841BE4763469}" destId="{7D2889FC-2F9C-D745-9C07-EC2175DF07DB}" srcOrd="0" destOrd="0" parTransId="{1E376C2F-7702-EB48-9E5B-76676F46DE30}" sibTransId="{820B482E-0F6D-F546-AC1F-65F31AC73098}"/>
    <dgm:cxn modelId="{F9003DBC-FA06-E34B-B66D-F42195DD78A6}" srcId="{43CAFCB3-0481-E44A-8E59-841BE4763469}" destId="{539EF322-EE57-3847-93B4-DAEDAB92E88F}" srcOrd="1" destOrd="0" parTransId="{4B04C1B0-D476-A645-8407-BEBC16881A0F}" sibTransId="{0008FC2A-EA22-5146-AD18-2F27A5FE5B3E}"/>
    <dgm:cxn modelId="{760438F9-CDA5-8243-98E9-89EF4A36F33B}" type="presOf" srcId="{43CAFCB3-0481-E44A-8E59-841BE4763469}" destId="{7A00DBE0-BD50-5F40-B4A7-E6B9C23C3471}" srcOrd="0" destOrd="0" presId="urn:microsoft.com/office/officeart/2005/8/layout/vList2"/>
    <dgm:cxn modelId="{40B5E1ED-A1E0-DE4A-A1A3-E4009160F56A}" type="presParOf" srcId="{7A00DBE0-BD50-5F40-B4A7-E6B9C23C3471}" destId="{1149ADA8-B3AA-3A4D-88B0-0D1AD25DC9E7}" srcOrd="0" destOrd="0" presId="urn:microsoft.com/office/officeart/2005/8/layout/vList2"/>
    <dgm:cxn modelId="{A6B86F1D-7BF2-FA4A-9E88-148206944246}" type="presParOf" srcId="{7A00DBE0-BD50-5F40-B4A7-E6B9C23C3471}" destId="{56BDBD8E-8BCF-6742-A0DE-9012441EAD58}" srcOrd="1" destOrd="0" presId="urn:microsoft.com/office/officeart/2005/8/layout/vList2"/>
    <dgm:cxn modelId="{8719D312-59A7-514F-B9BC-2AE446D034F6}" type="presParOf" srcId="{7A00DBE0-BD50-5F40-B4A7-E6B9C23C3471}" destId="{D8C89B7A-7C66-794F-A8C3-5CB34626CF0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184F2A0C-632B-9A44-B90A-0DCAF9F3A46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GB"/>
        </a:p>
      </dgm:t>
    </dgm:pt>
    <dgm:pt modelId="{F5D6A3AD-310F-2243-BE4A-6978412A975D}">
      <dgm:prSet/>
      <dgm:spPr/>
      <dgm:t>
        <a:bodyPr/>
        <a:lstStyle/>
        <a:p>
          <a:r>
            <a:rPr lang="en-US"/>
            <a:t>Winners in the US: Owners of capital -&gt; inequality should rise</a:t>
          </a:r>
          <a:endParaRPr lang="en-NZ"/>
        </a:p>
      </dgm:t>
    </dgm:pt>
    <dgm:pt modelId="{0AE54B90-1132-B14A-9652-13CEEC4B1709}" type="parTrans" cxnId="{3B8E953B-88D1-1D4C-B4B5-0A75350EA2FA}">
      <dgm:prSet/>
      <dgm:spPr/>
      <dgm:t>
        <a:bodyPr/>
        <a:lstStyle/>
        <a:p>
          <a:endParaRPr lang="en-GB"/>
        </a:p>
      </dgm:t>
    </dgm:pt>
    <dgm:pt modelId="{0CE641CC-1B53-BF46-8152-8BA4723BADDB}" type="sibTrans" cxnId="{3B8E953B-88D1-1D4C-B4B5-0A75350EA2FA}">
      <dgm:prSet/>
      <dgm:spPr/>
      <dgm:t>
        <a:bodyPr/>
        <a:lstStyle/>
        <a:p>
          <a:endParaRPr lang="en-GB"/>
        </a:p>
      </dgm:t>
    </dgm:pt>
    <dgm:pt modelId="{88B8DD80-3AC0-E841-BE29-2CE6307BD087}">
      <dgm:prSet/>
      <dgm:spPr/>
      <dgm:t>
        <a:bodyPr/>
        <a:lstStyle/>
        <a:p>
          <a:r>
            <a:rPr lang="en-US" dirty="0"/>
            <a:t>Winners in China: Workers (higher wages) -&gt; inequality should fall</a:t>
          </a:r>
          <a:endParaRPr lang="en-NZ" dirty="0"/>
        </a:p>
      </dgm:t>
    </dgm:pt>
    <dgm:pt modelId="{C0713050-15E0-2F4B-87F7-DBBD503CE8F3}" type="parTrans" cxnId="{54DA6399-5EAB-BA49-B10D-0124CC011F00}">
      <dgm:prSet/>
      <dgm:spPr/>
      <dgm:t>
        <a:bodyPr/>
        <a:lstStyle/>
        <a:p>
          <a:endParaRPr lang="en-GB"/>
        </a:p>
      </dgm:t>
    </dgm:pt>
    <dgm:pt modelId="{51E80AF7-5A93-B948-B573-A1434EF40059}" type="sibTrans" cxnId="{54DA6399-5EAB-BA49-B10D-0124CC011F00}">
      <dgm:prSet/>
      <dgm:spPr/>
      <dgm:t>
        <a:bodyPr/>
        <a:lstStyle/>
        <a:p>
          <a:endParaRPr lang="en-GB"/>
        </a:p>
      </dgm:t>
    </dgm:pt>
    <dgm:pt modelId="{6C0695AB-03B4-E548-B9ED-DF1327A032F2}" type="pres">
      <dgm:prSet presAssocID="{184F2A0C-632B-9A44-B90A-0DCAF9F3A46D}" presName="linear" presStyleCnt="0">
        <dgm:presLayoutVars>
          <dgm:animLvl val="lvl"/>
          <dgm:resizeHandles val="exact"/>
        </dgm:presLayoutVars>
      </dgm:prSet>
      <dgm:spPr/>
    </dgm:pt>
    <dgm:pt modelId="{C8D9B926-379D-EC40-B2DD-CF3DDD2B176F}" type="pres">
      <dgm:prSet presAssocID="{F5D6A3AD-310F-2243-BE4A-6978412A975D}" presName="parentText" presStyleLbl="node1" presStyleIdx="0" presStyleCnt="2">
        <dgm:presLayoutVars>
          <dgm:chMax val="0"/>
          <dgm:bulletEnabled val="1"/>
        </dgm:presLayoutVars>
      </dgm:prSet>
      <dgm:spPr/>
    </dgm:pt>
    <dgm:pt modelId="{29FFF37A-92D5-0842-91C4-F4A0A97B1D74}" type="pres">
      <dgm:prSet presAssocID="{0CE641CC-1B53-BF46-8152-8BA4723BADDB}" presName="spacer" presStyleCnt="0"/>
      <dgm:spPr/>
    </dgm:pt>
    <dgm:pt modelId="{1CFDAA5F-0931-4443-8CF3-2ADD8AFEF20F}" type="pres">
      <dgm:prSet presAssocID="{88B8DD80-3AC0-E841-BE29-2CE6307BD087}" presName="parentText" presStyleLbl="node1" presStyleIdx="1" presStyleCnt="2">
        <dgm:presLayoutVars>
          <dgm:chMax val="0"/>
          <dgm:bulletEnabled val="1"/>
        </dgm:presLayoutVars>
      </dgm:prSet>
      <dgm:spPr/>
    </dgm:pt>
  </dgm:ptLst>
  <dgm:cxnLst>
    <dgm:cxn modelId="{3B8E953B-88D1-1D4C-B4B5-0A75350EA2FA}" srcId="{184F2A0C-632B-9A44-B90A-0DCAF9F3A46D}" destId="{F5D6A3AD-310F-2243-BE4A-6978412A975D}" srcOrd="0" destOrd="0" parTransId="{0AE54B90-1132-B14A-9652-13CEEC4B1709}" sibTransId="{0CE641CC-1B53-BF46-8152-8BA4723BADDB}"/>
    <dgm:cxn modelId="{54DA6399-5EAB-BA49-B10D-0124CC011F00}" srcId="{184F2A0C-632B-9A44-B90A-0DCAF9F3A46D}" destId="{88B8DD80-3AC0-E841-BE29-2CE6307BD087}" srcOrd="1" destOrd="0" parTransId="{C0713050-15E0-2F4B-87F7-DBBD503CE8F3}" sibTransId="{51E80AF7-5A93-B948-B573-A1434EF40059}"/>
    <dgm:cxn modelId="{D870F1B4-E834-1443-9F51-43DAE32E4A74}" type="presOf" srcId="{F5D6A3AD-310F-2243-BE4A-6978412A975D}" destId="{C8D9B926-379D-EC40-B2DD-CF3DDD2B176F}" srcOrd="0" destOrd="0" presId="urn:microsoft.com/office/officeart/2005/8/layout/vList2"/>
    <dgm:cxn modelId="{C5418ABA-2FB9-1745-87A2-A482946C533F}" type="presOf" srcId="{88B8DD80-3AC0-E841-BE29-2CE6307BD087}" destId="{1CFDAA5F-0931-4443-8CF3-2ADD8AFEF20F}" srcOrd="0" destOrd="0" presId="urn:microsoft.com/office/officeart/2005/8/layout/vList2"/>
    <dgm:cxn modelId="{8E7694C4-2C3D-DD4B-AFF1-5D8E08C1C87B}" type="presOf" srcId="{184F2A0C-632B-9A44-B90A-0DCAF9F3A46D}" destId="{6C0695AB-03B4-E548-B9ED-DF1327A032F2}" srcOrd="0" destOrd="0" presId="urn:microsoft.com/office/officeart/2005/8/layout/vList2"/>
    <dgm:cxn modelId="{84F16D7C-111A-3542-A1A3-416B3543F705}" type="presParOf" srcId="{6C0695AB-03B4-E548-B9ED-DF1327A032F2}" destId="{C8D9B926-379D-EC40-B2DD-CF3DDD2B176F}" srcOrd="0" destOrd="0" presId="urn:microsoft.com/office/officeart/2005/8/layout/vList2"/>
    <dgm:cxn modelId="{47EB5859-4355-F14D-8BE0-EEFF8EC408A1}" type="presParOf" srcId="{6C0695AB-03B4-E548-B9ED-DF1327A032F2}" destId="{29FFF37A-92D5-0842-91C4-F4A0A97B1D74}" srcOrd="1" destOrd="0" presId="urn:microsoft.com/office/officeart/2005/8/layout/vList2"/>
    <dgm:cxn modelId="{2BF0CC2C-74F9-DA46-BF21-AED0AE44F97C}" type="presParOf" srcId="{6C0695AB-03B4-E548-B9ED-DF1327A032F2}" destId="{1CFDAA5F-0931-4443-8CF3-2ADD8AFEF20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8DF72B-3687-3E46-A735-0E96DCC3322E}">
      <dsp:nvSpPr>
        <dsp:cNvPr id="0" name=""/>
        <dsp:cNvSpPr/>
      </dsp:nvSpPr>
      <dsp:spPr>
        <a:xfrm>
          <a:off x="0" y="26896"/>
          <a:ext cx="7175500" cy="24134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Increased globalization means that most nations engage in both specialization and trade.</a:t>
          </a:r>
          <a:endParaRPr lang="en-NZ" sz="3500" kern="1200" dirty="0"/>
        </a:p>
      </dsp:txBody>
      <dsp:txXfrm>
        <a:off x="117817" y="144713"/>
        <a:ext cx="6939866" cy="2177856"/>
      </dsp:txXfrm>
    </dsp:sp>
    <dsp:sp modelId="{08131866-E767-6E47-9041-2C86133D3E79}">
      <dsp:nvSpPr>
        <dsp:cNvPr id="0" name=""/>
        <dsp:cNvSpPr/>
      </dsp:nvSpPr>
      <dsp:spPr>
        <a:xfrm>
          <a:off x="0" y="2541187"/>
          <a:ext cx="7175500" cy="24134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b="1" kern="1200" dirty="0"/>
            <a:t>Specialization</a:t>
          </a:r>
          <a:r>
            <a:rPr lang="en-US" sz="3500" kern="1200" dirty="0"/>
            <a:t>: when an entity produces a narrower range of goods than it consumes, acquiring the rest through trade.</a:t>
          </a:r>
          <a:endParaRPr lang="en-NZ" sz="3500" kern="1200" dirty="0"/>
        </a:p>
      </dsp:txBody>
      <dsp:txXfrm>
        <a:off x="117817" y="2659004"/>
        <a:ext cx="6939866" cy="21778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C8273F-109C-48A3-8999-2E882EEEFFF1}">
      <dsp:nvSpPr>
        <dsp:cNvPr id="0" name=""/>
        <dsp:cNvSpPr/>
      </dsp:nvSpPr>
      <dsp:spPr>
        <a:xfrm>
          <a:off x="4925754" y="2979110"/>
          <a:ext cx="292993" cy="898514"/>
        </a:xfrm>
        <a:custGeom>
          <a:avLst/>
          <a:gdLst/>
          <a:ahLst/>
          <a:cxnLst/>
          <a:rect l="0" t="0" r="0" b="0"/>
          <a:pathLst>
            <a:path>
              <a:moveTo>
                <a:pt x="0" y="0"/>
              </a:moveTo>
              <a:lnTo>
                <a:pt x="0" y="898514"/>
              </a:lnTo>
              <a:lnTo>
                <a:pt x="292993" y="89851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B76460-5558-457F-BFA0-4101FFF2CD6A}">
      <dsp:nvSpPr>
        <dsp:cNvPr id="0" name=""/>
        <dsp:cNvSpPr/>
      </dsp:nvSpPr>
      <dsp:spPr>
        <a:xfrm>
          <a:off x="3343588" y="1592273"/>
          <a:ext cx="2363482" cy="410191"/>
        </a:xfrm>
        <a:custGeom>
          <a:avLst/>
          <a:gdLst/>
          <a:ahLst/>
          <a:cxnLst/>
          <a:rect l="0" t="0" r="0" b="0"/>
          <a:pathLst>
            <a:path>
              <a:moveTo>
                <a:pt x="0" y="0"/>
              </a:moveTo>
              <a:lnTo>
                <a:pt x="0" y="205095"/>
              </a:lnTo>
              <a:lnTo>
                <a:pt x="2363482" y="205095"/>
              </a:lnTo>
              <a:lnTo>
                <a:pt x="2363482" y="410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97E688-A221-4C60-AB96-54981056CDE7}">
      <dsp:nvSpPr>
        <dsp:cNvPr id="0" name=""/>
        <dsp:cNvSpPr/>
      </dsp:nvSpPr>
      <dsp:spPr>
        <a:xfrm>
          <a:off x="3297868" y="1592273"/>
          <a:ext cx="91440" cy="410191"/>
        </a:xfrm>
        <a:custGeom>
          <a:avLst/>
          <a:gdLst/>
          <a:ahLst/>
          <a:cxnLst/>
          <a:rect l="0" t="0" r="0" b="0"/>
          <a:pathLst>
            <a:path>
              <a:moveTo>
                <a:pt x="45720" y="0"/>
              </a:moveTo>
              <a:lnTo>
                <a:pt x="45720" y="410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72A18C-70B4-4DEE-B3BA-B8CB2CC3B2B0}">
      <dsp:nvSpPr>
        <dsp:cNvPr id="0" name=""/>
        <dsp:cNvSpPr/>
      </dsp:nvSpPr>
      <dsp:spPr>
        <a:xfrm>
          <a:off x="980105" y="1592273"/>
          <a:ext cx="2363482" cy="410191"/>
        </a:xfrm>
        <a:custGeom>
          <a:avLst/>
          <a:gdLst/>
          <a:ahLst/>
          <a:cxnLst/>
          <a:rect l="0" t="0" r="0" b="0"/>
          <a:pathLst>
            <a:path>
              <a:moveTo>
                <a:pt x="2363482" y="0"/>
              </a:moveTo>
              <a:lnTo>
                <a:pt x="2363482" y="205095"/>
              </a:lnTo>
              <a:lnTo>
                <a:pt x="0" y="205095"/>
              </a:lnTo>
              <a:lnTo>
                <a:pt x="0" y="410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6005D0-3078-4DC1-B824-07BC37F5D09C}">
      <dsp:nvSpPr>
        <dsp:cNvPr id="0" name=""/>
        <dsp:cNvSpPr/>
      </dsp:nvSpPr>
      <dsp:spPr>
        <a:xfrm>
          <a:off x="2366942" y="615627"/>
          <a:ext cx="1953291" cy="97664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Reasons for specialization include:</a:t>
          </a:r>
          <a:endParaRPr lang="en-NZ" sz="1300" kern="1200"/>
        </a:p>
      </dsp:txBody>
      <dsp:txXfrm>
        <a:off x="2366942" y="615627"/>
        <a:ext cx="1953291" cy="976645"/>
      </dsp:txXfrm>
    </dsp:sp>
    <dsp:sp modelId="{4E7FE757-EE9B-44B9-A2A3-9A16F16DEBBD}">
      <dsp:nvSpPr>
        <dsp:cNvPr id="0" name=""/>
        <dsp:cNvSpPr/>
      </dsp:nvSpPr>
      <dsp:spPr>
        <a:xfrm>
          <a:off x="3459" y="2002464"/>
          <a:ext cx="1953291" cy="97664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kern="1200"/>
            <a:t>Comparative advantage </a:t>
          </a:r>
          <a:r>
            <a:rPr lang="en-US" sz="1300" kern="1200"/>
            <a:t>in producing particular goods</a:t>
          </a:r>
          <a:endParaRPr lang="en-NZ" sz="1300" kern="1200"/>
        </a:p>
      </dsp:txBody>
      <dsp:txXfrm>
        <a:off x="3459" y="2002464"/>
        <a:ext cx="1953291" cy="976645"/>
      </dsp:txXfrm>
    </dsp:sp>
    <dsp:sp modelId="{90BEACFF-FAB9-4C31-BDE1-85608F7D4F5E}">
      <dsp:nvSpPr>
        <dsp:cNvPr id="0" name=""/>
        <dsp:cNvSpPr/>
      </dsp:nvSpPr>
      <dsp:spPr>
        <a:xfrm>
          <a:off x="2366942" y="2002464"/>
          <a:ext cx="1953291" cy="97664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kern="1200" dirty="0"/>
            <a:t>Economies of agglomeration </a:t>
          </a:r>
          <a:r>
            <a:rPr lang="en-US" sz="1300" kern="1200" dirty="0"/>
            <a:t>– cost reductions from locating close to other firms in similar industries</a:t>
          </a:r>
          <a:endParaRPr lang="en-NZ" sz="1300" kern="1200" dirty="0"/>
        </a:p>
      </dsp:txBody>
      <dsp:txXfrm>
        <a:off x="2366942" y="2002464"/>
        <a:ext cx="1953291" cy="976645"/>
      </dsp:txXfrm>
    </dsp:sp>
    <dsp:sp modelId="{BBFFFC67-22F5-4BF7-BEBF-514991B43B9E}">
      <dsp:nvSpPr>
        <dsp:cNvPr id="0" name=""/>
        <dsp:cNvSpPr/>
      </dsp:nvSpPr>
      <dsp:spPr>
        <a:xfrm>
          <a:off x="4730425" y="2002464"/>
          <a:ext cx="1953291" cy="97664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Economies of scale – cost advantages from producing more</a:t>
          </a:r>
          <a:endParaRPr lang="en-NZ" sz="1300" kern="1200" dirty="0"/>
        </a:p>
      </dsp:txBody>
      <dsp:txXfrm>
        <a:off x="4730425" y="2002464"/>
        <a:ext cx="1953291" cy="976645"/>
      </dsp:txXfrm>
    </dsp:sp>
    <dsp:sp modelId="{CE746D6C-5499-43E2-BDCE-4EA3846CC1F3}">
      <dsp:nvSpPr>
        <dsp:cNvPr id="0" name=""/>
        <dsp:cNvSpPr/>
      </dsp:nvSpPr>
      <dsp:spPr>
        <a:xfrm>
          <a:off x="5218748" y="3389301"/>
          <a:ext cx="1953291" cy="97664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NZ" sz="1300" kern="1200" dirty="0"/>
            <a:t>Average Dairy herd in NZ is 440 cows.</a:t>
          </a:r>
        </a:p>
        <a:p>
          <a:pPr marL="0" lvl="0" indent="0" algn="ctr" defTabSz="577850">
            <a:lnSpc>
              <a:spcPct val="90000"/>
            </a:lnSpc>
            <a:spcBef>
              <a:spcPct val="0"/>
            </a:spcBef>
            <a:spcAft>
              <a:spcPct val="35000"/>
            </a:spcAft>
            <a:buNone/>
          </a:pPr>
          <a:r>
            <a:rPr lang="en-NZ" sz="1300" kern="1200" dirty="0"/>
            <a:t>Average </a:t>
          </a:r>
          <a:r>
            <a:rPr lang="en-NZ" sz="1300" kern="1200"/>
            <a:t>in France </a:t>
          </a:r>
          <a:r>
            <a:rPr lang="en-NZ" sz="1300" kern="1200" dirty="0"/>
            <a:t>is 60-70</a:t>
          </a:r>
        </a:p>
      </dsp:txBody>
      <dsp:txXfrm>
        <a:off x="5218748" y="3389301"/>
        <a:ext cx="1953291" cy="9766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DB3380-F4CF-47D4-AE67-9EBCE2904E1A}">
      <dsp:nvSpPr>
        <dsp:cNvPr id="0" name=""/>
        <dsp:cNvSpPr/>
      </dsp:nvSpPr>
      <dsp:spPr>
        <a:xfrm>
          <a:off x="3587750" y="2270516"/>
          <a:ext cx="2538359" cy="440541"/>
        </a:xfrm>
        <a:custGeom>
          <a:avLst/>
          <a:gdLst/>
          <a:ahLst/>
          <a:cxnLst/>
          <a:rect l="0" t="0" r="0" b="0"/>
          <a:pathLst>
            <a:path>
              <a:moveTo>
                <a:pt x="0" y="0"/>
              </a:moveTo>
              <a:lnTo>
                <a:pt x="0" y="220270"/>
              </a:lnTo>
              <a:lnTo>
                <a:pt x="2538359" y="220270"/>
              </a:lnTo>
              <a:lnTo>
                <a:pt x="2538359" y="440541"/>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7C05B39B-03DC-48A2-9244-F60656C38D07}">
      <dsp:nvSpPr>
        <dsp:cNvPr id="0" name=""/>
        <dsp:cNvSpPr/>
      </dsp:nvSpPr>
      <dsp:spPr>
        <a:xfrm>
          <a:off x="3542030" y="2270516"/>
          <a:ext cx="91440" cy="440541"/>
        </a:xfrm>
        <a:custGeom>
          <a:avLst/>
          <a:gdLst/>
          <a:ahLst/>
          <a:cxnLst/>
          <a:rect l="0" t="0" r="0" b="0"/>
          <a:pathLst>
            <a:path>
              <a:moveTo>
                <a:pt x="45720" y="0"/>
              </a:moveTo>
              <a:lnTo>
                <a:pt x="45720" y="440541"/>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36DB31D-35F5-42DC-A894-AC8E6B206895}">
      <dsp:nvSpPr>
        <dsp:cNvPr id="0" name=""/>
        <dsp:cNvSpPr/>
      </dsp:nvSpPr>
      <dsp:spPr>
        <a:xfrm>
          <a:off x="1049390" y="2270516"/>
          <a:ext cx="2538359" cy="440541"/>
        </a:xfrm>
        <a:custGeom>
          <a:avLst/>
          <a:gdLst/>
          <a:ahLst/>
          <a:cxnLst/>
          <a:rect l="0" t="0" r="0" b="0"/>
          <a:pathLst>
            <a:path>
              <a:moveTo>
                <a:pt x="2538359" y="0"/>
              </a:moveTo>
              <a:lnTo>
                <a:pt x="2538359" y="220270"/>
              </a:lnTo>
              <a:lnTo>
                <a:pt x="0" y="220270"/>
              </a:lnTo>
              <a:lnTo>
                <a:pt x="0" y="440541"/>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4209DDF-7664-4D3D-99B8-B3ABD2F1657F}">
      <dsp:nvSpPr>
        <dsp:cNvPr id="0" name=""/>
        <dsp:cNvSpPr/>
      </dsp:nvSpPr>
      <dsp:spPr>
        <a:xfrm>
          <a:off x="2538841" y="1221607"/>
          <a:ext cx="2097817" cy="1048908"/>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NZ" sz="1500" kern="1200"/>
            <a:t>Consider the case of Carlos and Greta:</a:t>
          </a:r>
        </a:p>
      </dsp:txBody>
      <dsp:txXfrm>
        <a:off x="2538841" y="1221607"/>
        <a:ext cx="2097817" cy="1048908"/>
      </dsp:txXfrm>
    </dsp:sp>
    <dsp:sp modelId="{B72E97FC-60E5-43E7-BCC4-40FDB4D8DE63}">
      <dsp:nvSpPr>
        <dsp:cNvPr id="0" name=""/>
        <dsp:cNvSpPr/>
      </dsp:nvSpPr>
      <dsp:spPr>
        <a:xfrm>
          <a:off x="481" y="2711058"/>
          <a:ext cx="2097817" cy="1048908"/>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NZ" sz="1500" kern="1200"/>
            <a:t>Carlos can produce either 4,000 tonnes of wheat or 10,000 apples, or some combination of the two</a:t>
          </a:r>
        </a:p>
      </dsp:txBody>
      <dsp:txXfrm>
        <a:off x="481" y="2711058"/>
        <a:ext cx="2097817" cy="1048908"/>
      </dsp:txXfrm>
    </dsp:sp>
    <dsp:sp modelId="{E9873500-685F-46F8-BCCC-F7A1ACDE0029}">
      <dsp:nvSpPr>
        <dsp:cNvPr id="0" name=""/>
        <dsp:cNvSpPr/>
      </dsp:nvSpPr>
      <dsp:spPr>
        <a:xfrm>
          <a:off x="2538841" y="2711058"/>
          <a:ext cx="2097817" cy="1048908"/>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NZ" sz="1500" kern="1200" dirty="0"/>
            <a:t>Greta can produce either 10,000 tonnes of wheat or 12,500 apples, or some combination of the two</a:t>
          </a:r>
        </a:p>
      </dsp:txBody>
      <dsp:txXfrm>
        <a:off x="2538841" y="2711058"/>
        <a:ext cx="2097817" cy="1048908"/>
      </dsp:txXfrm>
    </dsp:sp>
    <dsp:sp modelId="{2E1E79E9-17D8-4FF2-9F99-0D443156C82E}">
      <dsp:nvSpPr>
        <dsp:cNvPr id="0" name=""/>
        <dsp:cNvSpPr/>
      </dsp:nvSpPr>
      <dsp:spPr>
        <a:xfrm>
          <a:off x="5077200" y="2711058"/>
          <a:ext cx="2097817" cy="1048908"/>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NZ" sz="1500" kern="1200"/>
            <a:t>Their feasible production frontier is their feasible consumption frontier</a:t>
          </a:r>
        </a:p>
      </dsp:txBody>
      <dsp:txXfrm>
        <a:off x="5077200" y="2711058"/>
        <a:ext cx="2097817" cy="104890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F1AF0F-53C9-40A3-AF22-EC87C191F33C}">
      <dsp:nvSpPr>
        <dsp:cNvPr id="0" name=""/>
        <dsp:cNvSpPr/>
      </dsp:nvSpPr>
      <dsp:spPr>
        <a:xfrm>
          <a:off x="3795166" y="3138964"/>
          <a:ext cx="388906" cy="1192646"/>
        </a:xfrm>
        <a:custGeom>
          <a:avLst/>
          <a:gdLst/>
          <a:ahLst/>
          <a:cxnLst/>
          <a:rect l="0" t="0" r="0" b="0"/>
          <a:pathLst>
            <a:path>
              <a:moveTo>
                <a:pt x="0" y="0"/>
              </a:moveTo>
              <a:lnTo>
                <a:pt x="0" y="1192646"/>
              </a:lnTo>
              <a:lnTo>
                <a:pt x="388906" y="1192646"/>
              </a:lnTo>
            </a:path>
          </a:pathLst>
        </a:custGeom>
        <a:noFill/>
        <a:ln w="6350" cap="flat" cmpd="sng" algn="ctr">
          <a:solidFill>
            <a:schemeClr val="accent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AAF3FBF-AC4A-482D-812E-458D897B7A19}">
      <dsp:nvSpPr>
        <dsp:cNvPr id="0" name=""/>
        <dsp:cNvSpPr/>
      </dsp:nvSpPr>
      <dsp:spPr>
        <a:xfrm>
          <a:off x="3263661" y="1298140"/>
          <a:ext cx="1568589" cy="544469"/>
        </a:xfrm>
        <a:custGeom>
          <a:avLst/>
          <a:gdLst/>
          <a:ahLst/>
          <a:cxnLst/>
          <a:rect l="0" t="0" r="0" b="0"/>
          <a:pathLst>
            <a:path>
              <a:moveTo>
                <a:pt x="0" y="0"/>
              </a:moveTo>
              <a:lnTo>
                <a:pt x="0" y="272234"/>
              </a:lnTo>
              <a:lnTo>
                <a:pt x="1568589" y="272234"/>
              </a:lnTo>
              <a:lnTo>
                <a:pt x="1568589" y="544469"/>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8CD19F8-F5E0-4A94-9BCD-7D3DE4B1086F}">
      <dsp:nvSpPr>
        <dsp:cNvPr id="0" name=""/>
        <dsp:cNvSpPr/>
      </dsp:nvSpPr>
      <dsp:spPr>
        <a:xfrm>
          <a:off x="1695071" y="1298140"/>
          <a:ext cx="1568589" cy="544469"/>
        </a:xfrm>
        <a:custGeom>
          <a:avLst/>
          <a:gdLst/>
          <a:ahLst/>
          <a:cxnLst/>
          <a:rect l="0" t="0" r="0" b="0"/>
          <a:pathLst>
            <a:path>
              <a:moveTo>
                <a:pt x="1568589" y="0"/>
              </a:moveTo>
              <a:lnTo>
                <a:pt x="1568589" y="272234"/>
              </a:lnTo>
              <a:lnTo>
                <a:pt x="0" y="272234"/>
              </a:lnTo>
              <a:lnTo>
                <a:pt x="0" y="544469"/>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32408B5-94E9-43E8-A4DA-FDD59B3AAB86}">
      <dsp:nvSpPr>
        <dsp:cNvPr id="0" name=""/>
        <dsp:cNvSpPr/>
      </dsp:nvSpPr>
      <dsp:spPr>
        <a:xfrm>
          <a:off x="1967306" y="1785"/>
          <a:ext cx="2592709" cy="129635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a:t>A</a:t>
          </a:r>
          <a:r>
            <a:rPr lang="en-NZ" sz="2000" b="1" kern="1200"/>
            <a:t>bsolute advantage</a:t>
          </a:r>
          <a:endParaRPr lang="en-NZ" sz="2000" kern="1200"/>
        </a:p>
      </dsp:txBody>
      <dsp:txXfrm>
        <a:off x="1967306" y="1785"/>
        <a:ext cx="2592709" cy="1296354"/>
      </dsp:txXfrm>
    </dsp:sp>
    <dsp:sp modelId="{A31C286C-32D1-4BB3-B19F-ADBB940D8761}">
      <dsp:nvSpPr>
        <dsp:cNvPr id="0" name=""/>
        <dsp:cNvSpPr/>
      </dsp:nvSpPr>
      <dsp:spPr>
        <a:xfrm>
          <a:off x="398716" y="1842610"/>
          <a:ext cx="2592709" cy="129635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NZ" sz="2000" kern="1200"/>
            <a:t>when someone uses fewer inputs to produce the same good;</a:t>
          </a:r>
        </a:p>
      </dsp:txBody>
      <dsp:txXfrm>
        <a:off x="398716" y="1842610"/>
        <a:ext cx="2592709" cy="1296354"/>
      </dsp:txXfrm>
    </dsp:sp>
    <dsp:sp modelId="{54E6DE0B-A115-4C4B-9ECA-39D7B4803E21}">
      <dsp:nvSpPr>
        <dsp:cNvPr id="0" name=""/>
        <dsp:cNvSpPr/>
      </dsp:nvSpPr>
      <dsp:spPr>
        <a:xfrm>
          <a:off x="3535895" y="1842610"/>
          <a:ext cx="2592709" cy="129635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NZ" sz="2000" kern="1200" dirty="0"/>
            <a:t>or can produce more with the same input)</a:t>
          </a:r>
        </a:p>
      </dsp:txBody>
      <dsp:txXfrm>
        <a:off x="3535895" y="1842610"/>
        <a:ext cx="2592709" cy="1296354"/>
      </dsp:txXfrm>
    </dsp:sp>
    <dsp:sp modelId="{99167F55-DA47-411C-BFD1-026E37C932B2}">
      <dsp:nvSpPr>
        <dsp:cNvPr id="0" name=""/>
        <dsp:cNvSpPr/>
      </dsp:nvSpPr>
      <dsp:spPr>
        <a:xfrm>
          <a:off x="4184073" y="3683434"/>
          <a:ext cx="2592709" cy="129635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NZ" sz="2000" kern="1200"/>
            <a:t>Greta has absolute advantage in both wheat production and apple production. </a:t>
          </a:r>
        </a:p>
      </dsp:txBody>
      <dsp:txXfrm>
        <a:off x="4184073" y="3683434"/>
        <a:ext cx="2592709" cy="12963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F48D0-923D-0548-96A5-21073C1ED35E}">
      <dsp:nvSpPr>
        <dsp:cNvPr id="0" name=""/>
        <dsp:cNvSpPr/>
      </dsp:nvSpPr>
      <dsp:spPr>
        <a:xfrm>
          <a:off x="0" y="12502"/>
          <a:ext cx="11233183" cy="25295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b="1" kern="1200"/>
            <a:t>Comparative </a:t>
          </a:r>
          <a:r>
            <a:rPr lang="en-NZ" sz="4700" b="1" kern="1200"/>
            <a:t>advantage</a:t>
          </a:r>
          <a:r>
            <a:rPr lang="en-NZ" sz="4700" kern="1200"/>
            <a:t>: when someone produces a good at a lower opportunity cost than someone else.</a:t>
          </a:r>
        </a:p>
      </dsp:txBody>
      <dsp:txXfrm>
        <a:off x="123482" y="135984"/>
        <a:ext cx="10986219" cy="228257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680D28-F256-4361-813D-31219E848E3F}">
      <dsp:nvSpPr>
        <dsp:cNvPr id="0" name=""/>
        <dsp:cNvSpPr/>
      </dsp:nvSpPr>
      <dsp:spPr>
        <a:xfrm>
          <a:off x="6306" y="1501178"/>
          <a:ext cx="1884970" cy="197921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NZ" sz="1800" kern="1200" dirty="0"/>
            <a:t>Comparing the total outputs, the loss (in apples) is 10,000. The gain (in wheat) is 4,000. </a:t>
          </a:r>
        </a:p>
      </dsp:txBody>
      <dsp:txXfrm>
        <a:off x="61515" y="1556387"/>
        <a:ext cx="1774552" cy="1868800"/>
      </dsp:txXfrm>
    </dsp:sp>
    <dsp:sp modelId="{5BCB9750-D98F-4960-A397-A3B74687B2C1}">
      <dsp:nvSpPr>
        <dsp:cNvPr id="0" name=""/>
        <dsp:cNvSpPr/>
      </dsp:nvSpPr>
      <dsp:spPr>
        <a:xfrm>
          <a:off x="2079773" y="2257051"/>
          <a:ext cx="399613" cy="4674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2079773" y="2350545"/>
        <a:ext cx="279729" cy="280484"/>
      </dsp:txXfrm>
    </dsp:sp>
    <dsp:sp modelId="{1226C67F-7D28-45B8-9ADC-4AEBB2DAF0BC}">
      <dsp:nvSpPr>
        <dsp:cNvPr id="0" name=""/>
        <dsp:cNvSpPr/>
      </dsp:nvSpPr>
      <dsp:spPr>
        <a:xfrm>
          <a:off x="2645264" y="1501178"/>
          <a:ext cx="1884970" cy="197921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NZ" sz="1800" kern="1200"/>
            <a:t>10,000/4,000 = 2.5</a:t>
          </a:r>
        </a:p>
      </dsp:txBody>
      <dsp:txXfrm>
        <a:off x="2700473" y="1556387"/>
        <a:ext cx="1774552" cy="1868800"/>
      </dsp:txXfrm>
    </dsp:sp>
    <dsp:sp modelId="{B36C6449-2BFD-4664-A1D1-24D286D32E09}">
      <dsp:nvSpPr>
        <dsp:cNvPr id="0" name=""/>
        <dsp:cNvSpPr/>
      </dsp:nvSpPr>
      <dsp:spPr>
        <a:xfrm>
          <a:off x="4718732" y="2257051"/>
          <a:ext cx="399613" cy="4674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4718732" y="2350545"/>
        <a:ext cx="279729" cy="280484"/>
      </dsp:txXfrm>
    </dsp:sp>
    <dsp:sp modelId="{EFB23D6B-AE37-43AF-9F13-46336D6651DF}">
      <dsp:nvSpPr>
        <dsp:cNvPr id="0" name=""/>
        <dsp:cNvSpPr/>
      </dsp:nvSpPr>
      <dsp:spPr>
        <a:xfrm>
          <a:off x="5284223" y="1501178"/>
          <a:ext cx="1884970" cy="197921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NZ" sz="1800" kern="1200"/>
            <a:t>Carlos’ opportunity cost of 1 tonne wheat = 2.5 apples</a:t>
          </a:r>
        </a:p>
      </dsp:txBody>
      <dsp:txXfrm>
        <a:off x="5339432" y="1556387"/>
        <a:ext cx="1774552" cy="18688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9449B-C51D-164A-854C-39D0EA876657}">
      <dsp:nvSpPr>
        <dsp:cNvPr id="0" name=""/>
        <dsp:cNvSpPr/>
      </dsp:nvSpPr>
      <dsp:spPr>
        <a:xfrm>
          <a:off x="6345" y="1462412"/>
          <a:ext cx="2952761" cy="1476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NZ" sz="2000" kern="1200"/>
            <a:t>Comparing Greta’s total outputs gives us 12,500 apples (loss) over 10,000 wheat (gain)</a:t>
          </a:r>
        </a:p>
      </dsp:txBody>
      <dsp:txXfrm>
        <a:off x="49587" y="1505654"/>
        <a:ext cx="2866277" cy="1389896"/>
      </dsp:txXfrm>
    </dsp:sp>
    <dsp:sp modelId="{5E4A6BE2-2575-8E44-B268-F97268887EEA}">
      <dsp:nvSpPr>
        <dsp:cNvPr id="0" name=""/>
        <dsp:cNvSpPr/>
      </dsp:nvSpPr>
      <dsp:spPr>
        <a:xfrm rot="19457599">
          <a:off x="2822391" y="1745952"/>
          <a:ext cx="1454534" cy="60380"/>
        </a:xfrm>
        <a:custGeom>
          <a:avLst/>
          <a:gdLst/>
          <a:ahLst/>
          <a:cxnLst/>
          <a:rect l="0" t="0" r="0" b="0"/>
          <a:pathLst>
            <a:path>
              <a:moveTo>
                <a:pt x="0" y="30190"/>
              </a:moveTo>
              <a:lnTo>
                <a:pt x="1454534" y="3019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513295" y="1739779"/>
        <a:ext cx="72726" cy="72726"/>
      </dsp:txXfrm>
    </dsp:sp>
    <dsp:sp modelId="{C2BD9FB1-6D4A-F242-8214-9322B3E14B2D}">
      <dsp:nvSpPr>
        <dsp:cNvPr id="0" name=""/>
        <dsp:cNvSpPr/>
      </dsp:nvSpPr>
      <dsp:spPr>
        <a:xfrm>
          <a:off x="4140211" y="613493"/>
          <a:ext cx="2952761" cy="1476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NZ" sz="2000" kern="1200"/>
            <a:t>12,500/10,000 = 1.25</a:t>
          </a:r>
        </a:p>
      </dsp:txBody>
      <dsp:txXfrm>
        <a:off x="4183453" y="656735"/>
        <a:ext cx="2866277" cy="1389896"/>
      </dsp:txXfrm>
    </dsp:sp>
    <dsp:sp modelId="{BE35BFD8-B45E-0347-8EFC-F5EBD4A7F00E}">
      <dsp:nvSpPr>
        <dsp:cNvPr id="0" name=""/>
        <dsp:cNvSpPr/>
      </dsp:nvSpPr>
      <dsp:spPr>
        <a:xfrm rot="2142401">
          <a:off x="2822391" y="2594871"/>
          <a:ext cx="1454534" cy="60380"/>
        </a:xfrm>
        <a:custGeom>
          <a:avLst/>
          <a:gdLst/>
          <a:ahLst/>
          <a:cxnLst/>
          <a:rect l="0" t="0" r="0" b="0"/>
          <a:pathLst>
            <a:path>
              <a:moveTo>
                <a:pt x="0" y="30190"/>
              </a:moveTo>
              <a:lnTo>
                <a:pt x="1454534" y="3019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513295" y="2588698"/>
        <a:ext cx="72726" cy="72726"/>
      </dsp:txXfrm>
    </dsp:sp>
    <dsp:sp modelId="{107C90EA-0FE2-0C43-94F2-B61BC80ACD7B}">
      <dsp:nvSpPr>
        <dsp:cNvPr id="0" name=""/>
        <dsp:cNvSpPr/>
      </dsp:nvSpPr>
      <dsp:spPr>
        <a:xfrm>
          <a:off x="4140211" y="2311331"/>
          <a:ext cx="2952761" cy="1476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NZ" sz="2000" kern="1200"/>
            <a:t>Greta’s opportunity cost of 1 tonne wheat = 1.25 apples</a:t>
          </a:r>
        </a:p>
      </dsp:txBody>
      <dsp:txXfrm>
        <a:off x="4183453" y="2354573"/>
        <a:ext cx="2866277" cy="1389896"/>
      </dsp:txXfrm>
    </dsp:sp>
    <dsp:sp modelId="{5B9E0BEC-8B64-EB46-9A5C-46A048055B90}">
      <dsp:nvSpPr>
        <dsp:cNvPr id="0" name=""/>
        <dsp:cNvSpPr/>
      </dsp:nvSpPr>
      <dsp:spPr>
        <a:xfrm>
          <a:off x="7092972" y="3019331"/>
          <a:ext cx="1181104" cy="60380"/>
        </a:xfrm>
        <a:custGeom>
          <a:avLst/>
          <a:gdLst/>
          <a:ahLst/>
          <a:cxnLst/>
          <a:rect l="0" t="0" r="0" b="0"/>
          <a:pathLst>
            <a:path>
              <a:moveTo>
                <a:pt x="0" y="30190"/>
              </a:moveTo>
              <a:lnTo>
                <a:pt x="1181104" y="3019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7653997" y="3019993"/>
        <a:ext cx="59055" cy="59055"/>
      </dsp:txXfrm>
    </dsp:sp>
    <dsp:sp modelId="{D9BA02B9-EDDC-724E-BC07-5E8DFC287708}">
      <dsp:nvSpPr>
        <dsp:cNvPr id="0" name=""/>
        <dsp:cNvSpPr/>
      </dsp:nvSpPr>
      <dsp:spPr>
        <a:xfrm>
          <a:off x="8274077" y="2311331"/>
          <a:ext cx="2952761" cy="14763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NZ" sz="2000" kern="1200"/>
            <a:t>Greta has the lowest opportunity cost of producing wheat so the comparative advantage</a:t>
          </a:r>
        </a:p>
      </dsp:txBody>
      <dsp:txXfrm>
        <a:off x="8317319" y="2354573"/>
        <a:ext cx="2866277" cy="13898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9175EC-8354-8647-8701-938752BF3FFE}">
      <dsp:nvSpPr>
        <dsp:cNvPr id="0" name=""/>
        <dsp:cNvSpPr/>
      </dsp:nvSpPr>
      <dsp:spPr>
        <a:xfrm>
          <a:off x="3604" y="920494"/>
          <a:ext cx="2954204" cy="14771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NZ" sz="2300" kern="1200"/>
            <a:t>Carlos’ opportunity cost of 1 apple = 0.4 tonnes of wheat</a:t>
          </a:r>
        </a:p>
      </dsp:txBody>
      <dsp:txXfrm>
        <a:off x="46867" y="963757"/>
        <a:ext cx="2867678" cy="1390576"/>
      </dsp:txXfrm>
    </dsp:sp>
    <dsp:sp modelId="{493E5D67-8E98-6747-94D5-192A9C1EFC6F}">
      <dsp:nvSpPr>
        <dsp:cNvPr id="0" name=""/>
        <dsp:cNvSpPr/>
      </dsp:nvSpPr>
      <dsp:spPr>
        <a:xfrm>
          <a:off x="2957808" y="1632546"/>
          <a:ext cx="1181681" cy="52998"/>
        </a:xfrm>
        <a:custGeom>
          <a:avLst/>
          <a:gdLst/>
          <a:ahLst/>
          <a:cxnLst/>
          <a:rect l="0" t="0" r="0" b="0"/>
          <a:pathLst>
            <a:path>
              <a:moveTo>
                <a:pt x="0" y="26499"/>
              </a:moveTo>
              <a:lnTo>
                <a:pt x="1181681" y="2649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519107" y="1629503"/>
        <a:ext cx="59084" cy="59084"/>
      </dsp:txXfrm>
    </dsp:sp>
    <dsp:sp modelId="{228EB128-8F14-7B4C-B56A-DC293CAEE5E5}">
      <dsp:nvSpPr>
        <dsp:cNvPr id="0" name=""/>
        <dsp:cNvSpPr/>
      </dsp:nvSpPr>
      <dsp:spPr>
        <a:xfrm>
          <a:off x="4139489" y="920494"/>
          <a:ext cx="2954204" cy="14771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NZ" sz="2300" kern="1200"/>
            <a:t>(4000/10000)</a:t>
          </a:r>
        </a:p>
      </dsp:txBody>
      <dsp:txXfrm>
        <a:off x="4182752" y="963757"/>
        <a:ext cx="2867678" cy="1390576"/>
      </dsp:txXfrm>
    </dsp:sp>
    <dsp:sp modelId="{6DB8E7BA-6B61-EC4D-BE9D-5084FDA369D9}">
      <dsp:nvSpPr>
        <dsp:cNvPr id="0" name=""/>
        <dsp:cNvSpPr/>
      </dsp:nvSpPr>
      <dsp:spPr>
        <a:xfrm>
          <a:off x="3604" y="2619161"/>
          <a:ext cx="2954204" cy="14771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NZ" sz="2300" kern="1200"/>
            <a:t>Greta’s opportunity cost of 1 apple = 0.8 tonnes of wheat</a:t>
          </a:r>
        </a:p>
      </dsp:txBody>
      <dsp:txXfrm>
        <a:off x="46867" y="2662424"/>
        <a:ext cx="2867678" cy="1390576"/>
      </dsp:txXfrm>
    </dsp:sp>
    <dsp:sp modelId="{AF5A45BE-68B4-8142-B735-BDA087E342ED}">
      <dsp:nvSpPr>
        <dsp:cNvPr id="0" name=""/>
        <dsp:cNvSpPr/>
      </dsp:nvSpPr>
      <dsp:spPr>
        <a:xfrm>
          <a:off x="2957808" y="3331213"/>
          <a:ext cx="1181681" cy="52998"/>
        </a:xfrm>
        <a:custGeom>
          <a:avLst/>
          <a:gdLst/>
          <a:ahLst/>
          <a:cxnLst/>
          <a:rect l="0" t="0" r="0" b="0"/>
          <a:pathLst>
            <a:path>
              <a:moveTo>
                <a:pt x="0" y="26499"/>
              </a:moveTo>
              <a:lnTo>
                <a:pt x="1181681" y="2649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519107" y="3328170"/>
        <a:ext cx="59084" cy="59084"/>
      </dsp:txXfrm>
    </dsp:sp>
    <dsp:sp modelId="{5AFC273B-211A-4748-B38F-AAFDA871F2FD}">
      <dsp:nvSpPr>
        <dsp:cNvPr id="0" name=""/>
        <dsp:cNvSpPr/>
      </dsp:nvSpPr>
      <dsp:spPr>
        <a:xfrm>
          <a:off x="4139489" y="2619161"/>
          <a:ext cx="2954204" cy="14771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NZ" sz="2300" kern="1200"/>
            <a:t>(10000/12500)</a:t>
          </a:r>
        </a:p>
      </dsp:txBody>
      <dsp:txXfrm>
        <a:off x="4182752" y="2662424"/>
        <a:ext cx="2867678" cy="1390576"/>
      </dsp:txXfrm>
    </dsp:sp>
    <dsp:sp modelId="{75D9709B-2EBF-6747-A960-E2417FF10D39}">
      <dsp:nvSpPr>
        <dsp:cNvPr id="0" name=""/>
        <dsp:cNvSpPr/>
      </dsp:nvSpPr>
      <dsp:spPr>
        <a:xfrm>
          <a:off x="7093694" y="3331213"/>
          <a:ext cx="1181681" cy="52998"/>
        </a:xfrm>
        <a:custGeom>
          <a:avLst/>
          <a:gdLst/>
          <a:ahLst/>
          <a:cxnLst/>
          <a:rect l="0" t="0" r="0" b="0"/>
          <a:pathLst>
            <a:path>
              <a:moveTo>
                <a:pt x="0" y="26499"/>
              </a:moveTo>
              <a:lnTo>
                <a:pt x="1181681" y="2649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7654992" y="3328170"/>
        <a:ext cx="59084" cy="59084"/>
      </dsp:txXfrm>
    </dsp:sp>
    <dsp:sp modelId="{B0273D7E-D197-1442-BA0B-F3E76AC31A82}">
      <dsp:nvSpPr>
        <dsp:cNvPr id="0" name=""/>
        <dsp:cNvSpPr/>
      </dsp:nvSpPr>
      <dsp:spPr>
        <a:xfrm>
          <a:off x="8275375" y="2619161"/>
          <a:ext cx="2954204" cy="14771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NZ" sz="2300" kern="1200"/>
            <a:t>Carlos has the lowest opportunity cost hence comparative advantage.</a:t>
          </a:r>
        </a:p>
      </dsp:txBody>
      <dsp:txXfrm>
        <a:off x="8318638" y="2662424"/>
        <a:ext cx="2867678" cy="139057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7CCDD2-8FA8-4E5B-8854-7959AFD807A3}">
      <dsp:nvSpPr>
        <dsp:cNvPr id="0" name=""/>
        <dsp:cNvSpPr/>
      </dsp:nvSpPr>
      <dsp:spPr>
        <a:xfrm>
          <a:off x="0" y="42165"/>
          <a:ext cx="3133580" cy="1247969"/>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Example 2:</a:t>
          </a:r>
          <a:endParaRPr lang="en-NZ" sz="1800" kern="1200" dirty="0"/>
        </a:p>
      </dsp:txBody>
      <dsp:txXfrm>
        <a:off x="60921" y="103086"/>
        <a:ext cx="3011738" cy="1126127"/>
      </dsp:txXfrm>
    </dsp:sp>
    <dsp:sp modelId="{D8CF3B20-65FD-42A3-B0CE-857B8E06484F}">
      <dsp:nvSpPr>
        <dsp:cNvPr id="0" name=""/>
        <dsp:cNvSpPr/>
      </dsp:nvSpPr>
      <dsp:spPr>
        <a:xfrm>
          <a:off x="0" y="1341975"/>
          <a:ext cx="3133580" cy="1247969"/>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NZ could produce either 30 TVs OR 60 Fish (or any combination in between).</a:t>
          </a:r>
          <a:endParaRPr lang="en-NZ" sz="1800" kern="1200" dirty="0"/>
        </a:p>
      </dsp:txBody>
      <dsp:txXfrm>
        <a:off x="60921" y="1402896"/>
        <a:ext cx="3011738" cy="1126127"/>
      </dsp:txXfrm>
    </dsp:sp>
    <dsp:sp modelId="{A9FDA64A-F2E6-451F-B969-C339A9E35793}">
      <dsp:nvSpPr>
        <dsp:cNvPr id="0" name=""/>
        <dsp:cNvSpPr/>
      </dsp:nvSpPr>
      <dsp:spPr>
        <a:xfrm>
          <a:off x="0" y="2641784"/>
          <a:ext cx="3133580" cy="1247969"/>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Singapore could produce either 40 TVs OR 30 Fish (or any combination in between).</a:t>
          </a:r>
          <a:endParaRPr lang="en-NZ" sz="1800" kern="1200"/>
        </a:p>
      </dsp:txBody>
      <dsp:txXfrm>
        <a:off x="60921" y="2702705"/>
        <a:ext cx="3011738" cy="112612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D40746-36DA-46A2-8BBB-B3590DDFF243}">
      <dsp:nvSpPr>
        <dsp:cNvPr id="0" name=""/>
        <dsp:cNvSpPr/>
      </dsp:nvSpPr>
      <dsp:spPr>
        <a:xfrm>
          <a:off x="0" y="136103"/>
          <a:ext cx="3731649" cy="69761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NZ" sz="1800" kern="1200" dirty="0"/>
            <a:t>If there was </a:t>
          </a:r>
          <a:r>
            <a:rPr lang="en-NZ" sz="1800" b="1" u="sng" kern="1200" dirty="0"/>
            <a:t>No Trade</a:t>
          </a:r>
          <a:r>
            <a:rPr lang="en-NZ" sz="1800" kern="1200" dirty="0"/>
            <a:t>:</a:t>
          </a:r>
        </a:p>
      </dsp:txBody>
      <dsp:txXfrm>
        <a:off x="34055" y="170158"/>
        <a:ext cx="3663539" cy="629502"/>
      </dsp:txXfrm>
    </dsp:sp>
    <dsp:sp modelId="{C6FA9905-E1FE-4A65-AEF0-16769A236337}">
      <dsp:nvSpPr>
        <dsp:cNvPr id="0" name=""/>
        <dsp:cNvSpPr/>
      </dsp:nvSpPr>
      <dsp:spPr>
        <a:xfrm>
          <a:off x="0" y="833715"/>
          <a:ext cx="3731649" cy="46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48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NZ" sz="1400" kern="1200"/>
            <a:t>NZ could make 30 TVs or 60 Fish</a:t>
          </a:r>
        </a:p>
        <a:p>
          <a:pPr marL="114300" lvl="1" indent="-114300" algn="l" defTabSz="622300">
            <a:lnSpc>
              <a:spcPct val="90000"/>
            </a:lnSpc>
            <a:spcBef>
              <a:spcPct val="0"/>
            </a:spcBef>
            <a:spcAft>
              <a:spcPct val="20000"/>
            </a:spcAft>
            <a:buChar char="•"/>
          </a:pPr>
          <a:r>
            <a:rPr lang="en-NZ" sz="1400" kern="1200"/>
            <a:t>Singapore could make 40 TVs or 30 Fish</a:t>
          </a:r>
        </a:p>
      </dsp:txBody>
      <dsp:txXfrm>
        <a:off x="0" y="833715"/>
        <a:ext cx="3731649" cy="465750"/>
      </dsp:txXfrm>
    </dsp:sp>
    <dsp:sp modelId="{03F742FA-5BCC-477B-ABFF-36A1277C4602}">
      <dsp:nvSpPr>
        <dsp:cNvPr id="0" name=""/>
        <dsp:cNvSpPr/>
      </dsp:nvSpPr>
      <dsp:spPr>
        <a:xfrm>
          <a:off x="0" y="1299465"/>
          <a:ext cx="3731649" cy="69761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NZ" sz="1800" kern="1200" dirty="0"/>
            <a:t>The </a:t>
          </a:r>
          <a:r>
            <a:rPr lang="en-NZ" sz="1800" b="1" kern="1200" dirty="0"/>
            <a:t>Opportunity Cost </a:t>
          </a:r>
          <a:r>
            <a:rPr lang="en-NZ" sz="1800" kern="1200" dirty="0"/>
            <a:t>of 1 TV is:</a:t>
          </a:r>
        </a:p>
      </dsp:txBody>
      <dsp:txXfrm>
        <a:off x="34055" y="1333520"/>
        <a:ext cx="3663539" cy="629502"/>
      </dsp:txXfrm>
    </dsp:sp>
    <dsp:sp modelId="{9B874ECF-AE5A-4958-AE7E-CDE38CB6076D}">
      <dsp:nvSpPr>
        <dsp:cNvPr id="0" name=""/>
        <dsp:cNvSpPr/>
      </dsp:nvSpPr>
      <dsp:spPr>
        <a:xfrm>
          <a:off x="0" y="1997078"/>
          <a:ext cx="3731649" cy="46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48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NZ" sz="1400" kern="1200" dirty="0"/>
            <a:t>2 Fish for NZ</a:t>
          </a:r>
        </a:p>
        <a:p>
          <a:pPr marL="114300" lvl="1" indent="-114300" algn="l" defTabSz="622300">
            <a:lnSpc>
              <a:spcPct val="90000"/>
            </a:lnSpc>
            <a:spcBef>
              <a:spcPct val="0"/>
            </a:spcBef>
            <a:spcAft>
              <a:spcPct val="20000"/>
            </a:spcAft>
            <a:buChar char="•"/>
          </a:pPr>
          <a:r>
            <a:rPr lang="en-NZ" sz="1400" kern="1200"/>
            <a:t>0.75 Fish for Singapore</a:t>
          </a:r>
        </a:p>
      </dsp:txBody>
      <dsp:txXfrm>
        <a:off x="0" y="1997078"/>
        <a:ext cx="3731649" cy="465750"/>
      </dsp:txXfrm>
    </dsp:sp>
    <dsp:sp modelId="{C0C8586E-E0F6-46FD-8584-01DC5F76D99F}">
      <dsp:nvSpPr>
        <dsp:cNvPr id="0" name=""/>
        <dsp:cNvSpPr/>
      </dsp:nvSpPr>
      <dsp:spPr>
        <a:xfrm>
          <a:off x="0" y="2462828"/>
          <a:ext cx="3731649" cy="69761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NZ" sz="1800" kern="1200" dirty="0"/>
            <a:t>The </a:t>
          </a:r>
          <a:r>
            <a:rPr lang="en-NZ" sz="1800" b="1" kern="1200" dirty="0"/>
            <a:t>Opportunity Cost </a:t>
          </a:r>
          <a:r>
            <a:rPr lang="en-NZ" sz="1800" kern="1200" dirty="0"/>
            <a:t>of 1 Fish is:</a:t>
          </a:r>
        </a:p>
      </dsp:txBody>
      <dsp:txXfrm>
        <a:off x="34055" y="2496883"/>
        <a:ext cx="3663539" cy="629502"/>
      </dsp:txXfrm>
    </dsp:sp>
    <dsp:sp modelId="{9B52347F-8B53-4ED6-8AD1-A90C4AC4D118}">
      <dsp:nvSpPr>
        <dsp:cNvPr id="0" name=""/>
        <dsp:cNvSpPr/>
      </dsp:nvSpPr>
      <dsp:spPr>
        <a:xfrm>
          <a:off x="0" y="3160440"/>
          <a:ext cx="3731649" cy="46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48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NZ" sz="1400" kern="1200"/>
            <a:t>0.5 TVs for NZ</a:t>
          </a:r>
        </a:p>
        <a:p>
          <a:pPr marL="114300" lvl="1" indent="-114300" algn="l" defTabSz="622300">
            <a:lnSpc>
              <a:spcPct val="90000"/>
            </a:lnSpc>
            <a:spcBef>
              <a:spcPct val="0"/>
            </a:spcBef>
            <a:spcAft>
              <a:spcPct val="20000"/>
            </a:spcAft>
            <a:buChar char="•"/>
          </a:pPr>
          <a:r>
            <a:rPr lang="en-NZ" sz="1400" kern="1200"/>
            <a:t>1.33 TVs for Singapore</a:t>
          </a:r>
        </a:p>
      </dsp:txBody>
      <dsp:txXfrm>
        <a:off x="0" y="3160440"/>
        <a:ext cx="3731649" cy="46575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48C391-267F-49A1-8B20-AF66948485EB}">
      <dsp:nvSpPr>
        <dsp:cNvPr id="0" name=""/>
        <dsp:cNvSpPr/>
      </dsp:nvSpPr>
      <dsp:spPr>
        <a:xfrm>
          <a:off x="0" y="95712"/>
          <a:ext cx="3959603" cy="1242539"/>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NZ" sz="1800" kern="1200"/>
            <a:t>Each country’s Production Possibility Frontier is the same as the Consumption Possibility Frontier.</a:t>
          </a:r>
        </a:p>
      </dsp:txBody>
      <dsp:txXfrm>
        <a:off x="60656" y="156368"/>
        <a:ext cx="3838291" cy="1121227"/>
      </dsp:txXfrm>
    </dsp:sp>
    <dsp:sp modelId="{C4B552EA-2894-48D8-9E4B-E89FC623F628}">
      <dsp:nvSpPr>
        <dsp:cNvPr id="0" name=""/>
        <dsp:cNvSpPr/>
      </dsp:nvSpPr>
      <dsp:spPr>
        <a:xfrm>
          <a:off x="0" y="1390092"/>
          <a:ext cx="3959603" cy="1242539"/>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NZ" sz="1800" kern="1200"/>
            <a:t>NZ has the lowest input cost for Fish</a:t>
          </a:r>
        </a:p>
      </dsp:txBody>
      <dsp:txXfrm>
        <a:off x="60656" y="1450748"/>
        <a:ext cx="3838291" cy="1121227"/>
      </dsp:txXfrm>
    </dsp:sp>
    <dsp:sp modelId="{3B1083D6-4B52-452E-AC76-8B250555FE74}">
      <dsp:nvSpPr>
        <dsp:cNvPr id="0" name=""/>
        <dsp:cNvSpPr/>
      </dsp:nvSpPr>
      <dsp:spPr>
        <a:xfrm>
          <a:off x="0" y="2684472"/>
          <a:ext cx="3959603" cy="1242539"/>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NZ" sz="1800" kern="1200"/>
            <a:t>Singapore has the lowest input cost for TVs.</a:t>
          </a:r>
        </a:p>
      </dsp:txBody>
      <dsp:txXfrm>
        <a:off x="60656" y="2745128"/>
        <a:ext cx="3838291" cy="112122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A048B-6879-4207-8F32-4AC7B2090E26}">
      <dsp:nvSpPr>
        <dsp:cNvPr id="0" name=""/>
        <dsp:cNvSpPr/>
      </dsp:nvSpPr>
      <dsp:spPr>
        <a:xfrm>
          <a:off x="0" y="3454124"/>
          <a:ext cx="4937125" cy="566677"/>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NZ" sz="1300" kern="1200" dirty="0"/>
            <a:t>Because total output is higher with specialisation we can always find a feasible trade agreement.</a:t>
          </a:r>
        </a:p>
      </dsp:txBody>
      <dsp:txXfrm>
        <a:off x="0" y="3454124"/>
        <a:ext cx="4937125" cy="566677"/>
      </dsp:txXfrm>
    </dsp:sp>
    <dsp:sp modelId="{A1171AC0-0C34-4486-BA3F-0A02B3B360E5}">
      <dsp:nvSpPr>
        <dsp:cNvPr id="0" name=""/>
        <dsp:cNvSpPr/>
      </dsp:nvSpPr>
      <dsp:spPr>
        <a:xfrm rot="10800000">
          <a:off x="0" y="2591073"/>
          <a:ext cx="4937125" cy="871550"/>
        </a:xfrm>
        <a:prstGeom prst="upArrowCallou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NZ" sz="1300" b="1" kern="1200" dirty="0"/>
            <a:t>Any</a:t>
          </a:r>
          <a:r>
            <a:rPr lang="en-NZ" sz="1300" kern="1200" dirty="0"/>
            <a:t> trade agreement where both countries consume </a:t>
          </a:r>
          <a:r>
            <a:rPr lang="en-NZ" sz="1300" b="1" kern="1200" dirty="0"/>
            <a:t>more of both goods</a:t>
          </a:r>
          <a:r>
            <a:rPr lang="en-NZ" sz="1300" kern="1200" dirty="0"/>
            <a:t> are feasible.</a:t>
          </a:r>
        </a:p>
      </dsp:txBody>
      <dsp:txXfrm rot="10800000">
        <a:off x="0" y="2591073"/>
        <a:ext cx="4937125" cy="566307"/>
      </dsp:txXfrm>
    </dsp:sp>
    <dsp:sp modelId="{A4B67C01-7B20-43B6-9706-6F741200ACB9}">
      <dsp:nvSpPr>
        <dsp:cNvPr id="0" name=""/>
        <dsp:cNvSpPr/>
      </dsp:nvSpPr>
      <dsp:spPr>
        <a:xfrm rot="10800000">
          <a:off x="0" y="1728023"/>
          <a:ext cx="4937125" cy="871550"/>
        </a:xfrm>
        <a:prstGeom prst="upArrowCallou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NZ" sz="1300" kern="1200"/>
            <a:t>All trade agreements where any country consumes less than under no trade is rejected.</a:t>
          </a:r>
        </a:p>
      </dsp:txBody>
      <dsp:txXfrm rot="10800000">
        <a:off x="0" y="1728023"/>
        <a:ext cx="4937125" cy="566307"/>
      </dsp:txXfrm>
    </dsp:sp>
    <dsp:sp modelId="{B125FFC8-6F93-41F4-98D5-4BCCFD79FAFD}">
      <dsp:nvSpPr>
        <dsp:cNvPr id="0" name=""/>
        <dsp:cNvSpPr/>
      </dsp:nvSpPr>
      <dsp:spPr>
        <a:xfrm rot="10800000">
          <a:off x="0" y="864973"/>
          <a:ext cx="4937125" cy="871550"/>
        </a:xfrm>
        <a:prstGeom prst="upArrowCallou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NZ" sz="1300" kern="1200"/>
            <a:t>They then bargain</a:t>
          </a:r>
        </a:p>
      </dsp:txBody>
      <dsp:txXfrm rot="10800000">
        <a:off x="0" y="864973"/>
        <a:ext cx="4937125" cy="566307"/>
      </dsp:txXfrm>
    </dsp:sp>
    <dsp:sp modelId="{829CECD9-CA9C-42DC-9A5E-781BD9983BD0}">
      <dsp:nvSpPr>
        <dsp:cNvPr id="0" name=""/>
        <dsp:cNvSpPr/>
      </dsp:nvSpPr>
      <dsp:spPr>
        <a:xfrm rot="10800000">
          <a:off x="0" y="1922"/>
          <a:ext cx="4937125" cy="871550"/>
        </a:xfrm>
        <a:prstGeom prst="upArrowCallou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NZ" sz="1300" kern="1200" dirty="0"/>
            <a:t>Suppose NZ only produces Fish and Singapore only produces TVs. (lowest opportunity cost)</a:t>
          </a:r>
        </a:p>
      </dsp:txBody>
      <dsp:txXfrm rot="10800000">
        <a:off x="0" y="1922"/>
        <a:ext cx="4937125" cy="56630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3C0BD0-8669-4B8C-9958-4660F11959CD}">
      <dsp:nvSpPr>
        <dsp:cNvPr id="0" name=""/>
        <dsp:cNvSpPr/>
      </dsp:nvSpPr>
      <dsp:spPr>
        <a:xfrm>
          <a:off x="0" y="345409"/>
          <a:ext cx="3974592" cy="91991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NZ" sz="1700" kern="1200" dirty="0"/>
            <a:t>What if NZ was better at </a:t>
          </a:r>
          <a:r>
            <a:rPr lang="en-NZ" sz="1700" b="1" kern="1200" dirty="0"/>
            <a:t>both</a:t>
          </a:r>
          <a:r>
            <a:rPr lang="en-NZ" sz="1700" kern="1200" dirty="0"/>
            <a:t> goods?</a:t>
          </a:r>
        </a:p>
      </dsp:txBody>
      <dsp:txXfrm>
        <a:off x="44906" y="390315"/>
        <a:ext cx="3884780" cy="830100"/>
      </dsp:txXfrm>
    </dsp:sp>
    <dsp:sp modelId="{DCBDB958-67D0-4E02-83EA-1FC1082A746E}">
      <dsp:nvSpPr>
        <dsp:cNvPr id="0" name=""/>
        <dsp:cNvSpPr/>
      </dsp:nvSpPr>
      <dsp:spPr>
        <a:xfrm>
          <a:off x="1410" y="1265322"/>
          <a:ext cx="3971770" cy="1231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193"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NZ" sz="1300" kern="1200"/>
            <a:t>The opportunity cost of 1 TV for NZ is 1.5 Fish</a:t>
          </a:r>
        </a:p>
        <a:p>
          <a:pPr marL="114300" lvl="1" indent="-114300" algn="l" defTabSz="577850">
            <a:lnSpc>
              <a:spcPct val="90000"/>
            </a:lnSpc>
            <a:spcBef>
              <a:spcPct val="0"/>
            </a:spcBef>
            <a:spcAft>
              <a:spcPct val="20000"/>
            </a:spcAft>
            <a:buChar char="•"/>
          </a:pPr>
          <a:r>
            <a:rPr lang="en-NZ" sz="1300" kern="1200"/>
            <a:t>The opportunity cost of 1 Fish for NZ is 0.67 TVs</a:t>
          </a:r>
        </a:p>
        <a:p>
          <a:pPr marL="114300" lvl="1" indent="-114300" algn="l" defTabSz="577850">
            <a:lnSpc>
              <a:spcPct val="90000"/>
            </a:lnSpc>
            <a:spcBef>
              <a:spcPct val="0"/>
            </a:spcBef>
            <a:spcAft>
              <a:spcPct val="20000"/>
            </a:spcAft>
            <a:buChar char="•"/>
          </a:pPr>
          <a:r>
            <a:rPr lang="en-NZ" sz="1300" kern="1200" dirty="0"/>
            <a:t>The opportunity cost of 1 TV for Singapore is 1 Fish</a:t>
          </a:r>
        </a:p>
        <a:p>
          <a:pPr marL="114300" lvl="1" indent="-114300" algn="l" defTabSz="577850">
            <a:lnSpc>
              <a:spcPct val="90000"/>
            </a:lnSpc>
            <a:spcBef>
              <a:spcPct val="0"/>
            </a:spcBef>
            <a:spcAft>
              <a:spcPct val="20000"/>
            </a:spcAft>
            <a:buChar char="•"/>
          </a:pPr>
          <a:r>
            <a:rPr lang="en-NZ" sz="1300" kern="1200"/>
            <a:t>The opportunity cost of 1 Fish for Singapore is 1 TV</a:t>
          </a:r>
        </a:p>
      </dsp:txBody>
      <dsp:txXfrm>
        <a:off x="1410" y="1265322"/>
        <a:ext cx="3971770" cy="1231650"/>
      </dsp:txXfrm>
    </dsp:sp>
    <dsp:sp modelId="{705DFACC-35A1-4F54-A7C6-D353E49BEA15}">
      <dsp:nvSpPr>
        <dsp:cNvPr id="0" name=""/>
        <dsp:cNvSpPr/>
      </dsp:nvSpPr>
      <dsp:spPr>
        <a:xfrm>
          <a:off x="0" y="2496972"/>
          <a:ext cx="3974592" cy="91991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NZ" sz="1700" kern="1200"/>
            <a:t>There is still a gain from trade if the countries specialise in the good they have the lowest opportunity cost.</a:t>
          </a:r>
        </a:p>
      </dsp:txBody>
      <dsp:txXfrm>
        <a:off x="44906" y="2541878"/>
        <a:ext cx="3884780" cy="83010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6ECD17-B185-4033-B522-BF780D672C6A}">
      <dsp:nvSpPr>
        <dsp:cNvPr id="0" name=""/>
        <dsp:cNvSpPr/>
      </dsp:nvSpPr>
      <dsp:spPr>
        <a:xfrm>
          <a:off x="0" y="2427927"/>
          <a:ext cx="4938713" cy="159298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NZ" sz="2300" kern="1200"/>
            <a:t>Example:</a:t>
          </a:r>
        </a:p>
      </dsp:txBody>
      <dsp:txXfrm>
        <a:off x="0" y="2427927"/>
        <a:ext cx="4938713" cy="860211"/>
      </dsp:txXfrm>
    </dsp:sp>
    <dsp:sp modelId="{27A71E24-825F-4C1C-B640-5AD93D85C288}">
      <dsp:nvSpPr>
        <dsp:cNvPr id="0" name=""/>
        <dsp:cNvSpPr/>
      </dsp:nvSpPr>
      <dsp:spPr>
        <a:xfrm>
          <a:off x="2411" y="3256279"/>
          <a:ext cx="1644630" cy="732772"/>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NZ" sz="1100" kern="1200" dirty="0"/>
            <a:t>Singapore completely specialises in TVs and produces no Fish.</a:t>
          </a:r>
        </a:p>
      </dsp:txBody>
      <dsp:txXfrm>
        <a:off x="2411" y="3256279"/>
        <a:ext cx="1644630" cy="732772"/>
      </dsp:txXfrm>
    </dsp:sp>
    <dsp:sp modelId="{AF18ABC9-E17C-45AD-A8B3-C480D094AB79}">
      <dsp:nvSpPr>
        <dsp:cNvPr id="0" name=""/>
        <dsp:cNvSpPr/>
      </dsp:nvSpPr>
      <dsp:spPr>
        <a:xfrm>
          <a:off x="1647041" y="3256279"/>
          <a:ext cx="1644630" cy="732772"/>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NZ" sz="1100" kern="1200"/>
            <a:t>NZ keeps 24 workers producing TVs and the rest (96) produce Fish.</a:t>
          </a:r>
        </a:p>
      </dsp:txBody>
      <dsp:txXfrm>
        <a:off x="1647041" y="3256279"/>
        <a:ext cx="1644630" cy="732772"/>
      </dsp:txXfrm>
    </dsp:sp>
    <dsp:sp modelId="{43332CE4-83D1-44B0-9BD2-2BC3951629E9}">
      <dsp:nvSpPr>
        <dsp:cNvPr id="0" name=""/>
        <dsp:cNvSpPr/>
      </dsp:nvSpPr>
      <dsp:spPr>
        <a:xfrm>
          <a:off x="3291671" y="3256279"/>
          <a:ext cx="1644630" cy="732772"/>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NZ" sz="1100" kern="1200"/>
            <a:t>They then bargain on a trade agreement.</a:t>
          </a:r>
        </a:p>
      </dsp:txBody>
      <dsp:txXfrm>
        <a:off x="3291671" y="3256279"/>
        <a:ext cx="1644630" cy="732772"/>
      </dsp:txXfrm>
    </dsp:sp>
    <dsp:sp modelId="{2DAE0A26-BA7E-434F-B23B-B49C16FE752F}">
      <dsp:nvSpPr>
        <dsp:cNvPr id="0" name=""/>
        <dsp:cNvSpPr/>
      </dsp:nvSpPr>
      <dsp:spPr>
        <a:xfrm rot="10800000">
          <a:off x="0" y="0"/>
          <a:ext cx="4938713" cy="2450008"/>
        </a:xfrm>
        <a:prstGeom prst="upArrowCallou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NZ" sz="2300" kern="1200"/>
            <a:t>It is </a:t>
          </a:r>
          <a:r>
            <a:rPr lang="en-NZ" sz="2300" b="1" kern="1200"/>
            <a:t>always </a:t>
          </a:r>
          <a:r>
            <a:rPr lang="en-NZ" sz="2300" kern="1200"/>
            <a:t>possible to find an allocation that increases total output and provides a gain from trade:</a:t>
          </a:r>
          <a:endParaRPr lang="en-NZ" sz="2300" kern="1200" dirty="0"/>
        </a:p>
      </dsp:txBody>
      <dsp:txXfrm rot="10800000">
        <a:off x="0" y="0"/>
        <a:ext cx="4938713" cy="159194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45BBCD-B58B-4E3C-9880-2A11B8EDA36F}">
      <dsp:nvSpPr>
        <dsp:cNvPr id="0" name=""/>
        <dsp:cNvSpPr/>
      </dsp:nvSpPr>
      <dsp:spPr>
        <a:xfrm>
          <a:off x="0" y="0"/>
          <a:ext cx="5394193" cy="461528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2826" tIns="0" rIns="532826" bIns="330200" numCol="1" spcCol="1270" anchor="t" anchorCtr="0">
          <a:noAutofit/>
        </a:bodyPr>
        <a:lstStyle/>
        <a:p>
          <a:pPr marL="0" lvl="0" indent="0" algn="l" defTabSz="1022350">
            <a:lnSpc>
              <a:spcPct val="90000"/>
            </a:lnSpc>
            <a:spcBef>
              <a:spcPct val="0"/>
            </a:spcBef>
            <a:spcAft>
              <a:spcPct val="35000"/>
            </a:spcAft>
            <a:buNone/>
          </a:pPr>
          <a:r>
            <a:rPr lang="en-US" sz="2300" kern="1200"/>
            <a:t>Let’s consider a trade (price) ratio of 1 tonne of wheat to 2 apples. </a:t>
          </a:r>
        </a:p>
        <a:p>
          <a:pPr marL="171450" lvl="1" indent="-171450" algn="l" defTabSz="800100">
            <a:lnSpc>
              <a:spcPct val="90000"/>
            </a:lnSpc>
            <a:spcBef>
              <a:spcPct val="0"/>
            </a:spcBef>
            <a:spcAft>
              <a:spcPct val="15000"/>
            </a:spcAft>
            <a:buChar char="•"/>
          </a:pPr>
          <a:r>
            <a:rPr lang="en-US" sz="1800" kern="1200"/>
            <a:t>Carlos specializes in apples</a:t>
          </a:r>
        </a:p>
        <a:p>
          <a:pPr marL="171450" lvl="1" indent="-171450" algn="l" defTabSz="800100">
            <a:lnSpc>
              <a:spcPct val="90000"/>
            </a:lnSpc>
            <a:spcBef>
              <a:spcPct val="0"/>
            </a:spcBef>
            <a:spcAft>
              <a:spcPct val="15000"/>
            </a:spcAft>
            <a:buChar char="•"/>
          </a:pPr>
          <a:r>
            <a:rPr lang="en-US" sz="1800" kern="1200"/>
            <a:t>Greta specializes in wheat</a:t>
          </a:r>
        </a:p>
        <a:p>
          <a:pPr marL="171450" lvl="1" indent="-171450" algn="l" defTabSz="800100">
            <a:lnSpc>
              <a:spcPct val="90000"/>
            </a:lnSpc>
            <a:spcBef>
              <a:spcPct val="0"/>
            </a:spcBef>
            <a:spcAft>
              <a:spcPct val="15000"/>
            </a:spcAft>
            <a:buChar char="•"/>
          </a:pPr>
          <a:r>
            <a:rPr lang="en-US" sz="1800" kern="1200"/>
            <a:t>Both of their feasible consumption frontiers are above their feasible production frontiers!</a:t>
          </a:r>
        </a:p>
      </dsp:txBody>
      <dsp:txXfrm>
        <a:off x="0" y="1846114"/>
        <a:ext cx="5394193" cy="2769171"/>
      </dsp:txXfrm>
    </dsp:sp>
    <dsp:sp modelId="{0301BDF1-F084-4B38-BF53-EBD7CC3BAE73}">
      <dsp:nvSpPr>
        <dsp:cNvPr id="0" name=""/>
        <dsp:cNvSpPr/>
      </dsp:nvSpPr>
      <dsp:spPr>
        <a:xfrm>
          <a:off x="0" y="0"/>
          <a:ext cx="5394193" cy="184611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532826" tIns="165100" rIns="532826"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0" y="0"/>
        <a:ext cx="5394193" cy="184611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D19500-E83E-4A1B-9602-9E955D7831FF}">
      <dsp:nvSpPr>
        <dsp:cNvPr id="0" name=""/>
        <dsp:cNvSpPr/>
      </dsp:nvSpPr>
      <dsp:spPr>
        <a:xfrm rot="5400000">
          <a:off x="7163189" y="-2848987"/>
          <a:ext cx="1339170" cy="737202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70485" rIns="140970" bIns="70485" numCol="1" spcCol="1270" anchor="ctr" anchorCtr="0">
          <a:noAutofit/>
        </a:bodyPr>
        <a:lstStyle/>
        <a:p>
          <a:pPr marL="285750" lvl="1" indent="-285750" algn="l" defTabSz="1644650">
            <a:lnSpc>
              <a:spcPct val="90000"/>
            </a:lnSpc>
            <a:spcBef>
              <a:spcPct val="0"/>
            </a:spcBef>
            <a:spcAft>
              <a:spcPct val="15000"/>
            </a:spcAft>
            <a:buChar char="•"/>
          </a:pPr>
          <a:r>
            <a:rPr lang="en-US" sz="3700" kern="1200"/>
            <a:t>but conflicts of interest emerge between and within countries. </a:t>
          </a:r>
          <a:endParaRPr lang="en-NZ" sz="3700" kern="1200"/>
        </a:p>
      </dsp:txBody>
      <dsp:txXfrm rot="-5400000">
        <a:off x="4146763" y="232812"/>
        <a:ext cx="7306650" cy="1208424"/>
      </dsp:txXfrm>
    </dsp:sp>
    <dsp:sp modelId="{8A34D32C-262A-41E0-9D37-5B22AD86DFEE}">
      <dsp:nvSpPr>
        <dsp:cNvPr id="0" name=""/>
        <dsp:cNvSpPr/>
      </dsp:nvSpPr>
      <dsp:spPr>
        <a:xfrm>
          <a:off x="0" y="41"/>
          <a:ext cx="4146762" cy="16739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a:t>Opening up to trade increases countries’ consumption possibility sets, </a:t>
          </a:r>
          <a:endParaRPr lang="en-NZ" sz="2600" kern="1200"/>
        </a:p>
      </dsp:txBody>
      <dsp:txXfrm>
        <a:off x="81716" y="81757"/>
        <a:ext cx="3983330" cy="1510531"/>
      </dsp:txXfrm>
    </dsp:sp>
    <dsp:sp modelId="{53799124-3E03-4091-B459-DE5865EFBB00}">
      <dsp:nvSpPr>
        <dsp:cNvPr id="0" name=""/>
        <dsp:cNvSpPr/>
      </dsp:nvSpPr>
      <dsp:spPr>
        <a:xfrm rot="5400000">
          <a:off x="7163189" y="-1091326"/>
          <a:ext cx="1339170" cy="737202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70485" rIns="140970" bIns="70485" numCol="1" spcCol="1270" anchor="ctr" anchorCtr="0">
          <a:noAutofit/>
        </a:bodyPr>
        <a:lstStyle/>
        <a:p>
          <a:pPr marL="285750" lvl="1" indent="-285750" algn="l" defTabSz="1644650">
            <a:lnSpc>
              <a:spcPct val="90000"/>
            </a:lnSpc>
            <a:spcBef>
              <a:spcPct val="0"/>
            </a:spcBef>
            <a:spcAft>
              <a:spcPct val="15000"/>
            </a:spcAft>
            <a:buChar char="•"/>
          </a:pPr>
          <a:r>
            <a:rPr lang="en-US" sz="3700" kern="1200"/>
            <a:t>e.g. skilled/unskilled labour, capital, etc</a:t>
          </a:r>
          <a:endParaRPr lang="en-NZ" sz="3700" kern="1200"/>
        </a:p>
      </dsp:txBody>
      <dsp:txXfrm rot="-5400000">
        <a:off x="4146763" y="1990473"/>
        <a:ext cx="7306650" cy="1208424"/>
      </dsp:txXfrm>
    </dsp:sp>
    <dsp:sp modelId="{7927E618-1BE3-4A7A-A1FE-9E15CD241D5C}">
      <dsp:nvSpPr>
        <dsp:cNvPr id="0" name=""/>
        <dsp:cNvSpPr/>
      </dsp:nvSpPr>
      <dsp:spPr>
        <a:xfrm>
          <a:off x="0" y="1757703"/>
          <a:ext cx="4146762" cy="16739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dirty="0"/>
            <a:t>Winners and losers from trade depend on the relative scarcity of factors </a:t>
          </a:r>
          <a:endParaRPr lang="en-NZ" sz="2600" kern="1200" dirty="0"/>
        </a:p>
      </dsp:txBody>
      <dsp:txXfrm>
        <a:off x="81716" y="1839419"/>
        <a:ext cx="3983330" cy="151053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268769-4FF5-534B-82D3-F5CEA443DF58}">
      <dsp:nvSpPr>
        <dsp:cNvPr id="0" name=""/>
        <dsp:cNvSpPr/>
      </dsp:nvSpPr>
      <dsp:spPr>
        <a:xfrm>
          <a:off x="2393185" y="2313"/>
          <a:ext cx="2992184" cy="14960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Relatively abundant factors within a country are relatively cheap, </a:t>
          </a:r>
          <a:endParaRPr lang="en-NZ" sz="2400" kern="1200" dirty="0"/>
        </a:p>
      </dsp:txBody>
      <dsp:txXfrm>
        <a:off x="2437004" y="46132"/>
        <a:ext cx="2904546" cy="1408454"/>
      </dsp:txXfrm>
    </dsp:sp>
    <dsp:sp modelId="{3E4145DE-F2B5-8040-833C-9A1AFA064A9C}">
      <dsp:nvSpPr>
        <dsp:cNvPr id="0" name=""/>
        <dsp:cNvSpPr/>
      </dsp:nvSpPr>
      <dsp:spPr>
        <a:xfrm>
          <a:off x="2692403" y="1498405"/>
          <a:ext cx="299218" cy="1122069"/>
        </a:xfrm>
        <a:custGeom>
          <a:avLst/>
          <a:gdLst/>
          <a:ahLst/>
          <a:cxnLst/>
          <a:rect l="0" t="0" r="0" b="0"/>
          <a:pathLst>
            <a:path>
              <a:moveTo>
                <a:pt x="0" y="0"/>
              </a:moveTo>
              <a:lnTo>
                <a:pt x="0" y="1122069"/>
              </a:lnTo>
              <a:lnTo>
                <a:pt x="299218" y="112206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ECA6C8-4102-F24D-82C2-7A7E86FB80DA}">
      <dsp:nvSpPr>
        <dsp:cNvPr id="0" name=""/>
        <dsp:cNvSpPr/>
      </dsp:nvSpPr>
      <dsp:spPr>
        <a:xfrm>
          <a:off x="2991622" y="1872429"/>
          <a:ext cx="2393747" cy="14960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and gain when trade raises their price towards the world average.</a:t>
          </a:r>
          <a:endParaRPr lang="en-NZ" sz="2100" kern="1200" dirty="0"/>
        </a:p>
      </dsp:txBody>
      <dsp:txXfrm>
        <a:off x="3035441" y="1916248"/>
        <a:ext cx="2306109" cy="1408454"/>
      </dsp:txXfrm>
    </dsp:sp>
    <dsp:sp modelId="{2C7221C2-9B77-9D43-90AA-196113383CB5}">
      <dsp:nvSpPr>
        <dsp:cNvPr id="0" name=""/>
        <dsp:cNvSpPr/>
      </dsp:nvSpPr>
      <dsp:spPr>
        <a:xfrm>
          <a:off x="6133416" y="2313"/>
          <a:ext cx="2992184" cy="14960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Conversely, the price of relatively scarce factors </a:t>
          </a:r>
        </a:p>
      </dsp:txBody>
      <dsp:txXfrm>
        <a:off x="6177235" y="46132"/>
        <a:ext cx="2904546" cy="1408454"/>
      </dsp:txXfrm>
    </dsp:sp>
    <dsp:sp modelId="{BFA35BC1-EF11-5147-8D1C-4D8577D2D277}">
      <dsp:nvSpPr>
        <dsp:cNvPr id="0" name=""/>
        <dsp:cNvSpPr/>
      </dsp:nvSpPr>
      <dsp:spPr>
        <a:xfrm>
          <a:off x="6432634" y="1498405"/>
          <a:ext cx="299218" cy="1122069"/>
        </a:xfrm>
        <a:custGeom>
          <a:avLst/>
          <a:gdLst/>
          <a:ahLst/>
          <a:cxnLst/>
          <a:rect l="0" t="0" r="0" b="0"/>
          <a:pathLst>
            <a:path>
              <a:moveTo>
                <a:pt x="0" y="0"/>
              </a:moveTo>
              <a:lnTo>
                <a:pt x="0" y="1122069"/>
              </a:lnTo>
              <a:lnTo>
                <a:pt x="299218" y="112206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43038E-A330-CB4E-9A06-1478F3EB384B}">
      <dsp:nvSpPr>
        <dsp:cNvPr id="0" name=""/>
        <dsp:cNvSpPr/>
      </dsp:nvSpPr>
      <dsp:spPr>
        <a:xfrm>
          <a:off x="6731853" y="1872429"/>
          <a:ext cx="2393747" cy="14960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falls towards the world average due to trade.</a:t>
          </a:r>
          <a:endParaRPr lang="en-NZ" sz="2100" kern="1200" dirty="0"/>
        </a:p>
      </dsp:txBody>
      <dsp:txXfrm>
        <a:off x="6775672" y="1916248"/>
        <a:ext cx="2306109" cy="140845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BD0FD5-0F1E-CC44-A786-1D0EBB064194}">
      <dsp:nvSpPr>
        <dsp:cNvPr id="0" name=""/>
        <dsp:cNvSpPr/>
      </dsp:nvSpPr>
      <dsp:spPr>
        <a:xfrm>
          <a:off x="2968" y="1228949"/>
          <a:ext cx="2978084" cy="1191233"/>
        </a:xfrm>
        <a:prstGeom prst="homePlate">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342"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New Zealand has relatively large amounts of land suitable for many agricultural outputs</a:t>
          </a:r>
          <a:endParaRPr lang="en-NZ" sz="1300" kern="1200" dirty="0"/>
        </a:p>
      </dsp:txBody>
      <dsp:txXfrm>
        <a:off x="2968" y="1228949"/>
        <a:ext cx="2680276" cy="1191233"/>
      </dsp:txXfrm>
    </dsp:sp>
    <dsp:sp modelId="{3CA7C0EC-63D6-9848-87F6-F103E823C206}">
      <dsp:nvSpPr>
        <dsp:cNvPr id="0" name=""/>
        <dsp:cNvSpPr/>
      </dsp:nvSpPr>
      <dsp:spPr>
        <a:xfrm>
          <a:off x="2385436" y="1228949"/>
          <a:ext cx="2978084" cy="1191233"/>
        </a:xfrm>
        <a:prstGeom prst="chevron">
          <a:avLst/>
        </a:prstGeom>
        <a:solidFill>
          <a:schemeClr val="tx2">
            <a:lumMod val="40000"/>
            <a:lumOff val="6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a:t>New Zealand has relatively small amounts of labour</a:t>
          </a:r>
          <a:endParaRPr lang="en-NZ" sz="1300" kern="1200"/>
        </a:p>
      </dsp:txBody>
      <dsp:txXfrm>
        <a:off x="2981053" y="1228949"/>
        <a:ext cx="1786851" cy="1191233"/>
      </dsp:txXfrm>
    </dsp:sp>
    <dsp:sp modelId="{703D2A10-CA3D-4F4B-B822-B38453C9700E}">
      <dsp:nvSpPr>
        <dsp:cNvPr id="0" name=""/>
        <dsp:cNvSpPr/>
      </dsp:nvSpPr>
      <dsp:spPr>
        <a:xfrm>
          <a:off x="4767904" y="1228949"/>
          <a:ext cx="2978084" cy="1191233"/>
        </a:xfrm>
        <a:prstGeom prst="chevron">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Opening trade results in gains from agriculture (and those in society that own land)</a:t>
          </a:r>
          <a:endParaRPr lang="en-NZ" sz="1300" kern="1200" dirty="0"/>
        </a:p>
      </dsp:txBody>
      <dsp:txXfrm>
        <a:off x="5363521" y="1228949"/>
        <a:ext cx="1786851" cy="1191233"/>
      </dsp:txXfrm>
    </dsp:sp>
    <dsp:sp modelId="{39E837AD-D992-8E49-8F7D-E156C50663E0}">
      <dsp:nvSpPr>
        <dsp:cNvPr id="0" name=""/>
        <dsp:cNvSpPr/>
      </dsp:nvSpPr>
      <dsp:spPr>
        <a:xfrm>
          <a:off x="7150371" y="1228949"/>
          <a:ext cx="2978084" cy="1191233"/>
        </a:xfrm>
        <a:prstGeom prst="chevron">
          <a:avLst/>
        </a:prstGeom>
        <a:solidFill>
          <a:schemeClr val="tx2">
            <a:lumMod val="40000"/>
            <a:lumOff val="6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a:t>Opening trade results in losses in textiles (e.g. clothing manufacture) and factors in this sector lose.</a:t>
          </a:r>
          <a:endParaRPr lang="en-NZ" sz="1300" kern="1200"/>
        </a:p>
      </dsp:txBody>
      <dsp:txXfrm>
        <a:off x="7745988" y="1228949"/>
        <a:ext cx="1786851" cy="119123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332BAD-254A-F44E-ABD0-A6C009B2BEA2}">
      <dsp:nvSpPr>
        <dsp:cNvPr id="0" name=""/>
        <dsp:cNvSpPr/>
      </dsp:nvSpPr>
      <dsp:spPr>
        <a:xfrm>
          <a:off x="464381" y="2084"/>
          <a:ext cx="4853372" cy="12133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Consider a rich economy abundant in capital that trades with a poor economy abundant in </a:t>
          </a:r>
          <a:r>
            <a:rPr lang="en-US" sz="2000" kern="1200" dirty="0" err="1"/>
            <a:t>labour</a:t>
          </a:r>
          <a:r>
            <a:rPr lang="en-US" sz="2000" kern="1200" dirty="0"/>
            <a:t>:</a:t>
          </a:r>
          <a:endParaRPr lang="en-NZ" sz="2000" kern="1200" dirty="0"/>
        </a:p>
      </dsp:txBody>
      <dsp:txXfrm>
        <a:off x="499919" y="37622"/>
        <a:ext cx="4782296" cy="1142267"/>
      </dsp:txXfrm>
    </dsp:sp>
    <dsp:sp modelId="{31485D45-A8F7-9F4E-93A4-CCF5C1D71B7D}">
      <dsp:nvSpPr>
        <dsp:cNvPr id="0" name=""/>
        <dsp:cNvSpPr/>
      </dsp:nvSpPr>
      <dsp:spPr>
        <a:xfrm rot="5400000">
          <a:off x="2784899" y="1321594"/>
          <a:ext cx="212335" cy="21233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CFDF16-8465-CF4D-A2D4-76C3F6F54BF5}">
      <dsp:nvSpPr>
        <dsp:cNvPr id="0" name=""/>
        <dsp:cNvSpPr/>
      </dsp:nvSpPr>
      <dsp:spPr>
        <a:xfrm>
          <a:off x="464381" y="1640097"/>
          <a:ext cx="4853372" cy="1213343"/>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t>Workers in the rich economy (and owners of capital in the poor country) will be worse off</a:t>
          </a:r>
          <a:endParaRPr lang="en-NZ" sz="2500" kern="1200" dirty="0"/>
        </a:p>
      </dsp:txBody>
      <dsp:txXfrm>
        <a:off x="499919" y="1675635"/>
        <a:ext cx="4782296" cy="1142267"/>
      </dsp:txXfrm>
    </dsp:sp>
    <dsp:sp modelId="{02682FB7-C202-2A44-9B9F-7B470D2A791E}">
      <dsp:nvSpPr>
        <dsp:cNvPr id="0" name=""/>
        <dsp:cNvSpPr/>
      </dsp:nvSpPr>
      <dsp:spPr>
        <a:xfrm rot="5400000">
          <a:off x="2784899" y="2959608"/>
          <a:ext cx="212335" cy="21233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138E5EC-20CE-0746-833D-E1EECD63FAFD}">
      <dsp:nvSpPr>
        <dsp:cNvPr id="0" name=""/>
        <dsp:cNvSpPr/>
      </dsp:nvSpPr>
      <dsp:spPr>
        <a:xfrm>
          <a:off x="464381" y="3278110"/>
          <a:ext cx="4853372" cy="1213343"/>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a:t>Owners of capital in rich country (and workers in the poor country) will be better off. </a:t>
          </a:r>
          <a:endParaRPr lang="en-NZ" sz="2500" kern="1200"/>
        </a:p>
      </dsp:txBody>
      <dsp:txXfrm>
        <a:off x="499919" y="3313648"/>
        <a:ext cx="4782296" cy="1142267"/>
      </dsp:txXfrm>
    </dsp:sp>
    <dsp:sp modelId="{E8D0251D-483B-274E-995D-790BCBA76C99}">
      <dsp:nvSpPr>
        <dsp:cNvPr id="0" name=""/>
        <dsp:cNvSpPr/>
      </dsp:nvSpPr>
      <dsp:spPr>
        <a:xfrm>
          <a:off x="5997225" y="2084"/>
          <a:ext cx="4853372" cy="12133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Overall, the entire economy </a:t>
          </a:r>
          <a:r>
            <a:rPr lang="en-US" sz="2000" u="sng" kern="1200"/>
            <a:t>could</a:t>
          </a:r>
          <a:r>
            <a:rPr lang="en-US" sz="2000" kern="1200"/>
            <a:t> grow and offset the losses to the worse off (see the stylized US vs China example in section 18.6)</a:t>
          </a:r>
          <a:endParaRPr lang="en-NZ" sz="2000" kern="1200"/>
        </a:p>
      </dsp:txBody>
      <dsp:txXfrm>
        <a:off x="6032763" y="37622"/>
        <a:ext cx="4782296" cy="114226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11585-6056-B848-A5C5-1F335E046F9B}">
      <dsp:nvSpPr>
        <dsp:cNvPr id="0" name=""/>
        <dsp:cNvSpPr/>
      </dsp:nvSpPr>
      <dsp:spPr>
        <a:xfrm>
          <a:off x="464381" y="2084"/>
          <a:ext cx="4853372" cy="12133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Consider a rich economy abundant in skilled labour that trades with a poor economy abundant in unskilled labour:</a:t>
          </a:r>
          <a:endParaRPr lang="en-NZ" sz="2000" kern="1200"/>
        </a:p>
      </dsp:txBody>
      <dsp:txXfrm>
        <a:off x="499919" y="37622"/>
        <a:ext cx="4782296" cy="1142267"/>
      </dsp:txXfrm>
    </dsp:sp>
    <dsp:sp modelId="{DB71125B-6BD2-2842-AB63-20AA9DC731EE}">
      <dsp:nvSpPr>
        <dsp:cNvPr id="0" name=""/>
        <dsp:cNvSpPr/>
      </dsp:nvSpPr>
      <dsp:spPr>
        <a:xfrm rot="5400000">
          <a:off x="2784899" y="1321594"/>
          <a:ext cx="212335" cy="21233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EC6BF1C-8A8E-9E44-9919-64EA99A97FAB}">
      <dsp:nvSpPr>
        <dsp:cNvPr id="0" name=""/>
        <dsp:cNvSpPr/>
      </dsp:nvSpPr>
      <dsp:spPr>
        <a:xfrm>
          <a:off x="464381" y="1640097"/>
          <a:ext cx="4853372" cy="1213343"/>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a:t>Unskilled workers in the rich economy (and skilled workers in the poor country) will be worse off</a:t>
          </a:r>
          <a:endParaRPr lang="en-NZ" sz="2300" kern="1200"/>
        </a:p>
      </dsp:txBody>
      <dsp:txXfrm>
        <a:off x="499919" y="1675635"/>
        <a:ext cx="4782296" cy="1142267"/>
      </dsp:txXfrm>
    </dsp:sp>
    <dsp:sp modelId="{C5F1CCF1-63A8-844D-BC4A-3A026550FE71}">
      <dsp:nvSpPr>
        <dsp:cNvPr id="0" name=""/>
        <dsp:cNvSpPr/>
      </dsp:nvSpPr>
      <dsp:spPr>
        <a:xfrm rot="5400000">
          <a:off x="2784899" y="2959608"/>
          <a:ext cx="212335" cy="212335"/>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C387945-023A-3043-975E-0B0FD920966B}">
      <dsp:nvSpPr>
        <dsp:cNvPr id="0" name=""/>
        <dsp:cNvSpPr/>
      </dsp:nvSpPr>
      <dsp:spPr>
        <a:xfrm>
          <a:off x="464381" y="3278110"/>
          <a:ext cx="4853372" cy="1213343"/>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a:t>Skilled workers in rich countries (and unskilled workers in the poor country) will be better off. </a:t>
          </a:r>
          <a:endParaRPr lang="en-NZ" sz="2300" kern="1200"/>
        </a:p>
      </dsp:txBody>
      <dsp:txXfrm>
        <a:off x="499919" y="3313648"/>
        <a:ext cx="4782296" cy="1142267"/>
      </dsp:txXfrm>
    </dsp:sp>
    <dsp:sp modelId="{9B34C863-060D-A240-94B4-299C94E83586}">
      <dsp:nvSpPr>
        <dsp:cNvPr id="0" name=""/>
        <dsp:cNvSpPr/>
      </dsp:nvSpPr>
      <dsp:spPr>
        <a:xfrm>
          <a:off x="5997225" y="2084"/>
          <a:ext cx="4853372" cy="12133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Overall, the entire economy </a:t>
          </a:r>
          <a:r>
            <a:rPr lang="en-US" sz="2000" u="sng" kern="1200"/>
            <a:t>could</a:t>
          </a:r>
          <a:r>
            <a:rPr lang="en-US" sz="2000" kern="1200"/>
            <a:t> grow and offset the losses to the worse off (see the stylized US vs China example in section 18.6)</a:t>
          </a:r>
          <a:endParaRPr lang="en-NZ" sz="2000" kern="1200"/>
        </a:p>
      </dsp:txBody>
      <dsp:txXfrm>
        <a:off x="6032763" y="37622"/>
        <a:ext cx="4782296" cy="114226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49ADA8-B3AA-3A4D-88B0-0D1AD25DC9E7}">
      <dsp:nvSpPr>
        <dsp:cNvPr id="0" name=""/>
        <dsp:cNvSpPr/>
      </dsp:nvSpPr>
      <dsp:spPr>
        <a:xfrm>
          <a:off x="0" y="35556"/>
          <a:ext cx="10007566" cy="1829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There are 2 goods: passenger aircraft (capital-intensive) and consumer electronics (labour-intensive).</a:t>
          </a:r>
          <a:endParaRPr lang="en-NZ" sz="3400" kern="1200"/>
        </a:p>
      </dsp:txBody>
      <dsp:txXfrm>
        <a:off x="89327" y="124883"/>
        <a:ext cx="9828912" cy="1651226"/>
      </dsp:txXfrm>
    </dsp:sp>
    <dsp:sp modelId="{D8C89B7A-7C66-794F-A8C3-5CB34626CF0E}">
      <dsp:nvSpPr>
        <dsp:cNvPr id="0" name=""/>
        <dsp:cNvSpPr/>
      </dsp:nvSpPr>
      <dsp:spPr>
        <a:xfrm>
          <a:off x="0" y="1963357"/>
          <a:ext cx="10007566" cy="1829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The US is relatively capital abundant, whereas China is relatively labour abundant -&gt; specialization according to factor endowments.</a:t>
          </a:r>
          <a:endParaRPr lang="en-NZ" sz="3400" kern="1200"/>
        </a:p>
      </dsp:txBody>
      <dsp:txXfrm>
        <a:off x="89327" y="2052684"/>
        <a:ext cx="9828912" cy="165122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D9B926-379D-EC40-B2DD-CF3DDD2B176F}">
      <dsp:nvSpPr>
        <dsp:cNvPr id="0" name=""/>
        <dsp:cNvSpPr/>
      </dsp:nvSpPr>
      <dsp:spPr>
        <a:xfrm>
          <a:off x="0" y="382207"/>
          <a:ext cx="4002936" cy="1399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Winners in the US: Owners of capital -&gt; inequality should rise</a:t>
          </a:r>
          <a:endParaRPr lang="en-NZ" sz="2600" kern="1200"/>
        </a:p>
      </dsp:txBody>
      <dsp:txXfrm>
        <a:off x="68309" y="450516"/>
        <a:ext cx="3866318" cy="1262702"/>
      </dsp:txXfrm>
    </dsp:sp>
    <dsp:sp modelId="{1CFDAA5F-0931-4443-8CF3-2ADD8AFEF20F}">
      <dsp:nvSpPr>
        <dsp:cNvPr id="0" name=""/>
        <dsp:cNvSpPr/>
      </dsp:nvSpPr>
      <dsp:spPr>
        <a:xfrm>
          <a:off x="0" y="1856407"/>
          <a:ext cx="4002936" cy="1399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Winners in China: Workers (higher wages) -&gt; inequality should fall</a:t>
          </a:r>
          <a:endParaRPr lang="en-NZ" sz="2600" kern="1200" dirty="0"/>
        </a:p>
      </dsp:txBody>
      <dsp:txXfrm>
        <a:off x="68309" y="1924716"/>
        <a:ext cx="3866318" cy="12627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3B5F6C-7147-4370-8AA3-64F41DDFD91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2C330640-1F0F-4FD2-8E0F-D61F3EB9CFF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E76A23-F64E-410E-9933-5CF80C92A90C}" type="datetimeFigureOut">
              <a:rPr lang="en-ID" smtClean="0"/>
              <a:t>16/08/2026</a:t>
            </a:fld>
            <a:endParaRPr lang="en-ID"/>
          </a:p>
        </p:txBody>
      </p:sp>
      <p:sp>
        <p:nvSpPr>
          <p:cNvPr id="4" name="Footer Placeholder 3">
            <a:extLst>
              <a:ext uri="{FF2B5EF4-FFF2-40B4-BE49-F238E27FC236}">
                <a16:creationId xmlns:a16="http://schemas.microsoft.com/office/drawing/2014/main" id="{76F83D6D-9183-40AA-8D07-E195A3312C5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9AFB6699-E673-4492-8D3D-8CF2AFF95C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8317EE-0622-4866-8D18-25CE03D27526}" type="slidenum">
              <a:rPr lang="en-ID" smtClean="0"/>
              <a:t>‹#›</a:t>
            </a:fld>
            <a:endParaRPr lang="en-ID"/>
          </a:p>
        </p:txBody>
      </p:sp>
    </p:spTree>
    <p:extLst>
      <p:ext uri="{BB962C8B-B14F-4D97-AF65-F5344CB8AC3E}">
        <p14:creationId xmlns:p14="http://schemas.microsoft.com/office/powerpoint/2010/main" val="16388866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DE8909-E5A9-4597-8B2B-4FE5570D75EB}" type="datetimeFigureOut">
              <a:rPr lang="en-ID" smtClean="0"/>
              <a:t>16/08/2026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C75A8-F08B-4865-8B51-4C323A3291A9}" type="slidenum">
              <a:rPr lang="en-ID" smtClean="0"/>
              <a:t>‹#›</a:t>
            </a:fld>
            <a:endParaRPr lang="en-ID"/>
          </a:p>
        </p:txBody>
      </p:sp>
    </p:spTree>
    <p:extLst>
      <p:ext uri="{BB962C8B-B14F-4D97-AF65-F5344CB8AC3E}">
        <p14:creationId xmlns:p14="http://schemas.microsoft.com/office/powerpoint/2010/main" val="844476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232554E2-FDDF-F047-9C8E-F7403F7CC443}" type="slidenum">
              <a:rPr lang="en-US" smtClean="0"/>
              <a:t>35</a:t>
            </a:fld>
            <a:endParaRPr lang="en-US" dirty="0"/>
          </a:p>
        </p:txBody>
      </p:sp>
    </p:spTree>
    <p:extLst>
      <p:ext uri="{BB962C8B-B14F-4D97-AF65-F5344CB8AC3E}">
        <p14:creationId xmlns:p14="http://schemas.microsoft.com/office/powerpoint/2010/main" val="1596866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3">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D71F969-6E0E-4CE4-8D83-FB7E1E36943B}"/>
              </a:ext>
            </a:extLst>
          </p:cNvPr>
          <p:cNvSpPr/>
          <p:nvPr userDrawn="1"/>
        </p:nvSpPr>
        <p:spPr>
          <a:xfrm>
            <a:off x="2986617" y="1583266"/>
            <a:ext cx="3886200" cy="4360334"/>
          </a:xfrm>
          <a:prstGeom prst="rect">
            <a:avLst/>
          </a:prstGeom>
          <a:solidFill>
            <a:srgbClr val="EFEF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A6CA5C42-8660-4144-90F8-83E42246A6EF}"/>
              </a:ext>
            </a:extLst>
          </p:cNvPr>
          <p:cNvSpPr>
            <a:spLocks noGrp="1"/>
          </p:cNvSpPr>
          <p:nvPr>
            <p:ph type="ctrTitle" hasCustomPrompt="1"/>
          </p:nvPr>
        </p:nvSpPr>
        <p:spPr>
          <a:xfrm>
            <a:off x="5356062" y="2218764"/>
            <a:ext cx="4492788" cy="3004741"/>
          </a:xfrm>
          <a:noFill/>
          <a:ln w="76200">
            <a:noFill/>
          </a:ln>
        </p:spPr>
        <p:txBody>
          <a:bodyPr anchor="ctr">
            <a:noAutofit/>
          </a:bodyPr>
          <a:lstStyle>
            <a:lvl1pPr algn="l">
              <a:defRPr sz="7200">
                <a:solidFill>
                  <a:srgbClr val="353638"/>
                </a:solidFill>
                <a:latin typeface="+mj-lt"/>
              </a:defRPr>
            </a:lvl1pPr>
          </a:lstStyle>
          <a:p>
            <a:r>
              <a:rPr lang="en-US" dirty="0"/>
              <a:t>presentation</a:t>
            </a:r>
            <a:br>
              <a:rPr lang="en-US" dirty="0"/>
            </a:br>
            <a:r>
              <a:rPr lang="en-US" dirty="0"/>
              <a:t>title</a:t>
            </a:r>
            <a:endParaRPr lang="en-ID" dirty="0"/>
          </a:p>
        </p:txBody>
      </p:sp>
      <p:sp>
        <p:nvSpPr>
          <p:cNvPr id="3" name="Subtitle 2">
            <a:extLst>
              <a:ext uri="{FF2B5EF4-FFF2-40B4-BE49-F238E27FC236}">
                <a16:creationId xmlns:a16="http://schemas.microsoft.com/office/drawing/2014/main" id="{5FA84757-0A31-42A4-8AF4-E9682F725626}"/>
              </a:ext>
            </a:extLst>
          </p:cNvPr>
          <p:cNvSpPr>
            <a:spLocks noGrp="1"/>
          </p:cNvSpPr>
          <p:nvPr>
            <p:ph type="subTitle" idx="1" hasCustomPrompt="1"/>
          </p:nvPr>
        </p:nvSpPr>
        <p:spPr>
          <a:xfrm>
            <a:off x="7804084" y="5490105"/>
            <a:ext cx="3549716" cy="453495"/>
          </a:xfrm>
        </p:spPr>
        <p:txBody>
          <a:bodyPr/>
          <a:lstStyle>
            <a:lvl1pPr marL="0" indent="0" algn="ctr">
              <a:buNone/>
              <a:defRPr sz="2400" i="0">
                <a:solidFill>
                  <a:schemeClr val="accent6"/>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endParaRPr lang="en-ID" dirty="0"/>
          </a:p>
        </p:txBody>
      </p:sp>
      <p:sp>
        <p:nvSpPr>
          <p:cNvPr id="4" name="Date Placeholder 3">
            <a:extLst>
              <a:ext uri="{FF2B5EF4-FFF2-40B4-BE49-F238E27FC236}">
                <a16:creationId xmlns:a16="http://schemas.microsoft.com/office/drawing/2014/main" id="{C7FAE704-8736-43EB-B790-0237AE0C51AE}"/>
              </a:ext>
            </a:extLst>
          </p:cNvPr>
          <p:cNvSpPr>
            <a:spLocks noGrp="1"/>
          </p:cNvSpPr>
          <p:nvPr>
            <p:ph type="dt" sz="half" idx="10"/>
          </p:nvPr>
        </p:nvSpPr>
        <p:spPr/>
        <p:txBody>
          <a:bodyPr/>
          <a:lstStyle>
            <a:lvl1pPr>
              <a:defRPr>
                <a:solidFill>
                  <a:srgbClr val="EFEFEF"/>
                </a:solidFill>
                <a:latin typeface="Playfair Display" panose="00000500000000000000" pitchFamily="2" charset="0"/>
              </a:defRPr>
            </a:lvl1pPr>
          </a:lstStyle>
          <a:p>
            <a:fld id="{79AA9DB5-A1F6-4624-970D-0BADA959D4A3}" type="datetimeFigureOut">
              <a:rPr lang="en-ID" smtClean="0"/>
              <a:pPr/>
              <a:t>16/08/2026</a:t>
            </a:fld>
            <a:endParaRPr lang="en-ID" dirty="0"/>
          </a:p>
        </p:txBody>
      </p:sp>
      <p:sp>
        <p:nvSpPr>
          <p:cNvPr id="5" name="Footer Placeholder 4">
            <a:extLst>
              <a:ext uri="{FF2B5EF4-FFF2-40B4-BE49-F238E27FC236}">
                <a16:creationId xmlns:a16="http://schemas.microsoft.com/office/drawing/2014/main" id="{BE82D268-297F-4761-8EF4-DC6A0F98869D}"/>
              </a:ext>
            </a:extLst>
          </p:cNvPr>
          <p:cNvSpPr>
            <a:spLocks noGrp="1"/>
          </p:cNvSpPr>
          <p:nvPr>
            <p:ph type="ftr" sz="quarter" idx="11"/>
          </p:nvPr>
        </p:nvSpPr>
        <p:spPr/>
        <p:txBody>
          <a:bodyPr/>
          <a:lstStyle>
            <a:lvl1pPr>
              <a:defRPr>
                <a:solidFill>
                  <a:srgbClr val="EFEFEF"/>
                </a:solidFill>
                <a:latin typeface="Playfair Display" panose="00000500000000000000" pitchFamily="2" charset="0"/>
              </a:defRPr>
            </a:lvl1pPr>
          </a:lstStyle>
          <a:p>
            <a:endParaRPr lang="en-ID" dirty="0">
              <a:solidFill>
                <a:srgbClr val="EFEFEF"/>
              </a:solidFill>
            </a:endParaRPr>
          </a:p>
        </p:txBody>
      </p:sp>
      <p:sp>
        <p:nvSpPr>
          <p:cNvPr id="6" name="Slide Number Placeholder 5">
            <a:extLst>
              <a:ext uri="{FF2B5EF4-FFF2-40B4-BE49-F238E27FC236}">
                <a16:creationId xmlns:a16="http://schemas.microsoft.com/office/drawing/2014/main" id="{D17180F5-C3D6-4504-BDF3-1BCE2F53A30C}"/>
              </a:ext>
            </a:extLst>
          </p:cNvPr>
          <p:cNvSpPr>
            <a:spLocks noGrp="1"/>
          </p:cNvSpPr>
          <p:nvPr>
            <p:ph type="sldNum" sz="quarter" idx="12"/>
          </p:nvPr>
        </p:nvSpPr>
        <p:spPr/>
        <p:txBody>
          <a:bodyPr/>
          <a:lstStyle>
            <a:lvl1pPr>
              <a:defRPr>
                <a:solidFill>
                  <a:srgbClr val="EFEFEF"/>
                </a:solidFill>
              </a:defRPr>
            </a:lvl1pPr>
          </a:lstStyle>
          <a:p>
            <a:fld id="{356B735F-8457-406A-A744-FC5DA5F22371}" type="slidenum">
              <a:rPr lang="en-ID" smtClean="0"/>
              <a:pPr/>
              <a:t>‹#›</a:t>
            </a:fld>
            <a:endParaRPr lang="en-ID" dirty="0"/>
          </a:p>
        </p:txBody>
      </p:sp>
      <p:sp>
        <p:nvSpPr>
          <p:cNvPr id="8" name="Picture Placeholder 7">
            <a:extLst>
              <a:ext uri="{FF2B5EF4-FFF2-40B4-BE49-F238E27FC236}">
                <a16:creationId xmlns:a16="http://schemas.microsoft.com/office/drawing/2014/main" id="{CCDE7881-E5A5-46DB-B675-AAD88C9EC85F}"/>
              </a:ext>
            </a:extLst>
          </p:cNvPr>
          <p:cNvSpPr>
            <a:spLocks noGrp="1"/>
          </p:cNvSpPr>
          <p:nvPr>
            <p:ph type="pic" sz="quarter" idx="13"/>
          </p:nvPr>
        </p:nvSpPr>
        <p:spPr>
          <a:xfrm>
            <a:off x="1123950" y="0"/>
            <a:ext cx="3514725" cy="4752975"/>
          </a:xfrm>
        </p:spPr>
        <p:txBody>
          <a:bodyPr/>
          <a:lstStyle/>
          <a:p>
            <a:r>
              <a:rPr lang="en-US"/>
              <a:t>Click icon to add picture</a:t>
            </a:r>
            <a:endParaRPr lang="en-ID" dirty="0"/>
          </a:p>
        </p:txBody>
      </p:sp>
    </p:spTree>
    <p:extLst>
      <p:ext uri="{BB962C8B-B14F-4D97-AF65-F5344CB8AC3E}">
        <p14:creationId xmlns:p14="http://schemas.microsoft.com/office/powerpoint/2010/main" val="389461847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13F92-5DF7-41CB-BA05-FEC39036209B}"/>
              </a:ext>
            </a:extLst>
          </p:cNvPr>
          <p:cNvSpPr/>
          <p:nvPr userDrawn="1"/>
        </p:nvSpPr>
        <p:spPr>
          <a:xfrm>
            <a:off x="266700" y="70418"/>
            <a:ext cx="11658600" cy="633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A57BFD46-59E1-4F55-AC46-F453E1B06B67}"/>
              </a:ext>
            </a:extLst>
          </p:cNvPr>
          <p:cNvSpPr>
            <a:spLocks noGrp="1"/>
          </p:cNvSpPr>
          <p:nvPr>
            <p:ph type="title" hasCustomPrompt="1"/>
          </p:nvPr>
        </p:nvSpPr>
        <p:spPr>
          <a:xfrm>
            <a:off x="838200" y="902065"/>
            <a:ext cx="5105927" cy="1325563"/>
          </a:xfrm>
        </p:spPr>
        <p:txBody>
          <a:bodyPr>
            <a:noAutofit/>
          </a:bodyPr>
          <a:lstStyle>
            <a:lvl1pPr>
              <a:defRPr sz="7200">
                <a:solidFill>
                  <a:srgbClr val="353638"/>
                </a:solidFill>
              </a:defRPr>
            </a:lvl1pPr>
          </a:lstStyle>
          <a:p>
            <a:r>
              <a:rPr lang="en-US" dirty="0"/>
              <a:t>title</a:t>
            </a:r>
            <a:endParaRPr lang="en-ID" dirty="0"/>
          </a:p>
        </p:txBody>
      </p:sp>
      <p:sp>
        <p:nvSpPr>
          <p:cNvPr id="3" name="Date Placeholder 2">
            <a:extLst>
              <a:ext uri="{FF2B5EF4-FFF2-40B4-BE49-F238E27FC236}">
                <a16:creationId xmlns:a16="http://schemas.microsoft.com/office/drawing/2014/main" id="{21C66221-AADF-4726-9FA1-2CB4F0C22E22}"/>
              </a:ext>
            </a:extLst>
          </p:cNvPr>
          <p:cNvSpPr>
            <a:spLocks noGrp="1"/>
          </p:cNvSpPr>
          <p:nvPr>
            <p:ph type="dt" sz="half" idx="10"/>
          </p:nvPr>
        </p:nvSpPr>
        <p:spPr>
          <a:xfrm>
            <a:off x="838200" y="6086110"/>
            <a:ext cx="2743200" cy="365125"/>
          </a:xfrm>
        </p:spPr>
        <p:txBody>
          <a:bodyPr/>
          <a:lstStyle>
            <a:lvl1pPr>
              <a:defRPr>
                <a:solidFill>
                  <a:schemeClr val="accent5"/>
                </a:solidFill>
              </a:defRPr>
            </a:lvl1pPr>
          </a:lstStyle>
          <a:p>
            <a:fld id="{79AA9DB5-A1F6-4624-970D-0BADA959D4A3}" type="datetimeFigureOut">
              <a:rPr lang="en-ID" smtClean="0"/>
              <a:pPr/>
              <a:t>16/08/2026</a:t>
            </a:fld>
            <a:endParaRPr lang="en-ID" dirty="0"/>
          </a:p>
        </p:txBody>
      </p:sp>
      <p:sp>
        <p:nvSpPr>
          <p:cNvPr id="4" name="Footer Placeholder 3">
            <a:extLst>
              <a:ext uri="{FF2B5EF4-FFF2-40B4-BE49-F238E27FC236}">
                <a16:creationId xmlns:a16="http://schemas.microsoft.com/office/drawing/2014/main" id="{7B8143C5-1D4B-46C8-A783-9D7353BCCBDE}"/>
              </a:ext>
            </a:extLst>
          </p:cNvPr>
          <p:cNvSpPr>
            <a:spLocks noGrp="1"/>
          </p:cNvSpPr>
          <p:nvPr>
            <p:ph type="ftr" sz="quarter" idx="11"/>
          </p:nvPr>
        </p:nvSpPr>
        <p:spPr>
          <a:xfrm>
            <a:off x="4038600" y="6086110"/>
            <a:ext cx="4114800" cy="365125"/>
          </a:xfrm>
        </p:spPr>
        <p:txBody>
          <a:bodyPr/>
          <a:lstStyle>
            <a:lvl1pPr>
              <a:defRPr>
                <a:solidFill>
                  <a:schemeClr val="accent5"/>
                </a:solidFill>
              </a:defRPr>
            </a:lvl1pPr>
          </a:lstStyle>
          <a:p>
            <a:endParaRPr lang="en-ID" dirty="0"/>
          </a:p>
        </p:txBody>
      </p:sp>
      <p:sp>
        <p:nvSpPr>
          <p:cNvPr id="5" name="Slide Number Placeholder 4">
            <a:extLst>
              <a:ext uri="{FF2B5EF4-FFF2-40B4-BE49-F238E27FC236}">
                <a16:creationId xmlns:a16="http://schemas.microsoft.com/office/drawing/2014/main" id="{61DB84BE-8FE3-4C31-9AE1-41C645ACE5D2}"/>
              </a:ext>
            </a:extLst>
          </p:cNvPr>
          <p:cNvSpPr>
            <a:spLocks noGrp="1"/>
          </p:cNvSpPr>
          <p:nvPr>
            <p:ph type="sldNum" sz="quarter" idx="12"/>
          </p:nvPr>
        </p:nvSpPr>
        <p:spPr>
          <a:xfrm>
            <a:off x="8610600" y="6086110"/>
            <a:ext cx="2743200" cy="365125"/>
          </a:xfrm>
        </p:spPr>
        <p:txBody>
          <a:bodyPr/>
          <a:lstStyle>
            <a:lvl1pPr>
              <a:defRPr>
                <a:solidFill>
                  <a:schemeClr val="accent5"/>
                </a:solidFill>
              </a:defRPr>
            </a:lvl1pPr>
          </a:lstStyle>
          <a:p>
            <a:fld id="{356B735F-8457-406A-A744-FC5DA5F22371}" type="slidenum">
              <a:rPr lang="en-ID" smtClean="0"/>
              <a:pPr/>
              <a:t>‹#›</a:t>
            </a:fld>
            <a:endParaRPr lang="en-ID" dirty="0"/>
          </a:p>
        </p:txBody>
      </p:sp>
      <p:sp>
        <p:nvSpPr>
          <p:cNvPr id="7" name="Text Placeholder 6">
            <a:extLst>
              <a:ext uri="{FF2B5EF4-FFF2-40B4-BE49-F238E27FC236}">
                <a16:creationId xmlns:a16="http://schemas.microsoft.com/office/drawing/2014/main" id="{8FA6F1EC-F7C2-4665-9DDF-2E52290BFAAE}"/>
              </a:ext>
            </a:extLst>
          </p:cNvPr>
          <p:cNvSpPr>
            <a:spLocks noGrp="1"/>
          </p:cNvSpPr>
          <p:nvPr>
            <p:ph type="body" sz="quarter" idx="14"/>
          </p:nvPr>
        </p:nvSpPr>
        <p:spPr>
          <a:xfrm>
            <a:off x="1733551" y="3622450"/>
            <a:ext cx="2609850" cy="1998685"/>
          </a:xfrm>
        </p:spPr>
        <p:txBody>
          <a:bodyPr anchor="t">
            <a:noAutofit/>
          </a:bodyPr>
          <a:lstStyle>
            <a:lvl1pPr algn="l">
              <a:defRPr sz="1800">
                <a:solidFill>
                  <a:srgbClr val="353638"/>
                </a:solidFill>
              </a:defRPr>
            </a:lvl1pPr>
            <a:lvl2pPr algn="l">
              <a:defRPr sz="1600">
                <a:solidFill>
                  <a:srgbClr val="353638"/>
                </a:solidFill>
              </a:defRPr>
            </a:lvl2pPr>
            <a:lvl3pPr algn="l">
              <a:defRPr sz="1400">
                <a:solidFill>
                  <a:srgbClr val="353638"/>
                </a:solidFill>
              </a:defRPr>
            </a:lvl3pPr>
            <a:lvl4pPr algn="l">
              <a:defRPr sz="1200">
                <a:solidFill>
                  <a:srgbClr val="353638"/>
                </a:solidFill>
              </a:defRPr>
            </a:lvl4pPr>
            <a:lvl5pPr algn="l">
              <a:defRPr sz="1200">
                <a:solidFill>
                  <a:srgbClr val="3536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8" name="Text Placeholder 6">
            <a:extLst>
              <a:ext uri="{FF2B5EF4-FFF2-40B4-BE49-F238E27FC236}">
                <a16:creationId xmlns:a16="http://schemas.microsoft.com/office/drawing/2014/main" id="{BB455469-8D17-467F-A532-836304E7BC34}"/>
              </a:ext>
            </a:extLst>
          </p:cNvPr>
          <p:cNvSpPr>
            <a:spLocks noGrp="1"/>
          </p:cNvSpPr>
          <p:nvPr>
            <p:ph type="body" sz="quarter" idx="15"/>
          </p:nvPr>
        </p:nvSpPr>
        <p:spPr>
          <a:xfrm>
            <a:off x="4791075" y="3622450"/>
            <a:ext cx="2609850" cy="1998685"/>
          </a:xfrm>
        </p:spPr>
        <p:txBody>
          <a:bodyPr anchor="t">
            <a:noAutofit/>
          </a:bodyPr>
          <a:lstStyle>
            <a:lvl1pPr algn="l">
              <a:defRPr sz="1400">
                <a:solidFill>
                  <a:srgbClr val="353638"/>
                </a:solidFill>
              </a:defRPr>
            </a:lvl1pPr>
            <a:lvl2pPr algn="l">
              <a:defRPr sz="1200">
                <a:solidFill>
                  <a:srgbClr val="353638"/>
                </a:solidFill>
              </a:defRPr>
            </a:lvl2pPr>
            <a:lvl3pPr algn="l">
              <a:defRPr sz="1100">
                <a:solidFill>
                  <a:srgbClr val="353638"/>
                </a:solidFill>
              </a:defRPr>
            </a:lvl3pPr>
            <a:lvl4pPr algn="l">
              <a:defRPr sz="1050">
                <a:solidFill>
                  <a:srgbClr val="353638"/>
                </a:solidFill>
              </a:defRPr>
            </a:lvl4pPr>
            <a:lvl5pPr algn="l">
              <a:defRPr sz="1050">
                <a:solidFill>
                  <a:srgbClr val="3536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9" name="Text Placeholder 6">
            <a:extLst>
              <a:ext uri="{FF2B5EF4-FFF2-40B4-BE49-F238E27FC236}">
                <a16:creationId xmlns:a16="http://schemas.microsoft.com/office/drawing/2014/main" id="{AF294ABF-07A9-44CD-AC9B-A0922AEA592B}"/>
              </a:ext>
            </a:extLst>
          </p:cNvPr>
          <p:cNvSpPr>
            <a:spLocks noGrp="1"/>
          </p:cNvSpPr>
          <p:nvPr>
            <p:ph type="body" sz="quarter" idx="16"/>
          </p:nvPr>
        </p:nvSpPr>
        <p:spPr>
          <a:xfrm>
            <a:off x="7848599" y="3622450"/>
            <a:ext cx="2609850" cy="1998685"/>
          </a:xfrm>
        </p:spPr>
        <p:txBody>
          <a:bodyPr anchor="t">
            <a:noAutofit/>
          </a:bodyPr>
          <a:lstStyle>
            <a:lvl1pPr algn="l">
              <a:defRPr sz="1400">
                <a:solidFill>
                  <a:srgbClr val="353638"/>
                </a:solidFill>
              </a:defRPr>
            </a:lvl1pPr>
            <a:lvl2pPr algn="l">
              <a:defRPr sz="1200">
                <a:solidFill>
                  <a:srgbClr val="353638"/>
                </a:solidFill>
              </a:defRPr>
            </a:lvl2pPr>
            <a:lvl3pPr algn="l">
              <a:defRPr sz="1100">
                <a:solidFill>
                  <a:srgbClr val="353638"/>
                </a:solidFill>
              </a:defRPr>
            </a:lvl3pPr>
            <a:lvl4pPr algn="l">
              <a:defRPr sz="1050">
                <a:solidFill>
                  <a:srgbClr val="353638"/>
                </a:solidFill>
              </a:defRPr>
            </a:lvl4pPr>
            <a:lvl5pPr algn="l">
              <a:defRPr sz="1050">
                <a:solidFill>
                  <a:srgbClr val="3536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15" name="Text Placeholder 14">
            <a:extLst>
              <a:ext uri="{FF2B5EF4-FFF2-40B4-BE49-F238E27FC236}">
                <a16:creationId xmlns:a16="http://schemas.microsoft.com/office/drawing/2014/main" id="{B9A8ED02-4B65-47C9-A125-EB2355B93AE2}"/>
              </a:ext>
            </a:extLst>
          </p:cNvPr>
          <p:cNvSpPr>
            <a:spLocks noGrp="1"/>
          </p:cNvSpPr>
          <p:nvPr>
            <p:ph type="body" sz="quarter" idx="17" hasCustomPrompt="1"/>
          </p:nvPr>
        </p:nvSpPr>
        <p:spPr>
          <a:xfrm>
            <a:off x="1733551" y="2709727"/>
            <a:ext cx="2609850" cy="892175"/>
          </a:xfrm>
        </p:spPr>
        <p:txBody>
          <a:bodyPr anchor="b">
            <a:normAutofit/>
          </a:bodyPr>
          <a:lstStyle>
            <a:lvl1pPr algn="r">
              <a:buNone/>
              <a:defRPr sz="4800">
                <a:solidFill>
                  <a:srgbClr val="353638"/>
                </a:solidFill>
                <a:latin typeface="+mj-lt"/>
              </a:defRPr>
            </a:lvl1pPr>
          </a:lstStyle>
          <a:p>
            <a:pPr lvl="0"/>
            <a:r>
              <a:rPr lang="en-US" dirty="0"/>
              <a:t>01</a:t>
            </a:r>
            <a:endParaRPr lang="en-ID" dirty="0"/>
          </a:p>
        </p:txBody>
      </p:sp>
      <p:sp>
        <p:nvSpPr>
          <p:cNvPr id="16" name="Text Placeholder 14">
            <a:extLst>
              <a:ext uri="{FF2B5EF4-FFF2-40B4-BE49-F238E27FC236}">
                <a16:creationId xmlns:a16="http://schemas.microsoft.com/office/drawing/2014/main" id="{34E66934-F5D3-4FDA-BA1C-45655FDDAEFE}"/>
              </a:ext>
            </a:extLst>
          </p:cNvPr>
          <p:cNvSpPr>
            <a:spLocks noGrp="1"/>
          </p:cNvSpPr>
          <p:nvPr>
            <p:ph type="body" sz="quarter" idx="18" hasCustomPrompt="1"/>
          </p:nvPr>
        </p:nvSpPr>
        <p:spPr>
          <a:xfrm>
            <a:off x="4791075" y="2709726"/>
            <a:ext cx="2609850" cy="892175"/>
          </a:xfrm>
        </p:spPr>
        <p:txBody>
          <a:bodyPr anchor="b">
            <a:normAutofit/>
          </a:bodyPr>
          <a:lstStyle>
            <a:lvl1pPr algn="r">
              <a:buNone/>
              <a:defRPr sz="4800">
                <a:solidFill>
                  <a:srgbClr val="353638"/>
                </a:solidFill>
                <a:latin typeface="+mj-lt"/>
              </a:defRPr>
            </a:lvl1pPr>
          </a:lstStyle>
          <a:p>
            <a:pPr lvl="0"/>
            <a:r>
              <a:rPr lang="en-US" dirty="0"/>
              <a:t>02</a:t>
            </a:r>
            <a:endParaRPr lang="en-ID" dirty="0"/>
          </a:p>
        </p:txBody>
      </p:sp>
      <p:sp>
        <p:nvSpPr>
          <p:cNvPr id="17" name="Text Placeholder 14">
            <a:extLst>
              <a:ext uri="{FF2B5EF4-FFF2-40B4-BE49-F238E27FC236}">
                <a16:creationId xmlns:a16="http://schemas.microsoft.com/office/drawing/2014/main" id="{3C5B7C1C-3DBB-4926-AA3C-772DCC1A13A0}"/>
              </a:ext>
            </a:extLst>
          </p:cNvPr>
          <p:cNvSpPr>
            <a:spLocks noGrp="1"/>
          </p:cNvSpPr>
          <p:nvPr>
            <p:ph type="body" sz="quarter" idx="19" hasCustomPrompt="1"/>
          </p:nvPr>
        </p:nvSpPr>
        <p:spPr>
          <a:xfrm>
            <a:off x="7848599" y="2730275"/>
            <a:ext cx="2609850" cy="892175"/>
          </a:xfrm>
        </p:spPr>
        <p:txBody>
          <a:bodyPr anchor="b">
            <a:normAutofit/>
          </a:bodyPr>
          <a:lstStyle>
            <a:lvl1pPr algn="r">
              <a:buNone/>
              <a:defRPr sz="4800">
                <a:solidFill>
                  <a:srgbClr val="353638"/>
                </a:solidFill>
                <a:latin typeface="+mj-lt"/>
              </a:defRPr>
            </a:lvl1pPr>
          </a:lstStyle>
          <a:p>
            <a:pPr lvl="0"/>
            <a:r>
              <a:rPr lang="en-US" dirty="0"/>
              <a:t>03</a:t>
            </a:r>
            <a:endParaRPr lang="en-ID" dirty="0"/>
          </a:p>
        </p:txBody>
      </p:sp>
    </p:spTree>
    <p:extLst>
      <p:ext uri="{BB962C8B-B14F-4D97-AF65-F5344CB8AC3E}">
        <p14:creationId xmlns:p14="http://schemas.microsoft.com/office/powerpoint/2010/main" val="2844639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13F92-5DF7-41CB-BA05-FEC39036209B}"/>
              </a:ext>
            </a:extLst>
          </p:cNvPr>
          <p:cNvSpPr/>
          <p:nvPr userDrawn="1"/>
        </p:nvSpPr>
        <p:spPr>
          <a:xfrm>
            <a:off x="192156" y="248479"/>
            <a:ext cx="11658600" cy="633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A57BFD46-59E1-4F55-AC46-F453E1B06B67}"/>
              </a:ext>
            </a:extLst>
          </p:cNvPr>
          <p:cNvSpPr>
            <a:spLocks noGrp="1"/>
          </p:cNvSpPr>
          <p:nvPr>
            <p:ph type="title" hasCustomPrompt="1"/>
          </p:nvPr>
        </p:nvSpPr>
        <p:spPr>
          <a:xfrm>
            <a:off x="341244" y="248479"/>
            <a:ext cx="10760765" cy="1118562"/>
          </a:xfrm>
        </p:spPr>
        <p:txBody>
          <a:bodyPr>
            <a:noAutofit/>
          </a:bodyPr>
          <a:lstStyle>
            <a:lvl1pPr>
              <a:defRPr sz="7200">
                <a:solidFill>
                  <a:srgbClr val="353638"/>
                </a:solidFill>
              </a:defRPr>
            </a:lvl1pPr>
          </a:lstStyle>
          <a:p>
            <a:r>
              <a:rPr lang="en-US" dirty="0"/>
              <a:t>title</a:t>
            </a:r>
            <a:endParaRPr lang="en-ID" dirty="0"/>
          </a:p>
        </p:txBody>
      </p:sp>
      <p:sp>
        <p:nvSpPr>
          <p:cNvPr id="3" name="Date Placeholder 2">
            <a:extLst>
              <a:ext uri="{FF2B5EF4-FFF2-40B4-BE49-F238E27FC236}">
                <a16:creationId xmlns:a16="http://schemas.microsoft.com/office/drawing/2014/main" id="{21C66221-AADF-4726-9FA1-2CB4F0C22E22}"/>
              </a:ext>
            </a:extLst>
          </p:cNvPr>
          <p:cNvSpPr>
            <a:spLocks noGrp="1"/>
          </p:cNvSpPr>
          <p:nvPr>
            <p:ph type="dt" sz="half" idx="10"/>
          </p:nvPr>
        </p:nvSpPr>
        <p:spPr>
          <a:xfrm>
            <a:off x="838200" y="6086110"/>
            <a:ext cx="2743200" cy="365125"/>
          </a:xfrm>
        </p:spPr>
        <p:txBody>
          <a:bodyPr/>
          <a:lstStyle>
            <a:lvl1pPr>
              <a:defRPr>
                <a:solidFill>
                  <a:schemeClr val="accent5"/>
                </a:solidFill>
              </a:defRPr>
            </a:lvl1pPr>
          </a:lstStyle>
          <a:p>
            <a:fld id="{79AA9DB5-A1F6-4624-970D-0BADA959D4A3}" type="datetimeFigureOut">
              <a:rPr lang="en-ID" smtClean="0"/>
              <a:pPr/>
              <a:t>16/08/2026</a:t>
            </a:fld>
            <a:endParaRPr lang="en-ID" dirty="0"/>
          </a:p>
        </p:txBody>
      </p:sp>
      <p:sp>
        <p:nvSpPr>
          <p:cNvPr id="4" name="Footer Placeholder 3">
            <a:extLst>
              <a:ext uri="{FF2B5EF4-FFF2-40B4-BE49-F238E27FC236}">
                <a16:creationId xmlns:a16="http://schemas.microsoft.com/office/drawing/2014/main" id="{7B8143C5-1D4B-46C8-A783-9D7353BCCBDE}"/>
              </a:ext>
            </a:extLst>
          </p:cNvPr>
          <p:cNvSpPr>
            <a:spLocks noGrp="1"/>
          </p:cNvSpPr>
          <p:nvPr>
            <p:ph type="ftr" sz="quarter" idx="11"/>
          </p:nvPr>
        </p:nvSpPr>
        <p:spPr>
          <a:xfrm>
            <a:off x="4038600" y="6086110"/>
            <a:ext cx="4114800" cy="365125"/>
          </a:xfrm>
        </p:spPr>
        <p:txBody>
          <a:bodyPr/>
          <a:lstStyle>
            <a:lvl1pPr>
              <a:defRPr>
                <a:solidFill>
                  <a:schemeClr val="accent5"/>
                </a:solidFill>
              </a:defRPr>
            </a:lvl1pPr>
          </a:lstStyle>
          <a:p>
            <a:endParaRPr lang="en-ID" dirty="0"/>
          </a:p>
        </p:txBody>
      </p:sp>
      <p:sp>
        <p:nvSpPr>
          <p:cNvPr id="5" name="Slide Number Placeholder 4">
            <a:extLst>
              <a:ext uri="{FF2B5EF4-FFF2-40B4-BE49-F238E27FC236}">
                <a16:creationId xmlns:a16="http://schemas.microsoft.com/office/drawing/2014/main" id="{61DB84BE-8FE3-4C31-9AE1-41C645ACE5D2}"/>
              </a:ext>
            </a:extLst>
          </p:cNvPr>
          <p:cNvSpPr>
            <a:spLocks noGrp="1"/>
          </p:cNvSpPr>
          <p:nvPr>
            <p:ph type="sldNum" sz="quarter" idx="12"/>
          </p:nvPr>
        </p:nvSpPr>
        <p:spPr>
          <a:xfrm>
            <a:off x="8610600" y="6086110"/>
            <a:ext cx="2743200" cy="365125"/>
          </a:xfrm>
        </p:spPr>
        <p:txBody>
          <a:bodyPr/>
          <a:lstStyle>
            <a:lvl1pPr>
              <a:defRPr>
                <a:solidFill>
                  <a:schemeClr val="accent5"/>
                </a:solidFill>
              </a:defRPr>
            </a:lvl1pPr>
          </a:lstStyle>
          <a:p>
            <a:fld id="{356B735F-8457-406A-A744-FC5DA5F22371}" type="slidenum">
              <a:rPr lang="en-ID" smtClean="0"/>
              <a:pPr/>
              <a:t>‹#›</a:t>
            </a:fld>
            <a:endParaRPr lang="en-ID" dirty="0"/>
          </a:p>
        </p:txBody>
      </p:sp>
      <p:sp>
        <p:nvSpPr>
          <p:cNvPr id="7" name="Text Placeholder 6">
            <a:extLst>
              <a:ext uri="{FF2B5EF4-FFF2-40B4-BE49-F238E27FC236}">
                <a16:creationId xmlns:a16="http://schemas.microsoft.com/office/drawing/2014/main" id="{8FA6F1EC-F7C2-4665-9DDF-2E52290BFAAE}"/>
              </a:ext>
            </a:extLst>
          </p:cNvPr>
          <p:cNvSpPr>
            <a:spLocks noGrp="1"/>
          </p:cNvSpPr>
          <p:nvPr>
            <p:ph type="body" sz="quarter" idx="14"/>
          </p:nvPr>
        </p:nvSpPr>
        <p:spPr>
          <a:xfrm>
            <a:off x="341244" y="1623918"/>
            <a:ext cx="10760765" cy="4222078"/>
          </a:xfrm>
        </p:spPr>
        <p:txBody>
          <a:bodyPr anchor="t">
            <a:noAutofit/>
          </a:bodyPr>
          <a:lstStyle>
            <a:lvl1pPr algn="l">
              <a:defRPr sz="1800">
                <a:solidFill>
                  <a:srgbClr val="353638"/>
                </a:solidFill>
              </a:defRPr>
            </a:lvl1pPr>
            <a:lvl2pPr algn="l">
              <a:defRPr sz="1600">
                <a:solidFill>
                  <a:srgbClr val="353638"/>
                </a:solidFill>
              </a:defRPr>
            </a:lvl2pPr>
            <a:lvl3pPr algn="l">
              <a:defRPr sz="1400">
                <a:solidFill>
                  <a:srgbClr val="353638"/>
                </a:solidFill>
              </a:defRPr>
            </a:lvl3pPr>
            <a:lvl4pPr algn="l">
              <a:defRPr sz="1200">
                <a:solidFill>
                  <a:srgbClr val="353638"/>
                </a:solidFill>
              </a:defRPr>
            </a:lvl4pPr>
            <a:lvl5pPr algn="l">
              <a:defRPr sz="1200">
                <a:solidFill>
                  <a:srgbClr val="3536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248219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F63E014-1321-48E9-B52A-FB0C6219386D}"/>
              </a:ext>
            </a:extLst>
          </p:cNvPr>
          <p:cNvSpPr/>
          <p:nvPr userDrawn="1"/>
        </p:nvSpPr>
        <p:spPr>
          <a:xfrm>
            <a:off x="0" y="1583267"/>
            <a:ext cx="3167795" cy="52681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Oval 17">
            <a:extLst>
              <a:ext uri="{FF2B5EF4-FFF2-40B4-BE49-F238E27FC236}">
                <a16:creationId xmlns:a16="http://schemas.microsoft.com/office/drawing/2014/main" id="{7E9408FB-A5AE-4EEB-950E-702672377409}"/>
              </a:ext>
            </a:extLst>
          </p:cNvPr>
          <p:cNvSpPr/>
          <p:nvPr userDrawn="1"/>
        </p:nvSpPr>
        <p:spPr>
          <a:xfrm>
            <a:off x="509900" y="3546662"/>
            <a:ext cx="3167795" cy="3015876"/>
          </a:xfrm>
          <a:prstGeom prst="ellipse">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Rectangle 14">
            <a:extLst>
              <a:ext uri="{FF2B5EF4-FFF2-40B4-BE49-F238E27FC236}">
                <a16:creationId xmlns:a16="http://schemas.microsoft.com/office/drawing/2014/main" id="{9D348D8E-0493-4EF1-B782-5EE808C27BA7}"/>
              </a:ext>
            </a:extLst>
          </p:cNvPr>
          <p:cNvSpPr/>
          <p:nvPr userDrawn="1"/>
        </p:nvSpPr>
        <p:spPr>
          <a:xfrm>
            <a:off x="10456333" y="1"/>
            <a:ext cx="1735666" cy="55352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A57BFD46-59E1-4F55-AC46-F453E1B06B67}"/>
              </a:ext>
            </a:extLst>
          </p:cNvPr>
          <p:cNvSpPr>
            <a:spLocks noGrp="1"/>
          </p:cNvSpPr>
          <p:nvPr>
            <p:ph type="title" hasCustomPrompt="1"/>
          </p:nvPr>
        </p:nvSpPr>
        <p:spPr>
          <a:xfrm rot="5400000">
            <a:off x="9527124" y="1853679"/>
            <a:ext cx="3681241" cy="840691"/>
          </a:xfrm>
        </p:spPr>
        <p:txBody>
          <a:bodyPr>
            <a:noAutofit/>
          </a:bodyPr>
          <a:lstStyle>
            <a:lvl1pPr>
              <a:defRPr sz="5400">
                <a:solidFill>
                  <a:srgbClr val="EFEFEF"/>
                </a:solidFill>
              </a:defRPr>
            </a:lvl1pPr>
          </a:lstStyle>
          <a:p>
            <a:r>
              <a:rPr lang="en-US" dirty="0"/>
              <a:t>about us</a:t>
            </a:r>
            <a:endParaRPr lang="en-ID" dirty="0"/>
          </a:p>
        </p:txBody>
      </p:sp>
      <p:sp>
        <p:nvSpPr>
          <p:cNvPr id="3" name="Date Placeholder 2">
            <a:extLst>
              <a:ext uri="{FF2B5EF4-FFF2-40B4-BE49-F238E27FC236}">
                <a16:creationId xmlns:a16="http://schemas.microsoft.com/office/drawing/2014/main" id="{21C66221-AADF-4726-9FA1-2CB4F0C22E22}"/>
              </a:ext>
            </a:extLst>
          </p:cNvPr>
          <p:cNvSpPr>
            <a:spLocks noGrp="1"/>
          </p:cNvSpPr>
          <p:nvPr>
            <p:ph type="dt" sz="half" idx="10"/>
          </p:nvPr>
        </p:nvSpPr>
        <p:spPr>
          <a:xfrm>
            <a:off x="8382110" y="6356350"/>
            <a:ext cx="2743200" cy="365125"/>
          </a:xfrm>
        </p:spPr>
        <p:txBody>
          <a:bodyPr/>
          <a:lstStyle/>
          <a:p>
            <a:fld id="{79AA9DB5-A1F6-4624-970D-0BADA959D4A3}" type="datetimeFigureOut">
              <a:rPr lang="en-ID" smtClean="0"/>
              <a:t>16/08/2026</a:t>
            </a:fld>
            <a:endParaRPr lang="en-ID"/>
          </a:p>
        </p:txBody>
      </p:sp>
      <p:sp>
        <p:nvSpPr>
          <p:cNvPr id="4" name="Footer Placeholder 3">
            <a:extLst>
              <a:ext uri="{FF2B5EF4-FFF2-40B4-BE49-F238E27FC236}">
                <a16:creationId xmlns:a16="http://schemas.microsoft.com/office/drawing/2014/main" id="{7B8143C5-1D4B-46C8-A783-9D7353BCCBDE}"/>
              </a:ext>
            </a:extLst>
          </p:cNvPr>
          <p:cNvSpPr>
            <a:spLocks noGrp="1"/>
          </p:cNvSpPr>
          <p:nvPr>
            <p:ph type="ftr" sz="quarter" idx="11"/>
          </p:nvPr>
        </p:nvSpPr>
        <p:spPr>
          <a:xfrm>
            <a:off x="4187596" y="6356350"/>
            <a:ext cx="4114800" cy="365125"/>
          </a:xfrm>
        </p:spPr>
        <p:txBody>
          <a:bodyPr/>
          <a:lstStyle/>
          <a:p>
            <a:endParaRPr lang="en-ID" dirty="0"/>
          </a:p>
        </p:txBody>
      </p:sp>
      <p:sp>
        <p:nvSpPr>
          <p:cNvPr id="5" name="Slide Number Placeholder 4">
            <a:extLst>
              <a:ext uri="{FF2B5EF4-FFF2-40B4-BE49-F238E27FC236}">
                <a16:creationId xmlns:a16="http://schemas.microsoft.com/office/drawing/2014/main" id="{61DB84BE-8FE3-4C31-9AE1-41C645ACE5D2}"/>
              </a:ext>
            </a:extLst>
          </p:cNvPr>
          <p:cNvSpPr>
            <a:spLocks noGrp="1"/>
          </p:cNvSpPr>
          <p:nvPr>
            <p:ph type="sldNum" sz="quarter" idx="12"/>
          </p:nvPr>
        </p:nvSpPr>
        <p:spPr>
          <a:xfrm>
            <a:off x="9024206" y="6356350"/>
            <a:ext cx="2743200" cy="365125"/>
          </a:xfrm>
        </p:spPr>
        <p:txBody>
          <a:bodyPr/>
          <a:lstStyle/>
          <a:p>
            <a:fld id="{356B735F-8457-406A-A744-FC5DA5F22371}" type="slidenum">
              <a:rPr lang="en-ID" smtClean="0"/>
              <a:t>‹#›</a:t>
            </a:fld>
            <a:endParaRPr lang="en-ID"/>
          </a:p>
        </p:txBody>
      </p:sp>
      <p:sp>
        <p:nvSpPr>
          <p:cNvPr id="10" name="Picture Placeholder 2">
            <a:extLst>
              <a:ext uri="{FF2B5EF4-FFF2-40B4-BE49-F238E27FC236}">
                <a16:creationId xmlns:a16="http://schemas.microsoft.com/office/drawing/2014/main" id="{DB9D8F12-25F7-426A-B193-60FF98B29507}"/>
              </a:ext>
            </a:extLst>
          </p:cNvPr>
          <p:cNvSpPr>
            <a:spLocks noGrp="1"/>
          </p:cNvSpPr>
          <p:nvPr>
            <p:ph type="pic" idx="1"/>
          </p:nvPr>
        </p:nvSpPr>
        <p:spPr>
          <a:xfrm>
            <a:off x="1664825" y="2472112"/>
            <a:ext cx="3005939" cy="3015876"/>
          </a:xfrm>
          <a:prstGeom prst="rect">
            <a:avLst/>
          </a:prstGeom>
          <a:ln w="76200">
            <a:noFill/>
          </a:ln>
        </p:spPr>
        <p:txBody>
          <a:bodyPr anchor="t">
            <a:normAutofit/>
          </a:bodyPr>
          <a:lstStyle>
            <a:lvl1pPr marL="0" indent="0" algn="ctr">
              <a:buNone/>
              <a:defRPr sz="1200">
                <a:solidFill>
                  <a:srgbClr val="63685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D" dirty="0"/>
          </a:p>
        </p:txBody>
      </p:sp>
      <p:sp>
        <p:nvSpPr>
          <p:cNvPr id="13" name="Text Placeholder 3">
            <a:extLst>
              <a:ext uri="{FF2B5EF4-FFF2-40B4-BE49-F238E27FC236}">
                <a16:creationId xmlns:a16="http://schemas.microsoft.com/office/drawing/2014/main" id="{479000F2-C3BD-4EE0-A686-60147953BF76}"/>
              </a:ext>
            </a:extLst>
          </p:cNvPr>
          <p:cNvSpPr>
            <a:spLocks noGrp="1"/>
          </p:cNvSpPr>
          <p:nvPr>
            <p:ph type="body" sz="half" idx="2"/>
          </p:nvPr>
        </p:nvSpPr>
        <p:spPr>
          <a:xfrm>
            <a:off x="5342520" y="1193799"/>
            <a:ext cx="3876143" cy="3716867"/>
          </a:xfrm>
        </p:spPr>
        <p:txBody>
          <a:bodyPr/>
          <a:lstStyle>
            <a:lvl1pPr marL="0" indent="0" algn="just">
              <a:buNone/>
              <a:defRPr sz="1600">
                <a:solidFill>
                  <a:schemeClr val="tx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779229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stimonials">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9AF841DC-D574-4860-A54E-DCDF6F8E2BAC}"/>
              </a:ext>
            </a:extLst>
          </p:cNvPr>
          <p:cNvSpPr/>
          <p:nvPr userDrawn="1"/>
        </p:nvSpPr>
        <p:spPr>
          <a:xfrm>
            <a:off x="1105980" y="1389340"/>
            <a:ext cx="2376995" cy="2385080"/>
          </a:xfrm>
          <a:prstGeom prst="ellipse">
            <a:avLst/>
          </a:prstGeom>
          <a:solidFill>
            <a:srgbClr val="35363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1" name="Rectangle 10">
            <a:extLst>
              <a:ext uri="{FF2B5EF4-FFF2-40B4-BE49-F238E27FC236}">
                <a16:creationId xmlns:a16="http://schemas.microsoft.com/office/drawing/2014/main" id="{33488F14-0336-4CEB-B7E2-A0890AA0CF56}"/>
              </a:ext>
            </a:extLst>
          </p:cNvPr>
          <p:cNvSpPr/>
          <p:nvPr userDrawn="1"/>
        </p:nvSpPr>
        <p:spPr>
          <a:xfrm>
            <a:off x="2544233" y="873125"/>
            <a:ext cx="3886200" cy="505036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itle 1">
            <a:extLst>
              <a:ext uri="{FF2B5EF4-FFF2-40B4-BE49-F238E27FC236}">
                <a16:creationId xmlns:a16="http://schemas.microsoft.com/office/drawing/2014/main" id="{91C4C43F-DBE5-4AEA-9C3F-8E3539CAF2B5}"/>
              </a:ext>
            </a:extLst>
          </p:cNvPr>
          <p:cNvSpPr>
            <a:spLocks noGrp="1"/>
          </p:cNvSpPr>
          <p:nvPr>
            <p:ph type="title" hasCustomPrompt="1"/>
          </p:nvPr>
        </p:nvSpPr>
        <p:spPr>
          <a:xfrm rot="16200000">
            <a:off x="-1311997" y="3340966"/>
            <a:ext cx="4705205" cy="1325563"/>
          </a:xfrm>
        </p:spPr>
        <p:txBody>
          <a:bodyPr/>
          <a:lstStyle>
            <a:lvl1pPr algn="l">
              <a:defRPr sz="6600">
                <a:solidFill>
                  <a:schemeClr val="tx1">
                    <a:lumMod val="75000"/>
                  </a:schemeClr>
                </a:solidFill>
              </a:defRPr>
            </a:lvl1pPr>
          </a:lstStyle>
          <a:p>
            <a:r>
              <a:rPr lang="en-US" dirty="0"/>
              <a:t>heading</a:t>
            </a:r>
            <a:endParaRPr lang="en-ID" dirty="0"/>
          </a:p>
        </p:txBody>
      </p:sp>
      <p:sp>
        <p:nvSpPr>
          <p:cNvPr id="6" name="Date Placeholder 5">
            <a:extLst>
              <a:ext uri="{FF2B5EF4-FFF2-40B4-BE49-F238E27FC236}">
                <a16:creationId xmlns:a16="http://schemas.microsoft.com/office/drawing/2014/main" id="{857D6B8C-279B-491D-A3BC-1A71497183D1}"/>
              </a:ext>
            </a:extLst>
          </p:cNvPr>
          <p:cNvSpPr>
            <a:spLocks noGrp="1"/>
          </p:cNvSpPr>
          <p:nvPr>
            <p:ph type="dt" sz="half" idx="10"/>
          </p:nvPr>
        </p:nvSpPr>
        <p:spPr/>
        <p:txBody>
          <a:bodyPr/>
          <a:lstStyle/>
          <a:p>
            <a:fld id="{79AA9DB5-A1F6-4624-970D-0BADA959D4A3}" type="datetimeFigureOut">
              <a:rPr lang="en-ID" smtClean="0"/>
              <a:t>16/08/2026</a:t>
            </a:fld>
            <a:endParaRPr lang="en-ID"/>
          </a:p>
        </p:txBody>
      </p:sp>
      <p:sp>
        <p:nvSpPr>
          <p:cNvPr id="7" name="Footer Placeholder 6">
            <a:extLst>
              <a:ext uri="{FF2B5EF4-FFF2-40B4-BE49-F238E27FC236}">
                <a16:creationId xmlns:a16="http://schemas.microsoft.com/office/drawing/2014/main" id="{C955452E-2FAF-4D88-880B-0CDDE3FD2A75}"/>
              </a:ext>
            </a:extLst>
          </p:cNvPr>
          <p:cNvSpPr>
            <a:spLocks noGrp="1"/>
          </p:cNvSpPr>
          <p:nvPr>
            <p:ph type="ftr" sz="quarter" idx="11"/>
          </p:nvPr>
        </p:nvSpPr>
        <p:spPr/>
        <p:txBody>
          <a:bodyPr/>
          <a:lstStyle/>
          <a:p>
            <a:endParaRPr lang="en-ID"/>
          </a:p>
        </p:txBody>
      </p:sp>
      <p:sp>
        <p:nvSpPr>
          <p:cNvPr id="8" name="Slide Number Placeholder 7">
            <a:extLst>
              <a:ext uri="{FF2B5EF4-FFF2-40B4-BE49-F238E27FC236}">
                <a16:creationId xmlns:a16="http://schemas.microsoft.com/office/drawing/2014/main" id="{3129B176-3BD8-48FB-A73F-E819CB2ECB2D}"/>
              </a:ext>
            </a:extLst>
          </p:cNvPr>
          <p:cNvSpPr>
            <a:spLocks noGrp="1"/>
          </p:cNvSpPr>
          <p:nvPr>
            <p:ph type="sldNum" sz="quarter" idx="12"/>
          </p:nvPr>
        </p:nvSpPr>
        <p:spPr/>
        <p:txBody>
          <a:bodyPr/>
          <a:lstStyle/>
          <a:p>
            <a:fld id="{356B735F-8457-406A-A744-FC5DA5F22371}" type="slidenum">
              <a:rPr lang="en-ID" smtClean="0"/>
              <a:t>‹#›</a:t>
            </a:fld>
            <a:endParaRPr lang="en-ID"/>
          </a:p>
        </p:txBody>
      </p:sp>
      <p:sp>
        <p:nvSpPr>
          <p:cNvPr id="10" name="Text Placeholder 9">
            <a:extLst>
              <a:ext uri="{FF2B5EF4-FFF2-40B4-BE49-F238E27FC236}">
                <a16:creationId xmlns:a16="http://schemas.microsoft.com/office/drawing/2014/main" id="{3C6AC282-F079-475F-BD8B-2496927CC0E6}"/>
              </a:ext>
            </a:extLst>
          </p:cNvPr>
          <p:cNvSpPr>
            <a:spLocks noGrp="1"/>
          </p:cNvSpPr>
          <p:nvPr>
            <p:ph type="body" sz="quarter" idx="13"/>
          </p:nvPr>
        </p:nvSpPr>
        <p:spPr>
          <a:xfrm>
            <a:off x="2900363" y="1262592"/>
            <a:ext cx="3292475" cy="4296833"/>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dirty="0"/>
          </a:p>
        </p:txBody>
      </p:sp>
      <p:sp>
        <p:nvSpPr>
          <p:cNvPr id="9" name="Rectangle 8">
            <a:extLst>
              <a:ext uri="{FF2B5EF4-FFF2-40B4-BE49-F238E27FC236}">
                <a16:creationId xmlns:a16="http://schemas.microsoft.com/office/drawing/2014/main" id="{AA72AC95-6CBE-4235-A692-1840BBD3E6B0}"/>
              </a:ext>
            </a:extLst>
          </p:cNvPr>
          <p:cNvSpPr/>
          <p:nvPr userDrawn="1"/>
        </p:nvSpPr>
        <p:spPr>
          <a:xfrm>
            <a:off x="6929945" y="873125"/>
            <a:ext cx="3886200" cy="50503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Text Placeholder 9">
            <a:extLst>
              <a:ext uri="{FF2B5EF4-FFF2-40B4-BE49-F238E27FC236}">
                <a16:creationId xmlns:a16="http://schemas.microsoft.com/office/drawing/2014/main" id="{4EFE4270-4E02-42BA-84A0-06536195F374}"/>
              </a:ext>
            </a:extLst>
          </p:cNvPr>
          <p:cNvSpPr>
            <a:spLocks noGrp="1"/>
          </p:cNvSpPr>
          <p:nvPr>
            <p:ph type="body" sz="quarter" idx="14"/>
          </p:nvPr>
        </p:nvSpPr>
        <p:spPr>
          <a:xfrm>
            <a:off x="7269141" y="1262592"/>
            <a:ext cx="3292475" cy="4296833"/>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dirty="0"/>
          </a:p>
        </p:txBody>
      </p:sp>
      <p:sp>
        <p:nvSpPr>
          <p:cNvPr id="4" name="Rectangle 3">
            <a:extLst>
              <a:ext uri="{FF2B5EF4-FFF2-40B4-BE49-F238E27FC236}">
                <a16:creationId xmlns:a16="http://schemas.microsoft.com/office/drawing/2014/main" id="{81EE017B-1E6F-4206-BCBD-97EAC2046E15}"/>
              </a:ext>
            </a:extLst>
          </p:cNvPr>
          <p:cNvSpPr/>
          <p:nvPr userDrawn="1"/>
        </p:nvSpPr>
        <p:spPr>
          <a:xfrm>
            <a:off x="9647767" y="4941358"/>
            <a:ext cx="2544233" cy="161925"/>
          </a:xfrm>
          <a:prstGeom prst="rect">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315117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F9AFA-F1A4-4219-979B-6CECB1B293EF}"/>
              </a:ext>
            </a:extLst>
          </p:cNvPr>
          <p:cNvSpPr>
            <a:spLocks noGrp="1"/>
          </p:cNvSpPr>
          <p:nvPr>
            <p:ph type="title" hasCustomPrompt="1"/>
          </p:nvPr>
        </p:nvSpPr>
        <p:spPr>
          <a:xfrm>
            <a:off x="7523922" y="3429000"/>
            <a:ext cx="3823528" cy="1645189"/>
          </a:xfrm>
        </p:spPr>
        <p:txBody>
          <a:bodyPr anchor="b"/>
          <a:lstStyle>
            <a:lvl1pPr>
              <a:defRPr sz="6000">
                <a:solidFill>
                  <a:schemeClr val="tx1">
                    <a:lumMod val="75000"/>
                  </a:schemeClr>
                </a:solidFill>
              </a:defRPr>
            </a:lvl1pPr>
          </a:lstStyle>
          <a:p>
            <a:r>
              <a:rPr lang="en-US" dirty="0"/>
              <a:t>section one</a:t>
            </a:r>
            <a:endParaRPr lang="en-ID" dirty="0"/>
          </a:p>
        </p:txBody>
      </p:sp>
      <p:sp>
        <p:nvSpPr>
          <p:cNvPr id="3" name="Text Placeholder 2">
            <a:extLst>
              <a:ext uri="{FF2B5EF4-FFF2-40B4-BE49-F238E27FC236}">
                <a16:creationId xmlns:a16="http://schemas.microsoft.com/office/drawing/2014/main" id="{F350B6C0-F851-4755-8DFC-C25496DDE406}"/>
              </a:ext>
            </a:extLst>
          </p:cNvPr>
          <p:cNvSpPr>
            <a:spLocks noGrp="1"/>
          </p:cNvSpPr>
          <p:nvPr>
            <p:ph type="body" idx="1" hasCustomPrompt="1"/>
          </p:nvPr>
        </p:nvSpPr>
        <p:spPr>
          <a:xfrm>
            <a:off x="7523922" y="5101177"/>
            <a:ext cx="3823528" cy="548145"/>
          </a:xfrm>
        </p:spPr>
        <p:txBody>
          <a:bodyPr/>
          <a:lstStyle>
            <a:lvl1pPr marL="0" indent="0">
              <a:buNone/>
              <a:defRPr sz="2400">
                <a:solidFill>
                  <a:srgbClr val="76838B"/>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subtitle</a:t>
            </a:r>
          </a:p>
        </p:txBody>
      </p:sp>
      <p:sp>
        <p:nvSpPr>
          <p:cNvPr id="4" name="Date Placeholder 3">
            <a:extLst>
              <a:ext uri="{FF2B5EF4-FFF2-40B4-BE49-F238E27FC236}">
                <a16:creationId xmlns:a16="http://schemas.microsoft.com/office/drawing/2014/main" id="{E81DE03B-7B5E-468E-A317-7B5F0B33C537}"/>
              </a:ext>
            </a:extLst>
          </p:cNvPr>
          <p:cNvSpPr>
            <a:spLocks noGrp="1"/>
          </p:cNvSpPr>
          <p:nvPr>
            <p:ph type="dt" sz="half" idx="10"/>
          </p:nvPr>
        </p:nvSpPr>
        <p:spPr/>
        <p:txBody>
          <a:bodyPr/>
          <a:lstStyle>
            <a:lvl1pPr>
              <a:defRPr>
                <a:solidFill>
                  <a:srgbClr val="636852"/>
                </a:solidFill>
              </a:defRPr>
            </a:lvl1pPr>
          </a:lstStyle>
          <a:p>
            <a:fld id="{79AA9DB5-A1F6-4624-970D-0BADA959D4A3}" type="datetimeFigureOut">
              <a:rPr lang="en-ID" smtClean="0"/>
              <a:pPr/>
              <a:t>16/08/2026</a:t>
            </a:fld>
            <a:endParaRPr lang="en-ID" dirty="0"/>
          </a:p>
        </p:txBody>
      </p:sp>
      <p:sp>
        <p:nvSpPr>
          <p:cNvPr id="5" name="Footer Placeholder 4">
            <a:extLst>
              <a:ext uri="{FF2B5EF4-FFF2-40B4-BE49-F238E27FC236}">
                <a16:creationId xmlns:a16="http://schemas.microsoft.com/office/drawing/2014/main" id="{A8F3C55C-16DA-450F-AED0-FF4EEBF3BA37}"/>
              </a:ext>
            </a:extLst>
          </p:cNvPr>
          <p:cNvSpPr>
            <a:spLocks noGrp="1"/>
          </p:cNvSpPr>
          <p:nvPr>
            <p:ph type="ftr" sz="quarter" idx="11"/>
          </p:nvPr>
        </p:nvSpPr>
        <p:spPr/>
        <p:txBody>
          <a:bodyPr/>
          <a:lstStyle>
            <a:lvl1pPr>
              <a:defRPr>
                <a:solidFill>
                  <a:srgbClr val="636852"/>
                </a:solidFill>
              </a:defRPr>
            </a:lvl1pPr>
          </a:lstStyle>
          <a:p>
            <a:endParaRPr lang="en-ID">
              <a:solidFill>
                <a:srgbClr val="636852"/>
              </a:solidFill>
            </a:endParaRPr>
          </a:p>
        </p:txBody>
      </p:sp>
      <p:sp>
        <p:nvSpPr>
          <p:cNvPr id="6" name="Slide Number Placeholder 5">
            <a:extLst>
              <a:ext uri="{FF2B5EF4-FFF2-40B4-BE49-F238E27FC236}">
                <a16:creationId xmlns:a16="http://schemas.microsoft.com/office/drawing/2014/main" id="{5A3D4842-8D05-4CC8-A307-EDD41A31844F}"/>
              </a:ext>
            </a:extLst>
          </p:cNvPr>
          <p:cNvSpPr>
            <a:spLocks noGrp="1"/>
          </p:cNvSpPr>
          <p:nvPr>
            <p:ph type="sldNum" sz="quarter" idx="12"/>
          </p:nvPr>
        </p:nvSpPr>
        <p:spPr/>
        <p:txBody>
          <a:bodyPr/>
          <a:lstStyle>
            <a:lvl1pPr>
              <a:defRPr>
                <a:solidFill>
                  <a:srgbClr val="636852"/>
                </a:solidFill>
              </a:defRPr>
            </a:lvl1pPr>
          </a:lstStyle>
          <a:p>
            <a:fld id="{356B735F-8457-406A-A744-FC5DA5F22371}" type="slidenum">
              <a:rPr lang="en-ID" smtClean="0"/>
              <a:pPr/>
              <a:t>‹#›</a:t>
            </a:fld>
            <a:endParaRPr lang="en-ID"/>
          </a:p>
        </p:txBody>
      </p:sp>
      <p:sp>
        <p:nvSpPr>
          <p:cNvPr id="11" name="Rectangle 10">
            <a:extLst>
              <a:ext uri="{FF2B5EF4-FFF2-40B4-BE49-F238E27FC236}">
                <a16:creationId xmlns:a16="http://schemas.microsoft.com/office/drawing/2014/main" id="{46E026D4-5A09-4BF1-92DC-7B7C5907F5F4}"/>
              </a:ext>
            </a:extLst>
          </p:cNvPr>
          <p:cNvSpPr/>
          <p:nvPr userDrawn="1"/>
        </p:nvSpPr>
        <p:spPr>
          <a:xfrm>
            <a:off x="2641602" y="0"/>
            <a:ext cx="1346200" cy="52681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Oval 11">
            <a:extLst>
              <a:ext uri="{FF2B5EF4-FFF2-40B4-BE49-F238E27FC236}">
                <a16:creationId xmlns:a16="http://schemas.microsoft.com/office/drawing/2014/main" id="{6FB9FB54-2CFF-4F2A-8435-00E9AC2BAB52}"/>
              </a:ext>
            </a:extLst>
          </p:cNvPr>
          <p:cNvSpPr/>
          <p:nvPr userDrawn="1"/>
        </p:nvSpPr>
        <p:spPr>
          <a:xfrm>
            <a:off x="3133142" y="1481495"/>
            <a:ext cx="2226259" cy="2119494"/>
          </a:xfrm>
          <a:prstGeom prst="ellipse">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Text Placeholder 7">
            <a:extLst>
              <a:ext uri="{FF2B5EF4-FFF2-40B4-BE49-F238E27FC236}">
                <a16:creationId xmlns:a16="http://schemas.microsoft.com/office/drawing/2014/main" id="{AD891652-7A20-4E89-A6F3-F4466C0F1244}"/>
              </a:ext>
            </a:extLst>
          </p:cNvPr>
          <p:cNvSpPr>
            <a:spLocks noGrp="1"/>
          </p:cNvSpPr>
          <p:nvPr>
            <p:ph type="body" sz="quarter" idx="13" hasCustomPrompt="1"/>
          </p:nvPr>
        </p:nvSpPr>
        <p:spPr>
          <a:xfrm>
            <a:off x="4479342" y="2888186"/>
            <a:ext cx="1600201" cy="1081627"/>
          </a:xfrm>
        </p:spPr>
        <p:txBody>
          <a:bodyPr>
            <a:noAutofit/>
          </a:bodyPr>
          <a:lstStyle>
            <a:lvl1pPr>
              <a:buNone/>
              <a:defRPr sz="7200">
                <a:latin typeface="+mj-lt"/>
              </a:defRPr>
            </a:lvl1pPr>
          </a:lstStyle>
          <a:p>
            <a:pPr lvl="0"/>
            <a:r>
              <a:rPr lang="en-US" dirty="0"/>
              <a:t>01.</a:t>
            </a:r>
            <a:endParaRPr lang="en-ID" dirty="0"/>
          </a:p>
        </p:txBody>
      </p:sp>
    </p:spTree>
    <p:extLst>
      <p:ext uri="{BB962C8B-B14F-4D97-AF65-F5344CB8AC3E}">
        <p14:creationId xmlns:p14="http://schemas.microsoft.com/office/powerpoint/2010/main" val="383850713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A733045-AE48-4203-B7B6-A2CEF026459C}"/>
              </a:ext>
            </a:extLst>
          </p:cNvPr>
          <p:cNvSpPr/>
          <p:nvPr userDrawn="1"/>
        </p:nvSpPr>
        <p:spPr>
          <a:xfrm>
            <a:off x="9667874" y="1005191"/>
            <a:ext cx="2524125" cy="5050367"/>
          </a:xfrm>
          <a:prstGeom prst="rect">
            <a:avLst/>
          </a:prstGeom>
          <a:solidFill>
            <a:srgbClr val="656A5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 name="Content Placeholder 2">
            <a:extLst>
              <a:ext uri="{FF2B5EF4-FFF2-40B4-BE49-F238E27FC236}">
                <a16:creationId xmlns:a16="http://schemas.microsoft.com/office/drawing/2014/main" id="{42C2D448-C2E1-4A6B-A6C4-73B446CAC706}"/>
              </a:ext>
            </a:extLst>
          </p:cNvPr>
          <p:cNvSpPr>
            <a:spLocks noGrp="1"/>
          </p:cNvSpPr>
          <p:nvPr>
            <p:ph idx="1" hasCustomPrompt="1"/>
          </p:nvPr>
        </p:nvSpPr>
        <p:spPr>
          <a:xfrm>
            <a:off x="1500982" y="576471"/>
            <a:ext cx="7474054" cy="5050366"/>
          </a:xfrm>
        </p:spPr>
        <p:txBody>
          <a:bodyPr/>
          <a:lstStyle>
            <a:lvl1pPr>
              <a:defRPr>
                <a:solidFill>
                  <a:schemeClr val="tx1">
                    <a:lumMod val="75000"/>
                  </a:schemeClr>
                </a:solidFill>
                <a:latin typeface="+mn-lt"/>
              </a:defRPr>
            </a:lvl1pPr>
            <a:lvl2pPr>
              <a:defRPr>
                <a:solidFill>
                  <a:schemeClr val="tx1">
                    <a:lumMod val="75000"/>
                  </a:schemeClr>
                </a:solidFill>
                <a:latin typeface="+mn-lt"/>
              </a:defRPr>
            </a:lvl2pPr>
            <a:lvl3pPr>
              <a:defRPr>
                <a:solidFill>
                  <a:schemeClr val="tx1">
                    <a:lumMod val="75000"/>
                  </a:schemeClr>
                </a:solidFill>
                <a:latin typeface="+mn-lt"/>
              </a:defRPr>
            </a:lvl3pPr>
            <a:lvl4pPr>
              <a:defRPr>
                <a:solidFill>
                  <a:schemeClr val="tx1">
                    <a:lumMod val="75000"/>
                  </a:schemeClr>
                </a:solidFill>
                <a:latin typeface="+mn-lt"/>
              </a:defRPr>
            </a:lvl4pPr>
            <a:lvl5pPr>
              <a:defRPr>
                <a:solidFill>
                  <a:schemeClr val="tx1">
                    <a:lumMod val="75000"/>
                  </a:schemeClr>
                </a:solidFill>
                <a:latin typeface="+mn-lt"/>
              </a:defRPr>
            </a:lvl5pPr>
          </a:lstStyle>
          <a:p>
            <a:pPr lvl="0"/>
            <a:r>
              <a:rPr lang="en-US" dirty="0"/>
              <a:t>Pointers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4" name="Date Placeholder 3">
            <a:extLst>
              <a:ext uri="{FF2B5EF4-FFF2-40B4-BE49-F238E27FC236}">
                <a16:creationId xmlns:a16="http://schemas.microsoft.com/office/drawing/2014/main" id="{DFF1C679-03E4-4643-B26D-F3D99C7898F8}"/>
              </a:ext>
            </a:extLst>
          </p:cNvPr>
          <p:cNvSpPr>
            <a:spLocks noGrp="1"/>
          </p:cNvSpPr>
          <p:nvPr>
            <p:ph type="dt" sz="half" idx="10"/>
          </p:nvPr>
        </p:nvSpPr>
        <p:spPr/>
        <p:txBody>
          <a:bodyPr/>
          <a:lstStyle>
            <a:lvl1pPr>
              <a:defRPr>
                <a:solidFill>
                  <a:srgbClr val="636852"/>
                </a:solidFill>
                <a:latin typeface="Playfair Display" panose="00000500000000000000" pitchFamily="2" charset="0"/>
              </a:defRPr>
            </a:lvl1pPr>
          </a:lstStyle>
          <a:p>
            <a:fld id="{79AA9DB5-A1F6-4624-970D-0BADA959D4A3}" type="datetimeFigureOut">
              <a:rPr lang="en-ID" smtClean="0"/>
              <a:pPr/>
              <a:t>16/08/2026</a:t>
            </a:fld>
            <a:endParaRPr lang="en-ID" dirty="0"/>
          </a:p>
        </p:txBody>
      </p:sp>
      <p:sp>
        <p:nvSpPr>
          <p:cNvPr id="5" name="Footer Placeholder 4">
            <a:extLst>
              <a:ext uri="{FF2B5EF4-FFF2-40B4-BE49-F238E27FC236}">
                <a16:creationId xmlns:a16="http://schemas.microsoft.com/office/drawing/2014/main" id="{9C8BC614-E49F-441E-974F-448840036121}"/>
              </a:ext>
            </a:extLst>
          </p:cNvPr>
          <p:cNvSpPr>
            <a:spLocks noGrp="1"/>
          </p:cNvSpPr>
          <p:nvPr>
            <p:ph type="ftr" sz="quarter" idx="11"/>
          </p:nvPr>
        </p:nvSpPr>
        <p:spPr/>
        <p:txBody>
          <a:bodyPr/>
          <a:lstStyle>
            <a:lvl1pPr>
              <a:defRPr>
                <a:solidFill>
                  <a:srgbClr val="636852"/>
                </a:solidFill>
              </a:defRPr>
            </a:lvl1pPr>
          </a:lstStyle>
          <a:p>
            <a:endParaRPr lang="en-ID" dirty="0">
              <a:solidFill>
                <a:srgbClr val="636852"/>
              </a:solidFill>
            </a:endParaRPr>
          </a:p>
        </p:txBody>
      </p:sp>
      <p:sp>
        <p:nvSpPr>
          <p:cNvPr id="6" name="Slide Number Placeholder 5">
            <a:extLst>
              <a:ext uri="{FF2B5EF4-FFF2-40B4-BE49-F238E27FC236}">
                <a16:creationId xmlns:a16="http://schemas.microsoft.com/office/drawing/2014/main" id="{0AA91D14-5274-4886-B3C8-4071E75F8F73}"/>
              </a:ext>
            </a:extLst>
          </p:cNvPr>
          <p:cNvSpPr>
            <a:spLocks noGrp="1"/>
          </p:cNvSpPr>
          <p:nvPr>
            <p:ph type="sldNum" sz="quarter" idx="12"/>
          </p:nvPr>
        </p:nvSpPr>
        <p:spPr/>
        <p:txBody>
          <a:bodyPr/>
          <a:lstStyle>
            <a:lvl1pPr>
              <a:defRPr>
                <a:solidFill>
                  <a:srgbClr val="636852"/>
                </a:solidFill>
              </a:defRPr>
            </a:lvl1pPr>
          </a:lstStyle>
          <a:p>
            <a:fld id="{356B735F-8457-406A-A744-FC5DA5F22371}" type="slidenum">
              <a:rPr lang="en-ID" smtClean="0"/>
              <a:pPr/>
              <a:t>‹#›</a:t>
            </a:fld>
            <a:endParaRPr lang="en-ID"/>
          </a:p>
        </p:txBody>
      </p:sp>
      <p:sp>
        <p:nvSpPr>
          <p:cNvPr id="2" name="Title 1">
            <a:extLst>
              <a:ext uri="{FF2B5EF4-FFF2-40B4-BE49-F238E27FC236}">
                <a16:creationId xmlns:a16="http://schemas.microsoft.com/office/drawing/2014/main" id="{96B971A7-BCA4-40C3-A04E-80F58FC23AC0}"/>
              </a:ext>
            </a:extLst>
          </p:cNvPr>
          <p:cNvSpPr>
            <a:spLocks noGrp="1"/>
          </p:cNvSpPr>
          <p:nvPr>
            <p:ph type="title" hasCustomPrompt="1"/>
          </p:nvPr>
        </p:nvSpPr>
        <p:spPr>
          <a:xfrm rot="16200000">
            <a:off x="-2416728" y="2803765"/>
            <a:ext cx="6509855" cy="1325563"/>
          </a:xfrm>
        </p:spPr>
        <p:txBody>
          <a:bodyPr/>
          <a:lstStyle>
            <a:lvl1pPr algn="ctr">
              <a:defRPr sz="6600">
                <a:solidFill>
                  <a:schemeClr val="tx1">
                    <a:lumMod val="75000"/>
                  </a:schemeClr>
                </a:solidFill>
                <a:latin typeface="+mj-lt"/>
              </a:defRPr>
            </a:lvl1pPr>
          </a:lstStyle>
          <a:p>
            <a:r>
              <a:rPr lang="en-US" dirty="0"/>
              <a:t>headlines</a:t>
            </a:r>
            <a:endParaRPr lang="en-ID" dirty="0"/>
          </a:p>
        </p:txBody>
      </p:sp>
    </p:spTree>
    <p:extLst>
      <p:ext uri="{BB962C8B-B14F-4D97-AF65-F5344CB8AC3E}">
        <p14:creationId xmlns:p14="http://schemas.microsoft.com/office/powerpoint/2010/main" val="1853439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ph with Tex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FF1C679-03E4-4643-B26D-F3D99C7898F8}"/>
              </a:ext>
            </a:extLst>
          </p:cNvPr>
          <p:cNvSpPr>
            <a:spLocks noGrp="1"/>
          </p:cNvSpPr>
          <p:nvPr>
            <p:ph type="dt" sz="half" idx="10"/>
          </p:nvPr>
        </p:nvSpPr>
        <p:spPr/>
        <p:txBody>
          <a:bodyPr/>
          <a:lstStyle>
            <a:lvl1pPr>
              <a:defRPr>
                <a:solidFill>
                  <a:srgbClr val="636852"/>
                </a:solidFill>
                <a:latin typeface="Playfair Display" panose="00000500000000000000" pitchFamily="2" charset="0"/>
              </a:defRPr>
            </a:lvl1pPr>
          </a:lstStyle>
          <a:p>
            <a:fld id="{79AA9DB5-A1F6-4624-970D-0BADA959D4A3}" type="datetimeFigureOut">
              <a:rPr lang="en-ID" smtClean="0"/>
              <a:pPr/>
              <a:t>16/08/2026</a:t>
            </a:fld>
            <a:endParaRPr lang="en-ID" dirty="0"/>
          </a:p>
        </p:txBody>
      </p:sp>
      <p:sp>
        <p:nvSpPr>
          <p:cNvPr id="5" name="Footer Placeholder 4">
            <a:extLst>
              <a:ext uri="{FF2B5EF4-FFF2-40B4-BE49-F238E27FC236}">
                <a16:creationId xmlns:a16="http://schemas.microsoft.com/office/drawing/2014/main" id="{9C8BC614-E49F-441E-974F-448840036121}"/>
              </a:ext>
            </a:extLst>
          </p:cNvPr>
          <p:cNvSpPr>
            <a:spLocks noGrp="1"/>
          </p:cNvSpPr>
          <p:nvPr>
            <p:ph type="ftr" sz="quarter" idx="11"/>
          </p:nvPr>
        </p:nvSpPr>
        <p:spPr/>
        <p:txBody>
          <a:bodyPr/>
          <a:lstStyle>
            <a:lvl1pPr>
              <a:defRPr>
                <a:solidFill>
                  <a:srgbClr val="636852"/>
                </a:solidFill>
              </a:defRPr>
            </a:lvl1pPr>
          </a:lstStyle>
          <a:p>
            <a:endParaRPr lang="en-ID" dirty="0">
              <a:solidFill>
                <a:srgbClr val="636852"/>
              </a:solidFill>
            </a:endParaRPr>
          </a:p>
        </p:txBody>
      </p:sp>
      <p:sp>
        <p:nvSpPr>
          <p:cNvPr id="6" name="Slide Number Placeholder 5">
            <a:extLst>
              <a:ext uri="{FF2B5EF4-FFF2-40B4-BE49-F238E27FC236}">
                <a16:creationId xmlns:a16="http://schemas.microsoft.com/office/drawing/2014/main" id="{0AA91D14-5274-4886-B3C8-4071E75F8F73}"/>
              </a:ext>
            </a:extLst>
          </p:cNvPr>
          <p:cNvSpPr>
            <a:spLocks noGrp="1"/>
          </p:cNvSpPr>
          <p:nvPr>
            <p:ph type="sldNum" sz="quarter" idx="12"/>
          </p:nvPr>
        </p:nvSpPr>
        <p:spPr/>
        <p:txBody>
          <a:bodyPr/>
          <a:lstStyle>
            <a:lvl1pPr>
              <a:defRPr>
                <a:solidFill>
                  <a:srgbClr val="636852"/>
                </a:solidFill>
              </a:defRPr>
            </a:lvl1pPr>
          </a:lstStyle>
          <a:p>
            <a:fld id="{356B735F-8457-406A-A744-FC5DA5F22371}" type="slidenum">
              <a:rPr lang="en-ID" smtClean="0"/>
              <a:pPr/>
              <a:t>‹#›</a:t>
            </a:fld>
            <a:endParaRPr lang="en-ID"/>
          </a:p>
        </p:txBody>
      </p:sp>
      <p:sp>
        <p:nvSpPr>
          <p:cNvPr id="2" name="Title 1">
            <a:extLst>
              <a:ext uri="{FF2B5EF4-FFF2-40B4-BE49-F238E27FC236}">
                <a16:creationId xmlns:a16="http://schemas.microsoft.com/office/drawing/2014/main" id="{96B971A7-BCA4-40C3-A04E-80F58FC23AC0}"/>
              </a:ext>
            </a:extLst>
          </p:cNvPr>
          <p:cNvSpPr>
            <a:spLocks noGrp="1"/>
          </p:cNvSpPr>
          <p:nvPr>
            <p:ph type="title" hasCustomPrompt="1"/>
          </p:nvPr>
        </p:nvSpPr>
        <p:spPr>
          <a:xfrm>
            <a:off x="725078" y="604440"/>
            <a:ext cx="2856321" cy="1373447"/>
          </a:xfrm>
          <a:solidFill>
            <a:schemeClr val="bg2"/>
          </a:solidFill>
        </p:spPr>
        <p:txBody>
          <a:bodyPr>
            <a:noAutofit/>
          </a:bodyPr>
          <a:lstStyle>
            <a:lvl1pPr>
              <a:defRPr sz="5000" baseline="0">
                <a:solidFill>
                  <a:schemeClr val="tx1">
                    <a:lumMod val="75000"/>
                  </a:schemeClr>
                </a:solidFill>
                <a:latin typeface="+mj-lt"/>
              </a:defRPr>
            </a:lvl1pPr>
          </a:lstStyle>
          <a:p>
            <a:r>
              <a:rPr lang="en-US" dirty="0"/>
              <a:t>Title</a:t>
            </a:r>
            <a:endParaRPr lang="en-ID" dirty="0"/>
          </a:p>
        </p:txBody>
      </p:sp>
      <p:sp>
        <p:nvSpPr>
          <p:cNvPr id="8" name="Rectangle 7">
            <a:extLst>
              <a:ext uri="{FF2B5EF4-FFF2-40B4-BE49-F238E27FC236}">
                <a16:creationId xmlns:a16="http://schemas.microsoft.com/office/drawing/2014/main" id="{B2EEB17F-2A02-4B77-A3AA-8A73C43E030C}"/>
              </a:ext>
            </a:extLst>
          </p:cNvPr>
          <p:cNvSpPr/>
          <p:nvPr userDrawn="1"/>
        </p:nvSpPr>
        <p:spPr>
          <a:xfrm>
            <a:off x="11857038" y="1643061"/>
            <a:ext cx="334962" cy="3571875"/>
          </a:xfrm>
          <a:prstGeom prst="rect">
            <a:avLst/>
          </a:prstGeom>
          <a:solidFill>
            <a:srgbClr val="35363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0" name="Rectangle 9">
            <a:extLst>
              <a:ext uri="{FF2B5EF4-FFF2-40B4-BE49-F238E27FC236}">
                <a16:creationId xmlns:a16="http://schemas.microsoft.com/office/drawing/2014/main" id="{61EAFA92-5BC4-4C76-AB3A-F07382CE2FE7}"/>
              </a:ext>
            </a:extLst>
          </p:cNvPr>
          <p:cNvSpPr/>
          <p:nvPr userDrawn="1"/>
        </p:nvSpPr>
        <p:spPr>
          <a:xfrm>
            <a:off x="1" y="1643061"/>
            <a:ext cx="334962" cy="3571875"/>
          </a:xfrm>
          <a:prstGeom prst="rect">
            <a:avLst/>
          </a:prstGeom>
          <a:solidFill>
            <a:srgbClr val="63685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Content Placeholder 6">
            <a:extLst>
              <a:ext uri="{FF2B5EF4-FFF2-40B4-BE49-F238E27FC236}">
                <a16:creationId xmlns:a16="http://schemas.microsoft.com/office/drawing/2014/main" id="{B0D047C3-3A14-48B9-97EF-583EA3664C2B}"/>
              </a:ext>
            </a:extLst>
          </p:cNvPr>
          <p:cNvSpPr>
            <a:spLocks noGrp="1"/>
          </p:cNvSpPr>
          <p:nvPr>
            <p:ph sz="quarter" idx="13"/>
          </p:nvPr>
        </p:nvSpPr>
        <p:spPr>
          <a:xfrm>
            <a:off x="3946525" y="604838"/>
            <a:ext cx="7175500" cy="4981575"/>
          </a:xfrm>
        </p:spPr>
        <p:txBody>
          <a:bodyPr/>
          <a:lstStyle>
            <a:lvl1pPr>
              <a:defRPr>
                <a:solidFill>
                  <a:schemeClr val="tx1">
                    <a:lumMod val="75000"/>
                  </a:schemeClr>
                </a:solidFill>
              </a:defRPr>
            </a:lvl1pPr>
            <a:lvl2pPr>
              <a:defRPr>
                <a:solidFill>
                  <a:schemeClr val="tx1">
                    <a:lumMod val="75000"/>
                  </a:schemeClr>
                </a:solidFill>
              </a:defRPr>
            </a:lvl2pPr>
            <a:lvl3pPr>
              <a:defRPr>
                <a:solidFill>
                  <a:schemeClr val="tx1">
                    <a:lumMod val="75000"/>
                  </a:schemeClr>
                </a:solidFill>
              </a:defRPr>
            </a:lvl3pPr>
            <a:lvl4pPr>
              <a:defRPr>
                <a:solidFill>
                  <a:schemeClr val="tx1">
                    <a:lumMod val="75000"/>
                  </a:schemeClr>
                </a:solidFill>
              </a:defRPr>
            </a:lvl4pPr>
            <a:lvl5pPr>
              <a:defRPr>
                <a:solidFill>
                  <a:schemeClr val="tx1">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
        <p:nvSpPr>
          <p:cNvPr id="12" name="Text Placeholder 11">
            <a:extLst>
              <a:ext uri="{FF2B5EF4-FFF2-40B4-BE49-F238E27FC236}">
                <a16:creationId xmlns:a16="http://schemas.microsoft.com/office/drawing/2014/main" id="{EA3E29AE-4369-4A02-9329-B575450E55BC}"/>
              </a:ext>
            </a:extLst>
          </p:cNvPr>
          <p:cNvSpPr>
            <a:spLocks noGrp="1"/>
          </p:cNvSpPr>
          <p:nvPr>
            <p:ph type="body" sz="quarter" idx="14" hasCustomPrompt="1"/>
          </p:nvPr>
        </p:nvSpPr>
        <p:spPr>
          <a:xfrm>
            <a:off x="725488" y="2157413"/>
            <a:ext cx="2855912" cy="3429000"/>
          </a:xfrm>
        </p:spPr>
        <p:txBody>
          <a:bodyPr>
            <a:normAutofit/>
          </a:bodyPr>
          <a:lstStyle>
            <a:lvl1pPr>
              <a:defRPr sz="2000">
                <a:solidFill>
                  <a:schemeClr val="tx1">
                    <a:lumMod val="75000"/>
                  </a:schemeClr>
                </a:solidFill>
              </a:defRPr>
            </a:lvl1pPr>
            <a:lvl2pPr>
              <a:defRPr sz="1800">
                <a:solidFill>
                  <a:schemeClr val="tx1">
                    <a:lumMod val="75000"/>
                  </a:schemeClr>
                </a:solidFill>
              </a:defRPr>
            </a:lvl2pPr>
            <a:lvl3pPr>
              <a:defRPr sz="1600">
                <a:solidFill>
                  <a:schemeClr val="tx1">
                    <a:lumMod val="75000"/>
                  </a:schemeClr>
                </a:solidFill>
              </a:defRPr>
            </a:lvl3pPr>
            <a:lvl4pPr>
              <a:defRPr sz="1400">
                <a:solidFill>
                  <a:schemeClr val="tx1">
                    <a:lumMod val="75000"/>
                  </a:schemeClr>
                </a:solidFill>
              </a:defRPr>
            </a:lvl4pPr>
            <a:lvl5pPr>
              <a:defRPr sz="1400">
                <a:solidFill>
                  <a:schemeClr val="tx1">
                    <a:lumMod val="75000"/>
                  </a:schemeClr>
                </a:solidFill>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1240387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FF1C679-03E4-4643-B26D-F3D99C7898F8}"/>
              </a:ext>
            </a:extLst>
          </p:cNvPr>
          <p:cNvSpPr>
            <a:spLocks noGrp="1"/>
          </p:cNvSpPr>
          <p:nvPr>
            <p:ph type="dt" sz="half" idx="10"/>
          </p:nvPr>
        </p:nvSpPr>
        <p:spPr/>
        <p:txBody>
          <a:bodyPr/>
          <a:lstStyle>
            <a:lvl1pPr>
              <a:defRPr>
                <a:solidFill>
                  <a:srgbClr val="636852"/>
                </a:solidFill>
                <a:latin typeface="Playfair Display" panose="00000500000000000000" pitchFamily="2" charset="0"/>
              </a:defRPr>
            </a:lvl1pPr>
          </a:lstStyle>
          <a:p>
            <a:fld id="{79AA9DB5-A1F6-4624-970D-0BADA959D4A3}" type="datetimeFigureOut">
              <a:rPr lang="en-ID" smtClean="0"/>
              <a:pPr/>
              <a:t>16/08/2026</a:t>
            </a:fld>
            <a:endParaRPr lang="en-ID" dirty="0"/>
          </a:p>
        </p:txBody>
      </p:sp>
      <p:sp>
        <p:nvSpPr>
          <p:cNvPr id="5" name="Footer Placeholder 4">
            <a:extLst>
              <a:ext uri="{FF2B5EF4-FFF2-40B4-BE49-F238E27FC236}">
                <a16:creationId xmlns:a16="http://schemas.microsoft.com/office/drawing/2014/main" id="{9C8BC614-E49F-441E-974F-448840036121}"/>
              </a:ext>
            </a:extLst>
          </p:cNvPr>
          <p:cNvSpPr>
            <a:spLocks noGrp="1"/>
          </p:cNvSpPr>
          <p:nvPr>
            <p:ph type="ftr" sz="quarter" idx="11"/>
          </p:nvPr>
        </p:nvSpPr>
        <p:spPr/>
        <p:txBody>
          <a:bodyPr/>
          <a:lstStyle>
            <a:lvl1pPr>
              <a:defRPr>
                <a:solidFill>
                  <a:srgbClr val="636852"/>
                </a:solidFill>
              </a:defRPr>
            </a:lvl1pPr>
          </a:lstStyle>
          <a:p>
            <a:endParaRPr lang="en-ID" dirty="0">
              <a:solidFill>
                <a:srgbClr val="636852"/>
              </a:solidFill>
            </a:endParaRPr>
          </a:p>
        </p:txBody>
      </p:sp>
      <p:sp>
        <p:nvSpPr>
          <p:cNvPr id="6" name="Slide Number Placeholder 5">
            <a:extLst>
              <a:ext uri="{FF2B5EF4-FFF2-40B4-BE49-F238E27FC236}">
                <a16:creationId xmlns:a16="http://schemas.microsoft.com/office/drawing/2014/main" id="{0AA91D14-5274-4886-B3C8-4071E75F8F73}"/>
              </a:ext>
            </a:extLst>
          </p:cNvPr>
          <p:cNvSpPr>
            <a:spLocks noGrp="1"/>
          </p:cNvSpPr>
          <p:nvPr>
            <p:ph type="sldNum" sz="quarter" idx="12"/>
          </p:nvPr>
        </p:nvSpPr>
        <p:spPr/>
        <p:txBody>
          <a:bodyPr/>
          <a:lstStyle>
            <a:lvl1pPr>
              <a:defRPr>
                <a:solidFill>
                  <a:srgbClr val="636852"/>
                </a:solidFill>
              </a:defRPr>
            </a:lvl1pPr>
          </a:lstStyle>
          <a:p>
            <a:fld id="{356B735F-8457-406A-A744-FC5DA5F22371}" type="slidenum">
              <a:rPr lang="en-ID" smtClean="0"/>
              <a:pPr/>
              <a:t>‹#›</a:t>
            </a:fld>
            <a:endParaRPr lang="en-ID"/>
          </a:p>
        </p:txBody>
      </p:sp>
      <p:sp>
        <p:nvSpPr>
          <p:cNvPr id="2" name="Title 1">
            <a:extLst>
              <a:ext uri="{FF2B5EF4-FFF2-40B4-BE49-F238E27FC236}">
                <a16:creationId xmlns:a16="http://schemas.microsoft.com/office/drawing/2014/main" id="{96B971A7-BCA4-40C3-A04E-80F58FC23AC0}"/>
              </a:ext>
            </a:extLst>
          </p:cNvPr>
          <p:cNvSpPr>
            <a:spLocks noGrp="1"/>
          </p:cNvSpPr>
          <p:nvPr>
            <p:ph type="title" hasCustomPrompt="1"/>
          </p:nvPr>
        </p:nvSpPr>
        <p:spPr>
          <a:xfrm>
            <a:off x="1047751" y="561766"/>
            <a:ext cx="4505326" cy="1325563"/>
          </a:xfrm>
          <a:solidFill>
            <a:schemeClr val="bg2"/>
          </a:solidFill>
        </p:spPr>
        <p:txBody>
          <a:bodyPr anchor="b">
            <a:normAutofit/>
          </a:bodyPr>
          <a:lstStyle>
            <a:lvl1pPr algn="r">
              <a:defRPr sz="5400">
                <a:solidFill>
                  <a:srgbClr val="636852"/>
                </a:solidFill>
                <a:latin typeface="+mj-lt"/>
              </a:defRPr>
            </a:lvl1pPr>
          </a:lstStyle>
          <a:p>
            <a:r>
              <a:rPr lang="en-US" dirty="0"/>
              <a:t>Caption</a:t>
            </a:r>
            <a:endParaRPr lang="en-ID" dirty="0"/>
          </a:p>
        </p:txBody>
      </p:sp>
      <p:sp>
        <p:nvSpPr>
          <p:cNvPr id="7" name="Text Placeholder 6">
            <a:extLst>
              <a:ext uri="{FF2B5EF4-FFF2-40B4-BE49-F238E27FC236}">
                <a16:creationId xmlns:a16="http://schemas.microsoft.com/office/drawing/2014/main" id="{9F605E1E-A41F-4026-B324-E493E8629835}"/>
              </a:ext>
            </a:extLst>
          </p:cNvPr>
          <p:cNvSpPr>
            <a:spLocks noGrp="1"/>
          </p:cNvSpPr>
          <p:nvPr>
            <p:ph type="body" sz="quarter" idx="14"/>
          </p:nvPr>
        </p:nvSpPr>
        <p:spPr>
          <a:xfrm>
            <a:off x="1047751" y="2013916"/>
            <a:ext cx="4505326" cy="3571875"/>
          </a:xfrm>
        </p:spPr>
        <p:txBody>
          <a:bodyPr anchor="t">
            <a:normAutofit/>
          </a:bodyPr>
          <a:lstStyle>
            <a:lvl1pPr algn="r">
              <a:defRPr sz="2400"/>
            </a:lvl1pPr>
            <a:lvl2pPr algn="r">
              <a:defRPr sz="2000"/>
            </a:lvl2pPr>
            <a:lvl3pPr algn="r">
              <a:defRPr sz="1800"/>
            </a:lvl3pPr>
            <a:lvl4pPr algn="r">
              <a:defRPr sz="1600"/>
            </a:lvl4pPr>
            <a:lvl5pPr algn="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8" name="Rectangle 7">
            <a:extLst>
              <a:ext uri="{FF2B5EF4-FFF2-40B4-BE49-F238E27FC236}">
                <a16:creationId xmlns:a16="http://schemas.microsoft.com/office/drawing/2014/main" id="{FB5A69C2-8380-4B7A-AF27-D3663FC0B534}"/>
              </a:ext>
            </a:extLst>
          </p:cNvPr>
          <p:cNvSpPr/>
          <p:nvPr userDrawn="1"/>
        </p:nvSpPr>
        <p:spPr>
          <a:xfrm>
            <a:off x="1" y="1643061"/>
            <a:ext cx="334962" cy="3571875"/>
          </a:xfrm>
          <a:prstGeom prst="rect">
            <a:avLst/>
          </a:prstGeom>
          <a:solidFill>
            <a:srgbClr val="63685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0" name="Content Placeholder 9">
            <a:extLst>
              <a:ext uri="{FF2B5EF4-FFF2-40B4-BE49-F238E27FC236}">
                <a16:creationId xmlns:a16="http://schemas.microsoft.com/office/drawing/2014/main" id="{09E118BF-7505-45FF-92D5-F46BE289494B}"/>
              </a:ext>
            </a:extLst>
          </p:cNvPr>
          <p:cNvSpPr>
            <a:spLocks noGrp="1"/>
          </p:cNvSpPr>
          <p:nvPr>
            <p:ph sz="quarter" idx="15"/>
          </p:nvPr>
        </p:nvSpPr>
        <p:spPr>
          <a:xfrm>
            <a:off x="6096001" y="561766"/>
            <a:ext cx="5741988" cy="50240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3029098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tabl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17E9D182-679B-449F-AB58-AE0696AF19FC}"/>
              </a:ext>
            </a:extLst>
          </p:cNvPr>
          <p:cNvSpPr/>
          <p:nvPr userDrawn="1"/>
        </p:nvSpPr>
        <p:spPr>
          <a:xfrm>
            <a:off x="6388100" y="1019703"/>
            <a:ext cx="2582333" cy="2582333"/>
          </a:xfrm>
          <a:prstGeom prst="ellipse">
            <a:avLst/>
          </a:prstGeom>
          <a:solidFill>
            <a:srgbClr val="636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8">
            <a:extLst>
              <a:ext uri="{FF2B5EF4-FFF2-40B4-BE49-F238E27FC236}">
                <a16:creationId xmlns:a16="http://schemas.microsoft.com/office/drawing/2014/main" id="{1991818F-A3F6-4729-A6E3-846786BC5639}"/>
              </a:ext>
            </a:extLst>
          </p:cNvPr>
          <p:cNvSpPr/>
          <p:nvPr userDrawn="1"/>
        </p:nvSpPr>
        <p:spPr>
          <a:xfrm>
            <a:off x="8610600" y="0"/>
            <a:ext cx="3581400" cy="6858000"/>
          </a:xfrm>
          <a:prstGeom prst="rect">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BE450614-111B-481D-B661-7F1BC0215216}"/>
              </a:ext>
            </a:extLst>
          </p:cNvPr>
          <p:cNvSpPr>
            <a:spLocks noGrp="1"/>
          </p:cNvSpPr>
          <p:nvPr>
            <p:ph type="title" hasCustomPrompt="1"/>
          </p:nvPr>
        </p:nvSpPr>
        <p:spPr>
          <a:xfrm>
            <a:off x="808103" y="223091"/>
            <a:ext cx="5394193" cy="1185916"/>
          </a:xfrm>
        </p:spPr>
        <p:txBody>
          <a:bodyPr anchor="b"/>
          <a:lstStyle>
            <a:lvl1pPr>
              <a:defRPr sz="6000">
                <a:solidFill>
                  <a:srgbClr val="353638"/>
                </a:solidFill>
              </a:defRPr>
            </a:lvl1pPr>
          </a:lstStyle>
          <a:p>
            <a:r>
              <a:rPr lang="en-US" dirty="0"/>
              <a:t>heading</a:t>
            </a:r>
            <a:endParaRPr lang="en-ID" dirty="0"/>
          </a:p>
        </p:txBody>
      </p:sp>
      <p:sp>
        <p:nvSpPr>
          <p:cNvPr id="5" name="Date Placeholder 4">
            <a:extLst>
              <a:ext uri="{FF2B5EF4-FFF2-40B4-BE49-F238E27FC236}">
                <a16:creationId xmlns:a16="http://schemas.microsoft.com/office/drawing/2014/main" id="{3436262B-23B8-4AB8-A52A-A96F9FF6F7C5}"/>
              </a:ext>
            </a:extLst>
          </p:cNvPr>
          <p:cNvSpPr>
            <a:spLocks noGrp="1"/>
          </p:cNvSpPr>
          <p:nvPr>
            <p:ph type="dt" sz="half" idx="10"/>
          </p:nvPr>
        </p:nvSpPr>
        <p:spPr/>
        <p:txBody>
          <a:bodyPr/>
          <a:lstStyle>
            <a:lvl1pPr>
              <a:defRPr>
                <a:solidFill>
                  <a:srgbClr val="353638"/>
                </a:solidFill>
              </a:defRPr>
            </a:lvl1pPr>
          </a:lstStyle>
          <a:p>
            <a:fld id="{79AA9DB5-A1F6-4624-970D-0BADA959D4A3}" type="datetimeFigureOut">
              <a:rPr lang="en-ID" smtClean="0"/>
              <a:pPr/>
              <a:t>16/08/2026</a:t>
            </a:fld>
            <a:endParaRPr lang="en-ID" dirty="0"/>
          </a:p>
        </p:txBody>
      </p:sp>
      <p:sp>
        <p:nvSpPr>
          <p:cNvPr id="6" name="Footer Placeholder 5">
            <a:extLst>
              <a:ext uri="{FF2B5EF4-FFF2-40B4-BE49-F238E27FC236}">
                <a16:creationId xmlns:a16="http://schemas.microsoft.com/office/drawing/2014/main" id="{25DB139A-A351-4040-A6D4-8C0AC653C6D4}"/>
              </a:ext>
            </a:extLst>
          </p:cNvPr>
          <p:cNvSpPr>
            <a:spLocks noGrp="1"/>
          </p:cNvSpPr>
          <p:nvPr>
            <p:ph type="ftr" sz="quarter" idx="11"/>
          </p:nvPr>
        </p:nvSpPr>
        <p:spPr/>
        <p:txBody>
          <a:bodyPr/>
          <a:lstStyle>
            <a:lvl1pPr>
              <a:defRPr>
                <a:solidFill>
                  <a:srgbClr val="353638"/>
                </a:solidFill>
              </a:defRPr>
            </a:lvl1pPr>
          </a:lstStyle>
          <a:p>
            <a:endParaRPr lang="en-ID" dirty="0">
              <a:solidFill>
                <a:srgbClr val="353638"/>
              </a:solidFill>
            </a:endParaRPr>
          </a:p>
        </p:txBody>
      </p:sp>
      <p:sp>
        <p:nvSpPr>
          <p:cNvPr id="7" name="Slide Number Placeholder 6">
            <a:extLst>
              <a:ext uri="{FF2B5EF4-FFF2-40B4-BE49-F238E27FC236}">
                <a16:creationId xmlns:a16="http://schemas.microsoft.com/office/drawing/2014/main" id="{20A01873-32A3-4CC1-8939-73F0B43D5C56}"/>
              </a:ext>
            </a:extLst>
          </p:cNvPr>
          <p:cNvSpPr>
            <a:spLocks noGrp="1"/>
          </p:cNvSpPr>
          <p:nvPr>
            <p:ph type="sldNum" sz="quarter" idx="12"/>
          </p:nvPr>
        </p:nvSpPr>
        <p:spPr/>
        <p:txBody>
          <a:bodyPr/>
          <a:lstStyle>
            <a:lvl1pPr>
              <a:defRPr>
                <a:solidFill>
                  <a:srgbClr val="353638"/>
                </a:solidFill>
              </a:defRPr>
            </a:lvl1pPr>
          </a:lstStyle>
          <a:p>
            <a:fld id="{356B735F-8457-406A-A744-FC5DA5F22371}" type="slidenum">
              <a:rPr lang="en-ID" smtClean="0"/>
              <a:pPr/>
              <a:t>‹#›</a:t>
            </a:fld>
            <a:endParaRPr lang="en-ID"/>
          </a:p>
        </p:txBody>
      </p:sp>
      <p:sp>
        <p:nvSpPr>
          <p:cNvPr id="13" name="Table Placeholder 12">
            <a:extLst>
              <a:ext uri="{FF2B5EF4-FFF2-40B4-BE49-F238E27FC236}">
                <a16:creationId xmlns:a16="http://schemas.microsoft.com/office/drawing/2014/main" id="{5FDF9DBB-F6E4-49E6-91A7-3787355D4A10}"/>
              </a:ext>
            </a:extLst>
          </p:cNvPr>
          <p:cNvSpPr>
            <a:spLocks noGrp="1"/>
          </p:cNvSpPr>
          <p:nvPr>
            <p:ph type="tbl" sz="quarter" idx="13"/>
          </p:nvPr>
        </p:nvSpPr>
        <p:spPr>
          <a:xfrm>
            <a:off x="808102" y="1554481"/>
            <a:ext cx="5394193" cy="4615286"/>
          </a:xfrm>
        </p:spPr>
        <p:txBody>
          <a:bodyPr/>
          <a:lstStyle/>
          <a:p>
            <a:r>
              <a:rPr lang="en-US"/>
              <a:t>Click icon to add table</a:t>
            </a:r>
            <a:endParaRPr lang="en-ID"/>
          </a:p>
        </p:txBody>
      </p:sp>
      <p:sp>
        <p:nvSpPr>
          <p:cNvPr id="15" name="Rectangle 14">
            <a:extLst>
              <a:ext uri="{FF2B5EF4-FFF2-40B4-BE49-F238E27FC236}">
                <a16:creationId xmlns:a16="http://schemas.microsoft.com/office/drawing/2014/main" id="{802544C3-7AB9-446F-B7CB-6EC90ED4D621}"/>
              </a:ext>
            </a:extLst>
          </p:cNvPr>
          <p:cNvSpPr/>
          <p:nvPr userDrawn="1"/>
        </p:nvSpPr>
        <p:spPr>
          <a:xfrm>
            <a:off x="7469714" y="2175403"/>
            <a:ext cx="2142067" cy="135467"/>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890203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CEE02BF-95CD-4681-9CD4-193772568AB0}"/>
              </a:ext>
            </a:extLst>
          </p:cNvPr>
          <p:cNvSpPr/>
          <p:nvPr userDrawn="1"/>
        </p:nvSpPr>
        <p:spPr>
          <a:xfrm>
            <a:off x="0" y="1977887"/>
            <a:ext cx="1346200" cy="43784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5FC24A95-F3A6-4009-9B14-091B146F5000}"/>
              </a:ext>
            </a:extLst>
          </p:cNvPr>
          <p:cNvSpPr>
            <a:spLocks noGrp="1"/>
          </p:cNvSpPr>
          <p:nvPr>
            <p:ph type="dt" sz="half" idx="10"/>
          </p:nvPr>
        </p:nvSpPr>
        <p:spPr/>
        <p:txBody>
          <a:bodyPr/>
          <a:lstStyle/>
          <a:p>
            <a:fld id="{79AA9DB5-A1F6-4624-970D-0BADA959D4A3}" type="datetimeFigureOut">
              <a:rPr lang="en-ID" smtClean="0"/>
              <a:t>16/08/2026</a:t>
            </a:fld>
            <a:endParaRPr lang="en-ID"/>
          </a:p>
        </p:txBody>
      </p:sp>
      <p:sp>
        <p:nvSpPr>
          <p:cNvPr id="4" name="Footer Placeholder 3">
            <a:extLst>
              <a:ext uri="{FF2B5EF4-FFF2-40B4-BE49-F238E27FC236}">
                <a16:creationId xmlns:a16="http://schemas.microsoft.com/office/drawing/2014/main" id="{22706536-94BF-4A7B-A629-1E4C5D3C99E4}"/>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68E20CA9-CEDE-4609-BDD5-29AC30C263AE}"/>
              </a:ext>
            </a:extLst>
          </p:cNvPr>
          <p:cNvSpPr>
            <a:spLocks noGrp="1"/>
          </p:cNvSpPr>
          <p:nvPr>
            <p:ph type="sldNum" sz="quarter" idx="12"/>
          </p:nvPr>
        </p:nvSpPr>
        <p:spPr/>
        <p:txBody>
          <a:bodyPr/>
          <a:lstStyle/>
          <a:p>
            <a:fld id="{356B735F-8457-406A-A744-FC5DA5F22371}" type="slidenum">
              <a:rPr lang="en-ID" smtClean="0"/>
              <a:t>‹#›</a:t>
            </a:fld>
            <a:endParaRPr lang="en-ID"/>
          </a:p>
        </p:txBody>
      </p:sp>
      <p:sp>
        <p:nvSpPr>
          <p:cNvPr id="7" name="Picture Placeholder 6">
            <a:extLst>
              <a:ext uri="{FF2B5EF4-FFF2-40B4-BE49-F238E27FC236}">
                <a16:creationId xmlns:a16="http://schemas.microsoft.com/office/drawing/2014/main" id="{539C5DDE-7DF8-4141-A25B-797D71AB3A99}"/>
              </a:ext>
            </a:extLst>
          </p:cNvPr>
          <p:cNvSpPr>
            <a:spLocks noGrp="1"/>
          </p:cNvSpPr>
          <p:nvPr>
            <p:ph type="pic" sz="quarter" idx="13"/>
          </p:nvPr>
        </p:nvSpPr>
        <p:spPr>
          <a:xfrm>
            <a:off x="3218328" y="403692"/>
            <a:ext cx="8650941" cy="5566802"/>
          </a:xfrm>
        </p:spPr>
        <p:txBody>
          <a:bodyPr/>
          <a:lstStyle/>
          <a:p>
            <a:r>
              <a:rPr lang="en-US"/>
              <a:t>Click icon to add picture</a:t>
            </a:r>
            <a:endParaRPr lang="en-NZ" dirty="0"/>
          </a:p>
        </p:txBody>
      </p:sp>
      <p:sp>
        <p:nvSpPr>
          <p:cNvPr id="8" name="Rectangle 7">
            <a:extLst>
              <a:ext uri="{FF2B5EF4-FFF2-40B4-BE49-F238E27FC236}">
                <a16:creationId xmlns:a16="http://schemas.microsoft.com/office/drawing/2014/main" id="{81C51530-0D98-4F9E-AD07-640FAF20AF4F}"/>
              </a:ext>
            </a:extLst>
          </p:cNvPr>
          <p:cNvSpPr/>
          <p:nvPr userDrawn="1"/>
        </p:nvSpPr>
        <p:spPr>
          <a:xfrm>
            <a:off x="11857038" y="1643061"/>
            <a:ext cx="334962" cy="3571875"/>
          </a:xfrm>
          <a:prstGeom prst="rect">
            <a:avLst/>
          </a:prstGeom>
          <a:solidFill>
            <a:srgbClr val="35363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9" name="Title 1">
            <a:extLst>
              <a:ext uri="{FF2B5EF4-FFF2-40B4-BE49-F238E27FC236}">
                <a16:creationId xmlns:a16="http://schemas.microsoft.com/office/drawing/2014/main" id="{B6A9FDC3-F541-464C-AD32-6B0F5284AF17}"/>
              </a:ext>
            </a:extLst>
          </p:cNvPr>
          <p:cNvSpPr>
            <a:spLocks noGrp="1"/>
          </p:cNvSpPr>
          <p:nvPr>
            <p:ph type="title" hasCustomPrompt="1"/>
          </p:nvPr>
        </p:nvSpPr>
        <p:spPr>
          <a:xfrm>
            <a:off x="232019" y="403692"/>
            <a:ext cx="2856321" cy="1574195"/>
          </a:xfrm>
        </p:spPr>
        <p:txBody>
          <a:bodyPr>
            <a:normAutofit/>
          </a:bodyPr>
          <a:lstStyle>
            <a:lvl1pPr>
              <a:defRPr sz="5400">
                <a:solidFill>
                  <a:srgbClr val="636852"/>
                </a:solidFill>
                <a:latin typeface="+mj-lt"/>
              </a:defRPr>
            </a:lvl1pPr>
          </a:lstStyle>
          <a:p>
            <a:r>
              <a:rPr lang="en-US" dirty="0"/>
              <a:t>Picture Title</a:t>
            </a:r>
            <a:endParaRPr lang="en-ID" dirty="0"/>
          </a:p>
        </p:txBody>
      </p:sp>
      <p:sp>
        <p:nvSpPr>
          <p:cNvPr id="11" name="Oval 10">
            <a:extLst>
              <a:ext uri="{FF2B5EF4-FFF2-40B4-BE49-F238E27FC236}">
                <a16:creationId xmlns:a16="http://schemas.microsoft.com/office/drawing/2014/main" id="{15C31BCC-2FC0-42D9-B311-222BD6C547E3}"/>
              </a:ext>
            </a:extLst>
          </p:cNvPr>
          <p:cNvSpPr/>
          <p:nvPr userDrawn="1"/>
        </p:nvSpPr>
        <p:spPr>
          <a:xfrm>
            <a:off x="232019" y="3187093"/>
            <a:ext cx="2226259" cy="2119494"/>
          </a:xfrm>
          <a:prstGeom prst="ellipse">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180335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13F92-5DF7-41CB-BA05-FEC39036209B}"/>
              </a:ext>
            </a:extLst>
          </p:cNvPr>
          <p:cNvSpPr/>
          <p:nvPr userDrawn="1"/>
        </p:nvSpPr>
        <p:spPr>
          <a:xfrm>
            <a:off x="266700" y="268817"/>
            <a:ext cx="11658600" cy="6332008"/>
          </a:xfrm>
          <a:prstGeom prst="rect">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itle 1">
            <a:extLst>
              <a:ext uri="{FF2B5EF4-FFF2-40B4-BE49-F238E27FC236}">
                <a16:creationId xmlns:a16="http://schemas.microsoft.com/office/drawing/2014/main" id="{A57BFD46-59E1-4F55-AC46-F453E1B06B67}"/>
              </a:ext>
            </a:extLst>
          </p:cNvPr>
          <p:cNvSpPr>
            <a:spLocks noGrp="1"/>
          </p:cNvSpPr>
          <p:nvPr>
            <p:ph type="title" hasCustomPrompt="1"/>
          </p:nvPr>
        </p:nvSpPr>
        <p:spPr>
          <a:xfrm>
            <a:off x="2496672" y="1355179"/>
            <a:ext cx="7611034" cy="3444874"/>
          </a:xfrm>
        </p:spPr>
        <p:txBody>
          <a:bodyPr>
            <a:noAutofit/>
          </a:bodyPr>
          <a:lstStyle>
            <a:lvl1pPr algn="ctr">
              <a:defRPr sz="4800">
                <a:solidFill>
                  <a:srgbClr val="EFEFEF"/>
                </a:solidFill>
              </a:defRPr>
            </a:lvl1pPr>
          </a:lstStyle>
          <a:p>
            <a:r>
              <a:rPr lang="en-US" dirty="0"/>
              <a:t>quote</a:t>
            </a:r>
            <a:endParaRPr lang="en-ID" dirty="0"/>
          </a:p>
        </p:txBody>
      </p:sp>
      <p:sp>
        <p:nvSpPr>
          <p:cNvPr id="3" name="Date Placeholder 2">
            <a:extLst>
              <a:ext uri="{FF2B5EF4-FFF2-40B4-BE49-F238E27FC236}">
                <a16:creationId xmlns:a16="http://schemas.microsoft.com/office/drawing/2014/main" id="{21C66221-AADF-4726-9FA1-2CB4F0C22E22}"/>
              </a:ext>
            </a:extLst>
          </p:cNvPr>
          <p:cNvSpPr>
            <a:spLocks noGrp="1"/>
          </p:cNvSpPr>
          <p:nvPr>
            <p:ph type="dt" sz="half" idx="10"/>
          </p:nvPr>
        </p:nvSpPr>
        <p:spPr>
          <a:xfrm>
            <a:off x="838200" y="6086110"/>
            <a:ext cx="2743200" cy="365125"/>
          </a:xfrm>
        </p:spPr>
        <p:txBody>
          <a:bodyPr/>
          <a:lstStyle>
            <a:lvl1pPr>
              <a:defRPr>
                <a:solidFill>
                  <a:srgbClr val="EFEFEF"/>
                </a:solidFill>
              </a:defRPr>
            </a:lvl1pPr>
          </a:lstStyle>
          <a:p>
            <a:fld id="{79AA9DB5-A1F6-4624-970D-0BADA959D4A3}" type="datetimeFigureOut">
              <a:rPr lang="en-ID" smtClean="0"/>
              <a:pPr/>
              <a:t>16/08/2026</a:t>
            </a:fld>
            <a:endParaRPr lang="en-ID" dirty="0"/>
          </a:p>
        </p:txBody>
      </p:sp>
      <p:sp>
        <p:nvSpPr>
          <p:cNvPr id="4" name="Footer Placeholder 3">
            <a:extLst>
              <a:ext uri="{FF2B5EF4-FFF2-40B4-BE49-F238E27FC236}">
                <a16:creationId xmlns:a16="http://schemas.microsoft.com/office/drawing/2014/main" id="{7B8143C5-1D4B-46C8-A783-9D7353BCCBDE}"/>
              </a:ext>
            </a:extLst>
          </p:cNvPr>
          <p:cNvSpPr>
            <a:spLocks noGrp="1"/>
          </p:cNvSpPr>
          <p:nvPr>
            <p:ph type="ftr" sz="quarter" idx="11"/>
          </p:nvPr>
        </p:nvSpPr>
        <p:spPr>
          <a:xfrm>
            <a:off x="4038600" y="6086110"/>
            <a:ext cx="4114800" cy="365125"/>
          </a:xfrm>
        </p:spPr>
        <p:txBody>
          <a:bodyPr/>
          <a:lstStyle>
            <a:lvl1pPr>
              <a:defRPr>
                <a:solidFill>
                  <a:srgbClr val="EFEFEF"/>
                </a:solidFill>
              </a:defRPr>
            </a:lvl1pPr>
          </a:lstStyle>
          <a:p>
            <a:endParaRPr lang="en-ID">
              <a:solidFill>
                <a:srgbClr val="EFEFEF"/>
              </a:solidFill>
            </a:endParaRPr>
          </a:p>
        </p:txBody>
      </p:sp>
      <p:sp>
        <p:nvSpPr>
          <p:cNvPr id="5" name="Slide Number Placeholder 4">
            <a:extLst>
              <a:ext uri="{FF2B5EF4-FFF2-40B4-BE49-F238E27FC236}">
                <a16:creationId xmlns:a16="http://schemas.microsoft.com/office/drawing/2014/main" id="{61DB84BE-8FE3-4C31-9AE1-41C645ACE5D2}"/>
              </a:ext>
            </a:extLst>
          </p:cNvPr>
          <p:cNvSpPr>
            <a:spLocks noGrp="1"/>
          </p:cNvSpPr>
          <p:nvPr>
            <p:ph type="sldNum" sz="quarter" idx="12"/>
          </p:nvPr>
        </p:nvSpPr>
        <p:spPr>
          <a:xfrm>
            <a:off x="8610600" y="6086110"/>
            <a:ext cx="2743200" cy="365125"/>
          </a:xfrm>
        </p:spPr>
        <p:txBody>
          <a:bodyPr/>
          <a:lstStyle>
            <a:lvl1pPr>
              <a:defRPr>
                <a:solidFill>
                  <a:srgbClr val="EFEFEF"/>
                </a:solidFill>
              </a:defRPr>
            </a:lvl1pPr>
          </a:lstStyle>
          <a:p>
            <a:fld id="{356B735F-8457-406A-A744-FC5DA5F22371}" type="slidenum">
              <a:rPr lang="en-ID" smtClean="0"/>
              <a:pPr/>
              <a:t>‹#›</a:t>
            </a:fld>
            <a:endParaRPr lang="en-ID"/>
          </a:p>
        </p:txBody>
      </p:sp>
      <p:sp>
        <p:nvSpPr>
          <p:cNvPr id="15" name="Text Placeholder 14">
            <a:extLst>
              <a:ext uri="{FF2B5EF4-FFF2-40B4-BE49-F238E27FC236}">
                <a16:creationId xmlns:a16="http://schemas.microsoft.com/office/drawing/2014/main" id="{B9A8ED02-4B65-47C9-A125-EB2355B93AE2}"/>
              </a:ext>
            </a:extLst>
          </p:cNvPr>
          <p:cNvSpPr>
            <a:spLocks noGrp="1"/>
          </p:cNvSpPr>
          <p:nvPr>
            <p:ph type="body" sz="quarter" idx="17" hasCustomPrompt="1"/>
          </p:nvPr>
        </p:nvSpPr>
        <p:spPr>
          <a:xfrm>
            <a:off x="6095999" y="5337358"/>
            <a:ext cx="2609850" cy="463367"/>
          </a:xfrm>
        </p:spPr>
        <p:txBody>
          <a:bodyPr anchor="t">
            <a:normAutofit/>
          </a:bodyPr>
          <a:lstStyle>
            <a:lvl1pPr algn="r">
              <a:buNone/>
              <a:defRPr sz="2800">
                <a:solidFill>
                  <a:srgbClr val="76838B"/>
                </a:solidFill>
                <a:latin typeface="+mj-lt"/>
              </a:defRPr>
            </a:lvl1pPr>
          </a:lstStyle>
          <a:p>
            <a:pPr lvl="0"/>
            <a:r>
              <a:rPr lang="en-US" dirty="0"/>
              <a:t>- author</a:t>
            </a:r>
            <a:endParaRPr lang="en-ID" dirty="0"/>
          </a:p>
        </p:txBody>
      </p:sp>
      <p:sp>
        <p:nvSpPr>
          <p:cNvPr id="10" name="TextBox 9">
            <a:extLst>
              <a:ext uri="{FF2B5EF4-FFF2-40B4-BE49-F238E27FC236}">
                <a16:creationId xmlns:a16="http://schemas.microsoft.com/office/drawing/2014/main" id="{5175F29E-4C36-40B4-A4AE-4B16EEA6E266}"/>
              </a:ext>
            </a:extLst>
          </p:cNvPr>
          <p:cNvSpPr txBox="1"/>
          <p:nvPr userDrawn="1"/>
        </p:nvSpPr>
        <p:spPr>
          <a:xfrm>
            <a:off x="1409380" y="1016950"/>
            <a:ext cx="990977" cy="2246769"/>
          </a:xfrm>
          <a:prstGeom prst="rect">
            <a:avLst/>
          </a:prstGeom>
          <a:noFill/>
        </p:spPr>
        <p:txBody>
          <a:bodyPr wrap="none" rtlCol="0">
            <a:spAutoFit/>
          </a:bodyPr>
          <a:lstStyle/>
          <a:p>
            <a:r>
              <a:rPr lang="en-US" sz="14000" dirty="0">
                <a:solidFill>
                  <a:srgbClr val="76838B"/>
                </a:solidFill>
              </a:rPr>
              <a:t>“</a:t>
            </a:r>
            <a:endParaRPr lang="en-ID" sz="14000" dirty="0">
              <a:solidFill>
                <a:srgbClr val="76838B"/>
              </a:solidFill>
            </a:endParaRPr>
          </a:p>
        </p:txBody>
      </p:sp>
      <p:sp>
        <p:nvSpPr>
          <p:cNvPr id="14" name="TextBox 13">
            <a:extLst>
              <a:ext uri="{FF2B5EF4-FFF2-40B4-BE49-F238E27FC236}">
                <a16:creationId xmlns:a16="http://schemas.microsoft.com/office/drawing/2014/main" id="{4A668F2E-85D4-46F6-9DAC-5164D0D5E5E4}"/>
              </a:ext>
            </a:extLst>
          </p:cNvPr>
          <p:cNvSpPr txBox="1"/>
          <p:nvPr userDrawn="1"/>
        </p:nvSpPr>
        <p:spPr>
          <a:xfrm rot="10800000">
            <a:off x="10184336" y="2923352"/>
            <a:ext cx="990977" cy="2246769"/>
          </a:xfrm>
          <a:prstGeom prst="rect">
            <a:avLst/>
          </a:prstGeom>
          <a:noFill/>
        </p:spPr>
        <p:txBody>
          <a:bodyPr wrap="none" rtlCol="0">
            <a:spAutoFit/>
          </a:bodyPr>
          <a:lstStyle/>
          <a:p>
            <a:r>
              <a:rPr lang="en-US" sz="14000" dirty="0">
                <a:solidFill>
                  <a:srgbClr val="76838B"/>
                </a:solidFill>
              </a:rPr>
              <a:t>“</a:t>
            </a:r>
            <a:endParaRPr lang="en-ID" sz="14000" dirty="0">
              <a:solidFill>
                <a:srgbClr val="76838B"/>
              </a:solidFill>
            </a:endParaRPr>
          </a:p>
        </p:txBody>
      </p:sp>
    </p:spTree>
    <p:extLst>
      <p:ext uri="{BB962C8B-B14F-4D97-AF65-F5344CB8AC3E}">
        <p14:creationId xmlns:p14="http://schemas.microsoft.com/office/powerpoint/2010/main" val="2550186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03F4D9-F45E-4139-83D5-0A3803216E42}"/>
              </a:ext>
            </a:extLst>
          </p:cNvPr>
          <p:cNvSpPr>
            <a:spLocks noGrp="1"/>
          </p:cNvSpPr>
          <p:nvPr>
            <p:ph type="dt" sz="half" idx="10"/>
          </p:nvPr>
        </p:nvSpPr>
        <p:spPr/>
        <p:txBody>
          <a:bodyPr/>
          <a:lstStyle>
            <a:lvl1pPr>
              <a:defRPr>
                <a:solidFill>
                  <a:srgbClr val="636852"/>
                </a:solidFill>
              </a:defRPr>
            </a:lvl1pPr>
          </a:lstStyle>
          <a:p>
            <a:fld id="{79AA9DB5-A1F6-4624-970D-0BADA959D4A3}" type="datetimeFigureOut">
              <a:rPr lang="en-ID" smtClean="0"/>
              <a:pPr/>
              <a:t>16/08/2026</a:t>
            </a:fld>
            <a:endParaRPr lang="en-ID" dirty="0"/>
          </a:p>
        </p:txBody>
      </p:sp>
      <p:sp>
        <p:nvSpPr>
          <p:cNvPr id="3" name="Footer Placeholder 2">
            <a:extLst>
              <a:ext uri="{FF2B5EF4-FFF2-40B4-BE49-F238E27FC236}">
                <a16:creationId xmlns:a16="http://schemas.microsoft.com/office/drawing/2014/main" id="{0B6FFC3C-1755-45B8-9A15-FA947DE49BFD}"/>
              </a:ext>
            </a:extLst>
          </p:cNvPr>
          <p:cNvSpPr>
            <a:spLocks noGrp="1"/>
          </p:cNvSpPr>
          <p:nvPr>
            <p:ph type="ftr" sz="quarter" idx="11"/>
          </p:nvPr>
        </p:nvSpPr>
        <p:spPr/>
        <p:txBody>
          <a:bodyPr/>
          <a:lstStyle>
            <a:lvl1pPr>
              <a:defRPr>
                <a:solidFill>
                  <a:srgbClr val="636852"/>
                </a:solidFill>
              </a:defRPr>
            </a:lvl1pPr>
          </a:lstStyle>
          <a:p>
            <a:endParaRPr lang="en-ID">
              <a:solidFill>
                <a:srgbClr val="636852"/>
              </a:solidFill>
            </a:endParaRPr>
          </a:p>
        </p:txBody>
      </p:sp>
      <p:sp>
        <p:nvSpPr>
          <p:cNvPr id="4" name="Slide Number Placeholder 3">
            <a:extLst>
              <a:ext uri="{FF2B5EF4-FFF2-40B4-BE49-F238E27FC236}">
                <a16:creationId xmlns:a16="http://schemas.microsoft.com/office/drawing/2014/main" id="{8497CD62-6ACA-41C3-A1AF-76FB3AAEF7E9}"/>
              </a:ext>
            </a:extLst>
          </p:cNvPr>
          <p:cNvSpPr>
            <a:spLocks noGrp="1"/>
          </p:cNvSpPr>
          <p:nvPr>
            <p:ph type="sldNum" sz="quarter" idx="12"/>
          </p:nvPr>
        </p:nvSpPr>
        <p:spPr/>
        <p:txBody>
          <a:bodyPr/>
          <a:lstStyle>
            <a:lvl1pPr>
              <a:defRPr>
                <a:solidFill>
                  <a:srgbClr val="636852"/>
                </a:solidFill>
              </a:defRPr>
            </a:lvl1pPr>
          </a:lstStyle>
          <a:p>
            <a:fld id="{356B735F-8457-406A-A744-FC5DA5F22371}" type="slidenum">
              <a:rPr lang="en-ID" smtClean="0"/>
              <a:pPr/>
              <a:t>‹#›</a:t>
            </a:fld>
            <a:endParaRPr lang="en-ID"/>
          </a:p>
        </p:txBody>
      </p:sp>
    </p:spTree>
    <p:extLst>
      <p:ext uri="{BB962C8B-B14F-4D97-AF65-F5344CB8AC3E}">
        <p14:creationId xmlns:p14="http://schemas.microsoft.com/office/powerpoint/2010/main" val="3752377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8/16/2026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a:p>
        </p:txBody>
      </p:sp>
      <p:grpSp>
        <p:nvGrpSpPr>
          <p:cNvPr id="8" name="Group 7">
            <a:extLst>
              <a:ext uri="{FF2B5EF4-FFF2-40B4-BE49-F238E27FC236}">
                <a16:creationId xmlns:a16="http://schemas.microsoft.com/office/drawing/2014/main" id="{685952B3-E8AC-4A6B-820B-9A81B0FBEB99}"/>
              </a:ext>
            </a:extLst>
          </p:cNvPr>
          <p:cNvGrpSpPr/>
          <p:nvPr userDrawn="1"/>
        </p:nvGrpSpPr>
        <p:grpSpPr>
          <a:xfrm>
            <a:off x="0" y="6588034"/>
            <a:ext cx="12200164" cy="278130"/>
            <a:chOff x="0" y="6588034"/>
            <a:chExt cx="12200164" cy="278130"/>
          </a:xfrm>
        </p:grpSpPr>
        <p:sp>
          <p:nvSpPr>
            <p:cNvPr id="9" name="Rectangle 8">
              <a:extLst>
                <a:ext uri="{FF2B5EF4-FFF2-40B4-BE49-F238E27FC236}">
                  <a16:creationId xmlns:a16="http://schemas.microsoft.com/office/drawing/2014/main" id="{38118FCB-F385-44F8-BE0B-ECB9A7E65830}"/>
                </a:ext>
              </a:extLst>
            </p:cNvPr>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a:extLst>
                <a:ext uri="{FF2B5EF4-FFF2-40B4-BE49-F238E27FC236}">
                  <a16:creationId xmlns:a16="http://schemas.microsoft.com/office/drawing/2014/main" id="{CB9A1DA6-CB86-4F19-B7A1-A4BB4E4A0A5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408670910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grpSp>
        <p:nvGrpSpPr>
          <p:cNvPr id="9" name="Group 8">
            <a:extLst>
              <a:ext uri="{FF2B5EF4-FFF2-40B4-BE49-F238E27FC236}">
                <a16:creationId xmlns:a16="http://schemas.microsoft.com/office/drawing/2014/main" id="{58891069-C1FC-402E-B8E7-3F0A3AAC1374}"/>
              </a:ext>
            </a:extLst>
          </p:cNvPr>
          <p:cNvGrpSpPr/>
          <p:nvPr userDrawn="1"/>
        </p:nvGrpSpPr>
        <p:grpSpPr>
          <a:xfrm>
            <a:off x="0" y="6588034"/>
            <a:ext cx="12200164" cy="278130"/>
            <a:chOff x="0" y="6588034"/>
            <a:chExt cx="12200164" cy="278130"/>
          </a:xfrm>
        </p:grpSpPr>
        <p:sp>
          <p:nvSpPr>
            <p:cNvPr id="10" name="Rectangle 9">
              <a:extLst>
                <a:ext uri="{FF2B5EF4-FFF2-40B4-BE49-F238E27FC236}">
                  <a16:creationId xmlns:a16="http://schemas.microsoft.com/office/drawing/2014/main" id="{227E0913-06F0-469B-A92D-C210F1EE4A3F}"/>
                </a:ext>
              </a:extLst>
            </p:cNvPr>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FEA9EA15-5683-4F22-8228-9A58FB09E68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1365942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grpSp>
        <p:nvGrpSpPr>
          <p:cNvPr id="9" name="Group 8">
            <a:extLst>
              <a:ext uri="{FF2B5EF4-FFF2-40B4-BE49-F238E27FC236}">
                <a16:creationId xmlns:a16="http://schemas.microsoft.com/office/drawing/2014/main" id="{73CF4599-E6A5-4195-B5CC-C7E506ADA10A}"/>
              </a:ext>
            </a:extLst>
          </p:cNvPr>
          <p:cNvGrpSpPr/>
          <p:nvPr userDrawn="1"/>
        </p:nvGrpSpPr>
        <p:grpSpPr>
          <a:xfrm>
            <a:off x="0" y="6588034"/>
            <a:ext cx="12200164" cy="278130"/>
            <a:chOff x="0" y="6588034"/>
            <a:chExt cx="12200164" cy="278130"/>
          </a:xfrm>
        </p:grpSpPr>
        <p:sp>
          <p:nvSpPr>
            <p:cNvPr id="10" name="Rectangle 9">
              <a:extLst>
                <a:ext uri="{FF2B5EF4-FFF2-40B4-BE49-F238E27FC236}">
                  <a16:creationId xmlns:a16="http://schemas.microsoft.com/office/drawing/2014/main" id="{0BE2F6EE-734C-466A-BCB3-69B4F1BC9097}"/>
                </a:ext>
              </a:extLst>
            </p:cNvPr>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44BB1E56-74D5-49D9-A829-51BB40EF326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1719763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183DA2-AB58-40A9-9F27-C89AC8614EB3}"/>
              </a:ext>
            </a:extLst>
          </p:cNvPr>
          <p:cNvSpPr>
            <a:spLocks noGrp="1"/>
          </p:cNvSpPr>
          <p:nvPr>
            <p:ph type="title"/>
          </p:nvPr>
        </p:nvSpPr>
        <p:spPr>
          <a:xfrm>
            <a:off x="1797080" y="365125"/>
            <a:ext cx="8119917" cy="1325563"/>
          </a:xfrm>
          <a:prstGeom prst="rect">
            <a:avLst/>
          </a:prstGeom>
        </p:spPr>
        <p:txBody>
          <a:bodyPr vert="horz" lIns="91440" tIns="45720" rIns="91440" bIns="45720" rtlCol="0" anchor="ctr">
            <a:normAutofit/>
          </a:bodyPr>
          <a:lstStyle/>
          <a:p>
            <a:r>
              <a:rPr lang="en-US"/>
              <a:t>Click to edit Master title style</a:t>
            </a:r>
            <a:endParaRPr lang="en-ID" dirty="0"/>
          </a:p>
        </p:txBody>
      </p:sp>
      <p:sp>
        <p:nvSpPr>
          <p:cNvPr id="3" name="Text Placeholder 2">
            <a:extLst>
              <a:ext uri="{FF2B5EF4-FFF2-40B4-BE49-F238E27FC236}">
                <a16:creationId xmlns:a16="http://schemas.microsoft.com/office/drawing/2014/main" id="{9E7AB1CE-4A8A-481A-9353-A480D26348AE}"/>
              </a:ext>
            </a:extLst>
          </p:cNvPr>
          <p:cNvSpPr>
            <a:spLocks noGrp="1"/>
          </p:cNvSpPr>
          <p:nvPr>
            <p:ph type="body" idx="1"/>
          </p:nvPr>
        </p:nvSpPr>
        <p:spPr>
          <a:xfrm>
            <a:off x="1797080" y="1825625"/>
            <a:ext cx="811991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dirty="0"/>
          </a:p>
        </p:txBody>
      </p:sp>
      <p:sp>
        <p:nvSpPr>
          <p:cNvPr id="4" name="Date Placeholder 3">
            <a:extLst>
              <a:ext uri="{FF2B5EF4-FFF2-40B4-BE49-F238E27FC236}">
                <a16:creationId xmlns:a16="http://schemas.microsoft.com/office/drawing/2014/main" id="{3AF92708-E52D-4103-9A98-C480CDECD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AA9DB5-A1F6-4624-970D-0BADA959D4A3}" type="datetimeFigureOut">
              <a:rPr lang="en-ID" smtClean="0"/>
              <a:t>16/08/2026</a:t>
            </a:fld>
            <a:endParaRPr lang="en-ID"/>
          </a:p>
        </p:txBody>
      </p:sp>
      <p:sp>
        <p:nvSpPr>
          <p:cNvPr id="5" name="Footer Placeholder 4">
            <a:extLst>
              <a:ext uri="{FF2B5EF4-FFF2-40B4-BE49-F238E27FC236}">
                <a16:creationId xmlns:a16="http://schemas.microsoft.com/office/drawing/2014/main" id="{7E3B8837-B0F6-4426-8862-F133D501E4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0B332B1A-B0B9-4218-96CA-0C74E02900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B735F-8457-406A-A744-FC5DA5F22371}" type="slidenum">
              <a:rPr lang="en-ID" smtClean="0"/>
              <a:t>‹#›</a:t>
            </a:fld>
            <a:endParaRPr lang="en-ID"/>
          </a:p>
        </p:txBody>
      </p:sp>
    </p:spTree>
    <p:extLst>
      <p:ext uri="{BB962C8B-B14F-4D97-AF65-F5344CB8AC3E}">
        <p14:creationId xmlns:p14="http://schemas.microsoft.com/office/powerpoint/2010/main" val="2001766041"/>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5" r:id="rId3"/>
    <p:sldLayoutId id="2147483657" r:id="rId4"/>
    <p:sldLayoutId id="2147483661" r:id="rId5"/>
    <p:sldLayoutId id="2147483651" r:id="rId6"/>
    <p:sldLayoutId id="2147483650" r:id="rId7"/>
    <p:sldLayoutId id="2147483658" r:id="rId8"/>
    <p:sldLayoutId id="2147483659" r:id="rId9"/>
    <p:sldLayoutId id="2147483663" r:id="rId10"/>
    <p:sldLayoutId id="2147483664" r:id="rId11"/>
    <p:sldLayoutId id="2147483662" r:id="rId12"/>
    <p:sldLayoutId id="2147483655" r:id="rId13"/>
    <p:sldLayoutId id="2147483666" r:id="rId14"/>
    <p:sldLayoutId id="2147483668" r:id="rId15"/>
    <p:sldLayoutId id="2147483669" r:id="rId16"/>
  </p:sldLayoutIdLst>
  <p:txStyles>
    <p:titleStyle>
      <a:lvl1pPr algn="l" defTabSz="914400" rtl="0" eaLnBrk="1" latinLnBrk="0" hangingPunct="1">
        <a:lnSpc>
          <a:spcPct val="90000"/>
        </a:lnSpc>
        <a:spcBef>
          <a:spcPct val="0"/>
        </a:spcBef>
        <a:buNone/>
        <a:defRPr sz="4400" kern="1200">
          <a:solidFill>
            <a:srgbClr val="63685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tabLst>
          <a:tab pos="1885950" algn="l"/>
        </a:tabLst>
        <a:defRPr sz="2800" kern="1200">
          <a:solidFill>
            <a:srgbClr val="76838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tabLst>
          <a:tab pos="1885950" algn="l"/>
        </a:tabLst>
        <a:defRPr sz="2400" kern="1200">
          <a:solidFill>
            <a:srgbClr val="76838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tabLst>
          <a:tab pos="1885950" algn="l"/>
        </a:tabLst>
        <a:defRPr sz="2000" kern="1200">
          <a:solidFill>
            <a:srgbClr val="76838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tabLst>
          <a:tab pos="1885950" algn="l"/>
        </a:tabLst>
        <a:defRPr sz="1800" kern="1200">
          <a:solidFill>
            <a:srgbClr val="76838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tabLst>
          <a:tab pos="1885950" algn="l"/>
        </a:tabLst>
        <a:defRPr sz="1800" kern="1200">
          <a:solidFill>
            <a:srgbClr val="76838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6.jpg"/><Relationship Id="rId1" Type="http://schemas.openxmlformats.org/officeDocument/2006/relationships/slideLayout" Target="../slideLayouts/slideLayout9.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3.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3.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3.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10.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3.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3.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7.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3.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3.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7.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2.xml"/><Relationship Id="rId7" Type="http://schemas.openxmlformats.org/officeDocument/2006/relationships/image" Target="../media/image8.jpeg"/><Relationship Id="rId2" Type="http://schemas.openxmlformats.org/officeDocument/2006/relationships/diagramData" Target="../diagrams/data22.xml"/><Relationship Id="rId1" Type="http://schemas.openxmlformats.org/officeDocument/2006/relationships/slideLayout" Target="../slideLayouts/slideLayout7.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E6383-EF67-D9F6-ECE2-1C0486B709C4}"/>
              </a:ext>
            </a:extLst>
          </p:cNvPr>
          <p:cNvSpPr>
            <a:spLocks noGrp="1"/>
          </p:cNvSpPr>
          <p:nvPr>
            <p:ph type="ctrTitle"/>
          </p:nvPr>
        </p:nvSpPr>
        <p:spPr>
          <a:xfrm>
            <a:off x="5356062" y="2218764"/>
            <a:ext cx="4492788" cy="3004741"/>
          </a:xfrm>
        </p:spPr>
        <p:txBody>
          <a:bodyPr anchor="ctr">
            <a:normAutofit/>
          </a:bodyPr>
          <a:lstStyle/>
          <a:p>
            <a:r>
              <a:rPr lang="mi-NZ" sz="6700"/>
              <a:t>115.113 </a:t>
            </a:r>
            <a:r>
              <a:rPr lang="mi-NZ" sz="6700" err="1"/>
              <a:t>Economics</a:t>
            </a:r>
            <a:r>
              <a:rPr lang="mi-NZ" sz="6700"/>
              <a:t> </a:t>
            </a:r>
            <a:r>
              <a:rPr lang="mi-NZ" sz="6700" err="1"/>
              <a:t>of</a:t>
            </a:r>
            <a:r>
              <a:rPr lang="mi-NZ" sz="6700"/>
              <a:t> </a:t>
            </a:r>
            <a:r>
              <a:rPr lang="mi-NZ" sz="6700" err="1"/>
              <a:t>Business</a:t>
            </a:r>
            <a:endParaRPr lang="en-NZ" sz="6700"/>
          </a:p>
        </p:txBody>
      </p:sp>
      <p:sp>
        <p:nvSpPr>
          <p:cNvPr id="3" name="Subtitle 2">
            <a:extLst>
              <a:ext uri="{FF2B5EF4-FFF2-40B4-BE49-F238E27FC236}">
                <a16:creationId xmlns:a16="http://schemas.microsoft.com/office/drawing/2014/main" id="{78326EEE-CA9F-DB05-B886-99E518A1031C}"/>
              </a:ext>
            </a:extLst>
          </p:cNvPr>
          <p:cNvSpPr>
            <a:spLocks noGrp="1"/>
          </p:cNvSpPr>
          <p:nvPr>
            <p:ph type="subTitle" idx="1"/>
          </p:nvPr>
        </p:nvSpPr>
        <p:spPr>
          <a:xfrm>
            <a:off x="7804084" y="5490105"/>
            <a:ext cx="3549716" cy="453495"/>
          </a:xfrm>
        </p:spPr>
        <p:txBody>
          <a:bodyPr>
            <a:normAutofit/>
          </a:bodyPr>
          <a:lstStyle/>
          <a:p>
            <a:r>
              <a:rPr lang="mi-NZ" dirty="0"/>
              <a:t>International Trade</a:t>
            </a:r>
            <a:endParaRPr lang="en-NZ" dirty="0"/>
          </a:p>
        </p:txBody>
      </p:sp>
      <p:pic>
        <p:nvPicPr>
          <p:cNvPr id="8" name="Picture Placeholder 7" descr="A picture containing sky, outdoor, water, day&#10;&#10;Description automatically generated">
            <a:extLst>
              <a:ext uri="{FF2B5EF4-FFF2-40B4-BE49-F238E27FC236}">
                <a16:creationId xmlns:a16="http://schemas.microsoft.com/office/drawing/2014/main" id="{B2019630-9B24-FA3C-A36B-3347776CB9AE}"/>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25320" r="25318" b="-2"/>
          <a:stretch/>
        </p:blipFill>
        <p:spPr>
          <a:xfrm>
            <a:off x="1123950" y="10"/>
            <a:ext cx="3514725" cy="4752965"/>
          </a:xfrm>
          <a:noFill/>
        </p:spPr>
      </p:pic>
    </p:spTree>
    <p:extLst>
      <p:ext uri="{BB962C8B-B14F-4D97-AF65-F5344CB8AC3E}">
        <p14:creationId xmlns:p14="http://schemas.microsoft.com/office/powerpoint/2010/main" val="928065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0291-797D-AA7A-80AB-21FEA07182DA}"/>
              </a:ext>
            </a:extLst>
          </p:cNvPr>
          <p:cNvSpPr>
            <a:spLocks noGrp="1"/>
          </p:cNvSpPr>
          <p:nvPr>
            <p:ph type="title"/>
          </p:nvPr>
        </p:nvSpPr>
        <p:spPr/>
        <p:txBody>
          <a:bodyPr>
            <a:normAutofit/>
          </a:bodyPr>
          <a:lstStyle/>
          <a:p>
            <a:r>
              <a:rPr lang="en-US" sz="4800" dirty="0" err="1"/>
              <a:t>Specialisation</a:t>
            </a:r>
            <a:r>
              <a:rPr lang="en-US" sz="4800" dirty="0"/>
              <a:t> and Trade</a:t>
            </a:r>
            <a:endParaRPr lang="en-NZ" sz="4800" dirty="0"/>
          </a:p>
        </p:txBody>
      </p:sp>
      <p:sp>
        <p:nvSpPr>
          <p:cNvPr id="3" name="Text Placeholder 2">
            <a:extLst>
              <a:ext uri="{FF2B5EF4-FFF2-40B4-BE49-F238E27FC236}">
                <a16:creationId xmlns:a16="http://schemas.microsoft.com/office/drawing/2014/main" id="{5024224B-6F47-E732-E741-AE88B56178EF}"/>
              </a:ext>
            </a:extLst>
          </p:cNvPr>
          <p:cNvSpPr>
            <a:spLocks noGrp="1"/>
          </p:cNvSpPr>
          <p:nvPr>
            <p:ph type="body" idx="1"/>
          </p:nvPr>
        </p:nvSpPr>
        <p:spPr/>
        <p:txBody>
          <a:bodyPr/>
          <a:lstStyle/>
          <a:p>
            <a:r>
              <a:rPr lang="en-US" dirty="0"/>
              <a:t>Comparative Advantage</a:t>
            </a:r>
            <a:endParaRPr lang="en-NZ" dirty="0"/>
          </a:p>
        </p:txBody>
      </p:sp>
      <p:sp>
        <p:nvSpPr>
          <p:cNvPr id="4" name="Text Placeholder 3">
            <a:extLst>
              <a:ext uri="{FF2B5EF4-FFF2-40B4-BE49-F238E27FC236}">
                <a16:creationId xmlns:a16="http://schemas.microsoft.com/office/drawing/2014/main" id="{7E7AB6DB-92FC-4C25-F651-92BF26E1E635}"/>
              </a:ext>
            </a:extLst>
          </p:cNvPr>
          <p:cNvSpPr>
            <a:spLocks noGrp="1"/>
          </p:cNvSpPr>
          <p:nvPr>
            <p:ph type="body" sz="quarter" idx="13"/>
          </p:nvPr>
        </p:nvSpPr>
        <p:spPr/>
        <p:txBody>
          <a:bodyPr/>
          <a:lstStyle/>
          <a:p>
            <a:r>
              <a:rPr lang="en-US" dirty="0"/>
              <a:t>02</a:t>
            </a:r>
            <a:endParaRPr lang="en-NZ" dirty="0"/>
          </a:p>
        </p:txBody>
      </p:sp>
    </p:spTree>
    <p:extLst>
      <p:ext uri="{BB962C8B-B14F-4D97-AF65-F5344CB8AC3E}">
        <p14:creationId xmlns:p14="http://schemas.microsoft.com/office/powerpoint/2010/main" val="2745393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9E39C-8807-E26B-8802-02E229388FCE}"/>
              </a:ext>
            </a:extLst>
          </p:cNvPr>
          <p:cNvSpPr>
            <a:spLocks noGrp="1"/>
          </p:cNvSpPr>
          <p:nvPr>
            <p:ph type="title"/>
          </p:nvPr>
        </p:nvSpPr>
        <p:spPr/>
        <p:txBody>
          <a:bodyPr/>
          <a:lstStyle/>
          <a:p>
            <a:r>
              <a:rPr lang="mi-NZ" dirty="0"/>
              <a:t>NZ </a:t>
            </a:r>
            <a:r>
              <a:rPr lang="mi-NZ" dirty="0" err="1"/>
              <a:t>Wheat</a:t>
            </a:r>
            <a:r>
              <a:rPr lang="mi-NZ" dirty="0"/>
              <a:t> </a:t>
            </a:r>
            <a:r>
              <a:rPr lang="mi-NZ" dirty="0" err="1"/>
              <a:t>Yields</a:t>
            </a:r>
            <a:endParaRPr lang="en-NZ" dirty="0"/>
          </a:p>
        </p:txBody>
      </p:sp>
      <p:pic>
        <p:nvPicPr>
          <p:cNvPr id="5" name="Content Placeholder 4">
            <a:extLst>
              <a:ext uri="{FF2B5EF4-FFF2-40B4-BE49-F238E27FC236}">
                <a16:creationId xmlns:a16="http://schemas.microsoft.com/office/drawing/2014/main" id="{1664804B-3B44-777A-0BED-77D6A5CD34CF}"/>
              </a:ext>
            </a:extLst>
          </p:cNvPr>
          <p:cNvPicPr>
            <a:picLocks noGrp="1" noChangeAspect="1"/>
          </p:cNvPicPr>
          <p:nvPr>
            <p:ph sz="quarter" idx="13"/>
          </p:nvPr>
        </p:nvPicPr>
        <p:blipFill>
          <a:blip r:embed="rId2"/>
          <a:stretch>
            <a:fillRect/>
          </a:stretch>
        </p:blipFill>
        <p:spPr>
          <a:xfrm>
            <a:off x="5236457" y="604838"/>
            <a:ext cx="4595636" cy="4981575"/>
          </a:xfrm>
        </p:spPr>
      </p:pic>
      <p:sp>
        <p:nvSpPr>
          <p:cNvPr id="6" name="Content Placeholder 5">
            <a:extLst>
              <a:ext uri="{FF2B5EF4-FFF2-40B4-BE49-F238E27FC236}">
                <a16:creationId xmlns:a16="http://schemas.microsoft.com/office/drawing/2014/main" id="{D14DF9BD-DCE9-9941-F973-63A767E95FC6}"/>
              </a:ext>
            </a:extLst>
          </p:cNvPr>
          <p:cNvSpPr>
            <a:spLocks noGrp="1"/>
          </p:cNvSpPr>
          <p:nvPr>
            <p:ph type="body" sz="quarter" idx="14"/>
          </p:nvPr>
        </p:nvSpPr>
        <p:spPr/>
        <p:txBody>
          <a:bodyPr/>
          <a:lstStyle/>
          <a:p>
            <a:r>
              <a:rPr lang="mi-NZ" dirty="0"/>
              <a:t>NZ </a:t>
            </a:r>
            <a:r>
              <a:rPr lang="mi-NZ" dirty="0" err="1"/>
              <a:t>imports</a:t>
            </a:r>
            <a:r>
              <a:rPr lang="mi-NZ" dirty="0"/>
              <a:t> </a:t>
            </a:r>
            <a:r>
              <a:rPr lang="mi-NZ" dirty="0" err="1"/>
              <a:t>most</a:t>
            </a:r>
            <a:r>
              <a:rPr lang="mi-NZ" dirty="0"/>
              <a:t> </a:t>
            </a:r>
            <a:r>
              <a:rPr lang="mi-NZ" dirty="0" err="1"/>
              <a:t>of</a:t>
            </a:r>
            <a:r>
              <a:rPr lang="mi-NZ" dirty="0"/>
              <a:t> </a:t>
            </a:r>
            <a:r>
              <a:rPr lang="mi-NZ" dirty="0" err="1"/>
              <a:t>its</a:t>
            </a:r>
            <a:r>
              <a:rPr lang="mi-NZ" dirty="0"/>
              <a:t> </a:t>
            </a:r>
            <a:r>
              <a:rPr lang="mi-NZ" dirty="0" err="1"/>
              <a:t>wheat</a:t>
            </a:r>
            <a:r>
              <a:rPr lang="mi-NZ" dirty="0"/>
              <a:t> </a:t>
            </a:r>
            <a:r>
              <a:rPr lang="mi-NZ" dirty="0" err="1"/>
              <a:t>from</a:t>
            </a:r>
            <a:r>
              <a:rPr lang="mi-NZ" dirty="0"/>
              <a:t> </a:t>
            </a:r>
            <a:r>
              <a:rPr lang="mi-NZ" dirty="0" err="1"/>
              <a:t>Australia</a:t>
            </a:r>
            <a:r>
              <a:rPr lang="mi-NZ" dirty="0"/>
              <a:t>.</a:t>
            </a:r>
          </a:p>
          <a:p>
            <a:r>
              <a:rPr lang="en-NZ" dirty="0"/>
              <a:t>Wheat production per hectare in Australia is around 2.8 tonnes.</a:t>
            </a:r>
          </a:p>
          <a:p>
            <a:r>
              <a:rPr lang="en-NZ" dirty="0"/>
              <a:t>Why would we import wheat when we are more productive at it? </a:t>
            </a:r>
          </a:p>
        </p:txBody>
      </p:sp>
    </p:spTree>
    <p:extLst>
      <p:ext uri="{BB962C8B-B14F-4D97-AF65-F5344CB8AC3E}">
        <p14:creationId xmlns:p14="http://schemas.microsoft.com/office/powerpoint/2010/main" val="700901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500"/>
              <a:t>Specialization</a:t>
            </a:r>
          </a:p>
        </p:txBody>
      </p:sp>
      <p:sp>
        <p:nvSpPr>
          <p:cNvPr id="8" name="Text Placeholder 3">
            <a:extLst>
              <a:ext uri="{FF2B5EF4-FFF2-40B4-BE49-F238E27FC236}">
                <a16:creationId xmlns:a16="http://schemas.microsoft.com/office/drawing/2014/main" id="{CB8410E8-A93C-CC4D-0ED9-9F668C21F884}"/>
              </a:ext>
            </a:extLst>
          </p:cNvPr>
          <p:cNvSpPr>
            <a:spLocks noGrp="1"/>
          </p:cNvSpPr>
          <p:nvPr>
            <p:ph type="body" sz="quarter" idx="14"/>
          </p:nvPr>
        </p:nvSpPr>
        <p:spPr>
          <a:xfrm>
            <a:off x="725488" y="2157413"/>
            <a:ext cx="2855912" cy="3429000"/>
          </a:xfrm>
        </p:spPr>
        <p:txBody>
          <a:bodyPr/>
          <a:lstStyle/>
          <a:p>
            <a:r>
              <a:rPr lang="en-US" dirty="0"/>
              <a:t>New Zealand specializes in primary products (agriculture, forestry, fisheries).</a:t>
            </a:r>
          </a:p>
          <a:p>
            <a:r>
              <a:rPr lang="en-US" dirty="0"/>
              <a:t>We depend on rest of world for (most) manufactured goods.</a:t>
            </a:r>
          </a:p>
        </p:txBody>
      </p:sp>
      <p:graphicFrame>
        <p:nvGraphicFramePr>
          <p:cNvPr id="3" name="Diagram 2">
            <a:extLst>
              <a:ext uri="{FF2B5EF4-FFF2-40B4-BE49-F238E27FC236}">
                <a16:creationId xmlns:a16="http://schemas.microsoft.com/office/drawing/2014/main" id="{E472FF11-A4B6-0642-B859-F895BF6B3A79}"/>
              </a:ext>
            </a:extLst>
          </p:cNvPr>
          <p:cNvGraphicFramePr/>
          <p:nvPr>
            <p:extLst>
              <p:ext uri="{D42A27DB-BD31-4B8C-83A1-F6EECF244321}">
                <p14:modId xmlns:p14="http://schemas.microsoft.com/office/powerpoint/2010/main" val="2260324340"/>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649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2"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2">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500"/>
              <a:t>Specialization</a:t>
            </a:r>
          </a:p>
        </p:txBody>
      </p:sp>
      <p:sp>
        <p:nvSpPr>
          <p:cNvPr id="8" name="Text Placeholder 3">
            <a:extLst>
              <a:ext uri="{FF2B5EF4-FFF2-40B4-BE49-F238E27FC236}">
                <a16:creationId xmlns:a16="http://schemas.microsoft.com/office/drawing/2014/main" id="{8780079F-2C08-5A8F-1364-007EDC9F4F0B}"/>
              </a:ext>
            </a:extLst>
          </p:cNvPr>
          <p:cNvSpPr>
            <a:spLocks noGrp="1"/>
          </p:cNvSpPr>
          <p:nvPr>
            <p:ph type="body" sz="quarter" idx="14"/>
          </p:nvPr>
        </p:nvSpPr>
        <p:spPr>
          <a:xfrm>
            <a:off x="725488" y="2157413"/>
            <a:ext cx="2855912" cy="3429000"/>
          </a:xfrm>
        </p:spPr>
        <p:txBody>
          <a:bodyPr/>
          <a:lstStyle/>
          <a:p>
            <a:r>
              <a:rPr lang="en-US" dirty="0"/>
              <a:t>There are three main reasons for specialization.</a:t>
            </a:r>
          </a:p>
          <a:p>
            <a:r>
              <a:rPr lang="en-US" dirty="0"/>
              <a:t>Comparative advantage is an important reason.</a:t>
            </a:r>
          </a:p>
        </p:txBody>
      </p:sp>
      <p:graphicFrame>
        <p:nvGraphicFramePr>
          <p:cNvPr id="3" name="Diagram 2">
            <a:extLst>
              <a:ext uri="{FF2B5EF4-FFF2-40B4-BE49-F238E27FC236}">
                <a16:creationId xmlns:a16="http://schemas.microsoft.com/office/drawing/2014/main" id="{EFF87F7A-E13E-844D-90C3-043977675544}"/>
              </a:ext>
            </a:extLst>
          </p:cNvPr>
          <p:cNvGraphicFramePr/>
          <p:nvPr>
            <p:extLst>
              <p:ext uri="{D42A27DB-BD31-4B8C-83A1-F6EECF244321}">
                <p14:modId xmlns:p14="http://schemas.microsoft.com/office/powerpoint/2010/main" val="4012397605"/>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2691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100"/>
              <a:t>Comparative advantage: an example</a:t>
            </a:r>
          </a:p>
        </p:txBody>
      </p:sp>
      <p:sp>
        <p:nvSpPr>
          <p:cNvPr id="8" name="Text Placeholder 3">
            <a:extLst>
              <a:ext uri="{FF2B5EF4-FFF2-40B4-BE49-F238E27FC236}">
                <a16:creationId xmlns:a16="http://schemas.microsoft.com/office/drawing/2014/main" id="{3898C1B4-348C-90A4-70F0-DE80E7288D0E}"/>
              </a:ext>
            </a:extLst>
          </p:cNvPr>
          <p:cNvSpPr>
            <a:spLocks noGrp="1"/>
          </p:cNvSpPr>
          <p:nvPr>
            <p:ph type="body" sz="quarter" idx="14"/>
          </p:nvPr>
        </p:nvSpPr>
        <p:spPr>
          <a:xfrm>
            <a:off x="725488" y="2157413"/>
            <a:ext cx="2855912" cy="3429000"/>
          </a:xfrm>
        </p:spPr>
        <p:txBody>
          <a:bodyPr/>
          <a:lstStyle/>
          <a:p>
            <a:r>
              <a:rPr lang="en-US" dirty="0"/>
              <a:t>Simple example to illustrate gains from trade.</a:t>
            </a:r>
          </a:p>
        </p:txBody>
      </p:sp>
      <p:graphicFrame>
        <p:nvGraphicFramePr>
          <p:cNvPr id="3" name="Diagram 2">
            <a:extLst>
              <a:ext uri="{FF2B5EF4-FFF2-40B4-BE49-F238E27FC236}">
                <a16:creationId xmlns:a16="http://schemas.microsoft.com/office/drawing/2014/main" id="{0EF107F5-050C-8643-AB03-1067AE0FE446}"/>
              </a:ext>
            </a:extLst>
          </p:cNvPr>
          <p:cNvGraphicFramePr/>
          <p:nvPr>
            <p:extLst>
              <p:ext uri="{D42A27DB-BD31-4B8C-83A1-F6EECF244321}">
                <p14:modId xmlns:p14="http://schemas.microsoft.com/office/powerpoint/2010/main" val="1068391124"/>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145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100"/>
              <a:t>Comparative advantage: an example</a:t>
            </a:r>
          </a:p>
        </p:txBody>
      </p:sp>
      <p:sp>
        <p:nvSpPr>
          <p:cNvPr id="8" name="Text Placeholder 3">
            <a:extLst>
              <a:ext uri="{FF2B5EF4-FFF2-40B4-BE49-F238E27FC236}">
                <a16:creationId xmlns:a16="http://schemas.microsoft.com/office/drawing/2014/main" id="{38C57F50-3017-C992-151C-6E492095EE64}"/>
              </a:ext>
            </a:extLst>
          </p:cNvPr>
          <p:cNvSpPr>
            <a:spLocks noGrp="1"/>
          </p:cNvSpPr>
          <p:nvPr>
            <p:ph type="body" sz="quarter" idx="14"/>
          </p:nvPr>
        </p:nvSpPr>
        <p:spPr>
          <a:xfrm>
            <a:off x="725488" y="2157413"/>
            <a:ext cx="2855912" cy="3429000"/>
          </a:xfrm>
        </p:spPr>
        <p:txBody>
          <a:bodyPr/>
          <a:lstStyle/>
          <a:p>
            <a:r>
              <a:rPr lang="en-US" dirty="0"/>
              <a:t>Absolute advantage and comparative advantage are not the same thing.</a:t>
            </a:r>
          </a:p>
          <a:p>
            <a:r>
              <a:rPr lang="en-US" dirty="0"/>
              <a:t>One country can have an absolute advantage in all goods, but not a comparative advantage.</a:t>
            </a:r>
          </a:p>
        </p:txBody>
      </p:sp>
      <p:graphicFrame>
        <p:nvGraphicFramePr>
          <p:cNvPr id="3" name="Diagram 2">
            <a:extLst>
              <a:ext uri="{FF2B5EF4-FFF2-40B4-BE49-F238E27FC236}">
                <a16:creationId xmlns:a16="http://schemas.microsoft.com/office/drawing/2014/main" id="{0596EA35-EC2A-304C-BA78-4886BB6B7FBA}"/>
              </a:ext>
            </a:extLst>
          </p:cNvPr>
          <p:cNvGraphicFramePr/>
          <p:nvPr>
            <p:extLst>
              <p:ext uri="{D42A27DB-BD31-4B8C-83A1-F6EECF244321}">
                <p14:modId xmlns:p14="http://schemas.microsoft.com/office/powerpoint/2010/main" val="824162458"/>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413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22" y="365125"/>
            <a:ext cx="10515600" cy="935641"/>
          </a:xfrm>
        </p:spPr>
        <p:txBody>
          <a:bodyPr>
            <a:normAutofit/>
          </a:bodyPr>
          <a:lstStyle/>
          <a:p>
            <a:pPr algn="ctr"/>
            <a:r>
              <a:rPr lang="en-GB" sz="4800">
                <a:latin typeface="+mn-lt"/>
              </a:rPr>
              <a:t>Comparative advantage: an example</a:t>
            </a:r>
          </a:p>
        </p:txBody>
      </p:sp>
      <p:graphicFrame>
        <p:nvGraphicFramePr>
          <p:cNvPr id="3" name="Diagram 2">
            <a:extLst>
              <a:ext uri="{FF2B5EF4-FFF2-40B4-BE49-F238E27FC236}">
                <a16:creationId xmlns:a16="http://schemas.microsoft.com/office/drawing/2014/main" id="{E90701FD-F6F2-3A40-B2ED-EB56851A0B00}"/>
              </a:ext>
            </a:extLst>
          </p:cNvPr>
          <p:cNvGraphicFramePr/>
          <p:nvPr/>
        </p:nvGraphicFramePr>
        <p:xfrm>
          <a:off x="479408" y="1662880"/>
          <a:ext cx="11233184" cy="2554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B413B17F-D063-438C-B6C0-F1FB4DFCE66B}"/>
              </a:ext>
            </a:extLst>
          </p:cNvPr>
          <p:cNvSpPr txBox="1"/>
          <p:nvPr/>
        </p:nvSpPr>
        <p:spPr>
          <a:xfrm>
            <a:off x="1013178" y="4579539"/>
            <a:ext cx="10005833" cy="707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spcAft>
                <a:spcPts val="600"/>
              </a:spcAft>
            </a:pPr>
            <a:r>
              <a:rPr lang="en-US" sz="4000" b="1" dirty="0"/>
              <a:t>Opportunity cost (output) = loss / gain</a:t>
            </a:r>
          </a:p>
        </p:txBody>
      </p:sp>
    </p:spTree>
    <p:extLst>
      <p:ext uri="{BB962C8B-B14F-4D97-AF65-F5344CB8AC3E}">
        <p14:creationId xmlns:p14="http://schemas.microsoft.com/office/powerpoint/2010/main" val="529775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100"/>
              <a:t>Comparative advantage: an example</a:t>
            </a:r>
          </a:p>
        </p:txBody>
      </p:sp>
      <p:sp>
        <p:nvSpPr>
          <p:cNvPr id="8" name="Text Placeholder 3">
            <a:extLst>
              <a:ext uri="{FF2B5EF4-FFF2-40B4-BE49-F238E27FC236}">
                <a16:creationId xmlns:a16="http://schemas.microsoft.com/office/drawing/2014/main" id="{5C0DF157-86D0-8812-DFD4-74C404BC4BC2}"/>
              </a:ext>
            </a:extLst>
          </p:cNvPr>
          <p:cNvSpPr>
            <a:spLocks noGrp="1"/>
          </p:cNvSpPr>
          <p:nvPr>
            <p:ph type="body" sz="quarter" idx="14"/>
          </p:nvPr>
        </p:nvSpPr>
        <p:spPr>
          <a:xfrm>
            <a:off x="725488" y="2157413"/>
            <a:ext cx="2855912" cy="3429000"/>
          </a:xfrm>
        </p:spPr>
        <p:txBody>
          <a:bodyPr/>
          <a:lstStyle/>
          <a:p>
            <a:r>
              <a:rPr lang="en-US" dirty="0"/>
              <a:t>Imagine Carlos produces nothing but wheat.</a:t>
            </a:r>
          </a:p>
          <a:p>
            <a:r>
              <a:rPr lang="en-US" dirty="0"/>
              <a:t>How many apples will be lost?</a:t>
            </a:r>
          </a:p>
        </p:txBody>
      </p:sp>
      <p:graphicFrame>
        <p:nvGraphicFramePr>
          <p:cNvPr id="3" name="Diagram 2">
            <a:extLst>
              <a:ext uri="{FF2B5EF4-FFF2-40B4-BE49-F238E27FC236}">
                <a16:creationId xmlns:a16="http://schemas.microsoft.com/office/drawing/2014/main" id="{F5EF7369-7765-954F-BF2F-4CCAAF9E21F5}"/>
              </a:ext>
            </a:extLst>
          </p:cNvPr>
          <p:cNvGraphicFramePr/>
          <p:nvPr>
            <p:extLst>
              <p:ext uri="{D42A27DB-BD31-4B8C-83A1-F6EECF244321}">
                <p14:modId xmlns:p14="http://schemas.microsoft.com/office/powerpoint/2010/main" val="2756003182"/>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9548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22" y="365125"/>
            <a:ext cx="10515600" cy="935641"/>
          </a:xfrm>
        </p:spPr>
        <p:txBody>
          <a:bodyPr>
            <a:normAutofit/>
          </a:bodyPr>
          <a:lstStyle/>
          <a:p>
            <a:pPr algn="ctr"/>
            <a:r>
              <a:rPr lang="en-GB" sz="4800">
                <a:latin typeface="+mn-lt"/>
              </a:rPr>
              <a:t>Comparative advantage: an example</a:t>
            </a:r>
          </a:p>
        </p:txBody>
      </p:sp>
      <p:graphicFrame>
        <p:nvGraphicFramePr>
          <p:cNvPr id="3" name="Diagram 2">
            <a:extLst>
              <a:ext uri="{FF2B5EF4-FFF2-40B4-BE49-F238E27FC236}">
                <a16:creationId xmlns:a16="http://schemas.microsoft.com/office/drawing/2014/main" id="{F71E2719-3B18-1F42-A105-394D7B324985}"/>
              </a:ext>
            </a:extLst>
          </p:cNvPr>
          <p:cNvGraphicFramePr/>
          <p:nvPr/>
        </p:nvGraphicFramePr>
        <p:xfrm>
          <a:off x="479408" y="1662880"/>
          <a:ext cx="11233184" cy="44012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6397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22" y="365125"/>
            <a:ext cx="10515600" cy="935641"/>
          </a:xfrm>
        </p:spPr>
        <p:txBody>
          <a:bodyPr>
            <a:normAutofit/>
          </a:bodyPr>
          <a:lstStyle/>
          <a:p>
            <a:pPr algn="ctr"/>
            <a:r>
              <a:rPr lang="en-GB" sz="4800">
                <a:latin typeface="+mn-lt"/>
              </a:rPr>
              <a:t>Comparative advantage: an example</a:t>
            </a:r>
          </a:p>
        </p:txBody>
      </p:sp>
      <p:graphicFrame>
        <p:nvGraphicFramePr>
          <p:cNvPr id="3" name="Diagram 2">
            <a:extLst>
              <a:ext uri="{FF2B5EF4-FFF2-40B4-BE49-F238E27FC236}">
                <a16:creationId xmlns:a16="http://schemas.microsoft.com/office/drawing/2014/main" id="{DBE09C85-2650-8D48-AF6F-E0B6AA8C72BF}"/>
              </a:ext>
            </a:extLst>
          </p:cNvPr>
          <p:cNvGraphicFramePr/>
          <p:nvPr/>
        </p:nvGraphicFramePr>
        <p:xfrm>
          <a:off x="479408" y="1662880"/>
          <a:ext cx="11233184" cy="50167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602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CA9F9A9-FA85-4FE8-826E-5E949D3D6141}"/>
              </a:ext>
            </a:extLst>
          </p:cNvPr>
          <p:cNvSpPr>
            <a:spLocks noGrp="1"/>
          </p:cNvSpPr>
          <p:nvPr>
            <p:ph type="sldNum" sz="quarter" idx="12"/>
          </p:nvPr>
        </p:nvSpPr>
        <p:spPr/>
        <p:txBody>
          <a:bodyPr vert="horz" lIns="91440" tIns="45720" rIns="91440" bIns="45720" rtlCol="0" anchor="ctr">
            <a:normAutofit/>
          </a:bodyPr>
          <a:lstStyle/>
          <a:p>
            <a:pPr defTabSz="914400">
              <a:spcAft>
                <a:spcPts val="600"/>
              </a:spcAft>
            </a:pPr>
            <a:fld id="{4FAB73BC-B049-4115-A692-8D63A059BFB8}" type="slidenum">
              <a:rPr lang="en-US" smtClean="0"/>
              <a:pPr defTabSz="914400">
                <a:spcAft>
                  <a:spcPts val="600"/>
                </a:spcAft>
              </a:pPr>
              <a:t>12</a:t>
            </a:fld>
            <a:endParaRPr lang="en-US"/>
          </a:p>
        </p:txBody>
      </p:sp>
      <p:sp>
        <p:nvSpPr>
          <p:cNvPr id="2" name="Title 1">
            <a:extLst>
              <a:ext uri="{FF2B5EF4-FFF2-40B4-BE49-F238E27FC236}">
                <a16:creationId xmlns:a16="http://schemas.microsoft.com/office/drawing/2014/main" id="{659330C0-216D-47BB-9005-5D4A233309F0}"/>
              </a:ext>
            </a:extLst>
          </p:cNvPr>
          <p:cNvSpPr>
            <a:spLocks noGrp="1"/>
          </p:cNvSpPr>
          <p:nvPr>
            <p:ph type="title"/>
          </p:nvPr>
        </p:nvSpPr>
        <p:spPr/>
        <p:txBody>
          <a:bodyPr vert="horz" lIns="91440" tIns="45720" rIns="91440" bIns="45720" rtlCol="0" anchor="ctr">
            <a:normAutofit fontScale="90000"/>
          </a:bodyPr>
          <a:lstStyle/>
          <a:p>
            <a:r>
              <a:rPr lang="en-US" sz="3700" kern="1200" cap="all" spc="100" baseline="0">
                <a:solidFill>
                  <a:schemeClr val="tx1">
                    <a:lumMod val="90000"/>
                    <a:lumOff val="10000"/>
                  </a:schemeClr>
                </a:solidFill>
                <a:latin typeface="+mj-lt"/>
                <a:ea typeface="+mj-ea"/>
                <a:cs typeface="+mj-cs"/>
              </a:rPr>
              <a:t>Production Possibility Frontiers</a:t>
            </a:r>
          </a:p>
        </p:txBody>
      </p:sp>
      <p:pic>
        <p:nvPicPr>
          <p:cNvPr id="9" name="Content Placeholder 8" descr="A picture containing text, indoor, wall, shoji&#10;&#10;Description generated with high confidence">
            <a:extLst>
              <a:ext uri="{FF2B5EF4-FFF2-40B4-BE49-F238E27FC236}">
                <a16:creationId xmlns:a16="http://schemas.microsoft.com/office/drawing/2014/main" id="{A8CC8D54-70A3-4140-8F6D-368BDDBFEFDD}"/>
              </a:ext>
            </a:extLst>
          </p:cNvPr>
          <p:cNvPicPr>
            <a:picLocks noGrp="1" noChangeAspect="1"/>
          </p:cNvPicPr>
          <p:nvPr>
            <p:ph sz="quarter" idx="15"/>
          </p:nvPr>
        </p:nvPicPr>
        <p:blipFill>
          <a:blip r:embed="rId2"/>
          <a:stretch>
            <a:fillRect/>
          </a:stretch>
        </p:blipFill>
        <p:spPr>
          <a:xfrm>
            <a:off x="4645882" y="2384651"/>
            <a:ext cx="7315209" cy="3297478"/>
          </a:xfrm>
          <a:prstGeom prst="rect">
            <a:avLst/>
          </a:prstGeom>
        </p:spPr>
      </p:pic>
      <p:graphicFrame>
        <p:nvGraphicFramePr>
          <p:cNvPr id="8" name="Diagram 7">
            <a:extLst>
              <a:ext uri="{FF2B5EF4-FFF2-40B4-BE49-F238E27FC236}">
                <a16:creationId xmlns:a16="http://schemas.microsoft.com/office/drawing/2014/main" id="{F2135FFF-7275-D18B-E34E-4A04B52C0BB8}"/>
              </a:ext>
            </a:extLst>
          </p:cNvPr>
          <p:cNvGraphicFramePr/>
          <p:nvPr>
            <p:extLst>
              <p:ext uri="{D42A27DB-BD31-4B8C-83A1-F6EECF244321}">
                <p14:modId xmlns:p14="http://schemas.microsoft.com/office/powerpoint/2010/main" val="873645866"/>
              </p:ext>
            </p:extLst>
          </p:nvPr>
        </p:nvGraphicFramePr>
        <p:xfrm>
          <a:off x="1124169" y="2119473"/>
          <a:ext cx="3133580" cy="3931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29438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Output Table</a:t>
            </a:r>
          </a:p>
        </p:txBody>
      </p:sp>
      <p:sp>
        <p:nvSpPr>
          <p:cNvPr id="4" name="Slide Number Placeholder 3"/>
          <p:cNvSpPr>
            <a:spLocks noGrp="1"/>
          </p:cNvSpPr>
          <p:nvPr>
            <p:ph type="sldNum" sz="quarter" idx="12"/>
          </p:nvPr>
        </p:nvSpPr>
        <p:spPr/>
        <p:txBody>
          <a:bodyPr>
            <a:normAutofit/>
          </a:bodyPr>
          <a:lstStyle/>
          <a:p>
            <a:pPr>
              <a:defRPr/>
            </a:pPr>
            <a:fld id="{FAA12CB0-F14E-4954-8FB6-F947104025D7}" type="slidenum">
              <a:rPr lang="en-US" smtClean="0"/>
              <a:pPr>
                <a:defRPr/>
              </a:pPr>
              <a:t>13</a:t>
            </a:fld>
            <a:endParaRPr lang="en-US"/>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2073207996"/>
              </p:ext>
            </p:extLst>
          </p:nvPr>
        </p:nvGraphicFramePr>
        <p:xfrm>
          <a:off x="5497513" y="1826708"/>
          <a:ext cx="5677392" cy="1483360"/>
        </p:xfrm>
        <a:graphic>
          <a:graphicData uri="http://schemas.openxmlformats.org/drawingml/2006/table">
            <a:tbl>
              <a:tblPr firstRow="1" bandRow="1">
                <a:tableStyleId>{5C22544A-7EE6-4342-B048-85BDC9FD1C3A}</a:tableStyleId>
              </a:tblPr>
              <a:tblGrid>
                <a:gridCol w="1892464">
                  <a:extLst>
                    <a:ext uri="{9D8B030D-6E8A-4147-A177-3AD203B41FA5}">
                      <a16:colId xmlns:a16="http://schemas.microsoft.com/office/drawing/2014/main" val="20000"/>
                    </a:ext>
                  </a:extLst>
                </a:gridCol>
                <a:gridCol w="1892464">
                  <a:extLst>
                    <a:ext uri="{9D8B030D-6E8A-4147-A177-3AD203B41FA5}">
                      <a16:colId xmlns:a16="http://schemas.microsoft.com/office/drawing/2014/main" val="20001"/>
                    </a:ext>
                  </a:extLst>
                </a:gridCol>
                <a:gridCol w="1892464">
                  <a:extLst>
                    <a:ext uri="{9D8B030D-6E8A-4147-A177-3AD203B41FA5}">
                      <a16:colId xmlns:a16="http://schemas.microsoft.com/office/drawing/2014/main" val="20002"/>
                    </a:ext>
                  </a:extLst>
                </a:gridCol>
              </a:tblGrid>
              <a:tr h="370840">
                <a:tc>
                  <a:txBody>
                    <a:bodyPr/>
                    <a:lstStyle/>
                    <a:p>
                      <a:endParaRPr lang="en-NZ" dirty="0"/>
                    </a:p>
                  </a:txBody>
                  <a:tcPr marL="106120" marR="106120"/>
                </a:tc>
                <a:tc gridSpan="2">
                  <a:txBody>
                    <a:bodyPr/>
                    <a:lstStyle/>
                    <a:p>
                      <a:pPr algn="ctr"/>
                      <a:r>
                        <a:rPr lang="en-NZ" dirty="0"/>
                        <a:t>Total Output</a:t>
                      </a:r>
                    </a:p>
                  </a:txBody>
                  <a:tcPr marL="106120" marR="106120"/>
                </a:tc>
                <a:tc hMerge="1">
                  <a:txBody>
                    <a:bodyPr/>
                    <a:lstStyle/>
                    <a:p>
                      <a:endParaRPr lang="en-NZ" dirty="0"/>
                    </a:p>
                  </a:txBody>
                  <a:tcPr/>
                </a:tc>
                <a:extLst>
                  <a:ext uri="{0D108BD9-81ED-4DB2-BD59-A6C34878D82A}">
                    <a16:rowId xmlns:a16="http://schemas.microsoft.com/office/drawing/2014/main" val="10000"/>
                  </a:ext>
                </a:extLst>
              </a:tr>
              <a:tr h="370840">
                <a:tc>
                  <a:txBody>
                    <a:bodyPr/>
                    <a:lstStyle/>
                    <a:p>
                      <a:endParaRPr lang="en-NZ"/>
                    </a:p>
                  </a:txBody>
                  <a:tcPr marL="106120" marR="106120"/>
                </a:tc>
                <a:tc>
                  <a:txBody>
                    <a:bodyPr/>
                    <a:lstStyle/>
                    <a:p>
                      <a:pPr algn="ctr"/>
                      <a:r>
                        <a:rPr lang="en-NZ" dirty="0"/>
                        <a:t>Total TVs</a:t>
                      </a:r>
                    </a:p>
                  </a:txBody>
                  <a:tcPr marL="106120" marR="106120"/>
                </a:tc>
                <a:tc>
                  <a:txBody>
                    <a:bodyPr/>
                    <a:lstStyle/>
                    <a:p>
                      <a:pPr algn="ctr"/>
                      <a:r>
                        <a:rPr lang="en-NZ" dirty="0"/>
                        <a:t>Total Fish</a:t>
                      </a:r>
                    </a:p>
                  </a:txBody>
                  <a:tcPr marL="106120" marR="106120"/>
                </a:tc>
                <a:extLst>
                  <a:ext uri="{0D108BD9-81ED-4DB2-BD59-A6C34878D82A}">
                    <a16:rowId xmlns:a16="http://schemas.microsoft.com/office/drawing/2014/main" val="10001"/>
                  </a:ext>
                </a:extLst>
              </a:tr>
              <a:tr h="370840">
                <a:tc>
                  <a:txBody>
                    <a:bodyPr/>
                    <a:lstStyle/>
                    <a:p>
                      <a:r>
                        <a:rPr lang="en-NZ" dirty="0"/>
                        <a:t>NZ</a:t>
                      </a:r>
                    </a:p>
                  </a:txBody>
                  <a:tcPr marL="106120" marR="106120"/>
                </a:tc>
                <a:tc>
                  <a:txBody>
                    <a:bodyPr/>
                    <a:lstStyle/>
                    <a:p>
                      <a:pPr algn="ctr"/>
                      <a:r>
                        <a:rPr lang="en-NZ" dirty="0"/>
                        <a:t>30</a:t>
                      </a:r>
                    </a:p>
                  </a:txBody>
                  <a:tcPr marL="106120" marR="106120"/>
                </a:tc>
                <a:tc>
                  <a:txBody>
                    <a:bodyPr/>
                    <a:lstStyle/>
                    <a:p>
                      <a:pPr algn="ctr"/>
                      <a:r>
                        <a:rPr lang="en-NZ" dirty="0"/>
                        <a:t>60</a:t>
                      </a:r>
                    </a:p>
                  </a:txBody>
                  <a:tcPr marL="106120" marR="106120"/>
                </a:tc>
                <a:extLst>
                  <a:ext uri="{0D108BD9-81ED-4DB2-BD59-A6C34878D82A}">
                    <a16:rowId xmlns:a16="http://schemas.microsoft.com/office/drawing/2014/main" val="10002"/>
                  </a:ext>
                </a:extLst>
              </a:tr>
              <a:tr h="370840">
                <a:tc>
                  <a:txBody>
                    <a:bodyPr/>
                    <a:lstStyle/>
                    <a:p>
                      <a:r>
                        <a:rPr lang="en-NZ" dirty="0"/>
                        <a:t>Singapore</a:t>
                      </a:r>
                    </a:p>
                  </a:txBody>
                  <a:tcPr marL="106120" marR="106120"/>
                </a:tc>
                <a:tc>
                  <a:txBody>
                    <a:bodyPr/>
                    <a:lstStyle/>
                    <a:p>
                      <a:pPr algn="ctr"/>
                      <a:r>
                        <a:rPr lang="en-NZ" dirty="0"/>
                        <a:t>40</a:t>
                      </a:r>
                    </a:p>
                  </a:txBody>
                  <a:tcPr marL="106120" marR="106120"/>
                </a:tc>
                <a:tc>
                  <a:txBody>
                    <a:bodyPr/>
                    <a:lstStyle/>
                    <a:p>
                      <a:pPr algn="ctr"/>
                      <a:r>
                        <a:rPr lang="en-NZ" dirty="0"/>
                        <a:t>30</a:t>
                      </a:r>
                    </a:p>
                  </a:txBody>
                  <a:tcPr marL="106120" marR="106120"/>
                </a:tc>
                <a:extLst>
                  <a:ext uri="{0D108BD9-81ED-4DB2-BD59-A6C34878D82A}">
                    <a16:rowId xmlns:a16="http://schemas.microsoft.com/office/drawing/2014/main" val="10003"/>
                  </a:ext>
                </a:extLst>
              </a:tr>
            </a:tbl>
          </a:graphicData>
        </a:graphic>
      </p:graphicFrame>
      <p:graphicFrame>
        <p:nvGraphicFramePr>
          <p:cNvPr id="8" name="Diagram 7">
            <a:extLst>
              <a:ext uri="{FF2B5EF4-FFF2-40B4-BE49-F238E27FC236}">
                <a16:creationId xmlns:a16="http://schemas.microsoft.com/office/drawing/2014/main" id="{FA99CCAF-2D07-4B1A-9F93-30A65DAA780D}"/>
              </a:ext>
            </a:extLst>
          </p:cNvPr>
          <p:cNvGraphicFramePr/>
          <p:nvPr>
            <p:extLst>
              <p:ext uri="{D42A27DB-BD31-4B8C-83A1-F6EECF244321}">
                <p14:modId xmlns:p14="http://schemas.microsoft.com/office/powerpoint/2010/main" val="454573354"/>
              </p:ext>
            </p:extLst>
          </p:nvPr>
        </p:nvGraphicFramePr>
        <p:xfrm>
          <a:off x="486173" y="1597678"/>
          <a:ext cx="3731649" cy="37622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238357BA-AC76-4E5F-8007-1F1F6F91148C}"/>
              </a:ext>
            </a:extLst>
          </p:cNvPr>
          <p:cNvSpPr txBox="1"/>
          <p:nvPr/>
        </p:nvSpPr>
        <p:spPr>
          <a:xfrm>
            <a:off x="6272960" y="3819917"/>
            <a:ext cx="4126498" cy="1200329"/>
          </a:xfrm>
          <a:prstGeom prst="rect">
            <a:avLst/>
          </a:prstGeom>
          <a:noFill/>
        </p:spPr>
        <p:txBody>
          <a:bodyPr wrap="square" rtlCol="0">
            <a:spAutoFit/>
          </a:bodyPr>
          <a:lstStyle/>
          <a:p>
            <a:r>
              <a:rPr lang="en-NZ" sz="2400" dirty="0"/>
              <a:t>A shortcut to calculating the opportunity cost for any good is the </a:t>
            </a:r>
            <a:r>
              <a:rPr lang="en-NZ" sz="2400" b="1" dirty="0">
                <a:solidFill>
                  <a:srgbClr val="FF0000"/>
                </a:solidFill>
              </a:rPr>
              <a:t>loss/gain </a:t>
            </a:r>
            <a:r>
              <a:rPr lang="en-NZ" sz="2400" dirty="0"/>
              <a:t>rule</a:t>
            </a:r>
            <a:r>
              <a:rPr lang="en-NZ" dirty="0"/>
              <a:t>.</a:t>
            </a:r>
          </a:p>
        </p:txBody>
      </p:sp>
    </p:spTree>
    <p:extLst>
      <p:ext uri="{BB962C8B-B14F-4D97-AF65-F5344CB8AC3E}">
        <p14:creationId xmlns:p14="http://schemas.microsoft.com/office/powerpoint/2010/main" val="128588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Output Table: Ratios</a:t>
            </a:r>
          </a:p>
        </p:txBody>
      </p:sp>
      <p:sp>
        <p:nvSpPr>
          <p:cNvPr id="4" name="Slide Number Placeholder 3"/>
          <p:cNvSpPr>
            <a:spLocks noGrp="1"/>
          </p:cNvSpPr>
          <p:nvPr>
            <p:ph type="sldNum" sz="quarter" idx="12"/>
          </p:nvPr>
        </p:nvSpPr>
        <p:spPr/>
        <p:txBody>
          <a:bodyPr>
            <a:normAutofit/>
          </a:bodyPr>
          <a:lstStyle/>
          <a:p>
            <a:pPr>
              <a:defRPr/>
            </a:pPr>
            <a:fld id="{FAA12CB0-F14E-4954-8FB6-F947104025D7}" type="slidenum">
              <a:rPr lang="en-US" smtClean="0"/>
              <a:pPr>
                <a:defRPr/>
              </a:pPr>
              <a:t>14</a:t>
            </a:fld>
            <a:endParaRPr lang="en-US"/>
          </a:p>
        </p:txBody>
      </p:sp>
      <p:sp>
        <p:nvSpPr>
          <p:cNvPr id="5" name="Text Placeholder 4">
            <a:extLst>
              <a:ext uri="{FF2B5EF4-FFF2-40B4-BE49-F238E27FC236}">
                <a16:creationId xmlns:a16="http://schemas.microsoft.com/office/drawing/2014/main" id="{82F60B55-2EF1-427A-9AE3-31F0DFC1853D}"/>
              </a:ext>
            </a:extLst>
          </p:cNvPr>
          <p:cNvSpPr>
            <a:spLocks noGrp="1"/>
          </p:cNvSpPr>
          <p:nvPr>
            <p:ph type="body" sz="quarter" idx="14"/>
          </p:nvPr>
        </p:nvSpPr>
        <p:spPr>
          <a:xfrm>
            <a:off x="341244" y="1623918"/>
            <a:ext cx="3224077" cy="3040361"/>
          </a:xfrm>
        </p:spPr>
        <p:txBody>
          <a:bodyPr/>
          <a:lstStyle/>
          <a:p>
            <a:r>
              <a:rPr lang="en-NZ" dirty="0"/>
              <a:t>NZ has lowest opportunity cost of fish</a:t>
            </a:r>
          </a:p>
          <a:p>
            <a:r>
              <a:rPr lang="en-NZ" dirty="0"/>
              <a:t>Singapore has lowest opportunity cost of TVs</a:t>
            </a:r>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1738687543"/>
              </p:ext>
            </p:extLst>
          </p:nvPr>
        </p:nvGraphicFramePr>
        <p:xfrm>
          <a:off x="4957553" y="2342524"/>
          <a:ext cx="6491622" cy="1483360"/>
        </p:xfrm>
        <a:graphic>
          <a:graphicData uri="http://schemas.openxmlformats.org/drawingml/2006/table">
            <a:tbl>
              <a:tblPr firstRow="1" bandRow="1">
                <a:tableStyleId>{F5AB1C69-6EDB-4FF4-983F-18BD219EF322}</a:tableStyleId>
              </a:tblPr>
              <a:tblGrid>
                <a:gridCol w="2163874">
                  <a:extLst>
                    <a:ext uri="{9D8B030D-6E8A-4147-A177-3AD203B41FA5}">
                      <a16:colId xmlns:a16="http://schemas.microsoft.com/office/drawing/2014/main" val="20000"/>
                    </a:ext>
                  </a:extLst>
                </a:gridCol>
                <a:gridCol w="2163874">
                  <a:extLst>
                    <a:ext uri="{9D8B030D-6E8A-4147-A177-3AD203B41FA5}">
                      <a16:colId xmlns:a16="http://schemas.microsoft.com/office/drawing/2014/main" val="20001"/>
                    </a:ext>
                  </a:extLst>
                </a:gridCol>
                <a:gridCol w="2163874">
                  <a:extLst>
                    <a:ext uri="{9D8B030D-6E8A-4147-A177-3AD203B41FA5}">
                      <a16:colId xmlns:a16="http://schemas.microsoft.com/office/drawing/2014/main" val="20002"/>
                    </a:ext>
                  </a:extLst>
                </a:gridCol>
              </a:tblGrid>
              <a:tr h="370840">
                <a:tc>
                  <a:txBody>
                    <a:bodyPr/>
                    <a:lstStyle/>
                    <a:p>
                      <a:endParaRPr lang="en-NZ" dirty="0"/>
                    </a:p>
                  </a:txBody>
                  <a:tcPr marL="121339" marR="121339"/>
                </a:tc>
                <a:tc gridSpan="2">
                  <a:txBody>
                    <a:bodyPr/>
                    <a:lstStyle/>
                    <a:p>
                      <a:pPr algn="ctr"/>
                      <a:r>
                        <a:rPr lang="en-NZ" dirty="0"/>
                        <a:t>Opportunity Cost of TV</a:t>
                      </a:r>
                    </a:p>
                  </a:txBody>
                  <a:tcPr marL="121339" marR="121339"/>
                </a:tc>
                <a:tc hMerge="1">
                  <a:txBody>
                    <a:bodyPr/>
                    <a:lstStyle/>
                    <a:p>
                      <a:endParaRPr lang="en-NZ" dirty="0"/>
                    </a:p>
                  </a:txBody>
                  <a:tcPr/>
                </a:tc>
                <a:extLst>
                  <a:ext uri="{0D108BD9-81ED-4DB2-BD59-A6C34878D82A}">
                    <a16:rowId xmlns:a16="http://schemas.microsoft.com/office/drawing/2014/main" val="10000"/>
                  </a:ext>
                </a:extLst>
              </a:tr>
              <a:tr h="370840">
                <a:tc>
                  <a:txBody>
                    <a:bodyPr/>
                    <a:lstStyle/>
                    <a:p>
                      <a:endParaRPr lang="en-NZ"/>
                    </a:p>
                  </a:txBody>
                  <a:tcPr marL="121339" marR="121339"/>
                </a:tc>
                <a:tc>
                  <a:txBody>
                    <a:bodyPr/>
                    <a:lstStyle/>
                    <a:p>
                      <a:pPr algn="ctr"/>
                      <a:r>
                        <a:rPr lang="en-NZ" dirty="0"/>
                        <a:t>Total TVs</a:t>
                      </a:r>
                    </a:p>
                  </a:txBody>
                  <a:tcPr marL="121339" marR="121339"/>
                </a:tc>
                <a:tc>
                  <a:txBody>
                    <a:bodyPr/>
                    <a:lstStyle/>
                    <a:p>
                      <a:pPr algn="ctr"/>
                      <a:r>
                        <a:rPr lang="en-NZ" dirty="0"/>
                        <a:t>Total Fish</a:t>
                      </a:r>
                    </a:p>
                  </a:txBody>
                  <a:tcPr marL="121339" marR="121339"/>
                </a:tc>
                <a:extLst>
                  <a:ext uri="{0D108BD9-81ED-4DB2-BD59-A6C34878D82A}">
                    <a16:rowId xmlns:a16="http://schemas.microsoft.com/office/drawing/2014/main" val="10001"/>
                  </a:ext>
                </a:extLst>
              </a:tr>
              <a:tr h="370840">
                <a:tc>
                  <a:txBody>
                    <a:bodyPr/>
                    <a:lstStyle/>
                    <a:p>
                      <a:r>
                        <a:rPr lang="en-NZ" dirty="0"/>
                        <a:t>NZ</a:t>
                      </a:r>
                    </a:p>
                  </a:txBody>
                  <a:tcPr marL="121339" marR="121339"/>
                </a:tc>
                <a:tc>
                  <a:txBody>
                    <a:bodyPr/>
                    <a:lstStyle/>
                    <a:p>
                      <a:pPr algn="ctr"/>
                      <a:r>
                        <a:rPr lang="en-NZ" dirty="0"/>
                        <a:t>60/30</a:t>
                      </a:r>
                    </a:p>
                  </a:txBody>
                  <a:tcPr marL="121339" marR="121339"/>
                </a:tc>
                <a:tc>
                  <a:txBody>
                    <a:bodyPr/>
                    <a:lstStyle/>
                    <a:p>
                      <a:pPr algn="ctr"/>
                      <a:r>
                        <a:rPr lang="en-NZ" dirty="0"/>
                        <a:t>60</a:t>
                      </a:r>
                    </a:p>
                  </a:txBody>
                  <a:tcPr marL="121339" marR="121339"/>
                </a:tc>
                <a:extLst>
                  <a:ext uri="{0D108BD9-81ED-4DB2-BD59-A6C34878D82A}">
                    <a16:rowId xmlns:a16="http://schemas.microsoft.com/office/drawing/2014/main" val="10002"/>
                  </a:ext>
                </a:extLst>
              </a:tr>
              <a:tr h="370840">
                <a:tc>
                  <a:txBody>
                    <a:bodyPr/>
                    <a:lstStyle/>
                    <a:p>
                      <a:r>
                        <a:rPr lang="en-NZ" dirty="0"/>
                        <a:t>Singapore</a:t>
                      </a:r>
                    </a:p>
                  </a:txBody>
                  <a:tcPr marL="121339" marR="121339"/>
                </a:tc>
                <a:tc>
                  <a:txBody>
                    <a:bodyPr/>
                    <a:lstStyle/>
                    <a:p>
                      <a:pPr algn="ctr"/>
                      <a:r>
                        <a:rPr lang="en-NZ" dirty="0">
                          <a:solidFill>
                            <a:srgbClr val="FF0000"/>
                          </a:solidFill>
                        </a:rPr>
                        <a:t>30/40</a:t>
                      </a:r>
                    </a:p>
                  </a:txBody>
                  <a:tcPr marL="121339" marR="121339"/>
                </a:tc>
                <a:tc>
                  <a:txBody>
                    <a:bodyPr/>
                    <a:lstStyle/>
                    <a:p>
                      <a:pPr algn="ctr"/>
                      <a:r>
                        <a:rPr lang="en-NZ" dirty="0"/>
                        <a:t>30</a:t>
                      </a:r>
                    </a:p>
                  </a:txBody>
                  <a:tcPr marL="121339" marR="121339"/>
                </a:tc>
                <a:extLst>
                  <a:ext uri="{0D108BD9-81ED-4DB2-BD59-A6C34878D82A}">
                    <a16:rowId xmlns:a16="http://schemas.microsoft.com/office/drawing/2014/main" val="10003"/>
                  </a:ext>
                </a:extLst>
              </a:tr>
            </a:tbl>
          </a:graphicData>
        </a:graphic>
      </p:graphicFrame>
      <p:graphicFrame>
        <p:nvGraphicFramePr>
          <p:cNvPr id="9" name="Content Placeholder 5">
            <a:extLst>
              <a:ext uri="{FF2B5EF4-FFF2-40B4-BE49-F238E27FC236}">
                <a16:creationId xmlns:a16="http://schemas.microsoft.com/office/drawing/2014/main" id="{750B61FF-C6CD-4B02-99C0-3D873210E638}"/>
              </a:ext>
            </a:extLst>
          </p:cNvPr>
          <p:cNvGraphicFramePr>
            <a:graphicFrameLocks/>
          </p:cNvGraphicFramePr>
          <p:nvPr>
            <p:extLst>
              <p:ext uri="{D42A27DB-BD31-4B8C-83A1-F6EECF244321}">
                <p14:modId xmlns:p14="http://schemas.microsoft.com/office/powerpoint/2010/main" val="2022441089"/>
              </p:ext>
            </p:extLst>
          </p:nvPr>
        </p:nvGraphicFramePr>
        <p:xfrm>
          <a:off x="4957553" y="4379283"/>
          <a:ext cx="6413145" cy="1483360"/>
        </p:xfrm>
        <a:graphic>
          <a:graphicData uri="http://schemas.openxmlformats.org/drawingml/2006/table">
            <a:tbl>
              <a:tblPr firstRow="1" bandRow="1">
                <a:tableStyleId>{21E4AEA4-8DFA-4A89-87EB-49C32662AFE0}</a:tableStyleId>
              </a:tblPr>
              <a:tblGrid>
                <a:gridCol w="2137715">
                  <a:extLst>
                    <a:ext uri="{9D8B030D-6E8A-4147-A177-3AD203B41FA5}">
                      <a16:colId xmlns:a16="http://schemas.microsoft.com/office/drawing/2014/main" val="20000"/>
                    </a:ext>
                  </a:extLst>
                </a:gridCol>
                <a:gridCol w="2137715">
                  <a:extLst>
                    <a:ext uri="{9D8B030D-6E8A-4147-A177-3AD203B41FA5}">
                      <a16:colId xmlns:a16="http://schemas.microsoft.com/office/drawing/2014/main" val="20001"/>
                    </a:ext>
                  </a:extLst>
                </a:gridCol>
                <a:gridCol w="2137715">
                  <a:extLst>
                    <a:ext uri="{9D8B030D-6E8A-4147-A177-3AD203B41FA5}">
                      <a16:colId xmlns:a16="http://schemas.microsoft.com/office/drawing/2014/main" val="20002"/>
                    </a:ext>
                  </a:extLst>
                </a:gridCol>
              </a:tblGrid>
              <a:tr h="370840">
                <a:tc>
                  <a:txBody>
                    <a:bodyPr/>
                    <a:lstStyle/>
                    <a:p>
                      <a:endParaRPr lang="en-NZ" dirty="0"/>
                    </a:p>
                  </a:txBody>
                  <a:tcPr marL="106120" marR="106120"/>
                </a:tc>
                <a:tc gridSpan="2">
                  <a:txBody>
                    <a:bodyPr/>
                    <a:lstStyle/>
                    <a:p>
                      <a:pPr algn="ctr"/>
                      <a:r>
                        <a:rPr lang="en-NZ" dirty="0"/>
                        <a:t>Opportunity Cost of Fish</a:t>
                      </a:r>
                    </a:p>
                  </a:txBody>
                  <a:tcPr marL="106120" marR="106120"/>
                </a:tc>
                <a:tc hMerge="1">
                  <a:txBody>
                    <a:bodyPr/>
                    <a:lstStyle/>
                    <a:p>
                      <a:endParaRPr lang="en-NZ" dirty="0"/>
                    </a:p>
                  </a:txBody>
                  <a:tcPr/>
                </a:tc>
                <a:extLst>
                  <a:ext uri="{0D108BD9-81ED-4DB2-BD59-A6C34878D82A}">
                    <a16:rowId xmlns:a16="http://schemas.microsoft.com/office/drawing/2014/main" val="10000"/>
                  </a:ext>
                </a:extLst>
              </a:tr>
              <a:tr h="370840">
                <a:tc>
                  <a:txBody>
                    <a:bodyPr/>
                    <a:lstStyle/>
                    <a:p>
                      <a:endParaRPr lang="en-NZ"/>
                    </a:p>
                  </a:txBody>
                  <a:tcPr marL="106120" marR="106120"/>
                </a:tc>
                <a:tc>
                  <a:txBody>
                    <a:bodyPr/>
                    <a:lstStyle/>
                    <a:p>
                      <a:pPr algn="ctr"/>
                      <a:r>
                        <a:rPr lang="en-NZ" dirty="0"/>
                        <a:t>Total TVs</a:t>
                      </a:r>
                    </a:p>
                  </a:txBody>
                  <a:tcPr marL="106120" marR="106120"/>
                </a:tc>
                <a:tc>
                  <a:txBody>
                    <a:bodyPr/>
                    <a:lstStyle/>
                    <a:p>
                      <a:pPr algn="ctr"/>
                      <a:r>
                        <a:rPr lang="en-NZ" dirty="0"/>
                        <a:t>Total Fish</a:t>
                      </a:r>
                    </a:p>
                  </a:txBody>
                  <a:tcPr marL="106120" marR="106120"/>
                </a:tc>
                <a:extLst>
                  <a:ext uri="{0D108BD9-81ED-4DB2-BD59-A6C34878D82A}">
                    <a16:rowId xmlns:a16="http://schemas.microsoft.com/office/drawing/2014/main" val="10001"/>
                  </a:ext>
                </a:extLst>
              </a:tr>
              <a:tr h="370840">
                <a:tc>
                  <a:txBody>
                    <a:bodyPr/>
                    <a:lstStyle/>
                    <a:p>
                      <a:r>
                        <a:rPr lang="en-NZ" dirty="0"/>
                        <a:t>NZ</a:t>
                      </a:r>
                    </a:p>
                  </a:txBody>
                  <a:tcPr marL="106120" marR="106120"/>
                </a:tc>
                <a:tc>
                  <a:txBody>
                    <a:bodyPr/>
                    <a:lstStyle/>
                    <a:p>
                      <a:pPr algn="ctr"/>
                      <a:r>
                        <a:rPr lang="en-NZ" dirty="0"/>
                        <a:t>30</a:t>
                      </a:r>
                    </a:p>
                  </a:txBody>
                  <a:tcPr marL="106120" marR="106120"/>
                </a:tc>
                <a:tc>
                  <a:txBody>
                    <a:bodyPr/>
                    <a:lstStyle/>
                    <a:p>
                      <a:pPr algn="ctr"/>
                      <a:r>
                        <a:rPr lang="en-NZ" dirty="0">
                          <a:solidFill>
                            <a:srgbClr val="FF0000"/>
                          </a:solidFill>
                        </a:rPr>
                        <a:t>30/60</a:t>
                      </a:r>
                    </a:p>
                  </a:txBody>
                  <a:tcPr marL="106120" marR="106120"/>
                </a:tc>
                <a:extLst>
                  <a:ext uri="{0D108BD9-81ED-4DB2-BD59-A6C34878D82A}">
                    <a16:rowId xmlns:a16="http://schemas.microsoft.com/office/drawing/2014/main" val="10002"/>
                  </a:ext>
                </a:extLst>
              </a:tr>
              <a:tr h="370840">
                <a:tc>
                  <a:txBody>
                    <a:bodyPr/>
                    <a:lstStyle/>
                    <a:p>
                      <a:r>
                        <a:rPr lang="en-NZ" dirty="0"/>
                        <a:t>Singapore</a:t>
                      </a:r>
                    </a:p>
                  </a:txBody>
                  <a:tcPr marL="106120" marR="106120"/>
                </a:tc>
                <a:tc>
                  <a:txBody>
                    <a:bodyPr/>
                    <a:lstStyle/>
                    <a:p>
                      <a:pPr algn="ctr"/>
                      <a:r>
                        <a:rPr lang="en-NZ" dirty="0"/>
                        <a:t>40</a:t>
                      </a:r>
                    </a:p>
                  </a:txBody>
                  <a:tcPr marL="106120" marR="106120"/>
                </a:tc>
                <a:tc>
                  <a:txBody>
                    <a:bodyPr/>
                    <a:lstStyle/>
                    <a:p>
                      <a:pPr algn="ctr"/>
                      <a:r>
                        <a:rPr lang="en-NZ" dirty="0"/>
                        <a:t>40/30</a:t>
                      </a:r>
                    </a:p>
                  </a:txBody>
                  <a:tcPr marL="106120" marR="10612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56674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3564D-5379-4804-81E1-305BE9DE8398}"/>
              </a:ext>
            </a:extLst>
          </p:cNvPr>
          <p:cNvSpPr>
            <a:spLocks noGrp="1"/>
          </p:cNvSpPr>
          <p:nvPr>
            <p:ph type="title"/>
          </p:nvPr>
        </p:nvSpPr>
        <p:spPr/>
        <p:txBody>
          <a:bodyPr/>
          <a:lstStyle/>
          <a:p>
            <a:r>
              <a:rPr lang="en-NZ" dirty="0"/>
              <a:t>Under No Trade</a:t>
            </a:r>
          </a:p>
        </p:txBody>
      </p:sp>
      <p:sp>
        <p:nvSpPr>
          <p:cNvPr id="5" name="Slide Number Placeholder 4">
            <a:extLst>
              <a:ext uri="{FF2B5EF4-FFF2-40B4-BE49-F238E27FC236}">
                <a16:creationId xmlns:a16="http://schemas.microsoft.com/office/drawing/2014/main" id="{F091AB56-AF5F-4981-BCA4-2B086BFC7DB4}"/>
              </a:ext>
            </a:extLst>
          </p:cNvPr>
          <p:cNvSpPr>
            <a:spLocks noGrp="1"/>
          </p:cNvSpPr>
          <p:nvPr>
            <p:ph type="sldNum" sz="quarter" idx="12"/>
          </p:nvPr>
        </p:nvSpPr>
        <p:spPr/>
        <p:txBody>
          <a:bodyPr/>
          <a:lstStyle/>
          <a:p>
            <a:fld id="{4FAB73BC-B049-4115-A692-8D63A059BFB8}" type="slidenum">
              <a:rPr lang="en-US" smtClean="0"/>
              <a:t>15</a:t>
            </a:fld>
            <a:endParaRPr lang="en-US" dirty="0"/>
          </a:p>
        </p:txBody>
      </p:sp>
      <p:graphicFrame>
        <p:nvGraphicFramePr>
          <p:cNvPr id="7" name="Content Placeholder 6">
            <a:extLst>
              <a:ext uri="{FF2B5EF4-FFF2-40B4-BE49-F238E27FC236}">
                <a16:creationId xmlns:a16="http://schemas.microsoft.com/office/drawing/2014/main" id="{ACAF8238-1251-4442-B288-AD687A6A19F0}"/>
              </a:ext>
            </a:extLst>
          </p:cNvPr>
          <p:cNvGraphicFramePr>
            <a:graphicFrameLocks noGrp="1"/>
          </p:cNvGraphicFramePr>
          <p:nvPr>
            <p:ph sz="quarter" idx="4294967295"/>
            <p:extLst>
              <p:ext uri="{D42A27DB-BD31-4B8C-83A1-F6EECF244321}">
                <p14:modId xmlns:p14="http://schemas.microsoft.com/office/powerpoint/2010/main" val="849083412"/>
              </p:ext>
            </p:extLst>
          </p:nvPr>
        </p:nvGraphicFramePr>
        <p:xfrm>
          <a:off x="4622218" y="1774344"/>
          <a:ext cx="6834255" cy="1828800"/>
        </p:xfrm>
        <a:graphic>
          <a:graphicData uri="http://schemas.openxmlformats.org/drawingml/2006/table">
            <a:tbl>
              <a:tblPr firstRow="1" bandRow="1">
                <a:tableStyleId>{5C22544A-7EE6-4342-B048-85BDC9FD1C3A}</a:tableStyleId>
              </a:tblPr>
              <a:tblGrid>
                <a:gridCol w="2278085">
                  <a:extLst>
                    <a:ext uri="{9D8B030D-6E8A-4147-A177-3AD203B41FA5}">
                      <a16:colId xmlns:a16="http://schemas.microsoft.com/office/drawing/2014/main" val="3600470716"/>
                    </a:ext>
                  </a:extLst>
                </a:gridCol>
                <a:gridCol w="2278085">
                  <a:extLst>
                    <a:ext uri="{9D8B030D-6E8A-4147-A177-3AD203B41FA5}">
                      <a16:colId xmlns:a16="http://schemas.microsoft.com/office/drawing/2014/main" val="3968909141"/>
                    </a:ext>
                  </a:extLst>
                </a:gridCol>
                <a:gridCol w="2278085">
                  <a:extLst>
                    <a:ext uri="{9D8B030D-6E8A-4147-A177-3AD203B41FA5}">
                      <a16:colId xmlns:a16="http://schemas.microsoft.com/office/drawing/2014/main" val="2105814815"/>
                    </a:ext>
                  </a:extLst>
                </a:gridCol>
              </a:tblGrid>
              <a:tr h="335772">
                <a:tc gridSpan="3">
                  <a:txBody>
                    <a:bodyPr/>
                    <a:lstStyle/>
                    <a:p>
                      <a:r>
                        <a:rPr lang="en-NZ" dirty="0"/>
                        <a:t>Production and Consumption</a:t>
                      </a:r>
                    </a:p>
                  </a:txBody>
                  <a:tcPr marL="79527" marR="79527"/>
                </a:tc>
                <a:tc hMerge="1">
                  <a:txBody>
                    <a:bodyPr/>
                    <a:lstStyle/>
                    <a:p>
                      <a:endParaRPr lang="en-NZ"/>
                    </a:p>
                  </a:txBody>
                  <a:tcPr/>
                </a:tc>
                <a:tc hMerge="1">
                  <a:txBody>
                    <a:bodyPr/>
                    <a:lstStyle/>
                    <a:p>
                      <a:endParaRPr lang="en-NZ" dirty="0"/>
                    </a:p>
                  </a:txBody>
                  <a:tcPr/>
                </a:tc>
                <a:extLst>
                  <a:ext uri="{0D108BD9-81ED-4DB2-BD59-A6C34878D82A}">
                    <a16:rowId xmlns:a16="http://schemas.microsoft.com/office/drawing/2014/main" val="3176956997"/>
                  </a:ext>
                </a:extLst>
              </a:tr>
              <a:tr h="335772">
                <a:tc>
                  <a:txBody>
                    <a:bodyPr/>
                    <a:lstStyle/>
                    <a:p>
                      <a:endParaRPr lang="en-NZ"/>
                    </a:p>
                  </a:txBody>
                  <a:tcPr marL="79527" marR="79527"/>
                </a:tc>
                <a:tc>
                  <a:txBody>
                    <a:bodyPr/>
                    <a:lstStyle/>
                    <a:p>
                      <a:pPr algn="ctr"/>
                      <a:r>
                        <a:rPr lang="en-NZ" dirty="0"/>
                        <a:t>TVs</a:t>
                      </a:r>
                    </a:p>
                  </a:txBody>
                  <a:tcPr marL="79527" marR="79527"/>
                </a:tc>
                <a:tc>
                  <a:txBody>
                    <a:bodyPr/>
                    <a:lstStyle/>
                    <a:p>
                      <a:pPr algn="ctr"/>
                      <a:r>
                        <a:rPr lang="en-NZ" dirty="0"/>
                        <a:t>Fish</a:t>
                      </a:r>
                    </a:p>
                  </a:txBody>
                  <a:tcPr marL="79527" marR="79527"/>
                </a:tc>
                <a:extLst>
                  <a:ext uri="{0D108BD9-81ED-4DB2-BD59-A6C34878D82A}">
                    <a16:rowId xmlns:a16="http://schemas.microsoft.com/office/drawing/2014/main" val="3134251197"/>
                  </a:ext>
                </a:extLst>
              </a:tr>
              <a:tr h="335772">
                <a:tc>
                  <a:txBody>
                    <a:bodyPr/>
                    <a:lstStyle/>
                    <a:p>
                      <a:r>
                        <a:rPr lang="en-NZ" dirty="0"/>
                        <a:t>NZ</a:t>
                      </a:r>
                    </a:p>
                  </a:txBody>
                  <a:tcPr marL="79527" marR="79527"/>
                </a:tc>
                <a:tc>
                  <a:txBody>
                    <a:bodyPr/>
                    <a:lstStyle/>
                    <a:p>
                      <a:pPr algn="ctr"/>
                      <a:r>
                        <a:rPr lang="en-NZ" dirty="0"/>
                        <a:t>15</a:t>
                      </a:r>
                    </a:p>
                  </a:txBody>
                  <a:tcPr marL="79527" marR="79527"/>
                </a:tc>
                <a:tc>
                  <a:txBody>
                    <a:bodyPr/>
                    <a:lstStyle/>
                    <a:p>
                      <a:pPr algn="ctr"/>
                      <a:r>
                        <a:rPr lang="en-NZ" dirty="0"/>
                        <a:t>30</a:t>
                      </a:r>
                    </a:p>
                  </a:txBody>
                  <a:tcPr marL="79527" marR="79527"/>
                </a:tc>
                <a:extLst>
                  <a:ext uri="{0D108BD9-81ED-4DB2-BD59-A6C34878D82A}">
                    <a16:rowId xmlns:a16="http://schemas.microsoft.com/office/drawing/2014/main" val="1825759622"/>
                  </a:ext>
                </a:extLst>
              </a:tr>
              <a:tr h="335772">
                <a:tc>
                  <a:txBody>
                    <a:bodyPr/>
                    <a:lstStyle/>
                    <a:p>
                      <a:r>
                        <a:rPr lang="en-NZ" dirty="0"/>
                        <a:t>Singapore</a:t>
                      </a:r>
                    </a:p>
                  </a:txBody>
                  <a:tcPr marL="79527" marR="79527"/>
                </a:tc>
                <a:tc>
                  <a:txBody>
                    <a:bodyPr/>
                    <a:lstStyle/>
                    <a:p>
                      <a:pPr algn="ctr"/>
                      <a:r>
                        <a:rPr lang="en-NZ" dirty="0"/>
                        <a:t>20</a:t>
                      </a:r>
                    </a:p>
                  </a:txBody>
                  <a:tcPr marL="79527" marR="79527"/>
                </a:tc>
                <a:tc>
                  <a:txBody>
                    <a:bodyPr/>
                    <a:lstStyle/>
                    <a:p>
                      <a:pPr algn="ctr"/>
                      <a:r>
                        <a:rPr lang="en-NZ" dirty="0"/>
                        <a:t>15</a:t>
                      </a:r>
                    </a:p>
                  </a:txBody>
                  <a:tcPr marL="79527" marR="79527"/>
                </a:tc>
                <a:extLst>
                  <a:ext uri="{0D108BD9-81ED-4DB2-BD59-A6C34878D82A}">
                    <a16:rowId xmlns:a16="http://schemas.microsoft.com/office/drawing/2014/main" val="2176884774"/>
                  </a:ext>
                </a:extLst>
              </a:tr>
              <a:tr h="335772">
                <a:tc>
                  <a:txBody>
                    <a:bodyPr/>
                    <a:lstStyle/>
                    <a:p>
                      <a:r>
                        <a:rPr lang="en-NZ" dirty="0"/>
                        <a:t>TOTAL</a:t>
                      </a:r>
                    </a:p>
                  </a:txBody>
                  <a:tcPr marL="79527" marR="79527"/>
                </a:tc>
                <a:tc>
                  <a:txBody>
                    <a:bodyPr/>
                    <a:lstStyle/>
                    <a:p>
                      <a:pPr algn="ctr"/>
                      <a:r>
                        <a:rPr lang="en-NZ" dirty="0"/>
                        <a:t>35</a:t>
                      </a:r>
                    </a:p>
                  </a:txBody>
                  <a:tcPr marL="79527" marR="79527"/>
                </a:tc>
                <a:tc>
                  <a:txBody>
                    <a:bodyPr/>
                    <a:lstStyle/>
                    <a:p>
                      <a:pPr algn="ctr"/>
                      <a:r>
                        <a:rPr lang="en-NZ" dirty="0"/>
                        <a:t>45</a:t>
                      </a:r>
                    </a:p>
                  </a:txBody>
                  <a:tcPr marL="79527" marR="79527"/>
                </a:tc>
                <a:extLst>
                  <a:ext uri="{0D108BD9-81ED-4DB2-BD59-A6C34878D82A}">
                    <a16:rowId xmlns:a16="http://schemas.microsoft.com/office/drawing/2014/main" val="3188356655"/>
                  </a:ext>
                </a:extLst>
              </a:tr>
            </a:tbl>
          </a:graphicData>
        </a:graphic>
      </p:graphicFrame>
      <p:graphicFrame>
        <p:nvGraphicFramePr>
          <p:cNvPr id="8" name="Content Placeholder 7">
            <a:extLst>
              <a:ext uri="{FF2B5EF4-FFF2-40B4-BE49-F238E27FC236}">
                <a16:creationId xmlns:a16="http://schemas.microsoft.com/office/drawing/2014/main" id="{D998E259-7410-4169-8A13-9E256E99B9A7}"/>
              </a:ext>
            </a:extLst>
          </p:cNvPr>
          <p:cNvGraphicFramePr>
            <a:graphicFrameLocks noGrp="1"/>
          </p:cNvGraphicFramePr>
          <p:nvPr>
            <p:ph sz="half" idx="4294967295"/>
            <p:extLst>
              <p:ext uri="{D42A27DB-BD31-4B8C-83A1-F6EECF244321}">
                <p14:modId xmlns:p14="http://schemas.microsoft.com/office/powerpoint/2010/main" val="702606095"/>
              </p:ext>
            </p:extLst>
          </p:nvPr>
        </p:nvGraphicFramePr>
        <p:xfrm>
          <a:off x="461395" y="1591782"/>
          <a:ext cx="3959603"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0951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3564D-5379-4804-81E1-305BE9DE8398}"/>
              </a:ext>
            </a:extLst>
          </p:cNvPr>
          <p:cNvSpPr>
            <a:spLocks noGrp="1"/>
          </p:cNvSpPr>
          <p:nvPr>
            <p:ph type="title"/>
          </p:nvPr>
        </p:nvSpPr>
        <p:spPr/>
        <p:txBody>
          <a:bodyPr/>
          <a:lstStyle/>
          <a:p>
            <a:r>
              <a:rPr lang="en-NZ" dirty="0"/>
              <a:t>Under Free Trade</a:t>
            </a:r>
          </a:p>
        </p:txBody>
      </p:sp>
      <p:sp>
        <p:nvSpPr>
          <p:cNvPr id="5" name="Slide Number Placeholder 4">
            <a:extLst>
              <a:ext uri="{FF2B5EF4-FFF2-40B4-BE49-F238E27FC236}">
                <a16:creationId xmlns:a16="http://schemas.microsoft.com/office/drawing/2014/main" id="{F091AB56-AF5F-4981-BCA4-2B086BFC7DB4}"/>
              </a:ext>
            </a:extLst>
          </p:cNvPr>
          <p:cNvSpPr>
            <a:spLocks noGrp="1"/>
          </p:cNvSpPr>
          <p:nvPr>
            <p:ph type="sldNum" sz="quarter" idx="12"/>
          </p:nvPr>
        </p:nvSpPr>
        <p:spPr/>
        <p:txBody>
          <a:bodyPr/>
          <a:lstStyle/>
          <a:p>
            <a:fld id="{4FAB73BC-B049-4115-A692-8D63A059BFB8}" type="slidenum">
              <a:rPr lang="en-US" smtClean="0"/>
              <a:t>16</a:t>
            </a:fld>
            <a:endParaRPr lang="en-US" dirty="0"/>
          </a:p>
        </p:txBody>
      </p:sp>
      <p:graphicFrame>
        <p:nvGraphicFramePr>
          <p:cNvPr id="7" name="Content Placeholder 6">
            <a:extLst>
              <a:ext uri="{FF2B5EF4-FFF2-40B4-BE49-F238E27FC236}">
                <a16:creationId xmlns:a16="http://schemas.microsoft.com/office/drawing/2014/main" id="{ACAF8238-1251-4442-B288-AD687A6A19F0}"/>
              </a:ext>
            </a:extLst>
          </p:cNvPr>
          <p:cNvGraphicFramePr>
            <a:graphicFrameLocks noGrp="1"/>
          </p:cNvGraphicFramePr>
          <p:nvPr>
            <p:ph sz="half" idx="4294967295"/>
            <p:extLst>
              <p:ext uri="{D42A27DB-BD31-4B8C-83A1-F6EECF244321}">
                <p14:modId xmlns:p14="http://schemas.microsoft.com/office/powerpoint/2010/main" val="3329202985"/>
              </p:ext>
            </p:extLst>
          </p:nvPr>
        </p:nvGraphicFramePr>
        <p:xfrm>
          <a:off x="578840" y="1762519"/>
          <a:ext cx="4938711" cy="2966720"/>
        </p:xfrm>
        <a:graphic>
          <a:graphicData uri="http://schemas.openxmlformats.org/drawingml/2006/table">
            <a:tbl>
              <a:tblPr firstRow="1" bandRow="1">
                <a:tableStyleId>{5C22544A-7EE6-4342-B048-85BDC9FD1C3A}</a:tableStyleId>
              </a:tblPr>
              <a:tblGrid>
                <a:gridCol w="1646237">
                  <a:extLst>
                    <a:ext uri="{9D8B030D-6E8A-4147-A177-3AD203B41FA5}">
                      <a16:colId xmlns:a16="http://schemas.microsoft.com/office/drawing/2014/main" val="3600470716"/>
                    </a:ext>
                  </a:extLst>
                </a:gridCol>
                <a:gridCol w="1646237">
                  <a:extLst>
                    <a:ext uri="{9D8B030D-6E8A-4147-A177-3AD203B41FA5}">
                      <a16:colId xmlns:a16="http://schemas.microsoft.com/office/drawing/2014/main" val="3968909141"/>
                    </a:ext>
                  </a:extLst>
                </a:gridCol>
                <a:gridCol w="1646237">
                  <a:extLst>
                    <a:ext uri="{9D8B030D-6E8A-4147-A177-3AD203B41FA5}">
                      <a16:colId xmlns:a16="http://schemas.microsoft.com/office/drawing/2014/main" val="2105814815"/>
                    </a:ext>
                  </a:extLst>
                </a:gridCol>
              </a:tblGrid>
              <a:tr h="370840">
                <a:tc gridSpan="3">
                  <a:txBody>
                    <a:bodyPr/>
                    <a:lstStyle/>
                    <a:p>
                      <a:r>
                        <a:rPr lang="en-NZ" dirty="0"/>
                        <a:t>Production</a:t>
                      </a:r>
                    </a:p>
                  </a:txBody>
                  <a:tcPr marL="79527" marR="79527"/>
                </a:tc>
                <a:tc hMerge="1">
                  <a:txBody>
                    <a:bodyPr/>
                    <a:lstStyle/>
                    <a:p>
                      <a:endParaRPr lang="en-NZ"/>
                    </a:p>
                  </a:txBody>
                  <a:tcPr/>
                </a:tc>
                <a:tc hMerge="1">
                  <a:txBody>
                    <a:bodyPr/>
                    <a:lstStyle/>
                    <a:p>
                      <a:endParaRPr lang="en-NZ" dirty="0"/>
                    </a:p>
                  </a:txBody>
                  <a:tcPr/>
                </a:tc>
                <a:extLst>
                  <a:ext uri="{0D108BD9-81ED-4DB2-BD59-A6C34878D82A}">
                    <a16:rowId xmlns:a16="http://schemas.microsoft.com/office/drawing/2014/main" val="3176956997"/>
                  </a:ext>
                </a:extLst>
              </a:tr>
              <a:tr h="370840">
                <a:tc>
                  <a:txBody>
                    <a:bodyPr/>
                    <a:lstStyle/>
                    <a:p>
                      <a:endParaRPr lang="en-NZ"/>
                    </a:p>
                  </a:txBody>
                  <a:tcPr marL="79527" marR="79527"/>
                </a:tc>
                <a:tc>
                  <a:txBody>
                    <a:bodyPr/>
                    <a:lstStyle/>
                    <a:p>
                      <a:pPr algn="ctr"/>
                      <a:r>
                        <a:rPr lang="en-NZ" dirty="0"/>
                        <a:t>TVs</a:t>
                      </a:r>
                    </a:p>
                  </a:txBody>
                  <a:tcPr marL="79527" marR="79527"/>
                </a:tc>
                <a:tc>
                  <a:txBody>
                    <a:bodyPr/>
                    <a:lstStyle/>
                    <a:p>
                      <a:pPr algn="ctr"/>
                      <a:r>
                        <a:rPr lang="en-NZ" dirty="0"/>
                        <a:t>Fish</a:t>
                      </a:r>
                    </a:p>
                  </a:txBody>
                  <a:tcPr marL="79527" marR="79527"/>
                </a:tc>
                <a:extLst>
                  <a:ext uri="{0D108BD9-81ED-4DB2-BD59-A6C34878D82A}">
                    <a16:rowId xmlns:a16="http://schemas.microsoft.com/office/drawing/2014/main" val="3134251197"/>
                  </a:ext>
                </a:extLst>
              </a:tr>
              <a:tr h="370840">
                <a:tc>
                  <a:txBody>
                    <a:bodyPr/>
                    <a:lstStyle/>
                    <a:p>
                      <a:r>
                        <a:rPr lang="en-NZ" dirty="0"/>
                        <a:t>NZ</a:t>
                      </a:r>
                    </a:p>
                  </a:txBody>
                  <a:tcPr marL="79527" marR="79527"/>
                </a:tc>
                <a:tc>
                  <a:txBody>
                    <a:bodyPr/>
                    <a:lstStyle/>
                    <a:p>
                      <a:pPr algn="ctr"/>
                      <a:r>
                        <a:rPr lang="en-NZ" dirty="0"/>
                        <a:t>0</a:t>
                      </a:r>
                    </a:p>
                  </a:txBody>
                  <a:tcPr marL="79527" marR="79527"/>
                </a:tc>
                <a:tc>
                  <a:txBody>
                    <a:bodyPr/>
                    <a:lstStyle/>
                    <a:p>
                      <a:pPr algn="ctr"/>
                      <a:r>
                        <a:rPr lang="en-NZ" dirty="0"/>
                        <a:t>60</a:t>
                      </a:r>
                    </a:p>
                  </a:txBody>
                  <a:tcPr marL="79527" marR="79527"/>
                </a:tc>
                <a:extLst>
                  <a:ext uri="{0D108BD9-81ED-4DB2-BD59-A6C34878D82A}">
                    <a16:rowId xmlns:a16="http://schemas.microsoft.com/office/drawing/2014/main" val="1825759622"/>
                  </a:ext>
                </a:extLst>
              </a:tr>
              <a:tr h="370840">
                <a:tc>
                  <a:txBody>
                    <a:bodyPr/>
                    <a:lstStyle/>
                    <a:p>
                      <a:r>
                        <a:rPr lang="en-NZ" dirty="0"/>
                        <a:t>Singapore</a:t>
                      </a:r>
                    </a:p>
                  </a:txBody>
                  <a:tcPr marL="79527" marR="79527"/>
                </a:tc>
                <a:tc>
                  <a:txBody>
                    <a:bodyPr/>
                    <a:lstStyle/>
                    <a:p>
                      <a:pPr algn="ctr"/>
                      <a:r>
                        <a:rPr lang="en-NZ" dirty="0"/>
                        <a:t>40</a:t>
                      </a:r>
                    </a:p>
                  </a:txBody>
                  <a:tcPr marL="79527" marR="79527"/>
                </a:tc>
                <a:tc>
                  <a:txBody>
                    <a:bodyPr/>
                    <a:lstStyle/>
                    <a:p>
                      <a:pPr algn="ctr"/>
                      <a:r>
                        <a:rPr lang="en-NZ" dirty="0"/>
                        <a:t>0</a:t>
                      </a:r>
                    </a:p>
                  </a:txBody>
                  <a:tcPr marL="79527" marR="79527"/>
                </a:tc>
                <a:extLst>
                  <a:ext uri="{0D108BD9-81ED-4DB2-BD59-A6C34878D82A}">
                    <a16:rowId xmlns:a16="http://schemas.microsoft.com/office/drawing/2014/main" val="2176884774"/>
                  </a:ext>
                </a:extLst>
              </a:tr>
              <a:tr h="370840">
                <a:tc>
                  <a:txBody>
                    <a:bodyPr/>
                    <a:lstStyle/>
                    <a:p>
                      <a:r>
                        <a:rPr lang="en-NZ" dirty="0"/>
                        <a:t>TOTAL Trade</a:t>
                      </a:r>
                    </a:p>
                  </a:txBody>
                  <a:tcPr marL="79527" marR="79527"/>
                </a:tc>
                <a:tc>
                  <a:txBody>
                    <a:bodyPr/>
                    <a:lstStyle/>
                    <a:p>
                      <a:pPr algn="ctr"/>
                      <a:r>
                        <a:rPr lang="en-NZ" dirty="0"/>
                        <a:t>40</a:t>
                      </a:r>
                    </a:p>
                  </a:txBody>
                  <a:tcPr marL="79527" marR="79527"/>
                </a:tc>
                <a:tc>
                  <a:txBody>
                    <a:bodyPr/>
                    <a:lstStyle/>
                    <a:p>
                      <a:pPr algn="ctr"/>
                      <a:r>
                        <a:rPr lang="en-NZ" dirty="0"/>
                        <a:t>60</a:t>
                      </a:r>
                    </a:p>
                  </a:txBody>
                  <a:tcPr marL="79527" marR="79527"/>
                </a:tc>
                <a:extLst>
                  <a:ext uri="{0D108BD9-81ED-4DB2-BD59-A6C34878D82A}">
                    <a16:rowId xmlns:a16="http://schemas.microsoft.com/office/drawing/2014/main" val="2919272479"/>
                  </a:ext>
                </a:extLst>
              </a:tr>
              <a:tr h="370840">
                <a:tc gridSpan="3">
                  <a:txBody>
                    <a:bodyPr/>
                    <a:lstStyle/>
                    <a:p>
                      <a:r>
                        <a:rPr lang="en-NZ" b="1" dirty="0">
                          <a:solidFill>
                            <a:schemeClr val="bg1"/>
                          </a:solidFill>
                        </a:rPr>
                        <a:t>Consumption (Example)</a:t>
                      </a:r>
                    </a:p>
                  </a:txBody>
                  <a:tcPr marL="79527" marR="79527">
                    <a:solidFill>
                      <a:schemeClr val="accent1"/>
                    </a:solidFill>
                  </a:tcPr>
                </a:tc>
                <a:tc hMerge="1">
                  <a:txBody>
                    <a:bodyPr/>
                    <a:lstStyle/>
                    <a:p>
                      <a:pPr algn="ctr"/>
                      <a:endParaRPr lang="en-NZ" dirty="0"/>
                    </a:p>
                  </a:txBody>
                  <a:tcPr marL="76562" marR="76562"/>
                </a:tc>
                <a:tc hMerge="1">
                  <a:txBody>
                    <a:bodyPr/>
                    <a:lstStyle/>
                    <a:p>
                      <a:pPr algn="ctr"/>
                      <a:endParaRPr lang="en-NZ" dirty="0"/>
                    </a:p>
                  </a:txBody>
                  <a:tcPr marL="76562" marR="76562"/>
                </a:tc>
                <a:extLst>
                  <a:ext uri="{0D108BD9-81ED-4DB2-BD59-A6C34878D82A}">
                    <a16:rowId xmlns:a16="http://schemas.microsoft.com/office/drawing/2014/main" val="913904031"/>
                  </a:ext>
                </a:extLst>
              </a:tr>
              <a:tr h="370840">
                <a:tc>
                  <a:txBody>
                    <a:bodyPr/>
                    <a:lstStyle/>
                    <a:p>
                      <a:r>
                        <a:rPr lang="en-NZ" dirty="0"/>
                        <a:t>NZ</a:t>
                      </a:r>
                    </a:p>
                  </a:txBody>
                  <a:tcPr marL="79527" marR="79527"/>
                </a:tc>
                <a:tc>
                  <a:txBody>
                    <a:bodyPr/>
                    <a:lstStyle/>
                    <a:p>
                      <a:pPr algn="ctr"/>
                      <a:r>
                        <a:rPr lang="en-NZ" dirty="0"/>
                        <a:t>17.5</a:t>
                      </a:r>
                    </a:p>
                  </a:txBody>
                  <a:tcPr marL="79527" marR="79527"/>
                </a:tc>
                <a:tc>
                  <a:txBody>
                    <a:bodyPr/>
                    <a:lstStyle/>
                    <a:p>
                      <a:pPr algn="ctr"/>
                      <a:r>
                        <a:rPr lang="en-NZ" dirty="0"/>
                        <a:t>37.5</a:t>
                      </a:r>
                    </a:p>
                  </a:txBody>
                  <a:tcPr marL="79527" marR="79527"/>
                </a:tc>
                <a:extLst>
                  <a:ext uri="{0D108BD9-81ED-4DB2-BD59-A6C34878D82A}">
                    <a16:rowId xmlns:a16="http://schemas.microsoft.com/office/drawing/2014/main" val="713792802"/>
                  </a:ext>
                </a:extLst>
              </a:tr>
              <a:tr h="370840">
                <a:tc>
                  <a:txBody>
                    <a:bodyPr/>
                    <a:lstStyle/>
                    <a:p>
                      <a:r>
                        <a:rPr lang="en-NZ" dirty="0"/>
                        <a:t>Singapore</a:t>
                      </a:r>
                    </a:p>
                  </a:txBody>
                  <a:tcPr marL="79527" marR="79527"/>
                </a:tc>
                <a:tc>
                  <a:txBody>
                    <a:bodyPr/>
                    <a:lstStyle/>
                    <a:p>
                      <a:pPr algn="ctr"/>
                      <a:r>
                        <a:rPr lang="en-NZ" dirty="0"/>
                        <a:t>22.5</a:t>
                      </a:r>
                    </a:p>
                  </a:txBody>
                  <a:tcPr marL="79527" marR="79527"/>
                </a:tc>
                <a:tc>
                  <a:txBody>
                    <a:bodyPr/>
                    <a:lstStyle/>
                    <a:p>
                      <a:pPr algn="ctr"/>
                      <a:r>
                        <a:rPr lang="en-NZ" dirty="0"/>
                        <a:t>22.5</a:t>
                      </a:r>
                    </a:p>
                  </a:txBody>
                  <a:tcPr marL="79527" marR="79527"/>
                </a:tc>
                <a:extLst>
                  <a:ext uri="{0D108BD9-81ED-4DB2-BD59-A6C34878D82A}">
                    <a16:rowId xmlns:a16="http://schemas.microsoft.com/office/drawing/2014/main" val="2814142439"/>
                  </a:ext>
                </a:extLst>
              </a:tr>
            </a:tbl>
          </a:graphicData>
        </a:graphic>
      </p:graphicFrame>
      <p:graphicFrame>
        <p:nvGraphicFramePr>
          <p:cNvPr id="3" name="Content Placeholder 2">
            <a:extLst>
              <a:ext uri="{FF2B5EF4-FFF2-40B4-BE49-F238E27FC236}">
                <a16:creationId xmlns:a16="http://schemas.microsoft.com/office/drawing/2014/main" id="{81090194-A316-4738-9883-A5A718F09606}"/>
              </a:ext>
            </a:extLst>
          </p:cNvPr>
          <p:cNvGraphicFramePr>
            <a:graphicFrameLocks noGrp="1"/>
          </p:cNvGraphicFramePr>
          <p:nvPr>
            <p:ph sz="half" idx="4294967295"/>
            <p:extLst>
              <p:ext uri="{D42A27DB-BD31-4B8C-83A1-F6EECF244321}">
                <p14:modId xmlns:p14="http://schemas.microsoft.com/office/powerpoint/2010/main" val="2520740451"/>
              </p:ext>
            </p:extLst>
          </p:nvPr>
        </p:nvGraphicFramePr>
        <p:xfrm>
          <a:off x="6416675" y="1586204"/>
          <a:ext cx="4937125"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9854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Output Table</a:t>
            </a:r>
          </a:p>
        </p:txBody>
      </p:sp>
      <p:sp>
        <p:nvSpPr>
          <p:cNvPr id="4" name="Slide Number Placeholder 3"/>
          <p:cNvSpPr>
            <a:spLocks noGrp="1"/>
          </p:cNvSpPr>
          <p:nvPr>
            <p:ph type="sldNum" sz="quarter" idx="12"/>
          </p:nvPr>
        </p:nvSpPr>
        <p:spPr/>
        <p:txBody>
          <a:bodyPr>
            <a:normAutofit/>
          </a:bodyPr>
          <a:lstStyle/>
          <a:p>
            <a:pPr>
              <a:defRPr/>
            </a:pPr>
            <a:fld id="{FAA12CB0-F14E-4954-8FB6-F947104025D7}" type="slidenum">
              <a:rPr lang="en-US" smtClean="0"/>
              <a:pPr>
                <a:defRPr/>
              </a:pPr>
              <a:t>17</a:t>
            </a:fld>
            <a:endParaRPr lang="en-US"/>
          </a:p>
        </p:txBody>
      </p:sp>
      <p:graphicFrame>
        <p:nvGraphicFramePr>
          <p:cNvPr id="7" name="Diagram 6">
            <a:extLst>
              <a:ext uri="{FF2B5EF4-FFF2-40B4-BE49-F238E27FC236}">
                <a16:creationId xmlns:a16="http://schemas.microsoft.com/office/drawing/2014/main" id="{4B7A4E3F-0273-455D-B573-306AD31A8BC3}"/>
              </a:ext>
            </a:extLst>
          </p:cNvPr>
          <p:cNvGraphicFramePr/>
          <p:nvPr>
            <p:extLst>
              <p:ext uri="{D42A27DB-BD31-4B8C-83A1-F6EECF244321}">
                <p14:modId xmlns:p14="http://schemas.microsoft.com/office/powerpoint/2010/main" val="1809825733"/>
              </p:ext>
            </p:extLst>
          </p:nvPr>
        </p:nvGraphicFramePr>
        <p:xfrm>
          <a:off x="610419" y="1447764"/>
          <a:ext cx="3974592" cy="37622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0" name="Content Placeholder 6">
            <a:extLst>
              <a:ext uri="{FF2B5EF4-FFF2-40B4-BE49-F238E27FC236}">
                <a16:creationId xmlns:a16="http://schemas.microsoft.com/office/drawing/2014/main" id="{52E28FC3-CBE3-4B09-B239-D0B45614BA2E}"/>
              </a:ext>
            </a:extLst>
          </p:cNvPr>
          <p:cNvGraphicFramePr>
            <a:graphicFrameLocks/>
          </p:cNvGraphicFramePr>
          <p:nvPr>
            <p:extLst>
              <p:ext uri="{D42A27DB-BD31-4B8C-83A1-F6EECF244321}">
                <p14:modId xmlns:p14="http://schemas.microsoft.com/office/powerpoint/2010/main" val="1625008469"/>
              </p:ext>
            </p:extLst>
          </p:nvPr>
        </p:nvGraphicFramePr>
        <p:xfrm>
          <a:off x="5502895" y="1688439"/>
          <a:ext cx="5226624" cy="2413780"/>
        </p:xfrm>
        <a:graphic>
          <a:graphicData uri="http://schemas.openxmlformats.org/drawingml/2006/table">
            <a:tbl>
              <a:tblPr firstRow="1" bandRow="1">
                <a:tableStyleId>{5C22544A-7EE6-4342-B048-85BDC9FD1C3A}</a:tableStyleId>
              </a:tblPr>
              <a:tblGrid>
                <a:gridCol w="1742208">
                  <a:extLst>
                    <a:ext uri="{9D8B030D-6E8A-4147-A177-3AD203B41FA5}">
                      <a16:colId xmlns:a16="http://schemas.microsoft.com/office/drawing/2014/main" val="3600470716"/>
                    </a:ext>
                  </a:extLst>
                </a:gridCol>
                <a:gridCol w="1742208">
                  <a:extLst>
                    <a:ext uri="{9D8B030D-6E8A-4147-A177-3AD203B41FA5}">
                      <a16:colId xmlns:a16="http://schemas.microsoft.com/office/drawing/2014/main" val="3968909141"/>
                    </a:ext>
                  </a:extLst>
                </a:gridCol>
                <a:gridCol w="1742208">
                  <a:extLst>
                    <a:ext uri="{9D8B030D-6E8A-4147-A177-3AD203B41FA5}">
                      <a16:colId xmlns:a16="http://schemas.microsoft.com/office/drawing/2014/main" val="2105814815"/>
                    </a:ext>
                  </a:extLst>
                </a:gridCol>
              </a:tblGrid>
              <a:tr h="482756">
                <a:tc gridSpan="3">
                  <a:txBody>
                    <a:bodyPr/>
                    <a:lstStyle/>
                    <a:p>
                      <a:r>
                        <a:rPr lang="en-NZ" dirty="0"/>
                        <a:t>Production (No Trade)</a:t>
                      </a:r>
                    </a:p>
                  </a:txBody>
                  <a:tcPr marL="76562" marR="76562"/>
                </a:tc>
                <a:tc hMerge="1">
                  <a:txBody>
                    <a:bodyPr/>
                    <a:lstStyle/>
                    <a:p>
                      <a:endParaRPr lang="en-NZ"/>
                    </a:p>
                  </a:txBody>
                  <a:tcPr/>
                </a:tc>
                <a:tc hMerge="1">
                  <a:txBody>
                    <a:bodyPr/>
                    <a:lstStyle/>
                    <a:p>
                      <a:endParaRPr lang="en-NZ" dirty="0"/>
                    </a:p>
                  </a:txBody>
                  <a:tcPr/>
                </a:tc>
                <a:extLst>
                  <a:ext uri="{0D108BD9-81ED-4DB2-BD59-A6C34878D82A}">
                    <a16:rowId xmlns:a16="http://schemas.microsoft.com/office/drawing/2014/main" val="3176956997"/>
                  </a:ext>
                </a:extLst>
              </a:tr>
              <a:tr h="482756">
                <a:tc>
                  <a:txBody>
                    <a:bodyPr/>
                    <a:lstStyle/>
                    <a:p>
                      <a:endParaRPr lang="en-NZ"/>
                    </a:p>
                  </a:txBody>
                  <a:tcPr marL="76562" marR="76562"/>
                </a:tc>
                <a:tc>
                  <a:txBody>
                    <a:bodyPr/>
                    <a:lstStyle/>
                    <a:p>
                      <a:pPr algn="ctr"/>
                      <a:r>
                        <a:rPr lang="en-NZ" dirty="0"/>
                        <a:t>TVs</a:t>
                      </a:r>
                    </a:p>
                  </a:txBody>
                  <a:tcPr marL="76562" marR="76562"/>
                </a:tc>
                <a:tc>
                  <a:txBody>
                    <a:bodyPr/>
                    <a:lstStyle/>
                    <a:p>
                      <a:pPr algn="ctr"/>
                      <a:r>
                        <a:rPr lang="en-NZ" dirty="0"/>
                        <a:t>Fish</a:t>
                      </a:r>
                    </a:p>
                  </a:txBody>
                  <a:tcPr marL="76562" marR="76562"/>
                </a:tc>
                <a:extLst>
                  <a:ext uri="{0D108BD9-81ED-4DB2-BD59-A6C34878D82A}">
                    <a16:rowId xmlns:a16="http://schemas.microsoft.com/office/drawing/2014/main" val="3134251197"/>
                  </a:ext>
                </a:extLst>
              </a:tr>
              <a:tr h="482756">
                <a:tc>
                  <a:txBody>
                    <a:bodyPr/>
                    <a:lstStyle/>
                    <a:p>
                      <a:r>
                        <a:rPr lang="en-NZ" dirty="0"/>
                        <a:t>NZ</a:t>
                      </a:r>
                    </a:p>
                  </a:txBody>
                  <a:tcPr marL="76562" marR="76562"/>
                </a:tc>
                <a:tc>
                  <a:txBody>
                    <a:bodyPr/>
                    <a:lstStyle/>
                    <a:p>
                      <a:pPr algn="ctr"/>
                      <a:r>
                        <a:rPr lang="en-NZ" dirty="0"/>
                        <a:t>20</a:t>
                      </a:r>
                    </a:p>
                  </a:txBody>
                  <a:tcPr marL="76562" marR="76562"/>
                </a:tc>
                <a:tc>
                  <a:txBody>
                    <a:bodyPr/>
                    <a:lstStyle/>
                    <a:p>
                      <a:pPr algn="ctr"/>
                      <a:r>
                        <a:rPr lang="en-NZ" dirty="0"/>
                        <a:t>30</a:t>
                      </a:r>
                    </a:p>
                  </a:txBody>
                  <a:tcPr marL="76562" marR="76562"/>
                </a:tc>
                <a:extLst>
                  <a:ext uri="{0D108BD9-81ED-4DB2-BD59-A6C34878D82A}">
                    <a16:rowId xmlns:a16="http://schemas.microsoft.com/office/drawing/2014/main" val="1825759622"/>
                  </a:ext>
                </a:extLst>
              </a:tr>
              <a:tr h="482756">
                <a:tc>
                  <a:txBody>
                    <a:bodyPr/>
                    <a:lstStyle/>
                    <a:p>
                      <a:r>
                        <a:rPr lang="en-NZ" dirty="0"/>
                        <a:t>Singapore</a:t>
                      </a:r>
                    </a:p>
                  </a:txBody>
                  <a:tcPr marL="76562" marR="76562"/>
                </a:tc>
                <a:tc>
                  <a:txBody>
                    <a:bodyPr/>
                    <a:lstStyle/>
                    <a:p>
                      <a:pPr algn="ctr"/>
                      <a:r>
                        <a:rPr lang="en-NZ" dirty="0"/>
                        <a:t>15</a:t>
                      </a:r>
                    </a:p>
                  </a:txBody>
                  <a:tcPr marL="76562" marR="76562"/>
                </a:tc>
                <a:tc>
                  <a:txBody>
                    <a:bodyPr/>
                    <a:lstStyle/>
                    <a:p>
                      <a:pPr algn="ctr"/>
                      <a:r>
                        <a:rPr lang="en-NZ" dirty="0"/>
                        <a:t>15</a:t>
                      </a:r>
                    </a:p>
                  </a:txBody>
                  <a:tcPr marL="76562" marR="76562"/>
                </a:tc>
                <a:extLst>
                  <a:ext uri="{0D108BD9-81ED-4DB2-BD59-A6C34878D82A}">
                    <a16:rowId xmlns:a16="http://schemas.microsoft.com/office/drawing/2014/main" val="2176884774"/>
                  </a:ext>
                </a:extLst>
              </a:tr>
              <a:tr h="482756">
                <a:tc>
                  <a:txBody>
                    <a:bodyPr/>
                    <a:lstStyle/>
                    <a:p>
                      <a:r>
                        <a:rPr lang="en-NZ" dirty="0"/>
                        <a:t>TOTAL</a:t>
                      </a:r>
                    </a:p>
                  </a:txBody>
                  <a:tcPr marL="76562" marR="76562"/>
                </a:tc>
                <a:tc>
                  <a:txBody>
                    <a:bodyPr/>
                    <a:lstStyle/>
                    <a:p>
                      <a:pPr algn="ctr"/>
                      <a:r>
                        <a:rPr lang="en-NZ" dirty="0"/>
                        <a:t>35</a:t>
                      </a:r>
                    </a:p>
                  </a:txBody>
                  <a:tcPr marL="76562" marR="76562"/>
                </a:tc>
                <a:tc>
                  <a:txBody>
                    <a:bodyPr/>
                    <a:lstStyle/>
                    <a:p>
                      <a:pPr algn="ctr"/>
                      <a:r>
                        <a:rPr lang="en-NZ" dirty="0"/>
                        <a:t>45</a:t>
                      </a:r>
                    </a:p>
                  </a:txBody>
                  <a:tcPr marL="76562" marR="76562"/>
                </a:tc>
                <a:extLst>
                  <a:ext uri="{0D108BD9-81ED-4DB2-BD59-A6C34878D82A}">
                    <a16:rowId xmlns:a16="http://schemas.microsoft.com/office/drawing/2014/main" val="3188356655"/>
                  </a:ext>
                </a:extLst>
              </a:tr>
            </a:tbl>
          </a:graphicData>
        </a:graphic>
      </p:graphicFrame>
    </p:spTree>
    <p:extLst>
      <p:ext uri="{BB962C8B-B14F-4D97-AF65-F5344CB8AC3E}">
        <p14:creationId xmlns:p14="http://schemas.microsoft.com/office/powerpoint/2010/main" val="3369186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78364-B0A7-41FB-94E1-A96AA9746AB5}"/>
              </a:ext>
            </a:extLst>
          </p:cNvPr>
          <p:cNvSpPr>
            <a:spLocks noGrp="1"/>
          </p:cNvSpPr>
          <p:nvPr>
            <p:ph type="title"/>
          </p:nvPr>
        </p:nvSpPr>
        <p:spPr/>
        <p:txBody>
          <a:bodyPr/>
          <a:lstStyle/>
          <a:p>
            <a:r>
              <a:rPr lang="en-NZ" dirty="0"/>
              <a:t>Free Trade</a:t>
            </a:r>
          </a:p>
        </p:txBody>
      </p:sp>
      <p:sp>
        <p:nvSpPr>
          <p:cNvPr id="6" name="Slide Number Placeholder 5">
            <a:extLst>
              <a:ext uri="{FF2B5EF4-FFF2-40B4-BE49-F238E27FC236}">
                <a16:creationId xmlns:a16="http://schemas.microsoft.com/office/drawing/2014/main" id="{FCE9CB89-E224-4682-8404-6EB496B23355}"/>
              </a:ext>
            </a:extLst>
          </p:cNvPr>
          <p:cNvSpPr>
            <a:spLocks noGrp="1"/>
          </p:cNvSpPr>
          <p:nvPr>
            <p:ph type="sldNum" sz="quarter" idx="12"/>
          </p:nvPr>
        </p:nvSpPr>
        <p:spPr/>
        <p:txBody>
          <a:bodyPr/>
          <a:lstStyle/>
          <a:p>
            <a:fld id="{4FAB73BC-B049-4115-A692-8D63A059BFB8}" type="slidenum">
              <a:rPr lang="en-US" smtClean="0"/>
              <a:t>18</a:t>
            </a:fld>
            <a:endParaRPr lang="en-US" dirty="0"/>
          </a:p>
        </p:txBody>
      </p:sp>
      <p:graphicFrame>
        <p:nvGraphicFramePr>
          <p:cNvPr id="8" name="Content Placeholder 7">
            <a:extLst>
              <a:ext uri="{FF2B5EF4-FFF2-40B4-BE49-F238E27FC236}">
                <a16:creationId xmlns:a16="http://schemas.microsoft.com/office/drawing/2014/main" id="{AAB7AE6D-702B-40DE-A97D-ABB3DDDB18E4}"/>
              </a:ext>
            </a:extLst>
          </p:cNvPr>
          <p:cNvGraphicFramePr>
            <a:graphicFrameLocks noGrp="1"/>
          </p:cNvGraphicFramePr>
          <p:nvPr>
            <p:ph sz="half" idx="4294967295"/>
            <p:extLst>
              <p:ext uri="{D42A27DB-BD31-4B8C-83A1-F6EECF244321}">
                <p14:modId xmlns:p14="http://schemas.microsoft.com/office/powerpoint/2010/main" val="540826307"/>
              </p:ext>
            </p:extLst>
          </p:nvPr>
        </p:nvGraphicFramePr>
        <p:xfrm>
          <a:off x="738263" y="1715213"/>
          <a:ext cx="4938713"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Content Placeholder 6">
            <a:extLst>
              <a:ext uri="{FF2B5EF4-FFF2-40B4-BE49-F238E27FC236}">
                <a16:creationId xmlns:a16="http://schemas.microsoft.com/office/drawing/2014/main" id="{B1F2F34E-D840-4B6C-ABF3-7470B51445A7}"/>
              </a:ext>
            </a:extLst>
          </p:cNvPr>
          <p:cNvGraphicFramePr>
            <a:graphicFrameLocks/>
          </p:cNvGraphicFramePr>
          <p:nvPr>
            <p:extLst>
              <p:ext uri="{D42A27DB-BD31-4B8C-83A1-F6EECF244321}">
                <p14:modId xmlns:p14="http://schemas.microsoft.com/office/powerpoint/2010/main" val="5405279"/>
              </p:ext>
            </p:extLst>
          </p:nvPr>
        </p:nvGraphicFramePr>
        <p:xfrm>
          <a:off x="6096000" y="1774272"/>
          <a:ext cx="4754562" cy="2966720"/>
        </p:xfrm>
        <a:graphic>
          <a:graphicData uri="http://schemas.openxmlformats.org/drawingml/2006/table">
            <a:tbl>
              <a:tblPr firstRow="1" bandRow="1">
                <a:tableStyleId>{5C22544A-7EE6-4342-B048-85BDC9FD1C3A}</a:tableStyleId>
              </a:tblPr>
              <a:tblGrid>
                <a:gridCol w="1584854">
                  <a:extLst>
                    <a:ext uri="{9D8B030D-6E8A-4147-A177-3AD203B41FA5}">
                      <a16:colId xmlns:a16="http://schemas.microsoft.com/office/drawing/2014/main" val="3600470716"/>
                    </a:ext>
                  </a:extLst>
                </a:gridCol>
                <a:gridCol w="1584854">
                  <a:extLst>
                    <a:ext uri="{9D8B030D-6E8A-4147-A177-3AD203B41FA5}">
                      <a16:colId xmlns:a16="http://schemas.microsoft.com/office/drawing/2014/main" val="3968909141"/>
                    </a:ext>
                  </a:extLst>
                </a:gridCol>
                <a:gridCol w="1584854">
                  <a:extLst>
                    <a:ext uri="{9D8B030D-6E8A-4147-A177-3AD203B41FA5}">
                      <a16:colId xmlns:a16="http://schemas.microsoft.com/office/drawing/2014/main" val="2105814815"/>
                    </a:ext>
                  </a:extLst>
                </a:gridCol>
              </a:tblGrid>
              <a:tr h="370840">
                <a:tc gridSpan="3">
                  <a:txBody>
                    <a:bodyPr/>
                    <a:lstStyle/>
                    <a:p>
                      <a:r>
                        <a:rPr lang="en-NZ" dirty="0"/>
                        <a:t>Production</a:t>
                      </a:r>
                    </a:p>
                  </a:txBody>
                  <a:tcPr marL="76562" marR="76562"/>
                </a:tc>
                <a:tc hMerge="1">
                  <a:txBody>
                    <a:bodyPr/>
                    <a:lstStyle/>
                    <a:p>
                      <a:endParaRPr lang="en-NZ"/>
                    </a:p>
                  </a:txBody>
                  <a:tcPr/>
                </a:tc>
                <a:tc hMerge="1">
                  <a:txBody>
                    <a:bodyPr/>
                    <a:lstStyle/>
                    <a:p>
                      <a:endParaRPr lang="en-NZ" dirty="0"/>
                    </a:p>
                  </a:txBody>
                  <a:tcPr/>
                </a:tc>
                <a:extLst>
                  <a:ext uri="{0D108BD9-81ED-4DB2-BD59-A6C34878D82A}">
                    <a16:rowId xmlns:a16="http://schemas.microsoft.com/office/drawing/2014/main" val="3176956997"/>
                  </a:ext>
                </a:extLst>
              </a:tr>
              <a:tr h="370840">
                <a:tc>
                  <a:txBody>
                    <a:bodyPr/>
                    <a:lstStyle/>
                    <a:p>
                      <a:endParaRPr lang="en-NZ"/>
                    </a:p>
                  </a:txBody>
                  <a:tcPr marL="76562" marR="76562"/>
                </a:tc>
                <a:tc>
                  <a:txBody>
                    <a:bodyPr/>
                    <a:lstStyle/>
                    <a:p>
                      <a:pPr algn="ctr"/>
                      <a:r>
                        <a:rPr lang="en-NZ" dirty="0"/>
                        <a:t>TVs</a:t>
                      </a:r>
                    </a:p>
                  </a:txBody>
                  <a:tcPr marL="76562" marR="76562"/>
                </a:tc>
                <a:tc>
                  <a:txBody>
                    <a:bodyPr/>
                    <a:lstStyle/>
                    <a:p>
                      <a:pPr algn="ctr"/>
                      <a:r>
                        <a:rPr lang="en-NZ" dirty="0"/>
                        <a:t>Fish</a:t>
                      </a:r>
                    </a:p>
                  </a:txBody>
                  <a:tcPr marL="76562" marR="76562"/>
                </a:tc>
                <a:extLst>
                  <a:ext uri="{0D108BD9-81ED-4DB2-BD59-A6C34878D82A}">
                    <a16:rowId xmlns:a16="http://schemas.microsoft.com/office/drawing/2014/main" val="3134251197"/>
                  </a:ext>
                </a:extLst>
              </a:tr>
              <a:tr h="370840">
                <a:tc>
                  <a:txBody>
                    <a:bodyPr/>
                    <a:lstStyle/>
                    <a:p>
                      <a:r>
                        <a:rPr lang="en-NZ" dirty="0"/>
                        <a:t>NZ</a:t>
                      </a:r>
                    </a:p>
                  </a:txBody>
                  <a:tcPr marL="76562" marR="76562"/>
                </a:tc>
                <a:tc>
                  <a:txBody>
                    <a:bodyPr/>
                    <a:lstStyle/>
                    <a:p>
                      <a:pPr algn="ctr"/>
                      <a:r>
                        <a:rPr lang="en-NZ" dirty="0"/>
                        <a:t>8</a:t>
                      </a:r>
                    </a:p>
                  </a:txBody>
                  <a:tcPr marL="76562" marR="76562"/>
                </a:tc>
                <a:tc>
                  <a:txBody>
                    <a:bodyPr/>
                    <a:lstStyle/>
                    <a:p>
                      <a:pPr algn="ctr"/>
                      <a:r>
                        <a:rPr lang="en-NZ" dirty="0"/>
                        <a:t>48</a:t>
                      </a:r>
                    </a:p>
                  </a:txBody>
                  <a:tcPr marL="76562" marR="76562"/>
                </a:tc>
                <a:extLst>
                  <a:ext uri="{0D108BD9-81ED-4DB2-BD59-A6C34878D82A}">
                    <a16:rowId xmlns:a16="http://schemas.microsoft.com/office/drawing/2014/main" val="1825759622"/>
                  </a:ext>
                </a:extLst>
              </a:tr>
              <a:tr h="370840">
                <a:tc>
                  <a:txBody>
                    <a:bodyPr/>
                    <a:lstStyle/>
                    <a:p>
                      <a:r>
                        <a:rPr lang="en-NZ" dirty="0"/>
                        <a:t>Singapore</a:t>
                      </a:r>
                    </a:p>
                  </a:txBody>
                  <a:tcPr marL="76562" marR="76562"/>
                </a:tc>
                <a:tc>
                  <a:txBody>
                    <a:bodyPr/>
                    <a:lstStyle/>
                    <a:p>
                      <a:pPr algn="ctr"/>
                      <a:r>
                        <a:rPr lang="en-NZ" dirty="0"/>
                        <a:t>30</a:t>
                      </a:r>
                    </a:p>
                  </a:txBody>
                  <a:tcPr marL="76562" marR="76562"/>
                </a:tc>
                <a:tc>
                  <a:txBody>
                    <a:bodyPr/>
                    <a:lstStyle/>
                    <a:p>
                      <a:pPr algn="ctr"/>
                      <a:r>
                        <a:rPr lang="en-NZ" dirty="0"/>
                        <a:t>0</a:t>
                      </a:r>
                    </a:p>
                  </a:txBody>
                  <a:tcPr marL="76562" marR="76562"/>
                </a:tc>
                <a:extLst>
                  <a:ext uri="{0D108BD9-81ED-4DB2-BD59-A6C34878D82A}">
                    <a16:rowId xmlns:a16="http://schemas.microsoft.com/office/drawing/2014/main" val="2176884774"/>
                  </a:ext>
                </a:extLst>
              </a:tr>
              <a:tr h="370840">
                <a:tc>
                  <a:txBody>
                    <a:bodyPr/>
                    <a:lstStyle/>
                    <a:p>
                      <a:r>
                        <a:rPr lang="en-NZ" dirty="0"/>
                        <a:t>TOTAL Trade</a:t>
                      </a:r>
                    </a:p>
                  </a:txBody>
                  <a:tcPr marL="76562" marR="76562"/>
                </a:tc>
                <a:tc>
                  <a:txBody>
                    <a:bodyPr/>
                    <a:lstStyle/>
                    <a:p>
                      <a:pPr algn="ctr"/>
                      <a:r>
                        <a:rPr lang="en-NZ" dirty="0"/>
                        <a:t>38</a:t>
                      </a:r>
                    </a:p>
                  </a:txBody>
                  <a:tcPr marL="76562" marR="76562"/>
                </a:tc>
                <a:tc>
                  <a:txBody>
                    <a:bodyPr/>
                    <a:lstStyle/>
                    <a:p>
                      <a:pPr algn="ctr"/>
                      <a:r>
                        <a:rPr lang="en-NZ" dirty="0"/>
                        <a:t>48</a:t>
                      </a:r>
                    </a:p>
                  </a:txBody>
                  <a:tcPr marL="76562" marR="76562"/>
                </a:tc>
                <a:extLst>
                  <a:ext uri="{0D108BD9-81ED-4DB2-BD59-A6C34878D82A}">
                    <a16:rowId xmlns:a16="http://schemas.microsoft.com/office/drawing/2014/main" val="2919272479"/>
                  </a:ext>
                </a:extLst>
              </a:tr>
              <a:tr h="370840">
                <a:tc gridSpan="3">
                  <a:txBody>
                    <a:bodyPr/>
                    <a:lstStyle/>
                    <a:p>
                      <a:r>
                        <a:rPr lang="en-NZ" b="1" dirty="0">
                          <a:solidFill>
                            <a:schemeClr val="bg1"/>
                          </a:solidFill>
                        </a:rPr>
                        <a:t>Consumption (Example)</a:t>
                      </a:r>
                    </a:p>
                  </a:txBody>
                  <a:tcPr marL="76562" marR="76562">
                    <a:solidFill>
                      <a:schemeClr val="accent1"/>
                    </a:solidFill>
                  </a:tcPr>
                </a:tc>
                <a:tc hMerge="1">
                  <a:txBody>
                    <a:bodyPr/>
                    <a:lstStyle/>
                    <a:p>
                      <a:pPr algn="ctr"/>
                      <a:endParaRPr lang="en-NZ" dirty="0"/>
                    </a:p>
                  </a:txBody>
                  <a:tcPr marL="76562" marR="76562"/>
                </a:tc>
                <a:tc hMerge="1">
                  <a:txBody>
                    <a:bodyPr/>
                    <a:lstStyle/>
                    <a:p>
                      <a:pPr algn="ctr"/>
                      <a:endParaRPr lang="en-NZ" dirty="0"/>
                    </a:p>
                  </a:txBody>
                  <a:tcPr marL="76562" marR="76562"/>
                </a:tc>
                <a:extLst>
                  <a:ext uri="{0D108BD9-81ED-4DB2-BD59-A6C34878D82A}">
                    <a16:rowId xmlns:a16="http://schemas.microsoft.com/office/drawing/2014/main" val="913904031"/>
                  </a:ext>
                </a:extLst>
              </a:tr>
              <a:tr h="370840">
                <a:tc>
                  <a:txBody>
                    <a:bodyPr/>
                    <a:lstStyle/>
                    <a:p>
                      <a:r>
                        <a:rPr lang="en-NZ" dirty="0"/>
                        <a:t>NZ</a:t>
                      </a:r>
                    </a:p>
                  </a:txBody>
                  <a:tcPr marL="76562" marR="76562"/>
                </a:tc>
                <a:tc>
                  <a:txBody>
                    <a:bodyPr/>
                    <a:lstStyle/>
                    <a:p>
                      <a:pPr algn="ctr"/>
                      <a:r>
                        <a:rPr lang="en-NZ" dirty="0"/>
                        <a:t>22</a:t>
                      </a:r>
                    </a:p>
                  </a:txBody>
                  <a:tcPr marL="76562" marR="76562"/>
                </a:tc>
                <a:tc>
                  <a:txBody>
                    <a:bodyPr/>
                    <a:lstStyle/>
                    <a:p>
                      <a:pPr algn="ctr"/>
                      <a:r>
                        <a:rPr lang="en-NZ" dirty="0"/>
                        <a:t>32</a:t>
                      </a:r>
                    </a:p>
                  </a:txBody>
                  <a:tcPr marL="76562" marR="76562"/>
                </a:tc>
                <a:extLst>
                  <a:ext uri="{0D108BD9-81ED-4DB2-BD59-A6C34878D82A}">
                    <a16:rowId xmlns:a16="http://schemas.microsoft.com/office/drawing/2014/main" val="713792802"/>
                  </a:ext>
                </a:extLst>
              </a:tr>
              <a:tr h="370840">
                <a:tc>
                  <a:txBody>
                    <a:bodyPr/>
                    <a:lstStyle/>
                    <a:p>
                      <a:r>
                        <a:rPr lang="en-NZ" dirty="0"/>
                        <a:t>Singapore</a:t>
                      </a:r>
                    </a:p>
                  </a:txBody>
                  <a:tcPr marL="76562" marR="76562"/>
                </a:tc>
                <a:tc>
                  <a:txBody>
                    <a:bodyPr/>
                    <a:lstStyle/>
                    <a:p>
                      <a:pPr algn="ctr"/>
                      <a:r>
                        <a:rPr lang="en-NZ" dirty="0"/>
                        <a:t>16</a:t>
                      </a:r>
                    </a:p>
                  </a:txBody>
                  <a:tcPr marL="76562" marR="76562"/>
                </a:tc>
                <a:tc>
                  <a:txBody>
                    <a:bodyPr/>
                    <a:lstStyle/>
                    <a:p>
                      <a:pPr algn="ctr"/>
                      <a:r>
                        <a:rPr lang="en-NZ" dirty="0"/>
                        <a:t>16</a:t>
                      </a:r>
                    </a:p>
                  </a:txBody>
                  <a:tcPr marL="76562" marR="76562"/>
                </a:tc>
                <a:extLst>
                  <a:ext uri="{0D108BD9-81ED-4DB2-BD59-A6C34878D82A}">
                    <a16:rowId xmlns:a16="http://schemas.microsoft.com/office/drawing/2014/main" val="2814142439"/>
                  </a:ext>
                </a:extLst>
              </a:tr>
            </a:tbl>
          </a:graphicData>
        </a:graphic>
      </p:graphicFrame>
    </p:spTree>
    <p:extLst>
      <p:ext uri="{BB962C8B-B14F-4D97-AF65-F5344CB8AC3E}">
        <p14:creationId xmlns:p14="http://schemas.microsoft.com/office/powerpoint/2010/main" val="2664683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8103" y="223091"/>
            <a:ext cx="5394193" cy="1185916"/>
          </a:xfrm>
        </p:spPr>
        <p:txBody>
          <a:bodyPr vert="horz" lIns="91440" tIns="45720" rIns="91440" bIns="45720" rtlCol="0" anchor="b">
            <a:normAutofit/>
          </a:bodyPr>
          <a:lstStyle/>
          <a:p>
            <a:r>
              <a:rPr lang="en-GB" sz="3800"/>
              <a:t>Back to Greta and Carlos</a:t>
            </a:r>
          </a:p>
        </p:txBody>
      </p:sp>
      <p:graphicFrame>
        <p:nvGraphicFramePr>
          <p:cNvPr id="8" name="TextBox 5">
            <a:extLst>
              <a:ext uri="{FF2B5EF4-FFF2-40B4-BE49-F238E27FC236}">
                <a16:creationId xmlns:a16="http://schemas.microsoft.com/office/drawing/2014/main" id="{A8136E02-8C91-3DD4-9C58-92F388A660ED}"/>
              </a:ext>
            </a:extLst>
          </p:cNvPr>
          <p:cNvGraphicFramePr/>
          <p:nvPr>
            <p:extLst>
              <p:ext uri="{D42A27DB-BD31-4B8C-83A1-F6EECF244321}">
                <p14:modId xmlns:p14="http://schemas.microsoft.com/office/powerpoint/2010/main" val="356779742"/>
              </p:ext>
            </p:extLst>
          </p:nvPr>
        </p:nvGraphicFramePr>
        <p:xfrm>
          <a:off x="808102" y="1554481"/>
          <a:ext cx="5394193" cy="46152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0761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vert="horz" lIns="91440" tIns="45720" rIns="91440" bIns="45720" rtlCol="0" anchor="ctr">
            <a:normAutofit/>
          </a:bodyPr>
          <a:lstStyle/>
          <a:p>
            <a:r>
              <a:rPr lang="en-GB" sz="3100"/>
              <a:t>Comparative Advantage: Example</a:t>
            </a:r>
          </a:p>
        </p:txBody>
      </p:sp>
      <p:pic>
        <p:nvPicPr>
          <p:cNvPr id="7" name="Picture 6" descr="figure-18-18-c.jpg"/>
          <p:cNvPicPr>
            <a:picLocks noChangeAspect="1"/>
          </p:cNvPicPr>
          <p:nvPr/>
        </p:nvPicPr>
        <p:blipFill>
          <a:blip r:embed="rId2"/>
          <a:stretch>
            <a:fillRect/>
          </a:stretch>
        </p:blipFill>
        <p:spPr>
          <a:xfrm>
            <a:off x="3946525" y="682864"/>
            <a:ext cx="7175500" cy="4825523"/>
          </a:xfrm>
          <a:prstGeom prst="rect">
            <a:avLst/>
          </a:prstGeom>
          <a:noFill/>
        </p:spPr>
      </p:pic>
      <p:sp>
        <p:nvSpPr>
          <p:cNvPr id="4" name="TextBox 3"/>
          <p:cNvSpPr txBox="1"/>
          <p:nvPr/>
        </p:nvSpPr>
        <p:spPr>
          <a:xfrm>
            <a:off x="725488" y="2157413"/>
            <a:ext cx="2855912" cy="342900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tabLst>
                <a:tab pos="1885950" algn="l"/>
              </a:tabLst>
            </a:pPr>
            <a:r>
              <a:rPr lang="en-US" sz="2000">
                <a:solidFill>
                  <a:schemeClr val="tx1">
                    <a:lumMod val="75000"/>
                  </a:schemeClr>
                </a:solidFill>
              </a:rPr>
              <a:t>The relative price of apples to wheat depends on each person’s </a:t>
            </a:r>
            <a:r>
              <a:rPr lang="en-US" sz="2000" b="1">
                <a:solidFill>
                  <a:schemeClr val="tx1">
                    <a:lumMod val="75000"/>
                  </a:schemeClr>
                </a:solidFill>
              </a:rPr>
              <a:t>bargaining power</a:t>
            </a:r>
            <a:r>
              <a:rPr lang="en-US" sz="2000">
                <a:solidFill>
                  <a:schemeClr val="tx1">
                    <a:lumMod val="75000"/>
                  </a:schemeClr>
                </a:solidFill>
              </a:rPr>
              <a:t> and </a:t>
            </a:r>
            <a:r>
              <a:rPr lang="en-US" sz="2000" b="1">
                <a:solidFill>
                  <a:schemeClr val="tx1">
                    <a:lumMod val="75000"/>
                  </a:schemeClr>
                </a:solidFill>
              </a:rPr>
              <a:t>reservation option</a:t>
            </a:r>
            <a:r>
              <a:rPr lang="en-US" sz="2000">
                <a:solidFill>
                  <a:schemeClr val="tx1">
                    <a:lumMod val="75000"/>
                  </a:schemeClr>
                </a:solidFill>
              </a:rPr>
              <a:t>.</a:t>
            </a:r>
          </a:p>
        </p:txBody>
      </p:sp>
    </p:spTree>
    <p:extLst>
      <p:ext uri="{BB962C8B-B14F-4D97-AF65-F5344CB8AC3E}">
        <p14:creationId xmlns:p14="http://schemas.microsoft.com/office/powerpoint/2010/main" val="1065399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BEB1B-BB94-88E4-C9DA-CB071B47DA07}"/>
              </a:ext>
            </a:extLst>
          </p:cNvPr>
          <p:cNvSpPr>
            <a:spLocks noGrp="1"/>
          </p:cNvSpPr>
          <p:nvPr>
            <p:ph type="title"/>
          </p:nvPr>
        </p:nvSpPr>
        <p:spPr/>
        <p:txBody>
          <a:bodyPr>
            <a:normAutofit fontScale="90000"/>
          </a:bodyPr>
          <a:lstStyle/>
          <a:p>
            <a:r>
              <a:rPr lang="en-US" dirty="0"/>
              <a:t>Winners and Losers</a:t>
            </a:r>
          </a:p>
        </p:txBody>
      </p:sp>
      <p:sp>
        <p:nvSpPr>
          <p:cNvPr id="3" name="Text Placeholder 2">
            <a:extLst>
              <a:ext uri="{FF2B5EF4-FFF2-40B4-BE49-F238E27FC236}">
                <a16:creationId xmlns:a16="http://schemas.microsoft.com/office/drawing/2014/main" id="{A4A0B0BC-2569-4561-955B-A8BA3FC915AC}"/>
              </a:ext>
            </a:extLst>
          </p:cNvPr>
          <p:cNvSpPr>
            <a:spLocks noGrp="1"/>
          </p:cNvSpPr>
          <p:nvPr>
            <p:ph type="body" idx="1"/>
          </p:nvPr>
        </p:nvSpPr>
        <p:spPr/>
        <p:txBody>
          <a:bodyPr/>
          <a:lstStyle/>
          <a:p>
            <a:r>
              <a:rPr lang="en-US" dirty="0"/>
              <a:t>Welfare affects of trade</a:t>
            </a:r>
          </a:p>
        </p:txBody>
      </p:sp>
      <p:sp>
        <p:nvSpPr>
          <p:cNvPr id="4" name="Text Placeholder 3">
            <a:extLst>
              <a:ext uri="{FF2B5EF4-FFF2-40B4-BE49-F238E27FC236}">
                <a16:creationId xmlns:a16="http://schemas.microsoft.com/office/drawing/2014/main" id="{37AD5AB1-9F14-E33B-093E-E34FA21927FC}"/>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737129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800" dirty="0">
                <a:latin typeface="+mn-lt"/>
              </a:rPr>
              <a:t>Winners and Losers: Short Run</a:t>
            </a:r>
          </a:p>
        </p:txBody>
      </p:sp>
      <p:sp>
        <p:nvSpPr>
          <p:cNvPr id="4" name="Text Placeholder 3">
            <a:extLst>
              <a:ext uri="{FF2B5EF4-FFF2-40B4-BE49-F238E27FC236}">
                <a16:creationId xmlns:a16="http://schemas.microsoft.com/office/drawing/2014/main" id="{6FB47CD9-50A6-B0B7-7B28-FDF6437C4EC7}"/>
              </a:ext>
            </a:extLst>
          </p:cNvPr>
          <p:cNvSpPr>
            <a:spLocks noGrp="1"/>
          </p:cNvSpPr>
          <p:nvPr>
            <p:ph type="body" sz="quarter" idx="14"/>
          </p:nvPr>
        </p:nvSpPr>
        <p:spPr/>
        <p:txBody>
          <a:bodyPr/>
          <a:lstStyle/>
          <a:p>
            <a:endParaRPr lang="en-US" dirty="0"/>
          </a:p>
        </p:txBody>
      </p:sp>
      <p:graphicFrame>
        <p:nvGraphicFramePr>
          <p:cNvPr id="3" name="Diagram 2">
            <a:extLst>
              <a:ext uri="{FF2B5EF4-FFF2-40B4-BE49-F238E27FC236}">
                <a16:creationId xmlns:a16="http://schemas.microsoft.com/office/drawing/2014/main" id="{24CD03AC-D9DF-4053-AA34-FE43EE7A5C7F}"/>
              </a:ext>
            </a:extLst>
          </p:cNvPr>
          <p:cNvGraphicFramePr/>
          <p:nvPr/>
        </p:nvGraphicFramePr>
        <p:xfrm>
          <a:off x="450301" y="1573698"/>
          <a:ext cx="11518786" cy="3431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8771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800" dirty="0">
                <a:latin typeface="+mn-lt"/>
              </a:rPr>
              <a:t>Winners and Losers: Short Run</a:t>
            </a:r>
          </a:p>
        </p:txBody>
      </p:sp>
      <p:graphicFrame>
        <p:nvGraphicFramePr>
          <p:cNvPr id="3" name="Diagram 2">
            <a:extLst>
              <a:ext uri="{FF2B5EF4-FFF2-40B4-BE49-F238E27FC236}">
                <a16:creationId xmlns:a16="http://schemas.microsoft.com/office/drawing/2014/main" id="{B8DCC5B3-B402-C84C-A492-2BA4408D1FAA}"/>
              </a:ext>
            </a:extLst>
          </p:cNvPr>
          <p:cNvGraphicFramePr/>
          <p:nvPr/>
        </p:nvGraphicFramePr>
        <p:xfrm>
          <a:off x="450301" y="1573698"/>
          <a:ext cx="11518786" cy="33708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37094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544B6-0E90-644F-B314-2F15175DBE60}"/>
              </a:ext>
            </a:extLst>
          </p:cNvPr>
          <p:cNvSpPr>
            <a:spLocks noGrp="1"/>
          </p:cNvSpPr>
          <p:nvPr>
            <p:ph type="title"/>
          </p:nvPr>
        </p:nvSpPr>
        <p:spPr/>
        <p:txBody>
          <a:bodyPr>
            <a:normAutofit fontScale="90000"/>
          </a:bodyPr>
          <a:lstStyle/>
          <a:p>
            <a:r>
              <a:rPr lang="en-US" dirty="0"/>
              <a:t>NZ Agriculture vs textiles</a:t>
            </a:r>
          </a:p>
        </p:txBody>
      </p:sp>
      <p:graphicFrame>
        <p:nvGraphicFramePr>
          <p:cNvPr id="4" name="Content Placeholder 3">
            <a:extLst>
              <a:ext uri="{FF2B5EF4-FFF2-40B4-BE49-F238E27FC236}">
                <a16:creationId xmlns:a16="http://schemas.microsoft.com/office/drawing/2014/main" id="{2C32E360-378F-2F48-83CB-0485660AFE01}"/>
              </a:ext>
            </a:extLst>
          </p:cNvPr>
          <p:cNvGraphicFramePr>
            <a:graphicFrameLocks noGrp="1"/>
          </p:cNvGraphicFramePr>
          <p:nvPr>
            <p:ph idx="1"/>
          </p:nvPr>
        </p:nvGraphicFramePr>
        <p:xfrm>
          <a:off x="1600201" y="1710111"/>
          <a:ext cx="10131425" cy="364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1027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800" dirty="0">
                <a:latin typeface="+mn-lt"/>
              </a:rPr>
              <a:t>Winners and Losers: Short Run</a:t>
            </a:r>
          </a:p>
        </p:txBody>
      </p:sp>
      <p:graphicFrame>
        <p:nvGraphicFramePr>
          <p:cNvPr id="3" name="Diagram 2">
            <a:extLst>
              <a:ext uri="{FF2B5EF4-FFF2-40B4-BE49-F238E27FC236}">
                <a16:creationId xmlns:a16="http://schemas.microsoft.com/office/drawing/2014/main" id="{89CCF626-AA21-F546-9330-432C5AD37AE5}"/>
              </a:ext>
            </a:extLst>
          </p:cNvPr>
          <p:cNvGraphicFramePr/>
          <p:nvPr/>
        </p:nvGraphicFramePr>
        <p:xfrm>
          <a:off x="674694" y="1568087"/>
          <a:ext cx="11314979" cy="4493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1034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800" dirty="0">
                <a:latin typeface="+mn-lt"/>
              </a:rPr>
              <a:t>Winners and Losers: Short Run</a:t>
            </a:r>
          </a:p>
        </p:txBody>
      </p:sp>
      <p:graphicFrame>
        <p:nvGraphicFramePr>
          <p:cNvPr id="3" name="Diagram 2">
            <a:extLst>
              <a:ext uri="{FF2B5EF4-FFF2-40B4-BE49-F238E27FC236}">
                <a16:creationId xmlns:a16="http://schemas.microsoft.com/office/drawing/2014/main" id="{BD5DE783-98FD-DB4A-A0B2-923ED34B5151}"/>
              </a:ext>
            </a:extLst>
          </p:cNvPr>
          <p:cNvGraphicFramePr/>
          <p:nvPr/>
        </p:nvGraphicFramePr>
        <p:xfrm>
          <a:off x="535777" y="1367041"/>
          <a:ext cx="11314979" cy="4493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0881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5940" y="201230"/>
            <a:ext cx="10515600" cy="935641"/>
          </a:xfrm>
        </p:spPr>
        <p:txBody>
          <a:bodyPr>
            <a:normAutofit/>
          </a:bodyPr>
          <a:lstStyle/>
          <a:p>
            <a:pPr algn="ctr"/>
            <a:r>
              <a:rPr lang="en-GB" sz="4800" dirty="0">
                <a:latin typeface="+mn-lt"/>
              </a:rPr>
              <a:t>Hypothetical example</a:t>
            </a:r>
          </a:p>
        </p:txBody>
      </p:sp>
      <p:graphicFrame>
        <p:nvGraphicFramePr>
          <p:cNvPr id="3" name="Diagram 2">
            <a:extLst>
              <a:ext uri="{FF2B5EF4-FFF2-40B4-BE49-F238E27FC236}">
                <a16:creationId xmlns:a16="http://schemas.microsoft.com/office/drawing/2014/main" id="{4CE37BA6-6389-7041-BAB2-1B363FEC4A7E}"/>
              </a:ext>
            </a:extLst>
          </p:cNvPr>
          <p:cNvGraphicFramePr/>
          <p:nvPr/>
        </p:nvGraphicFramePr>
        <p:xfrm>
          <a:off x="344345" y="1014139"/>
          <a:ext cx="10007566" cy="38287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0219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909" y="808055"/>
            <a:ext cx="3979205" cy="1453363"/>
          </a:xfrm>
        </p:spPr>
        <p:txBody>
          <a:bodyPr vert="horz" lIns="91440" tIns="45720" rIns="91440" bIns="45720" rtlCol="0" anchor="ctr">
            <a:normAutofit fontScale="90000"/>
          </a:bodyPr>
          <a:lstStyle/>
          <a:p>
            <a:r>
              <a:rPr lang="en-US"/>
              <a:t>Hypothetical example</a:t>
            </a:r>
          </a:p>
        </p:txBody>
      </p:sp>
      <p:graphicFrame>
        <p:nvGraphicFramePr>
          <p:cNvPr id="3" name="Diagram 2">
            <a:extLst>
              <a:ext uri="{FF2B5EF4-FFF2-40B4-BE49-F238E27FC236}">
                <a16:creationId xmlns:a16="http://schemas.microsoft.com/office/drawing/2014/main" id="{2143D0FF-0F23-3A4F-A415-84C1AB10A548}"/>
              </a:ext>
            </a:extLst>
          </p:cNvPr>
          <p:cNvGraphicFramePr/>
          <p:nvPr/>
        </p:nvGraphicFramePr>
        <p:xfrm>
          <a:off x="802178" y="2261420"/>
          <a:ext cx="4002936" cy="36379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descr="figure-18-20.jpg"/>
          <p:cNvPicPr>
            <a:picLocks noChangeAspect="1"/>
          </p:cNvPicPr>
          <p:nvPr/>
        </p:nvPicPr>
        <p:blipFill>
          <a:blip r:embed="rId7"/>
          <a:stretch>
            <a:fillRect/>
          </a:stretch>
        </p:blipFill>
        <p:spPr>
          <a:xfrm>
            <a:off x="6111390" y="796413"/>
            <a:ext cx="4452317" cy="5102943"/>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13384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5B987F-9C2C-F5CC-AEFE-CDFD44E79F4A}"/>
              </a:ext>
            </a:extLst>
          </p:cNvPr>
          <p:cNvSpPr>
            <a:spLocks noGrp="1"/>
          </p:cNvSpPr>
          <p:nvPr>
            <p:ph type="title"/>
          </p:nvPr>
        </p:nvSpPr>
        <p:spPr/>
        <p:txBody>
          <a:bodyPr>
            <a:normAutofit fontScale="90000"/>
          </a:bodyPr>
          <a:lstStyle/>
          <a:p>
            <a:r>
              <a:rPr lang="en-US" dirty="0"/>
              <a:t>Protectionism</a:t>
            </a:r>
          </a:p>
        </p:txBody>
      </p:sp>
      <p:sp>
        <p:nvSpPr>
          <p:cNvPr id="5" name="Text Placeholder 4">
            <a:extLst>
              <a:ext uri="{FF2B5EF4-FFF2-40B4-BE49-F238E27FC236}">
                <a16:creationId xmlns:a16="http://schemas.microsoft.com/office/drawing/2014/main" id="{15CBEF6E-F6BB-E392-28B9-DE1C6D53506F}"/>
              </a:ext>
            </a:extLst>
          </p:cNvPr>
          <p:cNvSpPr>
            <a:spLocks noGrp="1"/>
          </p:cNvSpPr>
          <p:nvPr>
            <p:ph type="body" idx="1"/>
          </p:nvPr>
        </p:nvSpPr>
        <p:spPr/>
        <p:txBody>
          <a:bodyPr/>
          <a:lstStyle/>
          <a:p>
            <a:r>
              <a:rPr lang="en-US" dirty="0"/>
              <a:t>Tariffs</a:t>
            </a:r>
          </a:p>
        </p:txBody>
      </p:sp>
      <p:sp>
        <p:nvSpPr>
          <p:cNvPr id="6" name="Text Placeholder 5">
            <a:extLst>
              <a:ext uri="{FF2B5EF4-FFF2-40B4-BE49-F238E27FC236}">
                <a16:creationId xmlns:a16="http://schemas.microsoft.com/office/drawing/2014/main" id="{4C5669F6-3318-8976-3D23-6677093A37CD}"/>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522237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8E7B42-3572-FFDD-973D-585ECA096D50}"/>
              </a:ext>
            </a:extLst>
          </p:cNvPr>
          <p:cNvSpPr>
            <a:spLocks noGrp="1"/>
          </p:cNvSpPr>
          <p:nvPr>
            <p:ph type="title"/>
          </p:nvPr>
        </p:nvSpPr>
        <p:spPr/>
        <p:txBody>
          <a:bodyPr/>
          <a:lstStyle/>
          <a:p>
            <a:r>
              <a:rPr lang="en-US" dirty="0"/>
              <a:t>Mercantilism</a:t>
            </a:r>
          </a:p>
        </p:txBody>
      </p:sp>
      <p:sp>
        <p:nvSpPr>
          <p:cNvPr id="6" name="Text Placeholder 5">
            <a:extLst>
              <a:ext uri="{FF2B5EF4-FFF2-40B4-BE49-F238E27FC236}">
                <a16:creationId xmlns:a16="http://schemas.microsoft.com/office/drawing/2014/main" id="{EAD18494-A6BF-04AC-C220-97F2E60309CC}"/>
              </a:ext>
            </a:extLst>
          </p:cNvPr>
          <p:cNvSpPr>
            <a:spLocks noGrp="1"/>
          </p:cNvSpPr>
          <p:nvPr>
            <p:ph type="body" sz="quarter" idx="14"/>
          </p:nvPr>
        </p:nvSpPr>
        <p:spPr/>
        <p:txBody>
          <a:bodyPr/>
          <a:lstStyle/>
          <a:p>
            <a:r>
              <a:rPr lang="en-US" dirty="0"/>
              <a:t>Dominant Trade policy in 1600-1700s CE.</a:t>
            </a:r>
          </a:p>
          <a:p>
            <a:r>
              <a:rPr lang="en-US" dirty="0"/>
              <a:t>Belief that trade was a zero-sum game.</a:t>
            </a:r>
          </a:p>
          <a:p>
            <a:r>
              <a:rPr lang="en-US" dirty="0"/>
              <a:t>Goal of trade policy was to </a:t>
            </a:r>
            <a:r>
              <a:rPr lang="en-US" dirty="0" err="1"/>
              <a:t>maximise</a:t>
            </a:r>
            <a:r>
              <a:rPr lang="en-US" dirty="0"/>
              <a:t> exports and minimize imports.</a:t>
            </a:r>
          </a:p>
          <a:p>
            <a:r>
              <a:rPr lang="en-US" dirty="0"/>
              <a:t>Trade surpluses meant you were winning.</a:t>
            </a:r>
          </a:p>
        </p:txBody>
      </p:sp>
      <p:sp>
        <p:nvSpPr>
          <p:cNvPr id="7" name="Content Placeholder 6">
            <a:extLst>
              <a:ext uri="{FF2B5EF4-FFF2-40B4-BE49-F238E27FC236}">
                <a16:creationId xmlns:a16="http://schemas.microsoft.com/office/drawing/2014/main" id="{F94B0956-A81D-334C-0CBE-28B0BB5EDAEB}"/>
              </a:ext>
            </a:extLst>
          </p:cNvPr>
          <p:cNvSpPr>
            <a:spLocks noGrp="1"/>
          </p:cNvSpPr>
          <p:nvPr>
            <p:ph sz="quarter" idx="15"/>
          </p:nvPr>
        </p:nvSpPr>
        <p:spPr/>
        <p:txBody>
          <a:bodyPr>
            <a:normAutofit fontScale="92500"/>
          </a:bodyPr>
          <a:lstStyle/>
          <a:p>
            <a:r>
              <a:rPr lang="en-US" dirty="0"/>
              <a:t>Critiqued by Hume and Smith.</a:t>
            </a:r>
          </a:p>
          <a:p>
            <a:r>
              <a:rPr lang="en-US" dirty="0"/>
              <a:t>Hume promoted an early monetary trade theory.</a:t>
            </a:r>
          </a:p>
          <a:p>
            <a:pPr lvl="1"/>
            <a:r>
              <a:rPr lang="en-US" dirty="0"/>
              <a:t>Inflows of gold cause prices to rise.</a:t>
            </a:r>
          </a:p>
          <a:p>
            <a:pPr lvl="1"/>
            <a:r>
              <a:rPr lang="en-US" dirty="0"/>
              <a:t>Change in relative prices reduced exports and increased imports.</a:t>
            </a:r>
          </a:p>
          <a:p>
            <a:r>
              <a:rPr lang="en-US" dirty="0"/>
              <a:t>Smith provided an early theory of absolute advantage.</a:t>
            </a:r>
          </a:p>
          <a:p>
            <a:pPr lvl="1"/>
            <a:r>
              <a:rPr lang="en-US" dirty="0"/>
              <a:t>By specializing, countries could expand output for their mutual benefit. </a:t>
            </a:r>
          </a:p>
          <a:p>
            <a:r>
              <a:rPr lang="en-US" dirty="0"/>
              <a:t>Ricardo completes critique with theory of comparative advantage.</a:t>
            </a:r>
          </a:p>
          <a:p>
            <a:pPr lvl="1"/>
            <a:endParaRPr lang="en-US" dirty="0"/>
          </a:p>
        </p:txBody>
      </p:sp>
    </p:spTree>
    <p:extLst>
      <p:ext uri="{BB962C8B-B14F-4D97-AF65-F5344CB8AC3E}">
        <p14:creationId xmlns:p14="http://schemas.microsoft.com/office/powerpoint/2010/main" val="346716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wipe(left)">
                                      <p:cBhvr>
                                        <p:cTn id="15" dur="500"/>
                                        <p:tgtEl>
                                          <p:spTgt spid="7">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wipe(left)">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wipe(left)">
                                      <p:cBhvr>
                                        <p:cTn id="23" dur="500"/>
                                        <p:tgtEl>
                                          <p:spTgt spid="7">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wipe(left)">
                                      <p:cBhvr>
                                        <p:cTn id="26" dur="500"/>
                                        <p:tgtEl>
                                          <p:spTgt spid="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wipe(left)">
                                      <p:cBhvr>
                                        <p:cTn id="31"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9949C1-5758-B704-A95C-567DCCB7C56D}"/>
              </a:ext>
            </a:extLst>
          </p:cNvPr>
          <p:cNvSpPr>
            <a:spLocks noGrp="1"/>
          </p:cNvSpPr>
          <p:nvPr>
            <p:ph type="title"/>
          </p:nvPr>
        </p:nvSpPr>
        <p:spPr/>
        <p:txBody>
          <a:bodyPr/>
          <a:lstStyle/>
          <a:p>
            <a:r>
              <a:rPr lang="en-US" sz="4000" dirty="0"/>
              <a:t>Modern Mercantilism</a:t>
            </a:r>
          </a:p>
        </p:txBody>
      </p:sp>
      <p:sp>
        <p:nvSpPr>
          <p:cNvPr id="6" name="Content Placeholder 5">
            <a:extLst>
              <a:ext uri="{FF2B5EF4-FFF2-40B4-BE49-F238E27FC236}">
                <a16:creationId xmlns:a16="http://schemas.microsoft.com/office/drawing/2014/main" id="{C25EF16F-DC2E-4DA6-4D7F-3AC7B2E0FEAB}"/>
              </a:ext>
            </a:extLst>
          </p:cNvPr>
          <p:cNvSpPr>
            <a:spLocks noGrp="1"/>
          </p:cNvSpPr>
          <p:nvPr>
            <p:ph sz="quarter" idx="13"/>
          </p:nvPr>
        </p:nvSpPr>
        <p:spPr/>
        <p:txBody>
          <a:bodyPr/>
          <a:lstStyle/>
          <a:p>
            <a:r>
              <a:rPr lang="en-NZ" dirty="0"/>
              <a:t>"Trade deficits hurt the economy very badly." (April 26, 2017)</a:t>
            </a:r>
          </a:p>
          <a:p>
            <a:r>
              <a:rPr lang="en-NZ" dirty="0"/>
              <a:t>“Trade deficits are no longer merely an economic problem. They are a national emergency that threatens our security and our very way of life.” (April 2, 2025)</a:t>
            </a:r>
          </a:p>
          <a:p>
            <a:r>
              <a:rPr lang="en-NZ" dirty="0"/>
              <a:t>“They’ve taken so much of our wealth away from us. We’re not going to let that happen. We truly can be very wealthy. We can be so much wealthier than any country.” (April 2, 2025) </a:t>
            </a:r>
          </a:p>
          <a:p>
            <a:endParaRPr lang="en-US" dirty="0"/>
          </a:p>
        </p:txBody>
      </p:sp>
      <p:sp>
        <p:nvSpPr>
          <p:cNvPr id="7" name="Text Placeholder 6">
            <a:extLst>
              <a:ext uri="{FF2B5EF4-FFF2-40B4-BE49-F238E27FC236}">
                <a16:creationId xmlns:a16="http://schemas.microsoft.com/office/drawing/2014/main" id="{4B3961EC-A059-F222-7DE1-B94D5A0DC532}"/>
              </a:ext>
            </a:extLst>
          </p:cNvPr>
          <p:cNvSpPr>
            <a:spLocks noGrp="1"/>
          </p:cNvSpPr>
          <p:nvPr>
            <p:ph type="body" sz="quarter" idx="14"/>
          </p:nvPr>
        </p:nvSpPr>
        <p:spPr/>
        <p:txBody>
          <a:bodyPr/>
          <a:lstStyle/>
          <a:p>
            <a:r>
              <a:rPr lang="en-US" dirty="0"/>
              <a:t>Mercantilism persists in political movements even if rejected by modern economics.</a:t>
            </a:r>
          </a:p>
          <a:p>
            <a:r>
              <a:rPr lang="en-US" dirty="0"/>
              <a:t>A prominent example is Trump</a:t>
            </a:r>
          </a:p>
        </p:txBody>
      </p:sp>
    </p:spTree>
    <p:extLst>
      <p:ext uri="{BB962C8B-B14F-4D97-AF65-F5344CB8AC3E}">
        <p14:creationId xmlns:p14="http://schemas.microsoft.com/office/powerpoint/2010/main" val="111298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1D51673-A8D2-7CF4-5F7A-E544587950E7}"/>
              </a:ext>
            </a:extLst>
          </p:cNvPr>
          <p:cNvSpPr>
            <a:spLocks noGrp="1"/>
          </p:cNvSpPr>
          <p:nvPr>
            <p:ph idx="1"/>
          </p:nvPr>
        </p:nvSpPr>
        <p:spPr/>
        <p:txBody>
          <a:bodyPr/>
          <a:lstStyle/>
          <a:p>
            <a:r>
              <a:rPr lang="en-US" dirty="0"/>
              <a:t>Tariffs are a common form of trade protectionism.</a:t>
            </a:r>
          </a:p>
          <a:p>
            <a:r>
              <a:rPr lang="en-US" dirty="0"/>
              <a:t>Quotas used to be common, but have been moved away from.</a:t>
            </a:r>
          </a:p>
          <a:p>
            <a:pPr lvl="1"/>
            <a:r>
              <a:rPr lang="en-US" dirty="0"/>
              <a:t>NZ used to be a big user of quotas through a licensing system.</a:t>
            </a:r>
          </a:p>
          <a:p>
            <a:r>
              <a:rPr lang="en-US" dirty="0"/>
              <a:t>Tariffs are often promoted as saving jobs.</a:t>
            </a:r>
          </a:p>
          <a:p>
            <a:r>
              <a:rPr lang="en-US" dirty="0"/>
              <a:t>But what is the impact of a tariff on an economy? </a:t>
            </a:r>
          </a:p>
        </p:txBody>
      </p:sp>
      <p:sp>
        <p:nvSpPr>
          <p:cNvPr id="2" name="Title 1">
            <a:extLst>
              <a:ext uri="{FF2B5EF4-FFF2-40B4-BE49-F238E27FC236}">
                <a16:creationId xmlns:a16="http://schemas.microsoft.com/office/drawing/2014/main" id="{FF9838FD-7963-8AC8-6A6B-E3B70DE48B91}"/>
              </a:ext>
            </a:extLst>
          </p:cNvPr>
          <p:cNvSpPr>
            <a:spLocks noGrp="1"/>
          </p:cNvSpPr>
          <p:nvPr>
            <p:ph type="title"/>
          </p:nvPr>
        </p:nvSpPr>
        <p:spPr/>
        <p:txBody>
          <a:bodyPr/>
          <a:lstStyle/>
          <a:p>
            <a:r>
              <a:rPr lang="en-US" dirty="0"/>
              <a:t>Tariffs</a:t>
            </a:r>
          </a:p>
        </p:txBody>
      </p:sp>
    </p:spTree>
    <p:extLst>
      <p:ext uri="{BB962C8B-B14F-4D97-AF65-F5344CB8AC3E}">
        <p14:creationId xmlns:p14="http://schemas.microsoft.com/office/powerpoint/2010/main" val="313923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1000"/>
                                        <p:tgtEl>
                                          <p:spTgt spid="4">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10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wipe(left)">
                                      <p:cBhvr>
                                        <p:cTn id="20" dur="10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wipe(left)">
                                      <p:cBhvr>
                                        <p:cTn id="25" dur="1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FAF55-E4FF-A994-2106-F5852004129D}"/>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72873A2D-E1F9-94F9-E70C-359835192765}"/>
              </a:ext>
            </a:extLst>
          </p:cNvPr>
          <p:cNvSpPr>
            <a:spLocks noGrp="1"/>
          </p:cNvSpPr>
          <p:nvPr>
            <p:ph sz="quarter" idx="13"/>
          </p:nvPr>
        </p:nvSpPr>
        <p:spPr/>
        <p:txBody>
          <a:bodyPr/>
          <a:lstStyle/>
          <a:p>
            <a:r>
              <a:rPr lang="en-US" dirty="0"/>
              <a:t>Amiti, Redding and Weinstein (2019)</a:t>
            </a:r>
          </a:p>
          <a:p>
            <a:pPr lvl="1"/>
            <a:r>
              <a:rPr lang="en-NZ" dirty="0"/>
              <a:t> "</a:t>
            </a:r>
            <a:r>
              <a:rPr lang="en-NZ" i="1" dirty="0"/>
              <a:t>U.S. tariffs were almost entirely passed through into domestic prices, with no evidence of foreign exporters lowering prices to offset the tariffs</a:t>
            </a:r>
            <a:r>
              <a:rPr lang="en-NZ" dirty="0"/>
              <a:t>”</a:t>
            </a:r>
          </a:p>
          <a:p>
            <a:r>
              <a:rPr lang="en-NZ" dirty="0" err="1"/>
              <a:t>Fajelbaum</a:t>
            </a:r>
            <a:r>
              <a:rPr lang="en-NZ" dirty="0"/>
              <a:t> </a:t>
            </a:r>
            <a:r>
              <a:rPr lang="en-NZ" dirty="0" err="1"/>
              <a:t>et.al</a:t>
            </a:r>
            <a:r>
              <a:rPr lang="en-NZ" dirty="0"/>
              <a:t> in 2020</a:t>
            </a:r>
          </a:p>
          <a:p>
            <a:pPr lvl="1"/>
            <a:r>
              <a:rPr lang="en-NZ" i="1" dirty="0"/>
              <a:t>"We find that the 2018 tariffs led to higher prices for U.S. consumers and resulted in welfare losses.”</a:t>
            </a:r>
          </a:p>
          <a:p>
            <a:r>
              <a:rPr lang="en-NZ" dirty="0"/>
              <a:t>US may not perfectly match the motel, but is close enough to still apply.</a:t>
            </a:r>
            <a:endParaRPr lang="en-US" dirty="0"/>
          </a:p>
        </p:txBody>
      </p:sp>
      <p:sp>
        <p:nvSpPr>
          <p:cNvPr id="4" name="Text Placeholder 3">
            <a:extLst>
              <a:ext uri="{FF2B5EF4-FFF2-40B4-BE49-F238E27FC236}">
                <a16:creationId xmlns:a16="http://schemas.microsoft.com/office/drawing/2014/main" id="{935B7603-1DDC-DC88-9B26-FB1569EFB9FE}"/>
              </a:ext>
            </a:extLst>
          </p:cNvPr>
          <p:cNvSpPr>
            <a:spLocks noGrp="1"/>
          </p:cNvSpPr>
          <p:nvPr>
            <p:ph type="body" sz="quarter" idx="14"/>
          </p:nvPr>
        </p:nvSpPr>
        <p:spPr/>
        <p:txBody>
          <a:bodyPr/>
          <a:lstStyle/>
          <a:p>
            <a:r>
              <a:rPr lang="en-US" dirty="0"/>
              <a:t>The model assumes a small country relative to the world?</a:t>
            </a:r>
          </a:p>
          <a:p>
            <a:r>
              <a:rPr lang="en-US" dirty="0"/>
              <a:t>Does this apply to a large economy like the USA? </a:t>
            </a:r>
          </a:p>
          <a:p>
            <a:r>
              <a:rPr lang="en-US" dirty="0"/>
              <a:t>Can use the 2018 tariffs to test.</a:t>
            </a:r>
          </a:p>
          <a:p>
            <a:endParaRPr lang="en-US" dirty="0"/>
          </a:p>
        </p:txBody>
      </p:sp>
    </p:spTree>
    <p:extLst>
      <p:ext uri="{BB962C8B-B14F-4D97-AF65-F5344CB8AC3E}">
        <p14:creationId xmlns:p14="http://schemas.microsoft.com/office/powerpoint/2010/main" val="25884869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39C-6817-0AF4-3097-81BC40F1FC2E}"/>
              </a:ext>
            </a:extLst>
          </p:cNvPr>
          <p:cNvSpPr>
            <a:spLocks noGrp="1"/>
          </p:cNvSpPr>
          <p:nvPr>
            <p:ph type="title"/>
          </p:nvPr>
        </p:nvSpPr>
        <p:spPr/>
        <p:txBody>
          <a:bodyPr/>
          <a:lstStyle/>
          <a:p>
            <a:r>
              <a:rPr lang="en-US" sz="4000" dirty="0"/>
              <a:t>Economy-wide effects</a:t>
            </a:r>
          </a:p>
        </p:txBody>
      </p:sp>
      <p:sp>
        <p:nvSpPr>
          <p:cNvPr id="3" name="Content Placeholder 2">
            <a:extLst>
              <a:ext uri="{FF2B5EF4-FFF2-40B4-BE49-F238E27FC236}">
                <a16:creationId xmlns:a16="http://schemas.microsoft.com/office/drawing/2014/main" id="{7FF2CA4F-AC26-02AA-C495-C49BA4707A75}"/>
              </a:ext>
            </a:extLst>
          </p:cNvPr>
          <p:cNvSpPr>
            <a:spLocks noGrp="1"/>
          </p:cNvSpPr>
          <p:nvPr>
            <p:ph sz="quarter" idx="13"/>
          </p:nvPr>
        </p:nvSpPr>
        <p:spPr/>
        <p:txBody>
          <a:bodyPr>
            <a:normAutofit fontScale="92500"/>
          </a:bodyPr>
          <a:lstStyle/>
          <a:p>
            <a:r>
              <a:rPr lang="en-US" dirty="0"/>
              <a:t>Impact on other producers in an economy.</a:t>
            </a:r>
          </a:p>
          <a:p>
            <a:pPr lvl="1"/>
            <a:r>
              <a:rPr lang="en-US" dirty="0"/>
              <a:t>US Steel Tariffs reduce employment in steel-using industries. Cost exceeded gains to US steel producers.</a:t>
            </a:r>
          </a:p>
          <a:p>
            <a:pPr lvl="1"/>
            <a:r>
              <a:rPr lang="en-US" dirty="0"/>
              <a:t>These did not recover after the tariffs were rescinded.</a:t>
            </a:r>
          </a:p>
          <a:p>
            <a:r>
              <a:rPr lang="en-US" dirty="0"/>
              <a:t>There are few ‘domestic producers’</a:t>
            </a:r>
          </a:p>
          <a:p>
            <a:pPr lvl="1"/>
            <a:r>
              <a:rPr lang="en-US" dirty="0"/>
              <a:t>Nearly all use parts or components from other countries.</a:t>
            </a:r>
          </a:p>
          <a:p>
            <a:pPr lvl="1"/>
            <a:r>
              <a:rPr lang="en-US" dirty="0"/>
              <a:t>They benefit less from tariffs.</a:t>
            </a:r>
          </a:p>
          <a:p>
            <a:r>
              <a:rPr lang="en-US" dirty="0"/>
              <a:t>Market distortions</a:t>
            </a:r>
          </a:p>
          <a:p>
            <a:pPr lvl="1"/>
            <a:r>
              <a:rPr lang="en-US" dirty="0"/>
              <a:t>Directs activity away from what we are efficient at (comparative advantage) to inefficient industries. </a:t>
            </a:r>
          </a:p>
        </p:txBody>
      </p:sp>
      <p:sp>
        <p:nvSpPr>
          <p:cNvPr id="4" name="Text Placeholder 3">
            <a:extLst>
              <a:ext uri="{FF2B5EF4-FFF2-40B4-BE49-F238E27FC236}">
                <a16:creationId xmlns:a16="http://schemas.microsoft.com/office/drawing/2014/main" id="{99AC2229-FDDB-108F-BE63-5212FE433DB6}"/>
              </a:ext>
            </a:extLst>
          </p:cNvPr>
          <p:cNvSpPr>
            <a:spLocks noGrp="1"/>
          </p:cNvSpPr>
          <p:nvPr>
            <p:ph type="body" sz="quarter" idx="14"/>
          </p:nvPr>
        </p:nvSpPr>
        <p:spPr/>
        <p:txBody>
          <a:bodyPr/>
          <a:lstStyle/>
          <a:p>
            <a:r>
              <a:rPr lang="en-US" dirty="0"/>
              <a:t>What doesn’t our tariff model capture?</a:t>
            </a:r>
          </a:p>
        </p:txBody>
      </p:sp>
    </p:spTree>
    <p:extLst>
      <p:ext uri="{BB962C8B-B14F-4D97-AF65-F5344CB8AC3E}">
        <p14:creationId xmlns:p14="http://schemas.microsoft.com/office/powerpoint/2010/main" val="41460152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047751" y="561766"/>
            <a:ext cx="4505326" cy="1325563"/>
          </a:xfrm>
        </p:spPr>
        <p:txBody>
          <a:bodyPr vert="horz" lIns="91440" tIns="45720" rIns="91440" bIns="45720" rtlCol="0" anchor="b">
            <a:normAutofit/>
          </a:bodyPr>
          <a:lstStyle/>
          <a:p>
            <a:r>
              <a:rPr lang="en-US" sz="3800" dirty="0"/>
              <a:t>Case Study: NZ Automobile Assembly</a:t>
            </a:r>
          </a:p>
        </p:txBody>
      </p:sp>
      <p:sp>
        <p:nvSpPr>
          <p:cNvPr id="2" name="Text Placeholder 1"/>
          <p:cNvSpPr>
            <a:spLocks noGrp="1"/>
          </p:cNvSpPr>
          <p:nvPr>
            <p:ph type="body" sz="quarter" idx="14"/>
          </p:nvPr>
        </p:nvSpPr>
        <p:spPr>
          <a:xfrm>
            <a:off x="1047751" y="2013916"/>
            <a:ext cx="4505326" cy="3571875"/>
          </a:xfrm>
        </p:spPr>
        <p:txBody>
          <a:bodyPr vert="horz" lIns="91440" tIns="45720" rIns="91440" bIns="45720" rtlCol="0" anchor="t">
            <a:normAutofit/>
          </a:bodyPr>
          <a:lstStyle/>
          <a:p>
            <a:pPr indent="-228600">
              <a:buFont typeface="Arial" panose="020B0604020202020204" pitchFamily="34" charset="0"/>
              <a:buChar char="•"/>
            </a:pPr>
            <a:r>
              <a:rPr lang="en-US" sz="2200"/>
              <a:t>Pre-1984</a:t>
            </a:r>
          </a:p>
          <a:p>
            <a:pPr marL="457200" indent="-228600">
              <a:buFont typeface="Arial" panose="020B0604020202020204" pitchFamily="34" charset="0"/>
              <a:buChar char="•"/>
            </a:pPr>
            <a:r>
              <a:rPr lang="en-US" sz="2200"/>
              <a:t>Both CKDs and CBU’s needed import licences</a:t>
            </a:r>
          </a:p>
          <a:p>
            <a:pPr marL="457200" indent="-228600">
              <a:buFont typeface="Arial" panose="020B0604020202020204" pitchFamily="34" charset="0"/>
              <a:buChar char="•"/>
            </a:pPr>
            <a:r>
              <a:rPr lang="en-US" sz="2200"/>
              <a:t>CKD Tariffs were 45% </a:t>
            </a:r>
          </a:p>
          <a:p>
            <a:pPr marL="457200" indent="-228600">
              <a:buFont typeface="Arial" panose="020B0604020202020204" pitchFamily="34" charset="0"/>
              <a:buChar char="•"/>
            </a:pPr>
            <a:r>
              <a:rPr lang="en-US" sz="2200"/>
              <a:t>CBU Tariffs were 55%</a:t>
            </a:r>
          </a:p>
          <a:p>
            <a:pPr marL="457200" indent="-228600">
              <a:buFont typeface="Arial" panose="020B0604020202020204" pitchFamily="34" charset="0"/>
              <a:buChar char="•"/>
            </a:pPr>
            <a:r>
              <a:rPr lang="en-US" sz="2200"/>
              <a:t>Excise taxes were 20%</a:t>
            </a:r>
          </a:p>
          <a:p>
            <a:pPr marL="457200" indent="-228600">
              <a:buFont typeface="Arial" panose="020B0604020202020204" pitchFamily="34" charset="0"/>
              <a:buChar char="•"/>
            </a:pPr>
            <a:r>
              <a:rPr lang="en-US" sz="2200"/>
              <a:t>Sales taxes were 30-33%</a:t>
            </a:r>
          </a:p>
          <a:p>
            <a:pPr marL="457200" indent="-228600">
              <a:buFont typeface="Arial" panose="020B0604020202020204" pitchFamily="34" charset="0"/>
              <a:buChar char="•"/>
            </a:pPr>
            <a:r>
              <a:rPr lang="en-US" sz="2200"/>
              <a:t>23 plants in NZ were assembling CKD’s in 1983/84</a:t>
            </a:r>
          </a:p>
          <a:p>
            <a:pPr indent="-228600">
              <a:buFont typeface="Arial" panose="020B0604020202020204" pitchFamily="34" charset="0"/>
              <a:buChar char="•"/>
            </a:pPr>
            <a:endParaRPr lang="en-US" sz="2200"/>
          </a:p>
        </p:txBody>
      </p:sp>
      <p:pic>
        <p:nvPicPr>
          <p:cNvPr id="1026" name="Picture 2" descr="http://photonews.org.nz/nelson/issue/NPN67_19660528/NPN67_19660528_040b.jpg"/>
          <p:cNvPicPr>
            <a:picLocks noChangeAspect="1" noChangeArrowheads="1"/>
          </p:cNvPicPr>
          <p:nvPr/>
        </p:nvPicPr>
        <p:blipFill rotWithShape="1">
          <a:blip r:embed="rId3">
            <a:extLst>
              <a:ext uri="{28A0092B-C50C-407E-A947-70E740481C1C}">
                <a14:useLocalDpi xmlns:a14="http://schemas.microsoft.com/office/drawing/2010/main" val="0"/>
              </a:ext>
            </a:extLst>
          </a:blip>
          <a:srcRect t="10382" r="-2" b="34713"/>
          <a:stretch/>
        </p:blipFill>
        <p:spPr bwMode="auto">
          <a:xfrm>
            <a:off x="6096001" y="561766"/>
            <a:ext cx="5741988" cy="5024025"/>
          </a:xfrm>
          <a:prstGeom prst="rect">
            <a:avLst/>
          </a:prstGeom>
          <a:solidFill>
            <a:srgbClr val="FFFFFF"/>
          </a:solidFill>
          <a:effectLst/>
        </p:spPr>
      </p:pic>
      <p:sp>
        <p:nvSpPr>
          <p:cNvPr id="4" name="Slide Number Placeholder 3" hidden="1"/>
          <p:cNvSpPr>
            <a:spLocks noGrp="1"/>
          </p:cNvSpPr>
          <p:nvPr>
            <p:ph type="sldNum" sz="quarter" idx="12"/>
          </p:nvPr>
        </p:nvSpPr>
        <p:spPr/>
        <p:txBody>
          <a:bodyPr vert="horz" lIns="91440" tIns="45720" rIns="91440" bIns="45720" rtlCol="0" anchor="ctr">
            <a:normAutofit/>
          </a:bodyPr>
          <a:lstStyle/>
          <a:p>
            <a:pPr algn="r">
              <a:spcAft>
                <a:spcPts val="600"/>
              </a:spcAft>
              <a:defRPr/>
            </a:pPr>
            <a:fld id="{4FAB73BC-B049-4115-A692-8D63A059BFB8}" type="slidenum">
              <a:rPr lang="en-US">
                <a:solidFill>
                  <a:prstClr val="black">
                    <a:tint val="75000"/>
                  </a:prstClr>
                </a:solidFill>
                <a:latin typeface="Calibri" panose="020F0502020204030204"/>
              </a:rPr>
              <a:pPr algn="r">
                <a:spcAft>
                  <a:spcPts val="600"/>
                </a:spcAft>
                <a:defRPr/>
              </a:pPr>
              <a:t>35</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134327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070E95-EE2D-BC8D-1F45-233F1A796BD0}"/>
              </a:ext>
            </a:extLst>
          </p:cNvPr>
          <p:cNvSpPr>
            <a:spLocks noGrp="1"/>
          </p:cNvSpPr>
          <p:nvPr>
            <p:ph type="title"/>
          </p:nvPr>
        </p:nvSpPr>
        <p:spPr/>
        <p:txBody>
          <a:bodyPr>
            <a:normAutofit fontScale="90000"/>
          </a:bodyPr>
          <a:lstStyle/>
          <a:p>
            <a:r>
              <a:rPr lang="en-US" dirty="0"/>
              <a:t>Trade Deficits</a:t>
            </a:r>
          </a:p>
        </p:txBody>
      </p:sp>
      <p:sp>
        <p:nvSpPr>
          <p:cNvPr id="6" name="Text Placeholder 5">
            <a:extLst>
              <a:ext uri="{FF2B5EF4-FFF2-40B4-BE49-F238E27FC236}">
                <a16:creationId xmlns:a16="http://schemas.microsoft.com/office/drawing/2014/main" id="{040F786F-EE21-D393-4679-45DFB6CF82A9}"/>
              </a:ext>
            </a:extLst>
          </p:cNvPr>
          <p:cNvSpPr>
            <a:spLocks noGrp="1"/>
          </p:cNvSpPr>
          <p:nvPr>
            <p:ph type="body" idx="1"/>
          </p:nvPr>
        </p:nvSpPr>
        <p:spPr/>
        <p:txBody>
          <a:bodyPr>
            <a:normAutofit fontScale="92500"/>
          </a:bodyPr>
          <a:lstStyle/>
          <a:p>
            <a:r>
              <a:rPr lang="en-US" dirty="0"/>
              <a:t>What causes trade deficits?</a:t>
            </a:r>
          </a:p>
        </p:txBody>
      </p:sp>
      <p:sp>
        <p:nvSpPr>
          <p:cNvPr id="7" name="Text Placeholder 6">
            <a:extLst>
              <a:ext uri="{FF2B5EF4-FFF2-40B4-BE49-F238E27FC236}">
                <a16:creationId xmlns:a16="http://schemas.microsoft.com/office/drawing/2014/main" id="{9B66F282-440E-1265-7D2A-5EFBB6145D1C}"/>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8353873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53E3AF-2818-2FFB-C3E5-8D350B2021C1}"/>
              </a:ext>
            </a:extLst>
          </p:cNvPr>
          <p:cNvSpPr>
            <a:spLocks noGrp="1"/>
          </p:cNvSpPr>
          <p:nvPr>
            <p:ph type="title"/>
          </p:nvPr>
        </p:nvSpPr>
        <p:spPr/>
        <p:txBody>
          <a:bodyPr/>
          <a:lstStyle/>
          <a:p>
            <a:r>
              <a:rPr lang="en-US" sz="4400" dirty="0"/>
              <a:t>Twin Deficit Problem</a:t>
            </a:r>
          </a:p>
        </p:txBody>
      </p:sp>
      <p:sp>
        <p:nvSpPr>
          <p:cNvPr id="6" name="Content Placeholder 5">
            <a:extLst>
              <a:ext uri="{FF2B5EF4-FFF2-40B4-BE49-F238E27FC236}">
                <a16:creationId xmlns:a16="http://schemas.microsoft.com/office/drawing/2014/main" id="{CEAA405A-F190-5E5D-3C36-C4A9D443DBBC}"/>
              </a:ext>
            </a:extLst>
          </p:cNvPr>
          <p:cNvSpPr>
            <a:spLocks noGrp="1"/>
          </p:cNvSpPr>
          <p:nvPr>
            <p:ph sz="quarter" idx="13"/>
          </p:nvPr>
        </p:nvSpPr>
        <p:spPr/>
        <p:txBody>
          <a:bodyPr/>
          <a:lstStyle/>
          <a:p>
            <a:r>
              <a:rPr lang="en-US" dirty="0"/>
              <a:t>Take our basic AD equation</a:t>
            </a:r>
          </a:p>
          <a:p>
            <a:pPr lvl="1"/>
            <a:r>
              <a:rPr lang="en-US" dirty="0"/>
              <a:t>Y = C + I + G + X – M</a:t>
            </a:r>
          </a:p>
          <a:p>
            <a:pPr lvl="1"/>
            <a:r>
              <a:rPr lang="en-US" dirty="0"/>
              <a:t>X – M is also the Current Account Balance (CAB)</a:t>
            </a:r>
          </a:p>
          <a:p>
            <a:r>
              <a:rPr lang="en-US" dirty="0"/>
              <a:t>Rearrange to keep the CAB on RHS</a:t>
            </a:r>
          </a:p>
          <a:p>
            <a:pPr lvl="1"/>
            <a:r>
              <a:rPr lang="en-US" dirty="0"/>
              <a:t>Y – C – I – G = X – M = CAB</a:t>
            </a:r>
          </a:p>
          <a:p>
            <a:r>
              <a:rPr lang="en-US" dirty="0"/>
              <a:t>Add and subtract Taxes (TX) from both sides. Note where the terms go on LHS.</a:t>
            </a:r>
          </a:p>
          <a:p>
            <a:pPr lvl="1"/>
            <a:r>
              <a:rPr lang="en-US" dirty="0"/>
              <a:t>Y – TX – C + TX – G = X – M + TX – TX</a:t>
            </a:r>
          </a:p>
          <a:p>
            <a:r>
              <a:rPr lang="en-US" dirty="0"/>
              <a:t>Y – TX is Household Disposable Income</a:t>
            </a:r>
          </a:p>
        </p:txBody>
      </p:sp>
      <p:sp>
        <p:nvSpPr>
          <p:cNvPr id="7" name="Text Placeholder 6">
            <a:extLst>
              <a:ext uri="{FF2B5EF4-FFF2-40B4-BE49-F238E27FC236}">
                <a16:creationId xmlns:a16="http://schemas.microsoft.com/office/drawing/2014/main" id="{359DBB90-C41B-1407-6717-D070AA4ECC85}"/>
              </a:ext>
            </a:extLst>
          </p:cNvPr>
          <p:cNvSpPr>
            <a:spLocks noGrp="1"/>
          </p:cNvSpPr>
          <p:nvPr>
            <p:ph type="body" sz="quarter" idx="14"/>
          </p:nvPr>
        </p:nvSpPr>
        <p:spPr/>
        <p:txBody>
          <a:bodyPr/>
          <a:lstStyle/>
          <a:p>
            <a:r>
              <a:rPr lang="en-US" dirty="0"/>
              <a:t>Many countries have had periods of persistent budget deficits and trade deficits. </a:t>
            </a:r>
          </a:p>
          <a:p>
            <a:r>
              <a:rPr lang="en-US" dirty="0"/>
              <a:t>Are these related?</a:t>
            </a:r>
          </a:p>
        </p:txBody>
      </p:sp>
    </p:spTree>
    <p:extLst>
      <p:ext uri="{BB962C8B-B14F-4D97-AF65-F5344CB8AC3E}">
        <p14:creationId xmlns:p14="http://schemas.microsoft.com/office/powerpoint/2010/main" val="1819091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left)">
                                      <p:cBhvr>
                                        <p:cTn id="10" dur="500"/>
                                        <p:tgtEl>
                                          <p:spTgt spid="6">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wipe(left)">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wipe(left)">
                                      <p:cBhvr>
                                        <p:cTn id="18" dur="500"/>
                                        <p:tgtEl>
                                          <p:spTgt spid="6">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wipe(left)">
                                      <p:cBhvr>
                                        <p:cTn id="21" dur="500"/>
                                        <p:tgtEl>
                                          <p:spTgt spid="6">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wipe(left)">
                                      <p:cBhvr>
                                        <p:cTn id="26" dur="500"/>
                                        <p:tgtEl>
                                          <p:spTgt spid="6">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animEffect transition="in" filter="wipe(left)">
                                      <p:cBhvr>
                                        <p:cTn id="29" dur="500"/>
                                        <p:tgtEl>
                                          <p:spTgt spid="6">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
                                            <p:txEl>
                                              <p:pRg st="7" end="7"/>
                                            </p:txEl>
                                          </p:spTgt>
                                        </p:tgtEl>
                                        <p:attrNameLst>
                                          <p:attrName>style.visibility</p:attrName>
                                        </p:attrNameLst>
                                      </p:cBhvr>
                                      <p:to>
                                        <p:strVal val="visible"/>
                                      </p:to>
                                    </p:set>
                                    <p:animEffect transition="in" filter="wipe(left)">
                                      <p:cBhvr>
                                        <p:cTn id="34"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76152-E676-6A4E-BE00-0D8F37052D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06038E5-396B-0ECC-82F8-51C8594488F5}"/>
              </a:ext>
            </a:extLst>
          </p:cNvPr>
          <p:cNvSpPr>
            <a:spLocks noGrp="1"/>
          </p:cNvSpPr>
          <p:nvPr>
            <p:ph type="title"/>
          </p:nvPr>
        </p:nvSpPr>
        <p:spPr/>
        <p:txBody>
          <a:bodyPr/>
          <a:lstStyle/>
          <a:p>
            <a:r>
              <a:rPr lang="en-US" sz="4400" dirty="0"/>
              <a:t>Twin Deficit Problem</a:t>
            </a:r>
          </a:p>
        </p:txBody>
      </p:sp>
      <p:sp>
        <p:nvSpPr>
          <p:cNvPr id="6" name="Content Placeholder 5">
            <a:extLst>
              <a:ext uri="{FF2B5EF4-FFF2-40B4-BE49-F238E27FC236}">
                <a16:creationId xmlns:a16="http://schemas.microsoft.com/office/drawing/2014/main" id="{A64099D7-2A06-295A-A329-0AD1BE1AABB1}"/>
              </a:ext>
            </a:extLst>
          </p:cNvPr>
          <p:cNvSpPr>
            <a:spLocks noGrp="1"/>
          </p:cNvSpPr>
          <p:nvPr>
            <p:ph sz="quarter" idx="13"/>
          </p:nvPr>
        </p:nvSpPr>
        <p:spPr/>
        <p:txBody>
          <a:bodyPr/>
          <a:lstStyle/>
          <a:p>
            <a:r>
              <a:rPr lang="en-US" dirty="0"/>
              <a:t>Household Disposable Income less Consumption (C) is Savings (S)</a:t>
            </a:r>
          </a:p>
          <a:p>
            <a:r>
              <a:rPr lang="en-US" dirty="0"/>
              <a:t>So we can rewrite equation as</a:t>
            </a:r>
          </a:p>
          <a:p>
            <a:pPr lvl="1"/>
            <a:r>
              <a:rPr lang="en-US" dirty="0"/>
              <a:t>S – I + TX – G = X – M</a:t>
            </a:r>
          </a:p>
          <a:p>
            <a:r>
              <a:rPr lang="en-US" dirty="0"/>
              <a:t>S – I is Net Private Savings.</a:t>
            </a:r>
          </a:p>
          <a:p>
            <a:pPr lvl="1"/>
            <a:r>
              <a:rPr lang="en-US" dirty="0"/>
              <a:t>Household savings less those savings borrowed by firms for investment.</a:t>
            </a:r>
          </a:p>
          <a:p>
            <a:r>
              <a:rPr lang="en-US" dirty="0"/>
              <a:t>TX – G is Net Public Savings.</a:t>
            </a:r>
          </a:p>
          <a:p>
            <a:r>
              <a:rPr lang="en-US" dirty="0"/>
              <a:t>Hence term on LHS is Net National Savings.</a:t>
            </a:r>
          </a:p>
        </p:txBody>
      </p:sp>
      <p:sp>
        <p:nvSpPr>
          <p:cNvPr id="7" name="Text Placeholder 6">
            <a:extLst>
              <a:ext uri="{FF2B5EF4-FFF2-40B4-BE49-F238E27FC236}">
                <a16:creationId xmlns:a16="http://schemas.microsoft.com/office/drawing/2014/main" id="{39B7CEAC-9450-D0A1-7391-D2541DA881C9}"/>
              </a:ext>
            </a:extLst>
          </p:cNvPr>
          <p:cNvSpPr>
            <a:spLocks noGrp="1"/>
          </p:cNvSpPr>
          <p:nvPr>
            <p:ph type="body" sz="quarter" idx="14"/>
          </p:nvPr>
        </p:nvSpPr>
        <p:spPr/>
        <p:txBody>
          <a:bodyPr/>
          <a:lstStyle/>
          <a:p>
            <a:r>
              <a:rPr lang="en-US" dirty="0"/>
              <a:t>Many countries have had periods of persistent budget deficits and trade deficits. </a:t>
            </a:r>
          </a:p>
          <a:p>
            <a:r>
              <a:rPr lang="en-US" dirty="0"/>
              <a:t>Are these related?</a:t>
            </a:r>
          </a:p>
        </p:txBody>
      </p:sp>
    </p:spTree>
    <p:extLst>
      <p:ext uri="{BB962C8B-B14F-4D97-AF65-F5344CB8AC3E}">
        <p14:creationId xmlns:p14="http://schemas.microsoft.com/office/powerpoint/2010/main" val="154565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wipe(left)">
                                      <p:cBhvr>
                                        <p:cTn id="20" dur="500"/>
                                        <p:tgtEl>
                                          <p:spTgt spid="6">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wipe(left)">
                                      <p:cBhvr>
                                        <p:cTn id="28" dur="500"/>
                                        <p:tgtEl>
                                          <p:spTgt spid="6">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animEffect transition="in" filter="wipe(left)">
                                      <p:cBhvr>
                                        <p:cTn id="33"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ADAA00C-3FF6-1E97-C3EC-99B666A10AA8}"/>
              </a:ext>
            </a:extLst>
          </p:cNvPr>
          <p:cNvSpPr>
            <a:spLocks noGrp="1"/>
          </p:cNvSpPr>
          <p:nvPr>
            <p:ph idx="1"/>
          </p:nvPr>
        </p:nvSpPr>
        <p:spPr/>
        <p:txBody>
          <a:bodyPr/>
          <a:lstStyle/>
          <a:p>
            <a:r>
              <a:rPr lang="en-US" dirty="0"/>
              <a:t>A country that has negative net national savings will run a trade deficit.</a:t>
            </a:r>
          </a:p>
          <a:p>
            <a:pPr lvl="1"/>
            <a:r>
              <a:rPr lang="en-US" dirty="0"/>
              <a:t>The demand for goods exceeds domestic output so this excess must be spent on imported,</a:t>
            </a:r>
          </a:p>
          <a:p>
            <a:r>
              <a:rPr lang="en-US" dirty="0"/>
              <a:t>Unless there is a large, offsetting level of positive private savings, a budget deficit will produce a deficit in the Current Account.</a:t>
            </a:r>
          </a:p>
        </p:txBody>
      </p:sp>
      <p:sp>
        <p:nvSpPr>
          <p:cNvPr id="5" name="Title 4">
            <a:extLst>
              <a:ext uri="{FF2B5EF4-FFF2-40B4-BE49-F238E27FC236}">
                <a16:creationId xmlns:a16="http://schemas.microsoft.com/office/drawing/2014/main" id="{BBDDA107-A709-D55F-8602-93DB7AB0D462}"/>
              </a:ext>
            </a:extLst>
          </p:cNvPr>
          <p:cNvSpPr>
            <a:spLocks noGrp="1"/>
          </p:cNvSpPr>
          <p:nvPr>
            <p:ph type="title"/>
          </p:nvPr>
        </p:nvSpPr>
        <p:spPr/>
        <p:txBody>
          <a:bodyPr/>
          <a:lstStyle/>
          <a:p>
            <a:r>
              <a:rPr lang="en-US" dirty="0"/>
              <a:t>Implications</a:t>
            </a:r>
          </a:p>
        </p:txBody>
      </p:sp>
    </p:spTree>
    <p:extLst>
      <p:ext uri="{BB962C8B-B14F-4D97-AF65-F5344CB8AC3E}">
        <p14:creationId xmlns:p14="http://schemas.microsoft.com/office/powerpoint/2010/main" val="670830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left)">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3C631D-6806-CB2D-CEBC-50BEB2915057}"/>
              </a:ext>
            </a:extLst>
          </p:cNvPr>
          <p:cNvSpPr>
            <a:spLocks noGrp="1"/>
          </p:cNvSpPr>
          <p:nvPr>
            <p:ph type="title"/>
          </p:nvPr>
        </p:nvSpPr>
        <p:spPr/>
        <p:txBody>
          <a:bodyPr>
            <a:normAutofit fontScale="90000"/>
          </a:bodyPr>
          <a:lstStyle/>
          <a:p>
            <a:r>
              <a:rPr lang="en-US" dirty="0"/>
              <a:t>US Twin Deficits</a:t>
            </a:r>
          </a:p>
        </p:txBody>
      </p:sp>
      <p:graphicFrame>
        <p:nvGraphicFramePr>
          <p:cNvPr id="4" name="Content Placeholder 3">
            <a:extLst>
              <a:ext uri="{FF2B5EF4-FFF2-40B4-BE49-F238E27FC236}">
                <a16:creationId xmlns:a16="http://schemas.microsoft.com/office/drawing/2014/main" id="{68AE17D3-6ABD-2E78-1480-B32710D683F1}"/>
              </a:ext>
            </a:extLst>
          </p:cNvPr>
          <p:cNvGraphicFramePr>
            <a:graphicFrameLocks noGrp="1"/>
          </p:cNvGraphicFramePr>
          <p:nvPr>
            <p:ph sz="quarter" idx="13"/>
            <p:extLst>
              <p:ext uri="{D42A27DB-BD31-4B8C-83A1-F6EECF244321}">
                <p14:modId xmlns:p14="http://schemas.microsoft.com/office/powerpoint/2010/main" val="3538921282"/>
              </p:ext>
            </p:extLst>
          </p:nvPr>
        </p:nvGraphicFramePr>
        <p:xfrm>
          <a:off x="3946525" y="604838"/>
          <a:ext cx="7175499" cy="1975300"/>
        </p:xfrm>
        <a:graphic>
          <a:graphicData uri="http://schemas.openxmlformats.org/drawingml/2006/table">
            <a:tbl>
              <a:tblPr firstRow="1" bandRow="1">
                <a:tableStyleId>{69012ECD-51FC-41F1-AA8D-1B2483CD663E}</a:tableStyleId>
              </a:tblPr>
              <a:tblGrid>
                <a:gridCol w="2391833">
                  <a:extLst>
                    <a:ext uri="{9D8B030D-6E8A-4147-A177-3AD203B41FA5}">
                      <a16:colId xmlns:a16="http://schemas.microsoft.com/office/drawing/2014/main" val="3413525306"/>
                    </a:ext>
                  </a:extLst>
                </a:gridCol>
                <a:gridCol w="2391833">
                  <a:extLst>
                    <a:ext uri="{9D8B030D-6E8A-4147-A177-3AD203B41FA5}">
                      <a16:colId xmlns:a16="http://schemas.microsoft.com/office/drawing/2014/main" val="843204948"/>
                    </a:ext>
                  </a:extLst>
                </a:gridCol>
                <a:gridCol w="2391833">
                  <a:extLst>
                    <a:ext uri="{9D8B030D-6E8A-4147-A177-3AD203B41FA5}">
                      <a16:colId xmlns:a16="http://schemas.microsoft.com/office/drawing/2014/main" val="2183488085"/>
                    </a:ext>
                  </a:extLst>
                </a:gridCol>
              </a:tblGrid>
              <a:tr h="589149">
                <a:tc>
                  <a:txBody>
                    <a:bodyPr/>
                    <a:lstStyle/>
                    <a:p>
                      <a:pPr>
                        <a:buNone/>
                      </a:pPr>
                      <a:r>
                        <a:rPr lang="en-NZ" sz="1700" dirty="0"/>
                        <a:t>Year</a:t>
                      </a:r>
                    </a:p>
                  </a:txBody>
                  <a:tcPr marL="84164" marR="84164" marT="42082" marB="42082" anchor="ctr"/>
                </a:tc>
                <a:tc>
                  <a:txBody>
                    <a:bodyPr/>
                    <a:lstStyle/>
                    <a:p>
                      <a:pPr>
                        <a:buNone/>
                      </a:pPr>
                      <a:r>
                        <a:rPr lang="en-NZ" sz="1700"/>
                        <a:t>Federal Deficit (% of GDP)</a:t>
                      </a:r>
                    </a:p>
                  </a:txBody>
                  <a:tcPr marL="84164" marR="84164" marT="42082" marB="42082" anchor="ctr"/>
                </a:tc>
                <a:tc>
                  <a:txBody>
                    <a:bodyPr/>
                    <a:lstStyle/>
                    <a:p>
                      <a:pPr>
                        <a:buNone/>
                      </a:pPr>
                      <a:r>
                        <a:rPr lang="en-NZ" sz="1700"/>
                        <a:t>Trade Deficit (% of GDP)</a:t>
                      </a:r>
                    </a:p>
                  </a:txBody>
                  <a:tcPr marL="84164" marR="84164" marT="42082" marB="42082" anchor="ctr"/>
                </a:tc>
                <a:extLst>
                  <a:ext uri="{0D108BD9-81ED-4DB2-BD59-A6C34878D82A}">
                    <a16:rowId xmlns:a16="http://schemas.microsoft.com/office/drawing/2014/main" val="627678611"/>
                  </a:ext>
                </a:extLst>
              </a:tr>
              <a:tr h="336656">
                <a:tc>
                  <a:txBody>
                    <a:bodyPr/>
                    <a:lstStyle/>
                    <a:p>
                      <a:pPr>
                        <a:buNone/>
                      </a:pPr>
                      <a:r>
                        <a:rPr lang="en-NZ" sz="1700"/>
                        <a:t>2017</a:t>
                      </a:r>
                    </a:p>
                  </a:txBody>
                  <a:tcPr marL="84164" marR="84164" marT="42082" marB="42082" anchor="ctr"/>
                </a:tc>
                <a:tc>
                  <a:txBody>
                    <a:bodyPr/>
                    <a:lstStyle/>
                    <a:p>
                      <a:pPr>
                        <a:buNone/>
                      </a:pPr>
                      <a:r>
                        <a:rPr lang="en-NZ" sz="1700"/>
                        <a:t>3.5%</a:t>
                      </a:r>
                    </a:p>
                  </a:txBody>
                  <a:tcPr marL="84164" marR="84164" marT="42082" marB="42082" anchor="ctr"/>
                </a:tc>
                <a:tc>
                  <a:txBody>
                    <a:bodyPr/>
                    <a:lstStyle/>
                    <a:p>
                      <a:pPr>
                        <a:buNone/>
                      </a:pPr>
                      <a:r>
                        <a:rPr lang="en-NZ" sz="1700"/>
                        <a:t>2.8%</a:t>
                      </a:r>
                    </a:p>
                  </a:txBody>
                  <a:tcPr marL="84164" marR="84164" marT="42082" marB="42082" anchor="ctr"/>
                </a:tc>
                <a:extLst>
                  <a:ext uri="{0D108BD9-81ED-4DB2-BD59-A6C34878D82A}">
                    <a16:rowId xmlns:a16="http://schemas.microsoft.com/office/drawing/2014/main" val="2178419373"/>
                  </a:ext>
                </a:extLst>
              </a:tr>
              <a:tr h="336656">
                <a:tc>
                  <a:txBody>
                    <a:bodyPr/>
                    <a:lstStyle/>
                    <a:p>
                      <a:pPr>
                        <a:buNone/>
                      </a:pPr>
                      <a:r>
                        <a:rPr lang="en-NZ" sz="1700"/>
                        <a:t>2018</a:t>
                      </a:r>
                    </a:p>
                  </a:txBody>
                  <a:tcPr marL="84164" marR="84164" marT="42082" marB="42082" anchor="ctr"/>
                </a:tc>
                <a:tc>
                  <a:txBody>
                    <a:bodyPr/>
                    <a:lstStyle/>
                    <a:p>
                      <a:pPr>
                        <a:buNone/>
                      </a:pPr>
                      <a:r>
                        <a:rPr lang="en-NZ" sz="1700"/>
                        <a:t>3.9%</a:t>
                      </a:r>
                    </a:p>
                  </a:txBody>
                  <a:tcPr marL="84164" marR="84164" marT="42082" marB="42082" anchor="ctr"/>
                </a:tc>
                <a:tc>
                  <a:txBody>
                    <a:bodyPr/>
                    <a:lstStyle/>
                    <a:p>
                      <a:pPr>
                        <a:buNone/>
                      </a:pPr>
                      <a:r>
                        <a:rPr lang="en-NZ" sz="1700"/>
                        <a:t>3.0%</a:t>
                      </a:r>
                    </a:p>
                  </a:txBody>
                  <a:tcPr marL="84164" marR="84164" marT="42082" marB="42082" anchor="ctr"/>
                </a:tc>
                <a:extLst>
                  <a:ext uri="{0D108BD9-81ED-4DB2-BD59-A6C34878D82A}">
                    <a16:rowId xmlns:a16="http://schemas.microsoft.com/office/drawing/2014/main" val="2500176096"/>
                  </a:ext>
                </a:extLst>
              </a:tr>
              <a:tr h="336656">
                <a:tc>
                  <a:txBody>
                    <a:bodyPr/>
                    <a:lstStyle/>
                    <a:p>
                      <a:pPr>
                        <a:buNone/>
                      </a:pPr>
                      <a:r>
                        <a:rPr lang="en-NZ" sz="1700" dirty="0"/>
                        <a:t>2019</a:t>
                      </a:r>
                    </a:p>
                  </a:txBody>
                  <a:tcPr marL="84164" marR="84164" marT="42082" marB="42082" anchor="ctr"/>
                </a:tc>
                <a:tc>
                  <a:txBody>
                    <a:bodyPr/>
                    <a:lstStyle/>
                    <a:p>
                      <a:pPr>
                        <a:buNone/>
                      </a:pPr>
                      <a:r>
                        <a:rPr lang="en-NZ" sz="1700"/>
                        <a:t>4.6%</a:t>
                      </a:r>
                    </a:p>
                  </a:txBody>
                  <a:tcPr marL="84164" marR="84164" marT="42082" marB="42082" anchor="ctr"/>
                </a:tc>
                <a:tc>
                  <a:txBody>
                    <a:bodyPr/>
                    <a:lstStyle/>
                    <a:p>
                      <a:pPr>
                        <a:buNone/>
                      </a:pPr>
                      <a:r>
                        <a:rPr lang="en-NZ" sz="1700"/>
                        <a:t>2.9%</a:t>
                      </a:r>
                    </a:p>
                  </a:txBody>
                  <a:tcPr marL="84164" marR="84164" marT="42082" marB="42082" anchor="ctr"/>
                </a:tc>
                <a:extLst>
                  <a:ext uri="{0D108BD9-81ED-4DB2-BD59-A6C34878D82A}">
                    <a16:rowId xmlns:a16="http://schemas.microsoft.com/office/drawing/2014/main" val="2748729954"/>
                  </a:ext>
                </a:extLst>
              </a:tr>
              <a:tr h="336656">
                <a:tc>
                  <a:txBody>
                    <a:bodyPr/>
                    <a:lstStyle/>
                    <a:p>
                      <a:pPr>
                        <a:buNone/>
                      </a:pPr>
                      <a:r>
                        <a:rPr lang="en-NZ" sz="1700"/>
                        <a:t>2020</a:t>
                      </a:r>
                    </a:p>
                  </a:txBody>
                  <a:tcPr marL="84164" marR="84164" marT="42082" marB="42082" anchor="ctr"/>
                </a:tc>
                <a:tc>
                  <a:txBody>
                    <a:bodyPr/>
                    <a:lstStyle/>
                    <a:p>
                      <a:pPr>
                        <a:buNone/>
                      </a:pPr>
                      <a:r>
                        <a:rPr lang="en-NZ" sz="1700"/>
                        <a:t>14.9%</a:t>
                      </a:r>
                    </a:p>
                  </a:txBody>
                  <a:tcPr marL="84164" marR="84164" marT="42082" marB="42082" anchor="ctr"/>
                </a:tc>
                <a:tc>
                  <a:txBody>
                    <a:bodyPr/>
                    <a:lstStyle/>
                    <a:p>
                      <a:pPr>
                        <a:buNone/>
                      </a:pPr>
                      <a:r>
                        <a:rPr lang="en-NZ" sz="1700" dirty="0"/>
                        <a:t>≈ 2.9%</a:t>
                      </a:r>
                    </a:p>
                  </a:txBody>
                  <a:tcPr marL="84164" marR="84164" marT="42082" marB="42082" anchor="ctr"/>
                </a:tc>
                <a:extLst>
                  <a:ext uri="{0D108BD9-81ED-4DB2-BD59-A6C34878D82A}">
                    <a16:rowId xmlns:a16="http://schemas.microsoft.com/office/drawing/2014/main" val="3072330026"/>
                  </a:ext>
                </a:extLst>
              </a:tr>
            </a:tbl>
          </a:graphicData>
        </a:graphic>
      </p:graphicFrame>
      <p:sp>
        <p:nvSpPr>
          <p:cNvPr id="6" name="Text Placeholder 5">
            <a:extLst>
              <a:ext uri="{FF2B5EF4-FFF2-40B4-BE49-F238E27FC236}">
                <a16:creationId xmlns:a16="http://schemas.microsoft.com/office/drawing/2014/main" id="{346CF00B-8A78-0EF7-D4E8-A94C1690CB8B}"/>
              </a:ext>
            </a:extLst>
          </p:cNvPr>
          <p:cNvSpPr>
            <a:spLocks noGrp="1"/>
          </p:cNvSpPr>
          <p:nvPr>
            <p:ph type="body" sz="quarter" idx="14"/>
          </p:nvPr>
        </p:nvSpPr>
        <p:spPr/>
        <p:txBody>
          <a:bodyPr>
            <a:normAutofit fontScale="92500" lnSpcReduction="10000"/>
          </a:bodyPr>
          <a:lstStyle/>
          <a:p>
            <a:r>
              <a:rPr lang="en-US" dirty="0"/>
              <a:t>US Trade Deficits are unlikely to be a result of unfair trade practices.</a:t>
            </a:r>
          </a:p>
          <a:p>
            <a:r>
              <a:rPr lang="en-US" dirty="0"/>
              <a:t>A major factor appears to be the US Federal Deficit. </a:t>
            </a:r>
          </a:p>
          <a:p>
            <a:r>
              <a:rPr lang="en-US" dirty="0"/>
              <a:t>Almost all the increase in deficit over CBO projections, was the tax cuts implemented in this period.</a:t>
            </a:r>
          </a:p>
        </p:txBody>
      </p:sp>
    </p:spTree>
    <p:extLst>
      <p:ext uri="{BB962C8B-B14F-4D97-AF65-F5344CB8AC3E}">
        <p14:creationId xmlns:p14="http://schemas.microsoft.com/office/powerpoint/2010/main" val="1817960086"/>
      </p:ext>
    </p:extLst>
  </p:cSld>
  <p:clrMapOvr>
    <a:masterClrMapping/>
  </p:clrMapOvr>
</p:sld>
</file>

<file path=ppt/theme/theme1.xml><?xml version="1.0" encoding="utf-8"?>
<a:theme xmlns:a="http://schemas.openxmlformats.org/drawingml/2006/main" name="Office Theme">
  <a:themeElements>
    <a:clrScheme name="light minimalist">
      <a:dk1>
        <a:srgbClr val="353638"/>
      </a:dk1>
      <a:lt1>
        <a:srgbClr val="EFEFEF"/>
      </a:lt1>
      <a:dk2>
        <a:srgbClr val="656A56"/>
      </a:dk2>
      <a:lt2>
        <a:srgbClr val="D7DAE1"/>
      </a:lt2>
      <a:accent1>
        <a:srgbClr val="737E84"/>
      </a:accent1>
      <a:accent2>
        <a:srgbClr val="353638"/>
      </a:accent2>
      <a:accent3>
        <a:srgbClr val="BBBCB7"/>
      </a:accent3>
      <a:accent4>
        <a:srgbClr val="D7DAE1"/>
      </a:accent4>
      <a:accent5>
        <a:srgbClr val="748189"/>
      </a:accent5>
      <a:accent6>
        <a:srgbClr val="353638"/>
      </a:accent6>
      <a:hlink>
        <a:srgbClr val="EFEFEF"/>
      </a:hlink>
      <a:folHlink>
        <a:srgbClr val="656A56"/>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15113 Lecture 11 Game Theory" id="{6A3A2FF9-C1F2-4C6B-81AA-36D5BAC0ECEB}" vid="{C2B1A1D8-4DC2-49F2-B7FA-19257A7DCF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2460</TotalTime>
  <Words>2297</Words>
  <Application>Microsoft Office PowerPoint</Application>
  <PresentationFormat>Widescreen</PresentationFormat>
  <Paragraphs>335</Paragraphs>
  <Slides>40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Playfair Display</vt:lpstr>
      <vt:lpstr>Rockwell</vt:lpstr>
      <vt:lpstr>Tw Cen MT</vt:lpstr>
      <vt:lpstr>Office Theme</vt:lpstr>
      <vt:lpstr>115.113 Economics of Business</vt:lpstr>
      <vt:lpstr>Specialisation and Trade</vt:lpstr>
      <vt:lpstr>NZ Wheat Yields</vt:lpstr>
      <vt:lpstr>Specialization</vt:lpstr>
      <vt:lpstr>Specialization</vt:lpstr>
      <vt:lpstr>Comparative advantage: an example</vt:lpstr>
      <vt:lpstr>Comparative advantage: an example</vt:lpstr>
      <vt:lpstr>Comparative advantage: an example</vt:lpstr>
      <vt:lpstr>Comparative advantage: an example</vt:lpstr>
      <vt:lpstr>Comparative advantage: an example</vt:lpstr>
      <vt:lpstr>Comparative advantage: an example</vt:lpstr>
      <vt:lpstr>Production Possibility Frontiers</vt:lpstr>
      <vt:lpstr>Output Table</vt:lpstr>
      <vt:lpstr>Output Table: Ratios</vt:lpstr>
      <vt:lpstr>Under No Trade</vt:lpstr>
      <vt:lpstr>Under Free Trade</vt:lpstr>
      <vt:lpstr>Output Table</vt:lpstr>
      <vt:lpstr>Free Trade</vt:lpstr>
      <vt:lpstr>Back to Greta and Carlos</vt:lpstr>
      <vt:lpstr>Comparative Advantage: Example</vt:lpstr>
      <vt:lpstr>Winners and Losers</vt:lpstr>
      <vt:lpstr>Winners and Losers: Short Run</vt:lpstr>
      <vt:lpstr>Winners and Losers: Short Run</vt:lpstr>
      <vt:lpstr>NZ Agriculture vs textiles</vt:lpstr>
      <vt:lpstr>Winners and Losers: Short Run</vt:lpstr>
      <vt:lpstr>Winners and Losers: Short Run</vt:lpstr>
      <vt:lpstr>Hypothetical example</vt:lpstr>
      <vt:lpstr>Hypothetical example</vt:lpstr>
      <vt:lpstr>Protectionism</vt:lpstr>
      <vt:lpstr>Mercantilism</vt:lpstr>
      <vt:lpstr>Modern Mercantilism</vt:lpstr>
      <vt:lpstr>Tariffs</vt:lpstr>
      <vt:lpstr>Discussion</vt:lpstr>
      <vt:lpstr>Economy-wide effects</vt:lpstr>
      <vt:lpstr>Case Study: NZ Automobile Assembly</vt:lpstr>
      <vt:lpstr>Trade Deficits</vt:lpstr>
      <vt:lpstr>Twin Deficit Problem</vt:lpstr>
      <vt:lpstr>Twin Deficit Problem</vt:lpstr>
      <vt:lpstr>Implications</vt:lpstr>
      <vt:lpstr>US Twin Deficits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115.113 Lecture 11</dc:title>
  <dc:creator>Brendan Moyle</dc:creator>
  <cp:lastModifiedBy>Faruk Balli</cp:lastModifiedBy>
  <cp:revision>22</cp:revision>
  <dcterms:created xsi:type="dcterms:W3CDTF">2021-09-30T01:10:51Z</dcterms:created>
  <dcterms:modified xsi:type="dcterms:W3CDTF">2026-08-17T00:42:33Z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d9e4d68-54d0-40a5-8c9a-85a36c87352c_Enabled">
    <vt:lpwstr>true</vt:lpwstr>
  </property>
  <property fmtid="{D5CDD505-2E9C-101B-9397-08002B2CF9AE}" pid="3" name="MSIP_Label_bd9e4d68-54d0-40a5-8c9a-85a36c87352c_SetDate">
    <vt:lpwstr>2022-01-25T01:36:49Z</vt:lpwstr>
  </property>
  <property fmtid="{D5CDD505-2E9C-101B-9397-08002B2CF9AE}" pid="4" name="MSIP_Label_bd9e4d68-54d0-40a5-8c9a-85a36c87352c_Method">
    <vt:lpwstr>Privileged</vt:lpwstr>
  </property>
  <property fmtid="{D5CDD505-2E9C-101B-9397-08002B2CF9AE}" pid="5" name="MSIP_Label_bd9e4d68-54d0-40a5-8c9a-85a36c87352c_Name">
    <vt:lpwstr>Unclassified</vt:lpwstr>
  </property>
  <property fmtid="{D5CDD505-2E9C-101B-9397-08002B2CF9AE}" pid="6" name="MSIP_Label_bd9e4d68-54d0-40a5-8c9a-85a36c87352c_SiteId">
    <vt:lpwstr>388728e1-bbd0-4378-98dc-f8682e644300</vt:lpwstr>
  </property>
  <property fmtid="{D5CDD505-2E9C-101B-9397-08002B2CF9AE}" pid="7" name="MSIP_Label_bd9e4d68-54d0-40a5-8c9a-85a36c87352c_ActionId">
    <vt:lpwstr>33b0c11e-6a5a-4ae7-a410-e7add87a2217</vt:lpwstr>
  </property>
  <property fmtid="{D5CDD505-2E9C-101B-9397-08002B2CF9AE}" pid="8" name="MSIP_Label_bd9e4d68-54d0-40a5-8c9a-85a36c87352c_ContentBits">
    <vt:lpwstr>0</vt:lpwstr>
  </property>
</Properties>
</file>